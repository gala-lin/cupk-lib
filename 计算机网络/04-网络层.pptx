
<file path=[Content_Types].xml><?xml version="1.0" encoding="utf-8"?>
<Types xmlns="http://schemas.openxmlformats.org/package/2006/content-types">
  <Default Extension="png" ContentType="image/png"/>
  <Default Extension="bin" ContentType="application/vnd.openxmlformats-officedocument.oleObject"/>
  <Default Extension="wmf" ContentType="image/x-wmf"/>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Default Extension="GIF" ContentType="image/gif"/>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2.xml" ContentType="application/vnd.openxmlformats-officedocument.presentationml.tags+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tags/tag3.xml" ContentType="application/vnd.openxmlformats-officedocument.presentationml.tags+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tags/tag4.xml" ContentType="application/vnd.openxmlformats-officedocument.presentationml.tags+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tags/tag5.xml" ContentType="application/vnd.openxmlformats-officedocument.presentationml.tags+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tags/tag6.xml" ContentType="application/vnd.openxmlformats-officedocument.presentationml.tags+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306"/>
  </p:notesMasterIdLst>
  <p:handoutMasterIdLst>
    <p:handoutMasterId r:id="rId307"/>
  </p:handoutMasterIdLst>
  <p:sldIdLst>
    <p:sldId id="256" r:id="rId2"/>
    <p:sldId id="257" r:id="rId3"/>
    <p:sldId id="2042" r:id="rId4"/>
    <p:sldId id="2043" r:id="rId5"/>
    <p:sldId id="2044" r:id="rId6"/>
    <p:sldId id="2045" r:id="rId7"/>
    <p:sldId id="2046" r:id="rId8"/>
    <p:sldId id="2047" r:id="rId9"/>
    <p:sldId id="2048" r:id="rId10"/>
    <p:sldId id="2049" r:id="rId11"/>
    <p:sldId id="927" r:id="rId12"/>
    <p:sldId id="928" r:id="rId13"/>
    <p:sldId id="929" r:id="rId14"/>
    <p:sldId id="2030" r:id="rId15"/>
    <p:sldId id="937" r:id="rId16"/>
    <p:sldId id="938" r:id="rId17"/>
    <p:sldId id="939" r:id="rId18"/>
    <p:sldId id="940" r:id="rId19"/>
    <p:sldId id="941" r:id="rId20"/>
    <p:sldId id="942" r:id="rId21"/>
    <p:sldId id="943" r:id="rId22"/>
    <p:sldId id="944" r:id="rId23"/>
    <p:sldId id="945" r:id="rId24"/>
    <p:sldId id="946" r:id="rId25"/>
    <p:sldId id="947" r:id="rId26"/>
    <p:sldId id="948" r:id="rId27"/>
    <p:sldId id="949" r:id="rId28"/>
    <p:sldId id="950" r:id="rId29"/>
    <p:sldId id="951" r:id="rId30"/>
    <p:sldId id="1022" r:id="rId31"/>
    <p:sldId id="952" r:id="rId32"/>
    <p:sldId id="953" r:id="rId33"/>
    <p:sldId id="954" r:id="rId34"/>
    <p:sldId id="955" r:id="rId35"/>
    <p:sldId id="956" r:id="rId36"/>
    <p:sldId id="957" r:id="rId37"/>
    <p:sldId id="958" r:id="rId38"/>
    <p:sldId id="959" r:id="rId39"/>
    <p:sldId id="960" r:id="rId40"/>
    <p:sldId id="961" r:id="rId41"/>
    <p:sldId id="962" r:id="rId42"/>
    <p:sldId id="963" r:id="rId43"/>
    <p:sldId id="964" r:id="rId44"/>
    <p:sldId id="965" r:id="rId45"/>
    <p:sldId id="966" r:id="rId46"/>
    <p:sldId id="2033" r:id="rId47"/>
    <p:sldId id="692" r:id="rId48"/>
    <p:sldId id="693" r:id="rId49"/>
    <p:sldId id="694" r:id="rId50"/>
    <p:sldId id="695" r:id="rId51"/>
    <p:sldId id="696" r:id="rId52"/>
    <p:sldId id="697" r:id="rId53"/>
    <p:sldId id="698" r:id="rId54"/>
    <p:sldId id="699" r:id="rId55"/>
    <p:sldId id="700" r:id="rId56"/>
    <p:sldId id="701" r:id="rId57"/>
    <p:sldId id="702" r:id="rId58"/>
    <p:sldId id="703" r:id="rId59"/>
    <p:sldId id="704" r:id="rId60"/>
    <p:sldId id="705" r:id="rId61"/>
    <p:sldId id="706" r:id="rId62"/>
    <p:sldId id="707" r:id="rId63"/>
    <p:sldId id="708" r:id="rId64"/>
    <p:sldId id="2032" r:id="rId65"/>
    <p:sldId id="717" r:id="rId66"/>
    <p:sldId id="718" r:id="rId67"/>
    <p:sldId id="719" r:id="rId68"/>
    <p:sldId id="720" r:id="rId69"/>
    <p:sldId id="721" r:id="rId70"/>
    <p:sldId id="722" r:id="rId71"/>
    <p:sldId id="723" r:id="rId72"/>
    <p:sldId id="724" r:id="rId73"/>
    <p:sldId id="725" r:id="rId74"/>
    <p:sldId id="726" r:id="rId75"/>
    <p:sldId id="727" r:id="rId76"/>
    <p:sldId id="728" r:id="rId77"/>
    <p:sldId id="1028" r:id="rId78"/>
    <p:sldId id="1024" r:id="rId79"/>
    <p:sldId id="2036" r:id="rId80"/>
    <p:sldId id="1011" r:id="rId81"/>
    <p:sldId id="1012" r:id="rId82"/>
    <p:sldId id="1013" r:id="rId83"/>
    <p:sldId id="1014" r:id="rId84"/>
    <p:sldId id="1015" r:id="rId85"/>
    <p:sldId id="1016" r:id="rId86"/>
    <p:sldId id="1017" r:id="rId87"/>
    <p:sldId id="1018" r:id="rId88"/>
    <p:sldId id="1019" r:id="rId89"/>
    <p:sldId id="729" r:id="rId90"/>
    <p:sldId id="730" r:id="rId91"/>
    <p:sldId id="731" r:id="rId92"/>
    <p:sldId id="732" r:id="rId93"/>
    <p:sldId id="733" r:id="rId94"/>
    <p:sldId id="734" r:id="rId95"/>
    <p:sldId id="2034" r:id="rId96"/>
    <p:sldId id="967" r:id="rId97"/>
    <p:sldId id="968" r:id="rId98"/>
    <p:sldId id="969" r:id="rId99"/>
    <p:sldId id="970" r:id="rId100"/>
    <p:sldId id="971" r:id="rId101"/>
    <p:sldId id="972" r:id="rId102"/>
    <p:sldId id="973" r:id="rId103"/>
    <p:sldId id="974" r:id="rId104"/>
    <p:sldId id="975" r:id="rId105"/>
    <p:sldId id="976" r:id="rId106"/>
    <p:sldId id="977" r:id="rId107"/>
    <p:sldId id="978" r:id="rId108"/>
    <p:sldId id="979" r:id="rId109"/>
    <p:sldId id="1020" r:id="rId110"/>
    <p:sldId id="980" r:id="rId111"/>
    <p:sldId id="981" r:id="rId112"/>
    <p:sldId id="982" r:id="rId113"/>
    <p:sldId id="983" r:id="rId114"/>
    <p:sldId id="984" r:id="rId115"/>
    <p:sldId id="985" r:id="rId116"/>
    <p:sldId id="986" r:id="rId117"/>
    <p:sldId id="987" r:id="rId118"/>
    <p:sldId id="988" r:id="rId119"/>
    <p:sldId id="282" r:id="rId120"/>
    <p:sldId id="284" r:id="rId121"/>
    <p:sldId id="286" r:id="rId122"/>
    <p:sldId id="285" r:id="rId123"/>
    <p:sldId id="281" r:id="rId124"/>
    <p:sldId id="989" r:id="rId125"/>
    <p:sldId id="1025" r:id="rId126"/>
    <p:sldId id="1027" r:id="rId127"/>
    <p:sldId id="2035" r:id="rId128"/>
    <p:sldId id="990" r:id="rId129"/>
    <p:sldId id="991" r:id="rId130"/>
    <p:sldId id="992" r:id="rId131"/>
    <p:sldId id="993" r:id="rId132"/>
    <p:sldId id="994" r:id="rId133"/>
    <p:sldId id="995" r:id="rId134"/>
    <p:sldId id="996" r:id="rId135"/>
    <p:sldId id="997" r:id="rId136"/>
    <p:sldId id="998" r:id="rId137"/>
    <p:sldId id="999" r:id="rId138"/>
    <p:sldId id="1000" r:id="rId139"/>
    <p:sldId id="1001" r:id="rId140"/>
    <p:sldId id="1002" r:id="rId141"/>
    <p:sldId id="1003" r:id="rId142"/>
    <p:sldId id="1004" r:id="rId143"/>
    <p:sldId id="1005" r:id="rId144"/>
    <p:sldId id="1006" r:id="rId145"/>
    <p:sldId id="1007" r:id="rId146"/>
    <p:sldId id="1008" r:id="rId147"/>
    <p:sldId id="1009" r:id="rId148"/>
    <p:sldId id="1010" r:id="rId149"/>
    <p:sldId id="2037" r:id="rId150"/>
    <p:sldId id="735" r:id="rId151"/>
    <p:sldId id="736" r:id="rId152"/>
    <p:sldId id="737" r:id="rId153"/>
    <p:sldId id="738" r:id="rId154"/>
    <p:sldId id="739" r:id="rId155"/>
    <p:sldId id="740" r:id="rId156"/>
    <p:sldId id="741" r:id="rId157"/>
    <p:sldId id="742" r:id="rId158"/>
    <p:sldId id="743" r:id="rId159"/>
    <p:sldId id="744" r:id="rId160"/>
    <p:sldId id="745" r:id="rId161"/>
    <p:sldId id="746" r:id="rId162"/>
    <p:sldId id="1032" r:id="rId163"/>
    <p:sldId id="1033" r:id="rId164"/>
    <p:sldId id="2038" r:id="rId165"/>
    <p:sldId id="747" r:id="rId166"/>
    <p:sldId id="748" r:id="rId167"/>
    <p:sldId id="749" r:id="rId168"/>
    <p:sldId id="750" r:id="rId169"/>
    <p:sldId id="751" r:id="rId170"/>
    <p:sldId id="752" r:id="rId171"/>
    <p:sldId id="753" r:id="rId172"/>
    <p:sldId id="754" r:id="rId173"/>
    <p:sldId id="755" r:id="rId174"/>
    <p:sldId id="757" r:id="rId175"/>
    <p:sldId id="758" r:id="rId176"/>
    <p:sldId id="759" r:id="rId177"/>
    <p:sldId id="760" r:id="rId178"/>
    <p:sldId id="761" r:id="rId179"/>
    <p:sldId id="762" r:id="rId180"/>
    <p:sldId id="1487" r:id="rId181"/>
    <p:sldId id="763" r:id="rId182"/>
    <p:sldId id="764" r:id="rId183"/>
    <p:sldId id="766" r:id="rId184"/>
    <p:sldId id="767" r:id="rId185"/>
    <p:sldId id="765" r:id="rId186"/>
    <p:sldId id="768" r:id="rId187"/>
    <p:sldId id="769" r:id="rId188"/>
    <p:sldId id="771" r:id="rId189"/>
    <p:sldId id="772" r:id="rId190"/>
    <p:sldId id="773" r:id="rId191"/>
    <p:sldId id="774" r:id="rId192"/>
    <p:sldId id="775" r:id="rId193"/>
    <p:sldId id="776" r:id="rId194"/>
    <p:sldId id="777" r:id="rId195"/>
    <p:sldId id="778" r:id="rId196"/>
    <p:sldId id="779" r:id="rId197"/>
    <p:sldId id="780" r:id="rId198"/>
    <p:sldId id="1944" r:id="rId199"/>
    <p:sldId id="781" r:id="rId200"/>
    <p:sldId id="782" r:id="rId201"/>
    <p:sldId id="783" r:id="rId202"/>
    <p:sldId id="784" r:id="rId203"/>
    <p:sldId id="785" r:id="rId204"/>
    <p:sldId id="786" r:id="rId205"/>
    <p:sldId id="787" r:id="rId206"/>
    <p:sldId id="788" r:id="rId207"/>
    <p:sldId id="789" r:id="rId208"/>
    <p:sldId id="790" r:id="rId209"/>
    <p:sldId id="791" r:id="rId210"/>
    <p:sldId id="792" r:id="rId211"/>
    <p:sldId id="793" r:id="rId212"/>
    <p:sldId id="794" r:id="rId213"/>
    <p:sldId id="1586" r:id="rId214"/>
    <p:sldId id="1587" r:id="rId215"/>
    <p:sldId id="796" r:id="rId216"/>
    <p:sldId id="797" r:id="rId217"/>
    <p:sldId id="798" r:id="rId218"/>
    <p:sldId id="799" r:id="rId219"/>
    <p:sldId id="800" r:id="rId220"/>
    <p:sldId id="801" r:id="rId221"/>
    <p:sldId id="802" r:id="rId222"/>
    <p:sldId id="803" r:id="rId223"/>
    <p:sldId id="804" r:id="rId224"/>
    <p:sldId id="805" r:id="rId225"/>
    <p:sldId id="806" r:id="rId226"/>
    <p:sldId id="807" r:id="rId227"/>
    <p:sldId id="1588" r:id="rId228"/>
    <p:sldId id="1589" r:id="rId229"/>
    <p:sldId id="1584" r:id="rId230"/>
    <p:sldId id="2040" r:id="rId231"/>
    <p:sldId id="888" r:id="rId232"/>
    <p:sldId id="889" r:id="rId233"/>
    <p:sldId id="890" r:id="rId234"/>
    <p:sldId id="891" r:id="rId235"/>
    <p:sldId id="892" r:id="rId236"/>
    <p:sldId id="893" r:id="rId237"/>
    <p:sldId id="894" r:id="rId238"/>
    <p:sldId id="895" r:id="rId239"/>
    <p:sldId id="896" r:id="rId240"/>
    <p:sldId id="897" r:id="rId241"/>
    <p:sldId id="898" r:id="rId242"/>
    <p:sldId id="899" r:id="rId243"/>
    <p:sldId id="900" r:id="rId244"/>
    <p:sldId id="901" r:id="rId245"/>
    <p:sldId id="902" r:id="rId246"/>
    <p:sldId id="903" r:id="rId247"/>
    <p:sldId id="904" r:id="rId248"/>
    <p:sldId id="905" r:id="rId249"/>
    <p:sldId id="906" r:id="rId250"/>
    <p:sldId id="907" r:id="rId251"/>
    <p:sldId id="2028" r:id="rId252"/>
    <p:sldId id="2029" r:id="rId253"/>
    <p:sldId id="2041" r:id="rId254"/>
    <p:sldId id="259" r:id="rId255"/>
    <p:sldId id="260" r:id="rId256"/>
    <p:sldId id="261" r:id="rId257"/>
    <p:sldId id="262" r:id="rId258"/>
    <p:sldId id="510" r:id="rId259"/>
    <p:sldId id="1656" r:id="rId260"/>
    <p:sldId id="1655" r:id="rId261"/>
    <p:sldId id="511" r:id="rId262"/>
    <p:sldId id="263" r:id="rId263"/>
    <p:sldId id="264" r:id="rId264"/>
    <p:sldId id="265" r:id="rId265"/>
    <p:sldId id="266" r:id="rId266"/>
    <p:sldId id="930" r:id="rId267"/>
    <p:sldId id="931" r:id="rId268"/>
    <p:sldId id="932" r:id="rId269"/>
    <p:sldId id="933" r:id="rId270"/>
    <p:sldId id="934" r:id="rId271"/>
    <p:sldId id="935" r:id="rId272"/>
    <p:sldId id="2039" r:id="rId273"/>
    <p:sldId id="824" r:id="rId274"/>
    <p:sldId id="825" r:id="rId275"/>
    <p:sldId id="826" r:id="rId276"/>
    <p:sldId id="827" r:id="rId277"/>
    <p:sldId id="828" r:id="rId278"/>
    <p:sldId id="829" r:id="rId279"/>
    <p:sldId id="1582" r:id="rId280"/>
    <p:sldId id="830" r:id="rId281"/>
    <p:sldId id="831" r:id="rId282"/>
    <p:sldId id="832" r:id="rId283"/>
    <p:sldId id="833" r:id="rId284"/>
    <p:sldId id="834" r:id="rId285"/>
    <p:sldId id="835" r:id="rId286"/>
    <p:sldId id="836" r:id="rId287"/>
    <p:sldId id="837" r:id="rId288"/>
    <p:sldId id="838" r:id="rId289"/>
    <p:sldId id="839" r:id="rId290"/>
    <p:sldId id="840" r:id="rId291"/>
    <p:sldId id="841" r:id="rId292"/>
    <p:sldId id="842" r:id="rId293"/>
    <p:sldId id="843" r:id="rId294"/>
    <p:sldId id="844" r:id="rId295"/>
    <p:sldId id="845" r:id="rId296"/>
    <p:sldId id="846" r:id="rId297"/>
    <p:sldId id="847" r:id="rId298"/>
    <p:sldId id="848" r:id="rId299"/>
    <p:sldId id="849" r:id="rId300"/>
    <p:sldId id="850" r:id="rId301"/>
    <p:sldId id="851" r:id="rId302"/>
    <p:sldId id="852" r:id="rId303"/>
    <p:sldId id="853" r:id="rId304"/>
    <p:sldId id="854" r:id="rId305"/>
  </p:sldIdLst>
  <p:sldSz cx="9906000" cy="6858000" type="A4"/>
  <p:notesSz cx="6888163" cy="10018713"/>
  <p:custDataLst>
    <p:tags r:id="rId308"/>
  </p:custDataLst>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34" userDrawn="1">
          <p15:clr>
            <a:srgbClr val="A4A3A4"/>
          </p15:clr>
        </p15:guide>
        <p15:guide id="2" pos="3257" userDrawn="1">
          <p15:clr>
            <a:srgbClr val="A4A3A4"/>
          </p15:clr>
        </p15:guide>
      </p15:sldGuideLst>
    </p:ext>
    <p:ext uri="{2D200454-40CA-4A62-9FC3-DE9A4176ACB9}">
      <p15:notesGuideLst xmlns:p15="http://schemas.microsoft.com/office/powerpoint/2012/main">
        <p15:guide id="1" orient="horz" pos="3117" userDrawn="1">
          <p15:clr>
            <a:srgbClr val="A4A3A4"/>
          </p15:clr>
        </p15:guide>
        <p15:guide id="2" pos="2265"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66"/>
    <a:srgbClr val="0000FF"/>
    <a:srgbClr val="6699FF"/>
    <a:srgbClr val="000099"/>
    <a:srgbClr val="0000CC"/>
    <a:srgbClr val="000066"/>
    <a:srgbClr val="FF66FF"/>
    <a:srgbClr val="3333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1792" autoAdjust="0"/>
    <p:restoredTop sz="95184" autoAdjust="0"/>
  </p:normalViewPr>
  <p:slideViewPr>
    <p:cSldViewPr>
      <p:cViewPr varScale="1">
        <p:scale>
          <a:sx n="118" d="100"/>
          <a:sy n="118" d="100"/>
        </p:scale>
        <p:origin x="1690" y="91"/>
      </p:cViewPr>
      <p:guideLst>
        <p:guide orient="horz" pos="2134"/>
        <p:guide pos="3257"/>
      </p:guideLst>
    </p:cSldViewPr>
  </p:slideViewPr>
  <p:outlineViewPr>
    <p:cViewPr>
      <p:scale>
        <a:sx n="33" d="100"/>
        <a:sy n="33" d="100"/>
      </p:scale>
      <p:origin x="0" y="-10344"/>
    </p:cViewPr>
  </p:outlineViewPr>
  <p:notesTextViewPr>
    <p:cViewPr>
      <p:scale>
        <a:sx n="100" d="100"/>
        <a:sy n="100" d="100"/>
      </p:scale>
      <p:origin x="0" y="0"/>
    </p:cViewPr>
  </p:notesTextViewPr>
  <p:sorterViewPr>
    <p:cViewPr>
      <p:scale>
        <a:sx n="100" d="100"/>
        <a:sy n="100" d="100"/>
      </p:scale>
      <p:origin x="0" y="-23872"/>
    </p:cViewPr>
  </p:sorterViewPr>
  <p:notesViewPr>
    <p:cSldViewPr>
      <p:cViewPr>
        <p:scale>
          <a:sx n="56" d="100"/>
          <a:sy n="56" d="100"/>
        </p:scale>
        <p:origin x="-1830" y="-96"/>
      </p:cViewPr>
      <p:guideLst>
        <p:guide orient="horz" pos="3117"/>
        <p:guide pos="2265"/>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notesMaster" Target="notesMasters/notesMaster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handoutMaster" Target="handoutMasters/handoutMaster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tags" Target="tags/tag1.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presProps" Target="presProp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viewProps" Target="viewProps.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theme" Target="theme/theme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tableStyles" Target="tableStyles.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8.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13.wmf"/><Relationship Id="rId1" Type="http://schemas.openxmlformats.org/officeDocument/2006/relationships/image" Target="../media/image12.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30.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30.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30.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hdr" sz="quarter"/>
          </p:nvPr>
        </p:nvSpPr>
        <p:spPr bwMode="auto">
          <a:xfrm>
            <a:off x="0" y="0"/>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defRPr sz="1200">
                <a:latin typeface="宋体" panose="02010600030101010101" pitchFamily="2" charset="-122"/>
              </a:defRPr>
            </a:lvl1pPr>
          </a:lstStyle>
          <a:p>
            <a:endParaRPr lang="zh-CN" altLang="en-US"/>
          </a:p>
        </p:txBody>
      </p:sp>
      <p:sp>
        <p:nvSpPr>
          <p:cNvPr id="25603" name="Rectangle 3"/>
          <p:cNvSpPr>
            <a:spLocks noGrp="1" noChangeArrowheads="1"/>
          </p:cNvSpPr>
          <p:nvPr>
            <p:ph type="dt" sz="quarter" idx="1"/>
          </p:nvPr>
        </p:nvSpPr>
        <p:spPr bwMode="auto">
          <a:xfrm>
            <a:off x="3901109" y="0"/>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defRPr sz="1200">
                <a:latin typeface="宋体" panose="02010600030101010101" pitchFamily="2" charset="-122"/>
              </a:defRPr>
            </a:lvl1pPr>
          </a:lstStyle>
          <a:p>
            <a:endParaRPr lang="en-US" altLang="zh-CN"/>
          </a:p>
        </p:txBody>
      </p:sp>
      <p:sp>
        <p:nvSpPr>
          <p:cNvPr id="25604" name="Rectangle 4"/>
          <p:cNvSpPr>
            <a:spLocks noGrp="1" noChangeArrowheads="1"/>
          </p:cNvSpPr>
          <p:nvPr>
            <p:ph type="ftr" sz="quarter" idx="2"/>
          </p:nvPr>
        </p:nvSpPr>
        <p:spPr bwMode="auto">
          <a:xfrm>
            <a:off x="0" y="9515725"/>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eaLnBrk="1" hangingPunct="1">
              <a:defRPr sz="1200">
                <a:latin typeface="宋体" panose="02010600030101010101" pitchFamily="2" charset="-122"/>
              </a:defRPr>
            </a:lvl1pPr>
          </a:lstStyle>
          <a:p>
            <a:endParaRPr lang="en-US" altLang="zh-CN"/>
          </a:p>
        </p:txBody>
      </p:sp>
      <p:sp>
        <p:nvSpPr>
          <p:cNvPr id="25605" name="Rectangle 5"/>
          <p:cNvSpPr>
            <a:spLocks noGrp="1" noChangeArrowheads="1"/>
          </p:cNvSpPr>
          <p:nvPr>
            <p:ph type="sldNum" sz="quarter" idx="3"/>
          </p:nvPr>
        </p:nvSpPr>
        <p:spPr bwMode="auto">
          <a:xfrm>
            <a:off x="3901109" y="9515725"/>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eaLnBrk="1" hangingPunct="1">
              <a:defRPr sz="1200">
                <a:latin typeface="宋体" panose="02010600030101010101" pitchFamily="2" charset="-122"/>
              </a:defRPr>
            </a:lvl1pPr>
          </a:lstStyle>
          <a:p>
            <a:fld id="{E4C64EE1-592A-45A9-9E8D-8A110C604C90}" type="slidenum">
              <a:rPr lang="zh-CN" altLang="en-US"/>
              <a:t>‹#›</a:t>
            </a:fld>
            <a:endParaRPr lang="en-US" altLang="zh-CN"/>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3554" name="Rectangle 2"/>
          <p:cNvSpPr>
            <a:spLocks noGrp="1" noChangeArrowheads="1"/>
          </p:cNvSpPr>
          <p:nvPr>
            <p:ph type="hdr" sz="quarter"/>
          </p:nvPr>
        </p:nvSpPr>
        <p:spPr bwMode="auto">
          <a:xfrm>
            <a:off x="0" y="0"/>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defRPr sz="1200">
                <a:latin typeface="宋体" panose="02010600030101010101" pitchFamily="2" charset="-122"/>
              </a:defRPr>
            </a:lvl1pPr>
          </a:lstStyle>
          <a:p>
            <a:endParaRPr lang="zh-CN" altLang="en-US"/>
          </a:p>
        </p:txBody>
      </p:sp>
      <p:sp>
        <p:nvSpPr>
          <p:cNvPr id="23555" name="Rectangle 3"/>
          <p:cNvSpPr>
            <a:spLocks noGrp="1" noChangeArrowheads="1"/>
          </p:cNvSpPr>
          <p:nvPr>
            <p:ph type="dt" idx="1"/>
          </p:nvPr>
        </p:nvSpPr>
        <p:spPr bwMode="auto">
          <a:xfrm>
            <a:off x="3901109" y="0"/>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defRPr sz="1200">
                <a:latin typeface="宋体" panose="02010600030101010101" pitchFamily="2" charset="-122"/>
              </a:defRPr>
            </a:lvl1pPr>
          </a:lstStyle>
          <a:p>
            <a:endParaRPr lang="en-US" altLang="zh-CN"/>
          </a:p>
        </p:txBody>
      </p:sp>
      <p:sp>
        <p:nvSpPr>
          <p:cNvPr id="23556" name="Rectangle 4"/>
          <p:cNvSpPr>
            <a:spLocks noGrp="1" noRot="1" noChangeAspect="1" noChangeArrowheads="1" noTextEdit="1"/>
          </p:cNvSpPr>
          <p:nvPr>
            <p:ph type="sldImg" idx="2"/>
          </p:nvPr>
        </p:nvSpPr>
        <p:spPr bwMode="auto">
          <a:xfrm>
            <a:off x="730250" y="750888"/>
            <a:ext cx="5427663" cy="3757612"/>
          </a:xfrm>
          <a:prstGeom prst="rect">
            <a:avLst/>
          </a:prstGeom>
          <a:noFill/>
          <a:ln w="9525">
            <a:solidFill>
              <a:srgbClr val="000000"/>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3557" name="Rectangle 5"/>
          <p:cNvSpPr>
            <a:spLocks noGrp="1" noChangeArrowheads="1"/>
          </p:cNvSpPr>
          <p:nvPr>
            <p:ph type="body" sz="quarter" idx="3"/>
          </p:nvPr>
        </p:nvSpPr>
        <p:spPr bwMode="auto">
          <a:xfrm>
            <a:off x="689440" y="4759574"/>
            <a:ext cx="5509283" cy="45080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a:t>单击此处编辑母版文本样式</a:t>
            </a:r>
            <a:endParaRPr lang="en-US" altLang="zh-CN"/>
          </a:p>
          <a:p>
            <a:pPr lvl="1"/>
            <a:r>
              <a:rPr lang="en-US" altLang="zh-CN"/>
              <a:t>5656</a:t>
            </a:r>
          </a:p>
          <a:p>
            <a:pPr lvl="2"/>
            <a:r>
              <a:rPr lang="zh-CN" altLang="en-US"/>
              <a:t>第三级</a:t>
            </a:r>
            <a:endParaRPr lang="en-US" altLang="zh-CN"/>
          </a:p>
          <a:p>
            <a:pPr lvl="3"/>
            <a:r>
              <a:rPr lang="zh-CN" altLang="en-US"/>
              <a:t>第四级</a:t>
            </a:r>
            <a:endParaRPr lang="en-US" altLang="zh-CN"/>
          </a:p>
          <a:p>
            <a:pPr lvl="4"/>
            <a:r>
              <a:rPr lang="zh-CN" altLang="en-US"/>
              <a:t>第五级</a:t>
            </a:r>
            <a:endParaRPr lang="en-US" altLang="zh-CN"/>
          </a:p>
        </p:txBody>
      </p:sp>
      <p:sp>
        <p:nvSpPr>
          <p:cNvPr id="23558" name="Rectangle 6"/>
          <p:cNvSpPr>
            <a:spLocks noGrp="1" noChangeArrowheads="1"/>
          </p:cNvSpPr>
          <p:nvPr>
            <p:ph type="ftr" sz="quarter" idx="4"/>
          </p:nvPr>
        </p:nvSpPr>
        <p:spPr bwMode="auto">
          <a:xfrm>
            <a:off x="0" y="9515725"/>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eaLnBrk="1" hangingPunct="1">
              <a:defRPr sz="1200">
                <a:latin typeface="宋体" panose="02010600030101010101" pitchFamily="2" charset="-122"/>
              </a:defRPr>
            </a:lvl1pPr>
          </a:lstStyle>
          <a:p>
            <a:endParaRPr lang="en-US" altLang="zh-CN"/>
          </a:p>
        </p:txBody>
      </p:sp>
      <p:sp>
        <p:nvSpPr>
          <p:cNvPr id="23559" name="Rectangle 7"/>
          <p:cNvSpPr>
            <a:spLocks noGrp="1" noChangeArrowheads="1"/>
          </p:cNvSpPr>
          <p:nvPr>
            <p:ph type="sldNum" sz="quarter" idx="5"/>
          </p:nvPr>
        </p:nvSpPr>
        <p:spPr bwMode="auto">
          <a:xfrm>
            <a:off x="3901109" y="9515725"/>
            <a:ext cx="2985495" cy="50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eaLnBrk="1" hangingPunct="1">
              <a:defRPr sz="1200">
                <a:latin typeface="宋体" panose="02010600030101010101" pitchFamily="2" charset="-122"/>
              </a:defRPr>
            </a:lvl1pPr>
          </a:lstStyle>
          <a:p>
            <a:fld id="{8DA2099C-E03D-4BEA-80BD-EC59252D8E32}" type="slidenum">
              <a:rPr lang="zh-CN" altLang="en-US"/>
              <a:t>‹#›</a:t>
            </a:fld>
            <a:endParaRPr lang="en-US" altLang="zh-CN"/>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宋体" panose="02010600030101010101" pitchFamily="2" charset="-122"/>
        <a:ea typeface="宋体" panose="02010600030101010101" pitchFamily="2" charset="-122"/>
        <a:cs typeface="+mn-cs"/>
      </a:defRPr>
    </a:lvl1pPr>
    <a:lvl2pPr marL="457200" algn="l" rtl="0" fontAlgn="base">
      <a:spcBef>
        <a:spcPct val="30000"/>
      </a:spcBef>
      <a:spcAft>
        <a:spcPct val="0"/>
      </a:spcAft>
      <a:defRPr sz="1200" kern="1200">
        <a:solidFill>
          <a:schemeClr val="tx1"/>
        </a:solidFill>
        <a:latin typeface="宋体" panose="02010600030101010101" pitchFamily="2" charset="-122"/>
        <a:ea typeface="宋体" panose="02010600030101010101" pitchFamily="2" charset="-122"/>
        <a:cs typeface="+mn-cs"/>
      </a:defRPr>
    </a:lvl2pPr>
    <a:lvl3pPr marL="914400" algn="l" rtl="0" fontAlgn="base">
      <a:spcBef>
        <a:spcPct val="30000"/>
      </a:spcBef>
      <a:spcAft>
        <a:spcPct val="0"/>
      </a:spcAft>
      <a:defRPr sz="1200" kern="1200">
        <a:solidFill>
          <a:schemeClr val="tx1"/>
        </a:solidFill>
        <a:latin typeface="宋体" panose="02010600030101010101" pitchFamily="2" charset="-122"/>
        <a:ea typeface="宋体" panose="02010600030101010101" pitchFamily="2" charset="-122"/>
        <a:cs typeface="+mn-cs"/>
      </a:defRPr>
    </a:lvl3pPr>
    <a:lvl4pPr marL="1371600" algn="l" rtl="0" fontAlgn="base">
      <a:spcBef>
        <a:spcPct val="30000"/>
      </a:spcBef>
      <a:spcAft>
        <a:spcPct val="0"/>
      </a:spcAft>
      <a:defRPr sz="1200" kern="1200">
        <a:solidFill>
          <a:schemeClr val="tx1"/>
        </a:solidFill>
        <a:latin typeface="宋体" panose="02010600030101010101" pitchFamily="2" charset="-122"/>
        <a:ea typeface="宋体" panose="02010600030101010101" pitchFamily="2" charset="-122"/>
        <a:cs typeface="+mn-cs"/>
      </a:defRPr>
    </a:lvl4pPr>
    <a:lvl5pPr marL="1828800" algn="l" rtl="0" fontAlgn="base">
      <a:spcBef>
        <a:spcPct val="30000"/>
      </a:spcBef>
      <a:spcAft>
        <a:spcPct val="0"/>
      </a:spcAft>
      <a:defRPr sz="1200" kern="1200">
        <a:solidFill>
          <a:schemeClr val="tx1"/>
        </a:solidFill>
        <a:latin typeface="宋体" panose="02010600030101010101" pitchFamily="2" charset="-122"/>
        <a:ea typeface="宋体"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396C443-04BC-4639-B5F7-E14A7E3E0041}" type="slidenum">
              <a:rPr lang="zh-CN" altLang="en-US"/>
              <a:t>1</a:t>
            </a:fld>
            <a:endParaRPr lang="en-US" altLang="zh-CN"/>
          </a:p>
        </p:txBody>
      </p:sp>
      <p:sp>
        <p:nvSpPr>
          <p:cNvPr id="24578" name="Rectangle 2"/>
          <p:cNvSpPr>
            <a:spLocks noGrp="1" noRot="1" noChangeAspect="1" noChangeArrowheads="1" noTextEdit="1"/>
          </p:cNvSpPr>
          <p:nvPr>
            <p:ph type="sldImg"/>
          </p:nvPr>
        </p:nvSpPr>
        <p:spPr/>
      </p:sp>
      <p:sp>
        <p:nvSpPr>
          <p:cNvPr id="24579" name="Rectangle 3"/>
          <p:cNvSpPr>
            <a:spLocks noGrp="1" noChangeArrowheads="1"/>
          </p:cNvSpPr>
          <p:nvPr>
            <p:ph type="body" idx="1"/>
          </p:nvPr>
        </p:nvSpPr>
        <p:spPr/>
        <p:txBody>
          <a:bodyPr/>
          <a:lstStyle/>
          <a:p>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98E436-7411-43AC-AFCD-51F868C30DF1}" type="slidenum">
              <a:rPr lang="en-US" altLang="zh-CN"/>
              <a:pPr/>
              <a:t>4</a:t>
            </a:fld>
            <a:endParaRPr lang="en-US" altLang="zh-CN"/>
          </a:p>
        </p:txBody>
      </p:sp>
      <p:sp>
        <p:nvSpPr>
          <p:cNvPr id="936962" name="Rectangle 2"/>
          <p:cNvSpPr>
            <a:spLocks noGrp="1" noRot="1" noChangeAspect="1" noChangeArrowheads="1" noTextEdit="1"/>
          </p:cNvSpPr>
          <p:nvPr>
            <p:ph type="sldImg"/>
          </p:nvPr>
        </p:nvSpPr>
        <p:spPr>
          <a:ln/>
        </p:spPr>
      </p:sp>
      <p:sp>
        <p:nvSpPr>
          <p:cNvPr id="9369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20F19DF-9530-4BF9-9A7B-1284D1693B95}" type="slidenum">
              <a:rPr lang="en-US" altLang="zh-CN"/>
              <a:pPr/>
              <a:t>5</a:t>
            </a:fld>
            <a:endParaRPr lang="en-US" altLang="zh-CN"/>
          </a:p>
        </p:txBody>
      </p:sp>
      <p:sp>
        <p:nvSpPr>
          <p:cNvPr id="937986" name="Rectangle 2"/>
          <p:cNvSpPr>
            <a:spLocks noGrp="1" noRot="1" noChangeAspect="1" noChangeArrowheads="1" noTextEdit="1"/>
          </p:cNvSpPr>
          <p:nvPr>
            <p:ph type="sldImg"/>
          </p:nvPr>
        </p:nvSpPr>
        <p:spPr>
          <a:ln/>
        </p:spPr>
      </p:sp>
      <p:sp>
        <p:nvSpPr>
          <p:cNvPr id="9379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7119DD-5ADD-487A-8C2A-9D71D3664BD0}" type="slidenum">
              <a:rPr lang="en-US" altLang="zh-CN"/>
              <a:pPr/>
              <a:t>6</a:t>
            </a:fld>
            <a:endParaRPr lang="en-US" altLang="zh-CN"/>
          </a:p>
        </p:txBody>
      </p:sp>
      <p:sp>
        <p:nvSpPr>
          <p:cNvPr id="941058" name="Rectangle 2"/>
          <p:cNvSpPr>
            <a:spLocks noGrp="1" noRot="1" noChangeAspect="1" noChangeArrowheads="1" noTextEdit="1"/>
          </p:cNvSpPr>
          <p:nvPr>
            <p:ph type="sldImg"/>
          </p:nvPr>
        </p:nvSpPr>
        <p:spPr>
          <a:ln/>
        </p:spPr>
      </p:sp>
      <p:sp>
        <p:nvSpPr>
          <p:cNvPr id="9410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27CFD8B-AAA5-42B2-8F60-674FF82D1440}" type="slidenum">
              <a:rPr lang="en-US" altLang="zh-CN"/>
              <a:pPr/>
              <a:t>7</a:t>
            </a:fld>
            <a:endParaRPr lang="en-US" altLang="zh-CN"/>
          </a:p>
        </p:txBody>
      </p:sp>
      <p:sp>
        <p:nvSpPr>
          <p:cNvPr id="942082" name="Rectangle 2"/>
          <p:cNvSpPr>
            <a:spLocks noGrp="1" noRot="1" noChangeAspect="1" noChangeArrowheads="1" noTextEdit="1"/>
          </p:cNvSpPr>
          <p:nvPr>
            <p:ph type="sldImg"/>
          </p:nvPr>
        </p:nvSpPr>
        <p:spPr>
          <a:ln/>
        </p:spPr>
      </p:sp>
      <p:sp>
        <p:nvSpPr>
          <p:cNvPr id="9420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2EEAAF-9746-4A21-AFDB-8EDB16962191}" type="slidenum">
              <a:rPr lang="en-US" altLang="zh-CN"/>
              <a:pPr/>
              <a:t>8</a:t>
            </a:fld>
            <a:endParaRPr lang="en-US" altLang="zh-CN"/>
          </a:p>
        </p:txBody>
      </p:sp>
      <p:sp>
        <p:nvSpPr>
          <p:cNvPr id="944130" name="Rectangle 2"/>
          <p:cNvSpPr>
            <a:spLocks noGrp="1" noRot="1" noChangeAspect="1" noChangeArrowheads="1" noTextEdit="1"/>
          </p:cNvSpPr>
          <p:nvPr>
            <p:ph type="sldImg"/>
          </p:nvPr>
        </p:nvSpPr>
        <p:spPr>
          <a:ln/>
        </p:spPr>
      </p:sp>
      <p:sp>
        <p:nvSpPr>
          <p:cNvPr id="9441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577F4EA-EB7D-450E-9B34-952ABA84ABAA}" type="slidenum">
              <a:rPr lang="en-US" altLang="zh-CN"/>
              <a:pPr/>
              <a:t>9</a:t>
            </a:fld>
            <a:endParaRPr lang="en-US" altLang="zh-CN"/>
          </a:p>
        </p:txBody>
      </p:sp>
      <p:sp>
        <p:nvSpPr>
          <p:cNvPr id="946178" name="Rectangle 2"/>
          <p:cNvSpPr>
            <a:spLocks noGrp="1" noRot="1" noChangeAspect="1" noChangeArrowheads="1" noTextEdit="1"/>
          </p:cNvSpPr>
          <p:nvPr>
            <p:ph type="sldImg"/>
          </p:nvPr>
        </p:nvSpPr>
        <p:spPr>
          <a:ln/>
        </p:spPr>
      </p:sp>
      <p:sp>
        <p:nvSpPr>
          <p:cNvPr id="9461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6A7CE71-09BB-4E35-9255-5CB971AC7444}" type="slidenum">
              <a:rPr lang="en-US" altLang="zh-CN"/>
              <a:pPr/>
              <a:t>10</a:t>
            </a:fld>
            <a:endParaRPr lang="en-US" altLang="zh-CN"/>
          </a:p>
        </p:txBody>
      </p:sp>
      <p:sp>
        <p:nvSpPr>
          <p:cNvPr id="948226" name="Rectangle 2"/>
          <p:cNvSpPr>
            <a:spLocks noGrp="1" noRot="1" noChangeAspect="1" noChangeArrowheads="1" noTextEdit="1"/>
          </p:cNvSpPr>
          <p:nvPr>
            <p:ph type="sldImg"/>
          </p:nvPr>
        </p:nvSpPr>
        <p:spPr>
          <a:ln/>
        </p:spPr>
      </p:sp>
      <p:sp>
        <p:nvSpPr>
          <p:cNvPr id="948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38E087D-46D2-46FF-B1E6-D3609F2CF256}" type="slidenum">
              <a:rPr lang="en-US" altLang="zh-CN"/>
              <a:t>12</a:t>
            </a:fld>
            <a:endParaRPr lang="en-US" altLang="zh-CN"/>
          </a:p>
        </p:txBody>
      </p:sp>
      <p:sp>
        <p:nvSpPr>
          <p:cNvPr id="968706" name="Rectangle 2"/>
          <p:cNvSpPr>
            <a:spLocks noGrp="1" noRot="1" noChangeAspect="1" noChangeArrowheads="1" noTextEdit="1"/>
          </p:cNvSpPr>
          <p:nvPr>
            <p:ph type="sldImg"/>
          </p:nvPr>
        </p:nvSpPr>
        <p:spPr/>
      </p:sp>
      <p:sp>
        <p:nvSpPr>
          <p:cNvPr id="968707" name="Rectangle 3"/>
          <p:cNvSpPr>
            <a:spLocks noGrp="1" noChangeArrowheads="1"/>
          </p:cNvSpPr>
          <p:nvPr>
            <p:ph type="body" idx="1"/>
          </p:nvPr>
        </p:nvSpPr>
        <p:spPr/>
        <p:txBody>
          <a:bodyPr/>
          <a:lstStyle/>
          <a:p>
            <a:r>
              <a:rPr lang="en-US" altLang="zh-CN" dirty="0"/>
              <a:t>ICMP   </a:t>
            </a:r>
            <a:r>
              <a:rPr lang="zh-CN" altLang="en-US" dirty="0"/>
              <a:t>主要负责如果出错了，应该如何将出错报文告知发送方，并如何实现更好的发送     </a:t>
            </a:r>
            <a:r>
              <a:rPr lang="en-US" altLang="zh-CN" dirty="0"/>
              <a:t>IGMP   </a:t>
            </a:r>
            <a:r>
              <a:rPr lang="zh-CN" altLang="en-US" dirty="0"/>
              <a:t>如何使主机能跟不同路由器进行沟通</a:t>
            </a:r>
            <a:endParaRPr lang="zh-CN" altLang="zh-CN"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49F115C-B1A8-4482-AF6F-686591AE2EE0}" type="slidenum">
              <a:rPr lang="en-US" altLang="zh-CN"/>
              <a:t>13</a:t>
            </a:fld>
            <a:endParaRPr lang="en-US" altLang="zh-CN"/>
          </a:p>
        </p:txBody>
      </p:sp>
      <p:sp>
        <p:nvSpPr>
          <p:cNvPr id="969730" name="Rectangle 2"/>
          <p:cNvSpPr>
            <a:spLocks noGrp="1" noRot="1" noChangeAspect="1" noChangeArrowheads="1" noTextEdit="1"/>
          </p:cNvSpPr>
          <p:nvPr>
            <p:ph type="sldImg"/>
          </p:nvPr>
        </p:nvSpPr>
        <p:spPr/>
      </p:sp>
      <p:sp>
        <p:nvSpPr>
          <p:cNvPr id="9697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CAE6C92-B0E8-49D7-A471-86B9FA4E51A7}" type="slidenum">
              <a:rPr lang="en-US" altLang="zh-CN"/>
              <a:t>15</a:t>
            </a:fld>
            <a:endParaRPr lang="en-US" altLang="zh-CN"/>
          </a:p>
        </p:txBody>
      </p:sp>
      <p:sp>
        <p:nvSpPr>
          <p:cNvPr id="692226" name="Rectangle 2"/>
          <p:cNvSpPr>
            <a:spLocks noGrp="1" noRot="1" noChangeAspect="1" noChangeArrowheads="1" noTextEdit="1"/>
          </p:cNvSpPr>
          <p:nvPr>
            <p:ph type="sldImg"/>
          </p:nvPr>
        </p:nvSpPr>
        <p:spPr/>
      </p:sp>
      <p:sp>
        <p:nvSpPr>
          <p:cNvPr id="692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CAE6C92-B0E8-49D7-A471-86B9FA4E51A7}" type="slidenum">
              <a:rPr lang="en-US" altLang="zh-CN"/>
              <a:t>16</a:t>
            </a:fld>
            <a:endParaRPr lang="en-US" altLang="zh-CN"/>
          </a:p>
        </p:txBody>
      </p:sp>
      <p:sp>
        <p:nvSpPr>
          <p:cNvPr id="692226" name="Rectangle 2"/>
          <p:cNvSpPr>
            <a:spLocks noGrp="1" noRot="1" noChangeAspect="1" noChangeArrowheads="1" noTextEdit="1"/>
          </p:cNvSpPr>
          <p:nvPr>
            <p:ph type="sldImg"/>
          </p:nvPr>
        </p:nvSpPr>
        <p:spPr/>
      </p:sp>
      <p:sp>
        <p:nvSpPr>
          <p:cNvPr id="692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4F698DF-CF15-4CB4-BE04-F93761BA98AA}" type="slidenum">
              <a:rPr lang="en-US" altLang="zh-CN"/>
              <a:t>17</a:t>
            </a:fld>
            <a:endParaRPr lang="en-US" altLang="zh-CN"/>
          </a:p>
        </p:txBody>
      </p:sp>
      <p:sp>
        <p:nvSpPr>
          <p:cNvPr id="693250" name="Rectangle 2"/>
          <p:cNvSpPr>
            <a:spLocks noGrp="1" noRot="1" noChangeAspect="1" noChangeArrowheads="1" noTextEdit="1"/>
          </p:cNvSpPr>
          <p:nvPr>
            <p:ph type="sldImg"/>
          </p:nvPr>
        </p:nvSpPr>
        <p:spPr/>
      </p:sp>
      <p:sp>
        <p:nvSpPr>
          <p:cNvPr id="693251" name="Rectangle 3"/>
          <p:cNvSpPr>
            <a:spLocks noGrp="1" noChangeArrowheads="1"/>
          </p:cNvSpPr>
          <p:nvPr>
            <p:ph type="body" idx="1"/>
          </p:nvPr>
        </p:nvSpPr>
        <p:spPr/>
        <p:txBody>
          <a:bodyPr/>
          <a:lstStyle/>
          <a:p>
            <a:r>
              <a:rPr lang="zh-CN" altLang="en-US" dirty="0"/>
              <a:t>主要讲</a:t>
            </a:r>
            <a:r>
              <a:rPr lang="en-US" altLang="zh-CN" dirty="0" err="1"/>
              <a:t>ip</a:t>
            </a:r>
            <a:r>
              <a:rPr lang="zh-CN" altLang="en-US" dirty="0"/>
              <a:t>地址分成不同的类别    子网划分主要讲利用子网掩码讲分类的</a:t>
            </a:r>
            <a:r>
              <a:rPr lang="en-US" altLang="zh-CN" dirty="0" err="1"/>
              <a:t>ip</a:t>
            </a:r>
            <a:r>
              <a:rPr lang="zh-CN" altLang="en-US" dirty="0"/>
              <a:t>再细的划分。构造超网是取消这种划分</a:t>
            </a:r>
            <a:endParaRPr lang="zh-CN" altLang="zh-CN"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1BC5511-5913-412C-9906-60FBA33977AD}" type="slidenum">
              <a:rPr lang="en-US" altLang="zh-CN"/>
              <a:t>18</a:t>
            </a:fld>
            <a:endParaRPr lang="en-US" altLang="zh-CN"/>
          </a:p>
        </p:txBody>
      </p:sp>
      <p:sp>
        <p:nvSpPr>
          <p:cNvPr id="694274" name="Rectangle 2"/>
          <p:cNvSpPr>
            <a:spLocks noGrp="1" noRot="1" noChangeAspect="1" noChangeArrowheads="1" noTextEdit="1"/>
          </p:cNvSpPr>
          <p:nvPr>
            <p:ph type="sldImg"/>
          </p:nvPr>
        </p:nvSpPr>
        <p:spPr/>
      </p:sp>
      <p:sp>
        <p:nvSpPr>
          <p:cNvPr id="6942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1BC5511-5913-412C-9906-60FBA33977AD}" type="slidenum">
              <a:rPr lang="en-US" altLang="zh-CN"/>
              <a:t>19</a:t>
            </a:fld>
            <a:endParaRPr lang="en-US" altLang="zh-CN"/>
          </a:p>
        </p:txBody>
      </p:sp>
      <p:sp>
        <p:nvSpPr>
          <p:cNvPr id="694274" name="Rectangle 2"/>
          <p:cNvSpPr>
            <a:spLocks noGrp="1" noRot="1" noChangeAspect="1" noChangeArrowheads="1" noTextEdit="1"/>
          </p:cNvSpPr>
          <p:nvPr>
            <p:ph type="sldImg"/>
          </p:nvPr>
        </p:nvSpPr>
        <p:spPr/>
      </p:sp>
      <p:sp>
        <p:nvSpPr>
          <p:cNvPr id="6942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20</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r>
              <a:rPr lang="zh-CN" altLang="en-US" dirty="0"/>
              <a:t>分别找几个同学来根据这个说他们的范围</a:t>
            </a:r>
            <a:endParaRPr lang="zh-CN" altLang="zh-CN"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21</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22</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23</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24</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25</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26</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27</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973F3A-26E3-4985-B3F6-73D0C740A669}" type="slidenum">
              <a:rPr lang="en-US" altLang="zh-CN"/>
              <a:t>28</a:t>
            </a:fld>
            <a:endParaRPr lang="en-US" altLang="zh-CN"/>
          </a:p>
        </p:txBody>
      </p:sp>
      <p:sp>
        <p:nvSpPr>
          <p:cNvPr id="695298" name="Rectangle 2"/>
          <p:cNvSpPr>
            <a:spLocks noGrp="1" noRot="1" noChangeAspect="1" noChangeArrowheads="1" noTextEdit="1"/>
          </p:cNvSpPr>
          <p:nvPr>
            <p:ph type="sldImg"/>
          </p:nvPr>
        </p:nvSpPr>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6196ED6-554D-4CAA-9263-9DA50CF4B7A7}" type="slidenum">
              <a:rPr lang="en-US" altLang="zh-CN"/>
              <a:t>29</a:t>
            </a:fld>
            <a:endParaRPr lang="en-US" altLang="zh-CN"/>
          </a:p>
        </p:txBody>
      </p:sp>
      <p:sp>
        <p:nvSpPr>
          <p:cNvPr id="705538" name="Rectangle 2"/>
          <p:cNvSpPr>
            <a:spLocks noGrp="1" noRot="1" noChangeAspect="1" noChangeArrowheads="1" noTextEdit="1"/>
          </p:cNvSpPr>
          <p:nvPr>
            <p:ph type="sldImg"/>
          </p:nvPr>
        </p:nvSpPr>
        <p:spPr/>
      </p:sp>
      <p:sp>
        <p:nvSpPr>
          <p:cNvPr id="705539" name="Rectangle 3"/>
          <p:cNvSpPr>
            <a:spLocks noGrp="1" noChangeArrowheads="1"/>
          </p:cNvSpPr>
          <p:nvPr>
            <p:ph type="body" idx="1"/>
          </p:nvPr>
        </p:nvSpPr>
        <p:spPr/>
        <p:txBody>
          <a:bodyPr/>
          <a:lstStyle/>
          <a:p>
            <a:r>
              <a:rPr lang="zh-CN" altLang="en-US" dirty="0"/>
              <a:t>每一个的地址范围是多少 </a:t>
            </a:r>
            <a:r>
              <a:rPr lang="en-US" altLang="zh-CN" dirty="0"/>
              <a:t>A: 0.0.0.0 - 127.255.255.255  B: 128.0.0.0 - 191.255.255.255 C: 192.0.1.0 - 223.255.255.255</a:t>
            </a:r>
            <a:endParaRPr lang="zh-CN" altLang="zh-CN"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1936ADB-363D-44D0-BDD8-8DDDF0D8D5AE}" type="slidenum">
              <a:rPr lang="en-US" altLang="zh-CN"/>
              <a:t>32</a:t>
            </a:fld>
            <a:endParaRPr lang="en-US" altLang="zh-CN"/>
          </a:p>
        </p:txBody>
      </p:sp>
      <p:sp>
        <p:nvSpPr>
          <p:cNvPr id="706562" name="Rectangle 2"/>
          <p:cNvSpPr>
            <a:spLocks noGrp="1" noRot="1" noChangeAspect="1" noChangeArrowheads="1" noTextEdit="1"/>
          </p:cNvSpPr>
          <p:nvPr>
            <p:ph type="sldImg"/>
          </p:nvPr>
        </p:nvSpPr>
        <p:spPr/>
      </p:sp>
      <p:sp>
        <p:nvSpPr>
          <p:cNvPr id="706563"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如果网络号为</a:t>
            </a:r>
            <a:r>
              <a:rPr lang="en-US" altLang="zh-CN" dirty="0"/>
              <a:t>0</a:t>
            </a:r>
            <a:r>
              <a:rPr lang="zh-CN" altLang="en-US" dirty="0"/>
              <a:t>，则表示我们在自己的网络里，由于</a:t>
            </a:r>
            <a:r>
              <a:rPr lang="en-US" altLang="zh-CN" dirty="0"/>
              <a:t>0</a:t>
            </a:r>
            <a:r>
              <a:rPr lang="zh-CN" altLang="en-US" dirty="0"/>
              <a:t>表示自己，所以目的地址不能使用   </a:t>
            </a:r>
            <a:r>
              <a:rPr lang="en-US" altLang="zh-CN" dirty="0"/>
              <a:t>localhost</a:t>
            </a:r>
            <a:r>
              <a:rPr lang="zh-CN" altLang="en-US" dirty="0"/>
              <a:t>表示</a:t>
            </a:r>
            <a:r>
              <a:rPr lang="en-US" altLang="zh-CN" dirty="0"/>
              <a:t>127.0.0.1    255.255.255.255</a:t>
            </a:r>
            <a:r>
              <a:rPr lang="zh-CN" altLang="en-US" dirty="0"/>
              <a:t>这个表示全网</a:t>
            </a:r>
          </a:p>
        </p:txBody>
      </p:sp>
      <p:sp>
        <p:nvSpPr>
          <p:cNvPr id="4" name="灯片编号占位符 3"/>
          <p:cNvSpPr>
            <a:spLocks noGrp="1"/>
          </p:cNvSpPr>
          <p:nvPr>
            <p:ph type="sldNum" sz="quarter" idx="5"/>
          </p:nvPr>
        </p:nvSpPr>
        <p:spPr/>
        <p:txBody>
          <a:bodyPr/>
          <a:lstStyle/>
          <a:p>
            <a:fld id="{8DA2099C-E03D-4BEA-80BD-EC59252D8E32}" type="slidenum">
              <a:rPr lang="zh-CN" altLang="en-US" smtClean="0"/>
              <a:t>33</a:t>
            </a:fld>
            <a:endParaRPr lang="en-US" altLang="zh-CN"/>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A683EDB-8550-41BC-B065-463E70B5D5FE}" type="slidenum">
              <a:rPr lang="en-US" altLang="zh-CN"/>
              <a:t>34</a:t>
            </a:fld>
            <a:endParaRPr lang="en-US" altLang="zh-CN"/>
          </a:p>
        </p:txBody>
      </p:sp>
      <p:sp>
        <p:nvSpPr>
          <p:cNvPr id="707586" name="Rectangle 2"/>
          <p:cNvSpPr>
            <a:spLocks noGrp="1" noRot="1" noChangeAspect="1" noChangeArrowheads="1" noTextEdit="1"/>
          </p:cNvSpPr>
          <p:nvPr>
            <p:ph type="sldImg"/>
          </p:nvPr>
        </p:nvSpPr>
        <p:spPr/>
      </p:sp>
      <p:sp>
        <p:nvSpPr>
          <p:cNvPr id="707587" name="Rectangle 3"/>
          <p:cNvSpPr>
            <a:spLocks noGrp="1" noChangeArrowheads="1"/>
          </p:cNvSpPr>
          <p:nvPr>
            <p:ph type="body" idx="1"/>
          </p:nvPr>
        </p:nvSpPr>
        <p:spPr/>
        <p:txBody>
          <a:bodyPr/>
          <a:lstStyle/>
          <a:p>
            <a:r>
              <a:rPr lang="en-US" altLang="zh-CN" dirty="0"/>
              <a:t>IP</a:t>
            </a:r>
            <a:r>
              <a:rPr lang="zh-CN" altLang="en-US" dirty="0"/>
              <a:t>管理机构只负责分配网络号，主机号由单位自行分配      路由器只负责查找网络号，而不负责查找主机号    还是拿高速公路举例子</a:t>
            </a:r>
            <a:endParaRPr lang="zh-CN" altLang="zh-CN"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E97D5F8-D34B-48CA-960F-DB9DA5157E06}" type="slidenum">
              <a:rPr lang="en-US" altLang="zh-CN"/>
              <a:t>35</a:t>
            </a:fld>
            <a:endParaRPr lang="en-US" altLang="zh-CN"/>
          </a:p>
        </p:txBody>
      </p:sp>
      <p:sp>
        <p:nvSpPr>
          <p:cNvPr id="708610" name="Rectangle 2"/>
          <p:cNvSpPr>
            <a:spLocks noGrp="1" noRot="1" noChangeAspect="1" noChangeArrowheads="1" noTextEdit="1"/>
          </p:cNvSpPr>
          <p:nvPr>
            <p:ph type="sldImg"/>
          </p:nvPr>
        </p:nvSpPr>
        <p:spPr/>
      </p:sp>
      <p:sp>
        <p:nvSpPr>
          <p:cNvPr id="708611" name="Rectangle 3"/>
          <p:cNvSpPr>
            <a:spLocks noGrp="1" noChangeArrowheads="1"/>
          </p:cNvSpPr>
          <p:nvPr>
            <p:ph type="body" idx="1"/>
          </p:nvPr>
        </p:nvSpPr>
        <p:spPr/>
        <p:txBody>
          <a:bodyPr/>
          <a:lstStyle/>
          <a:p>
            <a:r>
              <a:rPr lang="zh-CN" altLang="en-US" dirty="0"/>
              <a:t>画一个多归属主机的例子，</a:t>
            </a:r>
            <a:endParaRPr lang="zh-CN" altLang="zh-CN"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71A32FD-4560-46D9-B75A-A64F05383F5F}" type="slidenum">
              <a:rPr lang="en-US" altLang="zh-CN"/>
              <a:t>36</a:t>
            </a:fld>
            <a:endParaRPr lang="en-US" altLang="zh-CN"/>
          </a:p>
        </p:txBody>
      </p:sp>
      <p:sp>
        <p:nvSpPr>
          <p:cNvPr id="709634" name="Rectangle 2"/>
          <p:cNvSpPr>
            <a:spLocks noGrp="1" noRot="1" noChangeAspect="1" noChangeArrowheads="1" noTextEdit="1"/>
          </p:cNvSpPr>
          <p:nvPr>
            <p:ph type="sldImg"/>
          </p:nvPr>
        </p:nvSpPr>
        <p:spPr/>
      </p:sp>
      <p:sp>
        <p:nvSpPr>
          <p:cNvPr id="7096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1ECBC36-E9A5-4B5E-A8C7-F23A2DC79DBD}" type="slidenum">
              <a:rPr lang="en-US" altLang="zh-CN"/>
              <a:t>47</a:t>
            </a:fld>
            <a:endParaRPr lang="en-US" altLang="zh-CN"/>
          </a:p>
        </p:txBody>
      </p:sp>
      <p:sp>
        <p:nvSpPr>
          <p:cNvPr id="759810" name="Rectangle 2"/>
          <p:cNvSpPr>
            <a:spLocks noGrp="1" noRot="1" noChangeAspect="1" noChangeArrowheads="1" noTextEdit="1"/>
          </p:cNvSpPr>
          <p:nvPr>
            <p:ph type="sldImg"/>
          </p:nvPr>
        </p:nvSpPr>
        <p:spPr/>
      </p:sp>
      <p:sp>
        <p:nvSpPr>
          <p:cNvPr id="75981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49492128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C3316A4-3F47-4041-AB7C-2A2EDDCC02A8}" type="slidenum">
              <a:rPr lang="en-US" altLang="zh-CN"/>
              <a:t>48</a:t>
            </a:fld>
            <a:endParaRPr lang="en-US" altLang="zh-CN"/>
          </a:p>
        </p:txBody>
      </p:sp>
      <p:sp>
        <p:nvSpPr>
          <p:cNvPr id="760834" name="Rectangle 2"/>
          <p:cNvSpPr>
            <a:spLocks noGrp="1" noRot="1" noChangeAspect="1" noChangeArrowheads="1" noTextEdit="1"/>
          </p:cNvSpPr>
          <p:nvPr>
            <p:ph type="sldImg"/>
          </p:nvPr>
        </p:nvSpPr>
        <p:spPr/>
      </p:sp>
      <p:sp>
        <p:nvSpPr>
          <p:cNvPr id="76083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08919083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C897423-168C-4009-BF89-CF6DCC5F7DFD}" type="slidenum">
              <a:rPr lang="en-US" altLang="zh-CN"/>
              <a:t>49</a:t>
            </a:fld>
            <a:endParaRPr lang="en-US" altLang="zh-CN"/>
          </a:p>
        </p:txBody>
      </p:sp>
      <p:sp>
        <p:nvSpPr>
          <p:cNvPr id="761858" name="Rectangle 2"/>
          <p:cNvSpPr>
            <a:spLocks noGrp="1" noRot="1" noChangeAspect="1" noChangeArrowheads="1" noTextEdit="1"/>
          </p:cNvSpPr>
          <p:nvPr>
            <p:ph type="sldImg"/>
          </p:nvPr>
        </p:nvSpPr>
        <p:spPr/>
      </p:sp>
      <p:sp>
        <p:nvSpPr>
          <p:cNvPr id="76185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0835144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69467ED-FEA1-4986-8B8E-84516EF0EBBC}" type="slidenum">
              <a:rPr lang="en-US" altLang="zh-CN"/>
              <a:t>50</a:t>
            </a:fld>
            <a:endParaRPr lang="en-US" altLang="zh-CN"/>
          </a:p>
        </p:txBody>
      </p:sp>
      <p:sp>
        <p:nvSpPr>
          <p:cNvPr id="762882" name="Rectangle 2"/>
          <p:cNvSpPr>
            <a:spLocks noGrp="1" noRot="1" noChangeAspect="1" noChangeArrowheads="1" noTextEdit="1"/>
          </p:cNvSpPr>
          <p:nvPr>
            <p:ph type="sldImg"/>
          </p:nvPr>
        </p:nvSpPr>
        <p:spPr/>
      </p:sp>
      <p:sp>
        <p:nvSpPr>
          <p:cNvPr id="762883"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99130177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0DE3723-F1D7-46C4-96B0-BDB7BFCDBAE7}" type="slidenum">
              <a:rPr lang="en-US" altLang="zh-CN"/>
              <a:t>51</a:t>
            </a:fld>
            <a:endParaRPr lang="en-US" altLang="zh-CN"/>
          </a:p>
        </p:txBody>
      </p:sp>
      <p:sp>
        <p:nvSpPr>
          <p:cNvPr id="763906" name="Rectangle 2"/>
          <p:cNvSpPr>
            <a:spLocks noGrp="1" noRot="1" noChangeAspect="1" noChangeArrowheads="1" noTextEdit="1"/>
          </p:cNvSpPr>
          <p:nvPr>
            <p:ph type="sldImg"/>
          </p:nvPr>
        </p:nvSpPr>
        <p:spPr/>
      </p:sp>
      <p:sp>
        <p:nvSpPr>
          <p:cNvPr id="76390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54318346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0B342BC-AB0F-415A-A0BA-509EE28B8790}" type="slidenum">
              <a:rPr lang="en-US" altLang="zh-CN"/>
              <a:t>52</a:t>
            </a:fld>
            <a:endParaRPr lang="en-US" altLang="zh-CN"/>
          </a:p>
        </p:txBody>
      </p:sp>
      <p:sp>
        <p:nvSpPr>
          <p:cNvPr id="764930" name="Rectangle 2"/>
          <p:cNvSpPr>
            <a:spLocks noGrp="1" noRot="1" noChangeAspect="1" noChangeArrowheads="1" noTextEdit="1"/>
          </p:cNvSpPr>
          <p:nvPr>
            <p:ph type="sldImg"/>
          </p:nvPr>
        </p:nvSpPr>
        <p:spPr/>
      </p:sp>
      <p:sp>
        <p:nvSpPr>
          <p:cNvPr id="76493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5478648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9FF9436-BE10-461D-964D-17CEE21827CB}" type="slidenum">
              <a:rPr lang="en-US" altLang="zh-CN"/>
              <a:t>53</a:t>
            </a:fld>
            <a:endParaRPr lang="en-US" altLang="zh-CN"/>
          </a:p>
        </p:txBody>
      </p:sp>
      <p:sp>
        <p:nvSpPr>
          <p:cNvPr id="765954" name="Rectangle 2"/>
          <p:cNvSpPr>
            <a:spLocks noGrp="1" noRot="1" noChangeAspect="1" noChangeArrowheads="1" noTextEdit="1"/>
          </p:cNvSpPr>
          <p:nvPr>
            <p:ph type="sldImg"/>
          </p:nvPr>
        </p:nvSpPr>
        <p:spPr/>
      </p:sp>
      <p:sp>
        <p:nvSpPr>
          <p:cNvPr id="76595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02009673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89FAC91-1C29-4F50-A8B3-5A76002797C2}" type="slidenum">
              <a:rPr lang="en-US" altLang="zh-CN"/>
              <a:t>55</a:t>
            </a:fld>
            <a:endParaRPr lang="en-US" altLang="zh-CN"/>
          </a:p>
        </p:txBody>
      </p:sp>
      <p:sp>
        <p:nvSpPr>
          <p:cNvPr id="766978" name="Rectangle 2"/>
          <p:cNvSpPr>
            <a:spLocks noGrp="1" noRot="1" noChangeAspect="1" noChangeArrowheads="1" noTextEdit="1"/>
          </p:cNvSpPr>
          <p:nvPr>
            <p:ph type="sldImg"/>
          </p:nvPr>
        </p:nvSpPr>
        <p:spPr/>
      </p:sp>
      <p:sp>
        <p:nvSpPr>
          <p:cNvPr id="76697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9980948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70DB3FF-38D7-4F7A-813C-8A5E11986C5D}" type="slidenum">
              <a:rPr lang="en-US" altLang="zh-CN"/>
              <a:t>56</a:t>
            </a:fld>
            <a:endParaRPr lang="en-US" altLang="zh-CN"/>
          </a:p>
        </p:txBody>
      </p:sp>
      <p:sp>
        <p:nvSpPr>
          <p:cNvPr id="768002" name="Rectangle 2"/>
          <p:cNvSpPr>
            <a:spLocks noGrp="1" noRot="1" noChangeAspect="1" noChangeArrowheads="1" noTextEdit="1"/>
          </p:cNvSpPr>
          <p:nvPr>
            <p:ph type="sldImg"/>
          </p:nvPr>
        </p:nvSpPr>
        <p:spPr/>
      </p:sp>
      <p:sp>
        <p:nvSpPr>
          <p:cNvPr id="768003" name="Rectangle 3"/>
          <p:cNvSpPr>
            <a:spLocks noGrp="1" noChangeArrowheads="1"/>
          </p:cNvSpPr>
          <p:nvPr>
            <p:ph type="body" idx="1"/>
          </p:nvPr>
        </p:nvSpPr>
        <p:spPr/>
        <p:txBody>
          <a:bodyPr/>
          <a:lstStyle/>
          <a:p>
            <a:r>
              <a:rPr lang="zh-CN" altLang="en-US" dirty="0"/>
              <a:t>含义不一样了</a:t>
            </a:r>
            <a:endParaRPr lang="zh-CN" altLang="zh-CN" dirty="0"/>
          </a:p>
        </p:txBody>
      </p:sp>
    </p:spTree>
    <p:extLst>
      <p:ext uri="{BB962C8B-B14F-4D97-AF65-F5344CB8AC3E}">
        <p14:creationId xmlns:p14="http://schemas.microsoft.com/office/powerpoint/2010/main" val="330139327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61E7F40-C913-42AF-A3E8-23007970080F}" type="slidenum">
              <a:rPr lang="en-US" altLang="zh-CN"/>
              <a:t>57</a:t>
            </a:fld>
            <a:endParaRPr lang="en-US" altLang="zh-CN"/>
          </a:p>
        </p:txBody>
      </p:sp>
      <p:sp>
        <p:nvSpPr>
          <p:cNvPr id="769026" name="Rectangle 2"/>
          <p:cNvSpPr>
            <a:spLocks noGrp="1" noRot="1" noChangeAspect="1" noChangeArrowheads="1" noTextEdit="1"/>
          </p:cNvSpPr>
          <p:nvPr>
            <p:ph type="sldImg"/>
          </p:nvPr>
        </p:nvSpPr>
        <p:spPr/>
      </p:sp>
      <p:sp>
        <p:nvSpPr>
          <p:cNvPr id="76902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2271785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4BD22E6-81C7-4348-9A64-6985BF195515}" type="slidenum">
              <a:rPr lang="en-US" altLang="zh-CN"/>
              <a:t>58</a:t>
            </a:fld>
            <a:endParaRPr lang="en-US" altLang="zh-CN"/>
          </a:p>
        </p:txBody>
      </p:sp>
      <p:sp>
        <p:nvSpPr>
          <p:cNvPr id="770050" name="Rectangle 2"/>
          <p:cNvSpPr>
            <a:spLocks noGrp="1" noRot="1" noChangeAspect="1" noChangeArrowheads="1" noTextEdit="1"/>
          </p:cNvSpPr>
          <p:nvPr>
            <p:ph type="sldImg"/>
          </p:nvPr>
        </p:nvSpPr>
        <p:spPr/>
      </p:sp>
      <p:sp>
        <p:nvSpPr>
          <p:cNvPr id="77005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69802751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9B20834-3848-4F8E-8419-A6C587AB80D2}" type="slidenum">
              <a:rPr lang="en-US" altLang="zh-CN"/>
              <a:t>59</a:t>
            </a:fld>
            <a:endParaRPr lang="en-US" altLang="zh-CN"/>
          </a:p>
        </p:txBody>
      </p:sp>
      <p:sp>
        <p:nvSpPr>
          <p:cNvPr id="986114" name="Rectangle 2"/>
          <p:cNvSpPr>
            <a:spLocks noGrp="1" noRot="1" noChangeAspect="1" noChangeArrowheads="1" noTextEdit="1"/>
          </p:cNvSpPr>
          <p:nvPr>
            <p:ph type="sldImg"/>
          </p:nvPr>
        </p:nvSpPr>
        <p:spPr/>
      </p:sp>
      <p:sp>
        <p:nvSpPr>
          <p:cNvPr id="986115" name="Rectangle 3"/>
          <p:cNvSpPr>
            <a:spLocks noGrp="1" noChangeArrowheads="1"/>
          </p:cNvSpPr>
          <p:nvPr>
            <p:ph type="body" idx="1"/>
          </p:nvPr>
        </p:nvSpPr>
        <p:spPr/>
        <p:txBody>
          <a:bodyPr/>
          <a:lstStyle/>
          <a:p>
            <a:r>
              <a:rPr lang="zh-CN" altLang="en-US"/>
              <a:t>拿原本的路由表和带子网的路由表做对比</a:t>
            </a:r>
          </a:p>
        </p:txBody>
      </p:sp>
    </p:spTree>
    <p:extLst>
      <p:ext uri="{BB962C8B-B14F-4D97-AF65-F5344CB8AC3E}">
        <p14:creationId xmlns:p14="http://schemas.microsoft.com/office/powerpoint/2010/main" val="103978285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zh-CN" altLang="en-US"/>
              <a:t>不能是</a:t>
            </a:r>
            <a:r>
              <a:rPr lang="en-US" altLang="zh-CN"/>
              <a:t>1</a:t>
            </a:r>
            <a:r>
              <a:rPr lang="zh-CN" altLang="en-US"/>
              <a:t>位，表示不允许子网号为全</a:t>
            </a:r>
            <a:r>
              <a:rPr lang="en-US" altLang="zh-CN"/>
              <a:t>0</a:t>
            </a:r>
            <a:r>
              <a:rPr lang="zh-CN" altLang="en-US"/>
              <a:t>或者全</a:t>
            </a:r>
            <a:r>
              <a:rPr lang="en-US" altLang="zh-CN"/>
              <a:t>1</a:t>
            </a:r>
            <a:r>
              <a:rPr lang="zh-CN" altLang="en-US"/>
              <a:t>。 不能为</a:t>
            </a:r>
            <a:r>
              <a:rPr lang="en-US" altLang="zh-CN"/>
              <a:t>15</a:t>
            </a:r>
            <a:r>
              <a:rPr lang="zh-CN" altLang="en-US"/>
              <a:t>位是因为主机号不能为全</a:t>
            </a:r>
            <a:r>
              <a:rPr lang="en-US" altLang="zh-CN"/>
              <a:t>0</a:t>
            </a:r>
            <a:r>
              <a:rPr lang="zh-CN" altLang="en-US"/>
              <a:t>或者全</a:t>
            </a:r>
            <a:r>
              <a:rPr lang="en-US" altLang="zh-CN"/>
              <a:t>1</a:t>
            </a:r>
          </a:p>
        </p:txBody>
      </p:sp>
    </p:spTree>
    <p:extLst>
      <p:ext uri="{BB962C8B-B14F-4D97-AF65-F5344CB8AC3E}">
        <p14:creationId xmlns:p14="http://schemas.microsoft.com/office/powerpoint/2010/main" val="243791614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61FF732-88D8-48A8-BF09-B04731ECD67A}" type="slidenum">
              <a:rPr lang="en-US" altLang="zh-CN"/>
              <a:t>62</a:t>
            </a:fld>
            <a:endParaRPr lang="en-US" altLang="zh-CN"/>
          </a:p>
        </p:txBody>
      </p:sp>
      <p:sp>
        <p:nvSpPr>
          <p:cNvPr id="988162" name="Rectangle 2"/>
          <p:cNvSpPr>
            <a:spLocks noGrp="1" noRot="1" noChangeAspect="1" noChangeArrowheads="1" noTextEdit="1"/>
          </p:cNvSpPr>
          <p:nvPr>
            <p:ph type="sldImg"/>
          </p:nvPr>
        </p:nvSpPr>
        <p:spPr/>
      </p:sp>
      <p:sp>
        <p:nvSpPr>
          <p:cNvPr id="988163" name="Rectangle 3"/>
          <p:cNvSpPr>
            <a:spLocks noGrp="1" noChangeArrowheads="1"/>
          </p:cNvSpPr>
          <p:nvPr>
            <p:ph type="body" idx="1"/>
          </p:nvPr>
        </p:nvSpPr>
        <p:spPr/>
        <p:txBody>
          <a:bodyPr/>
          <a:lstStyle/>
          <a:p>
            <a:r>
              <a:rPr lang="zh-CN" altLang="en-US" dirty="0"/>
              <a:t>一个表示</a:t>
            </a:r>
            <a:r>
              <a:rPr lang="en-US" altLang="zh-CN" dirty="0"/>
              <a:t>1</a:t>
            </a:r>
            <a:r>
              <a:rPr lang="zh-CN" altLang="en-US" dirty="0"/>
              <a:t>号网络，一个表示</a:t>
            </a:r>
            <a:r>
              <a:rPr lang="en-US" altLang="zh-CN" dirty="0"/>
              <a:t>3</a:t>
            </a:r>
            <a:r>
              <a:rPr lang="zh-CN" altLang="en-US" dirty="0"/>
              <a:t>号网络</a:t>
            </a:r>
            <a:endParaRPr lang="zh-CN" altLang="zh-CN" dirty="0"/>
          </a:p>
        </p:txBody>
      </p:sp>
    </p:spTree>
    <p:extLst>
      <p:ext uri="{BB962C8B-B14F-4D97-AF65-F5344CB8AC3E}">
        <p14:creationId xmlns:p14="http://schemas.microsoft.com/office/powerpoint/2010/main" val="189957435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C0EAD94-2641-432B-BAD0-13B9DA09B7F9}" type="slidenum">
              <a:rPr lang="en-US" altLang="zh-CN"/>
              <a:t>63</a:t>
            </a:fld>
            <a:endParaRPr lang="en-US" altLang="zh-CN"/>
          </a:p>
        </p:txBody>
      </p:sp>
      <p:sp>
        <p:nvSpPr>
          <p:cNvPr id="990210" name="Rectangle 2"/>
          <p:cNvSpPr>
            <a:spLocks noGrp="1" noRot="1" noChangeAspect="1" noChangeArrowheads="1" noTextEdit="1"/>
          </p:cNvSpPr>
          <p:nvPr>
            <p:ph type="sldImg"/>
          </p:nvPr>
        </p:nvSpPr>
        <p:spPr/>
      </p:sp>
      <p:sp>
        <p:nvSpPr>
          <p:cNvPr id="99021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17636908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95E8D68-0E6A-40DA-967E-F64B70AC3AAB}" type="slidenum">
              <a:rPr lang="en-US" altLang="zh-CN"/>
              <a:t>65</a:t>
            </a:fld>
            <a:endParaRPr lang="en-US" altLang="zh-CN"/>
          </a:p>
        </p:txBody>
      </p:sp>
      <p:sp>
        <p:nvSpPr>
          <p:cNvPr id="779266" name="Rectangle 2"/>
          <p:cNvSpPr>
            <a:spLocks noGrp="1" noRot="1" noChangeAspect="1" noChangeArrowheads="1" noTextEdit="1"/>
          </p:cNvSpPr>
          <p:nvPr>
            <p:ph type="sldImg"/>
          </p:nvPr>
        </p:nvSpPr>
        <p:spPr/>
      </p:sp>
      <p:sp>
        <p:nvSpPr>
          <p:cNvPr id="77926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28073304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A361DEF-F081-4D6A-AB8A-78BFFD1024C5}" type="slidenum">
              <a:rPr lang="en-US" altLang="zh-CN"/>
              <a:t>66</a:t>
            </a:fld>
            <a:endParaRPr lang="en-US" altLang="zh-CN"/>
          </a:p>
        </p:txBody>
      </p:sp>
      <p:sp>
        <p:nvSpPr>
          <p:cNvPr id="780290" name="Rectangle 2"/>
          <p:cNvSpPr>
            <a:spLocks noGrp="1" noRot="1" noChangeAspect="1" noChangeArrowheads="1" noTextEdit="1"/>
          </p:cNvSpPr>
          <p:nvPr>
            <p:ph type="sldImg"/>
          </p:nvPr>
        </p:nvSpPr>
        <p:spPr/>
      </p:sp>
      <p:sp>
        <p:nvSpPr>
          <p:cNvPr id="78029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36427319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F19F54A-7EC9-49A4-A33F-9B39622737F5}" type="slidenum">
              <a:rPr lang="en-US" altLang="zh-CN"/>
              <a:t>67</a:t>
            </a:fld>
            <a:endParaRPr lang="en-US" altLang="zh-CN"/>
          </a:p>
        </p:txBody>
      </p:sp>
      <p:sp>
        <p:nvSpPr>
          <p:cNvPr id="781314" name="Rectangle 2"/>
          <p:cNvSpPr>
            <a:spLocks noGrp="1" noRot="1" noChangeAspect="1" noChangeArrowheads="1" noTextEdit="1"/>
          </p:cNvSpPr>
          <p:nvPr>
            <p:ph type="sldImg"/>
          </p:nvPr>
        </p:nvSpPr>
        <p:spPr/>
      </p:sp>
      <p:sp>
        <p:nvSpPr>
          <p:cNvPr id="78131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98037218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E23EB27C-1880-4CE7-9BCD-A64F019FDC8A}" type="slidenum">
              <a:rPr lang="en-US" altLang="zh-CN"/>
              <a:t>68</a:t>
            </a:fld>
            <a:endParaRPr lang="en-US" altLang="zh-CN"/>
          </a:p>
        </p:txBody>
      </p:sp>
      <p:sp>
        <p:nvSpPr>
          <p:cNvPr id="782338" name="Rectangle 2"/>
          <p:cNvSpPr>
            <a:spLocks noGrp="1" noRot="1" noChangeAspect="1" noChangeArrowheads="1" noTextEdit="1"/>
          </p:cNvSpPr>
          <p:nvPr>
            <p:ph type="sldImg"/>
          </p:nvPr>
        </p:nvSpPr>
        <p:spPr/>
      </p:sp>
      <p:sp>
        <p:nvSpPr>
          <p:cNvPr id="78233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042960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B5979E2-D5AB-4311-958D-DBB7E09040DA}" type="slidenum">
              <a:rPr lang="en-US" altLang="zh-CN"/>
              <a:t>69</a:t>
            </a:fld>
            <a:endParaRPr lang="en-US" altLang="zh-CN"/>
          </a:p>
        </p:txBody>
      </p:sp>
      <p:sp>
        <p:nvSpPr>
          <p:cNvPr id="783362" name="Rectangle 2"/>
          <p:cNvSpPr>
            <a:spLocks noGrp="1" noRot="1" noChangeAspect="1" noChangeArrowheads="1" noTextEdit="1"/>
          </p:cNvSpPr>
          <p:nvPr>
            <p:ph type="sldImg"/>
          </p:nvPr>
        </p:nvSpPr>
        <p:spPr/>
      </p:sp>
      <p:sp>
        <p:nvSpPr>
          <p:cNvPr id="783363"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8346945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597263B-A801-4E1F-BF9C-976FB28BD54A}" type="slidenum">
              <a:rPr lang="en-US" altLang="zh-CN"/>
              <a:t>70</a:t>
            </a:fld>
            <a:endParaRPr lang="en-US" altLang="zh-CN"/>
          </a:p>
        </p:txBody>
      </p:sp>
      <p:sp>
        <p:nvSpPr>
          <p:cNvPr id="1430530" name="Rectangle 2"/>
          <p:cNvSpPr>
            <a:spLocks noGrp="1" noRot="1" noChangeAspect="1" noChangeArrowheads="1" noTextEdit="1"/>
          </p:cNvSpPr>
          <p:nvPr>
            <p:ph type="sldImg"/>
          </p:nvPr>
        </p:nvSpPr>
        <p:spPr/>
      </p:sp>
      <p:sp>
        <p:nvSpPr>
          <p:cNvPr id="143053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01221428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23A1BE6-A0D1-4893-B442-5C299848179E}" type="slidenum">
              <a:rPr lang="en-US" altLang="zh-CN"/>
              <a:t>71</a:t>
            </a:fld>
            <a:endParaRPr lang="en-US" altLang="zh-CN"/>
          </a:p>
        </p:txBody>
      </p:sp>
      <p:sp>
        <p:nvSpPr>
          <p:cNvPr id="785410" name="Rectangle 2"/>
          <p:cNvSpPr>
            <a:spLocks noGrp="1" noRot="1" noChangeAspect="1" noChangeArrowheads="1" noTextEdit="1"/>
          </p:cNvSpPr>
          <p:nvPr>
            <p:ph type="sldImg"/>
          </p:nvPr>
        </p:nvSpPr>
        <p:spPr/>
      </p:sp>
      <p:sp>
        <p:nvSpPr>
          <p:cNvPr id="78541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15657877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DFB5232-D786-4143-9552-CCB843DBF7C9}" type="slidenum">
              <a:rPr lang="en-US" altLang="zh-CN"/>
              <a:t>72</a:t>
            </a:fld>
            <a:endParaRPr lang="en-US" altLang="zh-CN"/>
          </a:p>
        </p:txBody>
      </p:sp>
      <p:sp>
        <p:nvSpPr>
          <p:cNvPr id="786434" name="Rectangle 2"/>
          <p:cNvSpPr>
            <a:spLocks noGrp="1" noRot="1" noChangeAspect="1" noChangeArrowheads="1" noTextEdit="1"/>
          </p:cNvSpPr>
          <p:nvPr>
            <p:ph type="sldImg"/>
          </p:nvPr>
        </p:nvSpPr>
        <p:spPr/>
      </p:sp>
      <p:sp>
        <p:nvSpPr>
          <p:cNvPr id="78643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25692621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AFE2206-F323-42AF-8226-8FDB49869217}" type="slidenum">
              <a:rPr lang="en-US" altLang="zh-CN"/>
              <a:t>74</a:t>
            </a:fld>
            <a:endParaRPr lang="en-US" altLang="zh-CN"/>
          </a:p>
        </p:txBody>
      </p:sp>
      <p:sp>
        <p:nvSpPr>
          <p:cNvPr id="788482" name="Rectangle 2"/>
          <p:cNvSpPr>
            <a:spLocks noGrp="1" noRot="1" noChangeAspect="1" noChangeArrowheads="1" noTextEdit="1"/>
          </p:cNvSpPr>
          <p:nvPr>
            <p:ph type="sldImg"/>
          </p:nvPr>
        </p:nvSpPr>
        <p:spPr/>
      </p:sp>
      <p:sp>
        <p:nvSpPr>
          <p:cNvPr id="788483"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6503978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extLst>
      <p:ext uri="{BB962C8B-B14F-4D97-AF65-F5344CB8AC3E}">
        <p14:creationId xmlns:p14="http://schemas.microsoft.com/office/powerpoint/2010/main" val="180688585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E5C6FC3-905D-4DD9-84C7-5604EE75BE63}" type="slidenum">
              <a:rPr lang="en-US" altLang="zh-CN"/>
              <a:t>80</a:t>
            </a:fld>
            <a:endParaRPr lang="en-US" altLang="zh-CN"/>
          </a:p>
        </p:txBody>
      </p:sp>
      <p:sp>
        <p:nvSpPr>
          <p:cNvPr id="754690" name="Rectangle 2"/>
          <p:cNvSpPr>
            <a:spLocks noGrp="1" noRot="1" noChangeAspect="1" noChangeArrowheads="1" noTextEdit="1"/>
          </p:cNvSpPr>
          <p:nvPr>
            <p:ph type="sldImg"/>
          </p:nvPr>
        </p:nvSpPr>
        <p:spPr/>
      </p:sp>
      <p:sp>
        <p:nvSpPr>
          <p:cNvPr id="754691" name="Rectangle 3"/>
          <p:cNvSpPr>
            <a:spLocks noGrp="1" noChangeArrowheads="1"/>
          </p:cNvSpPr>
          <p:nvPr>
            <p:ph type="body" idx="1"/>
          </p:nvPr>
        </p:nvSpPr>
        <p:spPr/>
        <p:txBody>
          <a:bodyPr/>
          <a:lstStyle/>
          <a:p>
            <a:r>
              <a:rPr lang="zh-CN" altLang="en-US" dirty="0"/>
              <a:t>若按目的主机则会很庞大，按目的主机所在路由更加合适</a:t>
            </a:r>
            <a:endParaRPr lang="zh-CN" altLang="zh-CN" dirty="0"/>
          </a:p>
        </p:txBody>
      </p:sp>
    </p:spTree>
    <p:extLst>
      <p:ext uri="{BB962C8B-B14F-4D97-AF65-F5344CB8AC3E}">
        <p14:creationId xmlns:p14="http://schemas.microsoft.com/office/powerpoint/2010/main" val="178215353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8CBF2AB-50C1-4198-BCAC-BCB46C010BA9}" type="slidenum">
              <a:rPr lang="en-US" altLang="zh-CN"/>
              <a:t>81</a:t>
            </a:fld>
            <a:endParaRPr lang="en-US" altLang="zh-CN"/>
          </a:p>
        </p:txBody>
      </p:sp>
      <p:sp>
        <p:nvSpPr>
          <p:cNvPr id="755714" name="Rectangle 2"/>
          <p:cNvSpPr>
            <a:spLocks noGrp="1" noRot="1" noChangeAspect="1" noChangeArrowheads="1" noTextEdit="1"/>
          </p:cNvSpPr>
          <p:nvPr>
            <p:ph type="sldImg"/>
          </p:nvPr>
        </p:nvSpPr>
        <p:spPr/>
      </p:sp>
      <p:sp>
        <p:nvSpPr>
          <p:cNvPr id="755715" name="Rectangle 3"/>
          <p:cNvSpPr>
            <a:spLocks noGrp="1" noChangeArrowheads="1"/>
          </p:cNvSpPr>
          <p:nvPr>
            <p:ph type="body" idx="1"/>
          </p:nvPr>
        </p:nvSpPr>
        <p:spPr/>
        <p:txBody>
          <a:bodyPr/>
          <a:lstStyle/>
          <a:p>
            <a:r>
              <a:rPr lang="zh-CN" altLang="en-US" dirty="0"/>
              <a:t>高速公路上的指引牌子   如果每个牌子上都写明了到哪怎么走，那会很麻烦  但如果只写明了我要到这里应该走哪个方向就会很简单</a:t>
            </a:r>
            <a:endParaRPr lang="zh-CN" altLang="zh-CN" dirty="0"/>
          </a:p>
        </p:txBody>
      </p:sp>
    </p:spTree>
    <p:extLst>
      <p:ext uri="{BB962C8B-B14F-4D97-AF65-F5344CB8AC3E}">
        <p14:creationId xmlns:p14="http://schemas.microsoft.com/office/powerpoint/2010/main" val="263316255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64D4B62-D429-4479-A0EF-943F3B8B52E6}" type="slidenum">
              <a:rPr lang="en-US" altLang="zh-CN"/>
              <a:t>82</a:t>
            </a:fld>
            <a:endParaRPr lang="en-US" altLang="zh-CN"/>
          </a:p>
        </p:txBody>
      </p:sp>
      <p:sp>
        <p:nvSpPr>
          <p:cNvPr id="979970" name="Rectangle 2"/>
          <p:cNvSpPr>
            <a:spLocks noGrp="1" noRot="1" noChangeAspect="1" noChangeArrowheads="1" noTextEdit="1"/>
          </p:cNvSpPr>
          <p:nvPr>
            <p:ph type="sldImg"/>
          </p:nvPr>
        </p:nvSpPr>
        <p:spPr/>
      </p:sp>
      <p:sp>
        <p:nvSpPr>
          <p:cNvPr id="97997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09248750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BE2E564-1880-4268-BCA5-270B7019BAB6}" type="slidenum">
              <a:rPr lang="en-US" altLang="zh-CN"/>
              <a:t>83</a:t>
            </a:fld>
            <a:endParaRPr lang="en-US" altLang="zh-CN"/>
          </a:p>
        </p:txBody>
      </p:sp>
      <p:sp>
        <p:nvSpPr>
          <p:cNvPr id="756738" name="Rectangle 2"/>
          <p:cNvSpPr>
            <a:spLocks noGrp="1" noRot="1" noChangeAspect="1" noChangeArrowheads="1" noTextEdit="1"/>
          </p:cNvSpPr>
          <p:nvPr>
            <p:ph type="sldImg"/>
          </p:nvPr>
        </p:nvSpPr>
        <p:spPr/>
      </p:sp>
      <p:sp>
        <p:nvSpPr>
          <p:cNvPr id="756739" name="Rectangle 3"/>
          <p:cNvSpPr>
            <a:spLocks noGrp="1" noChangeArrowheads="1"/>
          </p:cNvSpPr>
          <p:nvPr>
            <p:ph type="body" idx="1"/>
          </p:nvPr>
        </p:nvSpPr>
        <p:spPr/>
        <p:txBody>
          <a:bodyPr/>
          <a:lstStyle/>
          <a:p>
            <a:r>
              <a:rPr lang="zh-CN" altLang="en-US"/>
              <a:t>比如大部分车都得走正常的路线，但是救护车可以走应急车道</a:t>
            </a:r>
            <a:endParaRPr lang="zh-CN" altLang="zh-CN"/>
          </a:p>
        </p:txBody>
      </p:sp>
    </p:spTree>
    <p:extLst>
      <p:ext uri="{BB962C8B-B14F-4D97-AF65-F5344CB8AC3E}">
        <p14:creationId xmlns:p14="http://schemas.microsoft.com/office/powerpoint/2010/main" val="168963733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9233D14-F62F-4D6A-9794-D79ADF694C57}" type="slidenum">
              <a:rPr lang="en-US" altLang="zh-CN"/>
              <a:t>84</a:t>
            </a:fld>
            <a:endParaRPr lang="en-US" altLang="zh-CN"/>
          </a:p>
        </p:txBody>
      </p:sp>
      <p:sp>
        <p:nvSpPr>
          <p:cNvPr id="982018" name="Rectangle 2"/>
          <p:cNvSpPr>
            <a:spLocks noGrp="1" noRot="1" noChangeAspect="1" noChangeArrowheads="1" noTextEdit="1"/>
          </p:cNvSpPr>
          <p:nvPr>
            <p:ph type="sldImg"/>
          </p:nvPr>
        </p:nvSpPr>
        <p:spPr/>
      </p:sp>
      <p:sp>
        <p:nvSpPr>
          <p:cNvPr id="98201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19229168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1A4FD96-FFEB-450B-9C34-A82CBDCB5B3C}" type="slidenum">
              <a:rPr lang="en-US" altLang="zh-CN"/>
              <a:t>85</a:t>
            </a:fld>
            <a:endParaRPr lang="en-US" altLang="zh-CN"/>
          </a:p>
        </p:txBody>
      </p:sp>
      <p:sp>
        <p:nvSpPr>
          <p:cNvPr id="984066" name="Rectangle 2"/>
          <p:cNvSpPr>
            <a:spLocks noGrp="1" noRot="1" noChangeAspect="1" noChangeArrowheads="1" noTextEdit="1"/>
          </p:cNvSpPr>
          <p:nvPr>
            <p:ph type="sldImg"/>
          </p:nvPr>
        </p:nvSpPr>
        <p:spPr/>
      </p:sp>
      <p:sp>
        <p:nvSpPr>
          <p:cNvPr id="98406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192196488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8A71A18-D962-4E63-AF33-27632838C1E1}" type="slidenum">
              <a:rPr lang="en-US" altLang="zh-CN"/>
              <a:t>86</a:t>
            </a:fld>
            <a:endParaRPr lang="en-US" altLang="zh-CN"/>
          </a:p>
        </p:txBody>
      </p:sp>
      <p:sp>
        <p:nvSpPr>
          <p:cNvPr id="758786" name="Rectangle 2"/>
          <p:cNvSpPr>
            <a:spLocks noGrp="1" noRot="1" noChangeAspect="1" noChangeArrowheads="1" noTextEdit="1"/>
          </p:cNvSpPr>
          <p:nvPr>
            <p:ph type="sldImg"/>
          </p:nvPr>
        </p:nvSpPr>
        <p:spPr/>
      </p:sp>
      <p:sp>
        <p:nvSpPr>
          <p:cNvPr id="75878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20376247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87EF9AF-84F7-470E-86D6-7BE7742424EA}" type="slidenum">
              <a:rPr lang="en-US" altLang="zh-CN"/>
              <a:t>87</a:t>
            </a:fld>
            <a:endParaRPr lang="en-US" altLang="zh-CN"/>
          </a:p>
        </p:txBody>
      </p:sp>
      <p:sp>
        <p:nvSpPr>
          <p:cNvPr id="757762" name="Rectangle 2"/>
          <p:cNvSpPr>
            <a:spLocks noGrp="1" noRot="1" noChangeAspect="1" noChangeArrowheads="1" noTextEdit="1"/>
          </p:cNvSpPr>
          <p:nvPr>
            <p:ph type="sldImg"/>
          </p:nvPr>
        </p:nvSpPr>
        <p:spPr/>
      </p:sp>
      <p:sp>
        <p:nvSpPr>
          <p:cNvPr id="757763" name="Rectangle 3"/>
          <p:cNvSpPr>
            <a:spLocks noGrp="1" noChangeArrowheads="1"/>
          </p:cNvSpPr>
          <p:nvPr>
            <p:ph type="body" idx="1"/>
          </p:nvPr>
        </p:nvSpPr>
        <p:spPr/>
        <p:txBody>
          <a:bodyPr/>
          <a:lstStyle/>
          <a:p>
            <a:endParaRPr lang="zh-CN" altLang="zh-CN" dirty="0"/>
          </a:p>
        </p:txBody>
      </p:sp>
    </p:spTree>
    <p:extLst>
      <p:ext uri="{BB962C8B-B14F-4D97-AF65-F5344CB8AC3E}">
        <p14:creationId xmlns:p14="http://schemas.microsoft.com/office/powerpoint/2010/main" val="168491460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AA6AE4C-84B2-4CCB-AAD2-C3627E124DF7}" type="slidenum">
              <a:rPr lang="en-US" altLang="zh-CN"/>
              <a:t>89</a:t>
            </a:fld>
            <a:endParaRPr lang="en-US" altLang="zh-CN"/>
          </a:p>
        </p:txBody>
      </p:sp>
      <p:sp>
        <p:nvSpPr>
          <p:cNvPr id="791554" name="Rectangle 2"/>
          <p:cNvSpPr>
            <a:spLocks noGrp="1" noRot="1" noChangeAspect="1" noChangeArrowheads="1" noTextEdit="1"/>
          </p:cNvSpPr>
          <p:nvPr>
            <p:ph type="sldImg"/>
          </p:nvPr>
        </p:nvSpPr>
        <p:spPr/>
      </p:sp>
      <p:sp>
        <p:nvSpPr>
          <p:cNvPr id="79155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9444587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F6688A9-BB31-4398-BF3A-BE30A6D99926}" type="slidenum">
              <a:rPr lang="en-US" altLang="zh-CN"/>
              <a:t>93</a:t>
            </a:fld>
            <a:endParaRPr lang="en-US" altLang="zh-CN"/>
          </a:p>
        </p:txBody>
      </p:sp>
      <p:sp>
        <p:nvSpPr>
          <p:cNvPr id="795650" name="Rectangle 2"/>
          <p:cNvSpPr>
            <a:spLocks noGrp="1" noRot="1" noChangeAspect="1" noChangeArrowheads="1" noTextEdit="1"/>
          </p:cNvSpPr>
          <p:nvPr>
            <p:ph type="sldImg"/>
          </p:nvPr>
        </p:nvSpPr>
        <p:spPr/>
      </p:sp>
      <p:sp>
        <p:nvSpPr>
          <p:cNvPr id="79565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20553070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B8AE7ED-CA88-4746-805C-7537CBE20A1C}" type="slidenum">
              <a:rPr lang="en-US" altLang="zh-CN"/>
              <a:t>94</a:t>
            </a:fld>
            <a:endParaRPr lang="en-US" altLang="zh-CN"/>
          </a:p>
        </p:txBody>
      </p:sp>
      <p:sp>
        <p:nvSpPr>
          <p:cNvPr id="992258" name="Rectangle 2"/>
          <p:cNvSpPr>
            <a:spLocks noGrp="1" noRot="1" noChangeAspect="1" noChangeArrowheads="1" noTextEdit="1"/>
          </p:cNvSpPr>
          <p:nvPr>
            <p:ph type="sldImg"/>
          </p:nvPr>
        </p:nvSpPr>
        <p:spPr/>
      </p:sp>
      <p:sp>
        <p:nvSpPr>
          <p:cNvPr id="99225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0246214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CFD5C55-7000-42F4-B920-956DD3BA0496}" type="slidenum">
              <a:rPr lang="en-US" altLang="zh-CN"/>
              <a:t>96</a:t>
            </a:fld>
            <a:endParaRPr lang="en-US" altLang="zh-CN"/>
          </a:p>
        </p:txBody>
      </p:sp>
      <p:sp>
        <p:nvSpPr>
          <p:cNvPr id="718850" name="Rectangle 2"/>
          <p:cNvSpPr>
            <a:spLocks noGrp="1" noRot="1" noChangeAspect="1" noChangeArrowheads="1" noTextEdit="1"/>
          </p:cNvSpPr>
          <p:nvPr>
            <p:ph type="sldImg"/>
          </p:nvPr>
        </p:nvSpPr>
        <p:spPr/>
      </p:sp>
      <p:sp>
        <p:nvSpPr>
          <p:cNvPr id="7188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CFD5C55-7000-42F4-B920-956DD3BA0496}" type="slidenum">
              <a:rPr lang="en-US" altLang="zh-CN"/>
              <a:t>97</a:t>
            </a:fld>
            <a:endParaRPr lang="en-US" altLang="zh-CN"/>
          </a:p>
        </p:txBody>
      </p:sp>
      <p:sp>
        <p:nvSpPr>
          <p:cNvPr id="718850" name="Rectangle 2"/>
          <p:cNvSpPr>
            <a:spLocks noGrp="1" noRot="1" noChangeAspect="1" noChangeArrowheads="1" noTextEdit="1"/>
          </p:cNvSpPr>
          <p:nvPr>
            <p:ph type="sldImg"/>
          </p:nvPr>
        </p:nvSpPr>
        <p:spPr/>
      </p:sp>
      <p:sp>
        <p:nvSpPr>
          <p:cNvPr id="718851" name="Rectangle 3"/>
          <p:cNvSpPr>
            <a:spLocks noGrp="1" noChangeArrowheads="1"/>
          </p:cNvSpPr>
          <p:nvPr>
            <p:ph type="body" idx="1"/>
          </p:nvPr>
        </p:nvSpPr>
        <p:spPr/>
        <p:txBody>
          <a:bodyPr/>
          <a:lstStyle/>
          <a:p>
            <a:r>
              <a:rPr lang="zh-CN" altLang="en-US" dirty="0"/>
              <a:t>到这里就要引入需要</a:t>
            </a:r>
            <a:r>
              <a:rPr lang="en-US" altLang="zh-CN" dirty="0"/>
              <a:t>IP</a:t>
            </a:r>
            <a:r>
              <a:rPr lang="zh-CN" altLang="en-US" dirty="0"/>
              <a:t>地址到硬件地址的转换</a:t>
            </a:r>
            <a:endParaRPr lang="zh-CN" altLang="zh-CN" dirty="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871A663-6E23-4A95-A949-16377AD56FCB}" type="slidenum">
              <a:rPr lang="en-US" altLang="zh-CN"/>
              <a:t>98</a:t>
            </a:fld>
            <a:endParaRPr lang="en-US" altLang="zh-CN"/>
          </a:p>
        </p:txBody>
      </p:sp>
      <p:sp>
        <p:nvSpPr>
          <p:cNvPr id="719874" name="Rectangle 2"/>
          <p:cNvSpPr>
            <a:spLocks noGrp="1" noRot="1" noChangeAspect="1" noChangeArrowheads="1" noTextEdit="1"/>
          </p:cNvSpPr>
          <p:nvPr>
            <p:ph type="sldImg"/>
          </p:nvPr>
        </p:nvSpPr>
        <p:spPr/>
      </p:sp>
      <p:sp>
        <p:nvSpPr>
          <p:cNvPr id="719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9973D2-888E-4B29-B31F-601590F8F7CD}" type="slidenum">
              <a:rPr lang="en-US" altLang="zh-CN"/>
              <a:t>99</a:t>
            </a:fld>
            <a:endParaRPr lang="en-US" altLang="zh-CN"/>
          </a:p>
        </p:txBody>
      </p:sp>
      <p:sp>
        <p:nvSpPr>
          <p:cNvPr id="720898" name="Rectangle 2"/>
          <p:cNvSpPr>
            <a:spLocks noGrp="1" noRot="1" noChangeAspect="1" noChangeArrowheads="1" noTextEdit="1"/>
          </p:cNvSpPr>
          <p:nvPr>
            <p:ph type="sldImg"/>
          </p:nvPr>
        </p:nvSpPr>
        <p:spPr/>
      </p:sp>
      <p:sp>
        <p:nvSpPr>
          <p:cNvPr id="7208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A2C025A-004F-4177-A9EC-2B3AE2E1744C}" type="slidenum">
              <a:rPr lang="en-US" altLang="zh-CN"/>
              <a:t>100</a:t>
            </a:fld>
            <a:endParaRPr lang="en-US" altLang="zh-CN"/>
          </a:p>
        </p:txBody>
      </p:sp>
      <p:sp>
        <p:nvSpPr>
          <p:cNvPr id="721922" name="Rectangle 2"/>
          <p:cNvSpPr>
            <a:spLocks noGrp="1" noRot="1" noChangeAspect="1" noChangeArrowheads="1" noTextEdit="1"/>
          </p:cNvSpPr>
          <p:nvPr>
            <p:ph type="sldImg"/>
          </p:nvPr>
        </p:nvSpPr>
        <p:spPr/>
      </p:sp>
      <p:sp>
        <p:nvSpPr>
          <p:cNvPr id="721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4273E1E-8948-4B2F-8BCA-D9268C444C9A}" type="slidenum">
              <a:rPr lang="en-US" altLang="zh-CN"/>
              <a:t>101</a:t>
            </a:fld>
            <a:endParaRPr lang="en-US" altLang="zh-CN"/>
          </a:p>
        </p:txBody>
      </p:sp>
      <p:sp>
        <p:nvSpPr>
          <p:cNvPr id="722946" name="Rectangle 2"/>
          <p:cNvSpPr>
            <a:spLocks noGrp="1" noRot="1" noChangeAspect="1" noChangeArrowheads="1" noTextEdit="1"/>
          </p:cNvSpPr>
          <p:nvPr>
            <p:ph type="sldImg"/>
          </p:nvPr>
        </p:nvSpPr>
        <p:spPr/>
      </p:sp>
      <p:sp>
        <p:nvSpPr>
          <p:cNvPr id="7229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982D66F-71AF-49CE-9BF7-BB9F1827CB8C}" type="slidenum">
              <a:rPr lang="en-US" altLang="zh-CN"/>
              <a:t>102</a:t>
            </a:fld>
            <a:endParaRPr lang="en-US" altLang="zh-CN"/>
          </a:p>
        </p:txBody>
      </p:sp>
      <p:sp>
        <p:nvSpPr>
          <p:cNvPr id="723970" name="Rectangle 2"/>
          <p:cNvSpPr>
            <a:spLocks noGrp="1" noRot="1" noChangeAspect="1" noChangeArrowheads="1" noTextEdit="1"/>
          </p:cNvSpPr>
          <p:nvPr>
            <p:ph type="sldImg"/>
          </p:nvPr>
        </p:nvSpPr>
        <p:spPr/>
      </p:sp>
      <p:sp>
        <p:nvSpPr>
          <p:cNvPr id="723971" name="Rectangle 3"/>
          <p:cNvSpPr>
            <a:spLocks noGrp="1" noChangeArrowheads="1"/>
          </p:cNvSpPr>
          <p:nvPr>
            <p:ph type="body" idx="1"/>
          </p:nvPr>
        </p:nvSpPr>
        <p:spPr/>
        <p:txBody>
          <a:bodyPr/>
          <a:lstStyle/>
          <a:p>
            <a:r>
              <a:rPr lang="en-US" altLang="zh-CN" dirty="0"/>
              <a:t>IP</a:t>
            </a:r>
            <a:r>
              <a:rPr lang="zh-CN" altLang="en-US" dirty="0"/>
              <a:t>数据报的首部只包含源主机地址和目的主机地址</a:t>
            </a:r>
            <a:endParaRPr lang="zh-CN" altLang="zh-CN" dirty="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982D66F-71AF-49CE-9BF7-BB9F1827CB8C}" type="slidenum">
              <a:rPr lang="en-US" altLang="zh-CN"/>
              <a:t>103</a:t>
            </a:fld>
            <a:endParaRPr lang="en-US" altLang="zh-CN"/>
          </a:p>
        </p:txBody>
      </p:sp>
      <p:sp>
        <p:nvSpPr>
          <p:cNvPr id="723970" name="Rectangle 2"/>
          <p:cNvSpPr>
            <a:spLocks noGrp="1" noRot="1" noChangeAspect="1" noChangeArrowheads="1" noTextEdit="1"/>
          </p:cNvSpPr>
          <p:nvPr>
            <p:ph type="sldImg"/>
          </p:nvPr>
        </p:nvSpPr>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982D66F-71AF-49CE-9BF7-BB9F1827CB8C}" type="slidenum">
              <a:rPr lang="en-US" altLang="zh-CN"/>
              <a:t>104</a:t>
            </a:fld>
            <a:endParaRPr lang="en-US" altLang="zh-CN"/>
          </a:p>
        </p:txBody>
      </p:sp>
      <p:sp>
        <p:nvSpPr>
          <p:cNvPr id="723970" name="Rectangle 2"/>
          <p:cNvSpPr>
            <a:spLocks noGrp="1" noRot="1" noChangeAspect="1" noChangeArrowheads="1" noTextEdit="1"/>
          </p:cNvSpPr>
          <p:nvPr>
            <p:ph type="sldImg"/>
          </p:nvPr>
        </p:nvSpPr>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982D66F-71AF-49CE-9BF7-BB9F1827CB8C}" type="slidenum">
              <a:rPr lang="en-US" altLang="zh-CN"/>
              <a:t>105</a:t>
            </a:fld>
            <a:endParaRPr lang="en-US" altLang="zh-CN"/>
          </a:p>
        </p:txBody>
      </p:sp>
      <p:sp>
        <p:nvSpPr>
          <p:cNvPr id="723970" name="Rectangle 2"/>
          <p:cNvSpPr>
            <a:spLocks noGrp="1" noRot="1" noChangeAspect="1" noChangeArrowheads="1" noTextEdit="1"/>
          </p:cNvSpPr>
          <p:nvPr>
            <p:ph type="sldImg"/>
          </p:nvPr>
        </p:nvSpPr>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6458E5E-FC0C-4FD7-B244-271AAA9A5C8F}" type="slidenum">
              <a:rPr lang="en-US" altLang="zh-CN"/>
              <a:t>107</a:t>
            </a:fld>
            <a:endParaRPr lang="en-US" altLang="zh-CN"/>
          </a:p>
        </p:txBody>
      </p:sp>
      <p:sp>
        <p:nvSpPr>
          <p:cNvPr id="728066" name="Rectangle 2"/>
          <p:cNvSpPr>
            <a:spLocks noGrp="1" noRot="1" noChangeAspect="1" noChangeArrowheads="1" noTextEdit="1"/>
          </p:cNvSpPr>
          <p:nvPr>
            <p:ph type="sldImg"/>
          </p:nvPr>
        </p:nvSpPr>
        <p:spPr/>
      </p:sp>
      <p:sp>
        <p:nvSpPr>
          <p:cNvPr id="7280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6458E5E-FC0C-4FD7-B244-271AAA9A5C8F}" type="slidenum">
              <a:rPr lang="en-US" altLang="zh-CN"/>
              <a:t>108</a:t>
            </a:fld>
            <a:endParaRPr lang="en-US" altLang="zh-CN"/>
          </a:p>
        </p:txBody>
      </p:sp>
      <p:sp>
        <p:nvSpPr>
          <p:cNvPr id="728066" name="Rectangle 2"/>
          <p:cNvSpPr>
            <a:spLocks noGrp="1" noRot="1" noChangeAspect="1" noChangeArrowheads="1" noTextEdit="1"/>
          </p:cNvSpPr>
          <p:nvPr>
            <p:ph type="sldImg"/>
          </p:nvPr>
        </p:nvSpPr>
        <p:spPr/>
      </p:sp>
      <p:sp>
        <p:nvSpPr>
          <p:cNvPr id="728067" name="Rectangle 3"/>
          <p:cNvSpPr>
            <a:spLocks noGrp="1" noChangeArrowheads="1"/>
          </p:cNvSpPr>
          <p:nvPr>
            <p:ph type="body" idx="1"/>
          </p:nvPr>
        </p:nvSpPr>
        <p:spPr/>
        <p:txBody>
          <a:bodyPr/>
          <a:lstStyle/>
          <a:p>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在</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TCP/IP</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模型中，</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ARP</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协议属于</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IP</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层；在</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OSI</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模型中，</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ARP</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协议属于链路层</a:t>
            </a:r>
            <a:endParaRPr lang="zh-CN" altLang="zh-CN" dirty="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7B47D36-7CBF-4DEB-87D0-9E56B30394FC}" type="slidenum">
              <a:rPr lang="en-US" altLang="zh-CN"/>
              <a:t>110</a:t>
            </a:fld>
            <a:endParaRPr lang="en-US" altLang="zh-CN"/>
          </a:p>
        </p:txBody>
      </p:sp>
      <p:sp>
        <p:nvSpPr>
          <p:cNvPr id="975874" name="Rectangle 2"/>
          <p:cNvSpPr>
            <a:spLocks noGrp="1" noRot="1" noChangeAspect="1" noChangeArrowheads="1" noTextEdit="1"/>
          </p:cNvSpPr>
          <p:nvPr>
            <p:ph type="sldImg"/>
          </p:nvPr>
        </p:nvSpPr>
        <p:spPr/>
      </p:sp>
      <p:sp>
        <p:nvSpPr>
          <p:cNvPr id="975875" name="Rectangle 3"/>
          <p:cNvSpPr>
            <a:spLocks noGrp="1" noChangeArrowheads="1"/>
          </p:cNvSpPr>
          <p:nvPr>
            <p:ph type="body" idx="1"/>
          </p:nvPr>
        </p:nvSpPr>
        <p:spPr/>
        <p:txBody>
          <a:bodyPr/>
          <a:lstStyle/>
          <a:p>
            <a:r>
              <a:rPr lang="zh-CN" altLang="en-US" dirty="0"/>
              <a:t>画出图来讲</a:t>
            </a:r>
            <a:endParaRPr lang="zh-CN" altLang="zh-CN" dirty="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7B47D36-7CBF-4DEB-87D0-9E56B30394FC}" type="slidenum">
              <a:rPr lang="en-US" altLang="zh-CN"/>
              <a:t>111</a:t>
            </a:fld>
            <a:endParaRPr lang="en-US" altLang="zh-CN"/>
          </a:p>
        </p:txBody>
      </p:sp>
      <p:sp>
        <p:nvSpPr>
          <p:cNvPr id="975874" name="Rectangle 2"/>
          <p:cNvSpPr>
            <a:spLocks noGrp="1" noRot="1" noChangeAspect="1" noChangeArrowheads="1" noTextEdit="1"/>
          </p:cNvSpPr>
          <p:nvPr>
            <p:ph type="sldImg"/>
          </p:nvPr>
        </p:nvSpPr>
        <p:spPr/>
      </p:sp>
      <p:sp>
        <p:nvSpPr>
          <p:cNvPr id="975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93D8214-CD35-446E-89B0-9B03985C7EFD}" type="slidenum">
              <a:rPr lang="en-US" altLang="zh-CN"/>
              <a:t>113</a:t>
            </a:fld>
            <a:endParaRPr lang="en-US" altLang="zh-CN"/>
          </a:p>
        </p:txBody>
      </p:sp>
      <p:sp>
        <p:nvSpPr>
          <p:cNvPr id="729090" name="Rectangle 2"/>
          <p:cNvSpPr>
            <a:spLocks noGrp="1" noRot="1" noChangeAspect="1" noChangeArrowheads="1" noTextEdit="1"/>
          </p:cNvSpPr>
          <p:nvPr>
            <p:ph type="sldImg"/>
          </p:nvPr>
        </p:nvSpPr>
        <p:spPr/>
      </p:sp>
      <p:sp>
        <p:nvSpPr>
          <p:cNvPr id="729091"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71A2FB1-E858-427E-A5C2-3DD5B048B49C}" type="slidenum">
              <a:rPr lang="en-US" altLang="zh-CN"/>
              <a:t>114</a:t>
            </a:fld>
            <a:endParaRPr lang="en-US" altLang="zh-CN"/>
          </a:p>
        </p:txBody>
      </p:sp>
      <p:sp>
        <p:nvSpPr>
          <p:cNvPr id="730114" name="Rectangle 2"/>
          <p:cNvSpPr>
            <a:spLocks noGrp="1" noRot="1" noChangeAspect="1" noChangeArrowheads="1" noTextEdit="1"/>
          </p:cNvSpPr>
          <p:nvPr>
            <p:ph type="sldImg"/>
          </p:nvPr>
        </p:nvSpPr>
        <p:spPr/>
      </p:sp>
      <p:sp>
        <p:nvSpPr>
          <p:cNvPr id="7301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F2644A8-C28B-4C50-9B9F-785F9A4FB994}" type="slidenum">
              <a:rPr lang="en-US" altLang="zh-CN"/>
              <a:t>115</a:t>
            </a:fld>
            <a:endParaRPr lang="en-US" altLang="zh-CN"/>
          </a:p>
        </p:txBody>
      </p:sp>
      <p:sp>
        <p:nvSpPr>
          <p:cNvPr id="731138" name="Rectangle 2"/>
          <p:cNvSpPr>
            <a:spLocks noGrp="1" noRot="1" noChangeAspect="1" noChangeArrowheads="1" noTextEdit="1"/>
          </p:cNvSpPr>
          <p:nvPr>
            <p:ph type="sldImg"/>
          </p:nvPr>
        </p:nvSpPr>
        <p:spPr/>
      </p:sp>
      <p:sp>
        <p:nvSpPr>
          <p:cNvPr id="7311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37DB466-E460-49DF-91D8-725E3D74EE3C}" type="slidenum">
              <a:rPr lang="en-US" altLang="zh-CN"/>
              <a:t>116</a:t>
            </a:fld>
            <a:endParaRPr lang="en-US" altLang="zh-CN"/>
          </a:p>
        </p:txBody>
      </p:sp>
      <p:sp>
        <p:nvSpPr>
          <p:cNvPr id="732162" name="Rectangle 2"/>
          <p:cNvSpPr>
            <a:spLocks noGrp="1" noRot="1" noChangeAspect="1" noChangeArrowheads="1" noTextEdit="1"/>
          </p:cNvSpPr>
          <p:nvPr>
            <p:ph type="sldImg"/>
          </p:nvPr>
        </p:nvSpPr>
        <p:spPr/>
      </p:sp>
      <p:sp>
        <p:nvSpPr>
          <p:cNvPr id="7321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77D370-ECBE-45C8-9A49-43F4DF94BF76}" type="slidenum">
              <a:rPr lang="en-US" altLang="zh-CN"/>
              <a:t>117</a:t>
            </a:fld>
            <a:endParaRPr lang="en-US" altLang="zh-CN"/>
          </a:p>
        </p:txBody>
      </p:sp>
      <p:sp>
        <p:nvSpPr>
          <p:cNvPr id="977922" name="Rectangle 2"/>
          <p:cNvSpPr>
            <a:spLocks noGrp="1" noRot="1" noChangeAspect="1" noChangeArrowheads="1" noTextEdit="1"/>
          </p:cNvSpPr>
          <p:nvPr>
            <p:ph type="sldImg"/>
          </p:nvPr>
        </p:nvSpPr>
        <p:spPr/>
      </p:sp>
      <p:sp>
        <p:nvSpPr>
          <p:cNvPr id="977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77D370-ECBE-45C8-9A49-43F4DF94BF76}" type="slidenum">
              <a:rPr lang="en-US" altLang="zh-CN"/>
              <a:t>118</a:t>
            </a:fld>
            <a:endParaRPr lang="en-US" altLang="zh-CN"/>
          </a:p>
        </p:txBody>
      </p:sp>
      <p:sp>
        <p:nvSpPr>
          <p:cNvPr id="977922" name="Rectangle 2"/>
          <p:cNvSpPr>
            <a:spLocks noGrp="1" noRot="1" noChangeAspect="1" noChangeArrowheads="1" noTextEdit="1"/>
          </p:cNvSpPr>
          <p:nvPr>
            <p:ph type="sldImg"/>
          </p:nvPr>
        </p:nvSpPr>
        <p:spPr/>
      </p:sp>
      <p:sp>
        <p:nvSpPr>
          <p:cNvPr id="977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CF0935B-4DEA-4EF8-8239-91476F264453}" type="slidenum">
              <a:rPr lang="en-US" altLang="zh-CN"/>
              <a:t>124</a:t>
            </a:fld>
            <a:endParaRPr lang="en-US" altLang="zh-CN"/>
          </a:p>
        </p:txBody>
      </p:sp>
      <p:sp>
        <p:nvSpPr>
          <p:cNvPr id="733186" name="Rectangle 2"/>
          <p:cNvSpPr>
            <a:spLocks noGrp="1" noRot="1" noChangeAspect="1" noChangeArrowheads="1" noTextEdit="1"/>
          </p:cNvSpPr>
          <p:nvPr>
            <p:ph type="sldImg"/>
          </p:nvPr>
        </p:nvSpPr>
        <p:spPr/>
      </p:sp>
      <p:sp>
        <p:nvSpPr>
          <p:cNvPr id="733187" name="Rectangle 3"/>
          <p:cNvSpPr>
            <a:spLocks noGrp="1" noChangeArrowheads="1"/>
          </p:cNvSpPr>
          <p:nvPr>
            <p:ph type="body" idx="1"/>
          </p:nvPr>
        </p:nvSpPr>
        <p:spPr/>
        <p:txBody>
          <a:bodyPr/>
          <a:lstStyle/>
          <a:p>
            <a:r>
              <a:rPr lang="zh-CN" altLang="en-US" dirty="0"/>
              <a:t>我们不同局域网的</a:t>
            </a:r>
            <a:r>
              <a:rPr lang="en-US" altLang="zh-CN" dirty="0"/>
              <a:t>MAC</a:t>
            </a:r>
            <a:r>
              <a:rPr lang="zh-CN" altLang="en-US" dirty="0"/>
              <a:t>格式都是不同的标准，比如我们美国人和中国人的身份证代码格式是不一样的，那你如何能够让两个人能够相互找到呢？可以使用确切的地址信息。</a:t>
            </a:r>
            <a:endParaRPr lang="zh-CN" altLang="zh-CN" dirty="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3EA6B5A-A5E0-4945-9E1A-57D325D78178}" type="slidenum">
              <a:rPr lang="en-US" altLang="zh-CN"/>
              <a:t>128</a:t>
            </a:fld>
            <a:endParaRPr lang="en-US" altLang="zh-CN"/>
          </a:p>
        </p:txBody>
      </p:sp>
      <p:sp>
        <p:nvSpPr>
          <p:cNvPr id="735234" name="Rectangle 2"/>
          <p:cNvSpPr>
            <a:spLocks noGrp="1" noRot="1" noChangeAspect="1" noChangeArrowheads="1" noTextEdit="1"/>
          </p:cNvSpPr>
          <p:nvPr>
            <p:ph type="sldImg"/>
          </p:nvPr>
        </p:nvSpPr>
        <p:spPr/>
      </p:sp>
      <p:sp>
        <p:nvSpPr>
          <p:cNvPr id="7352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129</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130</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131</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r>
              <a:rPr lang="zh-CN" altLang="en-US" dirty="0"/>
              <a:t>（</a:t>
            </a:r>
            <a:r>
              <a:rPr lang="en-US" altLang="zh-CN" dirty="0"/>
              <a:t>1</a:t>
            </a:r>
            <a:r>
              <a:rPr lang="zh-CN" altLang="en-US" dirty="0"/>
              <a:t>）安全和处理限制（用于军事领域）（</a:t>
            </a:r>
            <a:r>
              <a:rPr lang="en-US" altLang="zh-CN" dirty="0"/>
              <a:t>2</a:t>
            </a:r>
            <a:r>
              <a:rPr lang="zh-CN" altLang="en-US" dirty="0"/>
              <a:t>）记录路径（让每个路由器都记下它的</a:t>
            </a:r>
            <a:r>
              <a:rPr lang="en-US" altLang="zh-CN" dirty="0"/>
              <a:t>IP</a:t>
            </a:r>
            <a:r>
              <a:rPr lang="zh-CN" altLang="en-US" dirty="0"/>
              <a:t>地址）（</a:t>
            </a:r>
            <a:r>
              <a:rPr lang="en-US" altLang="zh-CN" dirty="0"/>
              <a:t>3</a:t>
            </a:r>
            <a:r>
              <a:rPr lang="zh-CN" altLang="en-US" dirty="0"/>
              <a:t>）时间戳（</a:t>
            </a:r>
            <a:r>
              <a:rPr lang="en-US" altLang="zh-CN" dirty="0"/>
              <a:t>Time Stamp</a:t>
            </a:r>
            <a:r>
              <a:rPr lang="zh-CN" altLang="en-US" dirty="0"/>
              <a:t>）</a:t>
            </a:r>
            <a:r>
              <a:rPr lang="en-US" altLang="zh-CN" dirty="0"/>
              <a:t>4</a:t>
            </a:r>
            <a:r>
              <a:rPr lang="zh-CN" altLang="en-US" dirty="0"/>
              <a:t>）宽松的源站路由（</a:t>
            </a:r>
            <a:r>
              <a:rPr lang="en-US" altLang="zh-CN" dirty="0"/>
              <a:t>Loose Source Route</a:t>
            </a:r>
            <a:r>
              <a:rPr lang="zh-CN" altLang="en-US" dirty="0"/>
              <a:t>）（为数据报指定一系列必须经过的</a:t>
            </a:r>
            <a:r>
              <a:rPr lang="en-US" altLang="zh-CN" dirty="0"/>
              <a:t>IP</a:t>
            </a:r>
            <a:r>
              <a:rPr lang="zh-CN" altLang="en-US" dirty="0"/>
              <a:t>地址）（</a:t>
            </a:r>
            <a:r>
              <a:rPr lang="en-US" altLang="zh-CN" dirty="0"/>
              <a:t>5</a:t>
            </a:r>
            <a:r>
              <a:rPr lang="zh-CN" altLang="en-US" dirty="0"/>
              <a:t>）严格的源站路由</a:t>
            </a:r>
            <a:endParaRPr lang="zh-CN" altLang="zh-CN" dirty="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132</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133</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134</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r>
              <a:rPr lang="zh-CN" altLang="en-US" dirty="0"/>
              <a:t>区分服务：鉴别服务的种类，以及服务的优先级等信息     比如我们有一个服务需要很高的优先级，那我们就占有优先级</a:t>
            </a:r>
            <a:endParaRPr lang="zh-CN" altLang="zh-CN" dirty="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135</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136</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r>
              <a:rPr lang="zh-CN" altLang="en-US" dirty="0"/>
              <a:t>每产生一个数据报，标识号</a:t>
            </a:r>
            <a:r>
              <a:rPr lang="en-US" altLang="zh-CN" dirty="0"/>
              <a:t>+1</a:t>
            </a:r>
            <a:r>
              <a:rPr lang="zh-CN" altLang="en-US" dirty="0"/>
              <a:t>，但标识并不是序号。当把这个数据包分片时，把这个标识分给每一个片的首部</a:t>
            </a:r>
            <a:endParaRPr lang="zh-CN" altLang="zh-CN" dirty="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137</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138</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773EBA8-8C44-41A7-AFF5-405B0AFD672E}" type="slidenum">
              <a:rPr lang="en-US" altLang="zh-CN"/>
              <a:t>140</a:t>
            </a:fld>
            <a:endParaRPr lang="en-US" altLang="zh-CN"/>
          </a:p>
        </p:txBody>
      </p:sp>
      <p:sp>
        <p:nvSpPr>
          <p:cNvPr id="746498" name="Rectangle 2"/>
          <p:cNvSpPr>
            <a:spLocks noGrp="1" noRot="1" noChangeAspect="1" noChangeArrowheads="1" noTextEdit="1"/>
          </p:cNvSpPr>
          <p:nvPr>
            <p:ph type="sldImg"/>
          </p:nvPr>
        </p:nvSpPr>
        <p:spPr/>
      </p:sp>
      <p:sp>
        <p:nvSpPr>
          <p:cNvPr id="7464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142</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r>
              <a:rPr lang="zh-CN" altLang="en-US" dirty="0"/>
              <a:t>最多经过的服务器跳数 害怕出现在路由器中无限循环的问题</a:t>
            </a:r>
            <a:endParaRPr lang="zh-CN" altLang="zh-CN" dirty="0"/>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143</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r>
              <a:rPr lang="en-US" altLang="zh-CN" dirty="0"/>
              <a:t>ICMP   ARP IGMP </a:t>
            </a:r>
            <a:r>
              <a:rPr lang="zh-CN" altLang="en-US" dirty="0"/>
              <a:t>不同的协议上交给不同的处理过程</a:t>
            </a:r>
            <a:endParaRPr lang="zh-CN" altLang="zh-CN" dirty="0"/>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31E4B0A-F1C6-4E8B-8159-F356B6BD0310}" type="slidenum">
              <a:rPr lang="en-US" altLang="zh-CN"/>
              <a:t>144</a:t>
            </a:fld>
            <a:endParaRPr lang="en-US" altLang="zh-CN"/>
          </a:p>
        </p:txBody>
      </p:sp>
      <p:sp>
        <p:nvSpPr>
          <p:cNvPr id="749570" name="Rectangle 2"/>
          <p:cNvSpPr>
            <a:spLocks noGrp="1" noRot="1" noChangeAspect="1" noChangeArrowheads="1" noTextEdit="1"/>
          </p:cNvSpPr>
          <p:nvPr>
            <p:ph type="sldImg"/>
          </p:nvPr>
        </p:nvSpPr>
        <p:spPr/>
      </p:sp>
      <p:sp>
        <p:nvSpPr>
          <p:cNvPr id="749571"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145</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70A8311-8C5A-4209-AA51-28B973F18E5D}" type="slidenum">
              <a:rPr lang="en-US" altLang="zh-CN"/>
              <a:t>146</a:t>
            </a:fld>
            <a:endParaRPr lang="en-US" altLang="zh-CN"/>
          </a:p>
        </p:txBody>
      </p:sp>
      <p:sp>
        <p:nvSpPr>
          <p:cNvPr id="751618" name="Rectangle 2"/>
          <p:cNvSpPr>
            <a:spLocks noGrp="1" noRot="1" noChangeAspect="1" noChangeArrowheads="1" noTextEdit="1"/>
          </p:cNvSpPr>
          <p:nvPr>
            <p:ph type="sldImg"/>
          </p:nvPr>
        </p:nvSpPr>
        <p:spPr/>
      </p:sp>
      <p:sp>
        <p:nvSpPr>
          <p:cNvPr id="751619" name="Rectangle 3"/>
          <p:cNvSpPr>
            <a:spLocks noGrp="1" noChangeArrowheads="1"/>
          </p:cNvSpPr>
          <p:nvPr>
            <p:ph type="body" idx="1"/>
          </p:nvPr>
        </p:nvSpPr>
        <p:spPr/>
        <p:txBody>
          <a:bodyPr/>
          <a:lstStyle/>
          <a:p>
            <a:r>
              <a:rPr lang="en-US" altLang="zh-CN" dirty="0"/>
              <a:t>0011    0101</a:t>
            </a:r>
            <a:endParaRPr lang="zh-CN" altLang="zh-CN" dirty="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147</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A6220B0-AB1A-4B03-AA78-731B9F6ADD0C}" type="slidenum">
              <a:rPr lang="en-US" altLang="zh-CN"/>
              <a:t>148</a:t>
            </a:fld>
            <a:endParaRPr lang="en-US" altLang="zh-CN"/>
          </a:p>
        </p:txBody>
      </p:sp>
      <p:sp>
        <p:nvSpPr>
          <p:cNvPr id="753666" name="Rectangle 2"/>
          <p:cNvSpPr>
            <a:spLocks noGrp="1" noRot="1" noChangeAspect="1" noChangeArrowheads="1" noTextEdit="1"/>
          </p:cNvSpPr>
          <p:nvPr>
            <p:ph type="sldImg"/>
          </p:nvPr>
        </p:nvSpPr>
        <p:spPr/>
      </p:sp>
      <p:sp>
        <p:nvSpPr>
          <p:cNvPr id="753667" name="Rectangle 3"/>
          <p:cNvSpPr>
            <a:spLocks noGrp="1" noChangeArrowheads="1"/>
          </p:cNvSpPr>
          <p:nvPr>
            <p:ph type="body" idx="1"/>
          </p:nvPr>
        </p:nvSpPr>
        <p:spPr/>
        <p:txBody>
          <a:bodyPr/>
          <a:lstStyle/>
          <a:p>
            <a:r>
              <a:rPr lang="zh-CN" altLang="en-US" dirty="0"/>
              <a:t>会什么用的少呢？因为我们的</a:t>
            </a:r>
            <a:r>
              <a:rPr lang="en-US" altLang="zh-CN" dirty="0" err="1"/>
              <a:t>ip</a:t>
            </a:r>
            <a:r>
              <a:rPr lang="zh-CN" altLang="en-US" dirty="0"/>
              <a:t>的固定字段已经包含了我们需要的内容</a:t>
            </a:r>
            <a:endParaRPr lang="zh-CN" altLang="zh-CN" dirty="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150</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151</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r>
              <a:rPr lang="en-US" altLang="zh-CN"/>
              <a:t>ip</a:t>
            </a:r>
            <a:r>
              <a:rPr lang="zh-CN" altLang="en-US"/>
              <a:t>层是无连接的，无差错控制</a:t>
            </a: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6BD9F58-1938-4D8C-8922-054B3FDAC032}" type="slidenum">
              <a:rPr lang="en-US" altLang="zh-CN"/>
              <a:t>152</a:t>
            </a:fld>
            <a:endParaRPr lang="en-US" altLang="zh-CN"/>
          </a:p>
        </p:txBody>
      </p:sp>
      <p:sp>
        <p:nvSpPr>
          <p:cNvPr id="797698" name="Rectangle 2"/>
          <p:cNvSpPr>
            <a:spLocks noGrp="1" noRot="1" noChangeAspect="1" noChangeArrowheads="1" noTextEdit="1"/>
          </p:cNvSpPr>
          <p:nvPr>
            <p:ph type="sldImg"/>
          </p:nvPr>
        </p:nvSpPr>
        <p:spPr/>
      </p:sp>
      <p:sp>
        <p:nvSpPr>
          <p:cNvPr id="7976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29C18B0-0124-472A-B22F-ED82A54FEBB1}" type="slidenum">
              <a:rPr lang="en-US" altLang="zh-CN"/>
              <a:t>153</a:t>
            </a:fld>
            <a:endParaRPr lang="en-US" altLang="zh-CN"/>
          </a:p>
        </p:txBody>
      </p:sp>
      <p:sp>
        <p:nvSpPr>
          <p:cNvPr id="798722" name="Rectangle 2"/>
          <p:cNvSpPr>
            <a:spLocks noGrp="1" noRot="1" noChangeAspect="1" noChangeArrowheads="1" noTextEdit="1"/>
          </p:cNvSpPr>
          <p:nvPr>
            <p:ph type="sldImg"/>
          </p:nvPr>
        </p:nvSpPr>
        <p:spPr/>
      </p:sp>
      <p:sp>
        <p:nvSpPr>
          <p:cNvPr id="7987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C3513D1-119B-40B4-A0ED-B4585D6EA6C1}" type="slidenum">
              <a:rPr lang="en-US" altLang="zh-CN"/>
              <a:t>154</a:t>
            </a:fld>
            <a:endParaRPr lang="en-US" altLang="zh-CN"/>
          </a:p>
        </p:txBody>
      </p:sp>
      <p:sp>
        <p:nvSpPr>
          <p:cNvPr id="799746" name="Rectangle 2"/>
          <p:cNvSpPr>
            <a:spLocks noGrp="1" noRot="1" noChangeAspect="1" noChangeArrowheads="1" noTextEdit="1"/>
          </p:cNvSpPr>
          <p:nvPr>
            <p:ph type="sldImg"/>
          </p:nvPr>
        </p:nvSpPr>
        <p:spPr/>
      </p:sp>
      <p:sp>
        <p:nvSpPr>
          <p:cNvPr id="799747" name="Rectangle 3"/>
          <p:cNvSpPr>
            <a:spLocks noGrp="1" noChangeArrowheads="1"/>
          </p:cNvSpPr>
          <p:nvPr>
            <p:ph type="body" idx="1"/>
          </p:nvPr>
        </p:nvSpPr>
        <p:spPr/>
        <p:txBody>
          <a:bodyPr/>
          <a:lstStyle/>
          <a:p>
            <a:r>
              <a:rPr lang="zh-CN" altLang="en-US" dirty="0"/>
              <a:t>网络不可达，主机不可达，端口不可达    参数问题：路由器收到的</a:t>
            </a:r>
            <a:r>
              <a:rPr lang="en-US" altLang="zh-CN" dirty="0" err="1"/>
              <a:t>ip</a:t>
            </a:r>
            <a:r>
              <a:rPr lang="zh-CN" altLang="en-US" dirty="0"/>
              <a:t>数据报的</a:t>
            </a:r>
            <a:r>
              <a:rPr lang="en-US" altLang="zh-CN" dirty="0" err="1"/>
              <a:t>ip</a:t>
            </a:r>
            <a:r>
              <a:rPr lang="zh-CN" altLang="en-US" dirty="0"/>
              <a:t>首部是有问题的，就像原站发送参数问题               都是路由器向原站发送</a:t>
            </a:r>
            <a:endParaRPr lang="zh-CN" altLang="zh-CN" dirty="0"/>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223A760-3085-46D8-8182-753E0891EF30}" type="slidenum">
              <a:rPr lang="en-US" altLang="zh-CN"/>
              <a:t>155</a:t>
            </a:fld>
            <a:endParaRPr lang="en-US" altLang="zh-CN"/>
          </a:p>
        </p:txBody>
      </p:sp>
      <p:sp>
        <p:nvSpPr>
          <p:cNvPr id="800770" name="Rectangle 2"/>
          <p:cNvSpPr>
            <a:spLocks noGrp="1" noRot="1" noChangeAspect="1" noChangeArrowheads="1" noTextEdit="1"/>
          </p:cNvSpPr>
          <p:nvPr>
            <p:ph type="sldImg"/>
          </p:nvPr>
        </p:nvSpPr>
        <p:spPr/>
      </p:sp>
      <p:sp>
        <p:nvSpPr>
          <p:cNvPr id="8007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1A16D1C-627C-4891-ABFE-A6A31D9AB457}" type="slidenum">
              <a:rPr lang="en-US" altLang="zh-CN"/>
              <a:t>156</a:t>
            </a:fld>
            <a:endParaRPr lang="en-US" altLang="zh-CN"/>
          </a:p>
        </p:txBody>
      </p:sp>
      <p:sp>
        <p:nvSpPr>
          <p:cNvPr id="801794" name="Rectangle 2"/>
          <p:cNvSpPr>
            <a:spLocks noGrp="1" noRot="1" noChangeAspect="1" noChangeArrowheads="1" noTextEdit="1"/>
          </p:cNvSpPr>
          <p:nvPr>
            <p:ph type="sldImg"/>
          </p:nvPr>
        </p:nvSpPr>
        <p:spPr/>
      </p:sp>
      <p:sp>
        <p:nvSpPr>
          <p:cNvPr id="8017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1A876E-3C2C-46C3-B0C0-95D84A4C4E14}" type="slidenum">
              <a:rPr lang="en-US" altLang="zh-CN"/>
              <a:t>157</a:t>
            </a:fld>
            <a:endParaRPr lang="en-US" altLang="zh-CN"/>
          </a:p>
        </p:txBody>
      </p:sp>
      <p:sp>
        <p:nvSpPr>
          <p:cNvPr id="802818" name="Rectangle 2"/>
          <p:cNvSpPr>
            <a:spLocks noGrp="1" noRot="1" noChangeAspect="1" noChangeArrowheads="1" noTextEdit="1"/>
          </p:cNvSpPr>
          <p:nvPr>
            <p:ph type="sldImg"/>
          </p:nvPr>
        </p:nvSpPr>
        <p:spPr/>
      </p:sp>
      <p:sp>
        <p:nvSpPr>
          <p:cNvPr id="8028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2928BA6-A975-4AA7-B3B6-EBDE68FED28B}" type="slidenum">
              <a:rPr lang="en-US" altLang="zh-CN"/>
              <a:t>158</a:t>
            </a:fld>
            <a:endParaRPr lang="en-US" altLang="zh-CN"/>
          </a:p>
        </p:txBody>
      </p:sp>
      <p:sp>
        <p:nvSpPr>
          <p:cNvPr id="803842" name="Rectangle 2"/>
          <p:cNvSpPr>
            <a:spLocks noGrp="1" noRot="1" noChangeAspect="1" noChangeArrowheads="1" noTextEdit="1"/>
          </p:cNvSpPr>
          <p:nvPr>
            <p:ph type="sldImg"/>
          </p:nvPr>
        </p:nvSpPr>
        <p:spPr/>
      </p:sp>
      <p:sp>
        <p:nvSpPr>
          <p:cNvPr id="803843" name="Rectangle 3"/>
          <p:cNvSpPr>
            <a:spLocks noGrp="1" noChangeArrowheads="1"/>
          </p:cNvSpPr>
          <p:nvPr>
            <p:ph type="body" idx="1"/>
          </p:nvPr>
        </p:nvSpPr>
        <p:spPr/>
        <p:txBody>
          <a:bodyPr/>
          <a:lstStyle/>
          <a:p>
            <a:r>
              <a:rPr lang="en-US" altLang="zh-CN"/>
              <a:t>request timeout  destination unreachable</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FA26C14-570E-4A65-918E-2B9F7D837DBF}" type="slidenum">
              <a:rPr lang="en-US" altLang="zh-CN"/>
              <a:t>159</a:t>
            </a:fld>
            <a:endParaRPr lang="en-US" altLang="zh-CN"/>
          </a:p>
        </p:txBody>
      </p:sp>
      <p:sp>
        <p:nvSpPr>
          <p:cNvPr id="994306" name="Rectangle 2"/>
          <p:cNvSpPr>
            <a:spLocks noGrp="1" noRot="1" noChangeAspect="1" noChangeArrowheads="1" noTextEdit="1"/>
          </p:cNvSpPr>
          <p:nvPr>
            <p:ph type="sldImg"/>
          </p:nvPr>
        </p:nvSpPr>
        <p:spPr/>
      </p:sp>
      <p:sp>
        <p:nvSpPr>
          <p:cNvPr id="994307" name="Rectangle 3"/>
          <p:cNvSpPr>
            <a:spLocks noGrp="1" noChangeArrowheads="1"/>
          </p:cNvSpPr>
          <p:nvPr>
            <p:ph type="body" idx="1"/>
          </p:nvPr>
        </p:nvSpPr>
        <p:spPr/>
        <p:txBody>
          <a:bodyPr/>
          <a:lstStyle/>
          <a:p>
            <a:r>
              <a:rPr lang="en-US" altLang="zh-CN" dirty="0"/>
              <a:t>Ping –t </a:t>
            </a:r>
            <a:r>
              <a:rPr lang="en-US" altLang="zh-CN" dirty="0" err="1"/>
              <a:t>xx.xx.xx.xx</a:t>
            </a:r>
            <a:r>
              <a:rPr lang="en-US" altLang="zh-CN" dirty="0"/>
              <a:t>  </a:t>
            </a:r>
            <a:r>
              <a:rPr lang="zh-CN" altLang="en-US" dirty="0"/>
              <a:t>一直</a:t>
            </a:r>
            <a:r>
              <a:rPr lang="en-US" altLang="zh-CN" dirty="0"/>
              <a:t>ping      </a:t>
            </a:r>
            <a:r>
              <a:rPr lang="en-US" altLang="zh-CN" dirty="0" err="1"/>
              <a:t>ping</a:t>
            </a:r>
            <a:r>
              <a:rPr lang="zh-CN" altLang="en-US" dirty="0"/>
              <a:t> </a:t>
            </a:r>
            <a:r>
              <a:rPr lang="en-US" altLang="zh-CN" dirty="0"/>
              <a:t>–l</a:t>
            </a:r>
            <a:r>
              <a:rPr lang="zh-CN" altLang="en-US" dirty="0"/>
              <a:t> </a:t>
            </a:r>
            <a:r>
              <a:rPr lang="en-US" altLang="zh-CN" dirty="0"/>
              <a:t>2048</a:t>
            </a:r>
            <a:r>
              <a:rPr lang="zh-CN" altLang="en-US" dirty="0"/>
              <a:t> </a:t>
            </a:r>
            <a:r>
              <a:rPr lang="en-US" altLang="zh-CN" dirty="0"/>
              <a:t>–n</a:t>
            </a:r>
            <a:r>
              <a:rPr lang="zh-CN" altLang="en-US" dirty="0"/>
              <a:t> </a:t>
            </a:r>
            <a:r>
              <a:rPr lang="en-US" altLang="zh-CN" dirty="0"/>
              <a:t>100</a:t>
            </a:r>
            <a:r>
              <a:rPr lang="zh-CN" altLang="en-US" dirty="0"/>
              <a:t> </a:t>
            </a:r>
            <a:r>
              <a:rPr lang="en-US" altLang="zh-CN" dirty="0" err="1"/>
              <a:t>xx.xx.xx.xx</a:t>
            </a:r>
            <a:r>
              <a:rPr lang="en-US" altLang="zh-CN" dirty="0"/>
              <a:t>      </a:t>
            </a:r>
            <a:r>
              <a:rPr lang="zh-CN" altLang="en-US" dirty="0"/>
              <a:t>如果有很多节点向一个节点</a:t>
            </a:r>
            <a:r>
              <a:rPr lang="en-US" altLang="zh-CN" dirty="0"/>
              <a:t>ping</a:t>
            </a:r>
            <a:r>
              <a:rPr lang="zh-CN" altLang="en-US" dirty="0"/>
              <a:t>，节点可能会崩溃，所以设定只能我</a:t>
            </a:r>
            <a:r>
              <a:rPr lang="en-US" altLang="zh-CN" dirty="0"/>
              <a:t>ping</a:t>
            </a:r>
            <a:r>
              <a:rPr lang="zh-CN" altLang="en-US" dirty="0"/>
              <a:t>别人，不能别人</a:t>
            </a:r>
            <a:r>
              <a:rPr lang="en-US" altLang="zh-CN" dirty="0"/>
              <a:t>ping</a:t>
            </a:r>
            <a:r>
              <a:rPr lang="zh-CN" altLang="en-US" dirty="0"/>
              <a:t>我。</a:t>
            </a:r>
            <a:endParaRPr lang="zh-CN" altLang="zh-CN" dirty="0"/>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0CE79B8-81F4-4B2F-A030-1E17DB324DE7}" type="slidenum">
              <a:rPr lang="en-US" altLang="zh-CN"/>
              <a:t>160</a:t>
            </a:fld>
            <a:endParaRPr lang="en-US" altLang="zh-CN"/>
          </a:p>
        </p:txBody>
      </p:sp>
      <p:sp>
        <p:nvSpPr>
          <p:cNvPr id="996354" name="Rectangle 2"/>
          <p:cNvSpPr>
            <a:spLocks noGrp="1" noRot="1" noChangeAspect="1" noChangeArrowheads="1" noTextEdit="1"/>
          </p:cNvSpPr>
          <p:nvPr>
            <p:ph type="sldImg"/>
          </p:nvPr>
        </p:nvSpPr>
        <p:spPr/>
      </p:sp>
      <p:sp>
        <p:nvSpPr>
          <p:cNvPr id="996355" name="Rectangle 3"/>
          <p:cNvSpPr>
            <a:spLocks noGrp="1" noChangeArrowheads="1"/>
          </p:cNvSpPr>
          <p:nvPr>
            <p:ph type="body" idx="1"/>
          </p:nvPr>
        </p:nvSpPr>
        <p:spPr/>
        <p:txBody>
          <a:bodyPr/>
          <a:lstStyle/>
          <a:p>
            <a:r>
              <a:rPr lang="en-US" altLang="zh-CN" dirty="0"/>
              <a:t>Tracert pathing  </a:t>
            </a:r>
            <a:r>
              <a:rPr lang="zh-CN" altLang="en-US" dirty="0"/>
              <a:t>向每一个经过的路由器发包，回应说明通了</a:t>
            </a:r>
            <a:endParaRPr lang="zh-CN" altLang="zh-CN" dirty="0"/>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0CE79B8-81F4-4B2F-A030-1E17DB324DE7}" type="slidenum">
              <a:rPr lang="en-US" altLang="zh-CN"/>
              <a:t>161</a:t>
            </a:fld>
            <a:endParaRPr lang="en-US" altLang="zh-CN"/>
          </a:p>
        </p:txBody>
      </p:sp>
      <p:sp>
        <p:nvSpPr>
          <p:cNvPr id="996354" name="Rectangle 2"/>
          <p:cNvSpPr>
            <a:spLocks noGrp="1" noRot="1" noChangeAspect="1" noChangeArrowheads="1" noTextEdit="1"/>
          </p:cNvSpPr>
          <p:nvPr>
            <p:ph type="sldImg"/>
          </p:nvPr>
        </p:nvSpPr>
        <p:spPr/>
      </p:sp>
      <p:sp>
        <p:nvSpPr>
          <p:cNvPr id="9963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DA2099C-E03D-4BEA-80BD-EC59252D8E32}" type="slidenum">
              <a:rPr lang="zh-CN" altLang="en-US" smtClean="0"/>
              <a:t>162</a:t>
            </a:fld>
            <a:endParaRPr lang="en-US" altLang="zh-CN"/>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165</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36B6618-07AF-4871-B679-4E9069392BAE}" type="slidenum">
              <a:rPr lang="en-US" altLang="zh-CN"/>
              <a:t>166</a:t>
            </a:fld>
            <a:endParaRPr lang="en-US" altLang="zh-CN"/>
          </a:p>
        </p:txBody>
      </p:sp>
      <p:sp>
        <p:nvSpPr>
          <p:cNvPr id="804866" name="Rectangle 2"/>
          <p:cNvSpPr>
            <a:spLocks noGrp="1" noRot="1" noChangeAspect="1" noChangeArrowheads="1" noTextEdit="1"/>
          </p:cNvSpPr>
          <p:nvPr>
            <p:ph type="sldImg"/>
          </p:nvPr>
        </p:nvSpPr>
        <p:spPr/>
      </p:sp>
      <p:sp>
        <p:nvSpPr>
          <p:cNvPr id="804867" name="Rectangle 3"/>
          <p:cNvSpPr>
            <a:spLocks noGrp="1" noChangeArrowheads="1"/>
          </p:cNvSpPr>
          <p:nvPr>
            <p:ph type="body" idx="1"/>
          </p:nvPr>
        </p:nvSpPr>
        <p:spPr/>
        <p:txBody>
          <a:bodyPr/>
          <a:lstStyle/>
          <a:p>
            <a:r>
              <a:rPr lang="zh-CN" altLang="zh-CN"/>
              <a:t>每一个路由器里都有一个算法，路由选择算法，这个算法要解决，不同路由器基于某一种算法，算出一种最佳路径</a:t>
            </a: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0C1AB9B-F385-4821-AA6D-80FFE4C0DC60}" type="slidenum">
              <a:rPr lang="en-US" altLang="zh-CN"/>
              <a:t>167</a:t>
            </a:fld>
            <a:endParaRPr lang="en-US" altLang="zh-CN"/>
          </a:p>
        </p:txBody>
      </p:sp>
      <p:sp>
        <p:nvSpPr>
          <p:cNvPr id="806914" name="Rectangle 2"/>
          <p:cNvSpPr>
            <a:spLocks noGrp="1" noRot="1" noChangeAspect="1" noChangeArrowheads="1" noTextEdit="1"/>
          </p:cNvSpPr>
          <p:nvPr>
            <p:ph type="sldImg"/>
          </p:nvPr>
        </p:nvSpPr>
        <p:spPr/>
      </p:sp>
      <p:sp>
        <p:nvSpPr>
          <p:cNvPr id="8069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CB7E921-8880-45DB-B2E9-81946958ADF4}" type="slidenum">
              <a:rPr lang="en-US" altLang="zh-CN"/>
              <a:t>168</a:t>
            </a:fld>
            <a:endParaRPr lang="en-US" altLang="zh-CN"/>
          </a:p>
        </p:txBody>
      </p:sp>
      <p:sp>
        <p:nvSpPr>
          <p:cNvPr id="807938" name="Rectangle 2"/>
          <p:cNvSpPr>
            <a:spLocks noGrp="1" noRot="1" noChangeAspect="1" noChangeArrowheads="1" noTextEdit="1"/>
          </p:cNvSpPr>
          <p:nvPr>
            <p:ph type="sldImg"/>
          </p:nvPr>
        </p:nvSpPr>
        <p:spPr/>
      </p:sp>
      <p:sp>
        <p:nvSpPr>
          <p:cNvPr id="807939" name="Rectangle 3"/>
          <p:cNvSpPr>
            <a:spLocks noGrp="1" noChangeArrowheads="1"/>
          </p:cNvSpPr>
          <p:nvPr>
            <p:ph type="body" idx="1"/>
          </p:nvPr>
        </p:nvSpPr>
        <p:spPr/>
        <p:txBody>
          <a:bodyPr/>
          <a:lstStyle/>
          <a:p>
            <a:r>
              <a:rPr lang="zh-CN" altLang="zh-CN"/>
              <a:t>缺省（默认）路由就是静态路由</a:t>
            </a: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B22B321-29CA-4FA5-9D43-37DD48C3F283}" type="slidenum">
              <a:rPr lang="en-US" altLang="zh-CN"/>
              <a:t>169</a:t>
            </a:fld>
            <a:endParaRPr lang="en-US" altLang="zh-CN"/>
          </a:p>
        </p:txBody>
      </p:sp>
      <p:sp>
        <p:nvSpPr>
          <p:cNvPr id="808962" name="Rectangle 2"/>
          <p:cNvSpPr>
            <a:spLocks noGrp="1" noRot="1" noChangeAspect="1" noChangeArrowheads="1" noTextEdit="1"/>
          </p:cNvSpPr>
          <p:nvPr>
            <p:ph type="sldImg"/>
          </p:nvPr>
        </p:nvSpPr>
        <p:spPr/>
      </p:sp>
      <p:sp>
        <p:nvSpPr>
          <p:cNvPr id="8089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668C985-9035-4E07-B0ED-70A668539EBF}" type="slidenum">
              <a:rPr lang="en-US" altLang="zh-CN"/>
              <a:t>170</a:t>
            </a:fld>
            <a:endParaRPr lang="en-US" altLang="zh-CN"/>
          </a:p>
        </p:txBody>
      </p:sp>
      <p:sp>
        <p:nvSpPr>
          <p:cNvPr id="809986" name="Rectangle 2"/>
          <p:cNvSpPr>
            <a:spLocks noGrp="1" noRot="1" noChangeAspect="1" noChangeArrowheads="1" noTextEdit="1"/>
          </p:cNvSpPr>
          <p:nvPr>
            <p:ph type="sldImg"/>
          </p:nvPr>
        </p:nvSpPr>
        <p:spPr/>
      </p:sp>
      <p:sp>
        <p:nvSpPr>
          <p:cNvPr id="8099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20DE305-6829-434F-B40D-65525745C0AE}" type="slidenum">
              <a:rPr lang="en-US" altLang="zh-CN"/>
              <a:t>172</a:t>
            </a:fld>
            <a:endParaRPr lang="en-US" altLang="zh-CN"/>
          </a:p>
        </p:txBody>
      </p:sp>
      <p:sp>
        <p:nvSpPr>
          <p:cNvPr id="811010" name="Rectangle 2"/>
          <p:cNvSpPr>
            <a:spLocks noGrp="1" noRot="1" noChangeAspect="1" noChangeArrowheads="1" noTextEdit="1"/>
          </p:cNvSpPr>
          <p:nvPr>
            <p:ph type="sldImg"/>
          </p:nvPr>
        </p:nvSpPr>
        <p:spPr/>
      </p:sp>
      <p:sp>
        <p:nvSpPr>
          <p:cNvPr id="811011" name="Rectangle 3"/>
          <p:cNvSpPr>
            <a:spLocks noGrp="1" noChangeArrowheads="1"/>
          </p:cNvSpPr>
          <p:nvPr>
            <p:ph type="body" idx="1"/>
          </p:nvPr>
        </p:nvSpPr>
        <p:spPr/>
        <p:txBody>
          <a:bodyPr/>
          <a:lstStyle/>
          <a:p>
            <a:r>
              <a:rPr lang="zh-CN" altLang="zh-CN"/>
              <a:t>路由信息协议    开放最短路径优先  </a:t>
            </a:r>
            <a:r>
              <a:rPr lang="en-US" altLang="zh-CN"/>
              <a:t>free  open</a:t>
            </a: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1CA6CC1-9213-43CF-ABF4-AC0CE7F69341}" type="slidenum">
              <a:rPr lang="en-US" altLang="zh-CN"/>
              <a:t>173</a:t>
            </a:fld>
            <a:endParaRPr lang="en-US" altLang="zh-CN"/>
          </a:p>
        </p:txBody>
      </p:sp>
      <p:sp>
        <p:nvSpPr>
          <p:cNvPr id="812034" name="Rectangle 2"/>
          <p:cNvSpPr>
            <a:spLocks noGrp="1" noRot="1" noChangeAspect="1" noChangeArrowheads="1" noTextEdit="1"/>
          </p:cNvSpPr>
          <p:nvPr>
            <p:ph type="sldImg"/>
          </p:nvPr>
        </p:nvSpPr>
        <p:spPr/>
      </p:sp>
      <p:sp>
        <p:nvSpPr>
          <p:cNvPr id="8120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EAD93A8-460D-49E0-B539-C5D922624B16}" type="slidenum">
              <a:rPr lang="en-US" altLang="zh-CN"/>
              <a:t>174</a:t>
            </a:fld>
            <a:endParaRPr lang="en-US" altLang="zh-CN"/>
          </a:p>
        </p:txBody>
      </p:sp>
      <p:sp>
        <p:nvSpPr>
          <p:cNvPr id="814082" name="Rectangle 2"/>
          <p:cNvSpPr>
            <a:spLocks noGrp="1" noRot="1" noChangeAspect="1" noChangeArrowheads="1" noTextEdit="1"/>
          </p:cNvSpPr>
          <p:nvPr>
            <p:ph type="sldImg"/>
          </p:nvPr>
        </p:nvSpPr>
        <p:spPr/>
      </p:sp>
      <p:sp>
        <p:nvSpPr>
          <p:cNvPr id="8140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860342A-8A8A-4847-9FAC-8163DC4CB094}" type="slidenum">
              <a:rPr lang="en-US" altLang="zh-CN"/>
              <a:t>175</a:t>
            </a:fld>
            <a:endParaRPr lang="en-US" altLang="zh-CN"/>
          </a:p>
        </p:txBody>
      </p:sp>
      <p:sp>
        <p:nvSpPr>
          <p:cNvPr id="815106" name="Rectangle 2"/>
          <p:cNvSpPr>
            <a:spLocks noGrp="1" noRot="1" noChangeAspect="1" noChangeArrowheads="1" noTextEdit="1"/>
          </p:cNvSpPr>
          <p:nvPr>
            <p:ph type="sldImg"/>
          </p:nvPr>
        </p:nvSpPr>
        <p:spPr/>
      </p:sp>
      <p:sp>
        <p:nvSpPr>
          <p:cNvPr id="815107" name="Rectangle 3"/>
          <p:cNvSpPr>
            <a:spLocks noGrp="1" noChangeArrowheads="1"/>
          </p:cNvSpPr>
          <p:nvPr>
            <p:ph type="body" idx="1"/>
          </p:nvPr>
        </p:nvSpPr>
        <p:spPr/>
        <p:txBody>
          <a:bodyPr/>
          <a:lstStyle/>
          <a:p>
            <a:r>
              <a:rPr lang="zh-CN" altLang="zh-CN"/>
              <a:t>在网络中，距离应该怎样衡量</a:t>
            </a: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0B14A88-C65B-4F17-B370-7A42462DC207}" type="slidenum">
              <a:rPr lang="en-US" altLang="zh-CN"/>
              <a:t>176</a:t>
            </a:fld>
            <a:endParaRPr lang="en-US" altLang="zh-CN"/>
          </a:p>
        </p:txBody>
      </p:sp>
      <p:sp>
        <p:nvSpPr>
          <p:cNvPr id="816130" name="Rectangle 2"/>
          <p:cNvSpPr>
            <a:spLocks noGrp="1" noRot="1" noChangeAspect="1" noChangeArrowheads="1" noTextEdit="1"/>
          </p:cNvSpPr>
          <p:nvPr>
            <p:ph type="sldImg"/>
          </p:nvPr>
        </p:nvSpPr>
        <p:spPr/>
      </p:sp>
      <p:sp>
        <p:nvSpPr>
          <p:cNvPr id="8161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1D28C39-D506-4773-BC9E-4F7764F5906D}" type="slidenum">
              <a:rPr lang="en-US" altLang="zh-CN"/>
              <a:t>177</a:t>
            </a:fld>
            <a:endParaRPr lang="en-US" altLang="zh-CN"/>
          </a:p>
        </p:txBody>
      </p:sp>
      <p:sp>
        <p:nvSpPr>
          <p:cNvPr id="817154" name="Rectangle 2"/>
          <p:cNvSpPr>
            <a:spLocks noGrp="1" noRot="1" noChangeAspect="1" noChangeArrowheads="1" noTextEdit="1"/>
          </p:cNvSpPr>
          <p:nvPr>
            <p:ph type="sldImg"/>
          </p:nvPr>
        </p:nvSpPr>
        <p:spPr/>
      </p:sp>
      <p:sp>
        <p:nvSpPr>
          <p:cNvPr id="817155" name="Rectangle 3"/>
          <p:cNvSpPr>
            <a:spLocks noGrp="1" noChangeArrowheads="1"/>
          </p:cNvSpPr>
          <p:nvPr>
            <p:ph type="body" idx="1"/>
          </p:nvPr>
        </p:nvSpPr>
        <p:spPr/>
        <p:txBody>
          <a:bodyPr/>
          <a:lstStyle/>
          <a:p>
            <a:r>
              <a:rPr lang="zh-CN" altLang="zh-CN"/>
              <a:t>百度地图导航</a:t>
            </a:r>
            <a:r>
              <a:rPr lang="en-US" altLang="zh-CN"/>
              <a:t>dan'yuan</a:t>
            </a: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4797B41-6A22-4785-AA60-A2C6B0AD9B83}" type="slidenum">
              <a:rPr lang="en-US" altLang="zh-CN"/>
              <a:t>178</a:t>
            </a:fld>
            <a:endParaRPr lang="en-US" altLang="zh-CN"/>
          </a:p>
        </p:txBody>
      </p:sp>
      <p:sp>
        <p:nvSpPr>
          <p:cNvPr id="818178" name="Rectangle 2"/>
          <p:cNvSpPr>
            <a:spLocks noGrp="1" noRot="1" noChangeAspect="1" noChangeArrowheads="1" noTextEdit="1"/>
          </p:cNvSpPr>
          <p:nvPr>
            <p:ph type="sldImg"/>
          </p:nvPr>
        </p:nvSpPr>
        <p:spPr/>
      </p:sp>
      <p:sp>
        <p:nvSpPr>
          <p:cNvPr id="8181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692CD90-6144-46E4-9D69-12CED1AD9882}" type="slidenum">
              <a:rPr lang="en-US" altLang="zh-CN"/>
              <a:t>179</a:t>
            </a:fld>
            <a:endParaRPr lang="en-US" altLang="zh-CN"/>
          </a:p>
        </p:txBody>
      </p:sp>
      <p:sp>
        <p:nvSpPr>
          <p:cNvPr id="819202" name="Rectangle 2"/>
          <p:cNvSpPr>
            <a:spLocks noGrp="1" noRot="1" noChangeAspect="1" noChangeArrowheads="1" noTextEdit="1"/>
          </p:cNvSpPr>
          <p:nvPr>
            <p:ph type="sldImg"/>
          </p:nvPr>
        </p:nvSpPr>
        <p:spPr/>
      </p:sp>
      <p:sp>
        <p:nvSpPr>
          <p:cNvPr id="8192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150D5EE-CE5B-429F-8F1D-6CB9155B2DA1}" type="slidenum">
              <a:rPr lang="en-US" altLang="zh-CN"/>
              <a:t>181</a:t>
            </a:fld>
            <a:endParaRPr lang="en-US" altLang="zh-CN"/>
          </a:p>
        </p:txBody>
      </p:sp>
      <p:sp>
        <p:nvSpPr>
          <p:cNvPr id="820226" name="Rectangle 2"/>
          <p:cNvSpPr>
            <a:spLocks noGrp="1" noRot="1" noChangeAspect="1" noChangeArrowheads="1" noTextEdit="1"/>
          </p:cNvSpPr>
          <p:nvPr>
            <p:ph type="sldImg"/>
          </p:nvPr>
        </p:nvSpPr>
        <p:spPr/>
      </p:sp>
      <p:sp>
        <p:nvSpPr>
          <p:cNvPr id="820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150D5EE-CE5B-429F-8F1D-6CB9155B2DA1}" type="slidenum">
              <a:rPr lang="en-US" altLang="zh-CN"/>
              <a:t>182</a:t>
            </a:fld>
            <a:endParaRPr lang="en-US" altLang="zh-CN"/>
          </a:p>
        </p:txBody>
      </p:sp>
      <p:sp>
        <p:nvSpPr>
          <p:cNvPr id="820226" name="Rectangle 2"/>
          <p:cNvSpPr>
            <a:spLocks noGrp="1" noRot="1" noChangeAspect="1" noChangeArrowheads="1" noTextEdit="1"/>
          </p:cNvSpPr>
          <p:nvPr>
            <p:ph type="sldImg"/>
          </p:nvPr>
        </p:nvSpPr>
        <p:spPr/>
      </p:sp>
      <p:sp>
        <p:nvSpPr>
          <p:cNvPr id="820227" name="Rectangle 3"/>
          <p:cNvSpPr>
            <a:spLocks noGrp="1" noChangeArrowheads="1"/>
          </p:cNvSpPr>
          <p:nvPr>
            <p:ph type="body" idx="1"/>
          </p:nvPr>
        </p:nvSpPr>
        <p:spPr/>
        <p:txBody>
          <a:bodyPr/>
          <a:lstStyle/>
          <a:p>
            <a:r>
              <a:rPr lang="zh-CN" altLang="zh-CN"/>
              <a:t>贝尔曼-福特</a:t>
            </a: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2B7148E-41B7-466E-A1EE-C89D7810CE0E}" type="slidenum">
              <a:rPr lang="en-US" altLang="zh-CN"/>
              <a:t>184</a:t>
            </a:fld>
            <a:endParaRPr lang="en-US" altLang="zh-CN"/>
          </a:p>
        </p:txBody>
      </p:sp>
      <p:sp>
        <p:nvSpPr>
          <p:cNvPr id="821250" name="Rectangle 2"/>
          <p:cNvSpPr>
            <a:spLocks noGrp="1" noRot="1" noChangeAspect="1" noChangeArrowheads="1" noTextEdit="1"/>
          </p:cNvSpPr>
          <p:nvPr>
            <p:ph type="sldImg"/>
          </p:nvPr>
        </p:nvSpPr>
        <p:spPr/>
      </p:sp>
      <p:sp>
        <p:nvSpPr>
          <p:cNvPr id="8212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2B7148E-41B7-466E-A1EE-C89D7810CE0E}" type="slidenum">
              <a:rPr lang="en-US" altLang="zh-CN"/>
              <a:t>185</a:t>
            </a:fld>
            <a:endParaRPr lang="en-US" altLang="zh-CN"/>
          </a:p>
        </p:txBody>
      </p:sp>
      <p:sp>
        <p:nvSpPr>
          <p:cNvPr id="821250" name="Rectangle 2"/>
          <p:cNvSpPr>
            <a:spLocks noGrp="1" noRot="1" noChangeAspect="1" noChangeArrowheads="1" noTextEdit="1"/>
          </p:cNvSpPr>
          <p:nvPr>
            <p:ph type="sldImg"/>
          </p:nvPr>
        </p:nvSpPr>
        <p:spPr/>
      </p:sp>
      <p:sp>
        <p:nvSpPr>
          <p:cNvPr id="8212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CF1225D-0A61-4421-A330-3F55384348FB}" type="slidenum">
              <a:rPr lang="en-US" altLang="zh-CN"/>
              <a:t>186</a:t>
            </a:fld>
            <a:endParaRPr lang="en-US" altLang="zh-CN"/>
          </a:p>
        </p:txBody>
      </p:sp>
      <p:sp>
        <p:nvSpPr>
          <p:cNvPr id="830466" name="Rectangle 2"/>
          <p:cNvSpPr>
            <a:spLocks noGrp="1" noRot="1" noChangeAspect="1" noChangeArrowheads="1" noTextEdit="1"/>
          </p:cNvSpPr>
          <p:nvPr>
            <p:ph type="sldImg"/>
          </p:nvPr>
        </p:nvSpPr>
        <p:spPr/>
      </p:sp>
      <p:sp>
        <p:nvSpPr>
          <p:cNvPr id="830467" name="Rectangle 3"/>
          <p:cNvSpPr>
            <a:spLocks noGrp="1" noChangeArrowheads="1"/>
          </p:cNvSpPr>
          <p:nvPr>
            <p:ph type="body" idx="1"/>
          </p:nvPr>
        </p:nvSpPr>
        <p:spPr/>
        <p:txBody>
          <a:bodyPr/>
          <a:lstStyle/>
          <a:p>
            <a:r>
              <a:rPr lang="zh-CN" altLang="en-US" dirty="0"/>
              <a:t>命令是发送请求（</a:t>
            </a:r>
            <a:r>
              <a:rPr lang="en-US" altLang="zh-CN" dirty="0"/>
              <a:t>1</a:t>
            </a:r>
            <a:r>
              <a:rPr lang="zh-CN" altLang="en-US" dirty="0"/>
              <a:t>）或者响应请求（</a:t>
            </a:r>
            <a:r>
              <a:rPr lang="en-US" altLang="zh-CN" dirty="0"/>
              <a:t>0</a:t>
            </a:r>
            <a:r>
              <a:rPr lang="zh-CN" altLang="en-US" dirty="0"/>
              <a:t>）</a:t>
            </a:r>
            <a:r>
              <a:rPr lang="en-US" altLang="zh-CN" dirty="0"/>
              <a:t>. </a:t>
            </a:r>
            <a:r>
              <a:rPr lang="zh-CN" altLang="en-US" dirty="0"/>
              <a:t>版本（</a:t>
            </a:r>
            <a:r>
              <a:rPr lang="en-US" altLang="zh-CN" dirty="0"/>
              <a:t>RIPv1</a:t>
            </a:r>
            <a:r>
              <a:rPr lang="zh-CN" altLang="en-US" dirty="0"/>
              <a:t>或者</a:t>
            </a:r>
            <a:r>
              <a:rPr lang="en-US" altLang="zh-CN" dirty="0"/>
              <a:t>RIPv2</a:t>
            </a:r>
            <a:r>
              <a:rPr lang="zh-CN" altLang="en-US" dirty="0"/>
              <a:t>）   地址标识符（</a:t>
            </a:r>
            <a:r>
              <a:rPr lang="en-US" altLang="zh-CN" dirty="0"/>
              <a:t>IP</a:t>
            </a:r>
            <a:r>
              <a:rPr lang="zh-CN" altLang="en-US" dirty="0"/>
              <a:t>地址协议或其他） 路由标记（哪个路由自治系统）</a:t>
            </a:r>
            <a:endParaRPr lang="zh-CN" altLang="zh-CN" dirty="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AEF567C-1BD4-4F14-B248-16226ACC1A0D}" type="slidenum">
              <a:rPr lang="en-US" altLang="zh-CN"/>
              <a:t>187</a:t>
            </a:fld>
            <a:endParaRPr lang="en-US" altLang="zh-CN"/>
          </a:p>
        </p:txBody>
      </p:sp>
      <p:sp>
        <p:nvSpPr>
          <p:cNvPr id="831490" name="Rectangle 2"/>
          <p:cNvSpPr>
            <a:spLocks noGrp="1" noRot="1" noChangeAspect="1" noChangeArrowheads="1" noTextEdit="1"/>
          </p:cNvSpPr>
          <p:nvPr>
            <p:ph type="sldImg"/>
          </p:nvPr>
        </p:nvSpPr>
        <p:spPr/>
      </p:sp>
      <p:sp>
        <p:nvSpPr>
          <p:cNvPr id="8314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555C4C8-6E28-441E-BFF5-244E29C2A19C}" type="slidenum">
              <a:rPr lang="en-US" altLang="zh-CN"/>
              <a:t>189</a:t>
            </a:fld>
            <a:endParaRPr lang="en-US" altLang="zh-CN"/>
          </a:p>
        </p:txBody>
      </p:sp>
      <p:sp>
        <p:nvSpPr>
          <p:cNvPr id="833538" name="Rectangle 2"/>
          <p:cNvSpPr>
            <a:spLocks noGrp="1" noRot="1" noChangeAspect="1" noChangeArrowheads="1" noTextEdit="1"/>
          </p:cNvSpPr>
          <p:nvPr>
            <p:ph type="sldImg"/>
          </p:nvPr>
        </p:nvSpPr>
        <p:spPr/>
      </p:sp>
      <p:sp>
        <p:nvSpPr>
          <p:cNvPr id="8335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24DCE49-A576-4766-BAC1-CA3855FDEA2D}" type="slidenum">
              <a:rPr lang="en-US" altLang="zh-CN"/>
              <a:t>190</a:t>
            </a:fld>
            <a:endParaRPr lang="en-US" altLang="zh-CN"/>
          </a:p>
        </p:txBody>
      </p:sp>
      <p:sp>
        <p:nvSpPr>
          <p:cNvPr id="834562" name="Rectangle 2"/>
          <p:cNvSpPr>
            <a:spLocks noGrp="1" noRot="1" noChangeAspect="1" noChangeArrowheads="1" noTextEdit="1"/>
          </p:cNvSpPr>
          <p:nvPr>
            <p:ph type="sldImg"/>
          </p:nvPr>
        </p:nvSpPr>
        <p:spPr/>
      </p:sp>
      <p:sp>
        <p:nvSpPr>
          <p:cNvPr id="8345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7B2928C-2444-4DC9-B135-B149403E8ED4}" type="slidenum">
              <a:rPr lang="en-US" altLang="zh-CN"/>
              <a:t>191</a:t>
            </a:fld>
            <a:endParaRPr lang="en-US" altLang="zh-CN"/>
          </a:p>
        </p:txBody>
      </p:sp>
      <p:sp>
        <p:nvSpPr>
          <p:cNvPr id="835586" name="Rectangle 2"/>
          <p:cNvSpPr>
            <a:spLocks noGrp="1" noRot="1" noChangeAspect="1" noChangeArrowheads="1" noTextEdit="1"/>
          </p:cNvSpPr>
          <p:nvPr>
            <p:ph type="sldImg"/>
          </p:nvPr>
        </p:nvSpPr>
        <p:spPr/>
      </p:sp>
      <p:sp>
        <p:nvSpPr>
          <p:cNvPr id="8355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6F8E45E-9B42-48E4-AC50-30FB77507258}" type="slidenum">
              <a:rPr lang="en-US" altLang="zh-CN"/>
              <a:t>192</a:t>
            </a:fld>
            <a:endParaRPr lang="en-US" altLang="zh-CN"/>
          </a:p>
        </p:txBody>
      </p:sp>
      <p:sp>
        <p:nvSpPr>
          <p:cNvPr id="836610" name="Rectangle 2"/>
          <p:cNvSpPr>
            <a:spLocks noGrp="1" noRot="1" noChangeAspect="1" noChangeArrowheads="1" noTextEdit="1"/>
          </p:cNvSpPr>
          <p:nvPr>
            <p:ph type="sldImg"/>
          </p:nvPr>
        </p:nvSpPr>
        <p:spPr/>
      </p:sp>
      <p:sp>
        <p:nvSpPr>
          <p:cNvPr id="8366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0A48219-729C-4032-B620-0727F37E5354}" type="slidenum">
              <a:rPr lang="en-US" altLang="zh-CN"/>
              <a:t>193</a:t>
            </a:fld>
            <a:endParaRPr lang="en-US" altLang="zh-CN"/>
          </a:p>
        </p:txBody>
      </p:sp>
      <p:sp>
        <p:nvSpPr>
          <p:cNvPr id="837634" name="Rectangle 2"/>
          <p:cNvSpPr>
            <a:spLocks noGrp="1" noRot="1" noChangeAspect="1" noChangeArrowheads="1" noTextEdit="1"/>
          </p:cNvSpPr>
          <p:nvPr>
            <p:ph type="sldImg"/>
          </p:nvPr>
        </p:nvSpPr>
        <p:spPr/>
      </p:sp>
      <p:sp>
        <p:nvSpPr>
          <p:cNvPr id="8376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DB0D037-A4B9-4604-B83E-8A13979F0378}" type="slidenum">
              <a:rPr lang="en-US" altLang="zh-CN"/>
              <a:t>194</a:t>
            </a:fld>
            <a:endParaRPr lang="en-US" altLang="zh-CN"/>
          </a:p>
        </p:txBody>
      </p:sp>
      <p:sp>
        <p:nvSpPr>
          <p:cNvPr id="838658" name="Rectangle 2"/>
          <p:cNvSpPr>
            <a:spLocks noGrp="1" noRot="1" noChangeAspect="1" noChangeArrowheads="1" noTextEdit="1"/>
          </p:cNvSpPr>
          <p:nvPr>
            <p:ph type="sldImg"/>
          </p:nvPr>
        </p:nvSpPr>
        <p:spPr/>
      </p:sp>
      <p:sp>
        <p:nvSpPr>
          <p:cNvPr id="8386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BCB0279-6F7F-444F-A959-72E200DF0FB9}" type="slidenum">
              <a:rPr lang="en-US" altLang="zh-CN"/>
              <a:t>195</a:t>
            </a:fld>
            <a:endParaRPr lang="en-US" altLang="zh-CN"/>
          </a:p>
        </p:txBody>
      </p:sp>
      <p:sp>
        <p:nvSpPr>
          <p:cNvPr id="832514" name="Rectangle 2"/>
          <p:cNvSpPr>
            <a:spLocks noGrp="1" noRot="1" noChangeAspect="1" noChangeArrowheads="1" noTextEdit="1"/>
          </p:cNvSpPr>
          <p:nvPr>
            <p:ph type="sldImg"/>
          </p:nvPr>
        </p:nvSpPr>
        <p:spPr/>
      </p:sp>
      <p:sp>
        <p:nvSpPr>
          <p:cNvPr id="8325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EAD691F8-0CBF-4158-B2DC-203EF9891FE3}" type="slidenum">
              <a:rPr lang="en-US" altLang="zh-CN"/>
              <a:t>196</a:t>
            </a:fld>
            <a:endParaRPr lang="en-US" altLang="zh-CN"/>
          </a:p>
        </p:txBody>
      </p:sp>
      <p:sp>
        <p:nvSpPr>
          <p:cNvPr id="839682" name="Rectangle 2"/>
          <p:cNvSpPr>
            <a:spLocks noGrp="1" noRot="1" noChangeAspect="1" noChangeArrowheads="1" noTextEdit="1"/>
          </p:cNvSpPr>
          <p:nvPr>
            <p:ph type="sldImg"/>
          </p:nvPr>
        </p:nvSpPr>
        <p:spPr/>
      </p:sp>
      <p:sp>
        <p:nvSpPr>
          <p:cNvPr id="8396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EAD691F8-0CBF-4158-B2DC-203EF9891FE3}" type="slidenum">
              <a:rPr lang="en-US" altLang="zh-CN"/>
              <a:t>197</a:t>
            </a:fld>
            <a:endParaRPr lang="en-US" altLang="zh-CN"/>
          </a:p>
        </p:txBody>
      </p:sp>
      <p:sp>
        <p:nvSpPr>
          <p:cNvPr id="839682" name="Rectangle 2"/>
          <p:cNvSpPr>
            <a:spLocks noGrp="1" noRot="1" noChangeAspect="1" noChangeArrowheads="1" noTextEdit="1"/>
          </p:cNvSpPr>
          <p:nvPr>
            <p:ph type="sldImg"/>
          </p:nvPr>
        </p:nvSpPr>
        <p:spPr/>
      </p:sp>
      <p:sp>
        <p:nvSpPr>
          <p:cNvPr id="8396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6CA2B7C-8BA3-4294-A7BF-C0354EFB8949}" type="slidenum">
              <a:rPr lang="en-US" altLang="zh-CN"/>
              <a:t>199</a:t>
            </a:fld>
            <a:endParaRPr lang="en-US" altLang="zh-CN"/>
          </a:p>
        </p:txBody>
      </p:sp>
      <p:sp>
        <p:nvSpPr>
          <p:cNvPr id="840706" name="Rectangle 2"/>
          <p:cNvSpPr>
            <a:spLocks noGrp="1" noRot="1" noChangeAspect="1" noChangeArrowheads="1" noTextEdit="1"/>
          </p:cNvSpPr>
          <p:nvPr>
            <p:ph type="sldImg"/>
          </p:nvPr>
        </p:nvSpPr>
        <p:spPr/>
      </p:sp>
      <p:sp>
        <p:nvSpPr>
          <p:cNvPr id="840707" name="Rectangle 3"/>
          <p:cNvSpPr>
            <a:spLocks noGrp="1" noChangeArrowheads="1"/>
          </p:cNvSpPr>
          <p:nvPr>
            <p:ph type="body" idx="1"/>
          </p:nvPr>
        </p:nvSpPr>
        <p:spPr/>
        <p:txBody>
          <a:bodyPr/>
          <a:lstStyle/>
          <a:p>
            <a:r>
              <a:rPr lang="zh-CN" altLang="en-US" dirty="0"/>
              <a:t>度量：费用，距离，时延，带宽</a:t>
            </a:r>
            <a:endParaRPr lang="zh-CN" altLang="zh-CN" dirty="0"/>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AB2DD947-3114-4220-8830-93100468B141}" type="slidenum">
              <a:rPr lang="en-US" altLang="zh-CN"/>
              <a:t>200</a:t>
            </a:fld>
            <a:endParaRPr lang="en-US" altLang="zh-CN"/>
          </a:p>
        </p:txBody>
      </p:sp>
      <p:sp>
        <p:nvSpPr>
          <p:cNvPr id="841730" name="Rectangle 2"/>
          <p:cNvSpPr>
            <a:spLocks noGrp="1" noRot="1" noChangeAspect="1" noChangeArrowheads="1" noTextEdit="1"/>
          </p:cNvSpPr>
          <p:nvPr>
            <p:ph type="sldImg"/>
          </p:nvPr>
        </p:nvSpPr>
        <p:spPr/>
      </p:sp>
      <p:sp>
        <p:nvSpPr>
          <p:cNvPr id="841731" name="Rectangle 3"/>
          <p:cNvSpPr>
            <a:spLocks noGrp="1" noChangeArrowheads="1"/>
          </p:cNvSpPr>
          <p:nvPr>
            <p:ph type="body" idx="1"/>
          </p:nvPr>
        </p:nvSpPr>
        <p:spPr/>
        <p:txBody>
          <a:bodyPr/>
          <a:lstStyle/>
          <a:p>
            <a:r>
              <a:rPr lang="zh-CN" altLang="zh-CN"/>
              <a:t>更新的快，</a:t>
            </a:r>
            <a:r>
              <a:rPr lang="en-US" altLang="zh-CN"/>
              <a:t>rip</a:t>
            </a:r>
            <a:r>
              <a:rPr lang="zh-CN" altLang="en-US"/>
              <a:t>需要一步一步的更新，而</a:t>
            </a:r>
            <a:r>
              <a:rPr lang="en-US" altLang="zh-CN"/>
              <a:t>ospf</a:t>
            </a:r>
            <a:r>
              <a:rPr lang="zh-CN" altLang="en-US"/>
              <a:t>直接通过洪泛法更新给所有</a:t>
            </a:r>
            <a:r>
              <a:rPr lang="en-US" altLang="zh-CN"/>
              <a:t>yi'bu'yi'bu'de</a:t>
            </a: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DB8122F-7C2A-41B8-AF98-611BBF56B910}" type="slidenum">
              <a:rPr lang="en-US" altLang="zh-CN"/>
              <a:t>201</a:t>
            </a:fld>
            <a:endParaRPr lang="en-US" altLang="zh-CN"/>
          </a:p>
        </p:txBody>
      </p:sp>
      <p:sp>
        <p:nvSpPr>
          <p:cNvPr id="842754" name="Rectangle 2"/>
          <p:cNvSpPr>
            <a:spLocks noGrp="1" noRot="1" noChangeAspect="1" noChangeArrowheads="1" noTextEdit="1"/>
          </p:cNvSpPr>
          <p:nvPr>
            <p:ph type="sldImg"/>
          </p:nvPr>
        </p:nvSpPr>
        <p:spPr/>
      </p:sp>
      <p:sp>
        <p:nvSpPr>
          <p:cNvPr id="8427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46B3EF4-3C89-4158-9690-6827E4A2E4B8}" type="slidenum">
              <a:rPr lang="en-US" altLang="zh-CN"/>
              <a:t>202</a:t>
            </a:fld>
            <a:endParaRPr lang="en-US" altLang="zh-CN"/>
          </a:p>
        </p:txBody>
      </p:sp>
      <p:sp>
        <p:nvSpPr>
          <p:cNvPr id="843778" name="Rectangle 2"/>
          <p:cNvSpPr>
            <a:spLocks noGrp="1" noRot="1" noChangeAspect="1" noChangeArrowheads="1" noTextEdit="1"/>
          </p:cNvSpPr>
          <p:nvPr>
            <p:ph type="sldImg"/>
          </p:nvPr>
        </p:nvSpPr>
        <p:spPr/>
      </p:sp>
      <p:sp>
        <p:nvSpPr>
          <p:cNvPr id="8437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D00F795-64D7-4202-AF58-DFEFBCE236D5}" type="slidenum">
              <a:rPr lang="en-US" altLang="zh-CN"/>
              <a:t>203</a:t>
            </a:fld>
            <a:endParaRPr lang="en-US" altLang="zh-CN"/>
          </a:p>
        </p:txBody>
      </p:sp>
      <p:sp>
        <p:nvSpPr>
          <p:cNvPr id="844802" name="Rectangle 2"/>
          <p:cNvSpPr>
            <a:spLocks noGrp="1" noRot="1" noChangeAspect="1" noChangeArrowheads="1" noTextEdit="1"/>
          </p:cNvSpPr>
          <p:nvPr>
            <p:ph type="sldImg"/>
          </p:nvPr>
        </p:nvSpPr>
        <p:spPr/>
      </p:sp>
      <p:sp>
        <p:nvSpPr>
          <p:cNvPr id="8448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5B47B44-0FEC-4E85-AFE8-2DA91AC412C7}" type="slidenum">
              <a:rPr lang="en-US" altLang="zh-CN"/>
              <a:t>204</a:t>
            </a:fld>
            <a:endParaRPr lang="en-US" altLang="zh-CN"/>
          </a:p>
        </p:txBody>
      </p:sp>
      <p:sp>
        <p:nvSpPr>
          <p:cNvPr id="845826" name="Rectangle 2"/>
          <p:cNvSpPr>
            <a:spLocks noGrp="1" noRot="1" noChangeAspect="1" noChangeArrowheads="1" noTextEdit="1"/>
          </p:cNvSpPr>
          <p:nvPr>
            <p:ph type="sldImg"/>
          </p:nvPr>
        </p:nvSpPr>
        <p:spPr/>
      </p:sp>
      <p:sp>
        <p:nvSpPr>
          <p:cNvPr id="8458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087CF62-2F55-4AF2-80B8-60D086A81311}" type="slidenum">
              <a:rPr lang="en-US" altLang="zh-CN"/>
              <a:t>205</a:t>
            </a:fld>
            <a:endParaRPr lang="en-US" altLang="zh-CN"/>
          </a:p>
        </p:txBody>
      </p:sp>
      <p:sp>
        <p:nvSpPr>
          <p:cNvPr id="846850" name="Rectangle 2"/>
          <p:cNvSpPr>
            <a:spLocks noGrp="1" noRot="1" noChangeAspect="1" noChangeArrowheads="1" noTextEdit="1"/>
          </p:cNvSpPr>
          <p:nvPr>
            <p:ph type="sldImg"/>
          </p:nvPr>
        </p:nvSpPr>
        <p:spPr/>
      </p:sp>
      <p:sp>
        <p:nvSpPr>
          <p:cNvPr id="8468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2E5837A-173E-410C-9815-03ADB1CCC55A}" type="slidenum">
              <a:rPr lang="en-US" altLang="zh-CN"/>
              <a:t>206</a:t>
            </a:fld>
            <a:endParaRPr lang="en-US" altLang="zh-CN"/>
          </a:p>
        </p:txBody>
      </p:sp>
      <p:sp>
        <p:nvSpPr>
          <p:cNvPr id="847874" name="Rectangle 2"/>
          <p:cNvSpPr>
            <a:spLocks noGrp="1" noRot="1" noChangeAspect="1" noChangeArrowheads="1" noTextEdit="1"/>
          </p:cNvSpPr>
          <p:nvPr>
            <p:ph type="sldImg"/>
          </p:nvPr>
        </p:nvSpPr>
        <p:spPr/>
      </p:sp>
      <p:sp>
        <p:nvSpPr>
          <p:cNvPr id="847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D6AA6F0-AA1B-4F02-BD00-3BBC2E494939}" type="slidenum">
              <a:rPr lang="en-US" altLang="zh-CN"/>
              <a:t>207</a:t>
            </a:fld>
            <a:endParaRPr lang="en-US" altLang="zh-CN"/>
          </a:p>
        </p:txBody>
      </p:sp>
      <p:sp>
        <p:nvSpPr>
          <p:cNvPr id="848898" name="Rectangle 2"/>
          <p:cNvSpPr>
            <a:spLocks noGrp="1" noRot="1" noChangeAspect="1" noChangeArrowheads="1" noTextEdit="1"/>
          </p:cNvSpPr>
          <p:nvPr>
            <p:ph type="sldImg"/>
          </p:nvPr>
        </p:nvSpPr>
        <p:spPr/>
      </p:sp>
      <p:sp>
        <p:nvSpPr>
          <p:cNvPr id="848899" name="Rectangle 3"/>
          <p:cNvSpPr>
            <a:spLocks noGrp="1" noChangeArrowheads="1"/>
          </p:cNvSpPr>
          <p:nvPr>
            <p:ph type="body" idx="1"/>
          </p:nvPr>
        </p:nvSpPr>
        <p:spPr/>
        <p:txBody>
          <a:bodyPr/>
          <a:lstStyle/>
          <a:p>
            <a:r>
              <a:rPr lang="zh-CN" altLang="en-US" dirty="0"/>
              <a:t>不同的链路（</a:t>
            </a:r>
            <a:r>
              <a:rPr lang="en-US" altLang="zh-CN" dirty="0"/>
              <a:t>1M</a:t>
            </a:r>
            <a:r>
              <a:rPr lang="zh-CN" altLang="en-US" dirty="0"/>
              <a:t>的。</a:t>
            </a:r>
            <a:r>
              <a:rPr lang="en-US" altLang="zh-CN" dirty="0"/>
              <a:t>512k</a:t>
            </a:r>
            <a:r>
              <a:rPr lang="zh-CN" altLang="en-US" dirty="0"/>
              <a:t>的等等，代价不一样）。。。 鉴别是不是某一个路由器发给我的，是不是伪造的</a:t>
            </a:r>
            <a:endParaRPr lang="zh-CN" altLang="zh-CN" dirty="0"/>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2560ABD-89DB-4FF7-86A0-489A213386C0}" type="slidenum">
              <a:rPr lang="en-US" altLang="zh-CN"/>
              <a:t>208</a:t>
            </a:fld>
            <a:endParaRPr lang="en-US" altLang="zh-CN"/>
          </a:p>
        </p:txBody>
      </p:sp>
      <p:sp>
        <p:nvSpPr>
          <p:cNvPr id="849922" name="Rectangle 2"/>
          <p:cNvSpPr>
            <a:spLocks noGrp="1" noRot="1" noChangeAspect="1" noChangeArrowheads="1" noTextEdit="1"/>
          </p:cNvSpPr>
          <p:nvPr>
            <p:ph type="sldImg"/>
          </p:nvPr>
        </p:nvSpPr>
        <p:spPr/>
      </p:sp>
      <p:sp>
        <p:nvSpPr>
          <p:cNvPr id="849923" name="Rectangle 3"/>
          <p:cNvSpPr>
            <a:spLocks noGrp="1" noChangeArrowheads="1"/>
          </p:cNvSpPr>
          <p:nvPr>
            <p:ph type="body" idx="1"/>
          </p:nvPr>
        </p:nvSpPr>
        <p:spPr/>
        <p:txBody>
          <a:bodyPr/>
          <a:lstStyle/>
          <a:p>
            <a:r>
              <a:rPr lang="zh-CN" altLang="en-US" dirty="0"/>
              <a:t>版本</a:t>
            </a:r>
            <a:r>
              <a:rPr lang="en-US" altLang="zh-CN" dirty="0"/>
              <a:t>=2</a:t>
            </a:r>
            <a:r>
              <a:rPr lang="zh-CN" altLang="en-US" dirty="0"/>
              <a:t>，类型在下一页，路由器标识符</a:t>
            </a:r>
            <a:r>
              <a:rPr lang="en-US" altLang="zh-CN" dirty="0"/>
              <a:t>=</a:t>
            </a:r>
            <a:r>
              <a:rPr lang="zh-CN" altLang="en-US" dirty="0"/>
              <a:t>路由器对应接口的</a:t>
            </a:r>
            <a:r>
              <a:rPr lang="en-US" altLang="zh-CN" dirty="0" err="1"/>
              <a:t>ip</a:t>
            </a:r>
            <a:endParaRPr lang="zh-CN" altLang="zh-CN" dirty="0"/>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B655749-84FF-464F-A831-E811DF3517DC}" type="slidenum">
              <a:rPr lang="en-US" altLang="zh-CN"/>
              <a:t>209</a:t>
            </a:fld>
            <a:endParaRPr lang="en-US" altLang="zh-CN"/>
          </a:p>
        </p:txBody>
      </p:sp>
      <p:sp>
        <p:nvSpPr>
          <p:cNvPr id="850946" name="Rectangle 2"/>
          <p:cNvSpPr>
            <a:spLocks noGrp="1" noRot="1" noChangeAspect="1" noChangeArrowheads="1" noTextEdit="1"/>
          </p:cNvSpPr>
          <p:nvPr>
            <p:ph type="sldImg"/>
          </p:nvPr>
        </p:nvSpPr>
        <p:spPr/>
      </p:sp>
      <p:sp>
        <p:nvSpPr>
          <p:cNvPr id="8509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3BD5117-A241-480C-B78A-11D91E81AF4E}" type="slidenum">
              <a:rPr lang="en-US" altLang="zh-CN"/>
              <a:t>210</a:t>
            </a:fld>
            <a:endParaRPr lang="en-US" altLang="zh-CN"/>
          </a:p>
        </p:txBody>
      </p:sp>
      <p:sp>
        <p:nvSpPr>
          <p:cNvPr id="851970" name="Rectangle 2"/>
          <p:cNvSpPr>
            <a:spLocks noGrp="1" noRot="1" noChangeAspect="1" noChangeArrowheads="1" noTextEdit="1"/>
          </p:cNvSpPr>
          <p:nvPr>
            <p:ph type="sldImg"/>
          </p:nvPr>
        </p:nvSpPr>
        <p:spPr/>
      </p:sp>
      <p:sp>
        <p:nvSpPr>
          <p:cNvPr id="851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F19AB98-4194-40ED-A7CA-D3CEEF3A169F}" type="slidenum">
              <a:rPr lang="en-US" altLang="zh-CN"/>
              <a:t>211</a:t>
            </a:fld>
            <a:endParaRPr lang="en-US" altLang="zh-CN"/>
          </a:p>
        </p:txBody>
      </p:sp>
      <p:sp>
        <p:nvSpPr>
          <p:cNvPr id="852994" name="Rectangle 2"/>
          <p:cNvSpPr>
            <a:spLocks noGrp="1" noRot="1" noChangeAspect="1" noChangeArrowheads="1" noTextEdit="1"/>
          </p:cNvSpPr>
          <p:nvPr>
            <p:ph type="sldImg"/>
          </p:nvPr>
        </p:nvSpPr>
        <p:spPr/>
      </p:sp>
      <p:sp>
        <p:nvSpPr>
          <p:cNvPr id="8529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D5861C9-FA6C-4C15-B0DA-FECC28817154}" type="slidenum">
              <a:rPr lang="en-US" altLang="zh-CN"/>
              <a:t>212</a:t>
            </a:fld>
            <a:endParaRPr lang="en-US" altLang="zh-CN"/>
          </a:p>
        </p:txBody>
      </p:sp>
      <p:sp>
        <p:nvSpPr>
          <p:cNvPr id="854018" name="Rectangle 2"/>
          <p:cNvSpPr>
            <a:spLocks noGrp="1" noRot="1" noChangeAspect="1" noChangeArrowheads="1" noTextEdit="1"/>
          </p:cNvSpPr>
          <p:nvPr>
            <p:ph type="sldImg"/>
          </p:nvPr>
        </p:nvSpPr>
        <p:spPr/>
      </p:sp>
      <p:sp>
        <p:nvSpPr>
          <p:cNvPr id="8540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3CB13F6-8427-46E6-85F6-504784CD9A4E}" type="slidenum">
              <a:rPr lang="en-US" altLang="zh-CN"/>
              <a:t>215</a:t>
            </a:fld>
            <a:endParaRPr lang="en-US" altLang="zh-CN"/>
          </a:p>
        </p:txBody>
      </p:sp>
      <p:sp>
        <p:nvSpPr>
          <p:cNvPr id="859138" name="Rectangle 2"/>
          <p:cNvSpPr>
            <a:spLocks noGrp="1" noRot="1" noChangeAspect="1" noChangeArrowheads="1" noTextEdit="1"/>
          </p:cNvSpPr>
          <p:nvPr>
            <p:ph type="sldImg"/>
          </p:nvPr>
        </p:nvSpPr>
        <p:spPr/>
      </p:sp>
      <p:sp>
        <p:nvSpPr>
          <p:cNvPr id="859139" name="Rectangle 3"/>
          <p:cNvSpPr>
            <a:spLocks noGrp="1" noChangeArrowheads="1"/>
          </p:cNvSpPr>
          <p:nvPr>
            <p:ph type="body" idx="1"/>
          </p:nvPr>
        </p:nvSpPr>
        <p:spPr/>
        <p:txBody>
          <a:bodyPr/>
          <a:lstStyle/>
          <a:p>
            <a:r>
              <a:rPr lang="en-US" altLang="zh-CN"/>
              <a:t>border gate protocol</a:t>
            </a: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C506D67-2AC5-4025-849A-378C4AEFA9CD}" type="slidenum">
              <a:rPr lang="en-US" altLang="zh-CN"/>
              <a:t>216</a:t>
            </a:fld>
            <a:endParaRPr lang="en-US" altLang="zh-CN"/>
          </a:p>
        </p:txBody>
      </p:sp>
      <p:sp>
        <p:nvSpPr>
          <p:cNvPr id="860162" name="Rectangle 2"/>
          <p:cNvSpPr>
            <a:spLocks noGrp="1" noRot="1" noChangeAspect="1" noChangeArrowheads="1" noTextEdit="1"/>
          </p:cNvSpPr>
          <p:nvPr>
            <p:ph type="sldImg"/>
          </p:nvPr>
        </p:nvSpPr>
        <p:spPr/>
      </p:sp>
      <p:sp>
        <p:nvSpPr>
          <p:cNvPr id="8601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4184C4C-2E32-4718-8117-2136A12BF9DB}" type="slidenum">
              <a:rPr lang="en-US" altLang="zh-CN"/>
              <a:t>217</a:t>
            </a:fld>
            <a:endParaRPr lang="en-US" altLang="zh-CN"/>
          </a:p>
        </p:txBody>
      </p:sp>
      <p:sp>
        <p:nvSpPr>
          <p:cNvPr id="861186" name="Rectangle 2"/>
          <p:cNvSpPr>
            <a:spLocks noGrp="1" noRot="1" noChangeAspect="1" noChangeArrowheads="1" noTextEdit="1"/>
          </p:cNvSpPr>
          <p:nvPr>
            <p:ph type="sldImg"/>
          </p:nvPr>
        </p:nvSpPr>
        <p:spPr/>
      </p:sp>
      <p:sp>
        <p:nvSpPr>
          <p:cNvPr id="8611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BC35F54-7A5A-4D76-AC15-7C7DC8CD6D84}" type="slidenum">
              <a:rPr lang="en-US" altLang="zh-CN"/>
              <a:t>218</a:t>
            </a:fld>
            <a:endParaRPr lang="en-US" altLang="zh-CN"/>
          </a:p>
        </p:txBody>
      </p:sp>
      <p:sp>
        <p:nvSpPr>
          <p:cNvPr id="862210" name="Rectangle 2"/>
          <p:cNvSpPr>
            <a:spLocks noGrp="1" noRot="1" noChangeAspect="1" noChangeArrowheads="1" noTextEdit="1"/>
          </p:cNvSpPr>
          <p:nvPr>
            <p:ph type="sldImg"/>
          </p:nvPr>
        </p:nvSpPr>
        <p:spPr/>
      </p:sp>
      <p:sp>
        <p:nvSpPr>
          <p:cNvPr id="862211" name="Rectangle 3"/>
          <p:cNvSpPr>
            <a:spLocks noGrp="1" noChangeArrowheads="1"/>
          </p:cNvSpPr>
          <p:nvPr>
            <p:ph type="body" idx="1"/>
          </p:nvPr>
        </p:nvSpPr>
        <p:spPr/>
        <p:txBody>
          <a:bodyPr/>
          <a:lstStyle/>
          <a:p>
            <a:r>
              <a:rPr lang="en-US" altLang="zh-CN" dirty="0"/>
              <a:t>BGP</a:t>
            </a:r>
            <a:r>
              <a:rPr lang="zh-CN" altLang="en-US" dirty="0"/>
              <a:t>点对点的可靠协议，简化路由选择</a:t>
            </a:r>
            <a:endParaRPr lang="zh-CN" altLang="zh-CN" dirty="0"/>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3C648EC-7337-4724-9FA9-BB4E7E1C3533}" type="slidenum">
              <a:rPr lang="en-US" altLang="zh-CN"/>
              <a:t>219</a:t>
            </a:fld>
            <a:endParaRPr lang="en-US" altLang="zh-CN"/>
          </a:p>
        </p:txBody>
      </p:sp>
      <p:sp>
        <p:nvSpPr>
          <p:cNvPr id="863234" name="Rectangle 2"/>
          <p:cNvSpPr>
            <a:spLocks noGrp="1" noRot="1" noChangeAspect="1" noChangeArrowheads="1" noTextEdit="1"/>
          </p:cNvSpPr>
          <p:nvPr>
            <p:ph type="sldImg"/>
          </p:nvPr>
        </p:nvSpPr>
        <p:spPr/>
      </p:sp>
      <p:sp>
        <p:nvSpPr>
          <p:cNvPr id="8632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D6FB15E-DADA-4125-886A-BB1CD7135961}" type="slidenum">
              <a:rPr lang="en-US" altLang="zh-CN"/>
              <a:t>220</a:t>
            </a:fld>
            <a:endParaRPr lang="en-US" altLang="zh-CN"/>
          </a:p>
        </p:txBody>
      </p:sp>
      <p:sp>
        <p:nvSpPr>
          <p:cNvPr id="864258" name="Rectangle 2"/>
          <p:cNvSpPr>
            <a:spLocks noGrp="1" noRot="1" noChangeAspect="1" noChangeArrowheads="1" noTextEdit="1"/>
          </p:cNvSpPr>
          <p:nvPr>
            <p:ph type="sldImg"/>
          </p:nvPr>
        </p:nvSpPr>
        <p:spPr/>
      </p:sp>
      <p:sp>
        <p:nvSpPr>
          <p:cNvPr id="864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AC8A220-B2C4-4B4B-B40C-AF10DEFF3D51}" type="slidenum">
              <a:rPr lang="en-US" altLang="zh-CN"/>
              <a:t>221</a:t>
            </a:fld>
            <a:endParaRPr lang="en-US" altLang="zh-CN"/>
          </a:p>
        </p:txBody>
      </p:sp>
      <p:sp>
        <p:nvSpPr>
          <p:cNvPr id="865282" name="Rectangle 2"/>
          <p:cNvSpPr>
            <a:spLocks noGrp="1" noRot="1" noChangeAspect="1" noChangeArrowheads="1" noTextEdit="1"/>
          </p:cNvSpPr>
          <p:nvPr>
            <p:ph type="sldImg"/>
          </p:nvPr>
        </p:nvSpPr>
        <p:spPr/>
      </p:sp>
      <p:sp>
        <p:nvSpPr>
          <p:cNvPr id="8652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D337C0E-1AE0-4739-932C-0174C8C7F068}" type="slidenum">
              <a:rPr lang="en-US" altLang="zh-CN"/>
              <a:t>222</a:t>
            </a:fld>
            <a:endParaRPr lang="en-US" altLang="zh-CN"/>
          </a:p>
        </p:txBody>
      </p:sp>
      <p:sp>
        <p:nvSpPr>
          <p:cNvPr id="866306" name="Rectangle 2"/>
          <p:cNvSpPr>
            <a:spLocks noGrp="1" noRot="1" noChangeAspect="1" noChangeArrowheads="1" noTextEdit="1"/>
          </p:cNvSpPr>
          <p:nvPr>
            <p:ph type="sldImg"/>
          </p:nvPr>
        </p:nvSpPr>
        <p:spPr/>
      </p:sp>
      <p:sp>
        <p:nvSpPr>
          <p:cNvPr id="8663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54EA9C-A597-456B-910B-E67B0A64E0CC}" type="slidenum">
              <a:rPr lang="en-US" altLang="zh-CN"/>
              <a:t>223</a:t>
            </a:fld>
            <a:endParaRPr lang="en-US" altLang="zh-CN"/>
          </a:p>
        </p:txBody>
      </p:sp>
      <p:sp>
        <p:nvSpPr>
          <p:cNvPr id="867330" name="Rectangle 2"/>
          <p:cNvSpPr>
            <a:spLocks noGrp="1" noRot="1" noChangeAspect="1" noChangeArrowheads="1" noTextEdit="1"/>
          </p:cNvSpPr>
          <p:nvPr>
            <p:ph type="sldImg"/>
          </p:nvPr>
        </p:nvSpPr>
        <p:spPr/>
      </p:sp>
      <p:sp>
        <p:nvSpPr>
          <p:cNvPr id="8673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B8ECDA35-1D32-44D1-8BAA-D8400C41E4D5}" type="slidenum">
              <a:rPr lang="en-US" altLang="zh-CN"/>
              <a:t>224</a:t>
            </a:fld>
            <a:endParaRPr lang="en-US" altLang="zh-CN"/>
          </a:p>
        </p:txBody>
      </p:sp>
      <p:sp>
        <p:nvSpPr>
          <p:cNvPr id="868354" name="Rectangle 2"/>
          <p:cNvSpPr>
            <a:spLocks noGrp="1" noRot="1" noChangeAspect="1" noChangeArrowheads="1" noTextEdit="1"/>
          </p:cNvSpPr>
          <p:nvPr>
            <p:ph type="sldImg"/>
          </p:nvPr>
        </p:nvSpPr>
        <p:spPr/>
      </p:sp>
      <p:sp>
        <p:nvSpPr>
          <p:cNvPr id="8683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0A392C8-E0F5-4C9D-8C8B-F2B85BAFF859}" type="slidenum">
              <a:rPr lang="en-US" altLang="zh-CN"/>
              <a:t>225</a:t>
            </a:fld>
            <a:endParaRPr lang="en-US" altLang="zh-CN"/>
          </a:p>
        </p:txBody>
      </p:sp>
      <p:sp>
        <p:nvSpPr>
          <p:cNvPr id="869378" name="Rectangle 2"/>
          <p:cNvSpPr>
            <a:spLocks noGrp="1" noRot="1" noChangeAspect="1" noChangeArrowheads="1" noTextEdit="1"/>
          </p:cNvSpPr>
          <p:nvPr>
            <p:ph type="sldImg"/>
          </p:nvPr>
        </p:nvSpPr>
        <p:spPr/>
      </p:sp>
      <p:sp>
        <p:nvSpPr>
          <p:cNvPr id="869379" name="Rectangle 3"/>
          <p:cNvSpPr>
            <a:spLocks noGrp="1" noChangeArrowheads="1"/>
          </p:cNvSpPr>
          <p:nvPr>
            <p:ph type="body" idx="1"/>
          </p:nvPr>
        </p:nvSpPr>
        <p:spPr/>
        <p:txBody>
          <a:bodyPr/>
          <a:lstStyle/>
          <a:p>
            <a:r>
              <a:rPr lang="zh-CN" altLang="en-US"/>
              <a:t>鉴别发来的报文</a:t>
            </a:r>
            <a:endParaRPr lang="zh-CN" altLang="zh-CN"/>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D8BB1B0-BFD7-4E0B-A011-778BDE3AABAE}" type="slidenum">
              <a:rPr lang="en-US" altLang="zh-CN"/>
              <a:t>226</a:t>
            </a:fld>
            <a:endParaRPr lang="en-US" altLang="zh-CN"/>
          </a:p>
        </p:txBody>
      </p:sp>
      <p:sp>
        <p:nvSpPr>
          <p:cNvPr id="870402" name="Rectangle 2"/>
          <p:cNvSpPr>
            <a:spLocks noGrp="1" noRot="1" noChangeAspect="1" noChangeArrowheads="1" noTextEdit="1"/>
          </p:cNvSpPr>
          <p:nvPr>
            <p:ph type="sldImg"/>
          </p:nvPr>
        </p:nvSpPr>
        <p:spPr/>
      </p:sp>
      <p:sp>
        <p:nvSpPr>
          <p:cNvPr id="8704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231</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C10F30A-C0FE-424B-A1DB-A3B33D0934F5}" type="slidenum">
              <a:rPr lang="en-US" altLang="zh-CN"/>
              <a:t>235</a:t>
            </a:fld>
            <a:endParaRPr lang="en-US" altLang="zh-CN"/>
          </a:p>
        </p:txBody>
      </p:sp>
      <p:sp>
        <p:nvSpPr>
          <p:cNvPr id="883714" name="Rectangle 2"/>
          <p:cNvSpPr>
            <a:spLocks noGrp="1" noRot="1" noChangeAspect="1" noChangeArrowheads="1" noTextEdit="1"/>
          </p:cNvSpPr>
          <p:nvPr>
            <p:ph type="sldImg"/>
          </p:nvPr>
        </p:nvSpPr>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C10F30A-C0FE-424B-A1DB-A3B33D0934F5}" type="slidenum">
              <a:rPr lang="en-US" altLang="zh-CN"/>
              <a:t>236</a:t>
            </a:fld>
            <a:endParaRPr lang="en-US" altLang="zh-CN"/>
          </a:p>
        </p:txBody>
      </p:sp>
      <p:sp>
        <p:nvSpPr>
          <p:cNvPr id="883714" name="Rectangle 2"/>
          <p:cNvSpPr>
            <a:spLocks noGrp="1" noRot="1" noChangeAspect="1" noChangeArrowheads="1" noTextEdit="1"/>
          </p:cNvSpPr>
          <p:nvPr>
            <p:ph type="sldImg"/>
          </p:nvPr>
        </p:nvSpPr>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C10F30A-C0FE-424B-A1DB-A3B33D0934F5}" type="slidenum">
              <a:rPr lang="en-US" altLang="zh-CN"/>
              <a:t>237</a:t>
            </a:fld>
            <a:endParaRPr lang="en-US" altLang="zh-CN"/>
          </a:p>
        </p:txBody>
      </p:sp>
      <p:sp>
        <p:nvSpPr>
          <p:cNvPr id="883714" name="Rectangle 2"/>
          <p:cNvSpPr>
            <a:spLocks noGrp="1" noRot="1" noChangeAspect="1" noChangeArrowheads="1" noTextEdit="1"/>
          </p:cNvSpPr>
          <p:nvPr>
            <p:ph type="sldImg"/>
          </p:nvPr>
        </p:nvSpPr>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8C10F30A-C0FE-424B-A1DB-A3B33D0934F5}" type="slidenum">
              <a:rPr lang="en-US" altLang="zh-CN"/>
              <a:t>238</a:t>
            </a:fld>
            <a:endParaRPr lang="en-US" altLang="zh-CN"/>
          </a:p>
        </p:txBody>
      </p:sp>
      <p:sp>
        <p:nvSpPr>
          <p:cNvPr id="883714" name="Rectangle 2"/>
          <p:cNvSpPr>
            <a:spLocks noGrp="1" noRot="1" noChangeAspect="1" noChangeArrowheads="1" noTextEdit="1"/>
          </p:cNvSpPr>
          <p:nvPr>
            <p:ph type="sldImg"/>
          </p:nvPr>
        </p:nvSpPr>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13E9E5E4-E9F0-4FB4-96F1-3F02F49F6C7D}" type="slidenum">
              <a:rPr lang="en-US" altLang="zh-CN"/>
              <a:t>239</a:t>
            </a:fld>
            <a:endParaRPr lang="en-US" altLang="zh-CN"/>
          </a:p>
        </p:txBody>
      </p:sp>
      <p:sp>
        <p:nvSpPr>
          <p:cNvPr id="884738" name="Rectangle 2"/>
          <p:cNvSpPr>
            <a:spLocks noGrp="1" noRot="1" noChangeAspect="1" noChangeArrowheads="1" noTextEdit="1"/>
          </p:cNvSpPr>
          <p:nvPr>
            <p:ph type="sldImg"/>
          </p:nvPr>
        </p:nvSpPr>
        <p:spPr/>
      </p:sp>
      <p:sp>
        <p:nvSpPr>
          <p:cNvPr id="8847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C73907F-6786-4362-B78D-FED619960788}" type="slidenum">
              <a:rPr lang="en-US" altLang="zh-CN"/>
              <a:t>240</a:t>
            </a:fld>
            <a:endParaRPr lang="en-US" altLang="zh-CN"/>
          </a:p>
        </p:txBody>
      </p:sp>
      <p:sp>
        <p:nvSpPr>
          <p:cNvPr id="885762" name="Rectangle 2"/>
          <p:cNvSpPr>
            <a:spLocks noGrp="1" noRot="1" noChangeAspect="1" noChangeArrowheads="1" noTextEdit="1"/>
          </p:cNvSpPr>
          <p:nvPr>
            <p:ph type="sldImg"/>
          </p:nvPr>
        </p:nvSpPr>
        <p:spPr/>
      </p:sp>
      <p:sp>
        <p:nvSpPr>
          <p:cNvPr id="8857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0C69918-442B-453B-BAC2-644FBFC5D4E3}" type="slidenum">
              <a:rPr lang="en-US" altLang="zh-CN"/>
              <a:t>241</a:t>
            </a:fld>
            <a:endParaRPr lang="en-US" altLang="zh-CN"/>
          </a:p>
        </p:txBody>
      </p:sp>
      <p:sp>
        <p:nvSpPr>
          <p:cNvPr id="886786" name="Rectangle 2"/>
          <p:cNvSpPr>
            <a:spLocks noGrp="1" noRot="1" noChangeAspect="1" noChangeArrowheads="1" noTextEdit="1"/>
          </p:cNvSpPr>
          <p:nvPr>
            <p:ph type="sldImg"/>
          </p:nvPr>
        </p:nvSpPr>
        <p:spPr/>
      </p:sp>
      <p:sp>
        <p:nvSpPr>
          <p:cNvPr id="8867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02E4CFA-B43A-4005-AA1D-8FFD9997318C}" type="slidenum">
              <a:rPr lang="en-US" altLang="zh-CN"/>
              <a:t>243</a:t>
            </a:fld>
            <a:endParaRPr lang="en-US" altLang="zh-CN"/>
          </a:p>
        </p:txBody>
      </p:sp>
      <p:sp>
        <p:nvSpPr>
          <p:cNvPr id="887810" name="Rectangle 2"/>
          <p:cNvSpPr>
            <a:spLocks noGrp="1" noRot="1" noChangeAspect="1" noChangeArrowheads="1" noTextEdit="1"/>
          </p:cNvSpPr>
          <p:nvPr>
            <p:ph type="sldImg"/>
          </p:nvPr>
        </p:nvSpPr>
        <p:spPr/>
      </p:sp>
      <p:sp>
        <p:nvSpPr>
          <p:cNvPr id="887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02E4CFA-B43A-4005-AA1D-8FFD9997318C}" type="slidenum">
              <a:rPr lang="en-US" altLang="zh-CN"/>
              <a:t>244</a:t>
            </a:fld>
            <a:endParaRPr lang="en-US" altLang="zh-CN"/>
          </a:p>
        </p:txBody>
      </p:sp>
      <p:sp>
        <p:nvSpPr>
          <p:cNvPr id="887810" name="Rectangle 2"/>
          <p:cNvSpPr>
            <a:spLocks noGrp="1" noRot="1" noChangeAspect="1" noChangeArrowheads="1" noTextEdit="1"/>
          </p:cNvSpPr>
          <p:nvPr>
            <p:ph type="sldImg"/>
          </p:nvPr>
        </p:nvSpPr>
        <p:spPr/>
      </p:sp>
      <p:sp>
        <p:nvSpPr>
          <p:cNvPr id="887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3279857-3A84-4C58-9A56-25DD549F0230}" type="slidenum">
              <a:rPr lang="en-US" altLang="zh-CN"/>
              <a:t>245</a:t>
            </a:fld>
            <a:endParaRPr lang="en-US" altLang="zh-CN"/>
          </a:p>
        </p:txBody>
      </p:sp>
      <p:sp>
        <p:nvSpPr>
          <p:cNvPr id="888834" name="Rectangle 2"/>
          <p:cNvSpPr>
            <a:spLocks noGrp="1" noRot="1" noChangeAspect="1" noChangeArrowheads="1" noTextEdit="1"/>
          </p:cNvSpPr>
          <p:nvPr>
            <p:ph type="sldImg"/>
          </p:nvPr>
        </p:nvSpPr>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3279857-3A84-4C58-9A56-25DD549F0230}" type="slidenum">
              <a:rPr lang="en-US" altLang="zh-CN"/>
              <a:t>246</a:t>
            </a:fld>
            <a:endParaRPr lang="en-US" altLang="zh-CN"/>
          </a:p>
        </p:txBody>
      </p:sp>
      <p:sp>
        <p:nvSpPr>
          <p:cNvPr id="888834" name="Rectangle 2"/>
          <p:cNvSpPr>
            <a:spLocks noGrp="1" noRot="1" noChangeAspect="1" noChangeArrowheads="1" noTextEdit="1"/>
          </p:cNvSpPr>
          <p:nvPr>
            <p:ph type="sldImg"/>
          </p:nvPr>
        </p:nvSpPr>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3279857-3A84-4C58-9A56-25DD549F0230}" type="slidenum">
              <a:rPr lang="en-US" altLang="zh-CN"/>
              <a:t>247</a:t>
            </a:fld>
            <a:endParaRPr lang="en-US" altLang="zh-CN"/>
          </a:p>
        </p:txBody>
      </p:sp>
      <p:sp>
        <p:nvSpPr>
          <p:cNvPr id="888834" name="Rectangle 2"/>
          <p:cNvSpPr>
            <a:spLocks noGrp="1" noRot="1" noChangeAspect="1" noChangeArrowheads="1" noTextEdit="1"/>
          </p:cNvSpPr>
          <p:nvPr>
            <p:ph type="sldImg"/>
          </p:nvPr>
        </p:nvSpPr>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254</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r>
              <a:rPr lang="zh-CN" altLang="en-US" dirty="0"/>
              <a:t>面向连接和无连接的主要考虑角度不同。讨论的就是到底谁来负责网络的可靠性，是主机还是传输的网络。</a:t>
            </a:r>
            <a:endParaRPr lang="zh-CN" altLang="zh-CN" dirty="0"/>
          </a:p>
        </p:txBody>
      </p:sp>
    </p:spTree>
    <p:extLst>
      <p:ext uri="{BB962C8B-B14F-4D97-AF65-F5344CB8AC3E}">
        <p14:creationId xmlns:p14="http://schemas.microsoft.com/office/powerpoint/2010/main" val="264603863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598E436-7411-43AC-AFCD-51F868C30DF1}" type="slidenum">
              <a:rPr lang="en-US" altLang="zh-CN"/>
              <a:t>255</a:t>
            </a:fld>
            <a:endParaRPr lang="en-US" altLang="zh-CN"/>
          </a:p>
        </p:txBody>
      </p:sp>
      <p:sp>
        <p:nvSpPr>
          <p:cNvPr id="936962" name="Rectangle 2"/>
          <p:cNvSpPr>
            <a:spLocks noGrp="1" noRot="1" noChangeAspect="1" noChangeArrowheads="1" noTextEdit="1"/>
          </p:cNvSpPr>
          <p:nvPr>
            <p:ph type="sldImg"/>
          </p:nvPr>
        </p:nvSpPr>
        <p:spPr/>
      </p:sp>
      <p:sp>
        <p:nvSpPr>
          <p:cNvPr id="936963" name="Rectangle 3"/>
          <p:cNvSpPr>
            <a:spLocks noGrp="1" noChangeArrowheads="1"/>
          </p:cNvSpPr>
          <p:nvPr>
            <p:ph type="body" idx="1"/>
          </p:nvPr>
        </p:nvSpPr>
        <p:spPr/>
        <p:txBody>
          <a:bodyPr/>
          <a:lstStyle/>
          <a:p>
            <a:r>
              <a:rPr lang="zh-CN" altLang="en-US" dirty="0"/>
              <a:t>第一种就是参照电路连接，也是建立一条链路，但是是一种无形的虚电路，叫做虚电路</a:t>
            </a:r>
            <a:endParaRPr lang="zh-CN" altLang="zh-CN" dirty="0"/>
          </a:p>
        </p:txBody>
      </p:sp>
    </p:spTree>
    <p:extLst>
      <p:ext uri="{BB962C8B-B14F-4D97-AF65-F5344CB8AC3E}">
        <p14:creationId xmlns:p14="http://schemas.microsoft.com/office/powerpoint/2010/main" val="106304976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20F19DF-9530-4BF9-9A7B-1284D1693B95}" type="slidenum">
              <a:rPr lang="en-US" altLang="zh-CN"/>
              <a:t>256</a:t>
            </a:fld>
            <a:endParaRPr lang="en-US" altLang="zh-CN"/>
          </a:p>
        </p:txBody>
      </p:sp>
      <p:sp>
        <p:nvSpPr>
          <p:cNvPr id="937986" name="Rectangle 2"/>
          <p:cNvSpPr>
            <a:spLocks noGrp="1" noRot="1" noChangeAspect="1" noChangeArrowheads="1" noTextEdit="1"/>
          </p:cNvSpPr>
          <p:nvPr>
            <p:ph type="sldImg"/>
          </p:nvPr>
        </p:nvSpPr>
        <p:spPr/>
      </p:sp>
      <p:sp>
        <p:nvSpPr>
          <p:cNvPr id="93798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9759690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27119DD-5ADD-487A-8C2A-9D71D3664BD0}" type="slidenum">
              <a:rPr lang="en-US" altLang="zh-CN"/>
              <a:t>257</a:t>
            </a:fld>
            <a:endParaRPr lang="en-US" altLang="zh-CN"/>
          </a:p>
        </p:txBody>
      </p:sp>
      <p:sp>
        <p:nvSpPr>
          <p:cNvPr id="941058" name="Rectangle 2"/>
          <p:cNvSpPr>
            <a:spLocks noGrp="1" noRot="1" noChangeAspect="1" noChangeArrowheads="1" noTextEdit="1"/>
          </p:cNvSpPr>
          <p:nvPr>
            <p:ph type="sldImg"/>
          </p:nvPr>
        </p:nvSpPr>
        <p:spPr/>
      </p:sp>
      <p:sp>
        <p:nvSpPr>
          <p:cNvPr id="94105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14815845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27CFD8B-AAA5-42B2-8F60-674FF82D1440}" type="slidenum">
              <a:rPr lang="en-US" altLang="zh-CN"/>
              <a:t>262</a:t>
            </a:fld>
            <a:endParaRPr lang="en-US" altLang="zh-CN"/>
          </a:p>
        </p:txBody>
      </p:sp>
      <p:sp>
        <p:nvSpPr>
          <p:cNvPr id="942082" name="Rectangle 2"/>
          <p:cNvSpPr>
            <a:spLocks noGrp="1" noRot="1" noChangeAspect="1" noChangeArrowheads="1" noTextEdit="1"/>
          </p:cNvSpPr>
          <p:nvPr>
            <p:ph type="sldImg"/>
          </p:nvPr>
        </p:nvSpPr>
        <p:spPr/>
      </p:sp>
      <p:sp>
        <p:nvSpPr>
          <p:cNvPr id="942083" name="Rectangle 3"/>
          <p:cNvSpPr>
            <a:spLocks noGrp="1" noChangeArrowheads="1"/>
          </p:cNvSpPr>
          <p:nvPr>
            <p:ph type="body" idx="1"/>
          </p:nvPr>
        </p:nvSpPr>
        <p:spPr/>
        <p:txBody>
          <a:bodyPr/>
          <a:lstStyle/>
          <a:p>
            <a:r>
              <a:rPr lang="zh-CN" altLang="en-US" dirty="0"/>
              <a:t>各发各的，至于怎么拼接由上层决定</a:t>
            </a:r>
            <a:endParaRPr lang="zh-CN" altLang="zh-CN" dirty="0"/>
          </a:p>
        </p:txBody>
      </p:sp>
    </p:spTree>
    <p:extLst>
      <p:ext uri="{BB962C8B-B14F-4D97-AF65-F5344CB8AC3E}">
        <p14:creationId xmlns:p14="http://schemas.microsoft.com/office/powerpoint/2010/main" val="3864402337"/>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B2EEAAF-9746-4A21-AFDB-8EDB16962191}" type="slidenum">
              <a:rPr lang="en-US" altLang="zh-CN"/>
              <a:t>263</a:t>
            </a:fld>
            <a:endParaRPr lang="en-US" altLang="zh-CN"/>
          </a:p>
        </p:txBody>
      </p:sp>
      <p:sp>
        <p:nvSpPr>
          <p:cNvPr id="944130" name="Rectangle 2"/>
          <p:cNvSpPr>
            <a:spLocks noGrp="1" noRot="1" noChangeAspect="1" noChangeArrowheads="1" noTextEdit="1"/>
          </p:cNvSpPr>
          <p:nvPr>
            <p:ph type="sldImg"/>
          </p:nvPr>
        </p:nvSpPr>
        <p:spPr/>
      </p:sp>
      <p:sp>
        <p:nvSpPr>
          <p:cNvPr id="944131" name="Rectangle 3"/>
          <p:cNvSpPr>
            <a:spLocks noGrp="1" noChangeArrowheads="1"/>
          </p:cNvSpPr>
          <p:nvPr>
            <p:ph type="body" idx="1"/>
          </p:nvPr>
        </p:nvSpPr>
        <p:spPr/>
        <p:txBody>
          <a:bodyPr/>
          <a:lstStyle/>
          <a:p>
            <a:r>
              <a:rPr lang="zh-CN" altLang="en-US" dirty="0"/>
              <a:t>那我们到了运输层还需要网上推么？显然不能了，再推就没得推了   是不是都用的尽最大努力交付？</a:t>
            </a:r>
            <a:endParaRPr lang="zh-CN" altLang="zh-CN" dirty="0"/>
          </a:p>
        </p:txBody>
      </p:sp>
    </p:spTree>
    <p:extLst>
      <p:ext uri="{BB962C8B-B14F-4D97-AF65-F5344CB8AC3E}">
        <p14:creationId xmlns:p14="http://schemas.microsoft.com/office/powerpoint/2010/main" val="200407052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577F4EA-EB7D-450E-9B34-952ABA84ABAA}" type="slidenum">
              <a:rPr lang="en-US" altLang="zh-CN"/>
              <a:t>264</a:t>
            </a:fld>
            <a:endParaRPr lang="en-US" altLang="zh-CN"/>
          </a:p>
        </p:txBody>
      </p:sp>
      <p:sp>
        <p:nvSpPr>
          <p:cNvPr id="946178" name="Rectangle 2"/>
          <p:cNvSpPr>
            <a:spLocks noGrp="1" noRot="1" noChangeAspect="1" noChangeArrowheads="1" noTextEdit="1"/>
          </p:cNvSpPr>
          <p:nvPr>
            <p:ph type="sldImg"/>
          </p:nvPr>
        </p:nvSpPr>
        <p:spPr/>
      </p:sp>
      <p:sp>
        <p:nvSpPr>
          <p:cNvPr id="94617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124503905"/>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26A7CE71-09BB-4E35-9255-5CB971AC7444}" type="slidenum">
              <a:rPr lang="en-US" altLang="zh-CN"/>
              <a:t>265</a:t>
            </a:fld>
            <a:endParaRPr lang="en-US" altLang="zh-CN"/>
          </a:p>
        </p:txBody>
      </p:sp>
      <p:sp>
        <p:nvSpPr>
          <p:cNvPr id="948226" name="Rectangle 2"/>
          <p:cNvSpPr>
            <a:spLocks noGrp="1" noRot="1" noChangeAspect="1" noChangeArrowheads="1" noTextEdit="1"/>
          </p:cNvSpPr>
          <p:nvPr>
            <p:ph type="sldImg"/>
          </p:nvPr>
        </p:nvSpPr>
        <p:spPr/>
      </p:sp>
      <p:sp>
        <p:nvSpPr>
          <p:cNvPr id="94822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092369822"/>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9AD2D9CB-01EE-47AE-8C6B-2DCB5BA06C7B}" type="slidenum">
              <a:rPr lang="en-US" altLang="zh-CN"/>
              <a:t>266</a:t>
            </a:fld>
            <a:endParaRPr lang="en-US" altLang="zh-CN"/>
          </a:p>
        </p:txBody>
      </p:sp>
      <p:sp>
        <p:nvSpPr>
          <p:cNvPr id="684034" name="Rectangle 2"/>
          <p:cNvSpPr>
            <a:spLocks noGrp="1" noRot="1" noChangeAspect="1" noChangeArrowheads="1" noTextEdit="1"/>
          </p:cNvSpPr>
          <p:nvPr>
            <p:ph type="sldImg"/>
          </p:nvPr>
        </p:nvSpPr>
        <p:spPr/>
      </p:sp>
      <p:sp>
        <p:nvSpPr>
          <p:cNvPr id="684035" name="Rectangle 3"/>
          <p:cNvSpPr>
            <a:spLocks noGrp="1" noChangeArrowheads="1"/>
          </p:cNvSpPr>
          <p:nvPr>
            <p:ph type="body" idx="1"/>
          </p:nvPr>
        </p:nvSpPr>
        <p:spPr/>
        <p:txBody>
          <a:bodyPr/>
          <a:lstStyle/>
          <a:p>
            <a:r>
              <a:rPr lang="zh-CN" altLang="en-US" dirty="0"/>
              <a:t>卫星通信    地面微波通信     无线通信  有线通信</a:t>
            </a:r>
            <a:endParaRPr lang="zh-CN" altLang="zh-CN" dirty="0"/>
          </a:p>
        </p:txBody>
      </p:sp>
    </p:spTree>
    <p:extLst>
      <p:ext uri="{BB962C8B-B14F-4D97-AF65-F5344CB8AC3E}">
        <p14:creationId xmlns:p14="http://schemas.microsoft.com/office/powerpoint/2010/main" val="75857040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0F05A3CA-4906-47B0-B299-861D534F74E5}" type="slidenum">
              <a:rPr lang="en-US" altLang="zh-CN"/>
              <a:t>267</a:t>
            </a:fld>
            <a:endParaRPr lang="en-US" altLang="zh-CN"/>
          </a:p>
        </p:txBody>
      </p:sp>
      <p:sp>
        <p:nvSpPr>
          <p:cNvPr id="685058" name="Rectangle 2"/>
          <p:cNvSpPr>
            <a:spLocks noGrp="1" noRot="1" noChangeAspect="1" noChangeArrowheads="1" noTextEdit="1"/>
          </p:cNvSpPr>
          <p:nvPr>
            <p:ph type="sldImg"/>
          </p:nvPr>
        </p:nvSpPr>
        <p:spPr/>
      </p:sp>
      <p:sp>
        <p:nvSpPr>
          <p:cNvPr id="685059" name="Rectangle 3"/>
          <p:cNvSpPr>
            <a:spLocks noGrp="1" noChangeArrowheads="1"/>
          </p:cNvSpPr>
          <p:nvPr>
            <p:ph type="body" idx="1"/>
          </p:nvPr>
        </p:nvSpPr>
        <p:spPr/>
        <p:txBody>
          <a:bodyPr/>
          <a:lstStyle/>
          <a:p>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中继器（</a:t>
            </a:r>
            <a:r>
              <a:rPr lang="en-US" altLang="zh-CN" sz="1200" b="0" i="0" u="none" strike="noStrike" kern="1200" dirty="0">
                <a:solidFill>
                  <a:schemeClr val="tx1"/>
                </a:solidFill>
                <a:effectLst/>
                <a:latin typeface="宋体" panose="02010600030101010101" pitchFamily="2" charset="-122"/>
                <a:ea typeface="宋体" panose="02010600030101010101" pitchFamily="2" charset="-122"/>
                <a:cs typeface="+mn-cs"/>
              </a:rPr>
              <a:t>RP repeater</a:t>
            </a:r>
            <a:r>
              <a:rPr lang="zh-CN" altLang="en-US" sz="1200" b="0" i="0" u="none" strike="noStrike" kern="1200" dirty="0">
                <a:solidFill>
                  <a:schemeClr val="tx1"/>
                </a:solidFill>
                <a:effectLst/>
                <a:latin typeface="宋体" panose="02010600030101010101" pitchFamily="2" charset="-122"/>
                <a:ea typeface="宋体" panose="02010600030101010101" pitchFamily="2" charset="-122"/>
                <a:cs typeface="+mn-cs"/>
              </a:rPr>
              <a:t>）是工作在物理层上的连接设备。适用于完全相同的两类网络的互连，主要功能是通过对数据信号的重新发送或者转发，来扩大网络传输的距离。</a:t>
            </a:r>
            <a:endParaRPr lang="zh-CN" altLang="zh-CN" dirty="0"/>
          </a:p>
        </p:txBody>
      </p:sp>
    </p:spTree>
    <p:extLst>
      <p:ext uri="{BB962C8B-B14F-4D97-AF65-F5344CB8AC3E}">
        <p14:creationId xmlns:p14="http://schemas.microsoft.com/office/powerpoint/2010/main" val="3821193980"/>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EA0CC06B-C195-4110-BBDD-CC41AE4B9711}" type="slidenum">
              <a:rPr lang="en-US" altLang="zh-CN"/>
              <a:t>268</a:t>
            </a:fld>
            <a:endParaRPr lang="en-US" altLang="zh-CN"/>
          </a:p>
        </p:txBody>
      </p:sp>
      <p:sp>
        <p:nvSpPr>
          <p:cNvPr id="686082" name="Rectangle 2"/>
          <p:cNvSpPr>
            <a:spLocks noGrp="1" noRot="1" noChangeAspect="1" noChangeArrowheads="1" noTextEdit="1"/>
          </p:cNvSpPr>
          <p:nvPr>
            <p:ph type="sldImg"/>
          </p:nvPr>
        </p:nvSpPr>
        <p:spPr/>
      </p:sp>
      <p:sp>
        <p:nvSpPr>
          <p:cNvPr id="686083" name="Rectangle 3"/>
          <p:cNvSpPr>
            <a:spLocks noGrp="1" noChangeArrowheads="1"/>
          </p:cNvSpPr>
          <p:nvPr>
            <p:ph type="body" idx="1"/>
          </p:nvPr>
        </p:nvSpPr>
        <p:spPr/>
        <p:txBody>
          <a:bodyPr/>
          <a:lstStyle/>
          <a:p>
            <a:r>
              <a:rPr lang="zh-CN" altLang="en-US" dirty="0"/>
              <a:t>网关是一个概念，而路由器是一个实体    网关是主要表示，我们的内网如果要进入外网的时候我们需要经过一个交通警察，这个交通警察也可以叫做网关。</a:t>
            </a:r>
            <a:endParaRPr lang="en-US" altLang="zh-CN" dirty="0"/>
          </a:p>
          <a:p>
            <a:endParaRPr lang="zh-CN" altLang="zh-CN" dirty="0"/>
          </a:p>
        </p:txBody>
      </p:sp>
    </p:spTree>
    <p:extLst>
      <p:ext uri="{BB962C8B-B14F-4D97-AF65-F5344CB8AC3E}">
        <p14:creationId xmlns:p14="http://schemas.microsoft.com/office/powerpoint/2010/main" val="85217787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ED89B19-15FF-4323-A679-71274F8177B0}" type="slidenum">
              <a:rPr lang="en-US" altLang="zh-CN"/>
              <a:t>269</a:t>
            </a:fld>
            <a:endParaRPr lang="en-US" altLang="zh-CN"/>
          </a:p>
        </p:txBody>
      </p:sp>
      <p:sp>
        <p:nvSpPr>
          <p:cNvPr id="687106" name="Rectangle 2"/>
          <p:cNvSpPr>
            <a:spLocks noGrp="1" noRot="1" noChangeAspect="1" noChangeArrowheads="1" noTextEdit="1"/>
          </p:cNvSpPr>
          <p:nvPr>
            <p:ph type="sldImg"/>
          </p:nvPr>
        </p:nvSpPr>
        <p:spPr/>
      </p:sp>
      <p:sp>
        <p:nvSpPr>
          <p:cNvPr id="68710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962708815"/>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3058780-E170-4550-9F53-2DA4DDEE8172}" type="slidenum">
              <a:rPr lang="en-US" altLang="zh-CN"/>
              <a:t>270</a:t>
            </a:fld>
            <a:endParaRPr lang="en-US" altLang="zh-CN"/>
          </a:p>
        </p:txBody>
      </p:sp>
      <p:sp>
        <p:nvSpPr>
          <p:cNvPr id="688130" name="Rectangle 2"/>
          <p:cNvSpPr>
            <a:spLocks noGrp="1" noRot="1" noChangeAspect="1" noChangeArrowheads="1" noTextEdit="1"/>
          </p:cNvSpPr>
          <p:nvPr>
            <p:ph type="sldImg"/>
          </p:nvPr>
        </p:nvSpPr>
        <p:spPr/>
      </p:sp>
      <p:sp>
        <p:nvSpPr>
          <p:cNvPr id="688131" name="Rectangle 3"/>
          <p:cNvSpPr>
            <a:spLocks noGrp="1" noChangeArrowheads="1"/>
          </p:cNvSpPr>
          <p:nvPr>
            <p:ph type="body" idx="1"/>
          </p:nvPr>
        </p:nvSpPr>
        <p:spPr/>
        <p:txBody>
          <a:bodyPr/>
          <a:lstStyle/>
          <a:p>
            <a:r>
              <a:rPr lang="zh-CN" altLang="en-US" dirty="0"/>
              <a:t>虽然各个网络的结构是异构的，但是我们使用了</a:t>
            </a:r>
            <a:r>
              <a:rPr lang="en-US" altLang="zh-CN" dirty="0" err="1"/>
              <a:t>ip</a:t>
            </a:r>
            <a:r>
              <a:rPr lang="zh-CN" altLang="en-US" dirty="0"/>
              <a:t>协议是我们的网络看起来是统一的。</a:t>
            </a:r>
            <a:endParaRPr lang="zh-CN" altLang="zh-CN" dirty="0"/>
          </a:p>
        </p:txBody>
      </p:sp>
    </p:spTree>
    <p:extLst>
      <p:ext uri="{BB962C8B-B14F-4D97-AF65-F5344CB8AC3E}">
        <p14:creationId xmlns:p14="http://schemas.microsoft.com/office/powerpoint/2010/main" val="1890191535"/>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8DA2099C-E03D-4BEA-80BD-EC59252D8E32}" type="slidenum">
              <a:rPr lang="zh-CN" altLang="en-US" smtClean="0"/>
              <a:t>271</a:t>
            </a:fld>
            <a:endParaRPr lang="en-US" altLang="zh-CN"/>
          </a:p>
        </p:txBody>
      </p:sp>
    </p:spTree>
    <p:extLst>
      <p:ext uri="{BB962C8B-B14F-4D97-AF65-F5344CB8AC3E}">
        <p14:creationId xmlns:p14="http://schemas.microsoft.com/office/powerpoint/2010/main" val="33441622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273</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34048878"/>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F7086A1-AA6B-4540-9AEA-06C3FCB8888D}" type="slidenum">
              <a:rPr lang="en-US" altLang="zh-CN"/>
              <a:t>274</a:t>
            </a:fld>
            <a:endParaRPr lang="en-US" altLang="zh-CN"/>
          </a:p>
        </p:txBody>
      </p:sp>
      <p:sp>
        <p:nvSpPr>
          <p:cNvPr id="935938" name="Rectangle 2"/>
          <p:cNvSpPr>
            <a:spLocks noGrp="1" noRot="1" noChangeAspect="1" noChangeArrowheads="1" noTextEdit="1"/>
          </p:cNvSpPr>
          <p:nvPr>
            <p:ph type="sldImg"/>
          </p:nvPr>
        </p:nvSpPr>
        <p:spPr/>
      </p:sp>
      <p:sp>
        <p:nvSpPr>
          <p:cNvPr id="93593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19097928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en-US" altLang="zh-CN"/>
              <a:t>ipv4</a:t>
            </a:r>
            <a:r>
              <a:rPr lang="zh-CN" altLang="en-US"/>
              <a:t>如果没有</a:t>
            </a:r>
            <a:r>
              <a:rPr lang="en-US" altLang="zh-CN"/>
              <a:t>dhcp</a:t>
            </a:r>
            <a:r>
              <a:rPr lang="zh-CN" altLang="en-US"/>
              <a:t>，他会给你配一个</a:t>
            </a:r>
            <a:r>
              <a:rPr lang="en-US" altLang="zh-CN"/>
              <a:t>169</a:t>
            </a:r>
            <a:r>
              <a:rPr lang="zh-CN" altLang="en-US"/>
              <a:t>开头的地址</a:t>
            </a:r>
          </a:p>
        </p:txBody>
      </p:sp>
    </p:spTree>
    <p:extLst>
      <p:ext uri="{BB962C8B-B14F-4D97-AF65-F5344CB8AC3E}">
        <p14:creationId xmlns:p14="http://schemas.microsoft.com/office/powerpoint/2010/main" val="360381275"/>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FDE81ED5-CC5D-4017-B9F7-E5DF6E95A9BC}" type="slidenum">
              <a:rPr lang="en-US" altLang="zh-CN"/>
              <a:t>278</a:t>
            </a:fld>
            <a:endParaRPr lang="en-US" altLang="zh-CN"/>
          </a:p>
        </p:txBody>
      </p:sp>
      <p:sp>
        <p:nvSpPr>
          <p:cNvPr id="891906" name="Rectangle 2"/>
          <p:cNvSpPr>
            <a:spLocks noGrp="1" noRot="1" noChangeAspect="1" noChangeArrowheads="1" noTextEdit="1"/>
          </p:cNvSpPr>
          <p:nvPr>
            <p:ph type="sldImg"/>
          </p:nvPr>
        </p:nvSpPr>
        <p:spPr/>
      </p:sp>
      <p:sp>
        <p:nvSpPr>
          <p:cNvPr id="891907" name="Rectangle 3"/>
          <p:cNvSpPr>
            <a:spLocks noGrp="1" noChangeArrowheads="1"/>
          </p:cNvSpPr>
          <p:nvPr>
            <p:ph type="body" idx="1"/>
          </p:nvPr>
        </p:nvSpPr>
        <p:spPr/>
        <p:txBody>
          <a:bodyPr/>
          <a:lstStyle/>
          <a:p>
            <a:r>
              <a:rPr lang="zh-CN" altLang="en-US" dirty="0"/>
              <a:t>首部里没有可选项  放到扩展首部</a:t>
            </a:r>
            <a:endParaRPr lang="zh-CN" altLang="zh-CN" dirty="0"/>
          </a:p>
        </p:txBody>
      </p:sp>
    </p:spTree>
    <p:extLst>
      <p:ext uri="{BB962C8B-B14F-4D97-AF65-F5344CB8AC3E}">
        <p14:creationId xmlns:p14="http://schemas.microsoft.com/office/powerpoint/2010/main" val="98156930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6EB2044E-5CC5-4338-875A-0785EB15B845}" type="slidenum">
              <a:rPr lang="en-US" altLang="zh-CN"/>
              <a:t>279</a:t>
            </a:fld>
            <a:endParaRPr lang="en-US" altLang="zh-CN"/>
          </a:p>
        </p:txBody>
      </p:sp>
      <p:sp>
        <p:nvSpPr>
          <p:cNvPr id="736258" name="Rectangle 2"/>
          <p:cNvSpPr>
            <a:spLocks noGrp="1" noRot="1" noChangeAspect="1" noChangeArrowheads="1" noTextEdit="1"/>
          </p:cNvSpPr>
          <p:nvPr>
            <p:ph type="sldImg"/>
          </p:nvPr>
        </p:nvSpPr>
        <p:spPr/>
      </p:sp>
      <p:sp>
        <p:nvSpPr>
          <p:cNvPr id="736259" name="Rectangle 3"/>
          <p:cNvSpPr>
            <a:spLocks noGrp="1" noChangeArrowheads="1"/>
          </p:cNvSpPr>
          <p:nvPr>
            <p:ph type="body" idx="1"/>
          </p:nvPr>
        </p:nvSpPr>
        <p:spPr/>
        <p:txBody>
          <a:bodyPr/>
          <a:lstStyle/>
          <a:p>
            <a:endParaRPr lang="zh-CN" altLang="zh-CN" dirty="0"/>
          </a:p>
        </p:txBody>
      </p:sp>
    </p:spTree>
    <p:extLst>
      <p:ext uri="{BB962C8B-B14F-4D97-AF65-F5344CB8AC3E}">
        <p14:creationId xmlns:p14="http://schemas.microsoft.com/office/powerpoint/2010/main" val="397377739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扩展首部</a:t>
            </a:r>
          </a:p>
        </p:txBody>
      </p:sp>
      <p:sp>
        <p:nvSpPr>
          <p:cNvPr id="4" name="灯片编号占位符 3"/>
          <p:cNvSpPr>
            <a:spLocks noGrp="1"/>
          </p:cNvSpPr>
          <p:nvPr>
            <p:ph type="sldNum" sz="quarter" idx="5"/>
          </p:nvPr>
        </p:nvSpPr>
        <p:spPr/>
        <p:txBody>
          <a:bodyPr/>
          <a:lstStyle/>
          <a:p>
            <a:fld id="{8DA2099C-E03D-4BEA-80BD-EC59252D8E32}" type="slidenum">
              <a:rPr lang="zh-CN" altLang="en-US" smtClean="0"/>
              <a:t>285</a:t>
            </a:fld>
            <a:endParaRPr lang="en-US" altLang="zh-CN"/>
          </a:p>
        </p:txBody>
      </p:sp>
    </p:spTree>
    <p:extLst>
      <p:ext uri="{BB962C8B-B14F-4D97-AF65-F5344CB8AC3E}">
        <p14:creationId xmlns:p14="http://schemas.microsoft.com/office/powerpoint/2010/main" val="1848286736"/>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A205C8E-E234-4E6E-9587-FCE08C4D426E}" type="slidenum">
              <a:rPr lang="en-US" altLang="zh-CN"/>
              <a:t>289</a:t>
            </a:fld>
            <a:endParaRPr lang="en-US" altLang="zh-CN"/>
          </a:p>
        </p:txBody>
      </p:sp>
      <p:sp>
        <p:nvSpPr>
          <p:cNvPr id="905218" name="Rectangle 2"/>
          <p:cNvSpPr>
            <a:spLocks noGrp="1" noRot="1" noChangeAspect="1" noChangeArrowheads="1" noTextEdit="1"/>
          </p:cNvSpPr>
          <p:nvPr>
            <p:ph type="sldImg"/>
          </p:nvPr>
        </p:nvSpPr>
        <p:spPr/>
      </p:sp>
      <p:sp>
        <p:nvSpPr>
          <p:cNvPr id="905219" name="Rectangle 3"/>
          <p:cNvSpPr>
            <a:spLocks noGrp="1" noChangeArrowheads="1"/>
          </p:cNvSpPr>
          <p:nvPr>
            <p:ph type="body" idx="1"/>
          </p:nvPr>
        </p:nvSpPr>
        <p:spPr/>
        <p:txBody>
          <a:bodyPr/>
          <a:lstStyle/>
          <a:p>
            <a:r>
              <a:rPr lang="zh-CN" altLang="en-US" dirty="0"/>
              <a:t>保证报头一致， 路由器处理速度快，扩展首部让原站和目的站处理</a:t>
            </a:r>
            <a:endParaRPr lang="zh-CN" altLang="zh-CN" dirty="0"/>
          </a:p>
        </p:txBody>
      </p:sp>
    </p:spTree>
    <p:extLst>
      <p:ext uri="{BB962C8B-B14F-4D97-AF65-F5344CB8AC3E}">
        <p14:creationId xmlns:p14="http://schemas.microsoft.com/office/powerpoint/2010/main" val="263064893"/>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5496B7AD-AC4C-437B-AD11-B61F3C16D837}" type="slidenum">
              <a:rPr lang="en-US" altLang="zh-CN"/>
              <a:t>290</a:t>
            </a:fld>
            <a:endParaRPr lang="en-US" altLang="zh-CN"/>
          </a:p>
        </p:txBody>
      </p:sp>
      <p:sp>
        <p:nvSpPr>
          <p:cNvPr id="906242" name="Rectangle 2"/>
          <p:cNvSpPr>
            <a:spLocks noGrp="1" noRot="1" noChangeAspect="1" noChangeArrowheads="1" noTextEdit="1"/>
          </p:cNvSpPr>
          <p:nvPr>
            <p:ph type="sldImg"/>
          </p:nvPr>
        </p:nvSpPr>
        <p:spPr/>
      </p:sp>
      <p:sp>
        <p:nvSpPr>
          <p:cNvPr id="906243" name="Rectangle 3"/>
          <p:cNvSpPr>
            <a:spLocks noGrp="1" noChangeArrowheads="1"/>
          </p:cNvSpPr>
          <p:nvPr>
            <p:ph type="body" idx="1"/>
          </p:nvPr>
        </p:nvSpPr>
        <p:spPr/>
        <p:txBody>
          <a:bodyPr/>
          <a:lstStyle/>
          <a:p>
            <a:r>
              <a:rPr lang="zh-CN" altLang="en-US" dirty="0">
                <a:sym typeface="+mn-ea"/>
              </a:rPr>
              <a:t>目的站所要处理的选项，目前只有填充选项，其他的还没有定义</a:t>
            </a:r>
          </a:p>
        </p:txBody>
      </p:sp>
    </p:spTree>
    <p:extLst>
      <p:ext uri="{BB962C8B-B14F-4D97-AF65-F5344CB8AC3E}">
        <p14:creationId xmlns:p14="http://schemas.microsoft.com/office/powerpoint/2010/main" val="255632372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76B9CB41-0750-4083-AA94-46E18A92D9C2}" type="slidenum">
              <a:rPr lang="en-US" altLang="zh-CN"/>
              <a:t>292</a:t>
            </a:fld>
            <a:endParaRPr lang="en-US" altLang="zh-CN"/>
          </a:p>
        </p:txBody>
      </p:sp>
      <p:sp>
        <p:nvSpPr>
          <p:cNvPr id="913410" name="Rectangle 2"/>
          <p:cNvSpPr>
            <a:spLocks noGrp="1" noRot="1" noChangeAspect="1" noChangeArrowheads="1" noTextEdit="1"/>
          </p:cNvSpPr>
          <p:nvPr>
            <p:ph type="sldImg"/>
          </p:nvPr>
        </p:nvSpPr>
        <p:spPr/>
      </p:sp>
      <p:sp>
        <p:nvSpPr>
          <p:cNvPr id="913411"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94256227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50B0E3-26DB-4D5C-94F3-7DBD4A268F91}" type="slidenum">
              <a:rPr lang="en-US" altLang="zh-CN"/>
              <a:t>293</a:t>
            </a:fld>
            <a:endParaRPr lang="en-US" altLang="zh-CN"/>
          </a:p>
        </p:txBody>
      </p:sp>
      <p:sp>
        <p:nvSpPr>
          <p:cNvPr id="914434" name="Rectangle 2"/>
          <p:cNvSpPr>
            <a:spLocks noGrp="1" noRot="1" noChangeAspect="1" noChangeArrowheads="1" noTextEdit="1"/>
          </p:cNvSpPr>
          <p:nvPr>
            <p:ph type="sldImg"/>
          </p:nvPr>
        </p:nvSpPr>
        <p:spPr/>
      </p:sp>
      <p:sp>
        <p:nvSpPr>
          <p:cNvPr id="91443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411106450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DF50B0E3-26DB-4D5C-94F3-7DBD4A268F91}" type="slidenum">
              <a:rPr lang="en-US" altLang="zh-CN"/>
              <a:t>294</a:t>
            </a:fld>
            <a:endParaRPr lang="en-US" altLang="zh-CN"/>
          </a:p>
        </p:txBody>
      </p:sp>
      <p:sp>
        <p:nvSpPr>
          <p:cNvPr id="914434" name="Rectangle 2"/>
          <p:cNvSpPr>
            <a:spLocks noGrp="1" noRot="1" noChangeAspect="1" noChangeArrowheads="1" noTextEdit="1"/>
          </p:cNvSpPr>
          <p:nvPr>
            <p:ph type="sldImg"/>
          </p:nvPr>
        </p:nvSpPr>
        <p:spPr/>
      </p:sp>
      <p:sp>
        <p:nvSpPr>
          <p:cNvPr id="91443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70627540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446141B4-7B19-4170-A9F7-EB7C9F1E3FF1}" type="slidenum">
              <a:rPr lang="en-US" altLang="zh-CN"/>
              <a:t>295</a:t>
            </a:fld>
            <a:endParaRPr lang="en-US" altLang="zh-CN"/>
          </a:p>
        </p:txBody>
      </p:sp>
      <p:sp>
        <p:nvSpPr>
          <p:cNvPr id="915458" name="Rectangle 2"/>
          <p:cNvSpPr>
            <a:spLocks noGrp="1" noRot="1" noChangeAspect="1" noChangeArrowheads="1" noTextEdit="1"/>
          </p:cNvSpPr>
          <p:nvPr>
            <p:ph type="sldImg"/>
          </p:nvPr>
        </p:nvSpPr>
        <p:spPr/>
      </p:sp>
      <p:sp>
        <p:nvSpPr>
          <p:cNvPr id="915459"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55887871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Ipv4</a:t>
            </a:r>
            <a:r>
              <a:rPr lang="zh-CN" altLang="en-US" dirty="0"/>
              <a:t>的本地回环地址是</a:t>
            </a:r>
            <a:r>
              <a:rPr lang="en-US" altLang="zh-CN" dirty="0"/>
              <a:t>172.0.0.1. </a:t>
            </a:r>
            <a:r>
              <a:rPr lang="zh-CN" altLang="en-US"/>
              <a:t>回环地址就是即当作源地址，又当作目的地址，用于测试</a:t>
            </a:r>
            <a:endParaRPr lang="zh-CN" altLang="en-US" dirty="0"/>
          </a:p>
        </p:txBody>
      </p:sp>
      <p:sp>
        <p:nvSpPr>
          <p:cNvPr id="4" name="灯片编号占位符 3"/>
          <p:cNvSpPr>
            <a:spLocks noGrp="1"/>
          </p:cNvSpPr>
          <p:nvPr>
            <p:ph type="sldNum" sz="quarter" idx="5"/>
          </p:nvPr>
        </p:nvSpPr>
        <p:spPr/>
        <p:txBody>
          <a:bodyPr/>
          <a:lstStyle/>
          <a:p>
            <a:fld id="{8DA2099C-E03D-4BEA-80BD-EC59252D8E32}" type="slidenum">
              <a:rPr lang="zh-CN" altLang="en-US" smtClean="0"/>
              <a:t>296</a:t>
            </a:fld>
            <a:endParaRPr lang="en-US" altLang="zh-CN"/>
          </a:p>
        </p:txBody>
      </p:sp>
    </p:spTree>
    <p:extLst>
      <p:ext uri="{BB962C8B-B14F-4D97-AF65-F5344CB8AC3E}">
        <p14:creationId xmlns:p14="http://schemas.microsoft.com/office/powerpoint/2010/main" val="346707009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r>
              <a:rPr lang="en-US" altLang="zh-CN"/>
              <a:t>  国际互联网工程任务组          </a:t>
            </a:r>
            <a:r>
              <a:rPr lang="zh-CN" altLang="en-US"/>
              <a:t>亚太互联网络信息中心 </a:t>
            </a:r>
          </a:p>
        </p:txBody>
      </p:sp>
    </p:spTree>
    <p:extLst>
      <p:ext uri="{BB962C8B-B14F-4D97-AF65-F5344CB8AC3E}">
        <p14:creationId xmlns:p14="http://schemas.microsoft.com/office/powerpoint/2010/main" val="45812672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C6E0E02-DBD0-4D14-A8C0-0C1AE568848A}" type="slidenum">
              <a:rPr lang="en-US" altLang="zh-CN"/>
              <a:t>300</a:t>
            </a:fld>
            <a:endParaRPr lang="en-US" altLang="zh-CN"/>
          </a:p>
        </p:txBody>
      </p:sp>
      <p:sp>
        <p:nvSpPr>
          <p:cNvPr id="924674" name="Rectangle 2"/>
          <p:cNvSpPr>
            <a:spLocks noGrp="1" noRot="1" noChangeAspect="1" noChangeArrowheads="1" noTextEdit="1"/>
          </p:cNvSpPr>
          <p:nvPr>
            <p:ph type="sldImg"/>
          </p:nvPr>
        </p:nvSpPr>
        <p:spPr/>
      </p:sp>
      <p:sp>
        <p:nvSpPr>
          <p:cNvPr id="92467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686443699"/>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CC6E0E02-DBD0-4D14-A8C0-0C1AE568848A}" type="slidenum">
              <a:rPr lang="en-US" altLang="zh-CN"/>
              <a:t>301</a:t>
            </a:fld>
            <a:endParaRPr lang="en-US" altLang="zh-CN"/>
          </a:p>
        </p:txBody>
      </p:sp>
      <p:sp>
        <p:nvSpPr>
          <p:cNvPr id="924674" name="Rectangle 2"/>
          <p:cNvSpPr>
            <a:spLocks noGrp="1" noRot="1" noChangeAspect="1" noChangeArrowheads="1" noTextEdit="1"/>
          </p:cNvSpPr>
          <p:nvPr>
            <p:ph type="sldImg"/>
          </p:nvPr>
        </p:nvSpPr>
        <p:spPr/>
      </p:sp>
      <p:sp>
        <p:nvSpPr>
          <p:cNvPr id="924675"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3640132140"/>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381C144F-1E12-4628-AB95-356B76764EB0}" type="slidenum">
              <a:rPr lang="en-US" altLang="zh-CN"/>
              <a:t>302</a:t>
            </a:fld>
            <a:endParaRPr lang="en-US" altLang="zh-CN"/>
          </a:p>
        </p:txBody>
      </p:sp>
      <p:sp>
        <p:nvSpPr>
          <p:cNvPr id="926722" name="Rectangle 2"/>
          <p:cNvSpPr>
            <a:spLocks noGrp="1" noRot="1" noChangeAspect="1" noChangeArrowheads="1" noTextEdit="1"/>
          </p:cNvSpPr>
          <p:nvPr>
            <p:ph type="sldImg"/>
          </p:nvPr>
        </p:nvSpPr>
        <p:spPr/>
      </p:sp>
      <p:sp>
        <p:nvSpPr>
          <p:cNvPr id="926723" name="Rectangle 3"/>
          <p:cNvSpPr>
            <a:spLocks noGrp="1" noChangeArrowheads="1"/>
          </p:cNvSpPr>
          <p:nvPr>
            <p:ph type="body" idx="1"/>
          </p:nvPr>
        </p:nvSpPr>
        <p:spPr/>
        <p:txBody>
          <a:bodyPr/>
          <a:lstStyle/>
          <a:p>
            <a:r>
              <a:rPr lang="zh-CN" altLang="en-US" dirty="0"/>
              <a:t>把</a:t>
            </a:r>
            <a:r>
              <a:rPr lang="en-US" altLang="zh-CN" dirty="0"/>
              <a:t>ipv6 </a:t>
            </a:r>
            <a:r>
              <a:rPr lang="zh-CN" altLang="en-US" dirty="0"/>
              <a:t>转化为</a:t>
            </a:r>
            <a:r>
              <a:rPr lang="en-US" altLang="zh-CN" dirty="0"/>
              <a:t>ipv4</a:t>
            </a:r>
            <a:r>
              <a:rPr lang="zh-CN" altLang="en-US" dirty="0"/>
              <a:t>，   再把</a:t>
            </a:r>
            <a:r>
              <a:rPr lang="en-US" altLang="zh-CN" dirty="0"/>
              <a:t>ipv4</a:t>
            </a:r>
            <a:r>
              <a:rPr lang="zh-CN" altLang="en-US" dirty="0"/>
              <a:t>转换为</a:t>
            </a:r>
            <a:r>
              <a:rPr lang="en-US" altLang="zh-CN" dirty="0"/>
              <a:t>ipv6</a:t>
            </a:r>
            <a:endParaRPr lang="zh-CN" altLang="zh-CN" dirty="0"/>
          </a:p>
        </p:txBody>
      </p:sp>
    </p:spTree>
    <p:extLst>
      <p:ext uri="{BB962C8B-B14F-4D97-AF65-F5344CB8AC3E}">
        <p14:creationId xmlns:p14="http://schemas.microsoft.com/office/powerpoint/2010/main" val="701390873"/>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fld id="{E790CE2C-7464-41B1-A237-69E136653E65}" type="slidenum">
              <a:rPr lang="en-US" altLang="zh-CN"/>
              <a:t>304</a:t>
            </a:fld>
            <a:endParaRPr lang="en-US" altLang="zh-CN"/>
          </a:p>
        </p:txBody>
      </p:sp>
      <p:sp>
        <p:nvSpPr>
          <p:cNvPr id="927746" name="Rectangle 2"/>
          <p:cNvSpPr>
            <a:spLocks noGrp="1" noRot="1" noChangeAspect="1" noChangeArrowheads="1" noTextEdit="1"/>
          </p:cNvSpPr>
          <p:nvPr>
            <p:ph type="sldImg"/>
          </p:nvPr>
        </p:nvSpPr>
        <p:spPr/>
      </p:sp>
      <p:sp>
        <p:nvSpPr>
          <p:cNvPr id="927747" name="Rectangle 3"/>
          <p:cNvSpPr>
            <a:spLocks noGrp="1" noChangeArrowheads="1"/>
          </p:cNvSpPr>
          <p:nvPr>
            <p:ph type="body" idx="1"/>
          </p:nvPr>
        </p:nvSpPr>
        <p:spPr/>
        <p:txBody>
          <a:bodyPr/>
          <a:lstStyle/>
          <a:p>
            <a:endParaRPr lang="zh-CN" altLang="zh-CN"/>
          </a:p>
        </p:txBody>
      </p:sp>
    </p:spTree>
    <p:extLst>
      <p:ext uri="{BB962C8B-B14F-4D97-AF65-F5344CB8AC3E}">
        <p14:creationId xmlns:p14="http://schemas.microsoft.com/office/powerpoint/2010/main" val="23377205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16386" name="Rectangle 2"/>
          <p:cNvSpPr>
            <a:spLocks noGrp="1" noChangeArrowheads="1"/>
          </p:cNvSpPr>
          <p:nvPr>
            <p:ph type="ctrTitle"/>
          </p:nvPr>
        </p:nvSpPr>
        <p:spPr>
          <a:xfrm>
            <a:off x="742950" y="685800"/>
            <a:ext cx="8420100" cy="2127250"/>
          </a:xfrm>
        </p:spPr>
        <p:txBody>
          <a:bodyPr/>
          <a:lstStyle>
            <a:lvl1pPr algn="ctr">
              <a:defRPr sz="5400" b="1">
                <a:solidFill>
                  <a:srgbClr val="333399"/>
                </a:solidFill>
                <a:latin typeface="黑体" panose="02010609060101010101" pitchFamily="2" charset="-122"/>
                <a:ea typeface="黑体" panose="02010609060101010101" pitchFamily="2" charset="-122"/>
              </a:defRPr>
            </a:lvl1pPr>
          </a:lstStyle>
          <a:p>
            <a:pPr lvl="0"/>
            <a:r>
              <a:rPr lang="zh-CN" altLang="en-US" noProof="0"/>
              <a:t>单击此处编辑母版标题样式</a:t>
            </a:r>
            <a:endParaRPr lang="en-US" altLang="zh-CN" noProof="0" dirty="0"/>
          </a:p>
        </p:txBody>
      </p:sp>
      <p:sp>
        <p:nvSpPr>
          <p:cNvPr id="16387" name="Rectangle 3"/>
          <p:cNvSpPr>
            <a:spLocks noGrp="1" noChangeArrowheads="1"/>
          </p:cNvSpPr>
          <p:nvPr>
            <p:ph type="subTitle" idx="1"/>
          </p:nvPr>
        </p:nvSpPr>
        <p:spPr>
          <a:xfrm>
            <a:off x="1485900" y="3270250"/>
            <a:ext cx="6934200" cy="2209800"/>
          </a:xfrm>
        </p:spPr>
        <p:txBody>
          <a:bodyPr/>
          <a:lstStyle>
            <a:lvl1pPr marL="0" indent="0" algn="ctr">
              <a:buFont typeface="Wingdings" panose="05000000000000000000" pitchFamily="2" charset="2"/>
              <a:buNone/>
              <a:defRPr sz="3600" b="1">
                <a:latin typeface="黑体" panose="02010609060101010101" pitchFamily="2" charset="-122"/>
                <a:ea typeface="黑体" panose="02010609060101010101" pitchFamily="2" charset="-122"/>
              </a:defRPr>
            </a:lvl1pPr>
          </a:lstStyle>
          <a:p>
            <a:pPr lvl="0"/>
            <a:r>
              <a:rPr lang="zh-CN" altLang="en-US" noProof="0"/>
              <a:t>单击此处编辑母版副标题样式</a:t>
            </a:r>
            <a:endParaRPr lang="en-US" altLang="zh-CN" noProof="0" dirty="0"/>
          </a:p>
        </p:txBody>
      </p:sp>
      <p:sp>
        <p:nvSpPr>
          <p:cNvPr id="16388" name="Rectangle 4"/>
          <p:cNvSpPr>
            <a:spLocks noGrp="1" noChangeArrowheads="1"/>
          </p:cNvSpPr>
          <p:nvPr>
            <p:ph type="dt" sz="half" idx="2"/>
          </p:nvPr>
        </p:nvSpPr>
        <p:spPr/>
        <p:txBody>
          <a:bodyPr/>
          <a:lstStyle>
            <a:lvl1pPr>
              <a:defRPr/>
            </a:lvl1pPr>
          </a:lstStyle>
          <a:p>
            <a:endParaRPr lang="en-US" altLang="zh-CN"/>
          </a:p>
        </p:txBody>
      </p:sp>
      <p:sp>
        <p:nvSpPr>
          <p:cNvPr id="16389" name="Rectangle 5"/>
          <p:cNvSpPr>
            <a:spLocks noGrp="1" noChangeArrowheads="1"/>
          </p:cNvSpPr>
          <p:nvPr>
            <p:ph type="ftr" sz="quarter" idx="3"/>
          </p:nvPr>
        </p:nvSpPr>
        <p:spPr/>
        <p:txBody>
          <a:bodyPr/>
          <a:lstStyle>
            <a:lvl1pPr>
              <a:defRPr/>
            </a:lvl1pPr>
          </a:lstStyle>
          <a:p>
            <a:endParaRPr lang="en-US" altLang="zh-CN"/>
          </a:p>
        </p:txBody>
      </p:sp>
      <p:sp>
        <p:nvSpPr>
          <p:cNvPr id="16390" name="Rectangle 6"/>
          <p:cNvSpPr>
            <a:spLocks noGrp="1" noChangeArrowheads="1"/>
          </p:cNvSpPr>
          <p:nvPr>
            <p:ph type="sldNum" sz="quarter" idx="4"/>
          </p:nvPr>
        </p:nvSpPr>
        <p:spPr/>
        <p:txBody>
          <a:bodyPr/>
          <a:lstStyle>
            <a:lvl1pPr>
              <a:defRPr/>
            </a:lvl1pPr>
          </a:lstStyle>
          <a:p>
            <a:fld id="{AC80574E-8B94-4515-ADE1-BF6C35829DF0}" type="slidenum">
              <a:rPr lang="zh-CN" altLang="en-US"/>
              <a:t>‹#›</a:t>
            </a:fld>
            <a:endParaRPr lang="en-US" altLang="zh-CN"/>
          </a:p>
        </p:txBody>
      </p:sp>
      <p:sp>
        <p:nvSpPr>
          <p:cNvPr id="16392" name="Rectangle 8" descr="Gold bar"/>
          <p:cNvSpPr>
            <a:spLocks noChangeArrowheads="1"/>
          </p:cNvSpPr>
          <p:nvPr/>
        </p:nvSpPr>
        <p:spPr bwMode="auto">
          <a:xfrm>
            <a:off x="247650" y="2889250"/>
            <a:ext cx="3109913" cy="20161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393" name="Rectangle 9" descr="Orange bar"/>
          <p:cNvSpPr>
            <a:spLocks noChangeArrowheads="1"/>
          </p:cNvSpPr>
          <p:nvPr/>
        </p:nvSpPr>
        <p:spPr bwMode="auto">
          <a:xfrm>
            <a:off x="3357563" y="2889250"/>
            <a:ext cx="3108325" cy="201613"/>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394" name="Rectangle 10" descr="Slate bar"/>
          <p:cNvSpPr>
            <a:spLocks noChangeArrowheads="1"/>
          </p:cNvSpPr>
          <p:nvPr/>
        </p:nvSpPr>
        <p:spPr bwMode="auto">
          <a:xfrm>
            <a:off x="6465888" y="2889250"/>
            <a:ext cx="3109912" cy="201613"/>
          </a:xfrm>
          <a:prstGeom prst="rect">
            <a:avLst/>
          </a:prstGeom>
          <a:solidFill>
            <a:srgbClr val="333399"/>
          </a:solidFill>
          <a:ln>
            <a:noFill/>
          </a:ln>
          <a:effectLst/>
        </p:spPr>
        <p:txBody>
          <a:bodyPr wrap="none" anchor="ctr"/>
          <a:lstStyle/>
          <a:p>
            <a:endParaRPr lang="zh-CN" altLang="en-US">
              <a:solidFill>
                <a:srgbClr val="333399"/>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anose="02010609060101010101" pitchFamily="2" charset="-122"/>
              </a:defRPr>
            </a:lvl1pPr>
          </a:lstStyle>
          <a:p>
            <a:r>
              <a:rPr lang="zh-CN" altLang="en-US"/>
              <a:t>单击此处编辑母版标题样式</a:t>
            </a:r>
            <a:endParaRPr lang="zh-CN" altLang="en-US" dirty="0"/>
          </a:p>
        </p:txBody>
      </p:sp>
      <p:sp>
        <p:nvSpPr>
          <p:cNvPr id="3" name="内容占位符 2"/>
          <p:cNvSpPr>
            <a:spLocks noGrp="1"/>
          </p:cNvSpPr>
          <p:nvPr>
            <p:ph idx="1"/>
          </p:nvPr>
        </p:nvSpPr>
        <p:spPr>
          <a:xfrm>
            <a:off x="495300" y="1196752"/>
            <a:ext cx="9066212" cy="4934173"/>
          </a:xfrm>
        </p:spPr>
        <p:txBody>
          <a:bodyPr/>
          <a:lstStyle>
            <a:lvl1pPr>
              <a:defRPr sz="3200" b="1">
                <a:solidFill>
                  <a:schemeClr val="tx1"/>
                </a:solidFill>
                <a:latin typeface="+mn-lt"/>
                <a:ea typeface="黑体" panose="02010609060101010101" pitchFamily="2" charset="-122"/>
              </a:defRPr>
            </a:lvl1pPr>
            <a:lvl2pPr>
              <a:defRPr sz="2800" b="1">
                <a:solidFill>
                  <a:schemeClr val="tx1"/>
                </a:solidFill>
                <a:latin typeface="+mn-lt"/>
                <a:ea typeface="黑体" panose="02010609060101010101" pitchFamily="2" charset="-122"/>
              </a:defRPr>
            </a:lvl2pPr>
            <a:lvl3pPr>
              <a:defRPr sz="2400" b="1">
                <a:solidFill>
                  <a:schemeClr val="tx1"/>
                </a:solidFill>
                <a:latin typeface="+mn-lt"/>
                <a:ea typeface="黑体" panose="02010609060101010101" pitchFamily="2" charset="-122"/>
              </a:defRPr>
            </a:lvl3pPr>
            <a:lvl4pPr>
              <a:defRPr sz="2000" b="1">
                <a:solidFill>
                  <a:schemeClr val="tx1"/>
                </a:solidFill>
                <a:latin typeface="+mn-lt"/>
                <a:ea typeface="黑体" panose="02010609060101010101" pitchFamily="2" charset="-122"/>
              </a:defRPr>
            </a:lvl4pPr>
            <a:lvl5pPr>
              <a:defRPr sz="2000" b="1">
                <a:solidFill>
                  <a:schemeClr val="tx1"/>
                </a:solidFill>
                <a:latin typeface="+mn-lt"/>
                <a:ea typeface="黑体" panose="02010609060101010101" pitchFamily="2"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日期占位符 3"/>
          <p:cNvSpPr>
            <a:spLocks noGrp="1"/>
          </p:cNvSpPr>
          <p:nvPr>
            <p:ph type="dt" sz="half" idx="10"/>
          </p:nvPr>
        </p:nvSpPr>
        <p:spPr/>
        <p:txBody>
          <a:bodyPr/>
          <a:lstStyle>
            <a:lvl1pPr>
              <a:defRPr/>
            </a:lvl1pPr>
          </a:lstStyle>
          <a:p>
            <a:endParaRPr lang="en-US" altLang="zh-CN" dirty="0"/>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7AC79822-BC0D-4DE8-A7E5-90A3732A2B82}" type="slidenum">
              <a:rPr lang="zh-CN" altLang="en-US"/>
              <a:t>‹#›</a:t>
            </a:fld>
            <a:endParaRPr lang="en-US" altLang="zh-CN"/>
          </a:p>
        </p:txBody>
      </p:sp>
      <p:sp>
        <p:nvSpPr>
          <p:cNvPr id="7"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82638" y="4406900"/>
            <a:ext cx="8634858" cy="1362075"/>
          </a:xfrm>
        </p:spPr>
        <p:txBody>
          <a:bodyPr anchor="t"/>
          <a:lstStyle>
            <a:lvl1pPr algn="l">
              <a:defRPr sz="4400" b="1" cap="all">
                <a:solidFill>
                  <a:srgbClr val="333399"/>
                </a:solidFill>
                <a:latin typeface="+mn-lt"/>
                <a:ea typeface="黑体" panose="02010609060101010101" pitchFamily="2"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782638" y="2906713"/>
            <a:ext cx="8634858"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C3F47B36-077D-42FE-9DED-0C77CB87E4B3}" type="slidenum">
              <a:rPr lang="zh-CN" altLang="en-US"/>
              <a:t>‹#›</a:t>
            </a:fld>
            <a:endParaRPr lang="en-US" altLang="zh-CN"/>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anose="02010609060101010101" pitchFamily="2" charset="-122"/>
              </a:defRPr>
            </a:lvl1pPr>
          </a:lstStyle>
          <a:p>
            <a:r>
              <a:rPr lang="zh-CN" altLang="en-US"/>
              <a:t>单击此处编辑母版标题样式</a:t>
            </a:r>
          </a:p>
        </p:txBody>
      </p:sp>
      <p:sp>
        <p:nvSpPr>
          <p:cNvPr id="3" name="内容占位符 2"/>
          <p:cNvSpPr>
            <a:spLocks noGrp="1"/>
          </p:cNvSpPr>
          <p:nvPr>
            <p:ph sz="half" idx="1"/>
          </p:nvPr>
        </p:nvSpPr>
        <p:spPr>
          <a:xfrm>
            <a:off x="495300" y="1196752"/>
            <a:ext cx="4460304" cy="4934173"/>
          </a:xfrm>
        </p:spPr>
        <p:txBody>
          <a:bodyPr/>
          <a:lstStyle>
            <a:lvl1pPr>
              <a:defRPr sz="3200" b="1">
                <a:solidFill>
                  <a:schemeClr val="tx1"/>
                </a:solidFill>
                <a:latin typeface="+mn-lt"/>
                <a:ea typeface="黑体" panose="02010609060101010101" pitchFamily="2" charset="-122"/>
              </a:defRPr>
            </a:lvl1pPr>
            <a:lvl2pPr>
              <a:buClr>
                <a:schemeClr val="accent2"/>
              </a:buClr>
              <a:defRPr sz="2800" b="1">
                <a:solidFill>
                  <a:schemeClr val="tx1"/>
                </a:solidFill>
                <a:latin typeface="+mn-lt"/>
                <a:ea typeface="黑体" panose="02010609060101010101" pitchFamily="2" charset="-122"/>
              </a:defRPr>
            </a:lvl2pPr>
            <a:lvl3pPr>
              <a:defRPr sz="2400" b="1">
                <a:solidFill>
                  <a:schemeClr val="tx1"/>
                </a:solidFill>
                <a:latin typeface="+mn-lt"/>
                <a:ea typeface="黑体" panose="02010609060101010101" pitchFamily="2" charset="-122"/>
              </a:defRPr>
            </a:lvl3pPr>
            <a:lvl4pPr>
              <a:defRPr sz="2000" b="1">
                <a:solidFill>
                  <a:schemeClr val="tx1"/>
                </a:solidFill>
                <a:latin typeface="+mn-lt"/>
                <a:ea typeface="黑体" panose="02010609060101010101" pitchFamily="2" charset="-122"/>
              </a:defRPr>
            </a:lvl4pPr>
            <a:lvl5pPr>
              <a:buClr>
                <a:srgbClr val="333399"/>
              </a:buClr>
              <a:defRPr sz="2000" b="1">
                <a:solidFill>
                  <a:schemeClr val="tx1"/>
                </a:solidFill>
                <a:latin typeface="+mn-lt"/>
                <a:ea typeface="黑体" panose="02010609060101010101" pitchFamily="2" charset="-122"/>
              </a:defRPr>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half" idx="2"/>
          </p:nvPr>
        </p:nvSpPr>
        <p:spPr>
          <a:xfrm>
            <a:off x="5101208" y="1196752"/>
            <a:ext cx="4460304" cy="4934173"/>
          </a:xfrm>
        </p:spPr>
        <p:txBody>
          <a:bodyPr/>
          <a:lstStyle>
            <a:lvl1pPr>
              <a:defRPr sz="3200" b="1">
                <a:solidFill>
                  <a:schemeClr val="tx1"/>
                </a:solidFill>
                <a:latin typeface="+mn-lt"/>
                <a:ea typeface="黑体" panose="02010609060101010101" pitchFamily="2" charset="-122"/>
              </a:defRPr>
            </a:lvl1pPr>
            <a:lvl2pPr>
              <a:buClr>
                <a:schemeClr val="accent2"/>
              </a:buClr>
              <a:defRPr sz="2800" b="1">
                <a:solidFill>
                  <a:schemeClr val="tx1"/>
                </a:solidFill>
                <a:latin typeface="+mn-lt"/>
                <a:ea typeface="黑体" panose="02010609060101010101" pitchFamily="2" charset="-122"/>
              </a:defRPr>
            </a:lvl2pPr>
            <a:lvl3pPr>
              <a:defRPr sz="2400" b="1">
                <a:solidFill>
                  <a:schemeClr val="tx1"/>
                </a:solidFill>
                <a:latin typeface="+mn-lt"/>
                <a:ea typeface="黑体" panose="02010609060101010101" pitchFamily="2" charset="-122"/>
              </a:defRPr>
            </a:lvl3pPr>
            <a:lvl4pPr>
              <a:defRPr sz="2000" b="1">
                <a:solidFill>
                  <a:schemeClr val="tx1"/>
                </a:solidFill>
                <a:latin typeface="+mn-lt"/>
                <a:ea typeface="黑体" panose="02010609060101010101" pitchFamily="2" charset="-122"/>
              </a:defRPr>
            </a:lvl4pPr>
            <a:lvl5pPr>
              <a:buClr>
                <a:srgbClr val="333399"/>
              </a:buClr>
              <a:defRPr sz="2000" b="1">
                <a:solidFill>
                  <a:schemeClr val="tx1"/>
                </a:solidFill>
                <a:latin typeface="+mn-lt"/>
                <a:ea typeface="黑体" panose="02010609060101010101" pitchFamily="2" charset="-122"/>
              </a:defRPr>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40B52295-AD8D-47A8-A4D5-D2F6B9F48E3F}" type="slidenum">
              <a:rPr lang="zh-CN" altLang="en-US"/>
              <a:t>‹#›</a:t>
            </a:fld>
            <a:endParaRPr lang="en-US" altLang="zh-CN"/>
          </a:p>
        </p:txBody>
      </p:sp>
      <p:sp>
        <p:nvSpPr>
          <p:cNvPr id="8"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anose="02010609060101010101" pitchFamily="2"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495299" y="1207874"/>
            <a:ext cx="4455513" cy="639762"/>
          </a:xfrm>
        </p:spPr>
        <p:txBody>
          <a:bodyPr anchor="b"/>
          <a:lstStyle>
            <a:lvl1pPr marL="0" indent="0">
              <a:buNone/>
              <a:defRPr sz="3200" b="1">
                <a:latin typeface="+mn-lt"/>
                <a:ea typeface="黑体" panose="02010609060101010101"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95299" y="1872534"/>
            <a:ext cx="4455513" cy="4292770"/>
          </a:xfrm>
        </p:spPr>
        <p:txBody>
          <a:bodyPr/>
          <a:lstStyle>
            <a:lvl1pPr>
              <a:defRPr sz="3200" b="1">
                <a:solidFill>
                  <a:schemeClr val="tx1"/>
                </a:solidFill>
                <a:latin typeface="+mn-lt"/>
                <a:ea typeface="黑体" panose="02010609060101010101" pitchFamily="2" charset="-122"/>
              </a:defRPr>
            </a:lvl1pPr>
            <a:lvl2pPr>
              <a:defRPr sz="2800" b="1">
                <a:solidFill>
                  <a:schemeClr val="tx1"/>
                </a:solidFill>
                <a:latin typeface="+mn-lt"/>
                <a:ea typeface="黑体" panose="02010609060101010101" pitchFamily="2" charset="-122"/>
              </a:defRPr>
            </a:lvl2pPr>
            <a:lvl3pPr>
              <a:defRPr sz="2400" b="1">
                <a:solidFill>
                  <a:schemeClr val="tx1"/>
                </a:solidFill>
                <a:latin typeface="+mn-lt"/>
                <a:ea typeface="黑体" panose="02010609060101010101" pitchFamily="2" charset="-122"/>
              </a:defRPr>
            </a:lvl3pPr>
            <a:lvl4pPr>
              <a:defRPr sz="2000" b="1">
                <a:solidFill>
                  <a:schemeClr val="tx1"/>
                </a:solidFill>
                <a:latin typeface="+mn-lt"/>
                <a:ea typeface="黑体" panose="02010609060101010101" pitchFamily="2" charset="-122"/>
              </a:defRPr>
            </a:lvl4pPr>
            <a:lvl5pPr>
              <a:defRPr sz="2000" b="1">
                <a:solidFill>
                  <a:schemeClr val="tx1"/>
                </a:solidFill>
                <a:latin typeface="+mn-lt"/>
                <a:ea typeface="黑体" panose="02010609060101010101" pitchFamily="2" charset="-122"/>
              </a:defRPr>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文本占位符 4"/>
          <p:cNvSpPr>
            <a:spLocks noGrp="1"/>
          </p:cNvSpPr>
          <p:nvPr>
            <p:ph type="body" sz="quarter" idx="3"/>
          </p:nvPr>
        </p:nvSpPr>
        <p:spPr>
          <a:xfrm>
            <a:off x="5104383" y="1207874"/>
            <a:ext cx="4457129" cy="639762"/>
          </a:xfrm>
        </p:spPr>
        <p:txBody>
          <a:bodyPr anchor="b"/>
          <a:lstStyle>
            <a:lvl1pPr marL="0" indent="0">
              <a:buNone/>
              <a:defRPr sz="3200" b="1">
                <a:latin typeface="+mn-lt"/>
                <a:ea typeface="黑体" panose="02010609060101010101"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5104383" y="1872534"/>
            <a:ext cx="4457129" cy="4292770"/>
          </a:xfrm>
        </p:spPr>
        <p:txBody>
          <a:bodyPr/>
          <a:lstStyle>
            <a:lvl1pPr>
              <a:defRPr sz="3200" b="1">
                <a:solidFill>
                  <a:schemeClr val="tx1"/>
                </a:solidFill>
                <a:latin typeface="+mn-lt"/>
                <a:ea typeface="黑体" panose="02010609060101010101" pitchFamily="2" charset="-122"/>
              </a:defRPr>
            </a:lvl1pPr>
            <a:lvl2pPr>
              <a:defRPr sz="2800" b="1">
                <a:solidFill>
                  <a:schemeClr val="tx1"/>
                </a:solidFill>
                <a:latin typeface="+mn-lt"/>
                <a:ea typeface="黑体" panose="02010609060101010101" pitchFamily="2" charset="-122"/>
              </a:defRPr>
            </a:lvl2pPr>
            <a:lvl3pPr>
              <a:defRPr sz="2400" b="1">
                <a:solidFill>
                  <a:schemeClr val="tx1"/>
                </a:solidFill>
                <a:latin typeface="+mn-lt"/>
                <a:ea typeface="黑体" panose="02010609060101010101" pitchFamily="2" charset="-122"/>
              </a:defRPr>
            </a:lvl3pPr>
            <a:lvl4pPr>
              <a:defRPr sz="2000" b="1">
                <a:solidFill>
                  <a:schemeClr val="tx1"/>
                </a:solidFill>
                <a:latin typeface="+mn-lt"/>
                <a:ea typeface="黑体" panose="02010609060101010101" pitchFamily="2" charset="-122"/>
              </a:defRPr>
            </a:lvl4pPr>
            <a:lvl5pPr>
              <a:defRPr sz="2000" b="1">
                <a:solidFill>
                  <a:schemeClr val="tx1"/>
                </a:solidFill>
                <a:latin typeface="+mn-lt"/>
                <a:ea typeface="黑体" panose="02010609060101010101" pitchFamily="2" charset="-122"/>
              </a:defRPr>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7" name="日期占位符 6"/>
          <p:cNvSpPr>
            <a:spLocks noGrp="1"/>
          </p:cNvSpPr>
          <p:nvPr>
            <p:ph type="dt" sz="half" idx="10"/>
          </p:nvPr>
        </p:nvSpPr>
        <p:spPr/>
        <p:txBody>
          <a:bodyPr/>
          <a:lstStyle>
            <a:lvl1pPr>
              <a:defRPr/>
            </a:lvl1pPr>
          </a:lstStyle>
          <a:p>
            <a:endParaRPr lang="en-US" altLang="zh-CN"/>
          </a:p>
        </p:txBody>
      </p:sp>
      <p:sp>
        <p:nvSpPr>
          <p:cNvPr id="8" name="页脚占位符 7"/>
          <p:cNvSpPr>
            <a:spLocks noGrp="1"/>
          </p:cNvSpPr>
          <p:nvPr>
            <p:ph type="ftr" sz="quarter" idx="11"/>
          </p:nvPr>
        </p:nvSpPr>
        <p:spPr/>
        <p:txBody>
          <a:bodyPr/>
          <a:lstStyle>
            <a:lvl1pPr>
              <a:defRPr/>
            </a:lvl1pPr>
          </a:lstStyle>
          <a:p>
            <a:endParaRPr lang="en-US" altLang="zh-CN"/>
          </a:p>
        </p:txBody>
      </p:sp>
      <p:sp>
        <p:nvSpPr>
          <p:cNvPr id="9" name="灯片编号占位符 8"/>
          <p:cNvSpPr>
            <a:spLocks noGrp="1"/>
          </p:cNvSpPr>
          <p:nvPr>
            <p:ph type="sldNum" sz="quarter" idx="12"/>
          </p:nvPr>
        </p:nvSpPr>
        <p:spPr/>
        <p:txBody>
          <a:bodyPr/>
          <a:lstStyle>
            <a:lvl1pPr>
              <a:defRPr/>
            </a:lvl1pPr>
          </a:lstStyle>
          <a:p>
            <a:fld id="{FAC03054-A18C-4CF4-8FEF-67B6C74EC7CF}" type="slidenum">
              <a:rPr lang="zh-CN" altLang="en-US"/>
              <a:t>‹#›</a:t>
            </a:fld>
            <a:endParaRPr lang="en-US" altLang="zh-CN"/>
          </a:p>
        </p:txBody>
      </p:sp>
      <p:sp>
        <p:nvSpPr>
          <p:cNvPr id="10"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b="1">
                <a:solidFill>
                  <a:srgbClr val="333399"/>
                </a:solidFill>
                <a:latin typeface="+mn-lt"/>
                <a:ea typeface="黑体" panose="02010609060101010101" pitchFamily="2" charset="-122"/>
              </a:defRPr>
            </a:lvl1pPr>
          </a:lstStyle>
          <a:p>
            <a:r>
              <a:rPr lang="zh-CN" altLang="en-US"/>
              <a:t>单击此处编辑母版标题样式</a:t>
            </a:r>
          </a:p>
        </p:txBody>
      </p:sp>
      <p:sp>
        <p:nvSpPr>
          <p:cNvPr id="3" name="日期占位符 2"/>
          <p:cNvSpPr>
            <a:spLocks noGrp="1"/>
          </p:cNvSpPr>
          <p:nvPr>
            <p:ph type="dt" sz="half" idx="10"/>
          </p:nvPr>
        </p:nvSpPr>
        <p:spPr/>
        <p:txBody>
          <a:bodyPr/>
          <a:lstStyle>
            <a:lvl1pPr>
              <a:defRPr/>
            </a:lvl1pPr>
          </a:lstStyle>
          <a:p>
            <a:endParaRPr lang="en-US" altLang="zh-CN"/>
          </a:p>
        </p:txBody>
      </p:sp>
      <p:sp>
        <p:nvSpPr>
          <p:cNvPr id="4" name="页脚占位符 3"/>
          <p:cNvSpPr>
            <a:spLocks noGrp="1"/>
          </p:cNvSpPr>
          <p:nvPr>
            <p:ph type="ftr" sz="quarter" idx="11"/>
          </p:nvPr>
        </p:nvSpPr>
        <p:spPr/>
        <p:txBody>
          <a:bodyPr/>
          <a:lstStyle>
            <a:lvl1pPr>
              <a:defRPr/>
            </a:lvl1pPr>
          </a:lstStyle>
          <a:p>
            <a:endParaRPr lang="en-US" altLang="zh-CN"/>
          </a:p>
        </p:txBody>
      </p:sp>
      <p:sp>
        <p:nvSpPr>
          <p:cNvPr id="5" name="灯片编号占位符 4"/>
          <p:cNvSpPr>
            <a:spLocks noGrp="1"/>
          </p:cNvSpPr>
          <p:nvPr>
            <p:ph type="sldNum" sz="quarter" idx="12"/>
          </p:nvPr>
        </p:nvSpPr>
        <p:spPr/>
        <p:txBody>
          <a:bodyPr/>
          <a:lstStyle>
            <a:lvl1pPr>
              <a:defRPr/>
            </a:lvl1pPr>
          </a:lstStyle>
          <a:p>
            <a:fld id="{14338B79-8FD5-46F1-8A19-651A319ADB19}" type="slidenum">
              <a:rPr lang="zh-CN" altLang="en-US"/>
              <a:t>‹#›</a:t>
            </a:fld>
            <a:endParaRPr lang="en-US" altLang="zh-CN"/>
          </a:p>
        </p:txBody>
      </p:sp>
      <p:sp>
        <p:nvSpPr>
          <p:cNvPr id="6"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a:defRPr/>
            </a:lvl1pPr>
          </a:lstStyle>
          <a:p>
            <a:endParaRPr lang="en-US" altLang="zh-CN"/>
          </a:p>
        </p:txBody>
      </p:sp>
      <p:sp>
        <p:nvSpPr>
          <p:cNvPr id="3" name="页脚占位符 2"/>
          <p:cNvSpPr>
            <a:spLocks noGrp="1"/>
          </p:cNvSpPr>
          <p:nvPr>
            <p:ph type="ftr" sz="quarter" idx="11"/>
          </p:nvPr>
        </p:nvSpPr>
        <p:spPr/>
        <p:txBody>
          <a:bodyPr/>
          <a:lstStyle>
            <a:lvl1pPr>
              <a:defRPr/>
            </a:lvl1pPr>
          </a:lstStyle>
          <a:p>
            <a:endParaRPr lang="en-US" altLang="zh-CN"/>
          </a:p>
        </p:txBody>
      </p:sp>
      <p:sp>
        <p:nvSpPr>
          <p:cNvPr id="4" name="灯片编号占位符 3"/>
          <p:cNvSpPr>
            <a:spLocks noGrp="1"/>
          </p:cNvSpPr>
          <p:nvPr>
            <p:ph type="sldNum" sz="quarter" idx="12"/>
          </p:nvPr>
        </p:nvSpPr>
        <p:spPr/>
        <p:txBody>
          <a:bodyPr/>
          <a:lstStyle>
            <a:lvl1pPr>
              <a:defRPr/>
            </a:lvl1pPr>
          </a:lstStyle>
          <a:p>
            <a:fld id="{137DC1DE-D772-415A-B75D-6C2A3BBF0EE5}" type="slidenum">
              <a:rPr lang="zh-CN" altLang="en-US"/>
              <a:t>‹#›</a:t>
            </a:fld>
            <a:endParaRPr lang="en-US" altLang="zh-CN"/>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95300" y="273050"/>
            <a:ext cx="3259138" cy="1162050"/>
          </a:xfrm>
        </p:spPr>
        <p:txBody>
          <a:bodyPr/>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873500" y="273050"/>
            <a:ext cx="5688012"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文本占位符 3"/>
          <p:cNvSpPr>
            <a:spLocks noGrp="1"/>
          </p:cNvSpPr>
          <p:nvPr>
            <p:ph type="body" sz="half" idx="2"/>
          </p:nvPr>
        </p:nvSpPr>
        <p:spPr>
          <a:xfrm>
            <a:off x="495300" y="1435100"/>
            <a:ext cx="3259138"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DFB74B41-85B4-4984-A2A4-801BFDC62CF6}" type="slidenum">
              <a:rPr lang="zh-CN" altLang="en-US"/>
              <a:t>‹#›</a:t>
            </a:fld>
            <a:endParaRPr lang="en-US" altLang="zh-CN"/>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941513" y="4800600"/>
            <a:ext cx="5943600" cy="566738"/>
          </a:xfrm>
        </p:spPr>
        <p:txBody>
          <a:bodyPr/>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941513"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p>
        </p:txBody>
      </p:sp>
      <p:sp>
        <p:nvSpPr>
          <p:cNvPr id="4" name="文本占位符 3"/>
          <p:cNvSpPr>
            <a:spLocks noGrp="1"/>
          </p:cNvSpPr>
          <p:nvPr>
            <p:ph type="body" sz="half" idx="2"/>
          </p:nvPr>
        </p:nvSpPr>
        <p:spPr>
          <a:xfrm>
            <a:off x="1941513"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24FEF2C3-09B7-48D6-BCFF-274B159605E4}" type="slidenum">
              <a:rPr lang="zh-CN" altLang="en-US"/>
              <a:t>‹#›</a:t>
            </a:fld>
            <a:endParaRPr lang="en-US" altLang="zh-CN"/>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b="1">
                <a:solidFill>
                  <a:srgbClr val="333399"/>
                </a:solidFill>
                <a:latin typeface="+mn-lt"/>
                <a:ea typeface="黑体" panose="02010609060101010101" pitchFamily="2" charset="-122"/>
              </a:defRPr>
            </a:lvl1p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A2236A91-AB49-49FF-BD59-8386391FD12B}" type="slidenum">
              <a:rPr lang="zh-CN" altLang="en-US"/>
              <a:t>‹#›</a:t>
            </a:fld>
            <a:endParaRPr lang="en-US" altLang="zh-CN"/>
          </a:p>
        </p:txBody>
      </p:sp>
      <p:sp>
        <p:nvSpPr>
          <p:cNvPr id="7"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181850" y="277813"/>
            <a:ext cx="2379662" cy="5853112"/>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95300" y="277813"/>
            <a:ext cx="6534150" cy="5853112"/>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D98FACEB-921B-4428-A32E-7A6FF935A2DD}" type="slidenum">
              <a:rPr lang="zh-CN" altLang="en-US"/>
              <a:t>‹#›</a:t>
            </a:fld>
            <a:endParaRPr lang="en-US" altLang="zh-CN"/>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488504" y="188640"/>
            <a:ext cx="8915400" cy="792088"/>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196752"/>
            <a:ext cx="4381500"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quarter" idx="2"/>
          </p:nvPr>
        </p:nvSpPr>
        <p:spPr>
          <a:xfrm>
            <a:off x="5029200" y="1196752"/>
            <a:ext cx="4381500" cy="2376587"/>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内容占位符 4"/>
          <p:cNvSpPr>
            <a:spLocks noGrp="1"/>
          </p:cNvSpPr>
          <p:nvPr>
            <p:ph sz="quarter" idx="3"/>
          </p:nvPr>
        </p:nvSpPr>
        <p:spPr>
          <a:xfrm>
            <a:off x="5029200" y="3754339"/>
            <a:ext cx="4381500" cy="2376586"/>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日期占位符 5"/>
          <p:cNvSpPr>
            <a:spLocks noGrp="1"/>
          </p:cNvSpPr>
          <p:nvPr>
            <p:ph type="dt" sz="half" idx="10"/>
          </p:nvPr>
        </p:nvSpPr>
        <p:spPr>
          <a:xfrm>
            <a:off x="495300" y="6248400"/>
            <a:ext cx="2311400" cy="457200"/>
          </a:xfrm>
        </p:spPr>
        <p:txBody>
          <a:bodyPr/>
          <a:lstStyle>
            <a:lvl1pPr>
              <a:defRPr/>
            </a:lvl1pPr>
          </a:lstStyle>
          <a:p>
            <a:endParaRPr lang="en-US" altLang="zh-CN"/>
          </a:p>
        </p:txBody>
      </p:sp>
      <p:sp>
        <p:nvSpPr>
          <p:cNvPr id="7" name="页脚占位符 6"/>
          <p:cNvSpPr>
            <a:spLocks noGrp="1"/>
          </p:cNvSpPr>
          <p:nvPr>
            <p:ph type="ftr" sz="quarter" idx="11"/>
          </p:nvPr>
        </p:nvSpPr>
        <p:spPr>
          <a:xfrm>
            <a:off x="3384550" y="6248400"/>
            <a:ext cx="3136900" cy="457200"/>
          </a:xfrm>
        </p:spPr>
        <p:txBody>
          <a:bodyPr/>
          <a:lstStyle>
            <a:lvl1pPr>
              <a:defRPr/>
            </a:lvl1pPr>
          </a:lstStyle>
          <a:p>
            <a:endParaRPr lang="en-US" altLang="zh-CN"/>
          </a:p>
        </p:txBody>
      </p:sp>
      <p:sp>
        <p:nvSpPr>
          <p:cNvPr id="8" name="灯片编号占位符 7"/>
          <p:cNvSpPr>
            <a:spLocks noGrp="1"/>
          </p:cNvSpPr>
          <p:nvPr>
            <p:ph type="sldNum" sz="quarter" idx="12"/>
          </p:nvPr>
        </p:nvSpPr>
        <p:spPr>
          <a:xfrm>
            <a:off x="7099300" y="6248400"/>
            <a:ext cx="2311400" cy="457200"/>
          </a:xfrm>
        </p:spPr>
        <p:txBody>
          <a:bodyPr/>
          <a:lstStyle>
            <a:lvl1pPr>
              <a:defRPr/>
            </a:lvl1pPr>
          </a:lstStyle>
          <a:p>
            <a:fld id="{3C52F4D9-41EC-423B-B963-42D1C41ACCC5}" type="slidenum">
              <a:rPr lang="zh-CN" altLang="en-US"/>
              <a:t>‹#›</a:t>
            </a:fld>
            <a:endParaRPr lang="en-US" altLang="zh-CN"/>
          </a:p>
        </p:txBody>
      </p:sp>
      <p:sp>
        <p:nvSpPr>
          <p:cNvPr id="9"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ClipArt" preserve="1">
  <p:cSld name="标题，文本与剪贴画">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1"/>
            <a:ext cx="8915400" cy="792087"/>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196752"/>
            <a:ext cx="4381500"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剪贴画占位符 3"/>
          <p:cNvSpPr>
            <a:spLocks noGrp="1"/>
          </p:cNvSpPr>
          <p:nvPr>
            <p:ph type="clipArt" sz="half" idx="2" hasCustomPrompt="1"/>
          </p:nvPr>
        </p:nvSpPr>
        <p:spPr>
          <a:xfrm>
            <a:off x="5029200" y="1196752"/>
            <a:ext cx="4381500" cy="4934173"/>
          </a:xfrm>
        </p:spPr>
        <p:txBody>
          <a:bodyPr/>
          <a:lstStyle/>
          <a:p>
            <a:r>
              <a:rPr lang="zh-CN" altLang="en-US"/>
              <a:t>单击图标添加剪 贴画</a:t>
            </a:r>
          </a:p>
        </p:txBody>
      </p:sp>
      <p:sp>
        <p:nvSpPr>
          <p:cNvPr id="5" name="日期占位符 4"/>
          <p:cNvSpPr>
            <a:spLocks noGrp="1"/>
          </p:cNvSpPr>
          <p:nvPr>
            <p:ph type="dt" sz="half" idx="10"/>
          </p:nvPr>
        </p:nvSpPr>
        <p:spPr>
          <a:xfrm>
            <a:off x="495300" y="6248400"/>
            <a:ext cx="2311400" cy="457200"/>
          </a:xfrm>
        </p:spPr>
        <p:txBody>
          <a:bodyPr/>
          <a:lstStyle>
            <a:lvl1pPr>
              <a:defRPr/>
            </a:lvl1pPr>
          </a:lstStyle>
          <a:p>
            <a:endParaRPr lang="en-US" altLang="zh-CN"/>
          </a:p>
        </p:txBody>
      </p:sp>
      <p:sp>
        <p:nvSpPr>
          <p:cNvPr id="6" name="页脚占位符 5"/>
          <p:cNvSpPr>
            <a:spLocks noGrp="1"/>
          </p:cNvSpPr>
          <p:nvPr>
            <p:ph type="ftr" sz="quarter" idx="11"/>
          </p:nvPr>
        </p:nvSpPr>
        <p:spPr>
          <a:xfrm>
            <a:off x="3384550" y="6248400"/>
            <a:ext cx="3136900" cy="457200"/>
          </a:xfrm>
        </p:spPr>
        <p:txBody>
          <a:bodyPr/>
          <a:lstStyle>
            <a:lvl1pPr>
              <a:defRPr/>
            </a:lvl1pPr>
          </a:lstStyle>
          <a:p>
            <a:endParaRPr lang="en-US" altLang="zh-CN"/>
          </a:p>
        </p:txBody>
      </p:sp>
      <p:sp>
        <p:nvSpPr>
          <p:cNvPr id="7" name="灯片编号占位符 6"/>
          <p:cNvSpPr>
            <a:spLocks noGrp="1"/>
          </p:cNvSpPr>
          <p:nvPr>
            <p:ph type="sldNum" sz="quarter" idx="12"/>
          </p:nvPr>
        </p:nvSpPr>
        <p:spPr>
          <a:xfrm>
            <a:off x="7099300" y="6248400"/>
            <a:ext cx="2311400" cy="457200"/>
          </a:xfrm>
        </p:spPr>
        <p:txBody>
          <a:bodyPr/>
          <a:lstStyle>
            <a:lvl1pPr>
              <a:defRPr/>
            </a:lvl1pPr>
          </a:lstStyle>
          <a:p>
            <a:fld id="{966CAE82-64C7-4E5B-88D2-F38A61F120C5}" type="slidenum">
              <a:rPr lang="zh-CN" altLang="en-US"/>
              <a:t>‹#›</a:t>
            </a:fld>
            <a:endParaRPr lang="en-US" altLang="zh-CN"/>
          </a:p>
        </p:txBody>
      </p:sp>
      <p:sp>
        <p:nvSpPr>
          <p:cNvPr id="8" name="Line 8"/>
          <p:cNvSpPr>
            <a:spLocks noChangeShapeType="1"/>
          </p:cNvSpPr>
          <p:nvPr userDrawn="1"/>
        </p:nvSpPr>
        <p:spPr bwMode="auto">
          <a:xfrm>
            <a:off x="495300" y="1052736"/>
            <a:ext cx="906621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OverObj">
  <p:cSld name="标题和文本在内容之上">
    <p:spTree>
      <p:nvGrpSpPr>
        <p:cNvPr id="1" name=""/>
        <p:cNvGrpSpPr/>
        <p:nvPr/>
      </p:nvGrpSpPr>
      <p:grpSpPr>
        <a:xfrm>
          <a:off x="0" y="0"/>
          <a:ext cx="0" cy="0"/>
          <a:chOff x="0" y="0"/>
          <a:chExt cx="0" cy="0"/>
        </a:xfrm>
      </p:grpSpPr>
      <p:sp>
        <p:nvSpPr>
          <p:cNvPr id="2" name="标题 1"/>
          <p:cNvSpPr>
            <a:spLocks noGrp="1"/>
          </p:cNvSpPr>
          <p:nvPr>
            <p:ph type="title"/>
          </p:nvPr>
        </p:nvSpPr>
        <p:spPr>
          <a:xfrm>
            <a:off x="495300" y="122238"/>
            <a:ext cx="8172450" cy="1295400"/>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719264"/>
            <a:ext cx="8915400" cy="2128837"/>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95300" y="4000501"/>
            <a:ext cx="8915400" cy="2130425"/>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5"/>
          <p:cNvSpPr>
            <a:spLocks noGrp="1" noChangeArrowheads="1"/>
          </p:cNvSpPr>
          <p:nvPr>
            <p:ph type="dt" sz="half" idx="10"/>
          </p:nvPr>
        </p:nvSpPr>
        <p:spPr/>
        <p:txBody>
          <a:bodyPr/>
          <a:lstStyle>
            <a:lvl1pPr>
              <a:defRPr/>
            </a:lvl1pPr>
          </a:lstStyle>
          <a:p>
            <a:pPr>
              <a:defRPr/>
            </a:pPr>
            <a:endParaRPr lang="en-US" altLang="zh-CN"/>
          </a:p>
        </p:txBody>
      </p:sp>
      <p:sp>
        <p:nvSpPr>
          <p:cNvPr id="6" name="Rectangle 6"/>
          <p:cNvSpPr>
            <a:spLocks noGrp="1" noChangeArrowheads="1"/>
          </p:cNvSpPr>
          <p:nvPr>
            <p:ph type="ftr" sz="quarter" idx="11"/>
          </p:nvPr>
        </p:nvSpPr>
        <p:spPr/>
        <p:txBody>
          <a:bodyPr/>
          <a:lstStyle>
            <a:lvl1pPr>
              <a:defRPr/>
            </a:lvl1pPr>
          </a:lstStyle>
          <a:p>
            <a:pPr>
              <a:defRPr/>
            </a:pPr>
            <a:endParaRPr lang="en-US" altLang="zh-CN"/>
          </a:p>
        </p:txBody>
      </p:sp>
      <p:sp>
        <p:nvSpPr>
          <p:cNvPr id="7" name="Rectangle 7"/>
          <p:cNvSpPr>
            <a:spLocks noGrp="1" noChangeArrowheads="1"/>
          </p:cNvSpPr>
          <p:nvPr>
            <p:ph type="sldNum" sz="quarter" idx="12"/>
          </p:nvPr>
        </p:nvSpPr>
        <p:spPr/>
        <p:txBody>
          <a:bodyPr/>
          <a:lstStyle>
            <a:lvl1pPr>
              <a:defRPr/>
            </a:lvl1pPr>
          </a:lstStyle>
          <a:p>
            <a:fld id="{FE587528-01D3-425A-9776-5ACFCDABB591}" type="slidenum">
              <a:rPr lang="en-US" altLang="zh-CN"/>
              <a:t>‹#›</a:t>
            </a:fld>
            <a:endParaRPr lang="en-US" altLang="zh-CN"/>
          </a:p>
        </p:txBody>
      </p:sp>
    </p:spTree>
  </p:cSld>
  <p:clrMapOvr>
    <a:masterClrMapping/>
  </p:clrMapOvr>
  <p:transition spd="slow"/>
</p:sldLayout>
</file>

<file path=ppt/slideLayouts/slideLayout15.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495300" y="122238"/>
            <a:ext cx="8172450" cy="1295400"/>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719263"/>
            <a:ext cx="4375150" cy="4411662"/>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5035550" y="1719263"/>
            <a:ext cx="4375150" cy="4411662"/>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5"/>
          <p:cNvSpPr>
            <a:spLocks noGrp="1" noChangeArrowheads="1"/>
          </p:cNvSpPr>
          <p:nvPr>
            <p:ph type="dt" sz="half" idx="10"/>
          </p:nvPr>
        </p:nvSpPr>
        <p:spPr/>
        <p:txBody>
          <a:bodyPr/>
          <a:lstStyle>
            <a:lvl1pPr>
              <a:defRPr/>
            </a:lvl1pPr>
          </a:lstStyle>
          <a:p>
            <a:pPr>
              <a:defRPr/>
            </a:pPr>
            <a:endParaRPr lang="en-US" altLang="zh-CN"/>
          </a:p>
        </p:txBody>
      </p:sp>
      <p:sp>
        <p:nvSpPr>
          <p:cNvPr id="6" name="Rectangle 6"/>
          <p:cNvSpPr>
            <a:spLocks noGrp="1" noChangeArrowheads="1"/>
          </p:cNvSpPr>
          <p:nvPr>
            <p:ph type="ftr" sz="quarter" idx="11"/>
          </p:nvPr>
        </p:nvSpPr>
        <p:spPr/>
        <p:txBody>
          <a:bodyPr/>
          <a:lstStyle>
            <a:lvl1pPr>
              <a:defRPr/>
            </a:lvl1pPr>
          </a:lstStyle>
          <a:p>
            <a:pPr>
              <a:defRPr/>
            </a:pPr>
            <a:endParaRPr lang="en-US" altLang="zh-CN"/>
          </a:p>
        </p:txBody>
      </p:sp>
      <p:sp>
        <p:nvSpPr>
          <p:cNvPr id="7" name="Rectangle 7"/>
          <p:cNvSpPr>
            <a:spLocks noGrp="1" noChangeArrowheads="1"/>
          </p:cNvSpPr>
          <p:nvPr>
            <p:ph type="sldNum" sz="quarter" idx="12"/>
          </p:nvPr>
        </p:nvSpPr>
        <p:spPr/>
        <p:txBody>
          <a:bodyPr/>
          <a:lstStyle>
            <a:lvl1pPr>
              <a:defRPr/>
            </a:lvl1pPr>
          </a:lstStyle>
          <a:p>
            <a:fld id="{5BC6E413-164E-46F5-BDCF-7F9EE2BCD647}" type="slidenum">
              <a:rPr lang="en-US" altLang="zh-CN"/>
              <a:t>‹#›</a:t>
            </a:fld>
            <a:endParaRPr lang="en-US" altLang="zh-CN"/>
          </a:p>
        </p:txBody>
      </p:sp>
    </p:spTree>
    <p:extLst>
      <p:ext uri="{BB962C8B-B14F-4D97-AF65-F5344CB8AC3E}">
        <p14:creationId xmlns:p14="http://schemas.microsoft.com/office/powerpoint/2010/main" val="51692390"/>
      </p:ext>
    </p:extLst>
  </p:cSld>
  <p:clrMapOvr>
    <a:masterClrMapping/>
  </p:clrMapOvr>
  <p:transition spd="slow"/>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495300" y="188640"/>
            <a:ext cx="9066212"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lvl="0"/>
            <a:r>
              <a:rPr lang="zh-CN" altLang="en-US" dirty="0"/>
              <a:t>单击此处编辑母版标题样式</a:t>
            </a:r>
            <a:endParaRPr lang="en-US" altLang="zh-CN" dirty="0"/>
          </a:p>
        </p:txBody>
      </p:sp>
      <p:sp>
        <p:nvSpPr>
          <p:cNvPr id="15363" name="Rectangle 3"/>
          <p:cNvSpPr>
            <a:spLocks noGrp="1" noChangeArrowheads="1"/>
          </p:cNvSpPr>
          <p:nvPr>
            <p:ph type="body" idx="1"/>
          </p:nvPr>
        </p:nvSpPr>
        <p:spPr bwMode="auto">
          <a:xfrm>
            <a:off x="495300" y="1196752"/>
            <a:ext cx="9066212" cy="4934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dirty="0"/>
              <a:t>单击此处编辑母版文本样式</a:t>
            </a:r>
            <a:endParaRPr lang="en-US" altLang="zh-CN" dirty="0"/>
          </a:p>
          <a:p>
            <a:pPr lvl="1"/>
            <a:r>
              <a:rPr lang="zh-CN" altLang="en-US" dirty="0"/>
              <a:t>第二级</a:t>
            </a:r>
            <a:endParaRPr lang="en-US" altLang="zh-CN" dirty="0"/>
          </a:p>
          <a:p>
            <a:pPr lvl="2"/>
            <a:r>
              <a:rPr lang="zh-CN" altLang="en-US" dirty="0"/>
              <a:t>第三级</a:t>
            </a:r>
            <a:endParaRPr lang="en-US" altLang="zh-CN" dirty="0"/>
          </a:p>
          <a:p>
            <a:pPr lvl="3"/>
            <a:r>
              <a:rPr lang="zh-CN" altLang="en-US" dirty="0"/>
              <a:t>第四级</a:t>
            </a:r>
            <a:endParaRPr lang="en-US" altLang="zh-CN" dirty="0"/>
          </a:p>
          <a:p>
            <a:pPr lvl="4"/>
            <a:r>
              <a:rPr lang="zh-CN" altLang="en-US" dirty="0"/>
              <a:t>第五级</a:t>
            </a:r>
            <a:endParaRPr lang="en-US" altLang="zh-CN" dirty="0"/>
          </a:p>
        </p:txBody>
      </p:sp>
      <p:sp>
        <p:nvSpPr>
          <p:cNvPr id="15364" name="Rectangle 4"/>
          <p:cNvSpPr>
            <a:spLocks noGrp="1" noChangeArrowheads="1"/>
          </p:cNvSpPr>
          <p:nvPr>
            <p:ph type="dt" sz="half" idx="2"/>
          </p:nvPr>
        </p:nvSpPr>
        <p:spPr bwMode="auto">
          <a:xfrm>
            <a:off x="495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defRPr sz="1000">
                <a:ea typeface="宋体" panose="02010600030101010101" pitchFamily="2" charset="-122"/>
              </a:defRPr>
            </a:lvl1pPr>
          </a:lstStyle>
          <a:p>
            <a:endParaRPr lang="en-US" altLang="zh-CN" dirty="0"/>
          </a:p>
        </p:txBody>
      </p:sp>
      <p:sp>
        <p:nvSpPr>
          <p:cNvPr id="15365" name="Rectangle 5"/>
          <p:cNvSpPr>
            <a:spLocks noGrp="1" noChangeArrowheads="1"/>
          </p:cNvSpPr>
          <p:nvPr>
            <p:ph type="ftr" sz="quarter" idx="3"/>
          </p:nvPr>
        </p:nvSpPr>
        <p:spPr bwMode="auto">
          <a:xfrm>
            <a:off x="3384550" y="6356176"/>
            <a:ext cx="313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ctr" eaLnBrk="1" hangingPunct="1">
              <a:defRPr sz="1000">
                <a:ea typeface="宋体" panose="02010600030101010101" pitchFamily="2" charset="-122"/>
              </a:defRPr>
            </a:lvl1pPr>
          </a:lstStyle>
          <a:p>
            <a:endParaRPr lang="en-US" altLang="zh-CN"/>
          </a:p>
        </p:txBody>
      </p:sp>
      <p:sp>
        <p:nvSpPr>
          <p:cNvPr id="15366" name="Rectangle 6"/>
          <p:cNvSpPr>
            <a:spLocks noGrp="1" noChangeArrowheads="1"/>
          </p:cNvSpPr>
          <p:nvPr>
            <p:ph type="sldNum" sz="quarter" idx="4"/>
          </p:nvPr>
        </p:nvSpPr>
        <p:spPr bwMode="auto">
          <a:xfrm>
            <a:off x="7099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defRPr sz="1000">
                <a:ea typeface="宋体" panose="02010600030101010101" pitchFamily="2" charset="-122"/>
              </a:defRPr>
            </a:lvl1pPr>
          </a:lstStyle>
          <a:p>
            <a:fld id="{67B052E9-C54A-4603-AE2F-EB72B006DB6C}" type="slidenum">
              <a:rPr lang="zh-CN" altLang="en-US"/>
              <a:t>‹#›</a:t>
            </a:fld>
            <a:endParaRPr lang="en-US" altLang="zh-CN"/>
          </a:p>
        </p:txBody>
      </p:sp>
      <p:sp>
        <p:nvSpPr>
          <p:cNvPr id="15367" name="Rectangle 7" descr="Gold bar"/>
          <p:cNvSpPr>
            <a:spLocks noChangeArrowheads="1"/>
          </p:cNvSpPr>
          <p:nvPr/>
        </p:nvSpPr>
        <p:spPr bwMode="auto">
          <a:xfrm>
            <a:off x="0" y="0"/>
            <a:ext cx="247650" cy="2286000"/>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2400">
              <a:latin typeface="Times New Roman" panose="02020603050405020304" pitchFamily="18" charset="0"/>
              <a:ea typeface="宋体" panose="02010600030101010101" pitchFamily="2" charset="-122"/>
            </a:endParaRPr>
          </a:p>
        </p:txBody>
      </p:sp>
      <p:sp>
        <p:nvSpPr>
          <p:cNvPr id="15369" name="Rectangle 9" descr="Orange bar"/>
          <p:cNvSpPr>
            <a:spLocks noChangeArrowheads="1"/>
          </p:cNvSpPr>
          <p:nvPr/>
        </p:nvSpPr>
        <p:spPr bwMode="auto">
          <a:xfrm>
            <a:off x="0" y="2286000"/>
            <a:ext cx="247650" cy="2286000"/>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2400">
              <a:latin typeface="Times New Roman" panose="02020603050405020304" pitchFamily="18" charset="0"/>
              <a:ea typeface="宋体" panose="02010600030101010101" pitchFamily="2" charset="-122"/>
            </a:endParaRPr>
          </a:p>
        </p:txBody>
      </p:sp>
      <p:sp>
        <p:nvSpPr>
          <p:cNvPr id="15370" name="Rectangle 10" descr="Slate bar"/>
          <p:cNvSpPr>
            <a:spLocks noChangeArrowheads="1"/>
          </p:cNvSpPr>
          <p:nvPr/>
        </p:nvSpPr>
        <p:spPr bwMode="auto">
          <a:xfrm>
            <a:off x="0" y="4572000"/>
            <a:ext cx="247650" cy="2286000"/>
          </a:xfrm>
          <a:prstGeom prst="rect">
            <a:avLst/>
          </a:prstGeom>
          <a:solidFill>
            <a:srgbClr val="333399"/>
          </a:solidFill>
          <a:ln>
            <a:noFill/>
          </a:ln>
          <a:effectLst/>
        </p:spPr>
        <p:txBody>
          <a:bodyPr wrap="none" anchor="ctr"/>
          <a:lstStyle/>
          <a:p>
            <a:pPr algn="ctr" eaLnBrk="1" hangingPunct="1"/>
            <a:endParaRPr lang="zh-CN" altLang="en-US" sz="2400">
              <a:latin typeface="Times New Roman" panose="02020603050405020304" pitchFamily="18" charset="0"/>
              <a:ea typeface="宋体" panose="02010600030101010101" pitchFamily="2" charset="-122"/>
            </a:endParaRPr>
          </a:p>
        </p:txBody>
      </p:sp>
      <p:pic>
        <p:nvPicPr>
          <p:cNvPr id="11" name="Picture 2" descr="computer networking 的图像结果"/>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69424" y="188640"/>
            <a:ext cx="1124935" cy="812453"/>
          </a:xfrm>
          <a:prstGeom prst="rect">
            <a:avLst/>
          </a:prstGeom>
          <a:noFill/>
          <a:extLst>
            <a:ext uri="{909E8E84-426E-40DD-AFC4-6F175D3DCCD1}">
              <a14:hiddenFill xmlns:a14="http://schemas.microsoft.com/office/drawing/2010/main">
                <a:solidFill>
                  <a:srgbClr val="FFFFFF"/>
                </a:solidFill>
              </a14:hiddenFill>
            </a:ext>
          </a:extLst>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3" r:id="rId14"/>
    <p:sldLayoutId id="2147483664" r:id="rId15"/>
  </p:sldLayoutIdLst>
  <p:txStyles>
    <p:titleStyle>
      <a:lvl1pPr algn="l" rtl="0" eaLnBrk="1" fontAlgn="base" hangingPunct="1">
        <a:spcBef>
          <a:spcPct val="0"/>
        </a:spcBef>
        <a:spcAft>
          <a:spcPct val="0"/>
        </a:spcAft>
        <a:defRPr sz="4400" b="1">
          <a:solidFill>
            <a:srgbClr val="333399"/>
          </a:solidFill>
          <a:latin typeface="+mn-lt"/>
          <a:ea typeface="黑体" panose="02010609060101010101" pitchFamily="2" charset="-122"/>
          <a:cs typeface="+mj-cs"/>
        </a:defRPr>
      </a:lvl1pPr>
      <a:lvl2pPr algn="l" rtl="0" eaLnBrk="1" fontAlgn="base" hangingPunct="1">
        <a:spcBef>
          <a:spcPct val="0"/>
        </a:spcBef>
        <a:spcAft>
          <a:spcPct val="0"/>
        </a:spcAft>
        <a:defRPr sz="4400">
          <a:solidFill>
            <a:schemeClr val="tx2"/>
          </a:solidFill>
          <a:latin typeface="Times New Roman" panose="02020603050405020304" pitchFamily="18" charset="0"/>
        </a:defRPr>
      </a:lvl2pPr>
      <a:lvl3pPr algn="l" rtl="0" eaLnBrk="1" fontAlgn="base" hangingPunct="1">
        <a:spcBef>
          <a:spcPct val="0"/>
        </a:spcBef>
        <a:spcAft>
          <a:spcPct val="0"/>
        </a:spcAft>
        <a:defRPr sz="4400">
          <a:solidFill>
            <a:schemeClr val="tx2"/>
          </a:solidFill>
          <a:latin typeface="Times New Roman" panose="02020603050405020304" pitchFamily="18" charset="0"/>
        </a:defRPr>
      </a:lvl3pPr>
      <a:lvl4pPr algn="l" rtl="0" eaLnBrk="1" fontAlgn="base" hangingPunct="1">
        <a:spcBef>
          <a:spcPct val="0"/>
        </a:spcBef>
        <a:spcAft>
          <a:spcPct val="0"/>
        </a:spcAft>
        <a:defRPr sz="4400">
          <a:solidFill>
            <a:schemeClr val="tx2"/>
          </a:solidFill>
          <a:latin typeface="Times New Roman" panose="02020603050405020304" pitchFamily="18" charset="0"/>
        </a:defRPr>
      </a:lvl4pPr>
      <a:lvl5pPr algn="l" rtl="0" eaLnBrk="1" fontAlgn="base" hangingPunct="1">
        <a:spcBef>
          <a:spcPct val="0"/>
        </a:spcBef>
        <a:spcAft>
          <a:spcPct val="0"/>
        </a:spcAft>
        <a:defRPr sz="4400">
          <a:solidFill>
            <a:schemeClr val="tx2"/>
          </a:solidFill>
          <a:latin typeface="Times New Roman" panose="02020603050405020304" pitchFamily="18" charset="0"/>
        </a:defRPr>
      </a:lvl5pPr>
      <a:lvl6pPr marL="457200" algn="l" rtl="0" eaLnBrk="1" fontAlgn="base" hangingPunct="1">
        <a:spcBef>
          <a:spcPct val="0"/>
        </a:spcBef>
        <a:spcAft>
          <a:spcPct val="0"/>
        </a:spcAft>
        <a:defRPr sz="4400">
          <a:solidFill>
            <a:schemeClr val="tx2"/>
          </a:solidFill>
          <a:latin typeface="Times New Roman" panose="02020603050405020304" pitchFamily="18" charset="0"/>
        </a:defRPr>
      </a:lvl6pPr>
      <a:lvl7pPr marL="914400" algn="l" rtl="0" eaLnBrk="1" fontAlgn="base" hangingPunct="1">
        <a:spcBef>
          <a:spcPct val="0"/>
        </a:spcBef>
        <a:spcAft>
          <a:spcPct val="0"/>
        </a:spcAft>
        <a:defRPr sz="4400">
          <a:solidFill>
            <a:schemeClr val="tx2"/>
          </a:solidFill>
          <a:latin typeface="Times New Roman" panose="02020603050405020304" pitchFamily="18" charset="0"/>
        </a:defRPr>
      </a:lvl7pPr>
      <a:lvl8pPr marL="1371600" algn="l" rtl="0" eaLnBrk="1" fontAlgn="base" hangingPunct="1">
        <a:spcBef>
          <a:spcPct val="0"/>
        </a:spcBef>
        <a:spcAft>
          <a:spcPct val="0"/>
        </a:spcAft>
        <a:defRPr sz="4400">
          <a:solidFill>
            <a:schemeClr val="tx2"/>
          </a:solidFill>
          <a:latin typeface="Times New Roman" panose="02020603050405020304" pitchFamily="18" charset="0"/>
        </a:defRPr>
      </a:lvl8pPr>
      <a:lvl9pPr marL="1828800" algn="l" rtl="0" eaLnBrk="1" fontAlgn="base" hangingPunct="1">
        <a:spcBef>
          <a:spcPct val="0"/>
        </a:spcBef>
        <a:spcAft>
          <a:spcPct val="0"/>
        </a:spcAft>
        <a:defRPr sz="4400">
          <a:solidFill>
            <a:schemeClr val="tx2"/>
          </a:solidFill>
          <a:latin typeface="Times New Roman" panose="02020603050405020304" pitchFamily="18" charset="0"/>
        </a:defRPr>
      </a:lvl9pPr>
    </p:titleStyle>
    <p:bodyStyle>
      <a:lvl1pPr marL="342900" indent="-342900" algn="l" rtl="0" eaLnBrk="1" fontAlgn="base" hangingPunct="1">
        <a:lnSpc>
          <a:spcPct val="110000"/>
        </a:lnSpc>
        <a:spcBef>
          <a:spcPts val="600"/>
        </a:spcBef>
        <a:spcAft>
          <a:spcPct val="0"/>
        </a:spcAft>
        <a:buClr>
          <a:srgbClr val="333399"/>
        </a:buClr>
        <a:buSzPct val="75000"/>
        <a:buFont typeface="Wingdings" panose="05000000000000000000" pitchFamily="2" charset="2"/>
        <a:buChar char="n"/>
        <a:defRPr sz="3200" b="1">
          <a:solidFill>
            <a:schemeClr val="tx1"/>
          </a:solidFill>
          <a:latin typeface="+mn-lt"/>
          <a:ea typeface="黑体" panose="02010609060101010101" pitchFamily="2" charset="-122"/>
          <a:cs typeface="+mn-cs"/>
        </a:defRPr>
      </a:lvl1pPr>
      <a:lvl2pPr marL="742950" indent="-285750" algn="l" rtl="0" eaLnBrk="1" fontAlgn="base" hangingPunct="1">
        <a:lnSpc>
          <a:spcPct val="110000"/>
        </a:lnSpc>
        <a:spcBef>
          <a:spcPts val="600"/>
        </a:spcBef>
        <a:spcAft>
          <a:spcPct val="0"/>
        </a:spcAft>
        <a:buClr>
          <a:schemeClr val="accent2"/>
        </a:buClr>
        <a:buSzPct val="70000"/>
        <a:buFont typeface="Wingdings" panose="05000000000000000000" pitchFamily="2" charset="2"/>
        <a:buChar char="n"/>
        <a:defRPr sz="2800" b="1">
          <a:solidFill>
            <a:schemeClr val="tx1"/>
          </a:solidFill>
          <a:latin typeface="+mn-lt"/>
          <a:ea typeface="黑体" panose="02010609060101010101" pitchFamily="2" charset="-122"/>
        </a:defRPr>
      </a:lvl2pPr>
      <a:lvl3pPr marL="1143000" indent="-228600" algn="l" rtl="0" eaLnBrk="1" fontAlgn="base" hangingPunct="1">
        <a:lnSpc>
          <a:spcPct val="110000"/>
        </a:lnSpc>
        <a:spcBef>
          <a:spcPts val="600"/>
        </a:spcBef>
        <a:spcAft>
          <a:spcPct val="0"/>
        </a:spcAft>
        <a:buClr>
          <a:srgbClr val="333399"/>
        </a:buClr>
        <a:buSzPct val="65000"/>
        <a:buFont typeface="Wingdings" panose="05000000000000000000" pitchFamily="2" charset="2"/>
        <a:buChar char="p"/>
        <a:defRPr sz="2400" b="1">
          <a:solidFill>
            <a:schemeClr val="tx1"/>
          </a:solidFill>
          <a:latin typeface="+mn-lt"/>
          <a:ea typeface="黑体" panose="02010609060101010101" pitchFamily="2" charset="-122"/>
        </a:defRPr>
      </a:lvl3pPr>
      <a:lvl4pPr marL="1600200" indent="-228600" algn="l" rtl="0" eaLnBrk="1" fontAlgn="base" hangingPunct="1">
        <a:lnSpc>
          <a:spcPct val="110000"/>
        </a:lnSpc>
        <a:spcBef>
          <a:spcPts val="600"/>
        </a:spcBef>
        <a:spcAft>
          <a:spcPct val="0"/>
        </a:spcAft>
        <a:buClr>
          <a:schemeClr val="bg2"/>
        </a:buClr>
        <a:buSzPct val="65000"/>
        <a:buFont typeface="Wingdings" panose="05000000000000000000" pitchFamily="2" charset="2"/>
        <a:buChar char="n"/>
        <a:defRPr sz="2000" b="1">
          <a:solidFill>
            <a:schemeClr val="tx1"/>
          </a:solidFill>
          <a:latin typeface="+mn-lt"/>
          <a:ea typeface="黑体" panose="02010609060101010101" pitchFamily="2" charset="-122"/>
        </a:defRPr>
      </a:lvl4pPr>
      <a:lvl5pPr marL="2057400" indent="-228600" algn="l" rtl="0" eaLnBrk="1" fontAlgn="base" hangingPunct="1">
        <a:lnSpc>
          <a:spcPct val="110000"/>
        </a:lnSpc>
        <a:spcBef>
          <a:spcPts val="600"/>
        </a:spcBef>
        <a:spcAft>
          <a:spcPct val="0"/>
        </a:spcAft>
        <a:buClr>
          <a:srgbClr val="333399"/>
        </a:buClr>
        <a:buSzPct val="60000"/>
        <a:buFont typeface="Wingdings" panose="05000000000000000000" pitchFamily="2" charset="2"/>
        <a:buChar char="n"/>
        <a:defRPr sz="2000" b="1">
          <a:solidFill>
            <a:schemeClr val="tx1"/>
          </a:solidFill>
          <a:latin typeface="+mn-lt"/>
          <a:ea typeface="黑体" panose="02010609060101010101" pitchFamily="2" charset="-122"/>
        </a:defRPr>
      </a:lvl5pPr>
      <a:lvl6pPr marL="2514600" indent="-22860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6pPr>
      <a:lvl7pPr marL="2971800" indent="-22860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7pPr>
      <a:lvl8pPr marL="3429000" indent="-22860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8pPr>
      <a:lvl9pPr marL="3886200" indent="-22860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8.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36.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52.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37.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5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62.xml"/><Relationship Id="rId7" Type="http://schemas.openxmlformats.org/officeDocument/2006/relationships/image" Target="../media/image2.wmf"/><Relationship Id="rId2" Type="http://schemas.openxmlformats.org/officeDocument/2006/relationships/slideLayout" Target="../slideLayouts/slideLayout6.xml"/><Relationship Id="rId1" Type="http://schemas.openxmlformats.org/officeDocument/2006/relationships/vmlDrawing" Target="../drawings/vmlDrawing1.vml"/><Relationship Id="rId6" Type="http://schemas.openxmlformats.org/officeDocument/2006/relationships/image" Target="../media/image8.emf"/><Relationship Id="rId5" Type="http://schemas.openxmlformats.org/officeDocument/2006/relationships/oleObject" Target="../embeddings/oleObject1.bin"/><Relationship Id="rId4" Type="http://schemas.openxmlformats.org/officeDocument/2006/relationships/image" Target="../media/image3.wmf"/></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70.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9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71.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00.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72.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01.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73.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10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8.xml"/><Relationship Id="rId1" Type="http://schemas.openxmlformats.org/officeDocument/2006/relationships/slideLayout" Target="../slideLayouts/slideLayout2.xml"/><Relationship Id="rId5" Type="http://schemas.openxmlformats.org/officeDocument/2006/relationships/image" Target="../media/image11.png"/><Relationship Id="rId4" Type="http://schemas.openxmlformats.org/officeDocument/2006/relationships/image" Target="../media/image10.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6.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13.wmf"/><Relationship Id="rId5" Type="http://schemas.openxmlformats.org/officeDocument/2006/relationships/oleObject" Target="../embeddings/oleObject3.bin"/><Relationship Id="rId4" Type="http://schemas.openxmlformats.org/officeDocument/2006/relationships/image" Target="../media/image12.wmf"/></Relationships>
</file>

<file path=ppt/slides/_rels/slide12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7.xml"/><Relationship Id="rId1" Type="http://schemas.openxmlformats.org/officeDocument/2006/relationships/vmlDrawing" Target="../drawings/vmlDrawing3.vml"/><Relationship Id="rId4" Type="http://schemas.openxmlformats.org/officeDocument/2006/relationships/image" Target="../media/image14.wmf"/></Relationships>
</file>

<file path=ppt/slides/_rels/slide121.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7.xml"/><Relationship Id="rId1" Type="http://schemas.openxmlformats.org/officeDocument/2006/relationships/vmlDrawing" Target="../drawings/vmlDrawing4.vml"/><Relationship Id="rId4" Type="http://schemas.openxmlformats.org/officeDocument/2006/relationships/image" Target="../media/image15.wmf"/></Relationships>
</file>

<file path=ppt/slides/_rels/slide12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2.wmf"/><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4.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7.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19.xml"/><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1.xml"/><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3.xml"/><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Layout" Target="../slideLayouts/slideLayout2.xml"/><Relationship Id="rId1" Type="http://schemas.openxmlformats.org/officeDocument/2006/relationships/tags" Target="../tags/tag5.xml"/><Relationship Id="rId4" Type="http://schemas.openxmlformats.org/officeDocument/2006/relationships/image" Target="../media/image21.png"/></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3.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5.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6.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1.xml"/><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2.xml"/><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image" Target="../media/image22.GIF"/><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8.xml"/><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6.xml"/></Relationships>
</file>

<file path=ppt/slides/_rels/slide22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6.xml"/><Relationship Id="rId5" Type="http://schemas.openxmlformats.org/officeDocument/2006/relationships/image" Target="../media/image28.png"/><Relationship Id="rId4" Type="http://schemas.openxmlformats.org/officeDocument/2006/relationships/image" Target="../media/image27.png"/></Relationships>
</file>

<file path=ppt/slides/_rels/slide229.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29.png"/><Relationship Id="rId4" Type="http://schemas.openxmlformats.org/officeDocument/2006/relationships/notesSlide" Target="../notesSlides/notesSlide17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notesSlide" Target="../notesSlides/notesSlide182.xml"/><Relationship Id="rId7" Type="http://schemas.openxmlformats.org/officeDocument/2006/relationships/image" Target="../media/image3.wmf"/><Relationship Id="rId2" Type="http://schemas.openxmlformats.org/officeDocument/2006/relationships/slideLayout" Target="../slideLayouts/slideLayout6.xml"/><Relationship Id="rId1" Type="http://schemas.openxmlformats.org/officeDocument/2006/relationships/vmlDrawing" Target="../drawings/vmlDrawing5.vml"/><Relationship Id="rId6" Type="http://schemas.openxmlformats.org/officeDocument/2006/relationships/image" Target="../media/image30.wmf"/><Relationship Id="rId5" Type="http://schemas.openxmlformats.org/officeDocument/2006/relationships/oleObject" Target="../embeddings/oleObject6.bin"/><Relationship Id="rId4" Type="http://schemas.openxmlformats.org/officeDocument/2006/relationships/image" Target="../media/image2.wmf"/></Relationships>
</file>

<file path=ppt/slides/_rels/slide240.xml.rels><?xml version="1.0" encoding="UTF-8" standalone="yes"?>
<Relationships xmlns="http://schemas.openxmlformats.org/package/2006/relationships"><Relationship Id="rId3" Type="http://schemas.openxmlformats.org/officeDocument/2006/relationships/notesSlide" Target="../notesSlides/notesSlide183.xml"/><Relationship Id="rId7" Type="http://schemas.openxmlformats.org/officeDocument/2006/relationships/image" Target="../media/image3.wmf"/><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image" Target="../media/image30.wmf"/><Relationship Id="rId5" Type="http://schemas.openxmlformats.org/officeDocument/2006/relationships/oleObject" Target="../embeddings/oleObject7.bin"/><Relationship Id="rId4" Type="http://schemas.openxmlformats.org/officeDocument/2006/relationships/image" Target="../media/image2.wmf"/></Relationships>
</file>

<file path=ppt/slides/_rels/slide24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84.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notesSlide" Target="../notesSlides/notesSlide187.xml"/><Relationship Id="rId7" Type="http://schemas.openxmlformats.org/officeDocument/2006/relationships/image" Target="../media/image2.wmf"/><Relationship Id="rId2" Type="http://schemas.openxmlformats.org/officeDocument/2006/relationships/slideLayout" Target="../slideLayouts/slideLayout6.xml"/><Relationship Id="rId1" Type="http://schemas.openxmlformats.org/officeDocument/2006/relationships/vmlDrawing" Target="../drawings/vmlDrawing7.vml"/><Relationship Id="rId6" Type="http://schemas.openxmlformats.org/officeDocument/2006/relationships/image" Target="../media/image31.wmf"/><Relationship Id="rId5" Type="http://schemas.openxmlformats.org/officeDocument/2006/relationships/image" Target="../media/image30.wmf"/><Relationship Id="rId4" Type="http://schemas.openxmlformats.org/officeDocument/2006/relationships/oleObject" Target="../embeddings/oleObject8.bin"/></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3" Type="http://schemas.openxmlformats.org/officeDocument/2006/relationships/notesSlide" Target="../notesSlides/notesSlide189.xml"/><Relationship Id="rId2" Type="http://schemas.openxmlformats.org/officeDocument/2006/relationships/slideLayout" Target="../slideLayouts/slideLayout2.xml"/><Relationship Id="rId1" Type="http://schemas.openxmlformats.org/officeDocument/2006/relationships/tags" Target="../tags/tag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92.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2" Type="http://schemas.openxmlformats.org/officeDocument/2006/relationships/image" Target="../media/image33.emf"/><Relationship Id="rId1" Type="http://schemas.openxmlformats.org/officeDocument/2006/relationships/slideLayout" Target="../slideLayouts/slideLayout15.xml"/></Relationships>
</file>

<file path=ppt/slides/_rels/slide259.xml.rels><?xml version="1.0" encoding="UTF-8" standalone="yes"?>
<Relationships xmlns="http://schemas.openxmlformats.org/package/2006/relationships"><Relationship Id="rId2" Type="http://schemas.openxmlformats.org/officeDocument/2006/relationships/image" Target="../media/image34.emf"/><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emf"/><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96.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6.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01.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image" Target="../media/image3.wmf"/><Relationship Id="rId7" Type="http://schemas.openxmlformats.org/officeDocument/2006/relationships/image" Target="../media/image2.wmf"/><Relationship Id="rId2" Type="http://schemas.openxmlformats.org/officeDocument/2006/relationships/notesSlide" Target="../notesSlides/notesSlide203.xml"/><Relationship Id="rId1" Type="http://schemas.openxmlformats.org/officeDocument/2006/relationships/slideLayout" Target="../slideLayouts/slideLayout7.xml"/><Relationship Id="rId6" Type="http://schemas.openxmlformats.org/officeDocument/2006/relationships/image" Target="../media/image39.png"/><Relationship Id="rId5" Type="http://schemas.openxmlformats.org/officeDocument/2006/relationships/image" Target="../media/image38.jpeg"/><Relationship Id="rId4" Type="http://schemas.openxmlformats.org/officeDocument/2006/relationships/image" Target="../media/image37.wmf"/></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20.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21.xml"/><Relationship Id="rId1" Type="http://schemas.openxmlformats.org/officeDocument/2006/relationships/slideLayout" Target="../slideLayouts/slideLayout6.xml"/><Relationship Id="rId4" Type="http://schemas.openxmlformats.org/officeDocument/2006/relationships/image" Target="../media/image3.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p:txBody>
          <a:bodyPr/>
          <a:lstStyle/>
          <a:p>
            <a:r>
              <a:rPr lang="zh-CN" altLang="en-US" dirty="0">
                <a:latin typeface="+mn-lt"/>
              </a:rPr>
              <a:t>第 </a:t>
            </a:r>
            <a:r>
              <a:rPr lang="en-US" altLang="zh-CN" dirty="0">
                <a:latin typeface="+mn-lt"/>
              </a:rPr>
              <a:t>4 </a:t>
            </a:r>
            <a:r>
              <a:rPr lang="zh-CN" altLang="en-US" dirty="0">
                <a:latin typeface="+mn-lt"/>
              </a:rPr>
              <a:t>章  网络层</a:t>
            </a:r>
          </a:p>
        </p:txBody>
      </p:sp>
      <p:sp>
        <p:nvSpPr>
          <p:cNvPr id="2051" name="Rectangle 3"/>
          <p:cNvSpPr>
            <a:spLocks noGrp="1" noChangeArrowheads="1"/>
          </p:cNvSpPr>
          <p:nvPr>
            <p:ph type="subTitle" idx="1"/>
          </p:nvPr>
        </p:nvSpPr>
        <p:spPr/>
        <p:txBody>
          <a:bodyPr/>
          <a:lstStyle/>
          <a:p>
            <a:endParaRPr lang="zh-CN" altLang="en-US">
              <a:ea typeface="宋体" panose="02010600030101010101" pitchFamily="2" charset="-122"/>
            </a:endParaRPr>
          </a:p>
        </p:txBody>
      </p:sp>
    </p:spTree>
  </p:cSld>
  <p:clrMapOvr>
    <a:masterClrMapping/>
  </p:clrMapOvr>
  <p:transition spd="med">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第</a:t>
            </a:r>
            <a:r>
              <a:rPr lang="en-US" altLang="zh-CN" dirty="0"/>
              <a:t> 4 </a:t>
            </a:r>
            <a:r>
              <a:rPr lang="zh-CN" altLang="zh-CN" dirty="0"/>
              <a:t>章</a:t>
            </a:r>
            <a:r>
              <a:rPr lang="en-US" altLang="zh-CN" dirty="0"/>
              <a:t>  </a:t>
            </a:r>
            <a:r>
              <a:rPr lang="zh-CN" altLang="en-US" dirty="0"/>
              <a:t>网络</a:t>
            </a:r>
            <a:r>
              <a:rPr lang="zh-CN" altLang="zh-CN" dirty="0"/>
              <a:t>层</a:t>
            </a:r>
            <a:endParaRPr lang="zh-CN" altLang="en-US" dirty="0"/>
          </a:p>
        </p:txBody>
      </p:sp>
      <p:sp>
        <p:nvSpPr>
          <p:cNvPr id="3" name="内容占位符 2"/>
          <p:cNvSpPr>
            <a:spLocks noGrp="1"/>
          </p:cNvSpPr>
          <p:nvPr>
            <p:ph idx="1"/>
          </p:nvPr>
        </p:nvSpPr>
        <p:spPr>
          <a:xfrm>
            <a:off x="495300" y="1196340"/>
            <a:ext cx="9065895" cy="4447540"/>
          </a:xfrm>
        </p:spPr>
        <p:txBody>
          <a:bodyPr/>
          <a:lstStyle/>
          <a:p>
            <a:pPr>
              <a:lnSpc>
                <a:spcPct val="100000"/>
              </a:lnSpc>
            </a:pPr>
            <a:r>
              <a:rPr lang="en-US" altLang="zh-CN" dirty="0"/>
              <a:t>4.1  </a:t>
            </a:r>
            <a:r>
              <a:rPr lang="zh-CN" altLang="zh-CN" dirty="0"/>
              <a:t>网络层提供的两种服务</a:t>
            </a:r>
          </a:p>
          <a:p>
            <a:pPr>
              <a:lnSpc>
                <a:spcPct val="100000"/>
              </a:lnSpc>
            </a:pPr>
            <a:r>
              <a:rPr lang="en-US" altLang="zh-CN" dirty="0"/>
              <a:t>4.2  </a:t>
            </a:r>
            <a:r>
              <a:rPr lang="zh-CN" altLang="zh-CN" dirty="0"/>
              <a:t>网际协议</a:t>
            </a:r>
            <a:r>
              <a:rPr lang="en-US" altLang="zh-CN" dirty="0"/>
              <a:t> IP</a:t>
            </a:r>
            <a:endParaRPr lang="zh-CN" altLang="zh-CN" dirty="0"/>
          </a:p>
          <a:p>
            <a:pPr>
              <a:lnSpc>
                <a:spcPct val="100000"/>
              </a:lnSpc>
            </a:pPr>
            <a:r>
              <a:rPr lang="en-US" altLang="zh-CN" dirty="0"/>
              <a:t>4.3  </a:t>
            </a:r>
            <a:r>
              <a:rPr lang="zh-CN" altLang="zh-CN" dirty="0"/>
              <a:t>划分子网和构造超网</a:t>
            </a:r>
          </a:p>
          <a:p>
            <a:pPr>
              <a:lnSpc>
                <a:spcPct val="100000"/>
              </a:lnSpc>
            </a:pPr>
            <a:r>
              <a:rPr lang="en-US" altLang="zh-CN" dirty="0"/>
              <a:t>4.4  </a:t>
            </a:r>
            <a:r>
              <a:rPr lang="zh-CN" altLang="zh-CN" dirty="0"/>
              <a:t>网际控制报文协议</a:t>
            </a:r>
            <a:r>
              <a:rPr lang="en-US" altLang="zh-CN" dirty="0"/>
              <a:t> ICMP</a:t>
            </a:r>
            <a:endParaRPr lang="zh-CN" altLang="zh-CN" dirty="0"/>
          </a:p>
          <a:p>
            <a:pPr>
              <a:lnSpc>
                <a:spcPct val="100000"/>
              </a:lnSpc>
            </a:pPr>
            <a:r>
              <a:rPr lang="en-US" altLang="zh-CN" dirty="0"/>
              <a:t>4.5  </a:t>
            </a:r>
            <a:r>
              <a:rPr lang="zh-CN" altLang="zh-CN" dirty="0"/>
              <a:t>互联网的路由选择协议</a:t>
            </a:r>
          </a:p>
          <a:p>
            <a:pPr>
              <a:lnSpc>
                <a:spcPct val="100000"/>
              </a:lnSpc>
            </a:pPr>
            <a:r>
              <a:rPr lang="en-US" altLang="zh-CN" dirty="0"/>
              <a:t>4.6  IPv6</a:t>
            </a:r>
            <a:endParaRPr lang="zh-CN" altLang="zh-CN" dirty="0"/>
          </a:p>
          <a:p>
            <a:pPr>
              <a:lnSpc>
                <a:spcPct val="100000"/>
              </a:lnSpc>
            </a:pPr>
            <a:r>
              <a:rPr lang="en-US" altLang="zh-CN" dirty="0"/>
              <a:t>4.7  </a:t>
            </a:r>
            <a:r>
              <a:rPr lang="zh-CN" altLang="zh-CN" dirty="0"/>
              <a:t>虚拟专用网</a:t>
            </a:r>
            <a:r>
              <a:rPr lang="en-US" altLang="zh-CN" dirty="0"/>
              <a:t> VPN </a:t>
            </a:r>
            <a:r>
              <a:rPr lang="zh-CN" altLang="zh-CN" dirty="0"/>
              <a:t>和网络地址转换</a:t>
            </a:r>
            <a:r>
              <a:rPr lang="en-US" altLang="zh-CN" dirty="0"/>
              <a:t> NAT</a:t>
            </a:r>
            <a:endParaRPr lang="zh-CN" altLang="zh-CN" dirty="0"/>
          </a:p>
          <a:p>
            <a:pPr marL="0" indent="0">
              <a:lnSpc>
                <a:spcPct val="100000"/>
              </a:lnSpc>
              <a:buNone/>
            </a:pPr>
            <a:endParaRPr lang="zh-CN" altLang="zh-CN"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4.1  </a:t>
            </a:r>
            <a:r>
              <a:rPr lang="zh-CN" altLang="en-US" dirty="0"/>
              <a:t>网络层提供的两种服务 </a:t>
            </a:r>
          </a:p>
        </p:txBody>
      </p:sp>
      <p:sp>
        <p:nvSpPr>
          <p:cNvPr id="931843" name="Rectangle 3"/>
          <p:cNvSpPr>
            <a:spLocks noGrp="1" noChangeArrowheads="1"/>
          </p:cNvSpPr>
          <p:nvPr>
            <p:ph idx="1"/>
          </p:nvPr>
        </p:nvSpPr>
        <p:spPr/>
        <p:txBody>
          <a:bodyPr/>
          <a:lstStyle/>
          <a:p>
            <a:r>
              <a:rPr lang="zh-CN" altLang="en-US" dirty="0"/>
              <a:t>在计算机网络领域，网络层应该向运输层提供怎样的服务（“</a:t>
            </a:r>
            <a:r>
              <a:rPr lang="zh-CN" altLang="en-US" dirty="0">
                <a:solidFill>
                  <a:srgbClr val="FF0000"/>
                </a:solidFill>
              </a:rPr>
              <a:t>面向连接</a:t>
            </a:r>
            <a:r>
              <a:rPr lang="zh-CN" altLang="en-US" dirty="0"/>
              <a:t>”还是“</a:t>
            </a:r>
            <a:r>
              <a:rPr lang="zh-CN" altLang="en-US" dirty="0">
                <a:solidFill>
                  <a:srgbClr val="FF0000"/>
                </a:solidFill>
              </a:rPr>
              <a:t>无连接</a:t>
            </a:r>
            <a:r>
              <a:rPr lang="zh-CN" altLang="en-US" dirty="0"/>
              <a:t>”）曾引起了长期的争论。</a:t>
            </a:r>
          </a:p>
          <a:p>
            <a:r>
              <a:rPr lang="zh-CN" altLang="en-US" dirty="0"/>
              <a:t>争论焦点的实质就是：</a:t>
            </a:r>
            <a:r>
              <a:rPr lang="zh-CN" altLang="en-US" dirty="0">
                <a:solidFill>
                  <a:srgbClr val="0000CC"/>
                </a:solidFill>
              </a:rPr>
              <a:t>在计算机通信中，可靠交付应当由谁来负责？是</a:t>
            </a:r>
            <a:r>
              <a:rPr lang="zh-CN" altLang="en-US" dirty="0">
                <a:solidFill>
                  <a:srgbClr val="FF0000"/>
                </a:solidFill>
              </a:rPr>
              <a:t>网络</a:t>
            </a:r>
            <a:r>
              <a:rPr lang="zh-CN" altLang="en-US" dirty="0">
                <a:solidFill>
                  <a:srgbClr val="0000CC"/>
                </a:solidFill>
              </a:rPr>
              <a:t>还是</a:t>
            </a:r>
            <a:r>
              <a:rPr lang="zh-CN" altLang="en-US" dirty="0">
                <a:solidFill>
                  <a:srgbClr val="FF0000"/>
                </a:solidFill>
              </a:rPr>
              <a:t>端系统</a:t>
            </a:r>
            <a:r>
              <a:rPr lang="zh-CN" altLang="en-US" dirty="0">
                <a:solidFill>
                  <a:srgbClr val="0000CC"/>
                </a:solidFill>
              </a:rPr>
              <a:t>？ </a:t>
            </a:r>
          </a:p>
        </p:txBody>
      </p:sp>
    </p:spTree>
    <p:extLst>
      <p:ext uri="{BB962C8B-B14F-4D97-AF65-F5344CB8AC3E}">
        <p14:creationId xmlns:p14="http://schemas.microsoft.com/office/powerpoint/2010/main" val="10940252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pPr algn="ctr"/>
            <a:r>
              <a:rPr lang="zh-CN" altLang="en-US" dirty="0"/>
              <a:t>一种观点：让网络负责可靠交付 </a:t>
            </a:r>
          </a:p>
        </p:txBody>
      </p:sp>
      <p:sp>
        <p:nvSpPr>
          <p:cNvPr id="932867" name="Rectangle 3"/>
          <p:cNvSpPr>
            <a:spLocks noGrp="1" noChangeArrowheads="1"/>
          </p:cNvSpPr>
          <p:nvPr>
            <p:ph idx="1"/>
          </p:nvPr>
        </p:nvSpPr>
        <p:spPr/>
        <p:txBody>
          <a:bodyPr/>
          <a:lstStyle/>
          <a:p>
            <a:r>
              <a:rPr lang="zh-CN" altLang="en-US" dirty="0"/>
              <a:t>这种观点认为，应</a:t>
            </a:r>
            <a:r>
              <a:rPr lang="zh-CN" altLang="zh-CN" dirty="0"/>
              <a:t>借助于电信网的成功经验，让网络负责可靠交付</a:t>
            </a:r>
            <a:r>
              <a:rPr lang="zh-CN" altLang="en-US" dirty="0"/>
              <a:t>，</a:t>
            </a:r>
            <a:r>
              <a:rPr lang="zh-CN" altLang="zh-CN" dirty="0"/>
              <a:t>计算机网络应模仿</a:t>
            </a:r>
            <a:r>
              <a:rPr lang="zh-CN" altLang="en-US" dirty="0"/>
              <a:t>电信网络，使用</a:t>
            </a:r>
            <a:r>
              <a:rPr lang="zh-CN" altLang="zh-CN" dirty="0">
                <a:solidFill>
                  <a:srgbClr val="FF0000"/>
                </a:solidFill>
              </a:rPr>
              <a:t>面向连接</a:t>
            </a:r>
            <a:r>
              <a:rPr lang="zh-CN" altLang="zh-CN" dirty="0"/>
              <a:t>的通信方式</a:t>
            </a:r>
            <a:r>
              <a:rPr lang="zh-CN" altLang="en-US" dirty="0"/>
              <a:t>。</a:t>
            </a:r>
          </a:p>
          <a:p>
            <a:r>
              <a:rPr lang="zh-CN" altLang="en-US" dirty="0"/>
              <a:t>通信之前先建立</a:t>
            </a:r>
            <a:r>
              <a:rPr lang="zh-CN" altLang="en-US" dirty="0">
                <a:solidFill>
                  <a:srgbClr val="FF0000"/>
                </a:solidFill>
              </a:rPr>
              <a:t>虚电路 </a:t>
            </a:r>
            <a:r>
              <a:rPr lang="en-US" altLang="zh-CN" dirty="0"/>
              <a:t>(Virtual Circuit)</a:t>
            </a:r>
            <a:r>
              <a:rPr lang="zh-CN" altLang="en-US" dirty="0"/>
              <a:t>，以保证双方通信所需的一切网络资源。 </a:t>
            </a:r>
          </a:p>
          <a:p>
            <a:r>
              <a:rPr lang="zh-CN" altLang="en-US" dirty="0"/>
              <a:t>如果再使用可靠传输的网络协议，就可使所发送的分组无差错按序到达终点，</a:t>
            </a:r>
            <a:r>
              <a:rPr lang="zh-CN" altLang="zh-CN" dirty="0"/>
              <a:t>不丢失、不重复</a:t>
            </a:r>
            <a:r>
              <a:rPr lang="zh-CN" altLang="en-US" dirty="0"/>
              <a:t>。</a:t>
            </a:r>
          </a:p>
        </p:txBody>
      </p:sp>
    </p:spTree>
    <p:extLst>
      <p:ext uri="{BB962C8B-B14F-4D97-AF65-F5344CB8AC3E}">
        <p14:creationId xmlns:p14="http://schemas.microsoft.com/office/powerpoint/2010/main" val="149766380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虚电路服务</a:t>
            </a:r>
          </a:p>
        </p:txBody>
      </p:sp>
      <p:grpSp>
        <p:nvGrpSpPr>
          <p:cNvPr id="4" name="组合 3"/>
          <p:cNvGrpSpPr/>
          <p:nvPr/>
        </p:nvGrpSpPr>
        <p:grpSpPr>
          <a:xfrm>
            <a:off x="632520" y="1844824"/>
            <a:ext cx="8928992" cy="3076988"/>
            <a:chOff x="632520" y="1844824"/>
            <a:chExt cx="8928992" cy="3076988"/>
          </a:xfrm>
        </p:grpSpPr>
        <p:sp>
          <p:nvSpPr>
            <p:cNvPr id="77" name="Rectangle 2"/>
            <p:cNvSpPr>
              <a:spLocks noChangeArrowheads="1"/>
            </p:cNvSpPr>
            <p:nvPr/>
          </p:nvSpPr>
          <p:spPr bwMode="auto">
            <a:xfrm>
              <a:off x="7964736" y="2588842"/>
              <a:ext cx="1484258" cy="309562"/>
            </a:xfrm>
            <a:prstGeom prst="rect">
              <a:avLst/>
            </a:prstGeom>
            <a:solidFill>
              <a:srgbClr val="FF66FF"/>
            </a:solidFill>
            <a:ln>
              <a:noFill/>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8" name="Text Box 3"/>
            <p:cNvSpPr txBox="1">
              <a:spLocks noChangeArrowheads="1"/>
            </p:cNvSpPr>
            <p:nvPr/>
          </p:nvSpPr>
          <p:spPr bwMode="auto">
            <a:xfrm>
              <a:off x="7901882" y="1930549"/>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物理层</a:t>
              </a:r>
            </a:p>
          </p:txBody>
        </p:sp>
        <p:sp>
          <p:nvSpPr>
            <p:cNvPr id="79" name="Rectangle 4"/>
            <p:cNvSpPr>
              <a:spLocks noChangeArrowheads="1"/>
            </p:cNvSpPr>
            <p:nvPr/>
          </p:nvSpPr>
          <p:spPr bwMode="auto">
            <a:xfrm>
              <a:off x="695374" y="2503117"/>
              <a:ext cx="1484257" cy="309562"/>
            </a:xfrm>
            <a:prstGeom prst="rect">
              <a:avLst/>
            </a:prstGeom>
            <a:solidFill>
              <a:srgbClr val="FF66FF"/>
            </a:solidFill>
            <a:ln>
              <a:noFill/>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Text Box 5"/>
            <p:cNvSpPr txBox="1">
              <a:spLocks noChangeArrowheads="1"/>
            </p:cNvSpPr>
            <p:nvPr/>
          </p:nvSpPr>
          <p:spPr bwMode="auto">
            <a:xfrm>
              <a:off x="632520" y="1844824"/>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物理层</a:t>
              </a:r>
            </a:p>
          </p:txBody>
        </p:sp>
        <p:sp>
          <p:nvSpPr>
            <p:cNvPr id="81" name="Line 7"/>
            <p:cNvSpPr>
              <a:spLocks noChangeShapeType="1"/>
            </p:cNvSpPr>
            <p:nvPr/>
          </p:nvSpPr>
          <p:spPr bwMode="auto">
            <a:xfrm>
              <a:off x="5085011" y="2130054"/>
              <a:ext cx="58738" cy="5619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2" name="Line 8"/>
            <p:cNvSpPr>
              <a:spLocks noChangeShapeType="1"/>
            </p:cNvSpPr>
            <p:nvPr/>
          </p:nvSpPr>
          <p:spPr bwMode="auto">
            <a:xfrm>
              <a:off x="2492624" y="2996829"/>
              <a:ext cx="508000" cy="2587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Rectangle 9"/>
            <p:cNvSpPr>
              <a:spLocks noChangeArrowheads="1"/>
            </p:cNvSpPr>
            <p:nvPr/>
          </p:nvSpPr>
          <p:spPr bwMode="auto">
            <a:xfrm>
              <a:off x="674736" y="1880817"/>
              <a:ext cx="1523553" cy="1493837"/>
            </a:xfrm>
            <a:prstGeom prst="rect">
              <a:avLst/>
            </a:prstGeom>
            <a:noFill/>
            <a:ln w="28575">
              <a:solidFill>
                <a:srgbClr val="3333CC"/>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4" name="Line 10"/>
            <p:cNvSpPr>
              <a:spLocks noChangeShapeType="1"/>
            </p:cNvSpPr>
            <p:nvPr/>
          </p:nvSpPr>
          <p:spPr bwMode="auto">
            <a:xfrm>
              <a:off x="674736" y="2223717"/>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5" name="Line 11"/>
            <p:cNvSpPr>
              <a:spLocks noChangeShapeType="1"/>
            </p:cNvSpPr>
            <p:nvPr/>
          </p:nvSpPr>
          <p:spPr bwMode="auto">
            <a:xfrm>
              <a:off x="674736" y="2512642"/>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Line 12"/>
            <p:cNvSpPr>
              <a:spLocks noChangeShapeType="1"/>
            </p:cNvSpPr>
            <p:nvPr/>
          </p:nvSpPr>
          <p:spPr bwMode="auto">
            <a:xfrm>
              <a:off x="674736" y="2801567"/>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7" name="Line 13"/>
            <p:cNvSpPr>
              <a:spLocks noChangeShapeType="1"/>
            </p:cNvSpPr>
            <p:nvPr/>
          </p:nvSpPr>
          <p:spPr bwMode="auto">
            <a:xfrm>
              <a:off x="674736" y="3090492"/>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8" name="Rectangle 14"/>
            <p:cNvSpPr>
              <a:spLocks noChangeArrowheads="1"/>
            </p:cNvSpPr>
            <p:nvPr/>
          </p:nvSpPr>
          <p:spPr bwMode="auto">
            <a:xfrm>
              <a:off x="7944099" y="1950667"/>
              <a:ext cx="1523551" cy="1509712"/>
            </a:xfrm>
            <a:prstGeom prst="rect">
              <a:avLst/>
            </a:prstGeom>
            <a:noFill/>
            <a:ln w="28575">
              <a:solidFill>
                <a:srgbClr val="3333CC"/>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15"/>
            <p:cNvSpPr>
              <a:spLocks noChangeShapeType="1"/>
            </p:cNvSpPr>
            <p:nvPr/>
          </p:nvSpPr>
          <p:spPr bwMode="auto">
            <a:xfrm>
              <a:off x="7944099" y="2309442"/>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0" name="Line 16"/>
            <p:cNvSpPr>
              <a:spLocks noChangeShapeType="1"/>
            </p:cNvSpPr>
            <p:nvPr/>
          </p:nvSpPr>
          <p:spPr bwMode="auto">
            <a:xfrm>
              <a:off x="7944099" y="2598367"/>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1" name="Line 17"/>
            <p:cNvSpPr>
              <a:spLocks noChangeShapeType="1"/>
            </p:cNvSpPr>
            <p:nvPr/>
          </p:nvSpPr>
          <p:spPr bwMode="auto">
            <a:xfrm>
              <a:off x="7944099" y="2887292"/>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Line 18"/>
            <p:cNvSpPr>
              <a:spLocks noChangeShapeType="1"/>
            </p:cNvSpPr>
            <p:nvPr/>
          </p:nvSpPr>
          <p:spPr bwMode="auto">
            <a:xfrm>
              <a:off x="7944099" y="3176217"/>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3" name="Text Box 19"/>
            <p:cNvSpPr txBox="1">
              <a:spLocks noChangeArrowheads="1"/>
            </p:cNvSpPr>
            <p:nvPr/>
          </p:nvSpPr>
          <p:spPr bwMode="auto">
            <a:xfrm>
              <a:off x="2276724" y="2061792"/>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1</a:t>
              </a:r>
            </a:p>
          </p:txBody>
        </p:sp>
        <p:pic>
          <p:nvPicPr>
            <p:cNvPr id="9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8624" y="2447554"/>
              <a:ext cx="592137" cy="65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Line 21"/>
            <p:cNvSpPr>
              <a:spLocks noChangeShapeType="1"/>
            </p:cNvSpPr>
            <p:nvPr/>
          </p:nvSpPr>
          <p:spPr bwMode="auto">
            <a:xfrm>
              <a:off x="3337174" y="3255592"/>
              <a:ext cx="1608137" cy="606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6" name="Line 22"/>
            <p:cNvSpPr>
              <a:spLocks noChangeShapeType="1"/>
            </p:cNvSpPr>
            <p:nvPr/>
          </p:nvSpPr>
          <p:spPr bwMode="auto">
            <a:xfrm flipV="1">
              <a:off x="3253036" y="2822204"/>
              <a:ext cx="1862138" cy="4333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7" name="Line 23"/>
            <p:cNvSpPr>
              <a:spLocks noChangeShapeType="1"/>
            </p:cNvSpPr>
            <p:nvPr/>
          </p:nvSpPr>
          <p:spPr bwMode="auto">
            <a:xfrm>
              <a:off x="5283449" y="2822204"/>
              <a:ext cx="1524000" cy="5191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8" name="Line 24"/>
            <p:cNvSpPr>
              <a:spLocks noChangeShapeType="1"/>
            </p:cNvSpPr>
            <p:nvPr/>
          </p:nvSpPr>
          <p:spPr bwMode="auto">
            <a:xfrm flipV="1">
              <a:off x="5115174" y="3430217"/>
              <a:ext cx="1692275" cy="431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9" name="Line 25"/>
            <p:cNvSpPr>
              <a:spLocks noChangeShapeType="1"/>
            </p:cNvSpPr>
            <p:nvPr/>
          </p:nvSpPr>
          <p:spPr bwMode="auto">
            <a:xfrm flipV="1">
              <a:off x="6891586" y="2996829"/>
              <a:ext cx="676275" cy="3444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00" name="Group 26"/>
            <p:cNvGrpSpPr>
              <a:grpSpLocks/>
            </p:cNvGrpSpPr>
            <p:nvPr/>
          </p:nvGrpSpPr>
          <p:grpSpPr bwMode="auto">
            <a:xfrm>
              <a:off x="7312274" y="2082429"/>
              <a:ext cx="593725" cy="1042988"/>
              <a:chOff x="5283" y="1002"/>
              <a:chExt cx="318" cy="545"/>
            </a:xfrm>
          </p:grpSpPr>
          <p:sp>
            <p:nvSpPr>
              <p:cNvPr id="101" name="Text Box 27"/>
              <p:cNvSpPr txBox="1">
                <a:spLocks noChangeArrowheads="1"/>
              </p:cNvSpPr>
              <p:nvPr/>
            </p:nvSpPr>
            <p:spPr bwMode="auto">
              <a:xfrm>
                <a:off x="5283" y="1002"/>
                <a:ext cx="287" cy="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2</a:t>
                </a:r>
              </a:p>
            </p:txBody>
          </p:sp>
          <p:pic>
            <p:nvPicPr>
              <p:cNvPr id="102"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3" name="Line 29"/>
            <p:cNvSpPr>
              <a:spLocks noChangeShapeType="1"/>
            </p:cNvSpPr>
            <p:nvPr/>
          </p:nvSpPr>
          <p:spPr bwMode="auto">
            <a:xfrm flipV="1">
              <a:off x="3253036" y="2042742"/>
              <a:ext cx="1776413" cy="11271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4" name="Line 30"/>
            <p:cNvSpPr>
              <a:spLocks noChangeShapeType="1"/>
            </p:cNvSpPr>
            <p:nvPr/>
          </p:nvSpPr>
          <p:spPr bwMode="auto">
            <a:xfrm>
              <a:off x="5199311" y="2042742"/>
              <a:ext cx="1692275" cy="1212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05"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95849" y="3082554"/>
              <a:ext cx="611187"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61174" y="2649167"/>
              <a:ext cx="612775"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1311" y="3688979"/>
              <a:ext cx="612775" cy="34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53449" y="316986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9"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75449" y="186811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10" name="Freeform 36"/>
            <p:cNvSpPr>
              <a:spLocks/>
            </p:cNvSpPr>
            <p:nvPr/>
          </p:nvSpPr>
          <p:spPr bwMode="auto">
            <a:xfrm>
              <a:off x="1979861" y="2672979"/>
              <a:ext cx="6181725" cy="828675"/>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1" name="Text Box 37"/>
            <p:cNvSpPr txBox="1">
              <a:spLocks noChangeArrowheads="1"/>
            </p:cNvSpPr>
            <p:nvPr/>
          </p:nvSpPr>
          <p:spPr bwMode="auto">
            <a:xfrm>
              <a:off x="4689724" y="3092079"/>
              <a:ext cx="88197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虚电路</a:t>
              </a:r>
              <a:endParaRPr kumimoji="0" lang="zh-CN" altLang="en-US" sz="1800" b="1" i="0" u="none" strike="noStrike" kern="0" cap="none" spc="0" normalizeH="0" baseline="-25000" noProof="0">
                <a:ln>
                  <a:noFill/>
                </a:ln>
                <a:solidFill>
                  <a:srgbClr val="000099"/>
                </a:solidFill>
                <a:effectLst/>
                <a:uLnTx/>
                <a:uFillTx/>
                <a:latin typeface="+mn-lt"/>
                <a:ea typeface="黑体" pitchFamily="2" charset="-122"/>
              </a:endParaRPr>
            </a:p>
          </p:txBody>
        </p:sp>
        <p:sp>
          <p:nvSpPr>
            <p:cNvPr id="112" name="Text Box 38"/>
            <p:cNvSpPr txBox="1">
              <a:spLocks noChangeArrowheads="1"/>
            </p:cNvSpPr>
            <p:nvPr/>
          </p:nvSpPr>
          <p:spPr bwMode="auto">
            <a:xfrm>
              <a:off x="1159124" y="4398592"/>
              <a:ext cx="8121134" cy="523220"/>
            </a:xfrm>
            <a:prstGeom prst="rect">
              <a:avLst/>
            </a:prstGeom>
            <a:solidFill>
              <a:srgbClr val="FFFF99"/>
            </a:solidFill>
            <a:ln w="9525">
              <a:solidFill>
                <a:srgbClr val="3333CC"/>
              </a:solidFill>
              <a:miter lim="800000"/>
              <a:headEnd/>
              <a:tailEnd/>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的所有分组都沿着同一条虚电路传送</a:t>
              </a:r>
            </a:p>
          </p:txBody>
        </p:sp>
      </p:grpSp>
    </p:spTree>
    <p:extLst>
      <p:ext uri="{BB962C8B-B14F-4D97-AF65-F5344CB8AC3E}">
        <p14:creationId xmlns:p14="http://schemas.microsoft.com/office/powerpoint/2010/main" val="234404821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9010" name="Rectangle 2"/>
          <p:cNvSpPr>
            <a:spLocks noGrp="1" noChangeArrowheads="1"/>
          </p:cNvSpPr>
          <p:nvPr>
            <p:ph type="title"/>
          </p:nvPr>
        </p:nvSpPr>
        <p:spPr/>
        <p:txBody>
          <a:bodyPr/>
          <a:lstStyle/>
          <a:p>
            <a:pPr algn="ctr"/>
            <a:r>
              <a:rPr lang="zh-CN" altLang="en-US" dirty="0"/>
              <a:t>虚电路是逻辑连接</a:t>
            </a:r>
          </a:p>
        </p:txBody>
      </p:sp>
      <p:sp>
        <p:nvSpPr>
          <p:cNvPr id="939011" name="Rectangle 3"/>
          <p:cNvSpPr>
            <a:spLocks noGrp="1" noChangeArrowheads="1"/>
          </p:cNvSpPr>
          <p:nvPr>
            <p:ph idx="1"/>
          </p:nvPr>
        </p:nvSpPr>
        <p:spPr/>
        <p:txBody>
          <a:bodyPr/>
          <a:lstStyle/>
          <a:p>
            <a:r>
              <a:rPr lang="zh-CN" altLang="en-US" dirty="0"/>
              <a:t>虚电路表示这只是一条</a:t>
            </a:r>
            <a:r>
              <a:rPr lang="zh-CN" altLang="en-US" dirty="0">
                <a:solidFill>
                  <a:srgbClr val="FF0000"/>
                </a:solidFill>
              </a:rPr>
              <a:t>逻辑上的连接，</a:t>
            </a:r>
            <a:r>
              <a:rPr lang="zh-CN" altLang="en-US" dirty="0"/>
              <a:t>分组都沿着这条逻辑连接</a:t>
            </a:r>
            <a:r>
              <a:rPr lang="zh-CN" altLang="en-US" dirty="0">
                <a:solidFill>
                  <a:srgbClr val="FF0000"/>
                </a:solidFill>
              </a:rPr>
              <a:t>按照存储转发方式传送，</a:t>
            </a:r>
            <a:r>
              <a:rPr lang="zh-CN" altLang="en-US" dirty="0"/>
              <a:t>而并不是真正建立了一条物理连接。</a:t>
            </a:r>
          </a:p>
          <a:p>
            <a:r>
              <a:rPr lang="zh-CN" altLang="en-US" dirty="0"/>
              <a:t>请注意，电路交换的电话通信是先建立了一条</a:t>
            </a:r>
            <a:r>
              <a:rPr lang="zh-CN" altLang="en-US" dirty="0">
                <a:solidFill>
                  <a:srgbClr val="FF0000"/>
                </a:solidFill>
              </a:rPr>
              <a:t>真正的连接。</a:t>
            </a:r>
            <a:endParaRPr lang="en-US" altLang="zh-CN" dirty="0">
              <a:solidFill>
                <a:srgbClr val="FF0000"/>
              </a:solidFill>
            </a:endParaRPr>
          </a:p>
          <a:p>
            <a:r>
              <a:rPr lang="zh-CN" altLang="en-US" dirty="0"/>
              <a:t>因此分组交换的虚连接和电路交换的连接只是类似，但并不完全一样。 </a:t>
            </a:r>
          </a:p>
        </p:txBody>
      </p:sp>
    </p:spTree>
    <p:extLst>
      <p:ext uri="{BB962C8B-B14F-4D97-AF65-F5344CB8AC3E}">
        <p14:creationId xmlns:p14="http://schemas.microsoft.com/office/powerpoint/2010/main" val="135916195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2"/>
          <p:cNvSpPr>
            <a:spLocks noGrp="1" noChangeArrowheads="1"/>
          </p:cNvSpPr>
          <p:nvPr>
            <p:ph type="title"/>
          </p:nvPr>
        </p:nvSpPr>
        <p:spPr/>
        <p:txBody>
          <a:bodyPr/>
          <a:lstStyle/>
          <a:p>
            <a:pPr algn="ctr"/>
            <a:r>
              <a:rPr lang="zh-CN" altLang="en-US" dirty="0"/>
              <a:t>另一种观点：网络提供数据报服务</a:t>
            </a:r>
          </a:p>
        </p:txBody>
      </p:sp>
      <p:sp>
        <p:nvSpPr>
          <p:cNvPr id="940035" name="Rectangle 3"/>
          <p:cNvSpPr>
            <a:spLocks noGrp="1" noChangeArrowheads="1"/>
          </p:cNvSpPr>
          <p:nvPr>
            <p:ph idx="1"/>
          </p:nvPr>
        </p:nvSpPr>
        <p:spPr/>
        <p:txBody>
          <a:bodyPr/>
          <a:lstStyle/>
          <a:p>
            <a:r>
              <a:rPr lang="zh-CN" altLang="zh-CN" sz="2800" dirty="0"/>
              <a:t>互联网的先驱者提出</a:t>
            </a:r>
            <a:r>
              <a:rPr lang="zh-CN" altLang="en-US" sz="2800" dirty="0"/>
              <a:t>了</a:t>
            </a:r>
            <a:r>
              <a:rPr lang="zh-CN" altLang="zh-CN" sz="2800" dirty="0"/>
              <a:t>一种崭新的网络设计思路</a:t>
            </a:r>
            <a:r>
              <a:rPr lang="zh-CN" altLang="en-US" sz="2800" dirty="0"/>
              <a:t>。</a:t>
            </a:r>
            <a:endParaRPr lang="en-US" altLang="zh-CN" sz="2800" dirty="0"/>
          </a:p>
          <a:p>
            <a:r>
              <a:rPr lang="zh-CN" altLang="en-US" sz="2800" dirty="0"/>
              <a:t>网络层向上只提供简单灵活的、</a:t>
            </a:r>
            <a:r>
              <a:rPr lang="zh-CN" altLang="en-US" sz="2800" dirty="0">
                <a:solidFill>
                  <a:srgbClr val="FF0000"/>
                </a:solidFill>
              </a:rPr>
              <a:t>无连接的、尽最大努力交付</a:t>
            </a:r>
            <a:r>
              <a:rPr lang="zh-CN" altLang="en-US" sz="2800" dirty="0"/>
              <a:t>的</a:t>
            </a:r>
            <a:r>
              <a:rPr lang="zh-CN" altLang="en-US" sz="2800" dirty="0">
                <a:solidFill>
                  <a:srgbClr val="FF0000"/>
                </a:solidFill>
              </a:rPr>
              <a:t>数据报服务。</a:t>
            </a:r>
          </a:p>
          <a:p>
            <a:r>
              <a:rPr lang="zh-CN" altLang="en-US" sz="2800" dirty="0"/>
              <a:t>网络在发送分组时不需要先建立连接。每一个分组（即 </a:t>
            </a:r>
            <a:r>
              <a:rPr lang="en-US" altLang="zh-CN" sz="2800" dirty="0"/>
              <a:t>IP </a:t>
            </a:r>
            <a:r>
              <a:rPr lang="zh-CN" altLang="en-US" sz="2800" dirty="0"/>
              <a:t>数据报）独立发送，与其前后的分组无关（不进行编号）。</a:t>
            </a:r>
          </a:p>
          <a:p>
            <a:r>
              <a:rPr lang="zh-CN" altLang="en-US" sz="2800" dirty="0">
                <a:solidFill>
                  <a:srgbClr val="FF0000"/>
                </a:solidFill>
              </a:rPr>
              <a:t>网络层不提供服务质量的承诺。</a:t>
            </a:r>
            <a:r>
              <a:rPr lang="zh-CN" altLang="en-US" sz="2800" dirty="0"/>
              <a:t>即所传送的分组可能出错、丢失、重复和失序（不按序到达终点），当然也不保证分组传送的时限。 </a:t>
            </a:r>
          </a:p>
        </p:txBody>
      </p:sp>
    </p:spTree>
    <p:extLst>
      <p:ext uri="{BB962C8B-B14F-4D97-AF65-F5344CB8AC3E}">
        <p14:creationId xmlns:p14="http://schemas.microsoft.com/office/powerpoint/2010/main" val="323216414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2"/>
          <p:cNvSpPr>
            <a:spLocks noGrp="1" noChangeArrowheads="1"/>
          </p:cNvSpPr>
          <p:nvPr>
            <p:ph type="title"/>
          </p:nvPr>
        </p:nvSpPr>
        <p:spPr/>
        <p:txBody>
          <a:bodyPr/>
          <a:lstStyle/>
          <a:p>
            <a:pPr algn="ctr"/>
            <a:r>
              <a:rPr lang="zh-CN" altLang="en-US" dirty="0"/>
              <a:t>尽最大努力交付</a:t>
            </a:r>
          </a:p>
        </p:txBody>
      </p:sp>
      <p:sp>
        <p:nvSpPr>
          <p:cNvPr id="943107" name="Rectangle 3"/>
          <p:cNvSpPr>
            <a:spLocks noGrp="1" noChangeArrowheads="1"/>
          </p:cNvSpPr>
          <p:nvPr>
            <p:ph idx="1"/>
          </p:nvPr>
        </p:nvSpPr>
        <p:spPr/>
        <p:txBody>
          <a:bodyPr/>
          <a:lstStyle/>
          <a:p>
            <a:r>
              <a:rPr lang="zh-CN" altLang="en-US" sz="2800" dirty="0"/>
              <a:t>由于传输</a:t>
            </a:r>
            <a:r>
              <a:rPr lang="zh-CN" altLang="en-US" sz="2800" dirty="0">
                <a:solidFill>
                  <a:srgbClr val="FF0000"/>
                </a:solidFill>
              </a:rPr>
              <a:t>网络不提供端到端的可靠传输服务，</a:t>
            </a:r>
            <a:r>
              <a:rPr lang="zh-CN" altLang="en-US" sz="2800" dirty="0"/>
              <a:t>这就使网络中的路由器可以做得比较简单，而且价格低廉（与电信网的交换机相比较）。</a:t>
            </a:r>
          </a:p>
          <a:p>
            <a:r>
              <a:rPr lang="zh-CN" altLang="en-US" sz="2800" dirty="0"/>
              <a:t>如果主机（即端系统）中的进程之间的通信需要是可靠的，那么就由网络的</a:t>
            </a:r>
            <a:r>
              <a:rPr lang="zh-CN" altLang="en-US" sz="2800" dirty="0">
                <a:solidFill>
                  <a:srgbClr val="FF0000"/>
                </a:solidFill>
              </a:rPr>
              <a:t>主机中的运输层负责可靠交付（包括差错处理、流量控制等） 。</a:t>
            </a:r>
          </a:p>
          <a:p>
            <a:r>
              <a:rPr lang="zh-CN" altLang="en-US" sz="2800" dirty="0">
                <a:solidFill>
                  <a:srgbClr val="0000FF"/>
                </a:solidFill>
              </a:rPr>
              <a:t>采用这种设计思路的好处是：</a:t>
            </a:r>
            <a:r>
              <a:rPr lang="zh-CN" altLang="en-US" sz="2800" dirty="0"/>
              <a:t>网络的造价大大降低，运行方式灵活，能够适应多种应用。</a:t>
            </a:r>
          </a:p>
          <a:p>
            <a:r>
              <a:rPr lang="zh-CN" altLang="en-US" sz="2800" dirty="0"/>
              <a:t>互连网能够发展到今日的规模，充分证明了当初采用这种设计思路的正确性。 </a:t>
            </a:r>
          </a:p>
        </p:txBody>
      </p:sp>
    </p:spTree>
    <p:extLst>
      <p:ext uri="{BB962C8B-B14F-4D97-AF65-F5344CB8AC3E}">
        <p14:creationId xmlns:p14="http://schemas.microsoft.com/office/powerpoint/2010/main" val="38857543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a:t>数据报服务</a:t>
            </a:r>
          </a:p>
        </p:txBody>
      </p:sp>
      <p:grpSp>
        <p:nvGrpSpPr>
          <p:cNvPr id="3" name="组合 2"/>
          <p:cNvGrpSpPr/>
          <p:nvPr/>
        </p:nvGrpSpPr>
        <p:grpSpPr>
          <a:xfrm>
            <a:off x="704528" y="1772816"/>
            <a:ext cx="8568952" cy="3187516"/>
            <a:chOff x="704528" y="1772816"/>
            <a:chExt cx="8568952" cy="3187516"/>
          </a:xfrm>
        </p:grpSpPr>
        <p:sp>
          <p:nvSpPr>
            <p:cNvPr id="74" name="Rectangle 2"/>
            <p:cNvSpPr>
              <a:spLocks noChangeArrowheads="1"/>
            </p:cNvSpPr>
            <p:nvPr/>
          </p:nvSpPr>
          <p:spPr bwMode="auto">
            <a:xfrm>
              <a:off x="7698556" y="25364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5" name="Text Box 3"/>
            <p:cNvSpPr txBox="1">
              <a:spLocks noChangeArrowheads="1"/>
            </p:cNvSpPr>
            <p:nvPr/>
          </p:nvSpPr>
          <p:spPr bwMode="auto">
            <a:xfrm>
              <a:off x="7592838" y="1845841"/>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物理层</a:t>
              </a:r>
            </a:p>
          </p:txBody>
        </p:sp>
        <p:sp>
          <p:nvSpPr>
            <p:cNvPr id="76" name="Rectangle 4"/>
            <p:cNvSpPr>
              <a:spLocks noChangeArrowheads="1"/>
            </p:cNvSpPr>
            <p:nvPr/>
          </p:nvSpPr>
          <p:spPr bwMode="auto">
            <a:xfrm>
              <a:off x="808658" y="24475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7" name="Text Box 5"/>
            <p:cNvSpPr txBox="1">
              <a:spLocks noChangeArrowheads="1"/>
            </p:cNvSpPr>
            <p:nvPr/>
          </p:nvSpPr>
          <p:spPr bwMode="auto">
            <a:xfrm>
              <a:off x="704528" y="1772816"/>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物理层</a:t>
              </a:r>
            </a:p>
          </p:txBody>
        </p:sp>
        <p:sp>
          <p:nvSpPr>
            <p:cNvPr id="78" name="Line 7"/>
            <p:cNvSpPr>
              <a:spLocks noChangeShapeType="1"/>
            </p:cNvSpPr>
            <p:nvPr/>
          </p:nvSpPr>
          <p:spPr bwMode="auto">
            <a:xfrm>
              <a:off x="5012506" y="2060154"/>
              <a:ext cx="53975" cy="5810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9" name="AutoShape 8"/>
            <p:cNvSpPr>
              <a:spLocks noChangeArrowheads="1"/>
            </p:cNvSpPr>
            <p:nvPr/>
          </p:nvSpPr>
          <p:spPr bwMode="auto">
            <a:xfrm>
              <a:off x="4144144" y="3226966"/>
              <a:ext cx="636587" cy="627063"/>
            </a:xfrm>
            <a:prstGeom prst="irregularSeal2">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Line 9"/>
            <p:cNvSpPr>
              <a:spLocks noChangeShapeType="1"/>
            </p:cNvSpPr>
            <p:nvPr/>
          </p:nvSpPr>
          <p:spPr bwMode="auto">
            <a:xfrm>
              <a:off x="2553469" y="2958679"/>
              <a:ext cx="477837" cy="2682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1" name="Rectangle 10"/>
            <p:cNvSpPr>
              <a:spLocks noChangeArrowheads="1"/>
            </p:cNvSpPr>
            <p:nvPr/>
          </p:nvSpPr>
          <p:spPr bwMode="auto">
            <a:xfrm>
              <a:off x="788020" y="1836316"/>
              <a:ext cx="1452405" cy="1512888"/>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2" name="Line 11"/>
            <p:cNvSpPr>
              <a:spLocks noChangeShapeType="1"/>
            </p:cNvSpPr>
            <p:nvPr/>
          </p:nvSpPr>
          <p:spPr bwMode="auto">
            <a:xfrm>
              <a:off x="788020" y="215857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Line 12"/>
            <p:cNvSpPr>
              <a:spLocks noChangeShapeType="1"/>
            </p:cNvSpPr>
            <p:nvPr/>
          </p:nvSpPr>
          <p:spPr bwMode="auto">
            <a:xfrm>
              <a:off x="788020" y="245702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4" name="Line 13"/>
            <p:cNvSpPr>
              <a:spLocks noChangeShapeType="1"/>
            </p:cNvSpPr>
            <p:nvPr/>
          </p:nvSpPr>
          <p:spPr bwMode="auto">
            <a:xfrm>
              <a:off x="788020" y="275547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5" name="Line 14"/>
            <p:cNvSpPr>
              <a:spLocks noChangeShapeType="1"/>
            </p:cNvSpPr>
            <p:nvPr/>
          </p:nvSpPr>
          <p:spPr bwMode="auto">
            <a:xfrm>
              <a:off x="788020" y="3057104"/>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Rectangle 15"/>
            <p:cNvSpPr>
              <a:spLocks noChangeArrowheads="1"/>
            </p:cNvSpPr>
            <p:nvPr/>
          </p:nvSpPr>
          <p:spPr bwMode="auto">
            <a:xfrm>
              <a:off x="7679506" y="1925216"/>
              <a:ext cx="1450596" cy="1512888"/>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7" name="Line 16"/>
            <p:cNvSpPr>
              <a:spLocks noChangeShapeType="1"/>
            </p:cNvSpPr>
            <p:nvPr/>
          </p:nvSpPr>
          <p:spPr bwMode="auto">
            <a:xfrm>
              <a:off x="7679506" y="224747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8" name="Line 17"/>
            <p:cNvSpPr>
              <a:spLocks noChangeShapeType="1"/>
            </p:cNvSpPr>
            <p:nvPr/>
          </p:nvSpPr>
          <p:spPr bwMode="auto">
            <a:xfrm>
              <a:off x="7679506" y="254592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18"/>
            <p:cNvSpPr>
              <a:spLocks noChangeShapeType="1"/>
            </p:cNvSpPr>
            <p:nvPr/>
          </p:nvSpPr>
          <p:spPr bwMode="auto">
            <a:xfrm>
              <a:off x="7679506" y="284437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0" name="Line 19"/>
            <p:cNvSpPr>
              <a:spLocks noChangeShapeType="1"/>
            </p:cNvSpPr>
            <p:nvPr/>
          </p:nvSpPr>
          <p:spPr bwMode="auto">
            <a:xfrm>
              <a:off x="7679506" y="3146004"/>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1" name="Text Box 20"/>
            <p:cNvSpPr txBox="1">
              <a:spLocks noChangeArrowheads="1"/>
            </p:cNvSpPr>
            <p:nvPr/>
          </p:nvSpPr>
          <p:spPr bwMode="auto">
            <a:xfrm>
              <a:off x="2394719" y="20125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1</a:t>
              </a:r>
            </a:p>
          </p:txBody>
        </p:sp>
        <p:pic>
          <p:nvPicPr>
            <p:cNvPr id="92"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15344" y="2390354"/>
              <a:ext cx="555625" cy="67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 name="Line 22"/>
            <p:cNvSpPr>
              <a:spLocks noChangeShapeType="1"/>
            </p:cNvSpPr>
            <p:nvPr/>
          </p:nvSpPr>
          <p:spPr bwMode="auto">
            <a:xfrm>
              <a:off x="3348806" y="3226966"/>
              <a:ext cx="1511300" cy="6270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4" name="Line 23"/>
            <p:cNvSpPr>
              <a:spLocks noChangeShapeType="1"/>
            </p:cNvSpPr>
            <p:nvPr/>
          </p:nvSpPr>
          <p:spPr bwMode="auto">
            <a:xfrm flipV="1">
              <a:off x="3269431" y="2777704"/>
              <a:ext cx="1751013" cy="4492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Line 24"/>
            <p:cNvSpPr>
              <a:spLocks noChangeShapeType="1"/>
            </p:cNvSpPr>
            <p:nvPr/>
          </p:nvSpPr>
          <p:spPr bwMode="auto">
            <a:xfrm>
              <a:off x="5177606" y="2777704"/>
              <a:ext cx="1433513" cy="5381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6" name="Line 25"/>
            <p:cNvSpPr>
              <a:spLocks noChangeShapeType="1"/>
            </p:cNvSpPr>
            <p:nvPr/>
          </p:nvSpPr>
          <p:spPr bwMode="auto">
            <a:xfrm flipV="1">
              <a:off x="5020444" y="3406354"/>
              <a:ext cx="1590675" cy="4476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7" name="Line 26"/>
            <p:cNvSpPr>
              <a:spLocks noChangeShapeType="1"/>
            </p:cNvSpPr>
            <p:nvPr/>
          </p:nvSpPr>
          <p:spPr bwMode="auto">
            <a:xfrm flipV="1">
              <a:off x="6688906" y="2958679"/>
              <a:ext cx="636588" cy="3571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98" name="Group 27"/>
            <p:cNvGrpSpPr>
              <a:grpSpLocks/>
            </p:cNvGrpSpPr>
            <p:nvPr/>
          </p:nvGrpSpPr>
          <p:grpSpPr bwMode="auto">
            <a:xfrm>
              <a:off x="7087369" y="2012529"/>
              <a:ext cx="555625" cy="1077912"/>
              <a:chOff x="5284" y="1002"/>
              <a:chExt cx="317" cy="545"/>
            </a:xfrm>
          </p:grpSpPr>
          <p:sp>
            <p:nvSpPr>
              <p:cNvPr id="99" name="Text Box 28"/>
              <p:cNvSpPr txBox="1">
                <a:spLocks noChangeArrowheads="1"/>
              </p:cNvSpPr>
              <p:nvPr/>
            </p:nvSpPr>
            <p:spPr bwMode="auto">
              <a:xfrm>
                <a:off x="5284" y="1002"/>
                <a:ext cx="303" cy="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2</a:t>
                </a:r>
              </a:p>
            </p:txBody>
          </p:sp>
          <p:pic>
            <p:nvPicPr>
              <p:cNvPr id="100"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1" name="Line 30"/>
            <p:cNvSpPr>
              <a:spLocks noChangeShapeType="1"/>
            </p:cNvSpPr>
            <p:nvPr/>
          </p:nvSpPr>
          <p:spPr bwMode="auto">
            <a:xfrm flipV="1">
              <a:off x="3269431" y="1971254"/>
              <a:ext cx="1670050" cy="11668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2" name="Line 31"/>
            <p:cNvSpPr>
              <a:spLocks noChangeShapeType="1"/>
            </p:cNvSpPr>
            <p:nvPr/>
          </p:nvSpPr>
          <p:spPr bwMode="auto">
            <a:xfrm>
              <a:off x="5098231" y="1971254"/>
              <a:ext cx="1590675" cy="12557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03"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32881" y="304757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4"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80731" y="2599904"/>
              <a:ext cx="576263" cy="35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21981" y="367622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71406" y="3138066"/>
              <a:ext cx="576263"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9769" y="1791866"/>
              <a:ext cx="576262"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8" name="Group 37"/>
            <p:cNvGrpSpPr>
              <a:grpSpLocks/>
            </p:cNvGrpSpPr>
            <p:nvPr/>
          </p:nvGrpSpPr>
          <p:grpSpPr bwMode="auto">
            <a:xfrm rot="1386369">
              <a:off x="2632844" y="3136479"/>
              <a:ext cx="300037" cy="130175"/>
              <a:chOff x="2064" y="1776"/>
              <a:chExt cx="171" cy="66"/>
            </a:xfrm>
          </p:grpSpPr>
          <p:sp>
            <p:nvSpPr>
              <p:cNvPr id="109" name="Rectangle 38"/>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0" name="Line 39"/>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1" name="Group 40"/>
            <p:cNvGrpSpPr>
              <a:grpSpLocks/>
            </p:cNvGrpSpPr>
            <p:nvPr/>
          </p:nvGrpSpPr>
          <p:grpSpPr bwMode="auto">
            <a:xfrm rot="-875997">
              <a:off x="5496694" y="3495254"/>
              <a:ext cx="300037" cy="130175"/>
              <a:chOff x="2064" y="1776"/>
              <a:chExt cx="171" cy="66"/>
            </a:xfrm>
          </p:grpSpPr>
          <p:sp>
            <p:nvSpPr>
              <p:cNvPr id="112" name="Rectangle 41"/>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3" name="Line 42"/>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4" name="Group 43"/>
            <p:cNvGrpSpPr>
              <a:grpSpLocks/>
            </p:cNvGrpSpPr>
            <p:nvPr/>
          </p:nvGrpSpPr>
          <p:grpSpPr bwMode="auto">
            <a:xfrm rot="-1515501">
              <a:off x="6849244" y="2958679"/>
              <a:ext cx="300037" cy="130175"/>
              <a:chOff x="2064" y="1776"/>
              <a:chExt cx="171" cy="66"/>
            </a:xfrm>
          </p:grpSpPr>
          <p:sp>
            <p:nvSpPr>
              <p:cNvPr id="115" name="Rectangle 44"/>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6" name="Line 45"/>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7" name="Group 46"/>
            <p:cNvGrpSpPr>
              <a:grpSpLocks/>
            </p:cNvGrpSpPr>
            <p:nvPr/>
          </p:nvGrpSpPr>
          <p:grpSpPr bwMode="auto">
            <a:xfrm rot="-1937444">
              <a:off x="3906019" y="2330029"/>
              <a:ext cx="300037" cy="130175"/>
              <a:chOff x="2064" y="1776"/>
              <a:chExt cx="171" cy="66"/>
            </a:xfrm>
          </p:grpSpPr>
          <p:sp>
            <p:nvSpPr>
              <p:cNvPr id="118" name="Rectangle 47"/>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9" name="Line 48"/>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0" name="Group 49"/>
            <p:cNvGrpSpPr>
              <a:grpSpLocks/>
            </p:cNvGrpSpPr>
            <p:nvPr/>
          </p:nvGrpSpPr>
          <p:grpSpPr bwMode="auto">
            <a:xfrm rot="2078388">
              <a:off x="5576069" y="2239541"/>
              <a:ext cx="300037" cy="131763"/>
              <a:chOff x="2064" y="1776"/>
              <a:chExt cx="171" cy="66"/>
            </a:xfrm>
          </p:grpSpPr>
          <p:sp>
            <p:nvSpPr>
              <p:cNvPr id="121" name="Rectangle 50"/>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2" name="Line 51"/>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3" name="Group 52"/>
            <p:cNvGrpSpPr>
              <a:grpSpLocks/>
            </p:cNvGrpSpPr>
            <p:nvPr/>
          </p:nvGrpSpPr>
          <p:grpSpPr bwMode="auto">
            <a:xfrm rot="1117181">
              <a:off x="4302894" y="3495254"/>
              <a:ext cx="300037" cy="130175"/>
              <a:chOff x="2064" y="1776"/>
              <a:chExt cx="171" cy="66"/>
            </a:xfrm>
          </p:grpSpPr>
          <p:sp>
            <p:nvSpPr>
              <p:cNvPr id="124" name="Rectangle 53"/>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5" name="Line 54"/>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6" name="Group 55"/>
            <p:cNvGrpSpPr>
              <a:grpSpLocks/>
            </p:cNvGrpSpPr>
            <p:nvPr/>
          </p:nvGrpSpPr>
          <p:grpSpPr bwMode="auto">
            <a:xfrm rot="-930274">
              <a:off x="4401319" y="2688804"/>
              <a:ext cx="298450" cy="130175"/>
              <a:chOff x="2064" y="1776"/>
              <a:chExt cx="171" cy="66"/>
            </a:xfrm>
          </p:grpSpPr>
          <p:sp>
            <p:nvSpPr>
              <p:cNvPr id="127" name="Rectangle 56"/>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8" name="Line 57"/>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9" name="Group 58"/>
            <p:cNvGrpSpPr>
              <a:grpSpLocks/>
            </p:cNvGrpSpPr>
            <p:nvPr/>
          </p:nvGrpSpPr>
          <p:grpSpPr bwMode="auto">
            <a:xfrm rot="1197535">
              <a:off x="3667894" y="3226966"/>
              <a:ext cx="300037" cy="130175"/>
              <a:chOff x="2064" y="1776"/>
              <a:chExt cx="171" cy="66"/>
            </a:xfrm>
          </p:grpSpPr>
          <p:sp>
            <p:nvSpPr>
              <p:cNvPr id="130" name="Rectangle 59"/>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1" name="Line 60"/>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32" name="Line 61"/>
            <p:cNvSpPr>
              <a:spLocks noChangeShapeType="1"/>
            </p:cNvSpPr>
            <p:nvPr/>
          </p:nvSpPr>
          <p:spPr bwMode="auto">
            <a:xfrm>
              <a:off x="1892920" y="2688804"/>
              <a:ext cx="700235" cy="484875"/>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33" name="Group 62"/>
            <p:cNvGrpSpPr>
              <a:grpSpLocks/>
            </p:cNvGrpSpPr>
            <p:nvPr/>
          </p:nvGrpSpPr>
          <p:grpSpPr bwMode="auto">
            <a:xfrm rot="1022761">
              <a:off x="5734819" y="2866604"/>
              <a:ext cx="300037" cy="130175"/>
              <a:chOff x="2064" y="1776"/>
              <a:chExt cx="171" cy="66"/>
            </a:xfrm>
          </p:grpSpPr>
          <p:sp>
            <p:nvSpPr>
              <p:cNvPr id="134" name="Rectangle 63"/>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5" name="Line 64"/>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36" name="Line 65"/>
            <p:cNvSpPr>
              <a:spLocks noChangeShapeType="1"/>
            </p:cNvSpPr>
            <p:nvPr/>
          </p:nvSpPr>
          <p:spPr bwMode="auto">
            <a:xfrm flipV="1">
              <a:off x="6849244" y="2688804"/>
              <a:ext cx="1035050" cy="715962"/>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7" name="Text Box 66"/>
            <p:cNvSpPr txBox="1">
              <a:spLocks noChangeArrowheads="1"/>
            </p:cNvSpPr>
            <p:nvPr/>
          </p:nvSpPr>
          <p:spPr bwMode="auto">
            <a:xfrm>
              <a:off x="3194819" y="1952204"/>
              <a:ext cx="12715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IP </a:t>
              </a: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数据报</a:t>
              </a:r>
              <a:endParaRPr kumimoji="0" lang="zh-CN" altLang="en-US" sz="2000" b="1" i="0" u="none" strike="noStrike" kern="0" cap="none" spc="0" normalizeH="0" baseline="-25000" noProof="0">
                <a:ln>
                  <a:noFill/>
                </a:ln>
                <a:solidFill>
                  <a:srgbClr val="000099"/>
                </a:solidFill>
                <a:effectLst/>
                <a:uLnTx/>
                <a:uFillTx/>
                <a:latin typeface="+mn-lt"/>
                <a:ea typeface="黑体" pitchFamily="2" charset="-122"/>
              </a:endParaRPr>
            </a:p>
          </p:txBody>
        </p:sp>
        <p:sp>
          <p:nvSpPr>
            <p:cNvPr id="138" name="Text Box 67"/>
            <p:cNvSpPr txBox="1">
              <a:spLocks noChangeArrowheads="1"/>
            </p:cNvSpPr>
            <p:nvPr/>
          </p:nvSpPr>
          <p:spPr bwMode="auto">
            <a:xfrm>
              <a:off x="4685481" y="3204741"/>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丢失</a:t>
              </a:r>
              <a:endParaRPr kumimoji="0" lang="zh-CN" altLang="en-US" sz="2000" b="1" i="0" u="none" strike="noStrike" kern="0" cap="none" spc="0" normalizeH="0" baseline="-25000" noProof="0">
                <a:ln>
                  <a:noFill/>
                </a:ln>
                <a:solidFill>
                  <a:srgbClr val="000099"/>
                </a:solidFill>
                <a:effectLst/>
                <a:uLnTx/>
                <a:uFillTx/>
                <a:latin typeface="+mn-lt"/>
                <a:ea typeface="黑体" pitchFamily="2" charset="-122"/>
              </a:endParaRPr>
            </a:p>
          </p:txBody>
        </p:sp>
        <p:grpSp>
          <p:nvGrpSpPr>
            <p:cNvPr id="139" name="Group 68"/>
            <p:cNvGrpSpPr>
              <a:grpSpLocks/>
            </p:cNvGrpSpPr>
            <p:nvPr/>
          </p:nvGrpSpPr>
          <p:grpSpPr bwMode="auto">
            <a:xfrm rot="5035623">
              <a:off x="4979169" y="2299866"/>
              <a:ext cx="338138" cy="115887"/>
              <a:chOff x="2064" y="1776"/>
              <a:chExt cx="171" cy="66"/>
            </a:xfrm>
          </p:grpSpPr>
          <p:sp>
            <p:nvSpPr>
              <p:cNvPr id="140" name="Rectangle 69"/>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1" name="Line 70"/>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42" name="Text Box 71"/>
            <p:cNvSpPr txBox="1">
              <a:spLocks noChangeArrowheads="1"/>
            </p:cNvSpPr>
            <p:nvPr/>
          </p:nvSpPr>
          <p:spPr bwMode="auto">
            <a:xfrm>
              <a:off x="1561281" y="4437112"/>
              <a:ext cx="7039106" cy="523220"/>
            </a:xfrm>
            <a:prstGeom prst="rect">
              <a:avLst/>
            </a:prstGeom>
            <a:solidFill>
              <a:srgbClr val="FFFF99"/>
            </a:solidFill>
            <a:ln w="9525">
              <a:solidFill>
                <a:srgbClr val="3333CC"/>
              </a:solidFill>
              <a:miter lim="800000"/>
              <a:headEnd/>
              <a:tailEnd/>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的分组可能沿着不同路径传送</a:t>
              </a:r>
            </a:p>
          </p:txBody>
        </p:sp>
      </p:grpSp>
    </p:spTree>
    <p:extLst>
      <p:ext uri="{BB962C8B-B14F-4D97-AF65-F5344CB8AC3E}">
        <p14:creationId xmlns:p14="http://schemas.microsoft.com/office/powerpoint/2010/main" val="40082813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47371" name="Group 171"/>
          <p:cNvGraphicFramePr>
            <a:graphicFrameLocks noGrp="1"/>
          </p:cNvGraphicFramePr>
          <p:nvPr>
            <p:extLst/>
          </p:nvPr>
        </p:nvGraphicFramePr>
        <p:xfrm>
          <a:off x="488503" y="1290155"/>
          <a:ext cx="9217025" cy="4803141"/>
        </p:xfrm>
        <a:graphic>
          <a:graphicData uri="http://schemas.openxmlformats.org/drawingml/2006/table">
            <a:tbl>
              <a:tblPr firstRow="1" bandRow="1">
                <a:tableStyleId>{073A0DAA-6AF3-43AB-8588-CEC1D06C72B9}</a:tableStyleId>
              </a:tblPr>
              <a:tblGrid>
                <a:gridCol w="2016225">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3888432">
                  <a:extLst>
                    <a:ext uri="{9D8B030D-6E8A-4147-A177-3AD203B41FA5}">
                      <a16:colId xmlns:a16="http://schemas.microsoft.com/office/drawing/2014/main" val="20002"/>
                    </a:ext>
                  </a:extLst>
                </a:gridCol>
              </a:tblGrid>
              <a:tr h="62388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对比的方面</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虚电路服务</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数据报服务</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思路</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可靠通信应当由网络来保证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可靠通信应当由用户主机来保证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9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连接的建立</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必须有</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不需要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终点地址</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仅在连接建立阶段使用，每个分组使用短的虚电路号</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每个分组都有终点的完整地址</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分组的转发</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属于同一条虚电路的分组均按照同一路由进行转发</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每个分组独立选择路由进行转发</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当结点出故障时</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所有通过出故障的结点的虚电路均不能工作</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出故障的结点可能会丢失分组，一些路由可能会发生变化</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分组的顺序</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总是按发送顺序到达终点</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到达终点时不一定按发送顺序</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8874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端到端的差错处理和流量控制</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可以由网络负责，也可以由用户主机负责</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由用户主机负责</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bl>
          </a:graphicData>
        </a:graphic>
      </p:graphicFrame>
      <p:sp>
        <p:nvSpPr>
          <p:cNvPr id="3" name="标题 2"/>
          <p:cNvSpPr>
            <a:spLocks noGrp="1"/>
          </p:cNvSpPr>
          <p:nvPr>
            <p:ph type="title"/>
          </p:nvPr>
        </p:nvSpPr>
        <p:spPr/>
        <p:txBody>
          <a:bodyPr/>
          <a:lstStyle/>
          <a:p>
            <a:pPr lvl="0" algn="ctr"/>
            <a:r>
              <a:rPr lang="zh-CN" altLang="en-US" sz="4000" dirty="0">
                <a:latin typeface="黑体" pitchFamily="2" charset="-122"/>
                <a:cs typeface="Times New Roman" pitchFamily="18" charset="0"/>
              </a:rPr>
              <a:t>虚电路服务与数据报服务的对比</a:t>
            </a:r>
            <a:endParaRPr lang="zh-CN" altLang="en-US" sz="4000" dirty="0"/>
          </a:p>
        </p:txBody>
      </p:sp>
    </p:spTree>
    <p:extLst>
      <p:ext uri="{BB962C8B-B14F-4D97-AF65-F5344CB8AC3E}">
        <p14:creationId xmlns:p14="http://schemas.microsoft.com/office/powerpoint/2010/main" val="230524611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4.2  </a:t>
            </a:r>
            <a:r>
              <a:rPr lang="zh-CN" altLang="zh-CN" dirty="0"/>
              <a:t>网际协议</a:t>
            </a:r>
            <a:r>
              <a:rPr lang="en-US" altLang="zh-CN" dirty="0"/>
              <a:t> IP</a:t>
            </a:r>
            <a:endParaRPr lang="zh-CN" altLang="en-US" dirty="0"/>
          </a:p>
        </p:txBody>
      </p:sp>
      <p:sp>
        <p:nvSpPr>
          <p:cNvPr id="3" name="内容占位符 2"/>
          <p:cNvSpPr>
            <a:spLocks noGrp="1"/>
          </p:cNvSpPr>
          <p:nvPr>
            <p:ph idx="1"/>
          </p:nvPr>
        </p:nvSpPr>
        <p:spPr/>
        <p:txBody>
          <a:bodyPr/>
          <a:lstStyle/>
          <a:p>
            <a:r>
              <a:rPr lang="en-US" altLang="zh-CN" dirty="0"/>
              <a:t>4.2.1  </a:t>
            </a:r>
            <a:r>
              <a:rPr lang="zh-CN" altLang="zh-CN" dirty="0"/>
              <a:t>虚拟互连网络</a:t>
            </a:r>
          </a:p>
          <a:p>
            <a:r>
              <a:rPr lang="en-US" altLang="zh-CN" dirty="0"/>
              <a:t>4.2.2  </a:t>
            </a:r>
            <a:r>
              <a:rPr lang="zh-CN" altLang="zh-CN" dirty="0"/>
              <a:t>分类的</a:t>
            </a:r>
            <a:r>
              <a:rPr lang="en-US" altLang="zh-CN" dirty="0"/>
              <a:t> IP </a:t>
            </a:r>
            <a:r>
              <a:rPr lang="zh-CN" altLang="zh-CN" dirty="0"/>
              <a:t>地址</a:t>
            </a:r>
          </a:p>
          <a:p>
            <a:r>
              <a:rPr lang="en-US" altLang="zh-CN" dirty="0"/>
              <a:t>4.2.3  IP </a:t>
            </a:r>
            <a:r>
              <a:rPr lang="zh-CN" altLang="zh-CN" dirty="0"/>
              <a:t>地址与硬件地址</a:t>
            </a:r>
          </a:p>
          <a:p>
            <a:r>
              <a:rPr lang="en-US" altLang="zh-CN" dirty="0"/>
              <a:t>4.2.4  </a:t>
            </a:r>
            <a:r>
              <a:rPr lang="zh-CN" altLang="zh-CN" dirty="0"/>
              <a:t>地址解析协议</a:t>
            </a:r>
            <a:r>
              <a:rPr lang="en-US" altLang="zh-CN" dirty="0"/>
              <a:t> ARP</a:t>
            </a:r>
            <a:endParaRPr lang="zh-CN" altLang="zh-CN" dirty="0"/>
          </a:p>
          <a:p>
            <a:r>
              <a:rPr lang="en-US" altLang="zh-CN" dirty="0"/>
              <a:t>4.2.5  IP </a:t>
            </a:r>
            <a:r>
              <a:rPr lang="zh-CN" altLang="zh-CN" dirty="0"/>
              <a:t>数据报的格式</a:t>
            </a:r>
            <a:endParaRPr lang="en-US" altLang="zh-CN" dirty="0"/>
          </a:p>
          <a:p>
            <a:r>
              <a:rPr lang="en-US" altLang="zh-CN" dirty="0"/>
              <a:t>4.2.6  IP </a:t>
            </a:r>
            <a:r>
              <a:rPr lang="zh-CN" altLang="zh-CN" dirty="0"/>
              <a:t>层转发分组的流程</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2"/>
          <p:cNvSpPr>
            <a:spLocks noGrp="1" noChangeArrowheads="1"/>
          </p:cNvSpPr>
          <p:nvPr>
            <p:ph type="title"/>
          </p:nvPr>
        </p:nvSpPr>
        <p:spPr/>
        <p:txBody>
          <a:bodyPr/>
          <a:lstStyle/>
          <a:p>
            <a:r>
              <a:rPr lang="en-US" altLang="zh-CN" dirty="0"/>
              <a:t>4.2  </a:t>
            </a:r>
            <a:r>
              <a:rPr lang="zh-CN" altLang="en-US" dirty="0"/>
              <a:t>网际协议 </a:t>
            </a:r>
            <a:r>
              <a:rPr lang="en-US" altLang="zh-CN" dirty="0"/>
              <a:t>IP </a:t>
            </a:r>
          </a:p>
        </p:txBody>
      </p:sp>
      <p:sp>
        <p:nvSpPr>
          <p:cNvPr id="966659" name="Rectangle 3"/>
          <p:cNvSpPr>
            <a:spLocks noGrp="1" noChangeArrowheads="1"/>
          </p:cNvSpPr>
          <p:nvPr>
            <p:ph idx="1"/>
          </p:nvPr>
        </p:nvSpPr>
        <p:spPr/>
        <p:txBody>
          <a:bodyPr/>
          <a:lstStyle/>
          <a:p>
            <a:r>
              <a:rPr lang="zh-CN" altLang="en-US" sz="2800" dirty="0"/>
              <a:t>网际协议 </a:t>
            </a:r>
            <a:r>
              <a:rPr lang="en-US" altLang="zh-CN" sz="2800" dirty="0"/>
              <a:t>IP </a:t>
            </a:r>
            <a:r>
              <a:rPr lang="zh-CN" altLang="en-US" sz="2800" dirty="0"/>
              <a:t>是 </a:t>
            </a:r>
            <a:r>
              <a:rPr lang="en-US" altLang="zh-CN" sz="2800" dirty="0"/>
              <a:t>TCP/IP </a:t>
            </a:r>
            <a:r>
              <a:rPr lang="zh-CN" altLang="en-US" sz="2800" dirty="0"/>
              <a:t>体系中两个最主要的协议之一。</a:t>
            </a:r>
            <a:endParaRPr lang="en-US" altLang="zh-CN" sz="2800" dirty="0"/>
          </a:p>
          <a:p>
            <a:r>
              <a:rPr lang="zh-CN" altLang="en-US" sz="2800" dirty="0"/>
              <a:t>与 </a:t>
            </a:r>
            <a:r>
              <a:rPr lang="en-US" altLang="zh-CN" sz="2800" dirty="0"/>
              <a:t>IP </a:t>
            </a:r>
            <a:r>
              <a:rPr lang="zh-CN" altLang="en-US" sz="2800" dirty="0"/>
              <a:t>协议配套使用的还有三个协议：</a:t>
            </a:r>
          </a:p>
          <a:p>
            <a:pPr lvl="1"/>
            <a:r>
              <a:rPr lang="zh-CN" altLang="en-US" sz="2400" dirty="0">
                <a:solidFill>
                  <a:srgbClr val="FF0000"/>
                </a:solidFill>
              </a:rPr>
              <a:t>地址解析协议 </a:t>
            </a:r>
            <a:r>
              <a:rPr lang="en-US" altLang="zh-CN" sz="2400" dirty="0">
                <a:solidFill>
                  <a:srgbClr val="FF0000"/>
                </a:solidFill>
              </a:rPr>
              <a:t>ARP</a:t>
            </a:r>
          </a:p>
          <a:p>
            <a:pPr lvl="1">
              <a:buFont typeface="Wingdings" panose="05000000000000000000" pitchFamily="2" charset="2"/>
              <a:buNone/>
            </a:pPr>
            <a:r>
              <a:rPr lang="en-US" altLang="zh-CN" sz="2400" dirty="0"/>
              <a:t>    (Address Resolution Protocol)</a:t>
            </a:r>
          </a:p>
          <a:p>
            <a:pPr lvl="1"/>
            <a:r>
              <a:rPr lang="zh-CN" altLang="en-US" sz="2400" dirty="0">
                <a:solidFill>
                  <a:srgbClr val="FF0000"/>
                </a:solidFill>
              </a:rPr>
              <a:t>网际控制报文协议 </a:t>
            </a:r>
            <a:r>
              <a:rPr lang="en-US" altLang="zh-CN" sz="2400" dirty="0">
                <a:solidFill>
                  <a:srgbClr val="FF0000"/>
                </a:solidFill>
              </a:rPr>
              <a:t>ICMP</a:t>
            </a:r>
          </a:p>
          <a:p>
            <a:pPr lvl="1">
              <a:buFont typeface="Wingdings" panose="05000000000000000000" pitchFamily="2" charset="2"/>
              <a:buNone/>
            </a:pPr>
            <a:r>
              <a:rPr lang="en-US" altLang="zh-CN" sz="2400" dirty="0"/>
              <a:t>   (Internet Control Message Protocol)</a:t>
            </a:r>
          </a:p>
          <a:p>
            <a:pPr lvl="1"/>
            <a:r>
              <a:rPr lang="zh-CN" altLang="en-US" sz="2400" dirty="0">
                <a:solidFill>
                  <a:srgbClr val="FF0000"/>
                </a:solidFill>
              </a:rPr>
              <a:t>网际组管理协议 </a:t>
            </a:r>
            <a:r>
              <a:rPr lang="en-US" altLang="zh-CN" sz="2400" dirty="0">
                <a:solidFill>
                  <a:srgbClr val="FF0000"/>
                </a:solidFill>
              </a:rPr>
              <a:t>IGMP</a:t>
            </a:r>
          </a:p>
          <a:p>
            <a:pPr lvl="1">
              <a:buFont typeface="Wingdings" panose="05000000000000000000" pitchFamily="2" charset="2"/>
              <a:buNone/>
            </a:pPr>
            <a:r>
              <a:rPr lang="en-US" altLang="zh-CN" sz="2400" dirty="0"/>
              <a:t>   (Internet Group Management Protocol)</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2"/>
          <p:cNvSpPr>
            <a:spLocks noGrp="1" noChangeArrowheads="1"/>
          </p:cNvSpPr>
          <p:nvPr>
            <p:ph type="title"/>
          </p:nvPr>
        </p:nvSpPr>
        <p:spPr/>
        <p:txBody>
          <a:bodyPr/>
          <a:lstStyle/>
          <a:p>
            <a:pPr algn="ctr"/>
            <a:r>
              <a:rPr lang="zh-CN" altLang="en-US" dirty="0"/>
              <a:t>网际层的 </a:t>
            </a:r>
            <a:r>
              <a:rPr lang="en-US" altLang="zh-CN" dirty="0"/>
              <a:t>IP </a:t>
            </a:r>
            <a:r>
              <a:rPr lang="zh-CN" altLang="en-US" dirty="0"/>
              <a:t>协议及配套协议</a:t>
            </a:r>
          </a:p>
        </p:txBody>
      </p:sp>
      <p:grpSp>
        <p:nvGrpSpPr>
          <p:cNvPr id="2" name="组合 1"/>
          <p:cNvGrpSpPr/>
          <p:nvPr/>
        </p:nvGrpSpPr>
        <p:grpSpPr>
          <a:xfrm>
            <a:off x="1442906" y="1412776"/>
            <a:ext cx="6475015" cy="4216400"/>
            <a:chOff x="1442906" y="1412776"/>
            <a:chExt cx="6475015" cy="4216400"/>
          </a:xfrm>
        </p:grpSpPr>
        <p:sp>
          <p:nvSpPr>
            <p:cNvPr id="967684" name="Rectangle 4"/>
            <p:cNvSpPr>
              <a:spLocks noChangeArrowheads="1"/>
            </p:cNvSpPr>
            <p:nvPr/>
          </p:nvSpPr>
          <p:spPr bwMode="auto">
            <a:xfrm>
              <a:off x="3511815" y="2806601"/>
              <a:ext cx="4406106" cy="1471612"/>
            </a:xfrm>
            <a:prstGeom prst="rect">
              <a:avLst/>
            </a:prstGeom>
            <a:solidFill>
              <a:srgbClr val="FFFF66"/>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967685" name="Rectangle 5"/>
            <p:cNvSpPr>
              <a:spLocks noChangeArrowheads="1"/>
            </p:cNvSpPr>
            <p:nvPr/>
          </p:nvSpPr>
          <p:spPr bwMode="auto">
            <a:xfrm>
              <a:off x="3511815" y="1412776"/>
              <a:ext cx="4406106" cy="3408362"/>
            </a:xfrm>
            <a:prstGeom prst="rect">
              <a:avLst/>
            </a:prstGeom>
            <a:noFill/>
            <a:ln w="2857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b="1">
                <a:solidFill>
                  <a:srgbClr val="000099"/>
                </a:solidFill>
                <a:latin typeface="+mn-lt"/>
                <a:ea typeface="黑体" panose="02010609060101010101" pitchFamily="2" charset="-122"/>
              </a:endParaRPr>
            </a:p>
          </p:txBody>
        </p:sp>
        <p:sp>
          <p:nvSpPr>
            <p:cNvPr id="967686" name="Line 6"/>
            <p:cNvSpPr>
              <a:spLocks noChangeShapeType="1"/>
            </p:cNvSpPr>
            <p:nvPr/>
          </p:nvSpPr>
          <p:spPr bwMode="auto">
            <a:xfrm>
              <a:off x="3511815" y="2265263"/>
              <a:ext cx="4406106"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anose="02010609060101010101" pitchFamily="2" charset="-122"/>
              </a:endParaRPr>
            </a:p>
          </p:txBody>
        </p:sp>
        <p:sp>
          <p:nvSpPr>
            <p:cNvPr id="967687" name="Line 7"/>
            <p:cNvSpPr>
              <a:spLocks noChangeShapeType="1"/>
            </p:cNvSpPr>
            <p:nvPr/>
          </p:nvSpPr>
          <p:spPr bwMode="auto">
            <a:xfrm>
              <a:off x="3511815" y="2806601"/>
              <a:ext cx="4406106" cy="0"/>
            </a:xfrm>
            <a:prstGeom prst="line">
              <a:avLst/>
            </a:prstGeom>
            <a:noFill/>
            <a:ln w="19050">
              <a:solidFill>
                <a:srgbClr val="0000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anose="02010609060101010101" pitchFamily="2" charset="-122"/>
              </a:endParaRPr>
            </a:p>
          </p:txBody>
        </p:sp>
        <p:sp>
          <p:nvSpPr>
            <p:cNvPr id="967688" name="Text Box 8"/>
            <p:cNvSpPr txBox="1">
              <a:spLocks noChangeArrowheads="1"/>
            </p:cNvSpPr>
            <p:nvPr/>
          </p:nvSpPr>
          <p:spPr bwMode="auto">
            <a:xfrm>
              <a:off x="4567767" y="1427063"/>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anose="02010609060101010101" pitchFamily="2" charset="-122"/>
                </a:rPr>
                <a:t>各种应用层协议</a:t>
              </a:r>
            </a:p>
          </p:txBody>
        </p:sp>
        <p:sp>
          <p:nvSpPr>
            <p:cNvPr id="967689" name="Text Box 9"/>
            <p:cNvSpPr txBox="1">
              <a:spLocks noChangeArrowheads="1"/>
            </p:cNvSpPr>
            <p:nvPr/>
          </p:nvSpPr>
          <p:spPr bwMode="auto">
            <a:xfrm>
              <a:off x="1442906" y="4405213"/>
              <a:ext cx="190148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2400">
                  <a:latin typeface="+mn-lt"/>
                  <a:ea typeface="黑体" panose="02010609060101010101" pitchFamily="2" charset="-122"/>
                </a:rPr>
                <a:t>  </a:t>
              </a:r>
              <a:r>
                <a:rPr kumimoji="1" lang="zh-CN" altLang="en-US" sz="2400">
                  <a:latin typeface="+mn-lt"/>
                  <a:ea typeface="黑体" panose="02010609060101010101" pitchFamily="2" charset="-122"/>
                </a:rPr>
                <a:t>网络接口层</a:t>
              </a:r>
            </a:p>
          </p:txBody>
        </p:sp>
        <p:sp>
          <p:nvSpPr>
            <p:cNvPr id="967690" name="Text Box 10"/>
            <p:cNvSpPr txBox="1">
              <a:spLocks noChangeArrowheads="1"/>
            </p:cNvSpPr>
            <p:nvPr/>
          </p:nvSpPr>
          <p:spPr bwMode="auto">
            <a:xfrm>
              <a:off x="4007114" y="1812826"/>
              <a:ext cx="32752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a:latin typeface="+mn-lt"/>
                  <a:ea typeface="黑体" panose="02010609060101010101" pitchFamily="2" charset="-122"/>
                </a:rPr>
                <a:t>(HTTP, FTP, SMTP </a:t>
              </a:r>
              <a:r>
                <a:rPr kumimoji="1" lang="zh-CN" altLang="zh-CN" sz="2400">
                  <a:latin typeface="+mn-lt"/>
                  <a:ea typeface="黑体" panose="02010609060101010101" pitchFamily="2" charset="-122"/>
                </a:rPr>
                <a:t>等</a:t>
              </a:r>
              <a:r>
                <a:rPr kumimoji="1" lang="en-US" altLang="zh-CN" sz="2400">
                  <a:latin typeface="+mn-lt"/>
                  <a:ea typeface="黑体" panose="02010609060101010101" pitchFamily="2" charset="-122"/>
                </a:rPr>
                <a:t>)</a:t>
              </a:r>
            </a:p>
          </p:txBody>
        </p:sp>
        <p:sp>
          <p:nvSpPr>
            <p:cNvPr id="967691" name="Rectangle 11"/>
            <p:cNvSpPr>
              <a:spLocks noChangeArrowheads="1"/>
            </p:cNvSpPr>
            <p:nvPr/>
          </p:nvSpPr>
          <p:spPr bwMode="auto">
            <a:xfrm>
              <a:off x="3506656" y="4898926"/>
              <a:ext cx="4411265" cy="730250"/>
            </a:xfrm>
            <a:prstGeom prst="rect">
              <a:avLst/>
            </a:prstGeom>
            <a:solidFill>
              <a:srgbClr val="FFFFFF">
                <a:alpha val="49001"/>
              </a:srgbClr>
            </a:solidFill>
            <a:ln w="19050">
              <a:solidFill>
                <a:schemeClr val="tx1"/>
              </a:solidFill>
              <a:prstDash val="dash"/>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anose="02010609060101010101" pitchFamily="2" charset="-122"/>
              </a:endParaRPr>
            </a:p>
          </p:txBody>
        </p:sp>
        <p:sp>
          <p:nvSpPr>
            <p:cNvPr id="967692" name="Text Box 12"/>
            <p:cNvSpPr txBox="1">
              <a:spLocks noChangeArrowheads="1"/>
            </p:cNvSpPr>
            <p:nvPr/>
          </p:nvSpPr>
          <p:spPr bwMode="auto">
            <a:xfrm>
              <a:off x="4953000" y="5027513"/>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anose="02010609060101010101" pitchFamily="2" charset="-122"/>
                </a:rPr>
                <a:t>物理硬件</a:t>
              </a:r>
            </a:p>
          </p:txBody>
        </p:sp>
        <p:sp>
          <p:nvSpPr>
            <p:cNvPr id="967693" name="Text Box 13"/>
            <p:cNvSpPr txBox="1">
              <a:spLocks noChangeArrowheads="1"/>
            </p:cNvSpPr>
            <p:nvPr/>
          </p:nvSpPr>
          <p:spPr bwMode="auto">
            <a:xfrm>
              <a:off x="1967442" y="2292251"/>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anose="02010609060101010101" pitchFamily="2" charset="-122"/>
                </a:rPr>
                <a:t>运输层</a:t>
              </a:r>
            </a:p>
          </p:txBody>
        </p:sp>
        <p:sp>
          <p:nvSpPr>
            <p:cNvPr id="967694" name="Text Box 14"/>
            <p:cNvSpPr txBox="1">
              <a:spLocks noChangeArrowheads="1"/>
            </p:cNvSpPr>
            <p:nvPr/>
          </p:nvSpPr>
          <p:spPr bwMode="auto">
            <a:xfrm>
              <a:off x="5071666" y="2316063"/>
              <a:ext cx="15812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dirty="0">
                  <a:latin typeface="+mn-lt"/>
                  <a:ea typeface="黑体" panose="02010609060101010101" pitchFamily="2" charset="-122"/>
                </a:rPr>
                <a:t>TCP, UDP</a:t>
              </a:r>
            </a:p>
          </p:txBody>
        </p:sp>
        <p:sp>
          <p:nvSpPr>
            <p:cNvPr id="967695" name="Text Box 15"/>
            <p:cNvSpPr txBox="1">
              <a:spLocks noChangeArrowheads="1"/>
            </p:cNvSpPr>
            <p:nvPr/>
          </p:nvSpPr>
          <p:spPr bwMode="auto">
            <a:xfrm>
              <a:off x="2019035" y="1592163"/>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dirty="0">
                  <a:latin typeface="+mn-lt"/>
                  <a:ea typeface="黑体" panose="02010609060101010101" pitchFamily="2" charset="-122"/>
                </a:rPr>
                <a:t>应用层</a:t>
              </a:r>
            </a:p>
          </p:txBody>
        </p:sp>
        <p:sp>
          <p:nvSpPr>
            <p:cNvPr id="967696" name="Rectangle 16"/>
            <p:cNvSpPr>
              <a:spLocks noChangeArrowheads="1"/>
            </p:cNvSpPr>
            <p:nvPr/>
          </p:nvSpPr>
          <p:spPr bwMode="auto">
            <a:xfrm>
              <a:off x="3602964" y="2852638"/>
              <a:ext cx="1050792" cy="373063"/>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dirty="0">
                  <a:solidFill>
                    <a:srgbClr val="000099"/>
                  </a:solidFill>
                  <a:latin typeface="+mn-lt"/>
                  <a:ea typeface="黑体" panose="02010609060101010101" pitchFamily="2" charset="-122"/>
                </a:rPr>
                <a:t>ICMP</a:t>
              </a:r>
            </a:p>
          </p:txBody>
        </p:sp>
        <p:sp>
          <p:nvSpPr>
            <p:cNvPr id="967697" name="Text Box 17"/>
            <p:cNvSpPr txBox="1">
              <a:spLocks noChangeArrowheads="1"/>
            </p:cNvSpPr>
            <p:nvPr/>
          </p:nvSpPr>
          <p:spPr bwMode="auto">
            <a:xfrm>
              <a:off x="5584164" y="3327375"/>
              <a:ext cx="5229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dirty="0">
                  <a:solidFill>
                    <a:srgbClr val="000099"/>
                  </a:solidFill>
                  <a:latin typeface="+mn-lt"/>
                  <a:ea typeface="黑体" panose="02010609060101010101" pitchFamily="2" charset="-122"/>
                </a:rPr>
                <a:t>IP</a:t>
              </a:r>
            </a:p>
          </p:txBody>
        </p:sp>
        <p:sp>
          <p:nvSpPr>
            <p:cNvPr id="967699" name="Rectangle 19"/>
            <p:cNvSpPr>
              <a:spLocks noChangeArrowheads="1"/>
            </p:cNvSpPr>
            <p:nvPr/>
          </p:nvSpPr>
          <p:spPr bwMode="auto">
            <a:xfrm>
              <a:off x="6867129" y="3814664"/>
              <a:ext cx="957923" cy="373063"/>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dirty="0">
                  <a:solidFill>
                    <a:srgbClr val="000099"/>
                  </a:solidFill>
                  <a:latin typeface="+mn-lt"/>
                  <a:ea typeface="黑体" panose="02010609060101010101" pitchFamily="2" charset="-122"/>
                </a:rPr>
                <a:t>ARP</a:t>
              </a:r>
            </a:p>
          </p:txBody>
        </p:sp>
        <p:sp>
          <p:nvSpPr>
            <p:cNvPr id="967700" name="Text Box 20"/>
            <p:cNvSpPr txBox="1">
              <a:spLocks noChangeArrowheads="1"/>
            </p:cNvSpPr>
            <p:nvPr/>
          </p:nvSpPr>
          <p:spPr bwMode="auto">
            <a:xfrm>
              <a:off x="4514454" y="4333776"/>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dirty="0">
                  <a:latin typeface="+mn-lt"/>
                  <a:ea typeface="黑体" panose="02010609060101010101" pitchFamily="2" charset="-122"/>
                </a:rPr>
                <a:t>与各种网络接口</a:t>
              </a:r>
            </a:p>
          </p:txBody>
        </p:sp>
        <p:sp>
          <p:nvSpPr>
            <p:cNvPr id="967701" name="Line 21"/>
            <p:cNvSpPr>
              <a:spLocks noChangeShapeType="1"/>
            </p:cNvSpPr>
            <p:nvPr/>
          </p:nvSpPr>
          <p:spPr bwMode="auto">
            <a:xfrm>
              <a:off x="3511815" y="4278213"/>
              <a:ext cx="4406106" cy="0"/>
            </a:xfrm>
            <a:prstGeom prst="line">
              <a:avLst/>
            </a:prstGeom>
            <a:noFill/>
            <a:ln w="19050">
              <a:solidFill>
                <a:srgbClr val="0000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967702" name="Line 22"/>
            <p:cNvSpPr>
              <a:spLocks noChangeShapeType="1"/>
            </p:cNvSpPr>
            <p:nvPr/>
          </p:nvSpPr>
          <p:spPr bwMode="auto">
            <a:xfrm>
              <a:off x="1735270" y="2265263"/>
              <a:ext cx="1683676"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anose="02010609060101010101" pitchFamily="2" charset="-122"/>
              </a:endParaRPr>
            </a:p>
          </p:txBody>
        </p:sp>
        <p:sp>
          <p:nvSpPr>
            <p:cNvPr id="967703" name="Line 23"/>
            <p:cNvSpPr>
              <a:spLocks noChangeShapeType="1"/>
            </p:cNvSpPr>
            <p:nvPr/>
          </p:nvSpPr>
          <p:spPr bwMode="auto">
            <a:xfrm>
              <a:off x="1735270" y="2806601"/>
              <a:ext cx="1683676"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anose="02010609060101010101" pitchFamily="2" charset="-122"/>
              </a:endParaRPr>
            </a:p>
          </p:txBody>
        </p:sp>
        <p:sp>
          <p:nvSpPr>
            <p:cNvPr id="967704" name="Line 24"/>
            <p:cNvSpPr>
              <a:spLocks noChangeShapeType="1"/>
            </p:cNvSpPr>
            <p:nvPr/>
          </p:nvSpPr>
          <p:spPr bwMode="auto">
            <a:xfrm>
              <a:off x="1764507" y="4275039"/>
              <a:ext cx="1654440" cy="317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67705" name="Line 25"/>
            <p:cNvSpPr>
              <a:spLocks noChangeShapeType="1"/>
            </p:cNvSpPr>
            <p:nvPr/>
          </p:nvSpPr>
          <p:spPr bwMode="auto">
            <a:xfrm>
              <a:off x="2550452" y="2806601"/>
              <a:ext cx="0" cy="1471612"/>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67706" name="Text Box 26"/>
            <p:cNvSpPr txBox="1">
              <a:spLocks noChangeArrowheads="1"/>
            </p:cNvSpPr>
            <p:nvPr/>
          </p:nvSpPr>
          <p:spPr bwMode="auto">
            <a:xfrm>
              <a:off x="1705014" y="3089177"/>
              <a:ext cx="1723549" cy="83099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400" b="1" dirty="0">
                  <a:solidFill>
                    <a:srgbClr val="000099"/>
                  </a:solidFill>
                  <a:latin typeface="+mn-lt"/>
                  <a:ea typeface="黑体" panose="02010609060101010101" pitchFamily="2" charset="-122"/>
                </a:rPr>
                <a:t>网络层</a:t>
              </a:r>
            </a:p>
            <a:p>
              <a:pPr algn="ctr"/>
              <a:r>
                <a:rPr kumimoji="1" lang="zh-CN" altLang="en-US" sz="2400" b="1" dirty="0">
                  <a:solidFill>
                    <a:srgbClr val="000099"/>
                  </a:solidFill>
                  <a:latin typeface="+mn-lt"/>
                  <a:ea typeface="黑体" panose="02010609060101010101" pitchFamily="2" charset="-122"/>
                </a:rPr>
                <a:t>（网际层）</a:t>
              </a:r>
            </a:p>
          </p:txBody>
        </p:sp>
        <p:sp>
          <p:nvSpPr>
            <p:cNvPr id="967707" name="Rectangle 27"/>
            <p:cNvSpPr>
              <a:spLocks noChangeArrowheads="1"/>
            </p:cNvSpPr>
            <p:nvPr/>
          </p:nvSpPr>
          <p:spPr bwMode="auto">
            <a:xfrm>
              <a:off x="4705351" y="2852638"/>
              <a:ext cx="1049073" cy="373063"/>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dirty="0">
                  <a:solidFill>
                    <a:srgbClr val="000099"/>
                  </a:solidFill>
                  <a:latin typeface="+mn-lt"/>
                  <a:ea typeface="黑体" panose="02010609060101010101" pitchFamily="2" charset="-122"/>
                </a:rPr>
                <a:t>IGMP</a:t>
              </a:r>
            </a:p>
          </p:txBody>
        </p:sp>
        <p:sp>
          <p:nvSpPr>
            <p:cNvPr id="967708" name="Line 28"/>
            <p:cNvSpPr>
              <a:spLocks noChangeShapeType="1"/>
            </p:cNvSpPr>
            <p:nvPr/>
          </p:nvSpPr>
          <p:spPr bwMode="auto">
            <a:xfrm flipV="1">
              <a:off x="1749029" y="1412776"/>
              <a:ext cx="1669917"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anose="02010609060101010101" pitchFamily="2" charset="-122"/>
              </a:endParaRPr>
            </a:p>
          </p:txBody>
        </p:sp>
        <p:sp>
          <p:nvSpPr>
            <p:cNvPr id="967709" name="Line 29"/>
            <p:cNvSpPr>
              <a:spLocks noChangeShapeType="1"/>
            </p:cNvSpPr>
            <p:nvPr/>
          </p:nvSpPr>
          <p:spPr bwMode="auto">
            <a:xfrm>
              <a:off x="1719792" y="4821138"/>
              <a:ext cx="1699154"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anose="02010609060101010101" pitchFamily="2" charset="-122"/>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370671734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r>
              <a:rPr lang="en-US" altLang="zh-CN" dirty="0"/>
              <a:t>4.2.2  </a:t>
            </a:r>
            <a:r>
              <a:rPr lang="zh-CN" altLang="en-US" dirty="0"/>
              <a:t>分类的 </a:t>
            </a:r>
            <a:r>
              <a:rPr lang="en-US" altLang="zh-CN" dirty="0"/>
              <a:t>IP </a:t>
            </a:r>
            <a:r>
              <a:rPr lang="zh-CN" altLang="en-US" dirty="0"/>
              <a:t>地址</a:t>
            </a:r>
          </a:p>
        </p:txBody>
      </p:sp>
      <p:sp>
        <p:nvSpPr>
          <p:cNvPr id="141315" name="Rectangle 3"/>
          <p:cNvSpPr>
            <a:spLocks noGrp="1" noChangeArrowheads="1"/>
          </p:cNvSpPr>
          <p:nvPr>
            <p:ph idx="1"/>
          </p:nvPr>
        </p:nvSpPr>
        <p:spPr/>
        <p:txBody>
          <a:bodyPr/>
          <a:lstStyle/>
          <a:p>
            <a:r>
              <a:rPr lang="zh-CN" altLang="zh-CN" dirty="0"/>
              <a:t>在</a:t>
            </a:r>
            <a:r>
              <a:rPr lang="en-US" altLang="zh-CN" dirty="0"/>
              <a:t> TCP/IP </a:t>
            </a:r>
            <a:r>
              <a:rPr lang="zh-CN" altLang="zh-CN" dirty="0"/>
              <a:t>体系中，</a:t>
            </a:r>
            <a:r>
              <a:rPr lang="en-US" altLang="zh-CN" dirty="0"/>
              <a:t>IP </a:t>
            </a:r>
            <a:r>
              <a:rPr lang="zh-CN" altLang="zh-CN" dirty="0"/>
              <a:t>地址是一个最基本的概念</a:t>
            </a:r>
            <a:r>
              <a:rPr lang="zh-CN" altLang="en-US" dirty="0"/>
              <a:t>。</a:t>
            </a:r>
            <a:endParaRPr lang="en-US" altLang="zh-CN" dirty="0"/>
          </a:p>
          <a:p>
            <a:pPr algn="just"/>
            <a:r>
              <a:rPr lang="zh-CN" altLang="en-US" dirty="0"/>
              <a:t>本部分重点学习：</a:t>
            </a:r>
            <a:endParaRPr lang="en-US" altLang="zh-CN" dirty="0"/>
          </a:p>
          <a:p>
            <a:pPr lvl="1" algn="just"/>
            <a:r>
              <a:rPr lang="en-US" altLang="zh-CN" dirty="0">
                <a:solidFill>
                  <a:srgbClr val="0000FF"/>
                </a:solidFill>
              </a:rPr>
              <a:t>1. IP </a:t>
            </a:r>
            <a:r>
              <a:rPr lang="zh-CN" altLang="zh-CN" dirty="0">
                <a:solidFill>
                  <a:srgbClr val="0000FF"/>
                </a:solidFill>
              </a:rPr>
              <a:t>地址及其表示方法</a:t>
            </a:r>
            <a:endParaRPr lang="en-US" altLang="zh-CN" dirty="0">
              <a:solidFill>
                <a:srgbClr val="0000FF"/>
              </a:solidFill>
            </a:endParaRPr>
          </a:p>
          <a:p>
            <a:pPr lvl="1" algn="just"/>
            <a:r>
              <a:rPr lang="en-US" altLang="zh-CN" dirty="0">
                <a:solidFill>
                  <a:srgbClr val="0000FF"/>
                </a:solidFill>
              </a:rPr>
              <a:t>2. </a:t>
            </a:r>
            <a:r>
              <a:rPr lang="zh-CN" altLang="zh-CN" dirty="0">
                <a:solidFill>
                  <a:srgbClr val="0000FF"/>
                </a:solidFill>
              </a:rPr>
              <a:t>常用的三种类别的</a:t>
            </a:r>
            <a:r>
              <a:rPr lang="en-US" altLang="zh-CN" dirty="0">
                <a:solidFill>
                  <a:srgbClr val="0000FF"/>
                </a:solidFill>
              </a:rPr>
              <a:t> IP </a:t>
            </a:r>
            <a:r>
              <a:rPr lang="zh-CN" altLang="zh-CN" dirty="0">
                <a:solidFill>
                  <a:srgbClr val="0000FF"/>
                </a:solidFill>
              </a:rPr>
              <a:t>地址</a:t>
            </a:r>
            <a:endParaRPr lang="en-US" altLang="zh-CN" dirty="0">
              <a:solidFill>
                <a:srgbClr val="0000FF"/>
              </a:solidFill>
            </a:endParaRPr>
          </a:p>
          <a:p>
            <a:pPr algn="just"/>
            <a:endParaRPr lang="zh-CN" altLang="en-US"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r>
              <a:rPr lang="en-US" altLang="zh-CN" dirty="0"/>
              <a:t>1.   IP </a:t>
            </a:r>
            <a:r>
              <a:rPr lang="zh-CN" altLang="en-US" dirty="0"/>
              <a:t>地址及其表示方法 </a:t>
            </a:r>
          </a:p>
        </p:txBody>
      </p:sp>
      <p:sp>
        <p:nvSpPr>
          <p:cNvPr id="141315" name="Rectangle 3"/>
          <p:cNvSpPr>
            <a:spLocks noGrp="1" noChangeArrowheads="1"/>
          </p:cNvSpPr>
          <p:nvPr>
            <p:ph idx="1"/>
          </p:nvPr>
        </p:nvSpPr>
        <p:spPr/>
        <p:txBody>
          <a:bodyPr/>
          <a:lstStyle/>
          <a:p>
            <a:r>
              <a:rPr lang="zh-CN" altLang="en-US" dirty="0"/>
              <a:t>我们把整个因特网看成为一个单一的、抽象的网络。</a:t>
            </a:r>
            <a:endParaRPr lang="en-US" altLang="zh-CN" dirty="0"/>
          </a:p>
          <a:p>
            <a:r>
              <a:rPr lang="en-US" altLang="zh-CN" dirty="0"/>
              <a:t>IP </a:t>
            </a:r>
            <a:r>
              <a:rPr lang="zh-CN" altLang="en-US" dirty="0"/>
              <a:t>地址就是给每个连接在互联网上的主机（或路由器）分配一个在全世界范围是唯一的 </a:t>
            </a:r>
            <a:r>
              <a:rPr lang="en-US" altLang="zh-CN" dirty="0"/>
              <a:t>32 </a:t>
            </a:r>
            <a:r>
              <a:rPr lang="zh-CN" altLang="en-US" dirty="0"/>
              <a:t>位的标识符。</a:t>
            </a:r>
          </a:p>
          <a:p>
            <a:r>
              <a:rPr lang="en-US" altLang="zh-CN" dirty="0"/>
              <a:t>IP </a:t>
            </a:r>
            <a:r>
              <a:rPr lang="zh-CN" altLang="en-US" dirty="0"/>
              <a:t>地址现在由</a:t>
            </a:r>
            <a:r>
              <a:rPr lang="zh-CN" altLang="zh-CN" dirty="0">
                <a:solidFill>
                  <a:srgbClr val="FF0000"/>
                </a:solidFill>
              </a:rPr>
              <a:t>互联网名字和数字分配机构</a:t>
            </a:r>
            <a:r>
              <a:rPr lang="en-US" altLang="zh-CN" dirty="0"/>
              <a:t>ICANN (Internet Corporation for Assigned Names and Numbers)</a:t>
            </a:r>
            <a:r>
              <a:rPr lang="zh-CN" altLang="en-US" dirty="0"/>
              <a:t>进行分配。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131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p:cNvSpPr>
            <a:spLocks noGrp="1" noChangeArrowheads="1"/>
          </p:cNvSpPr>
          <p:nvPr>
            <p:ph type="title"/>
          </p:nvPr>
        </p:nvSpPr>
        <p:spPr/>
        <p:txBody>
          <a:bodyPr/>
          <a:lstStyle/>
          <a:p>
            <a:pPr algn="ctr"/>
            <a:r>
              <a:rPr lang="en-US" altLang="zh-CN" dirty="0"/>
              <a:t>IP </a:t>
            </a:r>
            <a:r>
              <a:rPr lang="zh-CN" altLang="en-US" dirty="0"/>
              <a:t>地址的编址方法 </a:t>
            </a:r>
          </a:p>
        </p:txBody>
      </p:sp>
      <p:sp>
        <p:nvSpPr>
          <p:cNvPr id="143363" name="Rectangle 3"/>
          <p:cNvSpPr>
            <a:spLocks noGrp="1" noChangeArrowheads="1"/>
          </p:cNvSpPr>
          <p:nvPr>
            <p:ph idx="1"/>
          </p:nvPr>
        </p:nvSpPr>
        <p:spPr/>
        <p:txBody>
          <a:bodyPr/>
          <a:lstStyle/>
          <a:p>
            <a:r>
              <a:rPr lang="zh-CN" altLang="en-US" dirty="0">
                <a:solidFill>
                  <a:srgbClr val="FF0000"/>
                </a:solidFill>
              </a:rPr>
              <a:t>分类的 </a:t>
            </a:r>
            <a:r>
              <a:rPr lang="en-US" altLang="zh-CN" dirty="0">
                <a:solidFill>
                  <a:srgbClr val="FF0000"/>
                </a:solidFill>
              </a:rPr>
              <a:t>IP </a:t>
            </a:r>
            <a:r>
              <a:rPr lang="zh-CN" altLang="en-US" dirty="0">
                <a:solidFill>
                  <a:srgbClr val="FF0000"/>
                </a:solidFill>
              </a:rPr>
              <a:t>地址。</a:t>
            </a:r>
            <a:r>
              <a:rPr lang="zh-CN" altLang="en-US" dirty="0"/>
              <a:t>这是</a:t>
            </a:r>
            <a:r>
              <a:rPr lang="zh-CN" altLang="en-US" dirty="0">
                <a:solidFill>
                  <a:srgbClr val="0000FF"/>
                </a:solidFill>
              </a:rPr>
              <a:t>最基本的编址方法，</a:t>
            </a:r>
            <a:r>
              <a:rPr lang="zh-CN" altLang="en-US" dirty="0"/>
              <a:t>在 </a:t>
            </a:r>
            <a:r>
              <a:rPr lang="en-US" altLang="zh-CN" dirty="0"/>
              <a:t>1981 </a:t>
            </a:r>
            <a:r>
              <a:rPr lang="zh-CN" altLang="en-US" dirty="0"/>
              <a:t>年就通过了相应的标准协议。</a:t>
            </a:r>
          </a:p>
          <a:p>
            <a:r>
              <a:rPr lang="zh-CN" altLang="en-US" dirty="0">
                <a:solidFill>
                  <a:srgbClr val="FF0000"/>
                </a:solidFill>
              </a:rPr>
              <a:t>子网的划分。</a:t>
            </a:r>
            <a:r>
              <a:rPr lang="zh-CN" altLang="en-US" dirty="0"/>
              <a:t>这是对最基本的编址方法的</a:t>
            </a:r>
            <a:r>
              <a:rPr lang="zh-CN" altLang="en-US" dirty="0">
                <a:solidFill>
                  <a:srgbClr val="0000FF"/>
                </a:solidFill>
              </a:rPr>
              <a:t>改进，</a:t>
            </a:r>
            <a:r>
              <a:rPr lang="zh-CN" altLang="en-US" dirty="0"/>
              <a:t>其标准</a:t>
            </a:r>
            <a:r>
              <a:rPr lang="en-US" altLang="zh-CN" dirty="0"/>
              <a:t>[RFC 950] </a:t>
            </a:r>
            <a:r>
              <a:rPr lang="zh-CN" altLang="en-US" dirty="0"/>
              <a:t>在 </a:t>
            </a:r>
            <a:r>
              <a:rPr lang="en-US" altLang="zh-CN" dirty="0"/>
              <a:t>1985 </a:t>
            </a:r>
            <a:r>
              <a:rPr lang="zh-CN" altLang="en-US" dirty="0"/>
              <a:t>年通过。</a:t>
            </a:r>
          </a:p>
          <a:p>
            <a:r>
              <a:rPr lang="zh-CN" altLang="en-US" dirty="0">
                <a:solidFill>
                  <a:srgbClr val="FF0000"/>
                </a:solidFill>
              </a:rPr>
              <a:t>构成超网。</a:t>
            </a:r>
            <a:r>
              <a:rPr lang="zh-CN" altLang="en-US" dirty="0"/>
              <a:t>这是比较新的</a:t>
            </a:r>
            <a:r>
              <a:rPr lang="zh-CN" altLang="en-US" dirty="0">
                <a:solidFill>
                  <a:srgbClr val="0000FF"/>
                </a:solidFill>
              </a:rPr>
              <a:t>无分类编址方法。</a:t>
            </a:r>
            <a:r>
              <a:rPr lang="en-US" altLang="zh-CN" dirty="0"/>
              <a:t>1993 </a:t>
            </a:r>
            <a:r>
              <a:rPr lang="zh-CN" altLang="en-US" dirty="0"/>
              <a:t>年提出后很快就得到推广应用。</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marL="838200" indent="-838200" algn="ctr"/>
            <a:r>
              <a:rPr lang="zh-CN" altLang="en-US"/>
              <a:t>分类 </a:t>
            </a:r>
            <a:r>
              <a:rPr lang="en-US" altLang="zh-CN"/>
              <a:t>IP </a:t>
            </a:r>
            <a:r>
              <a:rPr lang="zh-CN" altLang="en-US"/>
              <a:t>地址 </a:t>
            </a:r>
          </a:p>
        </p:txBody>
      </p:sp>
      <p:sp>
        <p:nvSpPr>
          <p:cNvPr id="144387" name="Rectangle 3"/>
          <p:cNvSpPr>
            <a:spLocks noGrp="1" noChangeArrowheads="1"/>
          </p:cNvSpPr>
          <p:nvPr>
            <p:ph idx="1"/>
          </p:nvPr>
        </p:nvSpPr>
        <p:spPr/>
        <p:txBody>
          <a:bodyPr/>
          <a:lstStyle/>
          <a:p>
            <a:r>
              <a:rPr lang="zh-CN" altLang="zh-CN" dirty="0"/>
              <a:t>将</a:t>
            </a:r>
            <a:r>
              <a:rPr lang="en-US" altLang="zh-CN" dirty="0"/>
              <a:t>IP</a:t>
            </a:r>
            <a:r>
              <a:rPr lang="zh-CN" altLang="zh-CN" dirty="0"/>
              <a:t>地址划分为若干个固定类</a:t>
            </a:r>
            <a:r>
              <a:rPr lang="zh-CN" altLang="en-US" dirty="0"/>
              <a:t>。</a:t>
            </a:r>
            <a:endParaRPr lang="en-US" altLang="zh-CN" dirty="0"/>
          </a:p>
          <a:p>
            <a:r>
              <a:rPr lang="zh-CN" altLang="en-US" dirty="0"/>
              <a:t>每一类地址都由两个固定长度的字段组成，其中一个字段是</a:t>
            </a:r>
            <a:r>
              <a:rPr lang="zh-CN" altLang="en-US" dirty="0">
                <a:solidFill>
                  <a:srgbClr val="FF0000"/>
                </a:solidFill>
              </a:rPr>
              <a:t>网络号 </a:t>
            </a:r>
            <a:r>
              <a:rPr lang="en-US" altLang="zh-CN" dirty="0">
                <a:solidFill>
                  <a:srgbClr val="FF0000"/>
                </a:solidFill>
              </a:rPr>
              <a:t>net-id</a:t>
            </a:r>
            <a:r>
              <a:rPr lang="zh-CN" altLang="en-US" dirty="0">
                <a:solidFill>
                  <a:srgbClr val="FF0000"/>
                </a:solidFill>
              </a:rPr>
              <a:t>，</a:t>
            </a:r>
            <a:r>
              <a:rPr lang="zh-CN" altLang="en-US" dirty="0"/>
              <a:t>它标志主机（或路由器）所连接到的网络，而另一个字段则是</a:t>
            </a:r>
            <a:r>
              <a:rPr lang="zh-CN" altLang="en-US" dirty="0">
                <a:solidFill>
                  <a:srgbClr val="FF0000"/>
                </a:solidFill>
              </a:rPr>
              <a:t>主机号 </a:t>
            </a:r>
            <a:r>
              <a:rPr lang="en-US" altLang="zh-CN" dirty="0">
                <a:solidFill>
                  <a:srgbClr val="FF0000"/>
                </a:solidFill>
              </a:rPr>
              <a:t>host-id</a:t>
            </a:r>
            <a:r>
              <a:rPr lang="zh-CN" altLang="en-US" dirty="0">
                <a:solidFill>
                  <a:srgbClr val="FF0000"/>
                </a:solidFill>
              </a:rPr>
              <a:t>，</a:t>
            </a:r>
            <a:r>
              <a:rPr lang="zh-CN" altLang="en-US" dirty="0"/>
              <a:t>它标志该主机（或路由器）。</a:t>
            </a:r>
            <a:endParaRPr lang="en-US" altLang="zh-CN" dirty="0"/>
          </a:p>
          <a:p>
            <a:r>
              <a:rPr lang="zh-CN" altLang="zh-CN" dirty="0"/>
              <a:t>主机号在它前面的网络号所指明的网络范围内必须是唯一的。</a:t>
            </a:r>
            <a:endParaRPr lang="en-US" altLang="zh-CN" dirty="0"/>
          </a:p>
          <a:p>
            <a:r>
              <a:rPr lang="zh-CN" altLang="zh-CN" dirty="0"/>
              <a:t>由此可见，</a:t>
            </a:r>
            <a:r>
              <a:rPr lang="zh-CN" altLang="zh-CN" dirty="0">
                <a:solidFill>
                  <a:srgbClr val="FF0000"/>
                </a:solidFill>
              </a:rPr>
              <a:t>一个</a:t>
            </a:r>
            <a:r>
              <a:rPr lang="en-US" altLang="zh-CN" dirty="0">
                <a:solidFill>
                  <a:srgbClr val="FF0000"/>
                </a:solidFill>
              </a:rPr>
              <a:t> IP </a:t>
            </a:r>
            <a:r>
              <a:rPr lang="zh-CN" altLang="zh-CN" dirty="0">
                <a:solidFill>
                  <a:srgbClr val="FF0000"/>
                </a:solidFill>
              </a:rPr>
              <a:t>地址在整个互联网范围内是唯一的。</a:t>
            </a:r>
            <a:endParaRPr lang="zh-CN" altLang="en-US" dirty="0">
              <a:solidFill>
                <a:srgbClr val="FF0000"/>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marL="838200" indent="-838200" algn="ctr"/>
            <a:r>
              <a:rPr lang="zh-CN" altLang="en-US"/>
              <a:t>分类 </a:t>
            </a:r>
            <a:r>
              <a:rPr lang="en-US" altLang="zh-CN"/>
              <a:t>IP </a:t>
            </a:r>
            <a:r>
              <a:rPr lang="zh-CN" altLang="en-US"/>
              <a:t>地址 </a:t>
            </a:r>
          </a:p>
        </p:txBody>
      </p:sp>
      <p:sp>
        <p:nvSpPr>
          <p:cNvPr id="144387" name="Rectangle 3"/>
          <p:cNvSpPr>
            <a:spLocks noGrp="1" noChangeArrowheads="1"/>
          </p:cNvSpPr>
          <p:nvPr>
            <p:ph idx="1"/>
          </p:nvPr>
        </p:nvSpPr>
        <p:spPr/>
        <p:txBody>
          <a:bodyPr/>
          <a:lstStyle/>
          <a:p>
            <a:pPr algn="just"/>
            <a:r>
              <a:rPr lang="zh-CN" altLang="en-US" dirty="0"/>
              <a:t>这种两级的 </a:t>
            </a:r>
            <a:r>
              <a:rPr lang="en-US" altLang="zh-CN" dirty="0"/>
              <a:t>IP </a:t>
            </a:r>
            <a:r>
              <a:rPr lang="zh-CN" altLang="en-US" dirty="0"/>
              <a:t>地址结构如下：</a:t>
            </a:r>
            <a:endParaRPr lang="en-US" altLang="zh-CN" dirty="0"/>
          </a:p>
          <a:p>
            <a:pPr algn="just"/>
            <a:endParaRPr lang="en-US" altLang="zh-CN" dirty="0"/>
          </a:p>
          <a:p>
            <a:pPr algn="just"/>
            <a:endParaRPr lang="en-US" altLang="zh-CN" dirty="0"/>
          </a:p>
          <a:p>
            <a:pPr algn="just"/>
            <a:endParaRPr lang="en-US" altLang="zh-CN" dirty="0"/>
          </a:p>
          <a:p>
            <a:pPr algn="just"/>
            <a:r>
              <a:rPr lang="zh-CN" altLang="en-US" dirty="0"/>
              <a:t>这种两级的 </a:t>
            </a:r>
            <a:r>
              <a:rPr lang="en-US" altLang="zh-CN" dirty="0"/>
              <a:t>IP </a:t>
            </a:r>
            <a:r>
              <a:rPr lang="zh-CN" altLang="en-US" dirty="0"/>
              <a:t>地址可以记为：</a:t>
            </a:r>
          </a:p>
        </p:txBody>
      </p:sp>
      <p:sp>
        <p:nvSpPr>
          <p:cNvPr id="20" name="Rectangle 2"/>
          <p:cNvSpPr>
            <a:spLocks noChangeArrowheads="1"/>
          </p:cNvSpPr>
          <p:nvPr/>
        </p:nvSpPr>
        <p:spPr bwMode="auto">
          <a:xfrm>
            <a:off x="845778" y="4437603"/>
            <a:ext cx="8355694" cy="685801"/>
          </a:xfrm>
          <a:prstGeom prst="rect">
            <a:avLst/>
          </a:prstGeom>
          <a:solidFill>
            <a:srgbClr val="66FF66"/>
          </a:solidFill>
          <a:ln w="19050">
            <a:solidFill>
              <a:srgbClr val="000000"/>
            </a:solidFill>
            <a:miter lim="800000"/>
          </a:ln>
          <a:effectLst>
            <a:outerShdw dist="107763" dir="2700000" algn="ctr" rotWithShape="0">
              <a:srgbClr val="1C1C1C">
                <a:alpha val="50000"/>
              </a:srgbClr>
            </a:outerShdw>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anose="05000000000000000000" pitchFamily="2" charset="2"/>
              <a:buNone/>
              <a:defRPr/>
            </a:pPr>
            <a:r>
              <a:rPr kumimoji="0" lang="en-US" altLang="zh-CN" sz="2800" b="1" i="0" u="none" strike="noStrike" kern="0" cap="none" spc="0" normalizeH="0" baseline="0" noProof="0" dirty="0">
                <a:ln>
                  <a:noFill/>
                </a:ln>
                <a:solidFill>
                  <a:srgbClr val="0000CC"/>
                </a:solidFill>
                <a:effectLst/>
                <a:uLnTx/>
                <a:uFillTx/>
                <a:latin typeface="+mn-lt"/>
                <a:ea typeface="黑体" panose="02010609060101010101" pitchFamily="2" charset="-122"/>
              </a:rPr>
              <a:t>IP </a:t>
            </a:r>
            <a:r>
              <a:rPr kumimoji="0" lang="zh-CN" altLang="en-US" sz="2800" b="1" i="0" u="none" strike="noStrike" kern="0" cap="none" spc="0" normalizeH="0" baseline="0" noProof="0" dirty="0">
                <a:ln>
                  <a:noFill/>
                </a:ln>
                <a:solidFill>
                  <a:srgbClr val="0000CC"/>
                </a:solidFill>
                <a:effectLst/>
                <a:uLnTx/>
                <a:uFillTx/>
                <a:latin typeface="+mn-lt"/>
                <a:ea typeface="黑体" panose="02010609060101010101" pitchFamily="2" charset="-122"/>
              </a:rPr>
              <a:t>地址 </a:t>
            </a:r>
            <a:r>
              <a:rPr kumimoji="0" lang="en-US" altLang="zh-CN" sz="2800" b="1" i="0" u="none" strike="noStrike" kern="0" cap="none" spc="0" normalizeH="0" baseline="0" noProof="0" dirty="0">
                <a:ln>
                  <a:noFill/>
                </a:ln>
                <a:solidFill>
                  <a:srgbClr val="0000CC"/>
                </a:solidFill>
                <a:effectLst/>
                <a:uLnTx/>
                <a:uFillTx/>
                <a:latin typeface="+mn-lt"/>
                <a:ea typeface="黑体" panose="02010609060101010101" pitchFamily="2" charset="-122"/>
              </a:rPr>
              <a:t>::= { &lt;</a:t>
            </a:r>
            <a:r>
              <a:rPr kumimoji="0" lang="zh-CN" altLang="en-US" sz="2800" b="1" i="0" u="none" strike="noStrike" kern="0" cap="none" spc="0" normalizeH="0" baseline="0" noProof="0" dirty="0">
                <a:ln>
                  <a:noFill/>
                </a:ln>
                <a:solidFill>
                  <a:srgbClr val="0000CC"/>
                </a:solidFill>
                <a:effectLst/>
                <a:uLnTx/>
                <a:uFillTx/>
                <a:latin typeface="+mn-lt"/>
                <a:ea typeface="黑体" panose="02010609060101010101" pitchFamily="2" charset="-122"/>
              </a:rPr>
              <a:t>网络号</a:t>
            </a:r>
            <a:r>
              <a:rPr kumimoji="0" lang="en-US" altLang="zh-CN" sz="2800" b="1" i="0" u="none" strike="noStrike" kern="0" cap="none" spc="0" normalizeH="0" baseline="0" noProof="0" dirty="0">
                <a:ln>
                  <a:noFill/>
                </a:ln>
                <a:solidFill>
                  <a:srgbClr val="0000CC"/>
                </a:solidFill>
                <a:effectLst/>
                <a:uLnTx/>
                <a:uFillTx/>
                <a:latin typeface="+mn-lt"/>
                <a:ea typeface="黑体" panose="02010609060101010101" pitchFamily="2" charset="-122"/>
              </a:rPr>
              <a:t>&gt;, &lt;</a:t>
            </a:r>
            <a:r>
              <a:rPr kumimoji="0" lang="zh-CN" altLang="en-US" sz="2800" b="1" i="0" u="none" strike="noStrike" kern="0" cap="none" spc="0" normalizeH="0" baseline="0" noProof="0" dirty="0">
                <a:ln>
                  <a:noFill/>
                </a:ln>
                <a:solidFill>
                  <a:srgbClr val="0000CC"/>
                </a:solidFill>
                <a:effectLst/>
                <a:uLnTx/>
                <a:uFillTx/>
                <a:latin typeface="+mn-lt"/>
                <a:ea typeface="黑体" panose="02010609060101010101" pitchFamily="2" charset="-122"/>
              </a:rPr>
              <a:t>主机号</a:t>
            </a:r>
            <a:r>
              <a:rPr kumimoji="0" lang="en-US" altLang="zh-CN" sz="2800" b="1" i="0" u="none" strike="noStrike" kern="0" cap="none" spc="0" normalizeH="0" baseline="0" noProof="0" dirty="0">
                <a:ln>
                  <a:noFill/>
                </a:ln>
                <a:solidFill>
                  <a:srgbClr val="0000CC"/>
                </a:solidFill>
                <a:effectLst/>
                <a:uLnTx/>
                <a:uFillTx/>
                <a:latin typeface="+mn-lt"/>
                <a:ea typeface="黑体" panose="02010609060101010101" pitchFamily="2" charset="-122"/>
              </a:rPr>
              <a:t>&gt;}        (4-1)</a:t>
            </a:r>
          </a:p>
        </p:txBody>
      </p:sp>
      <p:sp>
        <p:nvSpPr>
          <p:cNvPr id="21" name="Text Box 5"/>
          <p:cNvSpPr txBox="1">
            <a:spLocks noChangeArrowheads="1"/>
          </p:cNvSpPr>
          <p:nvPr/>
        </p:nvSpPr>
        <p:spPr bwMode="auto">
          <a:xfrm>
            <a:off x="3234816" y="5301208"/>
            <a:ext cx="335861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800" b="1" i="0" u="none" strike="noStrike" kern="0" cap="none" spc="0" normalizeH="0" baseline="0" noProof="0" dirty="0">
                <a:ln>
                  <a:noFill/>
                </a:ln>
                <a:solidFill>
                  <a:srgbClr val="0000CC"/>
                </a:solidFill>
                <a:effectLst/>
                <a:uLnTx/>
                <a:uFillTx/>
                <a:latin typeface="+mn-lt"/>
                <a:ea typeface="黑体" panose="02010609060101010101" pitchFamily="2" charset="-122"/>
              </a:rPr>
              <a:t>::=  </a:t>
            </a:r>
            <a:r>
              <a:rPr kumimoji="0" lang="zh-CN" altLang="en-US" sz="2800" b="1" i="0" u="none" strike="noStrike" kern="0" cap="none" spc="0" normalizeH="0" baseline="0" noProof="0" dirty="0">
                <a:ln>
                  <a:noFill/>
                </a:ln>
                <a:solidFill>
                  <a:srgbClr val="0000CC"/>
                </a:solidFill>
                <a:effectLst/>
                <a:uLnTx/>
                <a:uFillTx/>
                <a:latin typeface="+mn-lt"/>
                <a:ea typeface="黑体" panose="02010609060101010101" pitchFamily="2" charset="-122"/>
              </a:rPr>
              <a:t>代表“</a:t>
            </a:r>
            <a:r>
              <a:rPr kumimoji="0" lang="zh-CN" altLang="en-US" sz="2800" b="1" i="0" u="none" strike="noStrike" kern="0" cap="none" spc="0" normalizeH="0" baseline="0" noProof="0" dirty="0">
                <a:ln>
                  <a:noFill/>
                </a:ln>
                <a:solidFill>
                  <a:srgbClr val="FF0000"/>
                </a:solidFill>
                <a:effectLst/>
                <a:uLnTx/>
                <a:uFillTx/>
                <a:latin typeface="+mn-lt"/>
                <a:ea typeface="黑体" panose="02010609060101010101" pitchFamily="2" charset="-122"/>
              </a:rPr>
              <a:t>定义为</a:t>
            </a:r>
            <a:r>
              <a:rPr kumimoji="0" lang="zh-CN" altLang="en-US" sz="2800" b="1" i="0" u="none" strike="noStrike" kern="0" cap="none" spc="0" normalizeH="0" baseline="0" noProof="0" dirty="0">
                <a:ln>
                  <a:noFill/>
                </a:ln>
                <a:solidFill>
                  <a:srgbClr val="0000CC"/>
                </a:solidFill>
                <a:effectLst/>
                <a:uLnTx/>
                <a:uFillTx/>
                <a:latin typeface="+mn-lt"/>
                <a:ea typeface="黑体" panose="02010609060101010101" pitchFamily="2" charset="-122"/>
              </a:rPr>
              <a:t>”</a:t>
            </a:r>
          </a:p>
        </p:txBody>
      </p:sp>
      <p:grpSp>
        <p:nvGrpSpPr>
          <p:cNvPr id="22" name="Group 14"/>
          <p:cNvGrpSpPr/>
          <p:nvPr/>
        </p:nvGrpSpPr>
        <p:grpSpPr bwMode="auto">
          <a:xfrm>
            <a:off x="2177345" y="1988840"/>
            <a:ext cx="5223928" cy="1152128"/>
            <a:chOff x="1107" y="2388"/>
            <a:chExt cx="3405" cy="845"/>
          </a:xfrm>
        </p:grpSpPr>
        <p:sp>
          <p:nvSpPr>
            <p:cNvPr id="23" name="Line 10"/>
            <p:cNvSpPr>
              <a:spLocks noChangeShapeType="1"/>
            </p:cNvSpPr>
            <p:nvPr/>
          </p:nvSpPr>
          <p:spPr bwMode="auto">
            <a:xfrm>
              <a:off x="1109" y="2736"/>
              <a:ext cx="0" cy="48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4" name="Line 11"/>
            <p:cNvSpPr>
              <a:spLocks noChangeShapeType="1"/>
            </p:cNvSpPr>
            <p:nvPr/>
          </p:nvSpPr>
          <p:spPr bwMode="auto">
            <a:xfrm>
              <a:off x="4512" y="2753"/>
              <a:ext cx="0" cy="48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5" name="Line 12"/>
            <p:cNvSpPr>
              <a:spLocks noChangeShapeType="1"/>
            </p:cNvSpPr>
            <p:nvPr/>
          </p:nvSpPr>
          <p:spPr bwMode="auto">
            <a:xfrm>
              <a:off x="1126" y="3006"/>
              <a:ext cx="3369"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6" name="Text Box 13"/>
            <p:cNvSpPr txBox="1">
              <a:spLocks noChangeArrowheads="1"/>
            </p:cNvSpPr>
            <p:nvPr/>
          </p:nvSpPr>
          <p:spPr bwMode="auto">
            <a:xfrm>
              <a:off x="2473" y="2864"/>
              <a:ext cx="474" cy="293"/>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rPr>
                <a:t>32</a:t>
              </a:r>
              <a:r>
                <a:rPr kumimoji="0" lang="zh-CN" altLang="en-US" sz="2000" b="1" i="0" u="none" strike="noStrike" kern="0" cap="none" spc="0" normalizeH="0" baseline="0" noProof="0" dirty="0">
                  <a:ln>
                    <a:noFill/>
                  </a:ln>
                  <a:solidFill>
                    <a:sysClr val="windowText" lastClr="000000"/>
                  </a:solidFill>
                  <a:effectLst/>
                  <a:uLnTx/>
                  <a:uFillTx/>
                  <a:latin typeface="+mn-lt"/>
                </a:rPr>
                <a:t>位</a:t>
              </a:r>
            </a:p>
          </p:txBody>
        </p:sp>
        <p:grpSp>
          <p:nvGrpSpPr>
            <p:cNvPr id="27" name="Group 7"/>
            <p:cNvGrpSpPr/>
            <p:nvPr/>
          </p:nvGrpSpPr>
          <p:grpSpPr bwMode="auto">
            <a:xfrm>
              <a:off x="1107" y="2388"/>
              <a:ext cx="3404" cy="396"/>
              <a:chOff x="1205" y="3011"/>
              <a:chExt cx="3072" cy="437"/>
            </a:xfrm>
          </p:grpSpPr>
          <p:sp>
            <p:nvSpPr>
              <p:cNvPr id="28" name="Rectangle 8"/>
              <p:cNvSpPr>
                <a:spLocks noChangeArrowheads="1"/>
              </p:cNvSpPr>
              <p:nvPr/>
            </p:nvSpPr>
            <p:spPr bwMode="auto">
              <a:xfrm>
                <a:off x="1205" y="3011"/>
                <a:ext cx="1536" cy="436"/>
              </a:xfrm>
              <a:prstGeom prst="rect">
                <a:avLst/>
              </a:prstGeom>
              <a:solidFill>
                <a:srgbClr val="FF66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8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网络号</a:t>
                </a:r>
                <a:endParaRPr kumimoji="0" lang="en-US" altLang="zh-CN" sz="28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29" name="Rectangle 9"/>
              <p:cNvSpPr>
                <a:spLocks noChangeArrowheads="1"/>
              </p:cNvSpPr>
              <p:nvPr/>
            </p:nvSpPr>
            <p:spPr bwMode="auto">
              <a:xfrm>
                <a:off x="2741" y="3012"/>
                <a:ext cx="1536" cy="43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8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主机号</a:t>
                </a:r>
                <a:endParaRPr kumimoji="0" lang="en-US" altLang="zh-CN" sz="28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99"/>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FF"/>
                  </a:solidFill>
                  <a:latin typeface="+mn-lt"/>
                  <a:ea typeface="黑体" panose="02010609060101010101" pitchFamily="2" charset="-122"/>
                </a:rPr>
                <a:t>A </a:t>
              </a:r>
              <a:r>
                <a:rPr kumimoji="1" lang="zh-CN" altLang="en-US" sz="2000" b="1" dirty="0">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29950"/>
              <a:gd name="adj2" fmla="val -587616"/>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A </a:t>
            </a:r>
            <a:r>
              <a:rPr lang="zh-CN" altLang="en-US" sz="2400" b="1" dirty="0">
                <a:solidFill>
                  <a:srgbClr val="000066"/>
                </a:solidFill>
                <a:latin typeface="+mn-lt"/>
                <a:ea typeface="黑体" panose="02010609060101010101" pitchFamily="2" charset="-122"/>
              </a:rPr>
              <a:t>类地址的网络号字段 </a:t>
            </a:r>
            <a:r>
              <a:rPr lang="en-US" altLang="zh-CN" sz="2400" b="1" dirty="0">
                <a:solidFill>
                  <a:srgbClr val="000066"/>
                </a:solidFill>
                <a:latin typeface="+mn-lt"/>
                <a:ea typeface="黑体" panose="02010609060101010101" pitchFamily="2" charset="-122"/>
              </a:rPr>
              <a:t>net-id </a:t>
            </a:r>
            <a:r>
              <a:rPr lang="zh-CN" altLang="en-US" sz="2400" b="1" dirty="0">
                <a:solidFill>
                  <a:srgbClr val="000066"/>
                </a:solidFill>
                <a:latin typeface="+mn-lt"/>
                <a:ea typeface="黑体" panose="02010609060101010101" pitchFamily="2" charset="-122"/>
              </a:rPr>
              <a:t>为 </a:t>
            </a:r>
            <a:r>
              <a:rPr lang="en-US" altLang="zh-CN" sz="2400" b="1" dirty="0">
                <a:solidFill>
                  <a:srgbClr val="000066"/>
                </a:solidFill>
                <a:latin typeface="+mn-lt"/>
                <a:ea typeface="黑体" panose="02010609060101010101" pitchFamily="2" charset="-122"/>
              </a:rPr>
              <a:t>1 </a:t>
            </a:r>
            <a:r>
              <a:rPr lang="zh-CN" altLang="en-US" sz="2400" b="1" dirty="0">
                <a:solidFill>
                  <a:srgbClr val="000066"/>
                </a:solidFill>
                <a:latin typeface="+mn-lt"/>
                <a:ea typeface="黑体" panose="02010609060101010101" pitchFamily="2" charset="-122"/>
              </a:rPr>
              <a:t>字节</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7497"/>
              <a:gd name="adj2" fmla="val -407074"/>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ea typeface="黑体" panose="02010609060101010101" pitchFamily="2" charset="-122"/>
              </a:rPr>
              <a:t>B </a:t>
            </a:r>
            <a:r>
              <a:rPr lang="zh-CN" altLang="en-US" sz="2400" b="1" dirty="0">
                <a:solidFill>
                  <a:srgbClr val="000066"/>
                </a:solidFill>
                <a:ea typeface="黑体" panose="02010609060101010101" pitchFamily="2" charset="-122"/>
              </a:rPr>
              <a:t>类地址的网络号字段 </a:t>
            </a:r>
            <a:r>
              <a:rPr lang="en-US" altLang="zh-CN" sz="2400" b="1" dirty="0">
                <a:solidFill>
                  <a:srgbClr val="000066"/>
                </a:solidFill>
                <a:ea typeface="黑体" panose="02010609060101010101" pitchFamily="2" charset="-122"/>
              </a:rPr>
              <a:t>net-id </a:t>
            </a:r>
            <a:r>
              <a:rPr lang="zh-CN" altLang="en-US" sz="2400" b="1" dirty="0">
                <a:solidFill>
                  <a:srgbClr val="000066"/>
                </a:solidFill>
                <a:ea typeface="黑体" panose="02010609060101010101" pitchFamily="2" charset="-122"/>
              </a:rPr>
              <a:t>为 </a:t>
            </a:r>
            <a:r>
              <a:rPr lang="en-US" altLang="zh-CN" sz="2400" b="1" dirty="0">
                <a:solidFill>
                  <a:srgbClr val="000066"/>
                </a:solidFill>
                <a:ea typeface="黑体" panose="02010609060101010101" pitchFamily="2" charset="-122"/>
              </a:rPr>
              <a:t>2 </a:t>
            </a:r>
            <a:r>
              <a:rPr lang="zh-CN" altLang="en-US" sz="2400" b="1" dirty="0">
                <a:solidFill>
                  <a:srgbClr val="000066"/>
                </a:solidFill>
                <a:ea typeface="黑体" panose="02010609060101010101" pitchFamily="2" charset="-122"/>
              </a:rPr>
              <a:t>字节</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6663"/>
              <a:gd name="adj2" fmla="val -235028"/>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ea typeface="黑体" panose="02010609060101010101" pitchFamily="2" charset="-122"/>
              </a:rPr>
              <a:t>C </a:t>
            </a:r>
            <a:r>
              <a:rPr lang="zh-CN" altLang="en-US" sz="2400" b="1" dirty="0">
                <a:solidFill>
                  <a:srgbClr val="000066"/>
                </a:solidFill>
                <a:ea typeface="黑体" panose="02010609060101010101" pitchFamily="2" charset="-122"/>
              </a:rPr>
              <a:t>类地址的网络号字段 </a:t>
            </a:r>
            <a:r>
              <a:rPr lang="en-US" altLang="zh-CN" sz="2400" b="1" dirty="0">
                <a:solidFill>
                  <a:srgbClr val="000066"/>
                </a:solidFill>
                <a:ea typeface="黑体" panose="02010609060101010101" pitchFamily="2" charset="-122"/>
              </a:rPr>
              <a:t>net-id </a:t>
            </a:r>
            <a:r>
              <a:rPr lang="zh-CN" altLang="en-US" sz="2400" b="1" dirty="0">
                <a:solidFill>
                  <a:srgbClr val="000066"/>
                </a:solidFill>
                <a:ea typeface="黑体" panose="02010609060101010101" pitchFamily="2" charset="-122"/>
              </a:rPr>
              <a:t>为 </a:t>
            </a:r>
            <a:r>
              <a:rPr lang="en-US" altLang="zh-CN" sz="2400" b="1" dirty="0">
                <a:solidFill>
                  <a:srgbClr val="000066"/>
                </a:solidFill>
                <a:ea typeface="黑体" panose="02010609060101010101" pitchFamily="2" charset="-122"/>
              </a:rPr>
              <a:t>3 </a:t>
            </a:r>
            <a:r>
              <a:rPr lang="zh-CN" altLang="en-US" sz="2400" b="1" dirty="0">
                <a:solidFill>
                  <a:srgbClr val="000066"/>
                </a:solidFill>
                <a:ea typeface="黑体" panose="02010609060101010101" pitchFamily="2" charset="-122"/>
              </a:rPr>
              <a:t>字节</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4260"/>
              <a:gd name="adj2" fmla="val -576996"/>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A </a:t>
            </a:r>
            <a:r>
              <a:rPr lang="zh-CN" altLang="en-US" sz="2400" b="1" dirty="0">
                <a:solidFill>
                  <a:srgbClr val="000066"/>
                </a:solidFill>
                <a:latin typeface="+mn-lt"/>
                <a:ea typeface="黑体" panose="02010609060101010101" pitchFamily="2" charset="-122"/>
              </a:rPr>
              <a:t>类地址的主机号字段 </a:t>
            </a:r>
            <a:r>
              <a:rPr lang="en-US" altLang="zh-CN" sz="2400" b="1" dirty="0">
                <a:solidFill>
                  <a:srgbClr val="000066"/>
                </a:solidFill>
                <a:latin typeface="+mn-lt"/>
                <a:ea typeface="黑体" panose="02010609060101010101" pitchFamily="2" charset="-122"/>
              </a:rPr>
              <a:t>host-id </a:t>
            </a:r>
            <a:r>
              <a:rPr lang="zh-CN" altLang="en-US" sz="2400" b="1" dirty="0">
                <a:solidFill>
                  <a:srgbClr val="000066"/>
                </a:solidFill>
                <a:latin typeface="+mn-lt"/>
                <a:ea typeface="黑体" panose="02010609060101010101" pitchFamily="2" charset="-122"/>
              </a:rPr>
              <a:t>为 </a:t>
            </a:r>
            <a:r>
              <a:rPr lang="en-US" altLang="zh-CN" sz="2400" b="1" dirty="0">
                <a:solidFill>
                  <a:srgbClr val="000066"/>
                </a:solidFill>
                <a:latin typeface="+mn-lt"/>
                <a:ea typeface="黑体" panose="02010609060101010101" pitchFamily="2" charset="-122"/>
              </a:rPr>
              <a:t>3 </a:t>
            </a:r>
            <a:r>
              <a:rPr lang="zh-CN" altLang="en-US" sz="2400" b="1" dirty="0">
                <a:solidFill>
                  <a:srgbClr val="000066"/>
                </a:solidFill>
                <a:latin typeface="+mn-lt"/>
                <a:ea typeface="黑体" panose="02010609060101010101" pitchFamily="2" charset="-122"/>
              </a:rPr>
              <a:t>字节</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14552"/>
              <a:gd name="adj2" fmla="val -411322"/>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B </a:t>
            </a:r>
            <a:r>
              <a:rPr lang="zh-CN" altLang="en-US" sz="2400" b="1" dirty="0">
                <a:solidFill>
                  <a:srgbClr val="000066"/>
                </a:solidFill>
                <a:latin typeface="+mn-lt"/>
                <a:ea typeface="黑体" panose="02010609060101010101" pitchFamily="2" charset="-122"/>
              </a:rPr>
              <a:t>类地址的主机号字段 </a:t>
            </a:r>
            <a:r>
              <a:rPr lang="en-US" altLang="zh-CN" sz="2400" b="1" dirty="0">
                <a:solidFill>
                  <a:srgbClr val="000066"/>
                </a:solidFill>
                <a:latin typeface="+mn-lt"/>
                <a:ea typeface="黑体" panose="02010609060101010101" pitchFamily="2" charset="-122"/>
              </a:rPr>
              <a:t>host-id </a:t>
            </a:r>
            <a:r>
              <a:rPr lang="zh-CN" altLang="en-US" sz="2400" b="1" dirty="0">
                <a:solidFill>
                  <a:srgbClr val="000066"/>
                </a:solidFill>
                <a:latin typeface="+mn-lt"/>
                <a:ea typeface="黑体" panose="02010609060101010101" pitchFamily="2" charset="-122"/>
              </a:rPr>
              <a:t>为 </a:t>
            </a:r>
            <a:r>
              <a:rPr lang="en-US" altLang="zh-CN" sz="2400" b="1" dirty="0">
                <a:solidFill>
                  <a:srgbClr val="000066"/>
                </a:solidFill>
                <a:latin typeface="+mn-lt"/>
                <a:ea typeface="黑体" panose="02010609060101010101" pitchFamily="2" charset="-122"/>
              </a:rPr>
              <a:t>2 </a:t>
            </a:r>
            <a:r>
              <a:rPr lang="zh-CN" altLang="en-US" sz="2400" b="1" dirty="0">
                <a:solidFill>
                  <a:srgbClr val="000066"/>
                </a:solidFill>
                <a:latin typeface="+mn-lt"/>
                <a:ea typeface="黑体" panose="02010609060101010101" pitchFamily="2" charset="-122"/>
              </a:rPr>
              <a:t>字节</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36803"/>
              <a:gd name="adj2" fmla="val -230780"/>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C </a:t>
            </a:r>
            <a:r>
              <a:rPr lang="zh-CN" altLang="en-US" sz="2400" b="1" dirty="0">
                <a:solidFill>
                  <a:srgbClr val="000066"/>
                </a:solidFill>
                <a:latin typeface="+mn-lt"/>
                <a:ea typeface="黑体" panose="02010609060101010101" pitchFamily="2" charset="-122"/>
              </a:rPr>
              <a:t>类地址的主机号字段 </a:t>
            </a:r>
            <a:r>
              <a:rPr lang="en-US" altLang="zh-CN" sz="2400" b="1" dirty="0">
                <a:solidFill>
                  <a:srgbClr val="000066"/>
                </a:solidFill>
                <a:latin typeface="+mn-lt"/>
                <a:ea typeface="黑体" panose="02010609060101010101" pitchFamily="2" charset="-122"/>
              </a:rPr>
              <a:t>host-id </a:t>
            </a:r>
            <a:r>
              <a:rPr lang="zh-CN" altLang="en-US" sz="2400" b="1" dirty="0">
                <a:solidFill>
                  <a:srgbClr val="000066"/>
                </a:solidFill>
                <a:latin typeface="+mn-lt"/>
                <a:ea typeface="黑体" panose="02010609060101010101" pitchFamily="2" charset="-122"/>
              </a:rPr>
              <a:t>为 </a:t>
            </a:r>
            <a:r>
              <a:rPr lang="en-US" altLang="zh-CN" sz="2400" b="1" dirty="0">
                <a:solidFill>
                  <a:srgbClr val="000066"/>
                </a:solidFill>
                <a:latin typeface="+mn-lt"/>
                <a:ea typeface="黑体" panose="02010609060101010101" pitchFamily="2" charset="-122"/>
              </a:rPr>
              <a:t>1 </a:t>
            </a:r>
            <a:r>
              <a:rPr lang="zh-CN" altLang="en-US" sz="2400" b="1" dirty="0">
                <a:solidFill>
                  <a:srgbClr val="000066"/>
                </a:solidFill>
                <a:latin typeface="+mn-lt"/>
                <a:ea typeface="黑体" panose="02010609060101010101" pitchFamily="2" charset="-122"/>
              </a:rPr>
              <a:t>字节</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2889378"/>
            <a:ext cx="7410582" cy="705744"/>
          </a:xfrm>
          <a:prstGeom prst="wedgeRoundRectCallout">
            <a:avLst>
              <a:gd name="adj1" fmla="val 31948"/>
              <a:gd name="adj2" fmla="val 223761"/>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D </a:t>
            </a:r>
            <a:r>
              <a:rPr lang="zh-CN" altLang="en-US" sz="2400" b="1" dirty="0">
                <a:solidFill>
                  <a:srgbClr val="000066"/>
                </a:solidFill>
                <a:latin typeface="+mn-lt"/>
                <a:ea typeface="黑体" panose="02010609060101010101" pitchFamily="2" charset="-122"/>
              </a:rPr>
              <a:t>类地址是多播地址</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24 </a:t>
              </a:r>
              <a:r>
                <a:rPr kumimoji="1" lang="zh-CN" altLang="en-US" sz="2000" b="1" dirty="0">
                  <a:solidFill>
                    <a:srgbClr val="000099"/>
                  </a:solidFill>
                  <a:latin typeface="+mn-lt"/>
                  <a:ea typeface="黑体" panose="02010609060101010101"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anose="02010609060101010101" pitchFamily="2" charset="-122"/>
                </a:rPr>
                <a:t>net-id</a:t>
              </a:r>
            </a:p>
            <a:p>
              <a:pPr defTabSz="762000" eaLnBrk="0" hangingPunct="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anose="02010609060101010101" pitchFamily="2" charset="-122"/>
                </a:rPr>
                <a:t>net-id</a:t>
              </a:r>
            </a:p>
            <a:p>
              <a:pPr algn="ctr" defTabSz="762000" eaLnBrk="0" hangingPunct="0">
                <a:lnSpc>
                  <a:spcPct val="90000"/>
                </a:lnSpc>
              </a:pPr>
              <a:r>
                <a:rPr kumimoji="1" lang="en-US" altLang="zh-CN" sz="2000" b="1">
                  <a:solidFill>
                    <a:srgbClr val="000099"/>
                  </a:solidFill>
                  <a:latin typeface="+mn-lt"/>
                  <a:ea typeface="黑体" panose="02010609060101010101" pitchFamily="2" charset="-122"/>
                </a:rPr>
                <a:t>8 </a:t>
              </a:r>
              <a:r>
                <a:rPr kumimoji="1" lang="zh-CN" altLang="en-US" sz="2000" b="1">
                  <a:solidFill>
                    <a:srgbClr val="000099"/>
                  </a:solidFill>
                  <a:latin typeface="+mn-lt"/>
                  <a:ea typeface="黑体" panose="02010609060101010101"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A </a:t>
              </a:r>
              <a:r>
                <a:rPr kumimoji="1" lang="zh-CN" altLang="en-US" sz="2000" b="1">
                  <a:solidFill>
                    <a:srgbClr val="0000FF"/>
                  </a:solidFill>
                  <a:latin typeface="+mn-lt"/>
                  <a:ea typeface="黑体" panose="02010609060101010101"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anose="02010609060101010101"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anose="02010609060101010101" pitchFamily="2" charset="-122"/>
                </a:rPr>
                <a:t>host-id</a:t>
              </a:r>
            </a:p>
            <a:p>
              <a:pPr algn="ctr" defTabSz="762000">
                <a:lnSpc>
                  <a:spcPct val="90000"/>
                </a:lnSpc>
              </a:pPr>
              <a:r>
                <a:rPr kumimoji="1" lang="en-US" altLang="zh-CN" sz="2000" b="1" dirty="0">
                  <a:solidFill>
                    <a:srgbClr val="000099"/>
                  </a:solidFill>
                  <a:latin typeface="+mn-lt"/>
                  <a:ea typeface="黑体" panose="02010609060101010101" pitchFamily="2" charset="-122"/>
                </a:rPr>
                <a:t>16 </a:t>
              </a:r>
              <a:r>
                <a:rPr kumimoji="1" lang="zh-CN" altLang="en-US" sz="2000" b="1" dirty="0">
                  <a:solidFill>
                    <a:srgbClr val="000099"/>
                  </a:solidFill>
                  <a:latin typeface="+mn-lt"/>
                  <a:ea typeface="黑体" panose="02010609060101010101"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B </a:t>
              </a:r>
              <a:r>
                <a:rPr kumimoji="1" lang="zh-CN" altLang="en-US" sz="2000" b="1">
                  <a:solidFill>
                    <a:srgbClr val="0000FF"/>
                  </a:solidFill>
                  <a:latin typeface="+mn-lt"/>
                  <a:ea typeface="黑体" panose="02010609060101010101"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C </a:t>
              </a:r>
              <a:r>
                <a:rPr kumimoji="1" lang="zh-CN" altLang="en-US" sz="2000" b="1">
                  <a:solidFill>
                    <a:srgbClr val="0000FF"/>
                  </a:solidFill>
                  <a:latin typeface="+mn-lt"/>
                  <a:ea typeface="黑体" panose="02010609060101010101"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436262" name="Group 38"/>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host-id</a:t>
                </a:r>
              </a:p>
              <a:p>
                <a:pPr algn="ctr" defTabSz="762000" eaLnBrk="0" hangingPunct="0">
                  <a:lnSpc>
                    <a:spcPct val="90000"/>
                  </a:lnSpc>
                </a:pPr>
                <a:r>
                  <a:rPr kumimoji="1" lang="en-US" altLang="zh-CN" sz="2000" b="1" dirty="0">
                    <a:solidFill>
                      <a:srgbClr val="000099"/>
                    </a:solidFill>
                    <a:latin typeface="+mn-lt"/>
                    <a:ea typeface="黑体" panose="02010609060101010101" pitchFamily="2" charset="-122"/>
                  </a:rPr>
                  <a:t>8 </a:t>
                </a:r>
                <a:r>
                  <a:rPr kumimoji="1" lang="zh-CN" altLang="en-US" sz="2000" b="1" dirty="0">
                    <a:solidFill>
                      <a:srgbClr val="000099"/>
                    </a:solidFill>
                    <a:latin typeface="+mn-lt"/>
                    <a:ea typeface="黑体" panose="02010609060101010101"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anose="02010609060101010101"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D </a:t>
              </a:r>
              <a:r>
                <a:rPr kumimoji="1" lang="zh-CN" altLang="en-US" sz="2000" b="1">
                  <a:solidFill>
                    <a:srgbClr val="0000FF"/>
                  </a:solidFill>
                  <a:latin typeface="+mn-lt"/>
                  <a:ea typeface="黑体" panose="02010609060101010101"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anose="02010609060101010101" pitchFamily="2" charset="-122"/>
                </a:rPr>
                <a:t>E </a:t>
              </a:r>
              <a:r>
                <a:rPr kumimoji="1" lang="zh-CN" altLang="en-US" sz="2000" b="1">
                  <a:solidFill>
                    <a:srgbClr val="0000FF"/>
                  </a:solidFill>
                  <a:latin typeface="+mn-lt"/>
                  <a:ea typeface="黑体" panose="02010609060101010101"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anose="02010609060101010101"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r>
                <a:rPr kumimoji="1" lang="en-US" altLang="zh-CN" sz="1000" b="1">
                  <a:solidFill>
                    <a:srgbClr val="000099"/>
                  </a:solidFill>
                  <a:latin typeface="+mn-lt"/>
                  <a:ea typeface="黑体" panose="02010609060101010101" pitchFamily="2" charset="-122"/>
                </a:rPr>
                <a:t> </a:t>
              </a:r>
              <a:r>
                <a:rPr kumimoji="1" lang="en-US" altLang="zh-CN" sz="2000" b="1">
                  <a:solidFill>
                    <a:srgbClr val="000099"/>
                  </a:solidFill>
                  <a:latin typeface="+mn-lt"/>
                  <a:ea typeface="黑体" panose="02010609060101010101"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anose="02010609060101010101"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sp>
        <p:nvSpPr>
          <p:cNvPr id="59" name="AutoShape 61"/>
          <p:cNvSpPr>
            <a:spLocks noChangeArrowheads="1"/>
          </p:cNvSpPr>
          <p:nvPr/>
        </p:nvSpPr>
        <p:spPr bwMode="auto">
          <a:xfrm>
            <a:off x="1676798" y="2889378"/>
            <a:ext cx="7410582" cy="705744"/>
          </a:xfrm>
          <a:prstGeom prst="wedgeRoundRectCallout">
            <a:avLst>
              <a:gd name="adj1" fmla="val 32353"/>
              <a:gd name="adj2" fmla="val 363947"/>
              <a:gd name="adj3" fmla="val 16667"/>
            </a:avLst>
          </a:prstGeom>
          <a:solidFill>
            <a:srgbClr val="66FF66"/>
          </a:solidFill>
          <a:ln w="9525">
            <a:solidFill>
              <a:schemeClr val="tx1"/>
            </a:solidFill>
            <a:miter lim="800000"/>
          </a:ln>
          <a:effectLst/>
        </p:spPr>
        <p:txBody>
          <a:bodyPr anchor="ctr"/>
          <a:lstStyle/>
          <a:p>
            <a:pPr algn="ctr"/>
            <a:r>
              <a:rPr lang="en-US" altLang="zh-CN" sz="2400" b="1" dirty="0">
                <a:solidFill>
                  <a:srgbClr val="000066"/>
                </a:solidFill>
                <a:latin typeface="+mn-lt"/>
                <a:ea typeface="黑体" panose="02010609060101010101" pitchFamily="2" charset="-122"/>
              </a:rPr>
              <a:t>E </a:t>
            </a:r>
            <a:r>
              <a:rPr lang="zh-CN" altLang="en-US" sz="2400" b="1" dirty="0">
                <a:solidFill>
                  <a:srgbClr val="000066"/>
                </a:solidFill>
                <a:latin typeface="+mn-lt"/>
                <a:ea typeface="黑体" panose="02010609060101010101" pitchFamily="2" charset="-122"/>
              </a:rPr>
              <a:t>类地址保留为今后使用</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p:cNvSpPr>
            <a:spLocks noGrp="1" noChangeArrowheads="1"/>
          </p:cNvSpPr>
          <p:nvPr>
            <p:ph type="title"/>
          </p:nvPr>
        </p:nvSpPr>
        <p:spPr/>
        <p:txBody>
          <a:bodyPr/>
          <a:lstStyle/>
          <a:p>
            <a:pPr algn="ctr"/>
            <a:r>
              <a:rPr lang="zh-CN" altLang="en-US"/>
              <a:t>点分十进制记法 </a:t>
            </a:r>
          </a:p>
        </p:txBody>
      </p:sp>
      <p:grpSp>
        <p:nvGrpSpPr>
          <p:cNvPr id="31" name="Group 3"/>
          <p:cNvGrpSpPr/>
          <p:nvPr/>
        </p:nvGrpSpPr>
        <p:grpSpPr bwMode="auto">
          <a:xfrm>
            <a:off x="413768" y="1371601"/>
            <a:ext cx="8770938" cy="830263"/>
            <a:chOff x="122" y="1142"/>
            <a:chExt cx="5525" cy="523"/>
          </a:xfrm>
        </p:grpSpPr>
        <p:sp>
          <p:nvSpPr>
            <p:cNvPr id="32" name="Rectangle 4"/>
            <p:cNvSpPr>
              <a:spLocks noChangeArrowheads="1"/>
            </p:cNvSpPr>
            <p:nvPr/>
          </p:nvSpPr>
          <p:spPr bwMode="auto">
            <a:xfrm>
              <a:off x="2134" y="1217"/>
              <a:ext cx="3513" cy="410"/>
            </a:xfrm>
            <a:prstGeom prst="rect">
              <a:avLst/>
            </a:prstGeom>
            <a:solidFill>
              <a:srgbClr val="FFFF66"/>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10000000000010110000001100011111 </a:t>
              </a:r>
            </a:p>
          </p:txBody>
        </p:sp>
        <p:sp>
          <p:nvSpPr>
            <p:cNvPr id="33" name="Text Box 5"/>
            <p:cNvSpPr txBox="1">
              <a:spLocks noChangeArrowheads="1"/>
            </p:cNvSpPr>
            <p:nvPr/>
          </p:nvSpPr>
          <p:spPr bwMode="auto">
            <a:xfrm>
              <a:off x="122" y="1142"/>
              <a:ext cx="1965"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机器中存放的 </a:t>
              </a: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IP </a:t>
              </a: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地址</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是 </a:t>
              </a: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32 </a:t>
              </a: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位二进制代码</a:t>
              </a:r>
            </a:p>
          </p:txBody>
        </p:sp>
      </p:grpSp>
      <p:grpSp>
        <p:nvGrpSpPr>
          <p:cNvPr id="34" name="Group 6"/>
          <p:cNvGrpSpPr/>
          <p:nvPr/>
        </p:nvGrpSpPr>
        <p:grpSpPr bwMode="auto">
          <a:xfrm>
            <a:off x="472505" y="2759077"/>
            <a:ext cx="9056690" cy="593726"/>
            <a:chOff x="128" y="1738"/>
            <a:chExt cx="5705" cy="374"/>
          </a:xfrm>
        </p:grpSpPr>
        <p:sp>
          <p:nvSpPr>
            <p:cNvPr id="35" name="Text Box 7"/>
            <p:cNvSpPr txBox="1">
              <a:spLocks noChangeArrowheads="1"/>
            </p:cNvSpPr>
            <p:nvPr/>
          </p:nvSpPr>
          <p:spPr bwMode="auto">
            <a:xfrm>
              <a:off x="2056" y="1738"/>
              <a:ext cx="377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latin typeface="+mn-lt"/>
                  <a:ea typeface="黑体" panose="02010609060101010101" pitchFamily="2" charset="-122"/>
                </a:rPr>
                <a:t>10000000 00001011 00000011  00011111 </a:t>
              </a:r>
            </a:p>
          </p:txBody>
        </p:sp>
        <p:sp>
          <p:nvSpPr>
            <p:cNvPr id="36" name="Text Box 8"/>
            <p:cNvSpPr txBox="1">
              <a:spLocks noChangeArrowheads="1"/>
            </p:cNvSpPr>
            <p:nvPr/>
          </p:nvSpPr>
          <p:spPr bwMode="auto">
            <a:xfrm>
              <a:off x="128" y="1744"/>
              <a:ext cx="1701" cy="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3200" b="1" dirty="0">
                  <a:solidFill>
                    <a:srgbClr val="0000FF"/>
                  </a:solidFill>
                  <a:latin typeface="+mn-lt"/>
                  <a:ea typeface="黑体" panose="02010609060101010101" pitchFamily="2" charset="-122"/>
                </a:rPr>
                <a:t>每 </a:t>
              </a:r>
              <a:r>
                <a:rPr lang="en-US" altLang="zh-CN" sz="3200" b="1" dirty="0">
                  <a:solidFill>
                    <a:srgbClr val="0000FF"/>
                  </a:solidFill>
                  <a:latin typeface="+mn-lt"/>
                  <a:ea typeface="黑体" panose="02010609060101010101" pitchFamily="2" charset="-122"/>
                </a:rPr>
                <a:t>8 </a:t>
              </a:r>
              <a:r>
                <a:rPr lang="zh-CN" altLang="en-US" sz="3200" b="1" dirty="0">
                  <a:solidFill>
                    <a:srgbClr val="0000FF"/>
                  </a:solidFill>
                  <a:latin typeface="+mn-lt"/>
                  <a:ea typeface="黑体" panose="02010609060101010101" pitchFamily="2" charset="-122"/>
                </a:rPr>
                <a:t>位为一组</a:t>
              </a:r>
            </a:p>
          </p:txBody>
        </p:sp>
      </p:grpSp>
      <p:sp>
        <p:nvSpPr>
          <p:cNvPr id="37" name="Text Box 9"/>
          <p:cNvSpPr txBox="1">
            <a:spLocks noChangeArrowheads="1"/>
          </p:cNvSpPr>
          <p:nvPr/>
        </p:nvSpPr>
        <p:spPr bwMode="auto">
          <a:xfrm>
            <a:off x="389954" y="4889500"/>
            <a:ext cx="296908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黑体" panose="02010609060101010101" pitchFamily="2" charset="-122"/>
              </a:rPr>
              <a:t>采用点分十进制记法</a:t>
            </a:r>
          </a:p>
          <a:p>
            <a:r>
              <a:rPr lang="zh-CN" altLang="en-US" sz="2400" b="1" dirty="0">
                <a:latin typeface="+mn-lt"/>
                <a:ea typeface="黑体" panose="02010609060101010101" pitchFamily="2" charset="-122"/>
              </a:rPr>
              <a:t>则进一步提高可读性</a:t>
            </a:r>
          </a:p>
        </p:txBody>
      </p:sp>
      <p:sp>
        <p:nvSpPr>
          <p:cNvPr id="38" name="Text Box 10"/>
          <p:cNvSpPr txBox="1">
            <a:spLocks noChangeArrowheads="1"/>
          </p:cNvSpPr>
          <p:nvPr/>
        </p:nvSpPr>
        <p:spPr bwMode="auto">
          <a:xfrm>
            <a:off x="5146104" y="5029200"/>
            <a:ext cx="2749471" cy="646331"/>
          </a:xfrm>
          <a:prstGeom prst="rect">
            <a:avLst/>
          </a:prstGeom>
          <a:solidFill>
            <a:srgbClr val="FF66CC"/>
          </a:solidFill>
          <a:ln w="19050">
            <a:solidFill>
              <a:srgbClr val="000000"/>
            </a:solidFill>
            <a:miter lim="800000"/>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3600" b="1" i="0" u="none" strike="noStrike" kern="0" cap="none" spc="0" normalizeH="0" baseline="0" noProof="0">
                <a:ln>
                  <a:noFill/>
                </a:ln>
                <a:solidFill>
                  <a:sysClr val="windowText" lastClr="000000"/>
                </a:solidFill>
                <a:effectLst/>
                <a:uLnTx/>
                <a:uFillTx/>
                <a:latin typeface="+mn-lt"/>
                <a:ea typeface="黑体" panose="02010609060101010101" pitchFamily="2" charset="-122"/>
              </a:rPr>
              <a:t>128.11.3.31 </a:t>
            </a:r>
          </a:p>
        </p:txBody>
      </p:sp>
      <p:sp>
        <p:nvSpPr>
          <p:cNvPr id="39" name="AutoShape 11"/>
          <p:cNvSpPr/>
          <p:nvPr/>
        </p:nvSpPr>
        <p:spPr bwMode="auto">
          <a:xfrm rot="-5400000">
            <a:off x="4164235" y="2683670"/>
            <a:ext cx="244475" cy="1198562"/>
          </a:xfrm>
          <a:prstGeom prst="leftBrace">
            <a:avLst>
              <a:gd name="adj1" fmla="val 40855"/>
              <a:gd name="adj2" fmla="val 50000"/>
            </a:avLst>
          </a:prstGeom>
          <a:noFill/>
          <a:ln w="28575">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0" name="AutoShape 12"/>
          <p:cNvSpPr/>
          <p:nvPr/>
        </p:nvSpPr>
        <p:spPr bwMode="auto">
          <a:xfrm rot="-5400000">
            <a:off x="5593779" y="2668588"/>
            <a:ext cx="274637" cy="1258888"/>
          </a:xfrm>
          <a:prstGeom prst="leftBrace">
            <a:avLst>
              <a:gd name="adj1" fmla="val 38199"/>
              <a:gd name="adj2" fmla="val 50000"/>
            </a:avLst>
          </a:prstGeom>
          <a:noFill/>
          <a:ln w="28575">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1" name="AutoShape 13"/>
          <p:cNvSpPr/>
          <p:nvPr/>
        </p:nvSpPr>
        <p:spPr bwMode="auto">
          <a:xfrm rot="-5400000">
            <a:off x="7039991" y="2700338"/>
            <a:ext cx="244475" cy="1250950"/>
          </a:xfrm>
          <a:prstGeom prst="leftBrace">
            <a:avLst>
              <a:gd name="adj1" fmla="val 42641"/>
              <a:gd name="adj2" fmla="val 50000"/>
            </a:avLst>
          </a:prstGeom>
          <a:noFill/>
          <a:ln w="28575">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2" name="AutoShape 14"/>
          <p:cNvSpPr/>
          <p:nvPr/>
        </p:nvSpPr>
        <p:spPr bwMode="auto">
          <a:xfrm rot="-5400000">
            <a:off x="8510811" y="2661444"/>
            <a:ext cx="228600" cy="1341437"/>
          </a:xfrm>
          <a:prstGeom prst="leftBrace">
            <a:avLst>
              <a:gd name="adj1" fmla="val 48900"/>
              <a:gd name="adj2" fmla="val 50000"/>
            </a:avLst>
          </a:prstGeom>
          <a:noFill/>
          <a:ln w="28575">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3" name="Text Box 15"/>
          <p:cNvSpPr txBox="1">
            <a:spLocks noChangeArrowheads="1"/>
          </p:cNvSpPr>
          <p:nvPr/>
        </p:nvSpPr>
        <p:spPr bwMode="auto">
          <a:xfrm>
            <a:off x="3800872" y="3636963"/>
            <a:ext cx="55453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600" b="1" dirty="0">
                <a:latin typeface="+mn-lt"/>
                <a:ea typeface="黑体" panose="02010609060101010101" pitchFamily="2" charset="-122"/>
              </a:rPr>
              <a:t>128 </a:t>
            </a:r>
            <a:r>
              <a:rPr lang="en-US" altLang="zh-CN" b="1" dirty="0">
                <a:latin typeface="+mn-lt"/>
                <a:ea typeface="黑体" panose="02010609060101010101" pitchFamily="2" charset="-122"/>
              </a:rPr>
              <a:t>      </a:t>
            </a:r>
            <a:r>
              <a:rPr lang="en-US" altLang="zh-CN" sz="3600" b="1" dirty="0">
                <a:latin typeface="+mn-lt"/>
                <a:ea typeface="黑体" panose="02010609060101010101" pitchFamily="2" charset="-122"/>
              </a:rPr>
              <a:t>  11         3         31 </a:t>
            </a:r>
          </a:p>
        </p:txBody>
      </p:sp>
      <p:grpSp>
        <p:nvGrpSpPr>
          <p:cNvPr id="44" name="Group 16"/>
          <p:cNvGrpSpPr/>
          <p:nvPr/>
        </p:nvGrpSpPr>
        <p:grpSpPr bwMode="auto">
          <a:xfrm>
            <a:off x="4382517" y="4154488"/>
            <a:ext cx="4141787" cy="876300"/>
            <a:chOff x="2665" y="2895"/>
            <a:chExt cx="2609" cy="552"/>
          </a:xfrm>
        </p:grpSpPr>
        <p:sp>
          <p:nvSpPr>
            <p:cNvPr id="45" name="Line 17"/>
            <p:cNvSpPr>
              <a:spLocks noChangeShapeType="1"/>
            </p:cNvSpPr>
            <p:nvPr/>
          </p:nvSpPr>
          <p:spPr bwMode="auto">
            <a:xfrm>
              <a:off x="2665" y="2922"/>
              <a:ext cx="756" cy="508"/>
            </a:xfrm>
            <a:prstGeom prst="line">
              <a:avLst/>
            </a:prstGeom>
            <a:noFill/>
            <a:ln w="28575">
              <a:solidFill>
                <a:srgbClr val="0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6" name="Line 18"/>
            <p:cNvSpPr>
              <a:spLocks noChangeShapeType="1"/>
            </p:cNvSpPr>
            <p:nvPr/>
          </p:nvSpPr>
          <p:spPr bwMode="auto">
            <a:xfrm flipH="1">
              <a:off x="4393" y="2904"/>
              <a:ext cx="881" cy="543"/>
            </a:xfrm>
            <a:prstGeom prst="line">
              <a:avLst/>
            </a:prstGeom>
            <a:noFill/>
            <a:ln w="28575">
              <a:solidFill>
                <a:srgbClr val="0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7" name="Line 19"/>
            <p:cNvSpPr>
              <a:spLocks noChangeShapeType="1"/>
            </p:cNvSpPr>
            <p:nvPr/>
          </p:nvSpPr>
          <p:spPr bwMode="auto">
            <a:xfrm>
              <a:off x="3496" y="2895"/>
              <a:ext cx="276" cy="543"/>
            </a:xfrm>
            <a:prstGeom prst="line">
              <a:avLst/>
            </a:prstGeom>
            <a:noFill/>
            <a:ln w="28575">
              <a:solidFill>
                <a:srgbClr val="0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48" name="Line 20"/>
            <p:cNvSpPr>
              <a:spLocks noChangeShapeType="1"/>
            </p:cNvSpPr>
            <p:nvPr/>
          </p:nvSpPr>
          <p:spPr bwMode="auto">
            <a:xfrm flipH="1">
              <a:off x="4080" y="2900"/>
              <a:ext cx="319" cy="541"/>
            </a:xfrm>
            <a:prstGeom prst="line">
              <a:avLst/>
            </a:prstGeom>
            <a:noFill/>
            <a:ln w="28575">
              <a:solidFill>
                <a:srgbClr val="0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sp>
        <p:nvSpPr>
          <p:cNvPr id="49" name="Text Box 21"/>
          <p:cNvSpPr txBox="1">
            <a:spLocks noChangeArrowheads="1"/>
          </p:cNvSpPr>
          <p:nvPr/>
        </p:nvSpPr>
        <p:spPr bwMode="auto">
          <a:xfrm>
            <a:off x="341151" y="3629025"/>
            <a:ext cx="300114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latin typeface="+mn-lt"/>
                <a:ea typeface="黑体" panose="02010609060101010101" pitchFamily="2" charset="-122"/>
              </a:rPr>
              <a:t>将每 </a:t>
            </a:r>
            <a:r>
              <a:rPr lang="en-US" altLang="zh-CN" sz="2400" b="1" dirty="0">
                <a:latin typeface="+mn-lt"/>
                <a:ea typeface="黑体" panose="02010609060101010101" pitchFamily="2" charset="-122"/>
              </a:rPr>
              <a:t>8 </a:t>
            </a:r>
            <a:r>
              <a:rPr lang="zh-CN" altLang="en-US" sz="2400" b="1" dirty="0">
                <a:latin typeface="+mn-lt"/>
                <a:ea typeface="黑体" panose="02010609060101010101" pitchFamily="2" charset="-122"/>
              </a:rPr>
              <a:t>位的二进制数</a:t>
            </a:r>
          </a:p>
          <a:p>
            <a:pPr algn="ctr"/>
            <a:r>
              <a:rPr lang="zh-CN" altLang="en-US" sz="2400" b="1" dirty="0">
                <a:latin typeface="+mn-lt"/>
                <a:ea typeface="黑体" panose="02010609060101010101" pitchFamily="2" charset="-122"/>
              </a:rPr>
              <a:t>转换为十进制数</a:t>
            </a:r>
          </a:p>
        </p:txBody>
      </p:sp>
      <p:sp>
        <p:nvSpPr>
          <p:cNvPr id="50" name="Line 22"/>
          <p:cNvSpPr>
            <a:spLocks noChangeShapeType="1"/>
          </p:cNvSpPr>
          <p:nvPr/>
        </p:nvSpPr>
        <p:spPr bwMode="auto">
          <a:xfrm>
            <a:off x="3440832" y="5303838"/>
            <a:ext cx="1568450" cy="0"/>
          </a:xfrm>
          <a:prstGeom prst="line">
            <a:avLst/>
          </a:prstGeom>
          <a:noFill/>
          <a:ln w="76200">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wipe(up)">
                                      <p:cBhvr>
                                        <p:cTn id="29" dur="500"/>
                                        <p:tgtEl>
                                          <p:spTgt spid="44"/>
                                        </p:tgtEl>
                                      </p:cBhvr>
                                    </p:animEffect>
                                  </p:childTnLst>
                                </p:cTn>
                              </p:par>
                              <p:par>
                                <p:cTn id="30" presetID="1" presetClass="entr" presetSubtype="0" fill="hold" grpId="0" nodeType="withEffect">
                                  <p:stCondLst>
                                    <p:cond delay="0"/>
                                  </p:stCondLst>
                                  <p:childTnLst>
                                    <p:set>
                                      <p:cBhvr>
                                        <p:cTn id="31" dur="1" fill="hold">
                                          <p:stCondLst>
                                            <p:cond delay="0"/>
                                          </p:stCondLst>
                                        </p:cTn>
                                        <p:tgtEl>
                                          <p:spTgt spid="37"/>
                                        </p:tgtEl>
                                        <p:attrNameLst>
                                          <p:attrName>style.visibility</p:attrName>
                                        </p:attrNameLst>
                                      </p:cBhvr>
                                      <p:to>
                                        <p:strVal val="visible"/>
                                      </p:to>
                                    </p:set>
                                  </p:childTnLst>
                                </p:cTn>
                              </p:par>
                              <p:par>
                                <p:cTn id="32" presetID="22" presetClass="entr" presetSubtype="8"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wipe(left)">
                                      <p:cBhvr>
                                        <p:cTn id="34" dur="500"/>
                                        <p:tgtEl>
                                          <p:spTgt spid="50"/>
                                        </p:tgtEl>
                                      </p:cBhvr>
                                    </p:animEffect>
                                  </p:childTnLst>
                                </p:cTn>
                              </p:par>
                            </p:childTnLst>
                          </p:cTn>
                        </p:par>
                        <p:par>
                          <p:cTn id="35" fill="hold">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animBg="1"/>
      <p:bldP spid="41" grpId="0" animBg="1"/>
      <p:bldP spid="42" grpId="0" animBg="1"/>
      <p:bldP spid="43" grpId="0"/>
      <p:bldP spid="49" grpId="0"/>
      <p:bldP spid="5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950524" y="2636912"/>
            <a:ext cx="685521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solidFill>
                  <a:srgbClr val="0000CC"/>
                </a:solidFill>
                <a:latin typeface="+mn-lt"/>
                <a:ea typeface="黑体" panose="02010609060101010101" pitchFamily="2" charset="-122"/>
              </a:rPr>
              <a:t>10000001 00110100 00000110 00000000</a:t>
            </a:r>
          </a:p>
        </p:txBody>
      </p:sp>
      <p:sp>
        <p:nvSpPr>
          <p:cNvPr id="4" name="Text Box 8"/>
          <p:cNvSpPr txBox="1">
            <a:spLocks noChangeArrowheads="1"/>
          </p:cNvSpPr>
          <p:nvPr/>
        </p:nvSpPr>
        <p:spPr bwMode="auto">
          <a:xfrm>
            <a:off x="938484" y="3359225"/>
            <a:ext cx="683539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11000000 00000101 00110000 00000011</a:t>
            </a:r>
          </a:p>
        </p:txBody>
      </p:sp>
      <p:sp>
        <p:nvSpPr>
          <p:cNvPr id="5" name="Text Box 10"/>
          <p:cNvSpPr txBox="1">
            <a:spLocks noChangeArrowheads="1"/>
          </p:cNvSpPr>
          <p:nvPr/>
        </p:nvSpPr>
        <p:spPr bwMode="auto">
          <a:xfrm>
            <a:off x="938484" y="4133925"/>
            <a:ext cx="689483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00001010 00000010 00000000 00100101</a:t>
            </a:r>
          </a:p>
        </p:txBody>
      </p:sp>
      <p:sp>
        <p:nvSpPr>
          <p:cNvPr id="6" name="Text Box 12"/>
          <p:cNvSpPr txBox="1">
            <a:spLocks noChangeArrowheads="1"/>
          </p:cNvSpPr>
          <p:nvPr/>
        </p:nvSpPr>
        <p:spPr bwMode="auto">
          <a:xfrm>
            <a:off x="923007" y="4867350"/>
            <a:ext cx="68750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10000000 00001010 00000010 00000011</a:t>
            </a:r>
          </a:p>
        </p:txBody>
      </p:sp>
      <p:sp>
        <p:nvSpPr>
          <p:cNvPr id="7" name="Text Box 14"/>
          <p:cNvSpPr txBox="1">
            <a:spLocks noChangeArrowheads="1"/>
          </p:cNvSpPr>
          <p:nvPr/>
        </p:nvSpPr>
        <p:spPr bwMode="auto">
          <a:xfrm>
            <a:off x="938484" y="5588075"/>
            <a:ext cx="685553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10000000 10000000 11111111  00000000</a:t>
            </a:r>
          </a:p>
        </p:txBody>
      </p:sp>
      <p:sp>
        <p:nvSpPr>
          <p:cNvPr id="8" name="Rectangle 2"/>
          <p:cNvSpPr>
            <a:spLocks noGrp="1" noChangeArrowheads="1"/>
          </p:cNvSpPr>
          <p:nvPr>
            <p:ph type="title"/>
          </p:nvPr>
        </p:nvSpPr>
        <p:spPr>
          <a:xfrm>
            <a:off x="495300" y="188640"/>
            <a:ext cx="9066212" cy="792088"/>
          </a:xfrm>
        </p:spPr>
        <p:txBody>
          <a:bodyPr/>
          <a:lstStyle/>
          <a:p>
            <a:pPr algn="ctr"/>
            <a:r>
              <a:rPr lang="zh-CN" altLang="en-US" dirty="0"/>
              <a:t>点分十进制记法举例</a:t>
            </a:r>
          </a:p>
        </p:txBody>
      </p:sp>
      <p:sp>
        <p:nvSpPr>
          <p:cNvPr id="9" name="矩形 8"/>
          <p:cNvSpPr/>
          <p:nvPr/>
        </p:nvSpPr>
        <p:spPr>
          <a:xfrm>
            <a:off x="632520" y="1196752"/>
            <a:ext cx="7848872" cy="954107"/>
          </a:xfrm>
          <a:prstGeom prst="rect">
            <a:avLst/>
          </a:prstGeom>
        </p:spPr>
        <p:txBody>
          <a:bodyPr wrap="square">
            <a:spAutoFit/>
          </a:bodyPr>
          <a:lstStyle/>
          <a:p>
            <a:r>
              <a:rPr lang="zh-CN" altLang="en-US" sz="2800" dirty="0"/>
              <a:t>下列二进制地址代表的点分十进制表示是？它们属于哪一类地址？</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5186" name="Rectangle 2"/>
          <p:cNvSpPr>
            <a:spLocks noGrp="1" noChangeArrowheads="1"/>
          </p:cNvSpPr>
          <p:nvPr>
            <p:ph type="title"/>
          </p:nvPr>
        </p:nvSpPr>
        <p:spPr>
          <a:xfrm>
            <a:off x="495300" y="188640"/>
            <a:ext cx="9066212" cy="792088"/>
          </a:xfrm>
        </p:spPr>
        <p:txBody>
          <a:bodyPr/>
          <a:lstStyle/>
          <a:p>
            <a:pPr algn="ctr"/>
            <a:r>
              <a:rPr lang="zh-CN" altLang="en-US" dirty="0"/>
              <a:t>点分十进制记法举例</a:t>
            </a:r>
          </a:p>
        </p:txBody>
      </p:sp>
      <p:sp>
        <p:nvSpPr>
          <p:cNvPr id="1245187" name="Text Box 3"/>
          <p:cNvSpPr txBox="1">
            <a:spLocks noChangeArrowheads="1"/>
          </p:cNvSpPr>
          <p:nvPr/>
        </p:nvSpPr>
        <p:spPr bwMode="auto">
          <a:xfrm>
            <a:off x="2564205" y="1531939"/>
            <a:ext cx="248818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latin typeface="+mn-lt"/>
                <a:ea typeface="黑体" panose="02010609060101010101" pitchFamily="2" charset="-122"/>
              </a:rPr>
              <a:t>32 </a:t>
            </a:r>
            <a:r>
              <a:rPr kumimoji="0" lang="zh-CN" altLang="en-US" sz="2800" b="1" dirty="0">
                <a:latin typeface="+mn-lt"/>
                <a:ea typeface="黑体" panose="02010609060101010101" pitchFamily="2" charset="-122"/>
              </a:rPr>
              <a:t>位二进制数</a:t>
            </a:r>
          </a:p>
        </p:txBody>
      </p:sp>
      <p:sp>
        <p:nvSpPr>
          <p:cNvPr id="1245188" name="Text Box 4"/>
          <p:cNvSpPr txBox="1">
            <a:spLocks noChangeArrowheads="1"/>
          </p:cNvSpPr>
          <p:nvPr/>
        </p:nvSpPr>
        <p:spPr bwMode="auto">
          <a:xfrm>
            <a:off x="7192427" y="1101725"/>
            <a:ext cx="234872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zh-CN" altLang="en-US" sz="2800" b="1" dirty="0">
                <a:latin typeface="+mn-lt"/>
                <a:ea typeface="黑体" panose="02010609060101010101" pitchFamily="2" charset="-122"/>
              </a:rPr>
              <a:t>等价的</a:t>
            </a:r>
          </a:p>
          <a:p>
            <a:pPr algn="ctr" eaLnBrk="0" hangingPunct="0"/>
            <a:r>
              <a:rPr kumimoji="0" lang="zh-CN" altLang="en-US" sz="2800" b="1" dirty="0">
                <a:latin typeface="+mn-lt"/>
                <a:ea typeface="黑体" panose="02010609060101010101" pitchFamily="2" charset="-122"/>
              </a:rPr>
              <a:t>点分十进制数</a:t>
            </a:r>
          </a:p>
        </p:txBody>
      </p:sp>
      <p:sp>
        <p:nvSpPr>
          <p:cNvPr id="1245189" name="Line 5"/>
          <p:cNvSpPr>
            <a:spLocks noChangeShapeType="1"/>
          </p:cNvSpPr>
          <p:nvPr/>
        </p:nvSpPr>
        <p:spPr bwMode="auto">
          <a:xfrm>
            <a:off x="87711" y="2159000"/>
            <a:ext cx="9531085"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mn-lt"/>
              <a:ea typeface="黑体" panose="02010609060101010101" pitchFamily="2" charset="-122"/>
            </a:endParaRPr>
          </a:p>
        </p:txBody>
      </p:sp>
      <p:sp>
        <p:nvSpPr>
          <p:cNvPr id="1245190" name="Text Box 6"/>
          <p:cNvSpPr txBox="1">
            <a:spLocks noChangeArrowheads="1"/>
          </p:cNvSpPr>
          <p:nvPr/>
        </p:nvSpPr>
        <p:spPr bwMode="auto">
          <a:xfrm>
            <a:off x="311151" y="2246313"/>
            <a:ext cx="685521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solidFill>
                  <a:srgbClr val="0000CC"/>
                </a:solidFill>
                <a:latin typeface="+mn-lt"/>
                <a:ea typeface="黑体" panose="02010609060101010101" pitchFamily="2" charset="-122"/>
              </a:rPr>
              <a:t>10000001 00110100 00000110 00000000</a:t>
            </a:r>
          </a:p>
        </p:txBody>
      </p:sp>
      <p:sp>
        <p:nvSpPr>
          <p:cNvPr id="1245191" name="Text Box 7"/>
          <p:cNvSpPr txBox="1">
            <a:spLocks noChangeArrowheads="1"/>
          </p:cNvSpPr>
          <p:nvPr/>
        </p:nvSpPr>
        <p:spPr bwMode="auto">
          <a:xfrm>
            <a:off x="7329264" y="2228851"/>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anose="02010609060101010101" pitchFamily="2" charset="-122"/>
              </a:rPr>
              <a:t>129.52.6.0</a:t>
            </a:r>
          </a:p>
        </p:txBody>
      </p:sp>
      <p:sp>
        <p:nvSpPr>
          <p:cNvPr id="1245192" name="Text Box 8"/>
          <p:cNvSpPr txBox="1">
            <a:spLocks noChangeArrowheads="1"/>
          </p:cNvSpPr>
          <p:nvPr/>
        </p:nvSpPr>
        <p:spPr bwMode="auto">
          <a:xfrm>
            <a:off x="299111" y="2968626"/>
            <a:ext cx="683539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solidFill>
                  <a:srgbClr val="0000CC"/>
                </a:solidFill>
                <a:latin typeface="+mn-lt"/>
                <a:ea typeface="黑体" panose="02010609060101010101" pitchFamily="2" charset="-122"/>
              </a:rPr>
              <a:t>11000000 00000101 00110000 00000011</a:t>
            </a:r>
          </a:p>
        </p:txBody>
      </p:sp>
      <p:sp>
        <p:nvSpPr>
          <p:cNvPr id="1245193" name="Text Box 9"/>
          <p:cNvSpPr txBox="1">
            <a:spLocks noChangeArrowheads="1"/>
          </p:cNvSpPr>
          <p:nvPr/>
        </p:nvSpPr>
        <p:spPr bwMode="auto">
          <a:xfrm>
            <a:off x="7329264" y="2951163"/>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anose="02010609060101010101" pitchFamily="2" charset="-122"/>
              </a:rPr>
              <a:t>192.5.48.3</a:t>
            </a:r>
          </a:p>
        </p:txBody>
      </p:sp>
      <p:sp>
        <p:nvSpPr>
          <p:cNvPr id="1245194" name="Text Box 10"/>
          <p:cNvSpPr txBox="1">
            <a:spLocks noChangeArrowheads="1"/>
          </p:cNvSpPr>
          <p:nvPr/>
        </p:nvSpPr>
        <p:spPr bwMode="auto">
          <a:xfrm>
            <a:off x="299111" y="3743326"/>
            <a:ext cx="689483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00001010 00000010 00000000 00100101</a:t>
            </a:r>
          </a:p>
        </p:txBody>
      </p:sp>
      <p:sp>
        <p:nvSpPr>
          <p:cNvPr id="1245195" name="Text Box 11"/>
          <p:cNvSpPr txBox="1">
            <a:spLocks noChangeArrowheads="1"/>
          </p:cNvSpPr>
          <p:nvPr/>
        </p:nvSpPr>
        <p:spPr bwMode="auto">
          <a:xfrm>
            <a:off x="7329264" y="3725863"/>
            <a:ext cx="168507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anose="02010609060101010101" pitchFamily="2" charset="-122"/>
              </a:rPr>
              <a:t>10.2.0.37</a:t>
            </a:r>
          </a:p>
        </p:txBody>
      </p:sp>
      <p:sp>
        <p:nvSpPr>
          <p:cNvPr id="1245196" name="Text Box 12"/>
          <p:cNvSpPr txBox="1">
            <a:spLocks noChangeArrowheads="1"/>
          </p:cNvSpPr>
          <p:nvPr/>
        </p:nvSpPr>
        <p:spPr bwMode="auto">
          <a:xfrm>
            <a:off x="283634" y="4476751"/>
            <a:ext cx="68750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10000000 00001010 00000010 00000011</a:t>
            </a:r>
          </a:p>
        </p:txBody>
      </p:sp>
      <p:sp>
        <p:nvSpPr>
          <p:cNvPr id="1245197" name="Text Box 13"/>
          <p:cNvSpPr txBox="1">
            <a:spLocks noChangeArrowheads="1"/>
          </p:cNvSpPr>
          <p:nvPr/>
        </p:nvSpPr>
        <p:spPr bwMode="auto">
          <a:xfrm>
            <a:off x="7329264" y="4459288"/>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anose="02010609060101010101" pitchFamily="2" charset="-122"/>
              </a:rPr>
              <a:t>128.10.2.3</a:t>
            </a:r>
          </a:p>
        </p:txBody>
      </p:sp>
      <p:sp>
        <p:nvSpPr>
          <p:cNvPr id="1245198" name="Text Box 14"/>
          <p:cNvSpPr txBox="1">
            <a:spLocks noChangeArrowheads="1"/>
          </p:cNvSpPr>
          <p:nvPr/>
        </p:nvSpPr>
        <p:spPr bwMode="auto">
          <a:xfrm>
            <a:off x="299111" y="5197476"/>
            <a:ext cx="685553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anose="02010609060101010101" pitchFamily="2" charset="-122"/>
              </a:rPr>
              <a:t>10000000 10000000 11111111  00000000</a:t>
            </a:r>
          </a:p>
        </p:txBody>
      </p:sp>
      <p:sp>
        <p:nvSpPr>
          <p:cNvPr id="1245199" name="Text Box 15"/>
          <p:cNvSpPr txBox="1">
            <a:spLocks noChangeArrowheads="1"/>
          </p:cNvSpPr>
          <p:nvPr/>
        </p:nvSpPr>
        <p:spPr bwMode="auto">
          <a:xfrm>
            <a:off x="7329264" y="5180013"/>
            <a:ext cx="248657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anose="02010609060101010101" pitchFamily="2" charset="-122"/>
              </a:rPr>
              <a:t>128.128.255.0</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Grp="1" noChangeArrowheads="1"/>
          </p:cNvSpPr>
          <p:nvPr>
            <p:ph type="title"/>
          </p:nvPr>
        </p:nvSpPr>
        <p:spPr/>
        <p:txBody>
          <a:bodyPr/>
          <a:lstStyle/>
          <a:p>
            <a:r>
              <a:rPr lang="en-US" altLang="zh-CN" dirty="0"/>
              <a:t>2. </a:t>
            </a:r>
            <a:r>
              <a:rPr lang="zh-CN" altLang="en-US" dirty="0"/>
              <a:t>常用的三种类别的 </a:t>
            </a:r>
            <a:r>
              <a:rPr lang="en-US" altLang="zh-CN" dirty="0"/>
              <a:t>IP </a:t>
            </a:r>
            <a:r>
              <a:rPr lang="zh-CN" altLang="en-US" dirty="0"/>
              <a:t>地址 </a:t>
            </a:r>
          </a:p>
        </p:txBody>
      </p:sp>
      <p:graphicFrame>
        <p:nvGraphicFramePr>
          <p:cNvPr id="2" name="表格 1"/>
          <p:cNvGraphicFramePr>
            <a:graphicFrameLocks noGrp="1"/>
          </p:cNvGraphicFramePr>
          <p:nvPr/>
        </p:nvGraphicFramePr>
        <p:xfrm>
          <a:off x="416496" y="1988840"/>
          <a:ext cx="9361040" cy="2952328"/>
        </p:xfrm>
        <a:graphic>
          <a:graphicData uri="http://schemas.openxmlformats.org/drawingml/2006/table">
            <a:tbl>
              <a:tblPr>
                <a:tableStyleId>{5C22544A-7EE6-4342-B048-85BDC9FD1C3A}</a:tableStyleId>
              </a:tblPr>
              <a:tblGrid>
                <a:gridCol w="800980">
                  <a:extLst>
                    <a:ext uri="{9D8B030D-6E8A-4147-A177-3AD203B41FA5}">
                      <a16:colId xmlns:a16="http://schemas.microsoft.com/office/drawing/2014/main" val="20000"/>
                    </a:ext>
                  </a:extLst>
                </a:gridCol>
                <a:gridCol w="2943436">
                  <a:extLst>
                    <a:ext uri="{9D8B030D-6E8A-4147-A177-3AD203B41FA5}">
                      <a16:colId xmlns:a16="http://schemas.microsoft.com/office/drawing/2014/main" val="20001"/>
                    </a:ext>
                  </a:extLst>
                </a:gridCol>
                <a:gridCol w="1656184">
                  <a:extLst>
                    <a:ext uri="{9D8B030D-6E8A-4147-A177-3AD203B41FA5}">
                      <a16:colId xmlns:a16="http://schemas.microsoft.com/office/drawing/2014/main" val="20002"/>
                    </a:ext>
                  </a:extLst>
                </a:gridCol>
                <a:gridCol w="1944216">
                  <a:extLst>
                    <a:ext uri="{9D8B030D-6E8A-4147-A177-3AD203B41FA5}">
                      <a16:colId xmlns:a16="http://schemas.microsoft.com/office/drawing/2014/main" val="20003"/>
                    </a:ext>
                  </a:extLst>
                </a:gridCol>
                <a:gridCol w="2016224">
                  <a:extLst>
                    <a:ext uri="{9D8B030D-6E8A-4147-A177-3AD203B41FA5}">
                      <a16:colId xmlns:a16="http://schemas.microsoft.com/office/drawing/2014/main" val="20004"/>
                    </a:ext>
                  </a:extLst>
                </a:gridCol>
              </a:tblGrid>
              <a:tr h="1224136">
                <a:tc>
                  <a:txBody>
                    <a:bodyPr/>
                    <a:lstStyle/>
                    <a:p>
                      <a:pPr algn="ctr">
                        <a:lnSpc>
                          <a:spcPct val="100000"/>
                        </a:lnSpc>
                        <a:spcAft>
                          <a:spcPts val="0"/>
                        </a:spcAft>
                      </a:pPr>
                      <a:r>
                        <a:rPr lang="zh-CN" sz="2400" b="1" dirty="0">
                          <a:effectLst/>
                          <a:latin typeface="+mn-lt"/>
                          <a:ea typeface="黑体" panose="02010609060101010101" pitchFamily="2" charset="-122"/>
                        </a:rPr>
                        <a:t>网络</a:t>
                      </a:r>
                    </a:p>
                    <a:p>
                      <a:pPr algn="ctr">
                        <a:lnSpc>
                          <a:spcPct val="100000"/>
                        </a:lnSpc>
                        <a:spcAft>
                          <a:spcPts val="0"/>
                        </a:spcAft>
                      </a:pPr>
                      <a:r>
                        <a:rPr lang="zh-CN" sz="2400" b="1" dirty="0">
                          <a:effectLst/>
                          <a:latin typeface="+mn-lt"/>
                          <a:ea typeface="黑体" panose="02010609060101010101" pitchFamily="2" charset="-122"/>
                        </a:rPr>
                        <a:t>类别</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anose="02010609060101010101" pitchFamily="2" charset="-122"/>
                        </a:rPr>
                        <a:t>最大可指派</a:t>
                      </a:r>
                      <a:endParaRPr lang="en-US" altLang="zh-CN" sz="2400" b="1" dirty="0">
                        <a:effectLst/>
                        <a:latin typeface="+mn-lt"/>
                        <a:ea typeface="黑体" panose="02010609060101010101" pitchFamily="2" charset="-122"/>
                      </a:endParaRPr>
                    </a:p>
                    <a:p>
                      <a:pPr algn="ctr">
                        <a:lnSpc>
                          <a:spcPct val="100000"/>
                        </a:lnSpc>
                        <a:spcAft>
                          <a:spcPts val="0"/>
                        </a:spcAft>
                      </a:pPr>
                      <a:r>
                        <a:rPr lang="zh-CN" sz="2400" b="1" dirty="0">
                          <a:effectLst/>
                          <a:latin typeface="+mn-lt"/>
                          <a:ea typeface="黑体" panose="02010609060101010101" pitchFamily="2" charset="-122"/>
                        </a:rPr>
                        <a:t>的网络数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anose="02010609060101010101" pitchFamily="2" charset="-122"/>
                        </a:rPr>
                        <a:t>第一个可指派的</a:t>
                      </a:r>
                      <a:endParaRPr lang="en-US" altLang="zh-CN" sz="2400" b="1" dirty="0">
                        <a:effectLst/>
                        <a:latin typeface="+mn-lt"/>
                        <a:ea typeface="黑体" panose="02010609060101010101" pitchFamily="2" charset="-122"/>
                      </a:endParaRPr>
                    </a:p>
                    <a:p>
                      <a:pPr algn="ctr">
                        <a:lnSpc>
                          <a:spcPct val="100000"/>
                        </a:lnSpc>
                        <a:spcAft>
                          <a:spcPts val="0"/>
                        </a:spcAft>
                      </a:pPr>
                      <a:r>
                        <a:rPr lang="zh-CN" sz="2400" b="1" dirty="0">
                          <a:effectLst/>
                          <a:latin typeface="+mn-lt"/>
                          <a:ea typeface="黑体" panose="02010609060101010101" pitchFamily="2" charset="-122"/>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anose="02010609060101010101" pitchFamily="2" charset="-122"/>
                        </a:rPr>
                        <a:t>最后一个可指派的</a:t>
                      </a:r>
                      <a:endParaRPr lang="en-US" altLang="zh-CN" sz="2400" b="1" dirty="0">
                        <a:effectLst/>
                        <a:latin typeface="+mn-lt"/>
                        <a:ea typeface="黑体" panose="02010609060101010101" pitchFamily="2" charset="-122"/>
                      </a:endParaRPr>
                    </a:p>
                    <a:p>
                      <a:pPr algn="ctr">
                        <a:lnSpc>
                          <a:spcPct val="100000"/>
                        </a:lnSpc>
                        <a:spcAft>
                          <a:spcPts val="0"/>
                        </a:spcAft>
                      </a:pPr>
                      <a:r>
                        <a:rPr lang="zh-CN" sz="2400" b="1" dirty="0">
                          <a:effectLst/>
                          <a:latin typeface="+mn-lt"/>
                          <a:ea typeface="黑体" panose="02010609060101010101" pitchFamily="2" charset="-122"/>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anose="02010609060101010101" pitchFamily="2" charset="-122"/>
                        </a:rPr>
                        <a:t>每个网络中</a:t>
                      </a:r>
                      <a:endParaRPr lang="en-US" altLang="zh-CN" sz="2400" b="1" dirty="0">
                        <a:effectLst/>
                        <a:latin typeface="+mn-lt"/>
                        <a:ea typeface="黑体" panose="02010609060101010101" pitchFamily="2" charset="-122"/>
                      </a:endParaRPr>
                    </a:p>
                    <a:p>
                      <a:pPr algn="ctr">
                        <a:lnSpc>
                          <a:spcPct val="100000"/>
                        </a:lnSpc>
                        <a:spcAft>
                          <a:spcPts val="0"/>
                        </a:spcAft>
                      </a:pPr>
                      <a:r>
                        <a:rPr lang="zh-CN" sz="2400" b="1" dirty="0">
                          <a:effectLst/>
                          <a:latin typeface="+mn-lt"/>
                          <a:ea typeface="黑体" panose="02010609060101010101" pitchFamily="2" charset="-122"/>
                        </a:rPr>
                        <a:t>最大主机数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576064">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A</a:t>
                      </a:r>
                      <a:endParaRPr lang="zh-CN" sz="2400" b="1" dirty="0">
                        <a:solidFill>
                          <a:srgbClr val="0000CC"/>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126 (2</a:t>
                      </a:r>
                      <a:r>
                        <a:rPr lang="en-US" sz="2400" b="1" baseline="30000" dirty="0">
                          <a:solidFill>
                            <a:srgbClr val="0000CC"/>
                          </a:solidFill>
                          <a:effectLst/>
                          <a:latin typeface="+mn-lt"/>
                          <a:ea typeface="黑体" panose="02010609060101010101" pitchFamily="2" charset="-122"/>
                        </a:rPr>
                        <a:t>7</a:t>
                      </a:r>
                      <a:r>
                        <a:rPr lang="en-US" sz="2400" b="1" dirty="0">
                          <a:solidFill>
                            <a:srgbClr val="0000CC"/>
                          </a:solidFill>
                          <a:effectLst/>
                          <a:latin typeface="+mn-lt"/>
                          <a:ea typeface="黑体" panose="02010609060101010101" pitchFamily="2" charset="-122"/>
                        </a:rPr>
                        <a:t> – 2)</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a:solidFill>
                            <a:srgbClr val="0000CC"/>
                          </a:solidFill>
                          <a:effectLst/>
                          <a:latin typeface="+mn-lt"/>
                          <a:ea typeface="黑体" panose="02010609060101010101" pitchFamily="2" charset="-122"/>
                        </a:rPr>
                        <a:t>126</a:t>
                      </a:r>
                      <a:endParaRPr lang="zh-CN" sz="2400" b="1">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16777214</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76064">
                <a:tc>
                  <a:txBody>
                    <a:bodyPr/>
                    <a:lstStyle/>
                    <a:p>
                      <a:pPr algn="ctr">
                        <a:lnSpc>
                          <a:spcPct val="100000"/>
                        </a:lnSpc>
                        <a:spcAft>
                          <a:spcPts val="0"/>
                        </a:spcAft>
                      </a:pPr>
                      <a:r>
                        <a:rPr lang="en-US" sz="2400" b="1">
                          <a:solidFill>
                            <a:srgbClr val="0000CC"/>
                          </a:solidFill>
                          <a:effectLst/>
                          <a:latin typeface="+mn-lt"/>
                          <a:ea typeface="黑体" panose="02010609060101010101" pitchFamily="2" charset="-122"/>
                        </a:rPr>
                        <a:t>B</a:t>
                      </a:r>
                      <a:endParaRPr lang="zh-CN" sz="2400" b="1">
                        <a:solidFill>
                          <a:srgbClr val="0000CC"/>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16383 (2</a:t>
                      </a:r>
                      <a:r>
                        <a:rPr lang="en-US" sz="2400" b="1" baseline="30000" dirty="0">
                          <a:solidFill>
                            <a:srgbClr val="0000CC"/>
                          </a:solidFill>
                          <a:effectLst/>
                          <a:latin typeface="+mn-lt"/>
                          <a:ea typeface="黑体" panose="02010609060101010101" pitchFamily="2" charset="-122"/>
                        </a:rPr>
                        <a:t>14</a:t>
                      </a:r>
                      <a:r>
                        <a:rPr lang="en-US" sz="2400" b="1" dirty="0">
                          <a:solidFill>
                            <a:srgbClr val="0000CC"/>
                          </a:solidFill>
                          <a:effectLst/>
                          <a:latin typeface="+mn-lt"/>
                          <a:ea typeface="黑体" panose="02010609060101010101" pitchFamily="2" charset="-122"/>
                        </a:rPr>
                        <a:t> – 1)</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128.1</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191.255</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65534</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76064">
                <a:tc>
                  <a:txBody>
                    <a:bodyPr/>
                    <a:lstStyle/>
                    <a:p>
                      <a:pPr algn="ctr">
                        <a:lnSpc>
                          <a:spcPct val="100000"/>
                        </a:lnSpc>
                        <a:spcAft>
                          <a:spcPts val="0"/>
                        </a:spcAft>
                      </a:pPr>
                      <a:r>
                        <a:rPr lang="en-US" sz="2400" b="1">
                          <a:solidFill>
                            <a:srgbClr val="0000CC"/>
                          </a:solidFill>
                          <a:effectLst/>
                          <a:latin typeface="+mn-lt"/>
                          <a:ea typeface="黑体" panose="02010609060101010101" pitchFamily="2" charset="-122"/>
                        </a:rPr>
                        <a:t>C</a:t>
                      </a:r>
                      <a:endParaRPr lang="zh-CN" sz="2400" b="1">
                        <a:solidFill>
                          <a:srgbClr val="0000CC"/>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2097151 (2</a:t>
                      </a:r>
                      <a:r>
                        <a:rPr lang="en-US" sz="2400" b="1" baseline="30000" dirty="0">
                          <a:solidFill>
                            <a:srgbClr val="0000CC"/>
                          </a:solidFill>
                          <a:effectLst/>
                          <a:latin typeface="+mn-lt"/>
                          <a:ea typeface="黑体" panose="02010609060101010101" pitchFamily="2" charset="-122"/>
                        </a:rPr>
                        <a:t>21</a:t>
                      </a:r>
                      <a:r>
                        <a:rPr lang="en-US" sz="2400" b="1" dirty="0">
                          <a:solidFill>
                            <a:srgbClr val="0000CC"/>
                          </a:solidFill>
                          <a:effectLst/>
                          <a:latin typeface="+mn-lt"/>
                          <a:ea typeface="黑体" panose="02010609060101010101" pitchFamily="2" charset="-122"/>
                        </a:rPr>
                        <a:t> – 1)</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192.0.1</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223.255.255</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anose="02010609060101010101" pitchFamily="2" charset="-122"/>
                        </a:rPr>
                        <a:t>254</a:t>
                      </a:r>
                      <a:endParaRPr lang="zh-CN" sz="2400" b="1" dirty="0">
                        <a:solidFill>
                          <a:srgbClr val="0000CC"/>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3" name="矩形 2"/>
          <p:cNvSpPr/>
          <p:nvPr/>
        </p:nvSpPr>
        <p:spPr>
          <a:xfrm>
            <a:off x="3152800" y="1412776"/>
            <a:ext cx="3873755" cy="523220"/>
          </a:xfrm>
          <a:prstGeom prst="rect">
            <a:avLst/>
          </a:prstGeom>
        </p:spPr>
        <p:txBody>
          <a:bodyPr wrap="square">
            <a:spAutoFit/>
          </a:bodyPr>
          <a:lstStyle/>
          <a:p>
            <a:pPr algn="ctr"/>
            <a:r>
              <a:rPr lang="en-US" altLang="zh-CN" sz="2800" b="1" dirty="0">
                <a:ea typeface="黑体" panose="02010609060101010101" pitchFamily="2" charset="-122"/>
              </a:rPr>
              <a:t>IP </a:t>
            </a:r>
            <a:r>
              <a:rPr lang="zh-CN" altLang="en-US" sz="2800" b="1" dirty="0">
                <a:ea typeface="黑体" panose="02010609060101010101" pitchFamily="2" charset="-122"/>
              </a:rPr>
              <a:t>地址的指派范围 </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5970" name="Rectangle 2"/>
          <p:cNvSpPr>
            <a:spLocks noGrp="1" noChangeArrowheads="1"/>
          </p:cNvSpPr>
          <p:nvPr>
            <p:ph type="title"/>
          </p:nvPr>
        </p:nvSpPr>
        <p:spPr>
          <a:noFill/>
          <a:extLst>
            <a:ext uri="{91240B29-F687-4F45-9708-019B960494DF}">
              <a14:hiddenLine xmlns:a14="http://schemas.microsoft.com/office/drawing/2010/main" w="9525">
                <a:solidFill>
                  <a:schemeClr val="tx1"/>
                </a:solidFill>
                <a:prstDash val="solid"/>
                <a:miter lim="800000"/>
                <a:headEnd/>
                <a:tailEnd/>
              </a14:hiddenLine>
            </a:ext>
          </a:extLst>
        </p:spPr>
        <p:txBody>
          <a:bodyPr/>
          <a:lstStyle/>
          <a:p>
            <a:pPr algn="ctr"/>
            <a:r>
              <a:rPr lang="zh-CN" altLang="en-US" dirty="0"/>
              <a:t>一般不使用的特殊的 </a:t>
            </a:r>
            <a:r>
              <a:rPr lang="en-US" altLang="zh-CN" dirty="0"/>
              <a:t>IP </a:t>
            </a:r>
            <a:r>
              <a:rPr lang="zh-CN" altLang="en-US" dirty="0"/>
              <a:t>地址</a:t>
            </a:r>
          </a:p>
        </p:txBody>
      </p:sp>
      <p:graphicFrame>
        <p:nvGraphicFramePr>
          <p:cNvPr id="3" name="内容占位符 2"/>
          <p:cNvGraphicFramePr>
            <a:graphicFrameLocks noGrp="1"/>
          </p:cNvGraphicFramePr>
          <p:nvPr>
            <p:ph idx="1"/>
            <p:custDataLst>
              <p:tags r:id="rId1"/>
            </p:custDataLst>
          </p:nvPr>
        </p:nvGraphicFramePr>
        <p:xfrm>
          <a:off x="488504" y="1412776"/>
          <a:ext cx="9145016" cy="4389120"/>
        </p:xfrm>
        <a:graphic>
          <a:graphicData uri="http://schemas.openxmlformats.org/drawingml/2006/table">
            <a:tbl>
              <a:tblPr>
                <a:tableStyleId>{5C22544A-7EE6-4342-B048-85BDC9FD1C3A}</a:tableStyleId>
              </a:tblPr>
              <a:tblGrid>
                <a:gridCol w="1080120">
                  <a:extLst>
                    <a:ext uri="{9D8B030D-6E8A-4147-A177-3AD203B41FA5}">
                      <a16:colId xmlns:a16="http://schemas.microsoft.com/office/drawing/2014/main" val="20000"/>
                    </a:ext>
                  </a:extLst>
                </a:gridCol>
                <a:gridCol w="1584176">
                  <a:extLst>
                    <a:ext uri="{9D8B030D-6E8A-4147-A177-3AD203B41FA5}">
                      <a16:colId xmlns:a16="http://schemas.microsoft.com/office/drawing/2014/main" val="20001"/>
                    </a:ext>
                  </a:extLst>
                </a:gridCol>
                <a:gridCol w="1224136">
                  <a:extLst>
                    <a:ext uri="{9D8B030D-6E8A-4147-A177-3AD203B41FA5}">
                      <a16:colId xmlns:a16="http://schemas.microsoft.com/office/drawing/2014/main" val="20002"/>
                    </a:ext>
                  </a:extLst>
                </a:gridCol>
                <a:gridCol w="1440160">
                  <a:extLst>
                    <a:ext uri="{9D8B030D-6E8A-4147-A177-3AD203B41FA5}">
                      <a16:colId xmlns:a16="http://schemas.microsoft.com/office/drawing/2014/main" val="20003"/>
                    </a:ext>
                  </a:extLst>
                </a:gridCol>
                <a:gridCol w="3816424">
                  <a:extLst>
                    <a:ext uri="{9D8B030D-6E8A-4147-A177-3AD203B41FA5}">
                      <a16:colId xmlns:a16="http://schemas.microsoft.com/office/drawing/2014/main" val="20004"/>
                    </a:ext>
                  </a:extLst>
                </a:gridCol>
              </a:tblGrid>
              <a:tr h="0">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anose="02010609060101010101" pitchFamily="2" charset="-122"/>
                          <a:cs typeface="+mn-cs"/>
                        </a:rPr>
                        <a:t>网络号</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a:solidFill>
                            <a:schemeClr val="tx1"/>
                          </a:solidFill>
                          <a:effectLst/>
                          <a:latin typeface="+mn-lt"/>
                          <a:ea typeface="黑体" panose="02010609060101010101" pitchFamily="2"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anose="02010609060101010101" pitchFamily="2" charset="-122"/>
                          <a:cs typeface="+mn-cs"/>
                        </a:rPr>
                        <a:t>源地址</a:t>
                      </a:r>
                      <a:endParaRPr lang="en-US" altLang="zh-CN" sz="2400" b="1" kern="1200" dirty="0">
                        <a:solidFill>
                          <a:schemeClr val="tx1"/>
                        </a:solidFill>
                        <a:effectLst/>
                        <a:latin typeface="+mn-lt"/>
                        <a:ea typeface="黑体" panose="02010609060101010101" pitchFamily="2" charset="-122"/>
                        <a:cs typeface="+mn-cs"/>
                      </a:endParaRPr>
                    </a:p>
                    <a:p>
                      <a:pPr marL="0" algn="ctr" defTabSz="914400" rtl="0" eaLnBrk="1" latinLnBrk="0" hangingPunct="1">
                        <a:lnSpc>
                          <a:spcPct val="100000"/>
                        </a:lnSpc>
                        <a:spcAft>
                          <a:spcPts val="0"/>
                        </a:spcAft>
                      </a:pPr>
                      <a:r>
                        <a:rPr lang="zh-CN" sz="2400" b="1" kern="1200" dirty="0">
                          <a:solidFill>
                            <a:schemeClr val="tx1"/>
                          </a:solidFill>
                          <a:effectLst/>
                          <a:latin typeface="+mn-lt"/>
                          <a:ea typeface="黑体" panose="02010609060101010101" pitchFamily="2"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anose="02010609060101010101" pitchFamily="2" charset="-122"/>
                          <a:cs typeface="+mn-cs"/>
                        </a:rPr>
                        <a:t>目的地址</a:t>
                      </a:r>
                      <a:endParaRPr lang="en-US" altLang="zh-CN" sz="2400" b="1" kern="1200" dirty="0">
                        <a:solidFill>
                          <a:schemeClr val="tx1"/>
                        </a:solidFill>
                        <a:effectLst/>
                        <a:latin typeface="+mn-lt"/>
                        <a:ea typeface="黑体" panose="02010609060101010101" pitchFamily="2" charset="-122"/>
                        <a:cs typeface="+mn-cs"/>
                      </a:endParaRPr>
                    </a:p>
                    <a:p>
                      <a:pPr marL="0" algn="ctr" defTabSz="914400" rtl="0" eaLnBrk="1" latinLnBrk="0" hangingPunct="1">
                        <a:lnSpc>
                          <a:spcPct val="100000"/>
                        </a:lnSpc>
                        <a:spcAft>
                          <a:spcPts val="0"/>
                        </a:spcAft>
                      </a:pPr>
                      <a:r>
                        <a:rPr lang="zh-CN" sz="2400" b="1" kern="1200" dirty="0">
                          <a:solidFill>
                            <a:schemeClr val="tx1"/>
                          </a:solidFill>
                          <a:effectLst/>
                          <a:latin typeface="+mn-lt"/>
                          <a:ea typeface="黑体" panose="02010609060101010101" pitchFamily="2"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2400" b="1" kern="1200" dirty="0">
                          <a:solidFill>
                            <a:schemeClr val="tx1"/>
                          </a:solidFill>
                          <a:effectLst/>
                          <a:latin typeface="+mn-lt"/>
                          <a:ea typeface="黑体" panose="02010609060101010101" pitchFamily="2"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0">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anose="02010609060101010101" pitchFamily="2" charset="-122"/>
                          <a:cs typeface="+mn-cs"/>
                        </a:rPr>
                        <a:t>0</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anose="02010609060101010101" pitchFamily="2" charset="-122"/>
                          <a:cs typeface="+mn-cs"/>
                        </a:rPr>
                        <a:t>0</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在本网络上的本主机（见</a:t>
                      </a:r>
                      <a:r>
                        <a:rPr lang="en-US" sz="2400" b="1" kern="1200" dirty="0">
                          <a:solidFill>
                            <a:srgbClr val="0000CC"/>
                          </a:solidFill>
                          <a:effectLst/>
                          <a:latin typeface="+mn-lt"/>
                          <a:ea typeface="黑体" panose="02010609060101010101" pitchFamily="2" charset="-122"/>
                          <a:cs typeface="+mn-cs"/>
                        </a:rPr>
                        <a:t>6.6</a:t>
                      </a:r>
                      <a:r>
                        <a:rPr lang="zh-CN" sz="2400" b="1" kern="1200" dirty="0">
                          <a:solidFill>
                            <a:srgbClr val="0000CC"/>
                          </a:solidFill>
                          <a:effectLst/>
                          <a:latin typeface="+mn-lt"/>
                          <a:ea typeface="黑体" panose="02010609060101010101" pitchFamily="2" charset="-122"/>
                          <a:cs typeface="+mn-cs"/>
                        </a:rPr>
                        <a:t>节</a:t>
                      </a:r>
                      <a:r>
                        <a:rPr lang="en-US" sz="2400" b="1" kern="1200" dirty="0">
                          <a:solidFill>
                            <a:srgbClr val="0000CC"/>
                          </a:solidFill>
                          <a:effectLst/>
                          <a:latin typeface="+mn-lt"/>
                          <a:ea typeface="黑体" panose="02010609060101010101" pitchFamily="2" charset="-122"/>
                          <a:cs typeface="+mn-cs"/>
                        </a:rPr>
                        <a:t>DHCP</a:t>
                      </a:r>
                      <a:r>
                        <a:rPr lang="zh-CN" sz="2400" b="1" kern="1200" dirty="0">
                          <a:solidFill>
                            <a:srgbClr val="0000CC"/>
                          </a:solidFill>
                          <a:effectLst/>
                          <a:latin typeface="+mn-lt"/>
                          <a:ea typeface="黑体" panose="02010609060101010101" pitchFamily="2" charset="-122"/>
                          <a:cs typeface="+mn-cs"/>
                        </a:rPr>
                        <a:t>协议）</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anose="02010609060101010101" pitchFamily="2" charset="-122"/>
                          <a:cs typeface="+mn-cs"/>
                        </a:rPr>
                        <a:t>0</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anose="02010609060101010101" pitchFamily="2" charset="-122"/>
                          <a:cs typeface="+mn-cs"/>
                        </a:rPr>
                        <a:t>host-id</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在本网络上的某台主机</a:t>
                      </a:r>
                      <a:r>
                        <a:rPr lang="en-US" sz="2400" b="1" kern="1200" dirty="0">
                          <a:solidFill>
                            <a:srgbClr val="0000CC"/>
                          </a:solidFill>
                          <a:effectLst/>
                          <a:latin typeface="+mn-lt"/>
                          <a:ea typeface="黑体" panose="02010609060101010101" pitchFamily="2" charset="-122"/>
                          <a:cs typeface="+mn-cs"/>
                        </a:rPr>
                        <a:t>host-id</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0">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全</a:t>
                      </a:r>
                      <a:r>
                        <a:rPr lang="en-US" altLang="zh-CN" sz="2400" b="1" kern="1200" dirty="0">
                          <a:solidFill>
                            <a:srgbClr val="0000CC"/>
                          </a:solidFill>
                          <a:effectLst/>
                          <a:latin typeface="+mn-lt"/>
                          <a:ea typeface="黑体" panose="02010609060101010101" pitchFamily="2" charset="-122"/>
                          <a:cs typeface="+mn-cs"/>
                        </a:rPr>
                        <a:t>0</a:t>
                      </a:r>
                      <a:endParaRPr lang="zh-CN" sz="2400" b="1" kern="1200" dirty="0">
                        <a:solidFill>
                          <a:srgbClr val="0000CC"/>
                        </a:solidFill>
                        <a:effectLst/>
                        <a:latin typeface="+mn-lt"/>
                        <a:ea typeface="黑体" panose="02010609060101010101"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全</a:t>
                      </a:r>
                      <a:r>
                        <a:rPr lang="en-US" sz="2400" b="1" kern="1200">
                          <a:solidFill>
                            <a:srgbClr val="0000CC"/>
                          </a:solidFill>
                          <a:effectLst/>
                          <a:latin typeface="+mn-lt"/>
                          <a:ea typeface="黑体" panose="02010609060101010101" pitchFamily="2" charset="-122"/>
                          <a:cs typeface="+mn-cs"/>
                        </a:rPr>
                        <a:t>1</a:t>
                      </a:r>
                      <a:endParaRPr lang="zh-CN" sz="2400" b="1" kern="1200">
                        <a:solidFill>
                          <a:srgbClr val="0000CC"/>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只在本网络上进行广播（各路由器均不转发）</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0">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anose="02010609060101010101" pitchFamily="2" charset="-122"/>
                          <a:cs typeface="+mn-cs"/>
                        </a:rPr>
                        <a:t>net-id</a:t>
                      </a:r>
                      <a:endParaRPr lang="zh-CN" sz="2400" b="1" kern="1200">
                        <a:solidFill>
                          <a:srgbClr val="0000CC"/>
                        </a:solidFill>
                        <a:effectLst/>
                        <a:latin typeface="+mn-lt"/>
                        <a:ea typeface="黑体" panose="02010609060101010101"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全</a:t>
                      </a:r>
                      <a:r>
                        <a:rPr lang="en-US" sz="2400" b="1" kern="1200">
                          <a:solidFill>
                            <a:srgbClr val="0000CC"/>
                          </a:solidFill>
                          <a:effectLst/>
                          <a:latin typeface="+mn-lt"/>
                          <a:ea typeface="黑体" panose="02010609060101010101" pitchFamily="2" charset="-122"/>
                          <a:cs typeface="+mn-cs"/>
                        </a:rPr>
                        <a:t>1</a:t>
                      </a:r>
                      <a:endParaRPr lang="zh-CN" sz="2400" b="1" kern="1200">
                        <a:solidFill>
                          <a:srgbClr val="0000CC"/>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对</a:t>
                      </a:r>
                      <a:r>
                        <a:rPr lang="en-US" sz="2400" b="1" kern="1200" dirty="0">
                          <a:solidFill>
                            <a:srgbClr val="0000CC"/>
                          </a:solidFill>
                          <a:effectLst/>
                          <a:latin typeface="+mn-lt"/>
                          <a:ea typeface="黑体" panose="02010609060101010101" pitchFamily="2" charset="-122"/>
                          <a:cs typeface="+mn-cs"/>
                        </a:rPr>
                        <a:t>net-id</a:t>
                      </a:r>
                      <a:r>
                        <a:rPr lang="zh-CN" sz="2400" b="1" kern="1200" dirty="0">
                          <a:solidFill>
                            <a:srgbClr val="0000CC"/>
                          </a:solidFill>
                          <a:effectLst/>
                          <a:latin typeface="+mn-lt"/>
                          <a:ea typeface="黑体" panose="02010609060101010101" pitchFamily="2" charset="-122"/>
                          <a:cs typeface="+mn-cs"/>
                        </a:rPr>
                        <a:t>上的所有主机进行广播</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0">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anose="02010609060101010101" pitchFamily="2" charset="-122"/>
                          <a:cs typeface="+mn-cs"/>
                        </a:rPr>
                        <a:t>127</a:t>
                      </a:r>
                      <a:endParaRPr lang="zh-CN" sz="2400" b="1" kern="1200">
                        <a:solidFill>
                          <a:srgbClr val="0000CC"/>
                        </a:solidFill>
                        <a:effectLst/>
                        <a:latin typeface="+mn-lt"/>
                        <a:ea typeface="黑体" panose="02010609060101010101"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非全</a:t>
                      </a:r>
                      <a:r>
                        <a:rPr lang="en-US" sz="2400" b="1" kern="1200" dirty="0">
                          <a:solidFill>
                            <a:srgbClr val="0000CC"/>
                          </a:solidFill>
                          <a:effectLst/>
                          <a:latin typeface="+mn-lt"/>
                          <a:ea typeface="黑体" panose="02010609060101010101" pitchFamily="2" charset="-122"/>
                          <a:cs typeface="+mn-cs"/>
                        </a:rPr>
                        <a:t>0</a:t>
                      </a:r>
                      <a:r>
                        <a:rPr lang="zh-CN" sz="2400" b="1" kern="1200" dirty="0">
                          <a:solidFill>
                            <a:srgbClr val="0000CC"/>
                          </a:solidFill>
                          <a:effectLst/>
                          <a:latin typeface="+mn-lt"/>
                          <a:ea typeface="黑体" panose="02010609060101010101" pitchFamily="2" charset="-122"/>
                          <a:cs typeface="+mn-cs"/>
                        </a:rPr>
                        <a:t>或全</a:t>
                      </a:r>
                      <a:r>
                        <a:rPr lang="en-US" sz="2400" b="1" kern="1200" dirty="0">
                          <a:solidFill>
                            <a:srgbClr val="0000CC"/>
                          </a:solidFill>
                          <a:effectLst/>
                          <a:latin typeface="+mn-lt"/>
                          <a:ea typeface="黑体" panose="02010609060101010101" pitchFamily="2" charset="-122"/>
                          <a:cs typeface="+mn-cs"/>
                        </a:rPr>
                        <a:t>1</a:t>
                      </a:r>
                      <a:r>
                        <a:rPr lang="zh-CN" sz="2400" b="1" kern="1200" dirty="0">
                          <a:solidFill>
                            <a:srgbClr val="0000CC"/>
                          </a:solidFill>
                          <a:effectLst/>
                          <a:latin typeface="+mn-lt"/>
                          <a:ea typeface="黑体" panose="02010609060101010101" pitchFamily="2"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anose="02010609060101010101" pitchFamily="2" charset="-122"/>
                          <a:cs typeface="+mn-cs"/>
                        </a:rPr>
                        <a:t>用作本地软件环回测试之用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Rectangle 2"/>
          <p:cNvSpPr>
            <a:spLocks noGrp="1" noChangeArrowheads="1"/>
          </p:cNvSpPr>
          <p:nvPr>
            <p:ph type="title"/>
          </p:nvPr>
        </p:nvSpPr>
        <p:spPr/>
        <p:txBody>
          <a:bodyPr/>
          <a:lstStyle/>
          <a:p>
            <a:pPr algn="ctr"/>
            <a:r>
              <a:rPr lang="en-US" altLang="zh-CN" dirty="0"/>
              <a:t>IP </a:t>
            </a:r>
            <a:r>
              <a:rPr lang="zh-CN" altLang="en-US" dirty="0"/>
              <a:t>地址的一些重要特点 </a:t>
            </a:r>
          </a:p>
        </p:txBody>
      </p:sp>
      <p:sp>
        <p:nvSpPr>
          <p:cNvPr id="444419" name="Rectangle 3"/>
          <p:cNvSpPr>
            <a:spLocks noGrp="1" noChangeArrowheads="1"/>
          </p:cNvSpPr>
          <p:nvPr>
            <p:ph idx="1"/>
          </p:nvPr>
        </p:nvSpPr>
        <p:spPr/>
        <p:txBody>
          <a:bodyPr/>
          <a:lstStyle/>
          <a:p>
            <a:r>
              <a:rPr lang="en-US" altLang="zh-CN" dirty="0">
                <a:solidFill>
                  <a:srgbClr val="FF0000"/>
                </a:solidFill>
              </a:rPr>
              <a:t>(1) </a:t>
            </a:r>
            <a:r>
              <a:rPr lang="en-US" altLang="zh-CN" dirty="0"/>
              <a:t>IP </a:t>
            </a:r>
            <a:r>
              <a:rPr lang="zh-CN" altLang="en-US" dirty="0"/>
              <a:t>地址是一种分等级的地址结构。分两个等级的好处是（网络号：主机号）：</a:t>
            </a:r>
            <a:endParaRPr lang="en-US" altLang="zh-CN" dirty="0"/>
          </a:p>
          <a:p>
            <a:pPr lvl="1"/>
            <a:r>
              <a:rPr lang="zh-CN" altLang="en-US" dirty="0"/>
              <a:t>第一，</a:t>
            </a:r>
            <a:r>
              <a:rPr lang="en-US" altLang="zh-CN" dirty="0">
                <a:solidFill>
                  <a:srgbClr val="FF0000"/>
                </a:solidFill>
              </a:rPr>
              <a:t>IP </a:t>
            </a:r>
            <a:r>
              <a:rPr lang="zh-CN" altLang="en-US" dirty="0">
                <a:solidFill>
                  <a:srgbClr val="FF0000"/>
                </a:solidFill>
              </a:rPr>
              <a:t>地址管理机构</a:t>
            </a:r>
            <a:r>
              <a:rPr lang="zh-CN" altLang="en-US" dirty="0"/>
              <a:t>在分配 </a:t>
            </a:r>
            <a:r>
              <a:rPr lang="en-US" altLang="zh-CN" dirty="0"/>
              <a:t>IP </a:t>
            </a:r>
            <a:r>
              <a:rPr lang="zh-CN" altLang="en-US" dirty="0"/>
              <a:t>地址时</a:t>
            </a:r>
            <a:r>
              <a:rPr lang="zh-CN" altLang="en-US" dirty="0">
                <a:solidFill>
                  <a:srgbClr val="FF0000"/>
                </a:solidFill>
              </a:rPr>
              <a:t>只分配网络号</a:t>
            </a:r>
            <a:r>
              <a:rPr lang="zh-CN" altLang="en-US" dirty="0"/>
              <a:t>，而剩下的</a:t>
            </a:r>
            <a:r>
              <a:rPr lang="zh-CN" altLang="en-US" dirty="0">
                <a:solidFill>
                  <a:srgbClr val="FF0000"/>
                </a:solidFill>
              </a:rPr>
              <a:t>主机号</a:t>
            </a:r>
            <a:r>
              <a:rPr lang="zh-CN" altLang="en-US" dirty="0"/>
              <a:t>则</a:t>
            </a:r>
            <a:r>
              <a:rPr lang="zh-CN" altLang="en-US" dirty="0">
                <a:solidFill>
                  <a:srgbClr val="FF0000"/>
                </a:solidFill>
              </a:rPr>
              <a:t>由得到该网络号的单位自行分配</a:t>
            </a:r>
            <a:r>
              <a:rPr lang="zh-CN" altLang="en-US" dirty="0"/>
              <a:t>。这样就方便了 </a:t>
            </a:r>
            <a:r>
              <a:rPr lang="en-US" altLang="zh-CN" dirty="0"/>
              <a:t>IP </a:t>
            </a:r>
            <a:r>
              <a:rPr lang="zh-CN" altLang="en-US" dirty="0"/>
              <a:t>地址的管理</a:t>
            </a:r>
            <a:endParaRPr lang="en-US" altLang="zh-CN" dirty="0"/>
          </a:p>
          <a:p>
            <a:pPr lvl="1"/>
            <a:r>
              <a:rPr lang="zh-CN" altLang="en-US" dirty="0"/>
              <a:t>第二，路由器仅根据</a:t>
            </a:r>
            <a:r>
              <a:rPr lang="zh-CN" altLang="en-US" dirty="0">
                <a:solidFill>
                  <a:srgbClr val="FF0000"/>
                </a:solidFill>
              </a:rPr>
              <a:t>目的主机所连接的网络号来转发分组</a:t>
            </a:r>
            <a:r>
              <a:rPr lang="zh-CN" altLang="en-US" dirty="0"/>
              <a:t>（而不考虑目的主机号），这样就可以使路由表中的项目数大幅度减少，从而减小了路由表所占的存储空间。 </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p:cNvSpPr>
            <a:spLocks noGrp="1" noChangeArrowheads="1"/>
          </p:cNvSpPr>
          <p:nvPr>
            <p:ph type="title"/>
          </p:nvPr>
        </p:nvSpPr>
        <p:spPr/>
        <p:txBody>
          <a:bodyPr/>
          <a:lstStyle/>
          <a:p>
            <a:pPr algn="ctr"/>
            <a:r>
              <a:rPr lang="en-US" altLang="zh-CN"/>
              <a:t>IP </a:t>
            </a:r>
            <a:r>
              <a:rPr lang="zh-CN" altLang="en-US"/>
              <a:t>地址的一些重要特点 </a:t>
            </a:r>
          </a:p>
        </p:txBody>
      </p:sp>
      <p:sp>
        <p:nvSpPr>
          <p:cNvPr id="209923" name="Rectangle 3"/>
          <p:cNvSpPr>
            <a:spLocks noGrp="1" noChangeArrowheads="1"/>
          </p:cNvSpPr>
          <p:nvPr>
            <p:ph idx="1"/>
          </p:nvPr>
        </p:nvSpPr>
        <p:spPr/>
        <p:txBody>
          <a:bodyPr/>
          <a:lstStyle/>
          <a:p>
            <a:r>
              <a:rPr lang="en-US" altLang="zh-CN" dirty="0">
                <a:solidFill>
                  <a:srgbClr val="FF0000"/>
                </a:solidFill>
              </a:rPr>
              <a:t>(2) </a:t>
            </a:r>
            <a:r>
              <a:rPr lang="zh-CN" altLang="en-US" dirty="0">
                <a:solidFill>
                  <a:srgbClr val="FF0000"/>
                </a:solidFill>
              </a:rPr>
              <a:t>实际上 </a:t>
            </a:r>
            <a:r>
              <a:rPr lang="en-US" altLang="zh-CN" dirty="0">
                <a:solidFill>
                  <a:srgbClr val="FF0000"/>
                </a:solidFill>
              </a:rPr>
              <a:t>IP </a:t>
            </a:r>
            <a:r>
              <a:rPr lang="zh-CN" altLang="en-US" dirty="0">
                <a:solidFill>
                  <a:srgbClr val="FF0000"/>
                </a:solidFill>
              </a:rPr>
              <a:t>地址是标志一个主机（或路由器）和一条链路的接口。</a:t>
            </a:r>
          </a:p>
          <a:p>
            <a:pPr lvl="1"/>
            <a:r>
              <a:rPr lang="zh-CN" altLang="en-US" dirty="0"/>
              <a:t>当一个主机同时连接到两个网络上时，该主机就必须同时具有两个相应的 </a:t>
            </a:r>
            <a:r>
              <a:rPr lang="en-US" altLang="zh-CN" dirty="0"/>
              <a:t>IP </a:t>
            </a:r>
            <a:r>
              <a:rPr lang="zh-CN" altLang="en-US" dirty="0"/>
              <a:t>地址，其网络号 </a:t>
            </a:r>
            <a:r>
              <a:rPr lang="en-US" altLang="zh-CN" dirty="0"/>
              <a:t>net-id </a:t>
            </a:r>
            <a:r>
              <a:rPr lang="zh-CN" altLang="en-US" dirty="0"/>
              <a:t>必须是不同的。这种主机称为</a:t>
            </a:r>
            <a:r>
              <a:rPr lang="zh-CN" altLang="en-US" dirty="0">
                <a:solidFill>
                  <a:srgbClr val="FF0000"/>
                </a:solidFill>
              </a:rPr>
              <a:t>多归属主机 </a:t>
            </a:r>
            <a:r>
              <a:rPr lang="en-US" altLang="zh-CN" dirty="0"/>
              <a:t>(</a:t>
            </a:r>
            <a:r>
              <a:rPr lang="en-US" altLang="zh-CN" dirty="0" err="1"/>
              <a:t>multihomed</a:t>
            </a:r>
            <a:r>
              <a:rPr lang="en-US" altLang="zh-CN" dirty="0"/>
              <a:t> host)</a:t>
            </a:r>
            <a:r>
              <a:rPr lang="zh-CN" altLang="en-US" dirty="0"/>
              <a:t>。</a:t>
            </a:r>
          </a:p>
          <a:p>
            <a:pPr lvl="1"/>
            <a:r>
              <a:rPr lang="zh-CN" altLang="en-US" dirty="0"/>
              <a:t>由于一个路由器至少应当连接到两个网络（这样它才能将 </a:t>
            </a:r>
            <a:r>
              <a:rPr lang="en-US" altLang="zh-CN" dirty="0"/>
              <a:t>IP </a:t>
            </a:r>
            <a:r>
              <a:rPr lang="zh-CN" altLang="en-US" dirty="0"/>
              <a:t>数据报从一个网络转发到另一个网络），因此</a:t>
            </a:r>
            <a:r>
              <a:rPr lang="zh-CN" altLang="en-US" dirty="0">
                <a:solidFill>
                  <a:srgbClr val="0000CC"/>
                </a:solidFill>
              </a:rPr>
              <a:t>一个路由器至少应当有两个不同的 </a:t>
            </a:r>
            <a:r>
              <a:rPr lang="en-US" altLang="zh-CN" dirty="0">
                <a:solidFill>
                  <a:srgbClr val="0000CC"/>
                </a:solidFill>
              </a:rPr>
              <a:t>IP </a:t>
            </a:r>
            <a:r>
              <a:rPr lang="zh-CN" altLang="en-US" dirty="0">
                <a:solidFill>
                  <a:srgbClr val="0000CC"/>
                </a:solidFill>
              </a:rPr>
              <a:t>地址。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992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Rectangle 2"/>
          <p:cNvSpPr>
            <a:spLocks noGrp="1" noChangeArrowheads="1"/>
          </p:cNvSpPr>
          <p:nvPr>
            <p:ph type="title"/>
          </p:nvPr>
        </p:nvSpPr>
        <p:spPr/>
        <p:txBody>
          <a:bodyPr/>
          <a:lstStyle/>
          <a:p>
            <a:pPr algn="ctr"/>
            <a:r>
              <a:rPr lang="en-US" altLang="zh-CN"/>
              <a:t>IP </a:t>
            </a:r>
            <a:r>
              <a:rPr lang="zh-CN" altLang="en-US"/>
              <a:t>地址的一些重要特点 </a:t>
            </a:r>
          </a:p>
        </p:txBody>
      </p:sp>
      <p:sp>
        <p:nvSpPr>
          <p:cNvPr id="445443" name="Rectangle 3"/>
          <p:cNvSpPr>
            <a:spLocks noGrp="1" noChangeArrowheads="1"/>
          </p:cNvSpPr>
          <p:nvPr>
            <p:ph idx="1"/>
          </p:nvPr>
        </p:nvSpPr>
        <p:spPr/>
        <p:txBody>
          <a:bodyPr/>
          <a:lstStyle/>
          <a:p>
            <a:pPr>
              <a:spcBef>
                <a:spcPts val="1200"/>
              </a:spcBef>
            </a:pPr>
            <a:r>
              <a:rPr lang="en-US" altLang="zh-CN" dirty="0">
                <a:solidFill>
                  <a:srgbClr val="FF0000"/>
                </a:solidFill>
              </a:rPr>
              <a:t>(3) </a:t>
            </a:r>
            <a:r>
              <a:rPr lang="zh-CN" altLang="en-US" dirty="0">
                <a:solidFill>
                  <a:srgbClr val="FF0000"/>
                </a:solidFill>
              </a:rPr>
              <a:t>用转发器或网桥连接起来的若干个局域网</a:t>
            </a:r>
            <a:r>
              <a:rPr lang="zh-CN" altLang="en-US" dirty="0">
                <a:solidFill>
                  <a:srgbClr val="0000FF"/>
                </a:solidFill>
              </a:rPr>
              <a:t>仍为一个网络，因此这些局域网都具有同样的网络号 </a:t>
            </a:r>
            <a:r>
              <a:rPr lang="en-US" altLang="zh-CN" dirty="0">
                <a:solidFill>
                  <a:srgbClr val="0000FF"/>
                </a:solidFill>
              </a:rPr>
              <a:t>net-id</a:t>
            </a:r>
            <a:r>
              <a:rPr lang="zh-CN" altLang="en-US" dirty="0">
                <a:solidFill>
                  <a:srgbClr val="0000FF"/>
                </a:solidFill>
              </a:rPr>
              <a:t>。</a:t>
            </a:r>
          </a:p>
          <a:p>
            <a:pPr>
              <a:spcBef>
                <a:spcPts val="1200"/>
              </a:spcBef>
            </a:pPr>
            <a:r>
              <a:rPr lang="en-US" altLang="zh-CN" dirty="0">
                <a:solidFill>
                  <a:srgbClr val="FF0000"/>
                </a:solidFill>
              </a:rPr>
              <a:t>(4) </a:t>
            </a:r>
            <a:r>
              <a:rPr lang="zh-CN" altLang="en-US" dirty="0">
                <a:solidFill>
                  <a:srgbClr val="FF0000"/>
                </a:solidFill>
              </a:rPr>
              <a:t>所有分配到网络号 </a:t>
            </a:r>
            <a:r>
              <a:rPr lang="en-US" altLang="zh-CN" dirty="0">
                <a:solidFill>
                  <a:srgbClr val="FF0000"/>
                </a:solidFill>
              </a:rPr>
              <a:t>net-id </a:t>
            </a:r>
            <a:r>
              <a:rPr lang="zh-CN" altLang="en-US" dirty="0">
                <a:solidFill>
                  <a:srgbClr val="FF0000"/>
                </a:solidFill>
              </a:rPr>
              <a:t>的网络，无论是范围很小的局域网，还是可能覆盖很大地理范围的广域网，都是平等的。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54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1571" name="Rectangle 3"/>
          <p:cNvSpPr>
            <a:spLocks noGrp="1" noChangeArrowheads="1"/>
          </p:cNvSpPr>
          <p:nvPr>
            <p:ph type="title"/>
          </p:nvPr>
        </p:nvSpPr>
        <p:spPr>
          <a:noFill/>
          <a:extLst>
            <a:ext uri="{91240B29-F687-4F45-9708-019B960494DF}">
              <a14:hiddenLine xmlns:a14="http://schemas.microsoft.com/office/drawing/2010/main" w="9525">
                <a:solidFill>
                  <a:schemeClr val="tx1"/>
                </a:solidFill>
                <a:prstDash val="solid"/>
                <a:miter lim="800000"/>
                <a:headEnd/>
                <a:tailEnd/>
              </a14:hiddenLine>
            </a:ext>
          </a:extLst>
        </p:spPr>
        <p:txBody>
          <a:bodyPr/>
          <a:lstStyle/>
          <a:p>
            <a:pPr algn="ctr"/>
            <a:r>
              <a:rPr lang="zh-CN" altLang="en-US" dirty="0"/>
              <a:t>互联网中的 </a:t>
            </a:r>
            <a:r>
              <a:rPr lang="en-US" altLang="zh-CN" dirty="0"/>
              <a:t>IP </a:t>
            </a:r>
            <a:r>
              <a:rPr lang="zh-CN" altLang="en-US" dirty="0"/>
              <a:t>地址 </a:t>
            </a:r>
          </a:p>
        </p:txBody>
      </p:sp>
      <p:grpSp>
        <p:nvGrpSpPr>
          <p:cNvPr id="2" name="组合 1"/>
          <p:cNvGrpSpPr/>
          <p:nvPr/>
        </p:nvGrpSpPr>
        <p:grpSpPr>
          <a:xfrm>
            <a:off x="591385" y="1198075"/>
            <a:ext cx="9114143" cy="5399576"/>
            <a:chOff x="272480" y="898525"/>
            <a:chExt cx="9545961" cy="5699126"/>
          </a:xfrm>
        </p:grpSpPr>
        <p:sp>
          <p:nvSpPr>
            <p:cNvPr id="1261570"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1261572"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73"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574"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575"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576"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77"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578"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79"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80"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81"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82"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83"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84"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1261585"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1261586"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87"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88"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89"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1261590"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1261591" name="Group 23"/>
            <p:cNvGrpSpPr/>
            <p:nvPr/>
          </p:nvGrpSpPr>
          <p:grpSpPr bwMode="auto">
            <a:xfrm>
              <a:off x="627725" y="3616325"/>
              <a:ext cx="546894" cy="515938"/>
              <a:chOff x="101" y="2294"/>
              <a:chExt cx="343" cy="353"/>
            </a:xfrm>
          </p:grpSpPr>
          <p:grpSp>
            <p:nvGrpSpPr>
              <p:cNvPr id="1261592" name="Group 24"/>
              <p:cNvGrpSpPr/>
              <p:nvPr/>
            </p:nvGrpSpPr>
            <p:grpSpPr bwMode="auto">
              <a:xfrm>
                <a:off x="109" y="2301"/>
                <a:ext cx="335" cy="346"/>
                <a:chOff x="109" y="2301"/>
                <a:chExt cx="335" cy="346"/>
              </a:xfrm>
            </p:grpSpPr>
            <p:sp>
              <p:nvSpPr>
                <p:cNvPr id="1261593"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94"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95"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96"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597"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98"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599"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00"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01" name="Group 33"/>
                <p:cNvGrpSpPr/>
                <p:nvPr/>
              </p:nvGrpSpPr>
              <p:grpSpPr bwMode="auto">
                <a:xfrm>
                  <a:off x="109" y="2596"/>
                  <a:ext cx="335" cy="51"/>
                  <a:chOff x="109" y="2596"/>
                  <a:chExt cx="335" cy="51"/>
                </a:xfrm>
              </p:grpSpPr>
              <p:sp>
                <p:nvSpPr>
                  <p:cNvPr id="1261602"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03"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04"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605" name="Group 37"/>
              <p:cNvGrpSpPr/>
              <p:nvPr/>
            </p:nvGrpSpPr>
            <p:grpSpPr bwMode="auto">
              <a:xfrm>
                <a:off x="101" y="2294"/>
                <a:ext cx="335" cy="347"/>
                <a:chOff x="101" y="2294"/>
                <a:chExt cx="335" cy="347"/>
              </a:xfrm>
            </p:grpSpPr>
            <p:sp>
              <p:nvSpPr>
                <p:cNvPr id="1261606"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07"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08"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09"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10"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11"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12"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13"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14" name="Group 46"/>
                <p:cNvGrpSpPr/>
                <p:nvPr/>
              </p:nvGrpSpPr>
              <p:grpSpPr bwMode="auto">
                <a:xfrm>
                  <a:off x="101" y="2590"/>
                  <a:ext cx="335" cy="51"/>
                  <a:chOff x="101" y="2590"/>
                  <a:chExt cx="335" cy="51"/>
                </a:xfrm>
              </p:grpSpPr>
              <p:sp>
                <p:nvSpPr>
                  <p:cNvPr id="1261615"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16"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17"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1261618" name="Group 50"/>
            <p:cNvGrpSpPr/>
            <p:nvPr/>
          </p:nvGrpSpPr>
          <p:grpSpPr bwMode="auto">
            <a:xfrm>
              <a:off x="3637361" y="6081714"/>
              <a:ext cx="545173" cy="515937"/>
              <a:chOff x="3891" y="3616"/>
              <a:chExt cx="342" cy="353"/>
            </a:xfrm>
          </p:grpSpPr>
          <p:grpSp>
            <p:nvGrpSpPr>
              <p:cNvPr id="1261619" name="Group 51"/>
              <p:cNvGrpSpPr/>
              <p:nvPr/>
            </p:nvGrpSpPr>
            <p:grpSpPr bwMode="auto">
              <a:xfrm>
                <a:off x="3899" y="3622"/>
                <a:ext cx="334" cy="347"/>
                <a:chOff x="3899" y="3622"/>
                <a:chExt cx="334" cy="347"/>
              </a:xfrm>
            </p:grpSpPr>
            <p:sp>
              <p:nvSpPr>
                <p:cNvPr id="1261620"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21"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22"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23"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24"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25"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26"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27"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28" name="Group 60"/>
                <p:cNvGrpSpPr/>
                <p:nvPr/>
              </p:nvGrpSpPr>
              <p:grpSpPr bwMode="auto">
                <a:xfrm>
                  <a:off x="3899" y="3918"/>
                  <a:ext cx="334" cy="51"/>
                  <a:chOff x="3899" y="3918"/>
                  <a:chExt cx="334" cy="51"/>
                </a:xfrm>
              </p:grpSpPr>
              <p:sp>
                <p:nvSpPr>
                  <p:cNvPr id="1261629"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0"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1"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632" name="Group 64"/>
              <p:cNvGrpSpPr/>
              <p:nvPr/>
            </p:nvGrpSpPr>
            <p:grpSpPr bwMode="auto">
              <a:xfrm>
                <a:off x="3891" y="3616"/>
                <a:ext cx="334" cy="346"/>
                <a:chOff x="3891" y="3616"/>
                <a:chExt cx="334" cy="346"/>
              </a:xfrm>
            </p:grpSpPr>
            <p:sp>
              <p:nvSpPr>
                <p:cNvPr id="12616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41" name="Group 73"/>
                <p:cNvGrpSpPr/>
                <p:nvPr/>
              </p:nvGrpSpPr>
              <p:grpSpPr bwMode="auto">
                <a:xfrm>
                  <a:off x="3891" y="3912"/>
                  <a:ext cx="334" cy="50"/>
                  <a:chOff x="3891" y="3912"/>
                  <a:chExt cx="334" cy="50"/>
                </a:xfrm>
              </p:grpSpPr>
              <p:sp>
                <p:nvSpPr>
                  <p:cNvPr id="12616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1261645" name="Group 77"/>
            <p:cNvGrpSpPr/>
            <p:nvPr/>
          </p:nvGrpSpPr>
          <p:grpSpPr bwMode="auto">
            <a:xfrm>
              <a:off x="5013194" y="6065839"/>
              <a:ext cx="546894" cy="515937"/>
              <a:chOff x="4752" y="3605"/>
              <a:chExt cx="343" cy="353"/>
            </a:xfrm>
          </p:grpSpPr>
          <p:grpSp>
            <p:nvGrpSpPr>
              <p:cNvPr id="1261646" name="Group 78"/>
              <p:cNvGrpSpPr/>
              <p:nvPr/>
            </p:nvGrpSpPr>
            <p:grpSpPr bwMode="auto">
              <a:xfrm>
                <a:off x="4760" y="3612"/>
                <a:ext cx="335" cy="346"/>
                <a:chOff x="4760" y="3612"/>
                <a:chExt cx="335" cy="346"/>
              </a:xfrm>
            </p:grpSpPr>
            <p:sp>
              <p:nvSpPr>
                <p:cNvPr id="1261647"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48"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49"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50"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51"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52"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53"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54"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55" name="Group 87"/>
                <p:cNvGrpSpPr/>
                <p:nvPr/>
              </p:nvGrpSpPr>
              <p:grpSpPr bwMode="auto">
                <a:xfrm>
                  <a:off x="4760" y="3907"/>
                  <a:ext cx="335" cy="51"/>
                  <a:chOff x="4760" y="3907"/>
                  <a:chExt cx="335" cy="51"/>
                </a:xfrm>
              </p:grpSpPr>
              <p:sp>
                <p:nvSpPr>
                  <p:cNvPr id="1261656"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57"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58"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659" name="Group 91"/>
              <p:cNvGrpSpPr/>
              <p:nvPr/>
            </p:nvGrpSpPr>
            <p:grpSpPr bwMode="auto">
              <a:xfrm>
                <a:off x="4752" y="3605"/>
                <a:ext cx="334" cy="347"/>
                <a:chOff x="4752" y="3605"/>
                <a:chExt cx="334" cy="347"/>
              </a:xfrm>
            </p:grpSpPr>
            <p:sp>
              <p:nvSpPr>
                <p:cNvPr id="1261660"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61"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62"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63"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64"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65"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66"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67"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68" name="Group 100"/>
                <p:cNvGrpSpPr/>
                <p:nvPr/>
              </p:nvGrpSpPr>
              <p:grpSpPr bwMode="auto">
                <a:xfrm>
                  <a:off x="4752" y="3901"/>
                  <a:ext cx="334" cy="51"/>
                  <a:chOff x="4752" y="3901"/>
                  <a:chExt cx="334" cy="51"/>
                </a:xfrm>
              </p:grpSpPr>
              <p:sp>
                <p:nvSpPr>
                  <p:cNvPr id="1261669"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0"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1"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1261672" name="Group 104"/>
            <p:cNvGrpSpPr/>
            <p:nvPr/>
          </p:nvGrpSpPr>
          <p:grpSpPr bwMode="auto">
            <a:xfrm>
              <a:off x="627725" y="2509839"/>
              <a:ext cx="546894" cy="517525"/>
              <a:chOff x="101" y="1539"/>
              <a:chExt cx="343" cy="352"/>
            </a:xfrm>
          </p:grpSpPr>
          <p:grpSp>
            <p:nvGrpSpPr>
              <p:cNvPr id="1261673" name="Group 105"/>
              <p:cNvGrpSpPr/>
              <p:nvPr/>
            </p:nvGrpSpPr>
            <p:grpSpPr bwMode="auto">
              <a:xfrm>
                <a:off x="109" y="1545"/>
                <a:ext cx="335" cy="346"/>
                <a:chOff x="109" y="1545"/>
                <a:chExt cx="335" cy="346"/>
              </a:xfrm>
            </p:grpSpPr>
            <p:sp>
              <p:nvSpPr>
                <p:cNvPr id="1261674"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5"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6"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7"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78"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79"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80"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81"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82" name="Group 114"/>
                <p:cNvGrpSpPr/>
                <p:nvPr/>
              </p:nvGrpSpPr>
              <p:grpSpPr bwMode="auto">
                <a:xfrm>
                  <a:off x="109" y="1841"/>
                  <a:ext cx="335" cy="50"/>
                  <a:chOff x="109" y="1841"/>
                  <a:chExt cx="335" cy="50"/>
                </a:xfrm>
              </p:grpSpPr>
              <p:sp>
                <p:nvSpPr>
                  <p:cNvPr id="1261683"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84"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85"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686" name="Group 118"/>
              <p:cNvGrpSpPr/>
              <p:nvPr/>
            </p:nvGrpSpPr>
            <p:grpSpPr bwMode="auto">
              <a:xfrm>
                <a:off x="101" y="1539"/>
                <a:ext cx="335" cy="346"/>
                <a:chOff x="101" y="1539"/>
                <a:chExt cx="335" cy="346"/>
              </a:xfrm>
            </p:grpSpPr>
            <p:sp>
              <p:nvSpPr>
                <p:cNvPr id="1261687"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88"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89"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90"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91"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92"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93"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694"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695" name="Group 127"/>
                <p:cNvGrpSpPr/>
                <p:nvPr/>
              </p:nvGrpSpPr>
              <p:grpSpPr bwMode="auto">
                <a:xfrm>
                  <a:off x="101" y="1834"/>
                  <a:ext cx="335" cy="51"/>
                  <a:chOff x="101" y="1834"/>
                  <a:chExt cx="335" cy="51"/>
                </a:xfrm>
              </p:grpSpPr>
              <p:sp>
                <p:nvSpPr>
                  <p:cNvPr id="1261696"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97"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698"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1261699" name="Group 131"/>
            <p:cNvGrpSpPr/>
            <p:nvPr/>
          </p:nvGrpSpPr>
          <p:grpSpPr bwMode="auto">
            <a:xfrm>
              <a:off x="8838010" y="3657600"/>
              <a:ext cx="548613" cy="514350"/>
              <a:chOff x="5237" y="2322"/>
              <a:chExt cx="343" cy="352"/>
            </a:xfrm>
          </p:grpSpPr>
          <p:grpSp>
            <p:nvGrpSpPr>
              <p:cNvPr id="1261700" name="Group 132"/>
              <p:cNvGrpSpPr/>
              <p:nvPr/>
            </p:nvGrpSpPr>
            <p:grpSpPr bwMode="auto">
              <a:xfrm>
                <a:off x="5245" y="2328"/>
                <a:ext cx="335" cy="346"/>
                <a:chOff x="5245" y="2328"/>
                <a:chExt cx="335" cy="346"/>
              </a:xfrm>
            </p:grpSpPr>
            <p:sp>
              <p:nvSpPr>
                <p:cNvPr id="1261701"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02"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03"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04"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05"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06"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07"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08"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709" name="Group 141"/>
                <p:cNvGrpSpPr/>
                <p:nvPr/>
              </p:nvGrpSpPr>
              <p:grpSpPr bwMode="auto">
                <a:xfrm>
                  <a:off x="5245" y="2624"/>
                  <a:ext cx="335" cy="50"/>
                  <a:chOff x="5245" y="2624"/>
                  <a:chExt cx="335" cy="50"/>
                </a:xfrm>
              </p:grpSpPr>
              <p:sp>
                <p:nvSpPr>
                  <p:cNvPr id="1261710"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1"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2"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713" name="Group 145"/>
              <p:cNvGrpSpPr/>
              <p:nvPr/>
            </p:nvGrpSpPr>
            <p:grpSpPr bwMode="auto">
              <a:xfrm>
                <a:off x="5237" y="2322"/>
                <a:ext cx="335" cy="346"/>
                <a:chOff x="5237" y="2322"/>
                <a:chExt cx="335" cy="346"/>
              </a:xfrm>
            </p:grpSpPr>
            <p:sp>
              <p:nvSpPr>
                <p:cNvPr id="1261714"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5"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6"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7"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18"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19"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20"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21"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722" name="Group 154"/>
                <p:cNvGrpSpPr/>
                <p:nvPr/>
              </p:nvGrpSpPr>
              <p:grpSpPr bwMode="auto">
                <a:xfrm>
                  <a:off x="5237" y="2617"/>
                  <a:ext cx="335" cy="51"/>
                  <a:chOff x="5237" y="2617"/>
                  <a:chExt cx="335" cy="51"/>
                </a:xfrm>
              </p:grpSpPr>
              <p:sp>
                <p:nvSpPr>
                  <p:cNvPr id="1261723"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24"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25"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1261726" name="Group 158"/>
            <p:cNvGrpSpPr/>
            <p:nvPr/>
          </p:nvGrpSpPr>
          <p:grpSpPr bwMode="auto">
            <a:xfrm>
              <a:off x="8838010" y="2581275"/>
              <a:ext cx="548613" cy="515938"/>
              <a:chOff x="5237" y="1587"/>
              <a:chExt cx="343" cy="353"/>
            </a:xfrm>
          </p:grpSpPr>
          <p:grpSp>
            <p:nvGrpSpPr>
              <p:cNvPr id="1261727" name="Group 159"/>
              <p:cNvGrpSpPr/>
              <p:nvPr/>
            </p:nvGrpSpPr>
            <p:grpSpPr bwMode="auto">
              <a:xfrm>
                <a:off x="5245" y="1594"/>
                <a:ext cx="335" cy="346"/>
                <a:chOff x="5245" y="1594"/>
                <a:chExt cx="335" cy="346"/>
              </a:xfrm>
            </p:grpSpPr>
            <p:sp>
              <p:nvSpPr>
                <p:cNvPr id="1261728"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29"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30"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31"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32"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33"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34"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35"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736" name="Group 168"/>
                <p:cNvGrpSpPr/>
                <p:nvPr/>
              </p:nvGrpSpPr>
              <p:grpSpPr bwMode="auto">
                <a:xfrm>
                  <a:off x="5245" y="1889"/>
                  <a:ext cx="335" cy="51"/>
                  <a:chOff x="5245" y="1889"/>
                  <a:chExt cx="335" cy="51"/>
                </a:xfrm>
              </p:grpSpPr>
              <p:sp>
                <p:nvSpPr>
                  <p:cNvPr id="1261737"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38"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39"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740" name="Group 172"/>
              <p:cNvGrpSpPr/>
              <p:nvPr/>
            </p:nvGrpSpPr>
            <p:grpSpPr bwMode="auto">
              <a:xfrm>
                <a:off x="5237" y="1587"/>
                <a:ext cx="335" cy="346"/>
                <a:chOff x="5237" y="1587"/>
                <a:chExt cx="335" cy="346"/>
              </a:xfrm>
            </p:grpSpPr>
            <p:sp>
              <p:nvSpPr>
                <p:cNvPr id="1261741"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42"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43"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44"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45"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46"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47"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48"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749" name="Group 181"/>
                <p:cNvGrpSpPr/>
                <p:nvPr/>
              </p:nvGrpSpPr>
              <p:grpSpPr bwMode="auto">
                <a:xfrm>
                  <a:off x="5237" y="1883"/>
                  <a:ext cx="335" cy="50"/>
                  <a:chOff x="5237" y="1883"/>
                  <a:chExt cx="335" cy="50"/>
                </a:xfrm>
              </p:grpSpPr>
              <p:sp>
                <p:nvSpPr>
                  <p:cNvPr id="1261750"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51"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52"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1261753"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54"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1261755"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56"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1261757"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58"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1261759"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60"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1261761"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1261762" name="Group 194"/>
            <p:cNvGrpSpPr/>
            <p:nvPr/>
          </p:nvGrpSpPr>
          <p:grpSpPr bwMode="auto">
            <a:xfrm>
              <a:off x="4141258" y="2630488"/>
              <a:ext cx="701675" cy="385762"/>
              <a:chOff x="2299" y="1622"/>
              <a:chExt cx="439" cy="262"/>
            </a:xfrm>
          </p:grpSpPr>
          <p:sp>
            <p:nvSpPr>
              <p:cNvPr id="1261763"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1261764"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65"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66"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1261767" name="Group 199"/>
              <p:cNvGrpSpPr/>
              <p:nvPr/>
            </p:nvGrpSpPr>
            <p:grpSpPr bwMode="auto">
              <a:xfrm>
                <a:off x="2365" y="1640"/>
                <a:ext cx="304" cy="117"/>
                <a:chOff x="2365" y="1640"/>
                <a:chExt cx="304" cy="117"/>
              </a:xfrm>
            </p:grpSpPr>
            <p:grpSp>
              <p:nvGrpSpPr>
                <p:cNvPr id="1261768" name="Group 200"/>
                <p:cNvGrpSpPr/>
                <p:nvPr/>
              </p:nvGrpSpPr>
              <p:grpSpPr bwMode="auto">
                <a:xfrm>
                  <a:off x="2365" y="1640"/>
                  <a:ext cx="302" cy="115"/>
                  <a:chOff x="2365" y="1640"/>
                  <a:chExt cx="302" cy="115"/>
                </a:xfrm>
              </p:grpSpPr>
              <p:sp>
                <p:nvSpPr>
                  <p:cNvPr id="126176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1261777" name="Group 209"/>
                <p:cNvGrpSpPr/>
                <p:nvPr/>
              </p:nvGrpSpPr>
              <p:grpSpPr bwMode="auto">
                <a:xfrm>
                  <a:off x="2368" y="1643"/>
                  <a:ext cx="301" cy="114"/>
                  <a:chOff x="2368" y="1643"/>
                  <a:chExt cx="301" cy="114"/>
                </a:xfrm>
              </p:grpSpPr>
              <p:sp>
                <p:nvSpPr>
                  <p:cNvPr id="1261778"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79"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0"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1"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2"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3"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4"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785"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1261786"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1261787"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1261788"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89"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1261790"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91"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1261792"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793"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94"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795"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796"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97"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1261798"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799"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1261800"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01"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1261803"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222.1.2.3</a:t>
              </a:r>
            </a:p>
          </p:txBody>
        </p:sp>
        <p:sp>
          <p:nvSpPr>
            <p:cNvPr id="1261804"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05"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1261806"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07"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08"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1261809"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1261810" name="Group 242"/>
            <p:cNvGrpSpPr/>
            <p:nvPr/>
          </p:nvGrpSpPr>
          <p:grpSpPr bwMode="auto">
            <a:xfrm>
              <a:off x="2407709" y="4386264"/>
              <a:ext cx="703395" cy="384175"/>
              <a:chOff x="1304" y="2569"/>
              <a:chExt cx="439" cy="262"/>
            </a:xfrm>
          </p:grpSpPr>
          <p:sp>
            <p:nvSpPr>
              <p:cNvPr id="1261811"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1261812"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13"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14"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1261815" name="Group 247"/>
              <p:cNvGrpSpPr/>
              <p:nvPr/>
            </p:nvGrpSpPr>
            <p:grpSpPr bwMode="auto">
              <a:xfrm>
                <a:off x="1371" y="2587"/>
                <a:ext cx="304" cy="117"/>
                <a:chOff x="1371" y="2587"/>
                <a:chExt cx="304" cy="117"/>
              </a:xfrm>
            </p:grpSpPr>
            <p:grpSp>
              <p:nvGrpSpPr>
                <p:cNvPr id="1261816" name="Group 248"/>
                <p:cNvGrpSpPr/>
                <p:nvPr/>
              </p:nvGrpSpPr>
              <p:grpSpPr bwMode="auto">
                <a:xfrm>
                  <a:off x="1371" y="2587"/>
                  <a:ext cx="301" cy="115"/>
                  <a:chOff x="1371" y="2587"/>
                  <a:chExt cx="301" cy="115"/>
                </a:xfrm>
              </p:grpSpPr>
              <p:sp>
                <p:nvSpPr>
                  <p:cNvPr id="1261817"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18"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19"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0"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1"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2"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3"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4"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1261825" name="Group 257"/>
                <p:cNvGrpSpPr/>
                <p:nvPr/>
              </p:nvGrpSpPr>
              <p:grpSpPr bwMode="auto">
                <a:xfrm>
                  <a:off x="1373" y="2590"/>
                  <a:ext cx="302" cy="114"/>
                  <a:chOff x="1373" y="2590"/>
                  <a:chExt cx="302" cy="114"/>
                </a:xfrm>
              </p:grpSpPr>
              <p:sp>
                <p:nvSpPr>
                  <p:cNvPr id="126182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2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3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3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3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3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1261834"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1261835"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1261836" name="Group 268"/>
            <p:cNvGrpSpPr/>
            <p:nvPr/>
          </p:nvGrpSpPr>
          <p:grpSpPr bwMode="auto">
            <a:xfrm>
              <a:off x="5553209" y="4386264"/>
              <a:ext cx="703394" cy="384175"/>
              <a:chOff x="3488" y="2569"/>
              <a:chExt cx="439" cy="262"/>
            </a:xfrm>
          </p:grpSpPr>
          <p:sp>
            <p:nvSpPr>
              <p:cNvPr id="1261837"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1261838"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39"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40"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1261841" name="Group 273"/>
              <p:cNvGrpSpPr/>
              <p:nvPr/>
            </p:nvGrpSpPr>
            <p:grpSpPr bwMode="auto">
              <a:xfrm>
                <a:off x="3555" y="2587"/>
                <a:ext cx="304" cy="117"/>
                <a:chOff x="3555" y="2587"/>
                <a:chExt cx="304" cy="117"/>
              </a:xfrm>
            </p:grpSpPr>
            <p:grpSp>
              <p:nvGrpSpPr>
                <p:cNvPr id="1261842" name="Group 274"/>
                <p:cNvGrpSpPr/>
                <p:nvPr/>
              </p:nvGrpSpPr>
              <p:grpSpPr bwMode="auto">
                <a:xfrm>
                  <a:off x="3555" y="2587"/>
                  <a:ext cx="301" cy="115"/>
                  <a:chOff x="3555" y="2587"/>
                  <a:chExt cx="301" cy="115"/>
                </a:xfrm>
              </p:grpSpPr>
              <p:sp>
                <p:nvSpPr>
                  <p:cNvPr id="1261843"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4"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5"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6"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7"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8"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49"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0"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1261851" name="Group 283"/>
                <p:cNvGrpSpPr/>
                <p:nvPr/>
              </p:nvGrpSpPr>
              <p:grpSpPr bwMode="auto">
                <a:xfrm>
                  <a:off x="3557" y="2590"/>
                  <a:ext cx="302" cy="114"/>
                  <a:chOff x="3557" y="2590"/>
                  <a:chExt cx="302" cy="114"/>
                </a:xfrm>
              </p:grpSpPr>
              <p:sp>
                <p:nvSpPr>
                  <p:cNvPr id="1261852"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3"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4"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5"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6"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7"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8"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859"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1261860"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1261861"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1261862"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3"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4"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5"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6"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7"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68"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69"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1261870"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71"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1261872"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73"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1261874"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75"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1261876"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77"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1261878"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79"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1261880"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81" name="Rectangle 313"/>
            <p:cNvSpPr>
              <a:spLocks noChangeArrowheads="1"/>
            </p:cNvSpPr>
            <p:nvPr/>
          </p:nvSpPr>
          <p:spPr bwMode="auto">
            <a:xfrm>
              <a:off x="272480"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1261882"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83"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1261884"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85" name="Rectangle 317"/>
            <p:cNvSpPr>
              <a:spLocks noChangeArrowheads="1"/>
            </p:cNvSpPr>
            <p:nvPr/>
          </p:nvSpPr>
          <p:spPr bwMode="auto">
            <a:xfrm>
              <a:off x="272480"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222.1.3.1</a:t>
              </a:r>
            </a:p>
          </p:txBody>
        </p:sp>
        <p:sp>
          <p:nvSpPr>
            <p:cNvPr id="1261886"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87"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88"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889"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0"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1261891"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2"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1261893"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4"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1261895"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6"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1261897"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8"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899"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1261900"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01"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1261902"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1261903"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04"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1261905"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06"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1261907"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08"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1261909"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1910"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11"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12"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13"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1261914"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1261915"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1261916"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17"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1261918"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19"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20"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1261921" name="Group 353"/>
            <p:cNvGrpSpPr/>
            <p:nvPr/>
          </p:nvGrpSpPr>
          <p:grpSpPr bwMode="auto">
            <a:xfrm>
              <a:off x="3363913" y="898525"/>
              <a:ext cx="548614" cy="514350"/>
              <a:chOff x="1813" y="593"/>
              <a:chExt cx="343" cy="352"/>
            </a:xfrm>
          </p:grpSpPr>
          <p:grpSp>
            <p:nvGrpSpPr>
              <p:cNvPr id="1261922" name="Group 354"/>
              <p:cNvGrpSpPr/>
              <p:nvPr/>
            </p:nvGrpSpPr>
            <p:grpSpPr bwMode="auto">
              <a:xfrm>
                <a:off x="1821" y="599"/>
                <a:ext cx="335" cy="346"/>
                <a:chOff x="1821" y="599"/>
                <a:chExt cx="335" cy="346"/>
              </a:xfrm>
            </p:grpSpPr>
            <p:sp>
              <p:nvSpPr>
                <p:cNvPr id="1261923"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24"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25"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26"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27"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28"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29"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30"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931" name="Group 363"/>
                <p:cNvGrpSpPr/>
                <p:nvPr/>
              </p:nvGrpSpPr>
              <p:grpSpPr bwMode="auto">
                <a:xfrm>
                  <a:off x="1821" y="895"/>
                  <a:ext cx="335" cy="50"/>
                  <a:chOff x="1821" y="895"/>
                  <a:chExt cx="335" cy="50"/>
                </a:xfrm>
              </p:grpSpPr>
              <p:sp>
                <p:nvSpPr>
                  <p:cNvPr id="1261932"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33"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34"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935" name="Group 367"/>
              <p:cNvGrpSpPr/>
              <p:nvPr/>
            </p:nvGrpSpPr>
            <p:grpSpPr bwMode="auto">
              <a:xfrm>
                <a:off x="1813" y="593"/>
                <a:ext cx="335" cy="346"/>
                <a:chOff x="1813" y="593"/>
                <a:chExt cx="335" cy="346"/>
              </a:xfrm>
            </p:grpSpPr>
            <p:sp>
              <p:nvSpPr>
                <p:cNvPr id="1261936"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37"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38"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39"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40"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41"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42"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43"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944" name="Group 376"/>
                <p:cNvGrpSpPr/>
                <p:nvPr/>
              </p:nvGrpSpPr>
              <p:grpSpPr bwMode="auto">
                <a:xfrm>
                  <a:off x="1813" y="888"/>
                  <a:ext cx="335" cy="51"/>
                  <a:chOff x="1813" y="888"/>
                  <a:chExt cx="335" cy="51"/>
                </a:xfrm>
              </p:grpSpPr>
              <p:sp>
                <p:nvSpPr>
                  <p:cNvPr id="1261945"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46"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47"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126194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4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126195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1261951" name="Group 383"/>
            <p:cNvGrpSpPr/>
            <p:nvPr/>
          </p:nvGrpSpPr>
          <p:grpSpPr bwMode="auto">
            <a:xfrm>
              <a:off x="5051029" y="898525"/>
              <a:ext cx="548613" cy="514350"/>
              <a:chOff x="2868" y="593"/>
              <a:chExt cx="343" cy="352"/>
            </a:xfrm>
          </p:grpSpPr>
          <p:grpSp>
            <p:nvGrpSpPr>
              <p:cNvPr id="1261952" name="Group 384"/>
              <p:cNvGrpSpPr/>
              <p:nvPr/>
            </p:nvGrpSpPr>
            <p:grpSpPr bwMode="auto">
              <a:xfrm>
                <a:off x="2877" y="599"/>
                <a:ext cx="334" cy="346"/>
                <a:chOff x="2877" y="599"/>
                <a:chExt cx="334" cy="346"/>
              </a:xfrm>
            </p:grpSpPr>
            <p:sp>
              <p:nvSpPr>
                <p:cNvPr id="1261953"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54"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55"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56"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57"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58"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59"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60"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961" name="Group 393"/>
                <p:cNvGrpSpPr/>
                <p:nvPr/>
              </p:nvGrpSpPr>
              <p:grpSpPr bwMode="auto">
                <a:xfrm>
                  <a:off x="2877" y="895"/>
                  <a:ext cx="334" cy="50"/>
                  <a:chOff x="2877" y="895"/>
                  <a:chExt cx="334" cy="50"/>
                </a:xfrm>
              </p:grpSpPr>
              <p:sp>
                <p:nvSpPr>
                  <p:cNvPr id="1261962"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63"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64"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965" name="Group 397"/>
              <p:cNvGrpSpPr/>
              <p:nvPr/>
            </p:nvGrpSpPr>
            <p:grpSpPr bwMode="auto">
              <a:xfrm>
                <a:off x="2868" y="593"/>
                <a:ext cx="335" cy="346"/>
                <a:chOff x="2868" y="593"/>
                <a:chExt cx="335" cy="346"/>
              </a:xfrm>
            </p:grpSpPr>
            <p:sp>
              <p:nvSpPr>
                <p:cNvPr id="1261966"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67"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68"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69"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70"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71"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72"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73"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974" name="Group 406"/>
                <p:cNvGrpSpPr/>
                <p:nvPr/>
              </p:nvGrpSpPr>
              <p:grpSpPr bwMode="auto">
                <a:xfrm>
                  <a:off x="2868" y="888"/>
                  <a:ext cx="335" cy="51"/>
                  <a:chOff x="2868" y="888"/>
                  <a:chExt cx="335" cy="51"/>
                </a:xfrm>
              </p:grpSpPr>
              <p:sp>
                <p:nvSpPr>
                  <p:cNvPr id="1261975"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76"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77"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1261978"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1261979" name="Group 411"/>
            <p:cNvGrpSpPr/>
            <p:nvPr/>
          </p:nvGrpSpPr>
          <p:grpSpPr bwMode="auto">
            <a:xfrm>
              <a:off x="6724386" y="898525"/>
              <a:ext cx="548614" cy="514350"/>
              <a:chOff x="3915" y="593"/>
              <a:chExt cx="343" cy="352"/>
            </a:xfrm>
          </p:grpSpPr>
          <p:grpSp>
            <p:nvGrpSpPr>
              <p:cNvPr id="1261980" name="Group 412"/>
              <p:cNvGrpSpPr/>
              <p:nvPr/>
            </p:nvGrpSpPr>
            <p:grpSpPr bwMode="auto">
              <a:xfrm>
                <a:off x="3924" y="599"/>
                <a:ext cx="334" cy="346"/>
                <a:chOff x="3924" y="599"/>
                <a:chExt cx="334" cy="346"/>
              </a:xfrm>
            </p:grpSpPr>
            <p:sp>
              <p:nvSpPr>
                <p:cNvPr id="1261981"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82"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83"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84"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85"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86"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87"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88"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1989" name="Group 421"/>
                <p:cNvGrpSpPr/>
                <p:nvPr/>
              </p:nvGrpSpPr>
              <p:grpSpPr bwMode="auto">
                <a:xfrm>
                  <a:off x="3924" y="895"/>
                  <a:ext cx="334" cy="50"/>
                  <a:chOff x="3924" y="895"/>
                  <a:chExt cx="334" cy="50"/>
                </a:xfrm>
              </p:grpSpPr>
              <p:sp>
                <p:nvSpPr>
                  <p:cNvPr id="1261990"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1"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2"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1261993" name="Group 425"/>
              <p:cNvGrpSpPr/>
              <p:nvPr/>
            </p:nvGrpSpPr>
            <p:grpSpPr bwMode="auto">
              <a:xfrm>
                <a:off x="3915" y="593"/>
                <a:ext cx="335" cy="346"/>
                <a:chOff x="3915" y="593"/>
                <a:chExt cx="335" cy="346"/>
              </a:xfrm>
            </p:grpSpPr>
            <p:sp>
              <p:nvSpPr>
                <p:cNvPr id="1261994"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5"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6"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7"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1998"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1999"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2000"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1262001"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1262002" name="Group 434"/>
                <p:cNvGrpSpPr/>
                <p:nvPr/>
              </p:nvGrpSpPr>
              <p:grpSpPr bwMode="auto">
                <a:xfrm>
                  <a:off x="3915" y="888"/>
                  <a:ext cx="335" cy="51"/>
                  <a:chOff x="3915" y="888"/>
                  <a:chExt cx="335" cy="51"/>
                </a:xfrm>
              </p:grpSpPr>
              <p:sp>
                <p:nvSpPr>
                  <p:cNvPr id="1262003"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2004"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1262005"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91385" y="1198075"/>
            <a:ext cx="9114143" cy="5399576"/>
            <a:chOff x="272480" y="898525"/>
            <a:chExt cx="9545961"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72480"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72480"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anose="02010609060101010101" pitchFamily="2" charset="-122"/>
              </a:rPr>
              <a:t>在同一个局域网上的主机或路由器的</a:t>
            </a:r>
          </a:p>
          <a:p>
            <a:pPr algn="ctr">
              <a:lnSpc>
                <a:spcPct val="110000"/>
              </a:lnSpc>
            </a:pP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地址中的网络号必须是一样的。</a:t>
            </a:r>
          </a:p>
          <a:p>
            <a:pPr algn="ctr">
              <a:lnSpc>
                <a:spcPct val="110000"/>
              </a:lnSpc>
            </a:pPr>
            <a:r>
              <a:rPr kumimoji="0" lang="zh-CN" altLang="en-US" sz="2800" b="1" dirty="0">
                <a:solidFill>
                  <a:srgbClr val="000099"/>
                </a:solidFill>
                <a:latin typeface="+mn-lt"/>
                <a:ea typeface="黑体" panose="02010609060101010101" pitchFamily="2" charset="-122"/>
              </a:rPr>
              <a:t>图中的网络号就是 </a:t>
            </a: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 </a:t>
            </a:r>
            <a:r>
              <a:rPr kumimoji="0" lang="en-US" altLang="zh-CN" sz="2800" b="1" dirty="0">
                <a:solidFill>
                  <a:srgbClr val="000099"/>
                </a:solidFill>
                <a:latin typeface="+mn-lt"/>
                <a:ea typeface="黑体" panose="02010609060101010101" pitchFamily="2" charset="-122"/>
              </a:rPr>
              <a:t>net-id</a:t>
            </a:r>
          </a:p>
        </p:txBody>
      </p:sp>
      <p:grpSp>
        <p:nvGrpSpPr>
          <p:cNvPr id="1263031" name="Group 439"/>
          <p:cNvGrpSpPr/>
          <p:nvPr/>
        </p:nvGrpSpPr>
        <p:grpSpPr bwMode="auto">
          <a:xfrm>
            <a:off x="4176464" y="3644454"/>
            <a:ext cx="5529064" cy="2474913"/>
            <a:chOff x="2381" y="2250"/>
            <a:chExt cx="3141" cy="1559"/>
          </a:xfrm>
        </p:grpSpPr>
        <p:sp>
          <p:nvSpPr>
            <p:cNvPr id="1263032" name="Line 440"/>
            <p:cNvSpPr>
              <a:spLocks noChangeShapeType="1"/>
            </p:cNvSpPr>
            <p:nvPr/>
          </p:nvSpPr>
          <p:spPr bwMode="auto">
            <a:xfrm>
              <a:off x="4977" y="2250"/>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3" name="Line 441"/>
            <p:cNvSpPr>
              <a:spLocks noChangeShapeType="1"/>
            </p:cNvSpPr>
            <p:nvPr/>
          </p:nvSpPr>
          <p:spPr bwMode="auto">
            <a:xfrm>
              <a:off x="3177" y="3809"/>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4" name="Line 442"/>
            <p:cNvSpPr>
              <a:spLocks noChangeShapeType="1"/>
            </p:cNvSpPr>
            <p:nvPr/>
          </p:nvSpPr>
          <p:spPr bwMode="auto">
            <a:xfrm>
              <a:off x="2381" y="3793"/>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5" name="Line 443"/>
            <p:cNvSpPr>
              <a:spLocks noChangeShapeType="1"/>
            </p:cNvSpPr>
            <p:nvPr/>
          </p:nvSpPr>
          <p:spPr bwMode="auto">
            <a:xfrm>
              <a:off x="4977" y="2931"/>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6" name="Line 444"/>
            <p:cNvSpPr>
              <a:spLocks noChangeShapeType="1"/>
            </p:cNvSpPr>
            <p:nvPr/>
          </p:nvSpPr>
          <p:spPr bwMode="auto">
            <a:xfrm>
              <a:off x="3678" y="2885"/>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263030"/>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263031"/>
                                        </p:tgtEl>
                                        <p:attrNameLst>
                                          <p:attrName>style.visibility</p:attrName>
                                        </p:attrNameLst>
                                      </p:cBhvr>
                                      <p:to>
                                        <p:strVal val="visible"/>
                                      </p:to>
                                    </p:set>
                                  </p:childTnLst>
                                </p:cTn>
                              </p:par>
                            </p:childTnLst>
                          </p:cTn>
                        </p:par>
                        <p:par>
                          <p:cTn id="10" fill="hold">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126303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3030"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anose="02010609060101010101" pitchFamily="2" charset="-122"/>
              </a:rPr>
              <a:t>在同一个局域网上的主机或路由器的</a:t>
            </a:r>
          </a:p>
          <a:p>
            <a:pPr algn="ctr">
              <a:lnSpc>
                <a:spcPct val="110000"/>
              </a:lnSpc>
            </a:pP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地址中的网络号必须是一样的。</a:t>
            </a:r>
          </a:p>
          <a:p>
            <a:pPr algn="ctr">
              <a:lnSpc>
                <a:spcPct val="110000"/>
              </a:lnSpc>
            </a:pPr>
            <a:r>
              <a:rPr kumimoji="0" lang="zh-CN" altLang="en-US" sz="2800" b="1" dirty="0">
                <a:solidFill>
                  <a:srgbClr val="000099"/>
                </a:solidFill>
                <a:latin typeface="+mn-lt"/>
                <a:ea typeface="黑体" panose="02010609060101010101" pitchFamily="2" charset="-122"/>
              </a:rPr>
              <a:t>图中的网络号就是 </a:t>
            </a: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 </a:t>
            </a:r>
            <a:r>
              <a:rPr kumimoji="0" lang="en-US" altLang="zh-CN" sz="2800" b="1" dirty="0">
                <a:solidFill>
                  <a:srgbClr val="000099"/>
                </a:solidFill>
                <a:latin typeface="+mn-lt"/>
                <a:ea typeface="黑体" panose="02010609060101010101" pitchFamily="2" charset="-122"/>
              </a:rPr>
              <a:t>net-id</a:t>
            </a:r>
            <a:r>
              <a:rPr kumimoji="0" lang="zh-CN" altLang="en-US" sz="2800" b="1" dirty="0">
                <a:solidFill>
                  <a:srgbClr val="00B050"/>
                </a:solidFill>
                <a:latin typeface="+mn-lt"/>
                <a:ea typeface="黑体" panose="02010609060101010101" pitchFamily="2" charset="-122"/>
              </a:rPr>
              <a:t>。</a:t>
            </a:r>
            <a:endParaRPr kumimoji="0" lang="en-US" altLang="zh-CN" sz="2800" b="1" dirty="0">
              <a:solidFill>
                <a:srgbClr val="00B050"/>
              </a:solidFill>
              <a:latin typeface="+mn-lt"/>
              <a:ea typeface="黑体" panose="02010609060101010101" pitchFamily="2" charset="-122"/>
            </a:endParaRPr>
          </a:p>
        </p:txBody>
      </p:sp>
      <p:grpSp>
        <p:nvGrpSpPr>
          <p:cNvPr id="884" name="Group 439"/>
          <p:cNvGrpSpPr/>
          <p:nvPr/>
        </p:nvGrpSpPr>
        <p:grpSpPr bwMode="auto">
          <a:xfrm>
            <a:off x="545307" y="3593059"/>
            <a:ext cx="2319336" cy="1563688"/>
            <a:chOff x="235" y="2149"/>
            <a:chExt cx="1461" cy="985"/>
          </a:xfrm>
        </p:grpSpPr>
        <p:sp>
          <p:nvSpPr>
            <p:cNvPr id="885" name="Line 440"/>
            <p:cNvSpPr>
              <a:spLocks noChangeShapeType="1"/>
            </p:cNvSpPr>
            <p:nvPr/>
          </p:nvSpPr>
          <p:spPr bwMode="auto">
            <a:xfrm>
              <a:off x="235" y="2149"/>
              <a:ext cx="66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6" name="Line 441"/>
            <p:cNvSpPr>
              <a:spLocks noChangeShapeType="1"/>
            </p:cNvSpPr>
            <p:nvPr/>
          </p:nvSpPr>
          <p:spPr bwMode="auto">
            <a:xfrm>
              <a:off x="246" y="2841"/>
              <a:ext cx="65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7" name="Line 442"/>
            <p:cNvSpPr>
              <a:spLocks noChangeShapeType="1"/>
            </p:cNvSpPr>
            <p:nvPr/>
          </p:nvSpPr>
          <p:spPr bwMode="auto">
            <a:xfrm>
              <a:off x="1151" y="3134"/>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884"/>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8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047778" y="3066867"/>
            <a:ext cx="7991871" cy="1514261"/>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anose="02010609060101010101" pitchFamily="2" charset="-122"/>
              </a:rPr>
              <a:t>在同一个局域网上的主机或路由器的</a:t>
            </a:r>
          </a:p>
          <a:p>
            <a:pPr algn="ctr">
              <a:lnSpc>
                <a:spcPct val="110000"/>
              </a:lnSpc>
            </a:pP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地址中的网络号必须是一样的。</a:t>
            </a:r>
          </a:p>
          <a:p>
            <a:pPr algn="ctr">
              <a:lnSpc>
                <a:spcPct val="110000"/>
              </a:lnSpc>
            </a:pPr>
            <a:r>
              <a:rPr kumimoji="0" lang="zh-CN" altLang="en-US" sz="2800" b="1" dirty="0">
                <a:solidFill>
                  <a:srgbClr val="000099"/>
                </a:solidFill>
                <a:latin typeface="+mn-lt"/>
                <a:ea typeface="黑体" panose="02010609060101010101" pitchFamily="2" charset="-122"/>
              </a:rPr>
              <a:t>图中的网络号就是 </a:t>
            </a: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 </a:t>
            </a:r>
            <a:r>
              <a:rPr kumimoji="0" lang="en-US" altLang="zh-CN" sz="2800" b="1" dirty="0">
                <a:solidFill>
                  <a:srgbClr val="000099"/>
                </a:solidFill>
                <a:latin typeface="+mn-lt"/>
                <a:ea typeface="黑体" panose="02010609060101010101" pitchFamily="2" charset="-122"/>
              </a:rPr>
              <a:t>net-id</a:t>
            </a:r>
            <a:r>
              <a:rPr kumimoji="0" lang="zh-CN" altLang="en-US" sz="2800" b="1" dirty="0">
                <a:solidFill>
                  <a:srgbClr val="00B050"/>
                </a:solidFill>
                <a:latin typeface="+mn-lt"/>
                <a:ea typeface="黑体" panose="02010609060101010101" pitchFamily="2" charset="-122"/>
              </a:rPr>
              <a:t>。</a:t>
            </a:r>
            <a:endParaRPr kumimoji="0" lang="en-US" altLang="zh-CN" sz="2800" b="1" dirty="0">
              <a:solidFill>
                <a:srgbClr val="00B050"/>
              </a:solidFill>
              <a:latin typeface="+mn-lt"/>
              <a:ea typeface="黑体" panose="02010609060101010101" pitchFamily="2" charset="-122"/>
            </a:endParaRPr>
          </a:p>
        </p:txBody>
      </p:sp>
      <p:grpSp>
        <p:nvGrpSpPr>
          <p:cNvPr id="443" name="Group 439"/>
          <p:cNvGrpSpPr/>
          <p:nvPr/>
        </p:nvGrpSpPr>
        <p:grpSpPr bwMode="auto">
          <a:xfrm>
            <a:off x="3938165" y="2028578"/>
            <a:ext cx="4177757" cy="896938"/>
            <a:chOff x="2189" y="1097"/>
            <a:chExt cx="2448" cy="565"/>
          </a:xfrm>
        </p:grpSpPr>
        <p:sp>
          <p:nvSpPr>
            <p:cNvPr id="444" name="Line 440"/>
            <p:cNvSpPr>
              <a:spLocks noChangeShapeType="1"/>
            </p:cNvSpPr>
            <p:nvPr/>
          </p:nvSpPr>
          <p:spPr bwMode="auto">
            <a:xfrm>
              <a:off x="2189" y="1105"/>
              <a:ext cx="608"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3121" y="1097"/>
              <a:ext cx="599"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4092" y="1097"/>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7" name="Line 443"/>
            <p:cNvSpPr>
              <a:spLocks noChangeShapeType="1"/>
            </p:cNvSpPr>
            <p:nvPr/>
          </p:nvSpPr>
          <p:spPr bwMode="auto">
            <a:xfrm>
              <a:off x="2745" y="1662"/>
              <a:ext cx="545"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sp>
        <p:nvSpPr>
          <p:cNvPr id="449" name="AutoShape 2"/>
          <p:cNvSpPr>
            <a:spLocks noChangeArrowheads="1"/>
          </p:cNvSpPr>
          <p:nvPr/>
        </p:nvSpPr>
        <p:spPr bwMode="auto">
          <a:xfrm>
            <a:off x="1728569" y="2046366"/>
            <a:ext cx="6745318" cy="3696979"/>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492073" y="2751770"/>
            <a:ext cx="4953901" cy="300360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377084" y="5487655"/>
            <a:ext cx="0" cy="8106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4096328" y="5466597"/>
            <a:ext cx="0" cy="807681"/>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708768" y="5266558"/>
            <a:ext cx="2563155" cy="200039"/>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654631" y="4624323"/>
            <a:ext cx="1737232" cy="242154"/>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216218" y="4732616"/>
            <a:ext cx="249255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743347" y="2673558"/>
            <a:ext cx="960568" cy="2242553"/>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3180094" y="3270670"/>
            <a:ext cx="1129693" cy="1033290"/>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838509" y="3266159"/>
            <a:ext cx="1004902" cy="1156622"/>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896053" y="4676967"/>
            <a:ext cx="1067298"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309860" y="4168594"/>
            <a:ext cx="586193" cy="28577"/>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309860" y="3123272"/>
            <a:ext cx="586193"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882892" y="3043558"/>
            <a:ext cx="1637070" cy="1553693"/>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570913" y="2026813"/>
            <a:ext cx="5195275" cy="837761"/>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700582" y="3027012"/>
            <a:ext cx="1226570" cy="1505564"/>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268639" y="4227252"/>
            <a:ext cx="648589"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281775" y="3190956"/>
            <a:ext cx="646946"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86401" y="4866479"/>
            <a:ext cx="177537"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4038857" y="5672654"/>
            <a:ext cx="121508" cy="112804"/>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930560" y="3773026"/>
            <a:ext cx="522155" cy="488820"/>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804053" y="6108832"/>
            <a:ext cx="520512" cy="488819"/>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117649" y="6093791"/>
            <a:ext cx="522155" cy="488819"/>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930560" y="2724697"/>
            <a:ext cx="522155" cy="490324"/>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769447" y="3812131"/>
            <a:ext cx="523796" cy="487315"/>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769447" y="2792378"/>
            <a:ext cx="523796" cy="488820"/>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296701" y="2166690"/>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615537" y="2448630"/>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4022437" y="1751570"/>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935413"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620100"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510086"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8664"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11032" y="168539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643112" y="2372746"/>
            <a:ext cx="27914" cy="5098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285156" y="2839005"/>
            <a:ext cx="669934" cy="365486"/>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756410" y="2593844"/>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831942" y="260286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896004" y="2733722"/>
            <a:ext cx="426919" cy="332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4002734" y="272469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602062" y="2641973"/>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373874" y="1877910"/>
            <a:ext cx="745466"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385221" y="4200180"/>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390146" y="3151850"/>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87720" y="3839205"/>
            <a:ext cx="1044310"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326158" y="4328025"/>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485382" y="4323511"/>
            <a:ext cx="1042668"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580617" y="4380667"/>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485382" y="3270670"/>
            <a:ext cx="1042668"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580617" y="3329328"/>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501876"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4127525" y="5657614"/>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166420"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332750" y="5684686"/>
            <a:ext cx="95236" cy="88739"/>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3602" y="3147338"/>
            <a:ext cx="926086"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91449" y="3747457"/>
            <a:ext cx="1151532"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57493" y="2870591"/>
            <a:ext cx="745466"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630025" y="4502496"/>
            <a:ext cx="671576" cy="363982"/>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633237" y="4502496"/>
            <a:ext cx="671576" cy="363982"/>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620148" y="4695015"/>
            <a:ext cx="96877" cy="88739"/>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342602" y="4688999"/>
            <a:ext cx="95236" cy="85731"/>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767879" y="4352090"/>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858213" y="3242094"/>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3142328" y="4245301"/>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166932" y="3264653"/>
            <a:ext cx="93595" cy="8573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5035548" y="2927745"/>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5058537" y="3081158"/>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3058587" y="3064614"/>
            <a:ext cx="1041025"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3181736" y="3052581"/>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296700" y="3687295"/>
            <a:ext cx="1044310"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262219" y="392493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746534" y="3562457"/>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766237" y="40422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181686" y="4400219"/>
            <a:ext cx="104431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5030623" y="4828876"/>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344294" y="4400219"/>
            <a:ext cx="1041025"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434603" y="4812332"/>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725311" y="3201483"/>
            <a:ext cx="1042668" cy="338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587729" y="3260142"/>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841867" y="4460381"/>
            <a:ext cx="1042668"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968302" y="48574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725311" y="4251318"/>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587729" y="4309975"/>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694088" y="4135504"/>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685878" y="3085672"/>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411640" y="4645381"/>
            <a:ext cx="95236"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953499" y="4514528"/>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283540" y="4303960"/>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336010" y="4458877"/>
            <a:ext cx="428560"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372157" y="4302455"/>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884560" y="3210508"/>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966398" y="3194573"/>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919041" y="2929249"/>
            <a:ext cx="742182"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2043354" y="2913314"/>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426369" y="3962537"/>
            <a:ext cx="430202"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416493" y="3270670"/>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414849" y="3466198"/>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743298" y="3616603"/>
            <a:ext cx="426919"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656273" y="380021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295008" y="434757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4047068" y="3616603"/>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4001092" y="380021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720261" y="3285711"/>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754743" y="3481238"/>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896053" y="2801403"/>
            <a:ext cx="0" cy="2065075"/>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950189" y="433253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64733" y="5024404"/>
            <a:ext cx="600971" cy="376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271923" y="2869086"/>
            <a:ext cx="0" cy="253133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16200000">
            <a:off x="4754767" y="4294212"/>
            <a:ext cx="0" cy="234477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221071" y="4666437"/>
            <a:ext cx="2050852"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441097" y="4600259"/>
            <a:ext cx="123149" cy="11280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954" y="3466197"/>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738469" y="2162859"/>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16200000">
            <a:off x="5561809" y="309040"/>
            <a:ext cx="0" cy="410334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349268" y="5997531"/>
            <a:ext cx="734635"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751557" y="5597452"/>
            <a:ext cx="438413" cy="400080"/>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825398" y="1623725"/>
            <a:ext cx="0" cy="7369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767929" y="1986203"/>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542975" y="1198075"/>
            <a:ext cx="523797" cy="487315"/>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20721" y="1623725"/>
            <a:ext cx="0" cy="7369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423060" y="1610188"/>
            <a:ext cx="0" cy="738494"/>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377085" y="1999740"/>
            <a:ext cx="95236"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153773" y="1198075"/>
            <a:ext cx="523796" cy="487315"/>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74746" y="1999740"/>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51435" y="1198075"/>
            <a:ext cx="523797" cy="487315"/>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anose="02010609060101010101" pitchFamily="2" charset="-122"/>
              </a:rPr>
              <a:t>在同一个局域网上的主机或路由器的</a:t>
            </a:r>
          </a:p>
          <a:p>
            <a:pPr algn="ctr">
              <a:lnSpc>
                <a:spcPct val="110000"/>
              </a:lnSpc>
            </a:pP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地址中的网络号必须是一样的。</a:t>
            </a:r>
          </a:p>
          <a:p>
            <a:pPr algn="ctr">
              <a:lnSpc>
                <a:spcPct val="110000"/>
              </a:lnSpc>
            </a:pPr>
            <a:r>
              <a:rPr kumimoji="0" lang="zh-CN" altLang="en-US" sz="2800" b="1" dirty="0">
                <a:solidFill>
                  <a:srgbClr val="000099"/>
                </a:solidFill>
                <a:latin typeface="+mn-lt"/>
                <a:ea typeface="黑体" panose="02010609060101010101" pitchFamily="2" charset="-122"/>
              </a:rPr>
              <a:t>图中的网络号就是 </a:t>
            </a:r>
            <a:r>
              <a:rPr kumimoji="0" lang="en-US" altLang="zh-CN" sz="2800" b="1" dirty="0">
                <a:solidFill>
                  <a:srgbClr val="000099"/>
                </a:solidFill>
                <a:latin typeface="+mn-lt"/>
                <a:ea typeface="黑体" panose="02010609060101010101" pitchFamily="2" charset="-122"/>
              </a:rPr>
              <a:t>IP </a:t>
            </a:r>
            <a:r>
              <a:rPr kumimoji="0" lang="zh-CN" altLang="en-US" sz="2800" b="1" dirty="0">
                <a:solidFill>
                  <a:srgbClr val="000099"/>
                </a:solidFill>
                <a:latin typeface="+mn-lt"/>
                <a:ea typeface="黑体" panose="02010609060101010101" pitchFamily="2" charset="-122"/>
              </a:rPr>
              <a:t>地址中的 </a:t>
            </a:r>
            <a:r>
              <a:rPr kumimoji="0" lang="en-US" altLang="zh-CN" sz="2800" b="1" dirty="0">
                <a:solidFill>
                  <a:srgbClr val="000099"/>
                </a:solidFill>
                <a:latin typeface="+mn-lt"/>
                <a:ea typeface="黑体" panose="02010609060101010101" pitchFamily="2" charset="-122"/>
              </a:rPr>
              <a:t>net-id</a:t>
            </a:r>
            <a:r>
              <a:rPr kumimoji="0" lang="zh-CN" altLang="en-US" sz="2800" b="1" dirty="0">
                <a:solidFill>
                  <a:srgbClr val="00B050"/>
                </a:solidFill>
                <a:latin typeface="+mn-lt"/>
                <a:ea typeface="黑体" panose="02010609060101010101" pitchFamily="2" charset="-122"/>
              </a:rPr>
              <a:t>。</a:t>
            </a:r>
            <a:endParaRPr kumimoji="0" lang="en-US" altLang="zh-CN" sz="2800" b="1" dirty="0">
              <a:solidFill>
                <a:srgbClr val="00B050"/>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45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anose="02010609060101010101" pitchFamily="2" charset="-122"/>
              </a:rPr>
              <a:t>路由器总是具有两个或两个以上的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p>
          <a:p>
            <a:pPr algn="ctr">
              <a:lnSpc>
                <a:spcPct val="110000"/>
              </a:lnSpc>
            </a:pPr>
            <a:r>
              <a:rPr lang="zh-CN" altLang="en-US" sz="2800" b="1" dirty="0">
                <a:solidFill>
                  <a:srgbClr val="000099"/>
                </a:solidFill>
                <a:latin typeface="+mn-lt"/>
                <a:ea typeface="黑体" panose="02010609060101010101" pitchFamily="2" charset="-122"/>
              </a:rPr>
              <a:t>路由器的每一个接口都有一个</a:t>
            </a:r>
          </a:p>
          <a:p>
            <a:pPr algn="ctr">
              <a:lnSpc>
                <a:spcPct val="110000"/>
              </a:lnSpc>
            </a:pPr>
            <a:r>
              <a:rPr lang="zh-CN" altLang="en-US" sz="2800" b="1" dirty="0">
                <a:solidFill>
                  <a:srgbClr val="000099"/>
                </a:solidFill>
                <a:latin typeface="+mn-lt"/>
                <a:ea typeface="黑体" panose="02010609060101010101" pitchFamily="2" charset="-122"/>
              </a:rPr>
              <a:t>不同网络号的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anose="02010609060101010101" pitchFamily="2" charset="-122"/>
            </a:endParaRPr>
          </a:p>
        </p:txBody>
      </p:sp>
      <p:grpSp>
        <p:nvGrpSpPr>
          <p:cNvPr id="443" name="Group 439"/>
          <p:cNvGrpSpPr/>
          <p:nvPr/>
        </p:nvGrpSpPr>
        <p:grpSpPr bwMode="auto">
          <a:xfrm>
            <a:off x="3152378" y="2924949"/>
            <a:ext cx="3024188" cy="504826"/>
            <a:chOff x="1701" y="1706"/>
            <a:chExt cx="1905" cy="318"/>
          </a:xfrm>
        </p:grpSpPr>
        <p:sp>
          <p:nvSpPr>
            <p:cNvPr id="444" name="Line 440"/>
            <p:cNvSpPr>
              <a:spLocks noChangeShapeType="1"/>
            </p:cNvSpPr>
            <p:nvPr/>
          </p:nvSpPr>
          <p:spPr bwMode="auto">
            <a:xfrm>
              <a:off x="2699" y="1706"/>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2880" y="2024"/>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1701" y="1979"/>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anose="02010609060101010101" pitchFamily="2" charset="-122"/>
              </a:rPr>
              <a:t>路由器总是具有两个或两个以上的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p>
          <a:p>
            <a:pPr algn="ctr">
              <a:lnSpc>
                <a:spcPct val="110000"/>
              </a:lnSpc>
            </a:pPr>
            <a:r>
              <a:rPr lang="zh-CN" altLang="en-US" sz="2800" b="1" dirty="0">
                <a:solidFill>
                  <a:srgbClr val="000099"/>
                </a:solidFill>
                <a:latin typeface="+mn-lt"/>
                <a:ea typeface="黑体" panose="02010609060101010101" pitchFamily="2" charset="-122"/>
              </a:rPr>
              <a:t>路由器的每一个接口都有一个</a:t>
            </a:r>
          </a:p>
          <a:p>
            <a:pPr algn="ctr">
              <a:lnSpc>
                <a:spcPct val="110000"/>
              </a:lnSpc>
            </a:pPr>
            <a:r>
              <a:rPr lang="zh-CN" altLang="en-US" sz="2800" b="1" dirty="0">
                <a:solidFill>
                  <a:srgbClr val="000099"/>
                </a:solidFill>
                <a:latin typeface="+mn-lt"/>
                <a:ea typeface="黑体" panose="02010609060101010101" pitchFamily="2" charset="-122"/>
              </a:rPr>
              <a:t>不同网络号的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anose="02010609060101010101" pitchFamily="2" charset="-122"/>
            </a:endParaRPr>
          </a:p>
        </p:txBody>
      </p:sp>
      <p:grpSp>
        <p:nvGrpSpPr>
          <p:cNvPr id="447" name="Group 439"/>
          <p:cNvGrpSpPr/>
          <p:nvPr/>
        </p:nvGrpSpPr>
        <p:grpSpPr bwMode="auto">
          <a:xfrm>
            <a:off x="4970364" y="4345979"/>
            <a:ext cx="2503488" cy="811213"/>
            <a:chOff x="2831" y="2666"/>
            <a:chExt cx="1577" cy="511"/>
          </a:xfrm>
        </p:grpSpPr>
        <p:sp>
          <p:nvSpPr>
            <p:cNvPr id="883" name="Line 440"/>
            <p:cNvSpPr>
              <a:spLocks noChangeShapeType="1"/>
            </p:cNvSpPr>
            <p:nvPr/>
          </p:nvSpPr>
          <p:spPr bwMode="auto">
            <a:xfrm>
              <a:off x="3309" y="2666"/>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4" name="Line 441"/>
            <p:cNvSpPr>
              <a:spLocks noChangeShapeType="1"/>
            </p:cNvSpPr>
            <p:nvPr/>
          </p:nvSpPr>
          <p:spPr bwMode="auto">
            <a:xfrm>
              <a:off x="3682" y="2859"/>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5" name="Line 442"/>
            <p:cNvSpPr>
              <a:spLocks noChangeShapeType="1"/>
            </p:cNvSpPr>
            <p:nvPr/>
          </p:nvSpPr>
          <p:spPr bwMode="auto">
            <a:xfrm>
              <a:off x="2831" y="3177"/>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4" name="Freeform 8"/>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627725" y="3616325"/>
              <a:ext cx="546894" cy="515938"/>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637361" y="6081714"/>
              <a:ext cx="545173" cy="515937"/>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013194" y="6065839"/>
              <a:ext cx="546894" cy="515937"/>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627725" y="2509839"/>
              <a:ext cx="546894" cy="517525"/>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838010" y="3657600"/>
              <a:ext cx="548613" cy="514350"/>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838010" y="2581275"/>
              <a:ext cx="548613" cy="515938"/>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363913" y="898525"/>
              <a:ext cx="548614" cy="514350"/>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051029" y="898525"/>
              <a:ext cx="548613" cy="514350"/>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24386" y="898525"/>
              <a:ext cx="548614" cy="514350"/>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anose="02010609060101010101" pitchFamily="2" charset="-122"/>
              </a:rPr>
              <a:t>路由器总是具有两个或两个以上的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p>
          <a:p>
            <a:pPr algn="ctr">
              <a:lnSpc>
                <a:spcPct val="110000"/>
              </a:lnSpc>
            </a:pPr>
            <a:r>
              <a:rPr lang="zh-CN" altLang="en-US" sz="2800" b="1" dirty="0">
                <a:solidFill>
                  <a:srgbClr val="000099"/>
                </a:solidFill>
                <a:latin typeface="+mn-lt"/>
                <a:ea typeface="黑体" panose="02010609060101010101" pitchFamily="2" charset="-122"/>
              </a:rPr>
              <a:t>路由器的每一个接口都有一个</a:t>
            </a:r>
          </a:p>
          <a:p>
            <a:pPr algn="ctr">
              <a:lnSpc>
                <a:spcPct val="110000"/>
              </a:lnSpc>
            </a:pPr>
            <a:r>
              <a:rPr lang="zh-CN" altLang="en-US" sz="2800" b="1" dirty="0">
                <a:solidFill>
                  <a:srgbClr val="000099"/>
                </a:solidFill>
                <a:latin typeface="+mn-lt"/>
                <a:ea typeface="黑体" panose="02010609060101010101" pitchFamily="2" charset="-122"/>
              </a:rPr>
              <a:t>不同网络号的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anose="02010609060101010101" pitchFamily="2" charset="-122"/>
            </a:endParaRPr>
          </a:p>
        </p:txBody>
      </p:sp>
      <p:grpSp>
        <p:nvGrpSpPr>
          <p:cNvPr id="443" name="Group 439"/>
          <p:cNvGrpSpPr/>
          <p:nvPr/>
        </p:nvGrpSpPr>
        <p:grpSpPr bwMode="auto">
          <a:xfrm>
            <a:off x="1930152" y="4220570"/>
            <a:ext cx="2590800" cy="936625"/>
            <a:chOff x="968" y="2610"/>
            <a:chExt cx="1632" cy="590"/>
          </a:xfrm>
        </p:grpSpPr>
        <p:sp>
          <p:nvSpPr>
            <p:cNvPr id="444" name="Line 440"/>
            <p:cNvSpPr>
              <a:spLocks noChangeShapeType="1"/>
            </p:cNvSpPr>
            <p:nvPr/>
          </p:nvSpPr>
          <p:spPr bwMode="auto">
            <a:xfrm>
              <a:off x="1149" y="2610"/>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1874" y="3176"/>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968" y="3200"/>
              <a:ext cx="726"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sp>
        <p:nvSpPr>
          <p:cNvPr id="449" name="AutoShape 2"/>
          <p:cNvSpPr>
            <a:spLocks noChangeArrowheads="1"/>
          </p:cNvSpPr>
          <p:nvPr/>
        </p:nvSpPr>
        <p:spPr bwMode="auto">
          <a:xfrm>
            <a:off x="1728569" y="2046366"/>
            <a:ext cx="6745318" cy="3696979"/>
          </a:xfrm>
          <a:prstGeom prst="roundRect">
            <a:avLst>
              <a:gd name="adj" fmla="val 24787"/>
            </a:avLst>
          </a:prstGeom>
          <a:solidFill>
            <a:srgbClr val="66CCFF"/>
          </a:solidFill>
          <a:ln w="9525">
            <a:solidFill>
              <a:schemeClr val="tx1"/>
            </a:solidFill>
            <a:prstDash val="dash"/>
            <a:round/>
          </a:ln>
          <a:effectLst/>
        </p:spPr>
        <p:txBody>
          <a:bodyPr wrap="none" anchor="ctr"/>
          <a:lstStyle/>
          <a:p>
            <a:endParaRPr lang="zh-CN" altLang="en-US" b="1">
              <a:latin typeface="+mn-lt"/>
              <a:ea typeface="黑体" panose="02010609060101010101" pitchFamily="2" charset="-122"/>
            </a:endParaRPr>
          </a:p>
        </p:txBody>
      </p:sp>
      <p:sp>
        <p:nvSpPr>
          <p:cNvPr id="450" name="Freeform 4"/>
          <p:cNvSpPr/>
          <p:nvPr/>
        </p:nvSpPr>
        <p:spPr bwMode="auto">
          <a:xfrm>
            <a:off x="3492073" y="2751770"/>
            <a:ext cx="4953901" cy="300360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1" name="Line 5"/>
          <p:cNvSpPr>
            <a:spLocks noChangeShapeType="1"/>
          </p:cNvSpPr>
          <p:nvPr/>
        </p:nvSpPr>
        <p:spPr bwMode="auto">
          <a:xfrm>
            <a:off x="5377084" y="5487655"/>
            <a:ext cx="0" cy="8106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2" name="Line 6"/>
          <p:cNvSpPr>
            <a:spLocks noChangeShapeType="1"/>
          </p:cNvSpPr>
          <p:nvPr/>
        </p:nvSpPr>
        <p:spPr bwMode="auto">
          <a:xfrm>
            <a:off x="4096328" y="5466597"/>
            <a:ext cx="0" cy="807681"/>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3" name="Freeform 7"/>
          <p:cNvSpPr/>
          <p:nvPr/>
        </p:nvSpPr>
        <p:spPr bwMode="auto">
          <a:xfrm>
            <a:off x="5708768" y="5266558"/>
            <a:ext cx="2563155" cy="200039"/>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456" name="Freeform 10"/>
          <p:cNvSpPr/>
          <p:nvPr/>
        </p:nvSpPr>
        <p:spPr bwMode="auto">
          <a:xfrm>
            <a:off x="1743347" y="2673558"/>
            <a:ext cx="960568" cy="2242553"/>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grpSp>
        <p:nvGrpSpPr>
          <p:cNvPr id="3" name="组合 2"/>
          <p:cNvGrpSpPr/>
          <p:nvPr/>
        </p:nvGrpSpPr>
        <p:grpSpPr>
          <a:xfrm>
            <a:off x="3180094" y="3266159"/>
            <a:ext cx="2663317" cy="1600318"/>
            <a:chOff x="3180094" y="3266159"/>
            <a:chExt cx="2663317" cy="1600318"/>
          </a:xfrm>
        </p:grpSpPr>
        <p:sp>
          <p:nvSpPr>
            <p:cNvPr id="454" name="Freeform 8"/>
            <p:cNvSpPr/>
            <p:nvPr/>
          </p:nvSpPr>
          <p:spPr bwMode="auto">
            <a:xfrm>
              <a:off x="3654631" y="4624323"/>
              <a:ext cx="1737232" cy="242154"/>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7" name="Freeform 11"/>
            <p:cNvSpPr/>
            <p:nvPr/>
          </p:nvSpPr>
          <p:spPr bwMode="auto">
            <a:xfrm>
              <a:off x="3180094" y="3270670"/>
              <a:ext cx="1129693" cy="1033290"/>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58" name="Freeform 12"/>
            <p:cNvSpPr/>
            <p:nvPr/>
          </p:nvSpPr>
          <p:spPr bwMode="auto">
            <a:xfrm>
              <a:off x="4838509" y="3266159"/>
              <a:ext cx="1004902" cy="1156622"/>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grpSp>
      <p:sp>
        <p:nvSpPr>
          <p:cNvPr id="459" name="Rectangle 13"/>
          <p:cNvSpPr>
            <a:spLocks noChangeArrowheads="1"/>
          </p:cNvSpPr>
          <p:nvPr/>
        </p:nvSpPr>
        <p:spPr bwMode="auto">
          <a:xfrm>
            <a:off x="1896053" y="4676967"/>
            <a:ext cx="1067298"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0" name="Freeform 14"/>
          <p:cNvSpPr/>
          <p:nvPr/>
        </p:nvSpPr>
        <p:spPr bwMode="auto">
          <a:xfrm>
            <a:off x="1309860" y="4168594"/>
            <a:ext cx="586193" cy="28577"/>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1" name="Rectangle 15"/>
          <p:cNvSpPr>
            <a:spLocks noChangeArrowheads="1"/>
          </p:cNvSpPr>
          <p:nvPr/>
        </p:nvSpPr>
        <p:spPr bwMode="auto">
          <a:xfrm>
            <a:off x="1309860" y="3123272"/>
            <a:ext cx="586193"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2" name="Freeform 16"/>
          <p:cNvSpPr/>
          <p:nvPr/>
        </p:nvSpPr>
        <p:spPr bwMode="auto">
          <a:xfrm>
            <a:off x="2882892" y="3043558"/>
            <a:ext cx="1637070" cy="1553693"/>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ln>
        </p:spPr>
        <p:txBody>
          <a:bodyPr/>
          <a:lstStyle/>
          <a:p>
            <a:endParaRPr lang="zh-CN" altLang="en-US" b="1">
              <a:latin typeface="+mn-lt"/>
              <a:ea typeface="黑体" panose="02010609060101010101" pitchFamily="2" charset="-122"/>
            </a:endParaRPr>
          </a:p>
        </p:txBody>
      </p:sp>
      <p:sp>
        <p:nvSpPr>
          <p:cNvPr id="463" name="Freeform 17"/>
          <p:cNvSpPr/>
          <p:nvPr/>
        </p:nvSpPr>
        <p:spPr bwMode="auto">
          <a:xfrm>
            <a:off x="2570913" y="2026813"/>
            <a:ext cx="5195275" cy="837761"/>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p:spPr>
        <p:txBody>
          <a:bodyPr/>
          <a:lstStyle/>
          <a:p>
            <a:endParaRPr lang="zh-CN" altLang="en-US" b="1">
              <a:latin typeface="+mn-lt"/>
              <a:ea typeface="黑体" panose="02010609060101010101" pitchFamily="2" charset="-122"/>
            </a:endParaRPr>
          </a:p>
        </p:txBody>
      </p:sp>
      <p:sp>
        <p:nvSpPr>
          <p:cNvPr id="464" name="Freeform 18"/>
          <p:cNvSpPr/>
          <p:nvPr/>
        </p:nvSpPr>
        <p:spPr bwMode="auto">
          <a:xfrm>
            <a:off x="4700582" y="3027012"/>
            <a:ext cx="1226570" cy="1505564"/>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465" name="Rectangle 19"/>
          <p:cNvSpPr>
            <a:spLocks noChangeArrowheads="1"/>
          </p:cNvSpPr>
          <p:nvPr/>
        </p:nvSpPr>
        <p:spPr bwMode="auto">
          <a:xfrm>
            <a:off x="8268639" y="4227252"/>
            <a:ext cx="648589"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6" name="Rectangle 20"/>
          <p:cNvSpPr>
            <a:spLocks noChangeArrowheads="1"/>
          </p:cNvSpPr>
          <p:nvPr/>
        </p:nvSpPr>
        <p:spPr bwMode="auto">
          <a:xfrm>
            <a:off x="8281775" y="3190956"/>
            <a:ext cx="646946"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67" name="Rectangle 21"/>
          <p:cNvSpPr>
            <a:spLocks noChangeArrowheads="1"/>
          </p:cNvSpPr>
          <p:nvPr/>
        </p:nvSpPr>
        <p:spPr bwMode="auto">
          <a:xfrm>
            <a:off x="7086401" y="4866479"/>
            <a:ext cx="177537"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anose="02010609060101010101" pitchFamily="2" charset="-122"/>
              </a:rPr>
              <a:t>B</a:t>
            </a:r>
          </a:p>
        </p:txBody>
      </p:sp>
      <p:sp>
        <p:nvSpPr>
          <p:cNvPr id="468" name="Oval 22"/>
          <p:cNvSpPr>
            <a:spLocks noChangeArrowheads="1"/>
          </p:cNvSpPr>
          <p:nvPr/>
        </p:nvSpPr>
        <p:spPr bwMode="auto">
          <a:xfrm>
            <a:off x="4038857" y="5672654"/>
            <a:ext cx="121508" cy="112804"/>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469" name="Group 23"/>
          <p:cNvGrpSpPr/>
          <p:nvPr/>
        </p:nvGrpSpPr>
        <p:grpSpPr bwMode="auto">
          <a:xfrm>
            <a:off x="930560" y="3773026"/>
            <a:ext cx="522155" cy="488820"/>
            <a:chOff x="101" y="2294"/>
            <a:chExt cx="343" cy="353"/>
          </a:xfrm>
        </p:grpSpPr>
        <p:grpSp>
          <p:nvGrpSpPr>
            <p:cNvPr id="857" name="Group 24"/>
            <p:cNvGrpSpPr/>
            <p:nvPr/>
          </p:nvGrpSpPr>
          <p:grpSpPr bwMode="auto">
            <a:xfrm>
              <a:off x="109" y="2301"/>
              <a:ext cx="335" cy="346"/>
              <a:chOff x="109" y="2301"/>
              <a:chExt cx="335" cy="346"/>
            </a:xfrm>
          </p:grpSpPr>
          <p:sp>
            <p:nvSpPr>
              <p:cNvPr id="871" name="Freeform 25"/>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2" name="Freeform 26"/>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3" name="Freeform 27"/>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4" name="Freeform 28"/>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79" name="Group 33"/>
              <p:cNvGrpSpPr/>
              <p:nvPr/>
            </p:nvGrpSpPr>
            <p:grpSpPr bwMode="auto">
              <a:xfrm>
                <a:off x="109" y="2596"/>
                <a:ext cx="335" cy="51"/>
                <a:chOff x="109" y="2596"/>
                <a:chExt cx="335" cy="51"/>
              </a:xfrm>
            </p:grpSpPr>
            <p:sp>
              <p:nvSpPr>
                <p:cNvPr id="880" name="Freeform 34"/>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1" name="Freeform 35"/>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58" name="Group 37"/>
            <p:cNvGrpSpPr/>
            <p:nvPr/>
          </p:nvGrpSpPr>
          <p:grpSpPr bwMode="auto">
            <a:xfrm>
              <a:off x="101" y="2294"/>
              <a:ext cx="335" cy="347"/>
              <a:chOff x="101" y="2294"/>
              <a:chExt cx="335" cy="347"/>
            </a:xfrm>
          </p:grpSpPr>
          <p:sp>
            <p:nvSpPr>
              <p:cNvPr id="859" name="Freeform 38"/>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0" name="Freeform 39"/>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1" name="Freeform 40"/>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2" name="Freeform 41"/>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67" name="Group 46"/>
              <p:cNvGrpSpPr/>
              <p:nvPr/>
            </p:nvGrpSpPr>
            <p:grpSpPr bwMode="auto">
              <a:xfrm>
                <a:off x="101" y="2590"/>
                <a:ext cx="335" cy="51"/>
                <a:chOff x="101" y="2590"/>
                <a:chExt cx="335" cy="51"/>
              </a:xfrm>
            </p:grpSpPr>
            <p:sp>
              <p:nvSpPr>
                <p:cNvPr id="868" name="Freeform 47"/>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69" name="Freeform 48"/>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0" name="Group 50"/>
          <p:cNvGrpSpPr/>
          <p:nvPr/>
        </p:nvGrpSpPr>
        <p:grpSpPr bwMode="auto">
          <a:xfrm>
            <a:off x="3804053" y="6108832"/>
            <a:ext cx="520512" cy="488819"/>
            <a:chOff x="3891" y="3616"/>
            <a:chExt cx="342" cy="353"/>
          </a:xfrm>
        </p:grpSpPr>
        <p:grpSp>
          <p:nvGrpSpPr>
            <p:cNvPr id="831" name="Group 51"/>
            <p:cNvGrpSpPr/>
            <p:nvPr/>
          </p:nvGrpSpPr>
          <p:grpSpPr bwMode="auto">
            <a:xfrm>
              <a:off x="3899" y="3622"/>
              <a:ext cx="334" cy="347"/>
              <a:chOff x="3899" y="3622"/>
              <a:chExt cx="334" cy="347"/>
            </a:xfrm>
          </p:grpSpPr>
          <p:sp>
            <p:nvSpPr>
              <p:cNvPr id="845" name="Freeform 52"/>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6" name="Freeform 53"/>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7" name="Freeform 54"/>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8" name="Freeform 55"/>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53" name="Group 60"/>
              <p:cNvGrpSpPr/>
              <p:nvPr/>
            </p:nvGrpSpPr>
            <p:grpSpPr bwMode="auto">
              <a:xfrm>
                <a:off x="3899" y="3918"/>
                <a:ext cx="334" cy="51"/>
                <a:chOff x="3899" y="3918"/>
                <a:chExt cx="334" cy="51"/>
              </a:xfrm>
            </p:grpSpPr>
            <p:sp>
              <p:nvSpPr>
                <p:cNvPr id="854" name="Freeform 61"/>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5" name="Freeform 62"/>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32" name="Group 64"/>
            <p:cNvGrpSpPr/>
            <p:nvPr/>
          </p:nvGrpSpPr>
          <p:grpSpPr bwMode="auto">
            <a:xfrm>
              <a:off x="3891" y="3616"/>
              <a:ext cx="334" cy="346"/>
              <a:chOff x="3891" y="3616"/>
              <a:chExt cx="334" cy="346"/>
            </a:xfrm>
          </p:grpSpPr>
          <p:sp>
            <p:nvSpPr>
              <p:cNvPr id="833" name="Freeform 65"/>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4" name="Freeform 66"/>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5" name="Freeform 67"/>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6" name="Freeform 68"/>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41" name="Group 73"/>
              <p:cNvGrpSpPr/>
              <p:nvPr/>
            </p:nvGrpSpPr>
            <p:grpSpPr bwMode="auto">
              <a:xfrm>
                <a:off x="3891" y="3912"/>
                <a:ext cx="334" cy="50"/>
                <a:chOff x="3891" y="3912"/>
                <a:chExt cx="334" cy="50"/>
              </a:xfrm>
            </p:grpSpPr>
            <p:sp>
              <p:nvSpPr>
                <p:cNvPr id="842" name="Freeform 74"/>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3" name="Freeform 75"/>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1" name="Group 77"/>
          <p:cNvGrpSpPr/>
          <p:nvPr/>
        </p:nvGrpSpPr>
        <p:grpSpPr bwMode="auto">
          <a:xfrm>
            <a:off x="5117649" y="6093791"/>
            <a:ext cx="522155" cy="488819"/>
            <a:chOff x="4752" y="3605"/>
            <a:chExt cx="343" cy="353"/>
          </a:xfrm>
        </p:grpSpPr>
        <p:grpSp>
          <p:nvGrpSpPr>
            <p:cNvPr id="805" name="Group 78"/>
            <p:cNvGrpSpPr/>
            <p:nvPr/>
          </p:nvGrpSpPr>
          <p:grpSpPr bwMode="auto">
            <a:xfrm>
              <a:off x="4760" y="3612"/>
              <a:ext cx="335" cy="346"/>
              <a:chOff x="4760" y="3612"/>
              <a:chExt cx="335" cy="346"/>
            </a:xfrm>
          </p:grpSpPr>
          <p:sp>
            <p:nvSpPr>
              <p:cNvPr id="819" name="Freeform 79"/>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0" name="Freeform 80"/>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1" name="Freeform 81"/>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2" name="Freeform 82"/>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27" name="Group 87"/>
              <p:cNvGrpSpPr/>
              <p:nvPr/>
            </p:nvGrpSpPr>
            <p:grpSpPr bwMode="auto">
              <a:xfrm>
                <a:off x="4760" y="3907"/>
                <a:ext cx="335" cy="51"/>
                <a:chOff x="4760" y="3907"/>
                <a:chExt cx="335" cy="51"/>
              </a:xfrm>
            </p:grpSpPr>
            <p:sp>
              <p:nvSpPr>
                <p:cNvPr id="828" name="Freeform 88"/>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29" name="Freeform 89"/>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806" name="Group 91"/>
            <p:cNvGrpSpPr/>
            <p:nvPr/>
          </p:nvGrpSpPr>
          <p:grpSpPr bwMode="auto">
            <a:xfrm>
              <a:off x="4752" y="3605"/>
              <a:ext cx="334" cy="347"/>
              <a:chOff x="4752" y="3605"/>
              <a:chExt cx="334" cy="347"/>
            </a:xfrm>
          </p:grpSpPr>
          <p:sp>
            <p:nvSpPr>
              <p:cNvPr id="807" name="Freeform 92"/>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8" name="Freeform 93"/>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9" name="Freeform 94"/>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0" name="Freeform 95"/>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15" name="Group 100"/>
              <p:cNvGrpSpPr/>
              <p:nvPr/>
            </p:nvGrpSpPr>
            <p:grpSpPr bwMode="auto">
              <a:xfrm>
                <a:off x="4752" y="3901"/>
                <a:ext cx="334" cy="51"/>
                <a:chOff x="4752" y="3901"/>
                <a:chExt cx="334" cy="51"/>
              </a:xfrm>
            </p:grpSpPr>
            <p:sp>
              <p:nvSpPr>
                <p:cNvPr id="816" name="Freeform 101"/>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7" name="Freeform 102"/>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2" name="Group 104"/>
          <p:cNvGrpSpPr/>
          <p:nvPr/>
        </p:nvGrpSpPr>
        <p:grpSpPr bwMode="auto">
          <a:xfrm>
            <a:off x="930560" y="2724697"/>
            <a:ext cx="522155" cy="490324"/>
            <a:chOff x="101" y="1539"/>
            <a:chExt cx="343" cy="352"/>
          </a:xfrm>
        </p:grpSpPr>
        <p:grpSp>
          <p:nvGrpSpPr>
            <p:cNvPr id="779" name="Group 105"/>
            <p:cNvGrpSpPr/>
            <p:nvPr/>
          </p:nvGrpSpPr>
          <p:grpSpPr bwMode="auto">
            <a:xfrm>
              <a:off x="109" y="1545"/>
              <a:ext cx="335" cy="346"/>
              <a:chOff x="109" y="1545"/>
              <a:chExt cx="335" cy="346"/>
            </a:xfrm>
          </p:grpSpPr>
          <p:sp>
            <p:nvSpPr>
              <p:cNvPr id="793" name="Freeform 106"/>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4" name="Freeform 107"/>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5" name="Freeform 108"/>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6" name="Freeform 109"/>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801" name="Group 114"/>
              <p:cNvGrpSpPr/>
              <p:nvPr/>
            </p:nvGrpSpPr>
            <p:grpSpPr bwMode="auto">
              <a:xfrm>
                <a:off x="109" y="1841"/>
                <a:ext cx="335" cy="50"/>
                <a:chOff x="109" y="1841"/>
                <a:chExt cx="335" cy="50"/>
              </a:xfrm>
            </p:grpSpPr>
            <p:sp>
              <p:nvSpPr>
                <p:cNvPr id="802" name="Freeform 115"/>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3" name="Freeform 116"/>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80" name="Group 118"/>
            <p:cNvGrpSpPr/>
            <p:nvPr/>
          </p:nvGrpSpPr>
          <p:grpSpPr bwMode="auto">
            <a:xfrm>
              <a:off x="101" y="1539"/>
              <a:ext cx="335" cy="346"/>
              <a:chOff x="101" y="1539"/>
              <a:chExt cx="335" cy="346"/>
            </a:xfrm>
          </p:grpSpPr>
          <p:sp>
            <p:nvSpPr>
              <p:cNvPr id="781" name="Freeform 119"/>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2" name="Freeform 120"/>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3" name="Freeform 121"/>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4" name="Freeform 122"/>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89" name="Group 127"/>
              <p:cNvGrpSpPr/>
              <p:nvPr/>
            </p:nvGrpSpPr>
            <p:grpSpPr bwMode="auto">
              <a:xfrm>
                <a:off x="101" y="1834"/>
                <a:ext cx="335" cy="51"/>
                <a:chOff x="101" y="1834"/>
                <a:chExt cx="335" cy="51"/>
              </a:xfrm>
            </p:grpSpPr>
            <p:sp>
              <p:nvSpPr>
                <p:cNvPr id="790" name="Freeform 128"/>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1" name="Freeform 129"/>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3" name="Group 131"/>
          <p:cNvGrpSpPr/>
          <p:nvPr/>
        </p:nvGrpSpPr>
        <p:grpSpPr bwMode="auto">
          <a:xfrm>
            <a:off x="8769447" y="3812131"/>
            <a:ext cx="523796" cy="487315"/>
            <a:chOff x="5237" y="2322"/>
            <a:chExt cx="343" cy="352"/>
          </a:xfrm>
        </p:grpSpPr>
        <p:grpSp>
          <p:nvGrpSpPr>
            <p:cNvPr id="753" name="Group 132"/>
            <p:cNvGrpSpPr/>
            <p:nvPr/>
          </p:nvGrpSpPr>
          <p:grpSpPr bwMode="auto">
            <a:xfrm>
              <a:off x="5245" y="2328"/>
              <a:ext cx="335" cy="346"/>
              <a:chOff x="5245" y="2328"/>
              <a:chExt cx="335" cy="346"/>
            </a:xfrm>
          </p:grpSpPr>
          <p:sp>
            <p:nvSpPr>
              <p:cNvPr id="767" name="Freeform 133"/>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8" name="Freeform 134"/>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9" name="Freeform 135"/>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0" name="Freeform 136"/>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75" name="Group 141"/>
              <p:cNvGrpSpPr/>
              <p:nvPr/>
            </p:nvGrpSpPr>
            <p:grpSpPr bwMode="auto">
              <a:xfrm>
                <a:off x="5245" y="2624"/>
                <a:ext cx="335" cy="50"/>
                <a:chOff x="5245" y="2624"/>
                <a:chExt cx="335" cy="50"/>
              </a:xfrm>
            </p:grpSpPr>
            <p:sp>
              <p:nvSpPr>
                <p:cNvPr id="776" name="Freeform 142"/>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7" name="Freeform 143"/>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54" name="Group 145"/>
            <p:cNvGrpSpPr/>
            <p:nvPr/>
          </p:nvGrpSpPr>
          <p:grpSpPr bwMode="auto">
            <a:xfrm>
              <a:off x="5237" y="2322"/>
              <a:ext cx="335" cy="346"/>
              <a:chOff x="5237" y="2322"/>
              <a:chExt cx="335" cy="346"/>
            </a:xfrm>
          </p:grpSpPr>
          <p:sp>
            <p:nvSpPr>
              <p:cNvPr id="755" name="Freeform 146"/>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6" name="Freeform 147"/>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7" name="Freeform 148"/>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8" name="Freeform 149"/>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63" name="Group 154"/>
              <p:cNvGrpSpPr/>
              <p:nvPr/>
            </p:nvGrpSpPr>
            <p:grpSpPr bwMode="auto">
              <a:xfrm>
                <a:off x="5237" y="2617"/>
                <a:ext cx="335" cy="51"/>
                <a:chOff x="5237" y="2617"/>
                <a:chExt cx="335" cy="51"/>
              </a:xfrm>
            </p:grpSpPr>
            <p:sp>
              <p:nvSpPr>
                <p:cNvPr id="764" name="Freeform 155"/>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5" name="Freeform 156"/>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grpSp>
        <p:nvGrpSpPr>
          <p:cNvPr id="474" name="Group 158"/>
          <p:cNvGrpSpPr/>
          <p:nvPr/>
        </p:nvGrpSpPr>
        <p:grpSpPr bwMode="auto">
          <a:xfrm>
            <a:off x="8769447" y="2792378"/>
            <a:ext cx="523796" cy="488820"/>
            <a:chOff x="5237" y="1587"/>
            <a:chExt cx="343" cy="353"/>
          </a:xfrm>
        </p:grpSpPr>
        <p:grpSp>
          <p:nvGrpSpPr>
            <p:cNvPr id="727" name="Group 159"/>
            <p:cNvGrpSpPr/>
            <p:nvPr/>
          </p:nvGrpSpPr>
          <p:grpSpPr bwMode="auto">
            <a:xfrm>
              <a:off x="5245" y="1594"/>
              <a:ext cx="335" cy="346"/>
              <a:chOff x="5245" y="1594"/>
              <a:chExt cx="335" cy="346"/>
            </a:xfrm>
          </p:grpSpPr>
          <p:sp>
            <p:nvSpPr>
              <p:cNvPr id="741" name="Freeform 160"/>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2" name="Freeform 161"/>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3" name="Freeform 162"/>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4" name="Freeform 163"/>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49" name="Group 168"/>
              <p:cNvGrpSpPr/>
              <p:nvPr/>
            </p:nvGrpSpPr>
            <p:grpSpPr bwMode="auto">
              <a:xfrm>
                <a:off x="5245" y="1889"/>
                <a:ext cx="335" cy="51"/>
                <a:chOff x="5245" y="1889"/>
                <a:chExt cx="335" cy="51"/>
              </a:xfrm>
            </p:grpSpPr>
            <p:sp>
              <p:nvSpPr>
                <p:cNvPr id="750" name="Freeform 169"/>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1" name="Freeform 170"/>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728" name="Group 172"/>
            <p:cNvGrpSpPr/>
            <p:nvPr/>
          </p:nvGrpSpPr>
          <p:grpSpPr bwMode="auto">
            <a:xfrm>
              <a:off x="5237" y="1587"/>
              <a:ext cx="335" cy="346"/>
              <a:chOff x="5237" y="1587"/>
              <a:chExt cx="335" cy="346"/>
            </a:xfrm>
          </p:grpSpPr>
          <p:sp>
            <p:nvSpPr>
              <p:cNvPr id="729" name="Freeform 173"/>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0" name="Freeform 174"/>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1" name="Freeform 175"/>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2" name="Freeform 176"/>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737" name="Group 181"/>
              <p:cNvGrpSpPr/>
              <p:nvPr/>
            </p:nvGrpSpPr>
            <p:grpSpPr bwMode="auto">
              <a:xfrm>
                <a:off x="5237" y="1883"/>
                <a:ext cx="335" cy="50"/>
                <a:chOff x="5237" y="1883"/>
                <a:chExt cx="335" cy="50"/>
              </a:xfrm>
            </p:grpSpPr>
            <p:sp>
              <p:nvSpPr>
                <p:cNvPr id="738" name="Freeform 182"/>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39" name="Freeform 183"/>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75" name="Rectangle 185"/>
          <p:cNvSpPr>
            <a:spLocks noChangeArrowheads="1"/>
          </p:cNvSpPr>
          <p:nvPr/>
        </p:nvSpPr>
        <p:spPr bwMode="auto">
          <a:xfrm>
            <a:off x="2296701" y="2166690"/>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6" name="Rectangle 186"/>
          <p:cNvSpPr>
            <a:spLocks noChangeArrowheads="1"/>
          </p:cNvSpPr>
          <p:nvPr/>
        </p:nvSpPr>
        <p:spPr bwMode="auto">
          <a:xfrm>
            <a:off x="2615537" y="2448630"/>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222.1.1.</a:t>
            </a:r>
          </a:p>
        </p:txBody>
      </p:sp>
      <p:sp>
        <p:nvSpPr>
          <p:cNvPr id="477" name="Rectangle 187"/>
          <p:cNvSpPr>
            <a:spLocks noChangeArrowheads="1"/>
          </p:cNvSpPr>
          <p:nvPr/>
        </p:nvSpPr>
        <p:spPr bwMode="auto">
          <a:xfrm>
            <a:off x="4022437" y="1751570"/>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78" name="Rectangle 188"/>
          <p:cNvSpPr>
            <a:spLocks noChangeArrowheads="1"/>
          </p:cNvSpPr>
          <p:nvPr/>
        </p:nvSpPr>
        <p:spPr bwMode="auto">
          <a:xfrm>
            <a:off x="3935413"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222.1.1.1</a:t>
            </a:r>
          </a:p>
        </p:txBody>
      </p:sp>
      <p:sp>
        <p:nvSpPr>
          <p:cNvPr id="479" name="Rectangle 189"/>
          <p:cNvSpPr>
            <a:spLocks noChangeArrowheads="1"/>
          </p:cNvSpPr>
          <p:nvPr/>
        </p:nvSpPr>
        <p:spPr bwMode="auto">
          <a:xfrm>
            <a:off x="5620100"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0" name="Rectangle 190"/>
          <p:cNvSpPr>
            <a:spLocks noChangeArrowheads="1"/>
          </p:cNvSpPr>
          <p:nvPr/>
        </p:nvSpPr>
        <p:spPr bwMode="auto">
          <a:xfrm>
            <a:off x="5510086"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222.1.1.2</a:t>
            </a:r>
          </a:p>
        </p:txBody>
      </p:sp>
      <p:sp>
        <p:nvSpPr>
          <p:cNvPr id="481" name="Rectangle 191"/>
          <p:cNvSpPr>
            <a:spLocks noChangeArrowheads="1"/>
          </p:cNvSpPr>
          <p:nvPr/>
        </p:nvSpPr>
        <p:spPr bwMode="auto">
          <a:xfrm>
            <a:off x="7268664"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2" name="Rectangle 192"/>
          <p:cNvSpPr>
            <a:spLocks noChangeArrowheads="1"/>
          </p:cNvSpPr>
          <p:nvPr/>
        </p:nvSpPr>
        <p:spPr bwMode="auto">
          <a:xfrm>
            <a:off x="7111032" y="168539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222.1.1.3</a:t>
            </a:r>
          </a:p>
        </p:txBody>
      </p:sp>
      <p:sp>
        <p:nvSpPr>
          <p:cNvPr id="483" name="Rectangle 193"/>
          <p:cNvSpPr>
            <a:spLocks noChangeArrowheads="1"/>
          </p:cNvSpPr>
          <p:nvPr/>
        </p:nvSpPr>
        <p:spPr bwMode="auto">
          <a:xfrm>
            <a:off x="4643112" y="2372746"/>
            <a:ext cx="27914" cy="5098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484" name="Group 194"/>
          <p:cNvGrpSpPr/>
          <p:nvPr/>
        </p:nvGrpSpPr>
        <p:grpSpPr bwMode="auto">
          <a:xfrm>
            <a:off x="4285156" y="2839005"/>
            <a:ext cx="669934" cy="365486"/>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706" name="Group 199"/>
            <p:cNvGrpSpPr/>
            <p:nvPr/>
          </p:nvGrpSpPr>
          <p:grpSpPr bwMode="auto">
            <a:xfrm>
              <a:off x="2365" y="1640"/>
              <a:ext cx="304" cy="117"/>
              <a:chOff x="2365" y="1640"/>
              <a:chExt cx="304" cy="117"/>
            </a:xfrm>
          </p:grpSpPr>
          <p:grpSp>
            <p:nvGrpSpPr>
              <p:cNvPr id="709" name="Group 200"/>
              <p:cNvGrpSpPr/>
              <p:nvPr/>
            </p:nvGrpSpPr>
            <p:grpSpPr bwMode="auto">
              <a:xfrm>
                <a:off x="2365" y="1640"/>
                <a:ext cx="302" cy="115"/>
                <a:chOff x="2365" y="1640"/>
                <a:chExt cx="302" cy="115"/>
              </a:xfrm>
            </p:grpSpPr>
            <p:sp>
              <p:nvSpPr>
                <p:cNvPr id="719" name="Freeform 201"/>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0" name="Freeform 202"/>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1" name="Freeform 203"/>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2" name="Freeform 204"/>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3" name="Freeform 205"/>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4" name="Freeform 206"/>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5" name="Freeform 207"/>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26" name="Freeform 208"/>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710" name="Group 209"/>
              <p:cNvGrpSpPr/>
              <p:nvPr/>
            </p:nvGrpSpPr>
            <p:grpSpPr bwMode="auto">
              <a:xfrm>
                <a:off x="2368" y="1643"/>
                <a:ext cx="301" cy="114"/>
                <a:chOff x="2368" y="1643"/>
                <a:chExt cx="301" cy="114"/>
              </a:xfrm>
            </p:grpSpPr>
            <p:sp>
              <p:nvSpPr>
                <p:cNvPr id="711" name="Freeform 210"/>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2" name="Freeform 211"/>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3" name="Freeform 212"/>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4" name="Freeform 213"/>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5" name="Freeform 214"/>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6" name="Freeform 215"/>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7" name="Freeform 216"/>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18" name="Freeform 217"/>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485" name="Rectangle 220"/>
          <p:cNvSpPr>
            <a:spLocks noChangeArrowheads="1"/>
          </p:cNvSpPr>
          <p:nvPr/>
        </p:nvSpPr>
        <p:spPr bwMode="auto">
          <a:xfrm>
            <a:off x="4756410" y="2593844"/>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6" name="Rectangle 221"/>
          <p:cNvSpPr>
            <a:spLocks noChangeArrowheads="1"/>
          </p:cNvSpPr>
          <p:nvPr/>
        </p:nvSpPr>
        <p:spPr bwMode="auto">
          <a:xfrm>
            <a:off x="4831942" y="260286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222.1.1.4</a:t>
            </a:r>
          </a:p>
        </p:txBody>
      </p:sp>
      <p:sp>
        <p:nvSpPr>
          <p:cNvPr id="487" name="Rectangle 222"/>
          <p:cNvSpPr>
            <a:spLocks noChangeArrowheads="1"/>
          </p:cNvSpPr>
          <p:nvPr/>
        </p:nvSpPr>
        <p:spPr bwMode="auto">
          <a:xfrm>
            <a:off x="3896004" y="2733722"/>
            <a:ext cx="426919" cy="332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88" name="Rectangle 223"/>
          <p:cNvSpPr>
            <a:spLocks noChangeArrowheads="1"/>
          </p:cNvSpPr>
          <p:nvPr/>
        </p:nvSpPr>
        <p:spPr bwMode="auto">
          <a:xfrm>
            <a:off x="4002734" y="272469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sp>
        <p:nvSpPr>
          <p:cNvPr id="489" name="Oval 224"/>
          <p:cNvSpPr>
            <a:spLocks noChangeArrowheads="1"/>
          </p:cNvSpPr>
          <p:nvPr/>
        </p:nvSpPr>
        <p:spPr bwMode="auto">
          <a:xfrm>
            <a:off x="4602062" y="2641973"/>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0" name="Rectangle 225"/>
          <p:cNvSpPr>
            <a:spLocks noChangeArrowheads="1"/>
          </p:cNvSpPr>
          <p:nvPr/>
        </p:nvSpPr>
        <p:spPr bwMode="auto">
          <a:xfrm>
            <a:off x="2373874" y="1877910"/>
            <a:ext cx="745466"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1" name="Oval 226"/>
          <p:cNvSpPr>
            <a:spLocks noChangeArrowheads="1"/>
          </p:cNvSpPr>
          <p:nvPr/>
        </p:nvSpPr>
        <p:spPr bwMode="auto">
          <a:xfrm>
            <a:off x="8385221" y="4200180"/>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2" name="Oval 227"/>
          <p:cNvSpPr>
            <a:spLocks noChangeArrowheads="1"/>
          </p:cNvSpPr>
          <p:nvPr/>
        </p:nvSpPr>
        <p:spPr bwMode="auto">
          <a:xfrm>
            <a:off x="8390146" y="3151850"/>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493" name="Rectangle 228"/>
          <p:cNvSpPr>
            <a:spLocks noChangeArrowheads="1"/>
          </p:cNvSpPr>
          <p:nvPr/>
        </p:nvSpPr>
        <p:spPr bwMode="auto">
          <a:xfrm>
            <a:off x="6887720" y="3839205"/>
            <a:ext cx="1044310"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4" name="Rectangle 229"/>
          <p:cNvSpPr>
            <a:spLocks noChangeArrowheads="1"/>
          </p:cNvSpPr>
          <p:nvPr/>
        </p:nvSpPr>
        <p:spPr bwMode="auto">
          <a:xfrm>
            <a:off x="6326158" y="4328025"/>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222.1.2.5</a:t>
            </a:r>
          </a:p>
        </p:txBody>
      </p:sp>
      <p:sp>
        <p:nvSpPr>
          <p:cNvPr id="495" name="Rectangle 230"/>
          <p:cNvSpPr>
            <a:spLocks noChangeArrowheads="1"/>
          </p:cNvSpPr>
          <p:nvPr/>
        </p:nvSpPr>
        <p:spPr bwMode="auto">
          <a:xfrm>
            <a:off x="8485382" y="4323511"/>
            <a:ext cx="1042668"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6" name="Rectangle 231"/>
          <p:cNvSpPr>
            <a:spLocks noChangeArrowheads="1"/>
          </p:cNvSpPr>
          <p:nvPr/>
        </p:nvSpPr>
        <p:spPr bwMode="auto">
          <a:xfrm>
            <a:off x="8580617" y="4380667"/>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222.1.2.2</a:t>
            </a:r>
          </a:p>
        </p:txBody>
      </p:sp>
      <p:sp>
        <p:nvSpPr>
          <p:cNvPr id="497" name="Rectangle 232"/>
          <p:cNvSpPr>
            <a:spLocks noChangeArrowheads="1"/>
          </p:cNvSpPr>
          <p:nvPr/>
        </p:nvSpPr>
        <p:spPr bwMode="auto">
          <a:xfrm>
            <a:off x="8485382" y="3270670"/>
            <a:ext cx="1042668"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498" name="Rectangle 233"/>
          <p:cNvSpPr>
            <a:spLocks noChangeArrowheads="1"/>
          </p:cNvSpPr>
          <p:nvPr/>
        </p:nvSpPr>
        <p:spPr bwMode="auto">
          <a:xfrm>
            <a:off x="8580617" y="3329328"/>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anose="02010609060101010101" pitchFamily="2" charset="-122"/>
              </a:rPr>
              <a:t>222.1.2.1</a:t>
            </a:r>
          </a:p>
        </p:txBody>
      </p:sp>
      <p:sp>
        <p:nvSpPr>
          <p:cNvPr id="499" name="Rectangle 235"/>
          <p:cNvSpPr>
            <a:spLocks noChangeArrowheads="1"/>
          </p:cNvSpPr>
          <p:nvPr/>
        </p:nvSpPr>
        <p:spPr bwMode="auto">
          <a:xfrm>
            <a:off x="5501876"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222.1.2.3</a:t>
            </a:r>
          </a:p>
        </p:txBody>
      </p:sp>
      <p:sp>
        <p:nvSpPr>
          <p:cNvPr id="500" name="Rectangle 236"/>
          <p:cNvSpPr>
            <a:spLocks noChangeArrowheads="1"/>
          </p:cNvSpPr>
          <p:nvPr/>
        </p:nvSpPr>
        <p:spPr bwMode="auto">
          <a:xfrm>
            <a:off x="4127525" y="5657614"/>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1" name="Rectangle 237"/>
          <p:cNvSpPr>
            <a:spLocks noChangeArrowheads="1"/>
          </p:cNvSpPr>
          <p:nvPr/>
        </p:nvSpPr>
        <p:spPr bwMode="auto">
          <a:xfrm>
            <a:off x="4166420"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222.1.2.4</a:t>
            </a:r>
          </a:p>
        </p:txBody>
      </p:sp>
      <p:sp>
        <p:nvSpPr>
          <p:cNvPr id="502" name="Oval 238"/>
          <p:cNvSpPr>
            <a:spLocks noChangeArrowheads="1"/>
          </p:cNvSpPr>
          <p:nvPr/>
        </p:nvSpPr>
        <p:spPr bwMode="auto">
          <a:xfrm>
            <a:off x="5332750" y="5684686"/>
            <a:ext cx="95236" cy="88739"/>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3" name="Rectangle 239"/>
          <p:cNvSpPr>
            <a:spLocks noChangeArrowheads="1"/>
          </p:cNvSpPr>
          <p:nvPr/>
        </p:nvSpPr>
        <p:spPr bwMode="auto">
          <a:xfrm>
            <a:off x="7383602" y="3147338"/>
            <a:ext cx="926086"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04" name="Rectangle 240"/>
          <p:cNvSpPr>
            <a:spLocks noChangeArrowheads="1"/>
          </p:cNvSpPr>
          <p:nvPr/>
        </p:nvSpPr>
        <p:spPr bwMode="auto">
          <a:xfrm>
            <a:off x="7191449" y="3747457"/>
            <a:ext cx="1151532"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anose="02010609060101010101" pitchFamily="2" charset="-122"/>
              </a:rPr>
              <a:t>222.1.2.</a:t>
            </a:r>
          </a:p>
        </p:txBody>
      </p:sp>
      <p:sp>
        <p:nvSpPr>
          <p:cNvPr id="505" name="Rectangle 241"/>
          <p:cNvSpPr>
            <a:spLocks noChangeArrowheads="1"/>
          </p:cNvSpPr>
          <p:nvPr/>
        </p:nvSpPr>
        <p:spPr bwMode="auto">
          <a:xfrm>
            <a:off x="7457493" y="2870591"/>
            <a:ext cx="745466"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nvGrpSpPr>
          <p:cNvPr id="506" name="Group 242"/>
          <p:cNvGrpSpPr/>
          <p:nvPr/>
        </p:nvGrpSpPr>
        <p:grpSpPr bwMode="auto">
          <a:xfrm>
            <a:off x="2630025" y="4502496"/>
            <a:ext cx="671576" cy="363982"/>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81" name="Group 247"/>
            <p:cNvGrpSpPr/>
            <p:nvPr/>
          </p:nvGrpSpPr>
          <p:grpSpPr bwMode="auto">
            <a:xfrm>
              <a:off x="1371" y="2587"/>
              <a:ext cx="304" cy="117"/>
              <a:chOff x="1371" y="2587"/>
              <a:chExt cx="304" cy="117"/>
            </a:xfrm>
          </p:grpSpPr>
          <p:grpSp>
            <p:nvGrpSpPr>
              <p:cNvPr id="684" name="Group 248"/>
              <p:cNvGrpSpPr/>
              <p:nvPr/>
            </p:nvGrpSpPr>
            <p:grpSpPr bwMode="auto">
              <a:xfrm>
                <a:off x="1371" y="2587"/>
                <a:ext cx="301" cy="115"/>
                <a:chOff x="1371" y="2587"/>
                <a:chExt cx="301" cy="115"/>
              </a:xfrm>
            </p:grpSpPr>
            <p:sp>
              <p:nvSpPr>
                <p:cNvPr id="694" name="Freeform 249"/>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5" name="Freeform 250"/>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6" name="Freeform 251"/>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7" name="Freeform 252"/>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8" name="Freeform 253"/>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9" name="Freeform 254"/>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0" name="Freeform 255"/>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701" name="Freeform 256"/>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85" name="Group 257"/>
              <p:cNvGrpSpPr/>
              <p:nvPr/>
            </p:nvGrpSpPr>
            <p:grpSpPr bwMode="auto">
              <a:xfrm>
                <a:off x="1373" y="2590"/>
                <a:ext cx="302" cy="114"/>
                <a:chOff x="1373" y="2590"/>
                <a:chExt cx="302" cy="114"/>
              </a:xfrm>
            </p:grpSpPr>
            <p:sp>
              <p:nvSpPr>
                <p:cNvPr id="686" name="Freeform 258"/>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7" name="Freeform 259"/>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8" name="Freeform 260"/>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89" name="Freeform 261"/>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0" name="Freeform 262"/>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1" name="Freeform 263"/>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2" name="Freeform 264"/>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93" name="Freeform 265"/>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grpSp>
        <p:nvGrpSpPr>
          <p:cNvPr id="507" name="Group 268"/>
          <p:cNvGrpSpPr/>
          <p:nvPr/>
        </p:nvGrpSpPr>
        <p:grpSpPr bwMode="auto">
          <a:xfrm>
            <a:off x="5633237" y="4502496"/>
            <a:ext cx="671576" cy="363982"/>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ln>
          </p:spPr>
          <p:txBody>
            <a:bodyPr/>
            <a:lstStyle/>
            <a:p>
              <a:endParaRPr lang="zh-CN" altLang="en-US" b="1">
                <a:latin typeface="+mn-lt"/>
                <a:ea typeface="黑体" panose="02010609060101010101"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ln>
          </p:spPr>
          <p:txBody>
            <a:bodyPr/>
            <a:lstStyle/>
            <a:p>
              <a:endParaRPr lang="zh-CN" altLang="en-US" b="1">
                <a:latin typeface="+mn-lt"/>
                <a:ea typeface="黑体" panose="02010609060101010101" pitchFamily="2" charset="-122"/>
              </a:endParaRPr>
            </a:p>
          </p:txBody>
        </p:sp>
        <p:grpSp>
          <p:nvGrpSpPr>
            <p:cNvPr id="656" name="Group 273"/>
            <p:cNvGrpSpPr/>
            <p:nvPr/>
          </p:nvGrpSpPr>
          <p:grpSpPr bwMode="auto">
            <a:xfrm>
              <a:off x="3555" y="2587"/>
              <a:ext cx="304" cy="117"/>
              <a:chOff x="3555" y="2587"/>
              <a:chExt cx="304" cy="117"/>
            </a:xfrm>
          </p:grpSpPr>
          <p:grpSp>
            <p:nvGrpSpPr>
              <p:cNvPr id="659" name="Group 274"/>
              <p:cNvGrpSpPr/>
              <p:nvPr/>
            </p:nvGrpSpPr>
            <p:grpSpPr bwMode="auto">
              <a:xfrm>
                <a:off x="3555" y="2587"/>
                <a:ext cx="301" cy="115"/>
                <a:chOff x="3555" y="2587"/>
                <a:chExt cx="301" cy="115"/>
              </a:xfrm>
            </p:grpSpPr>
            <p:sp>
              <p:nvSpPr>
                <p:cNvPr id="669" name="Freeform 275"/>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0" name="Freeform 276"/>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1" name="Freeform 277"/>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2" name="Freeform 278"/>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3" name="Freeform 279"/>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4" name="Freeform 280"/>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5" name="Freeform 281"/>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76" name="Freeform 282"/>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nvGrpSpPr>
              <p:cNvPr id="660" name="Group 283"/>
              <p:cNvGrpSpPr/>
              <p:nvPr/>
            </p:nvGrpSpPr>
            <p:grpSpPr bwMode="auto">
              <a:xfrm>
                <a:off x="3557" y="2590"/>
                <a:ext cx="302" cy="114"/>
                <a:chOff x="3557" y="2590"/>
                <a:chExt cx="302" cy="114"/>
              </a:xfrm>
            </p:grpSpPr>
            <p:sp>
              <p:nvSpPr>
                <p:cNvPr id="661" name="Freeform 284"/>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2" name="Freeform 285"/>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3" name="Freeform 286"/>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4" name="Freeform 287"/>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5" name="Freeform 288"/>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6" name="Freeform 289"/>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7" name="Freeform 290"/>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68" name="Freeform 291"/>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sp>
        <p:nvSpPr>
          <p:cNvPr id="510" name="Oval 296"/>
          <p:cNvSpPr>
            <a:spLocks noChangeArrowheads="1"/>
          </p:cNvSpPr>
          <p:nvPr/>
        </p:nvSpPr>
        <p:spPr bwMode="auto">
          <a:xfrm>
            <a:off x="5767879" y="4352090"/>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1" name="Oval 297"/>
          <p:cNvSpPr>
            <a:spLocks noChangeArrowheads="1"/>
          </p:cNvSpPr>
          <p:nvPr/>
        </p:nvSpPr>
        <p:spPr bwMode="auto">
          <a:xfrm>
            <a:off x="4858213" y="3242094"/>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2" name="Oval 298"/>
          <p:cNvSpPr>
            <a:spLocks noChangeArrowheads="1"/>
          </p:cNvSpPr>
          <p:nvPr/>
        </p:nvSpPr>
        <p:spPr bwMode="auto">
          <a:xfrm>
            <a:off x="3142328" y="4245301"/>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3" name="Oval 299"/>
          <p:cNvSpPr>
            <a:spLocks noChangeArrowheads="1"/>
          </p:cNvSpPr>
          <p:nvPr/>
        </p:nvSpPr>
        <p:spPr bwMode="auto">
          <a:xfrm>
            <a:off x="4166932" y="3264653"/>
            <a:ext cx="93595" cy="85732"/>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14" name="Rectangle 300"/>
          <p:cNvSpPr>
            <a:spLocks noChangeArrowheads="1"/>
          </p:cNvSpPr>
          <p:nvPr/>
        </p:nvSpPr>
        <p:spPr bwMode="auto">
          <a:xfrm>
            <a:off x="5035548" y="2927745"/>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5" name="Rectangle 301"/>
          <p:cNvSpPr>
            <a:spLocks noChangeArrowheads="1"/>
          </p:cNvSpPr>
          <p:nvPr/>
        </p:nvSpPr>
        <p:spPr bwMode="auto">
          <a:xfrm>
            <a:off x="5058537" y="3081158"/>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222.1.6.1</a:t>
            </a:r>
          </a:p>
        </p:txBody>
      </p:sp>
      <p:sp>
        <p:nvSpPr>
          <p:cNvPr id="516" name="Rectangle 302"/>
          <p:cNvSpPr>
            <a:spLocks noChangeArrowheads="1"/>
          </p:cNvSpPr>
          <p:nvPr/>
        </p:nvSpPr>
        <p:spPr bwMode="auto">
          <a:xfrm>
            <a:off x="3058587" y="3064614"/>
            <a:ext cx="1041025"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7" name="Rectangle 303"/>
          <p:cNvSpPr>
            <a:spLocks noChangeArrowheads="1"/>
          </p:cNvSpPr>
          <p:nvPr/>
        </p:nvSpPr>
        <p:spPr bwMode="auto">
          <a:xfrm>
            <a:off x="3181736" y="3052581"/>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222.1.5.1</a:t>
            </a:r>
          </a:p>
        </p:txBody>
      </p:sp>
      <p:sp>
        <p:nvSpPr>
          <p:cNvPr id="518" name="Rectangle 304"/>
          <p:cNvSpPr>
            <a:spLocks noChangeArrowheads="1"/>
          </p:cNvSpPr>
          <p:nvPr/>
        </p:nvSpPr>
        <p:spPr bwMode="auto">
          <a:xfrm>
            <a:off x="2296700" y="3687295"/>
            <a:ext cx="1044310"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19" name="Rectangle 305"/>
          <p:cNvSpPr>
            <a:spLocks noChangeArrowheads="1"/>
          </p:cNvSpPr>
          <p:nvPr/>
        </p:nvSpPr>
        <p:spPr bwMode="auto">
          <a:xfrm>
            <a:off x="2262219" y="392493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anose="02010609060101010101" pitchFamily="2" charset="-122"/>
              </a:rPr>
              <a:t>222.1.5.2</a:t>
            </a:r>
          </a:p>
        </p:txBody>
      </p:sp>
      <p:sp>
        <p:nvSpPr>
          <p:cNvPr id="520" name="Rectangle 306"/>
          <p:cNvSpPr>
            <a:spLocks noChangeArrowheads="1"/>
          </p:cNvSpPr>
          <p:nvPr/>
        </p:nvSpPr>
        <p:spPr bwMode="auto">
          <a:xfrm>
            <a:off x="5746534" y="3562457"/>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1" name="Rectangle 307"/>
          <p:cNvSpPr>
            <a:spLocks noChangeArrowheads="1"/>
          </p:cNvSpPr>
          <p:nvPr/>
        </p:nvSpPr>
        <p:spPr bwMode="auto">
          <a:xfrm>
            <a:off x="5766237" y="40422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222.1.6.2</a:t>
            </a:r>
          </a:p>
        </p:txBody>
      </p:sp>
      <p:sp>
        <p:nvSpPr>
          <p:cNvPr id="522" name="Rectangle 308"/>
          <p:cNvSpPr>
            <a:spLocks noChangeArrowheads="1"/>
          </p:cNvSpPr>
          <p:nvPr/>
        </p:nvSpPr>
        <p:spPr bwMode="auto">
          <a:xfrm>
            <a:off x="5181686" y="4400219"/>
            <a:ext cx="104431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3" name="Rectangle 309"/>
          <p:cNvSpPr>
            <a:spLocks noChangeArrowheads="1"/>
          </p:cNvSpPr>
          <p:nvPr/>
        </p:nvSpPr>
        <p:spPr bwMode="auto">
          <a:xfrm>
            <a:off x="5030623" y="4828876"/>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222.1.4.1</a:t>
            </a:r>
          </a:p>
        </p:txBody>
      </p:sp>
      <p:sp>
        <p:nvSpPr>
          <p:cNvPr id="524" name="Rectangle 310"/>
          <p:cNvSpPr>
            <a:spLocks noChangeArrowheads="1"/>
          </p:cNvSpPr>
          <p:nvPr/>
        </p:nvSpPr>
        <p:spPr bwMode="auto">
          <a:xfrm>
            <a:off x="3344294" y="4400219"/>
            <a:ext cx="1041025"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5" name="Rectangle 311"/>
          <p:cNvSpPr>
            <a:spLocks noChangeArrowheads="1"/>
          </p:cNvSpPr>
          <p:nvPr/>
        </p:nvSpPr>
        <p:spPr bwMode="auto">
          <a:xfrm>
            <a:off x="3434603" y="4812332"/>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222.1.4.2</a:t>
            </a:r>
          </a:p>
        </p:txBody>
      </p:sp>
      <p:sp>
        <p:nvSpPr>
          <p:cNvPr id="526" name="Rectangle 312"/>
          <p:cNvSpPr>
            <a:spLocks noChangeArrowheads="1"/>
          </p:cNvSpPr>
          <p:nvPr/>
        </p:nvSpPr>
        <p:spPr bwMode="auto">
          <a:xfrm>
            <a:off x="725311" y="3201483"/>
            <a:ext cx="1042668" cy="338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7" name="Rectangle 313"/>
          <p:cNvSpPr>
            <a:spLocks noChangeArrowheads="1"/>
          </p:cNvSpPr>
          <p:nvPr/>
        </p:nvSpPr>
        <p:spPr bwMode="auto">
          <a:xfrm>
            <a:off x="587729" y="3260142"/>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222.1.3.3</a:t>
            </a:r>
          </a:p>
        </p:txBody>
      </p:sp>
      <p:sp>
        <p:nvSpPr>
          <p:cNvPr id="528" name="Rectangle 314"/>
          <p:cNvSpPr>
            <a:spLocks noChangeArrowheads="1"/>
          </p:cNvSpPr>
          <p:nvPr/>
        </p:nvSpPr>
        <p:spPr bwMode="auto">
          <a:xfrm>
            <a:off x="1841867" y="4460381"/>
            <a:ext cx="1042668"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29" name="Rectangle 315"/>
          <p:cNvSpPr>
            <a:spLocks noChangeArrowheads="1"/>
          </p:cNvSpPr>
          <p:nvPr/>
        </p:nvSpPr>
        <p:spPr bwMode="auto">
          <a:xfrm>
            <a:off x="1968302" y="48574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222.1.3.2</a:t>
            </a:r>
          </a:p>
        </p:txBody>
      </p:sp>
      <p:sp>
        <p:nvSpPr>
          <p:cNvPr id="530" name="Rectangle 316"/>
          <p:cNvSpPr>
            <a:spLocks noChangeArrowheads="1"/>
          </p:cNvSpPr>
          <p:nvPr/>
        </p:nvSpPr>
        <p:spPr bwMode="auto">
          <a:xfrm>
            <a:off x="725311" y="4251318"/>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1" name="Rectangle 317"/>
          <p:cNvSpPr>
            <a:spLocks noChangeArrowheads="1"/>
          </p:cNvSpPr>
          <p:nvPr/>
        </p:nvSpPr>
        <p:spPr bwMode="auto">
          <a:xfrm>
            <a:off x="587729" y="4309975"/>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anose="02010609060101010101" pitchFamily="2" charset="-122"/>
              </a:rPr>
              <a:t>222.1.3.1</a:t>
            </a:r>
          </a:p>
        </p:txBody>
      </p:sp>
      <p:sp>
        <p:nvSpPr>
          <p:cNvPr id="532" name="Oval 318"/>
          <p:cNvSpPr>
            <a:spLocks noChangeArrowheads="1"/>
          </p:cNvSpPr>
          <p:nvPr/>
        </p:nvSpPr>
        <p:spPr bwMode="auto">
          <a:xfrm>
            <a:off x="1694088" y="4135504"/>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3" name="Oval 319"/>
          <p:cNvSpPr>
            <a:spLocks noChangeArrowheads="1"/>
          </p:cNvSpPr>
          <p:nvPr/>
        </p:nvSpPr>
        <p:spPr bwMode="auto">
          <a:xfrm>
            <a:off x="1685878" y="3085672"/>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4" name="Oval 320"/>
          <p:cNvSpPr>
            <a:spLocks noChangeArrowheads="1"/>
          </p:cNvSpPr>
          <p:nvPr/>
        </p:nvSpPr>
        <p:spPr bwMode="auto">
          <a:xfrm>
            <a:off x="2411640" y="4645381"/>
            <a:ext cx="95236"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35" name="Rectangle 321"/>
          <p:cNvSpPr>
            <a:spLocks noChangeArrowheads="1"/>
          </p:cNvSpPr>
          <p:nvPr/>
        </p:nvSpPr>
        <p:spPr bwMode="auto">
          <a:xfrm>
            <a:off x="2953499" y="4514528"/>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6" name="Rectangle 322"/>
          <p:cNvSpPr>
            <a:spLocks noChangeArrowheads="1"/>
          </p:cNvSpPr>
          <p:nvPr/>
        </p:nvSpPr>
        <p:spPr bwMode="auto">
          <a:xfrm>
            <a:off x="3283540" y="4303960"/>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3</a:t>
            </a:r>
          </a:p>
        </p:txBody>
      </p:sp>
      <p:sp>
        <p:nvSpPr>
          <p:cNvPr id="537" name="Rectangle 323"/>
          <p:cNvSpPr>
            <a:spLocks noChangeArrowheads="1"/>
          </p:cNvSpPr>
          <p:nvPr/>
        </p:nvSpPr>
        <p:spPr bwMode="auto">
          <a:xfrm>
            <a:off x="6336010" y="4458877"/>
            <a:ext cx="428560"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38" name="Rectangle 324"/>
          <p:cNvSpPr>
            <a:spLocks noChangeArrowheads="1"/>
          </p:cNvSpPr>
          <p:nvPr/>
        </p:nvSpPr>
        <p:spPr bwMode="auto">
          <a:xfrm>
            <a:off x="5372157" y="4302455"/>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539" name="Rectangle 325"/>
          <p:cNvSpPr>
            <a:spLocks noChangeArrowheads="1"/>
          </p:cNvSpPr>
          <p:nvPr/>
        </p:nvSpPr>
        <p:spPr bwMode="auto">
          <a:xfrm>
            <a:off x="1884560" y="3210508"/>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0" name="Rectangle 326"/>
          <p:cNvSpPr>
            <a:spLocks noChangeArrowheads="1"/>
          </p:cNvSpPr>
          <p:nvPr/>
        </p:nvSpPr>
        <p:spPr bwMode="auto">
          <a:xfrm>
            <a:off x="1966398" y="3194573"/>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222.1.3.</a:t>
            </a:r>
          </a:p>
        </p:txBody>
      </p:sp>
      <p:sp>
        <p:nvSpPr>
          <p:cNvPr id="541" name="Rectangle 327"/>
          <p:cNvSpPr>
            <a:spLocks noChangeArrowheads="1"/>
          </p:cNvSpPr>
          <p:nvPr/>
        </p:nvSpPr>
        <p:spPr bwMode="auto">
          <a:xfrm>
            <a:off x="1919041" y="2929249"/>
            <a:ext cx="742182"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2" name="Rectangle 328"/>
          <p:cNvSpPr>
            <a:spLocks noChangeArrowheads="1"/>
          </p:cNvSpPr>
          <p:nvPr/>
        </p:nvSpPr>
        <p:spPr bwMode="auto">
          <a:xfrm>
            <a:off x="2043354" y="2913314"/>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3</a:t>
            </a:r>
          </a:p>
        </p:txBody>
      </p:sp>
      <p:sp>
        <p:nvSpPr>
          <p:cNvPr id="543" name="Rectangle 329"/>
          <p:cNvSpPr>
            <a:spLocks noChangeArrowheads="1"/>
          </p:cNvSpPr>
          <p:nvPr/>
        </p:nvSpPr>
        <p:spPr bwMode="auto">
          <a:xfrm>
            <a:off x="4426369" y="3962537"/>
            <a:ext cx="430202"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4" name="Rectangle 330"/>
          <p:cNvSpPr>
            <a:spLocks noChangeArrowheads="1"/>
          </p:cNvSpPr>
          <p:nvPr/>
        </p:nvSpPr>
        <p:spPr bwMode="auto">
          <a:xfrm>
            <a:off x="5416493" y="3270670"/>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5" name="Rectangle 331"/>
          <p:cNvSpPr>
            <a:spLocks noChangeArrowheads="1"/>
          </p:cNvSpPr>
          <p:nvPr/>
        </p:nvSpPr>
        <p:spPr bwMode="auto">
          <a:xfrm>
            <a:off x="5414849" y="3466198"/>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3</a:t>
            </a:r>
          </a:p>
        </p:txBody>
      </p:sp>
      <p:sp>
        <p:nvSpPr>
          <p:cNvPr id="546" name="Rectangle 332"/>
          <p:cNvSpPr>
            <a:spLocks noChangeArrowheads="1"/>
          </p:cNvSpPr>
          <p:nvPr/>
        </p:nvSpPr>
        <p:spPr bwMode="auto">
          <a:xfrm>
            <a:off x="3743298" y="3616603"/>
            <a:ext cx="426919"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47" name="Rectangle 333"/>
          <p:cNvSpPr>
            <a:spLocks noChangeArrowheads="1"/>
          </p:cNvSpPr>
          <p:nvPr/>
        </p:nvSpPr>
        <p:spPr bwMode="auto">
          <a:xfrm>
            <a:off x="3656273" y="380021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N</a:t>
            </a:r>
            <a:r>
              <a:rPr lang="en-US" altLang="zh-CN" sz="2000" b="1" baseline="-25000" dirty="0">
                <a:solidFill>
                  <a:srgbClr val="C00000"/>
                </a:solidFill>
                <a:latin typeface="+mn-lt"/>
                <a:ea typeface="黑体" panose="02010609060101010101" pitchFamily="2" charset="-122"/>
              </a:rPr>
              <a:t>2</a:t>
            </a:r>
          </a:p>
        </p:txBody>
      </p:sp>
      <p:sp>
        <p:nvSpPr>
          <p:cNvPr id="548" name="Rectangle 334"/>
          <p:cNvSpPr>
            <a:spLocks noChangeArrowheads="1"/>
          </p:cNvSpPr>
          <p:nvPr/>
        </p:nvSpPr>
        <p:spPr bwMode="auto">
          <a:xfrm>
            <a:off x="4295008" y="434757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222.1.4.</a:t>
            </a:r>
          </a:p>
        </p:txBody>
      </p:sp>
      <p:sp>
        <p:nvSpPr>
          <p:cNvPr id="549" name="Rectangle 335"/>
          <p:cNvSpPr>
            <a:spLocks noChangeArrowheads="1"/>
          </p:cNvSpPr>
          <p:nvPr/>
        </p:nvSpPr>
        <p:spPr bwMode="auto">
          <a:xfrm>
            <a:off x="4047068" y="3616603"/>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0" name="Rectangle 336"/>
          <p:cNvSpPr>
            <a:spLocks noChangeArrowheads="1"/>
          </p:cNvSpPr>
          <p:nvPr/>
        </p:nvSpPr>
        <p:spPr bwMode="auto">
          <a:xfrm>
            <a:off x="4001092" y="380021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anose="02010609060101010101" pitchFamily="2" charset="-122"/>
              </a:rPr>
              <a:t>222.1.5.</a:t>
            </a:r>
          </a:p>
        </p:txBody>
      </p:sp>
      <p:sp>
        <p:nvSpPr>
          <p:cNvPr id="551" name="Rectangle 337"/>
          <p:cNvSpPr>
            <a:spLocks noChangeArrowheads="1"/>
          </p:cNvSpPr>
          <p:nvPr/>
        </p:nvSpPr>
        <p:spPr bwMode="auto">
          <a:xfrm>
            <a:off x="5720261" y="3285711"/>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52" name="Rectangle 338"/>
          <p:cNvSpPr>
            <a:spLocks noChangeArrowheads="1"/>
          </p:cNvSpPr>
          <p:nvPr/>
        </p:nvSpPr>
        <p:spPr bwMode="auto">
          <a:xfrm>
            <a:off x="5754743" y="3481238"/>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222.1.6.</a:t>
            </a:r>
          </a:p>
        </p:txBody>
      </p:sp>
      <p:sp>
        <p:nvSpPr>
          <p:cNvPr id="553" name="Line 339"/>
          <p:cNvSpPr>
            <a:spLocks noChangeShapeType="1"/>
          </p:cNvSpPr>
          <p:nvPr/>
        </p:nvSpPr>
        <p:spPr bwMode="auto">
          <a:xfrm>
            <a:off x="1896053" y="2801403"/>
            <a:ext cx="0" cy="2065075"/>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4" name="Rectangle 340"/>
          <p:cNvSpPr>
            <a:spLocks noChangeArrowheads="1"/>
          </p:cNvSpPr>
          <p:nvPr/>
        </p:nvSpPr>
        <p:spPr bwMode="auto">
          <a:xfrm>
            <a:off x="3950189" y="433253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anose="02010609060101010101" pitchFamily="2" charset="-122"/>
              </a:rPr>
              <a:t>N</a:t>
            </a:r>
            <a:r>
              <a:rPr lang="en-US" altLang="zh-CN" sz="2000" b="1" baseline="-25000">
                <a:solidFill>
                  <a:srgbClr val="C00000"/>
                </a:solidFill>
                <a:latin typeface="+mn-lt"/>
                <a:ea typeface="黑体" panose="02010609060101010101"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64733" y="5024404"/>
            <a:ext cx="600971" cy="376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271923" y="2869086"/>
            <a:ext cx="0" cy="253133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7" name="Line 343"/>
          <p:cNvSpPr>
            <a:spLocks noChangeShapeType="1"/>
          </p:cNvSpPr>
          <p:nvPr/>
        </p:nvSpPr>
        <p:spPr bwMode="auto">
          <a:xfrm rot="16200000">
            <a:off x="4754767" y="4294212"/>
            <a:ext cx="0" cy="234477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8" name="Line 344"/>
          <p:cNvSpPr>
            <a:spLocks noChangeShapeType="1"/>
          </p:cNvSpPr>
          <p:nvPr/>
        </p:nvSpPr>
        <p:spPr bwMode="auto">
          <a:xfrm>
            <a:off x="6221071" y="4666437"/>
            <a:ext cx="2050852"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59" name="Oval 345"/>
          <p:cNvSpPr>
            <a:spLocks noChangeArrowheads="1"/>
          </p:cNvSpPr>
          <p:nvPr/>
        </p:nvSpPr>
        <p:spPr bwMode="auto">
          <a:xfrm>
            <a:off x="6441097" y="4600259"/>
            <a:ext cx="123149" cy="11280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60" name="Rectangle 346"/>
          <p:cNvSpPr>
            <a:spLocks noChangeArrowheads="1"/>
          </p:cNvSpPr>
          <p:nvPr/>
        </p:nvSpPr>
        <p:spPr bwMode="auto">
          <a:xfrm>
            <a:off x="7306954" y="3466197"/>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2</a:t>
            </a:r>
          </a:p>
        </p:txBody>
      </p:sp>
      <p:sp>
        <p:nvSpPr>
          <p:cNvPr id="561" name="Rectangle 347"/>
          <p:cNvSpPr>
            <a:spLocks noChangeArrowheads="1"/>
          </p:cNvSpPr>
          <p:nvPr/>
        </p:nvSpPr>
        <p:spPr bwMode="auto">
          <a:xfrm>
            <a:off x="2738469" y="2162859"/>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anose="02010609060101010101" pitchFamily="2" charset="-122"/>
              </a:rPr>
              <a:t>LAN</a:t>
            </a:r>
            <a:r>
              <a:rPr lang="en-US" altLang="zh-CN" sz="2200" b="1" baseline="-25000" dirty="0">
                <a:solidFill>
                  <a:srgbClr val="000099"/>
                </a:solidFill>
                <a:latin typeface="+mn-lt"/>
                <a:ea typeface="黑体" panose="02010609060101010101" pitchFamily="2" charset="-122"/>
              </a:rPr>
              <a:t>1</a:t>
            </a:r>
          </a:p>
        </p:txBody>
      </p:sp>
      <p:sp>
        <p:nvSpPr>
          <p:cNvPr id="562" name="Line 348"/>
          <p:cNvSpPr>
            <a:spLocks noChangeShapeType="1"/>
          </p:cNvSpPr>
          <p:nvPr/>
        </p:nvSpPr>
        <p:spPr bwMode="auto">
          <a:xfrm rot="16200000">
            <a:off x="5561809" y="309040"/>
            <a:ext cx="0" cy="410334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3" name="Rectangle 349"/>
          <p:cNvSpPr>
            <a:spLocks noChangeArrowheads="1"/>
          </p:cNvSpPr>
          <p:nvPr/>
        </p:nvSpPr>
        <p:spPr bwMode="auto">
          <a:xfrm>
            <a:off x="1349268" y="5997531"/>
            <a:ext cx="734635"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anose="02010609060101010101" pitchFamily="2" charset="-122"/>
              </a:rPr>
              <a:t>互联网</a:t>
            </a:r>
          </a:p>
        </p:txBody>
      </p:sp>
      <p:sp>
        <p:nvSpPr>
          <p:cNvPr id="564" name="Line 350"/>
          <p:cNvSpPr>
            <a:spLocks noChangeShapeType="1"/>
          </p:cNvSpPr>
          <p:nvPr/>
        </p:nvSpPr>
        <p:spPr bwMode="auto">
          <a:xfrm flipV="1">
            <a:off x="1751557" y="5597452"/>
            <a:ext cx="438413" cy="400080"/>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5" name="Line 351"/>
          <p:cNvSpPr>
            <a:spLocks noChangeShapeType="1"/>
          </p:cNvSpPr>
          <p:nvPr/>
        </p:nvSpPr>
        <p:spPr bwMode="auto">
          <a:xfrm>
            <a:off x="3825398" y="1623725"/>
            <a:ext cx="0" cy="7369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6" name="Oval 352"/>
          <p:cNvSpPr>
            <a:spLocks noChangeArrowheads="1"/>
          </p:cNvSpPr>
          <p:nvPr/>
        </p:nvSpPr>
        <p:spPr bwMode="auto">
          <a:xfrm>
            <a:off x="3767929" y="1986203"/>
            <a:ext cx="96877"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67" name="Group 353"/>
          <p:cNvGrpSpPr/>
          <p:nvPr/>
        </p:nvGrpSpPr>
        <p:grpSpPr bwMode="auto">
          <a:xfrm>
            <a:off x="3542975" y="1198075"/>
            <a:ext cx="523797" cy="487315"/>
            <a:chOff x="1813" y="593"/>
            <a:chExt cx="343" cy="352"/>
          </a:xfrm>
        </p:grpSpPr>
        <p:grpSp>
          <p:nvGrpSpPr>
            <p:cNvPr id="626" name="Group 354"/>
            <p:cNvGrpSpPr/>
            <p:nvPr/>
          </p:nvGrpSpPr>
          <p:grpSpPr bwMode="auto">
            <a:xfrm>
              <a:off x="1821" y="599"/>
              <a:ext cx="335" cy="346"/>
              <a:chOff x="1821" y="599"/>
              <a:chExt cx="335" cy="346"/>
            </a:xfrm>
          </p:grpSpPr>
          <p:sp>
            <p:nvSpPr>
              <p:cNvPr id="640" name="Freeform 355"/>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1" name="Freeform 356"/>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2" name="Freeform 357"/>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3" name="Freeform 358"/>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48" name="Group 363"/>
              <p:cNvGrpSpPr/>
              <p:nvPr/>
            </p:nvGrpSpPr>
            <p:grpSpPr bwMode="auto">
              <a:xfrm>
                <a:off x="1821" y="895"/>
                <a:ext cx="335" cy="50"/>
                <a:chOff x="1821" y="895"/>
                <a:chExt cx="335" cy="50"/>
              </a:xfrm>
            </p:grpSpPr>
            <p:sp>
              <p:nvSpPr>
                <p:cNvPr id="649" name="Freeform 364"/>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0" name="Freeform 365"/>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27" name="Group 367"/>
            <p:cNvGrpSpPr/>
            <p:nvPr/>
          </p:nvGrpSpPr>
          <p:grpSpPr bwMode="auto">
            <a:xfrm>
              <a:off x="1813" y="593"/>
              <a:ext cx="335" cy="346"/>
              <a:chOff x="1813" y="593"/>
              <a:chExt cx="335" cy="346"/>
            </a:xfrm>
          </p:grpSpPr>
          <p:sp>
            <p:nvSpPr>
              <p:cNvPr id="628" name="Freeform 368"/>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9" name="Freeform 369"/>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0" name="Freeform 370"/>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1" name="Freeform 371"/>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36" name="Group 376"/>
              <p:cNvGrpSpPr/>
              <p:nvPr/>
            </p:nvGrpSpPr>
            <p:grpSpPr bwMode="auto">
              <a:xfrm>
                <a:off x="1813" y="888"/>
                <a:ext cx="335" cy="51"/>
                <a:chOff x="1813" y="888"/>
                <a:chExt cx="335" cy="51"/>
              </a:xfrm>
            </p:grpSpPr>
            <p:sp>
              <p:nvSpPr>
                <p:cNvPr id="637" name="Freeform 377"/>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8" name="Freeform 378"/>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68" name="Line 380"/>
          <p:cNvSpPr>
            <a:spLocks noChangeShapeType="1"/>
          </p:cNvSpPr>
          <p:nvPr/>
        </p:nvSpPr>
        <p:spPr bwMode="auto">
          <a:xfrm>
            <a:off x="7020721" y="1623725"/>
            <a:ext cx="0" cy="736989"/>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69" name="Line 381"/>
          <p:cNvSpPr>
            <a:spLocks noChangeShapeType="1"/>
          </p:cNvSpPr>
          <p:nvPr/>
        </p:nvSpPr>
        <p:spPr bwMode="auto">
          <a:xfrm>
            <a:off x="5423060" y="1610188"/>
            <a:ext cx="0" cy="738494"/>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70" name="Oval 382"/>
          <p:cNvSpPr>
            <a:spLocks noChangeArrowheads="1"/>
          </p:cNvSpPr>
          <p:nvPr/>
        </p:nvSpPr>
        <p:spPr bwMode="auto">
          <a:xfrm>
            <a:off x="5377085" y="1999740"/>
            <a:ext cx="95236"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1" name="Group 383"/>
          <p:cNvGrpSpPr/>
          <p:nvPr/>
        </p:nvGrpSpPr>
        <p:grpSpPr bwMode="auto">
          <a:xfrm>
            <a:off x="5153773" y="1198075"/>
            <a:ext cx="523796" cy="487315"/>
            <a:chOff x="2868" y="593"/>
            <a:chExt cx="343" cy="352"/>
          </a:xfrm>
        </p:grpSpPr>
        <p:grpSp>
          <p:nvGrpSpPr>
            <p:cNvPr id="600" name="Group 384"/>
            <p:cNvGrpSpPr/>
            <p:nvPr/>
          </p:nvGrpSpPr>
          <p:grpSpPr bwMode="auto">
            <a:xfrm>
              <a:off x="2877" y="599"/>
              <a:ext cx="334" cy="346"/>
              <a:chOff x="2877" y="599"/>
              <a:chExt cx="334" cy="346"/>
            </a:xfrm>
          </p:grpSpPr>
          <p:sp>
            <p:nvSpPr>
              <p:cNvPr id="614" name="Freeform 385"/>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5" name="Freeform 386"/>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6" name="Freeform 387"/>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7" name="Freeform 388"/>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22" name="Group 393"/>
              <p:cNvGrpSpPr/>
              <p:nvPr/>
            </p:nvGrpSpPr>
            <p:grpSpPr bwMode="auto">
              <a:xfrm>
                <a:off x="2877" y="895"/>
                <a:ext cx="334" cy="50"/>
                <a:chOff x="2877" y="895"/>
                <a:chExt cx="334" cy="50"/>
              </a:xfrm>
            </p:grpSpPr>
            <p:sp>
              <p:nvSpPr>
                <p:cNvPr id="623" name="Freeform 394"/>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4" name="Freeform 395"/>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601" name="Group 397"/>
            <p:cNvGrpSpPr/>
            <p:nvPr/>
          </p:nvGrpSpPr>
          <p:grpSpPr bwMode="auto">
            <a:xfrm>
              <a:off x="2868" y="593"/>
              <a:ext cx="335" cy="346"/>
              <a:chOff x="2868" y="593"/>
              <a:chExt cx="335" cy="346"/>
            </a:xfrm>
          </p:grpSpPr>
          <p:sp>
            <p:nvSpPr>
              <p:cNvPr id="602" name="Freeform 398"/>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3" name="Freeform 399"/>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4" name="Freeform 400"/>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5" name="Freeform 401"/>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610" name="Group 406"/>
              <p:cNvGrpSpPr/>
              <p:nvPr/>
            </p:nvGrpSpPr>
            <p:grpSpPr bwMode="auto">
              <a:xfrm>
                <a:off x="2868" y="888"/>
                <a:ext cx="335" cy="51"/>
                <a:chOff x="2868" y="888"/>
                <a:chExt cx="335" cy="51"/>
              </a:xfrm>
            </p:grpSpPr>
            <p:sp>
              <p:nvSpPr>
                <p:cNvPr id="611" name="Freeform 407"/>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2" name="Freeform 408"/>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572" name="Oval 410"/>
          <p:cNvSpPr>
            <a:spLocks noChangeArrowheads="1"/>
          </p:cNvSpPr>
          <p:nvPr/>
        </p:nvSpPr>
        <p:spPr bwMode="auto">
          <a:xfrm>
            <a:off x="6974746" y="1999740"/>
            <a:ext cx="96878" cy="87235"/>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grpSp>
        <p:nvGrpSpPr>
          <p:cNvPr id="573" name="Group 411"/>
          <p:cNvGrpSpPr/>
          <p:nvPr/>
        </p:nvGrpSpPr>
        <p:grpSpPr bwMode="auto">
          <a:xfrm>
            <a:off x="6751435" y="1198075"/>
            <a:ext cx="523797" cy="487315"/>
            <a:chOff x="3915" y="593"/>
            <a:chExt cx="343" cy="352"/>
          </a:xfrm>
        </p:grpSpPr>
        <p:grpSp>
          <p:nvGrpSpPr>
            <p:cNvPr id="574" name="Group 412"/>
            <p:cNvGrpSpPr/>
            <p:nvPr/>
          </p:nvGrpSpPr>
          <p:grpSpPr bwMode="auto">
            <a:xfrm>
              <a:off x="3924" y="599"/>
              <a:ext cx="334" cy="346"/>
              <a:chOff x="3924" y="599"/>
              <a:chExt cx="334" cy="346"/>
            </a:xfrm>
          </p:grpSpPr>
          <p:sp>
            <p:nvSpPr>
              <p:cNvPr id="588" name="Freeform 413"/>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9" name="Freeform 414"/>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0" name="Freeform 415"/>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1" name="Freeform 416"/>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96" name="Group 421"/>
              <p:cNvGrpSpPr/>
              <p:nvPr/>
            </p:nvGrpSpPr>
            <p:grpSpPr bwMode="auto">
              <a:xfrm>
                <a:off x="3924" y="895"/>
                <a:ext cx="334" cy="50"/>
                <a:chOff x="3924" y="895"/>
                <a:chExt cx="334" cy="50"/>
              </a:xfrm>
            </p:grpSpPr>
            <p:sp>
              <p:nvSpPr>
                <p:cNvPr id="597" name="Freeform 422"/>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8" name="Freeform 423"/>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nvGrpSpPr>
            <p:cNvPr id="575" name="Group 425"/>
            <p:cNvGrpSpPr/>
            <p:nvPr/>
          </p:nvGrpSpPr>
          <p:grpSpPr bwMode="auto">
            <a:xfrm>
              <a:off x="3915" y="593"/>
              <a:ext cx="335" cy="346"/>
              <a:chOff x="3915" y="593"/>
              <a:chExt cx="335" cy="346"/>
            </a:xfrm>
          </p:grpSpPr>
          <p:sp>
            <p:nvSpPr>
              <p:cNvPr id="576" name="Freeform 426"/>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7" name="Freeform 427"/>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8" name="Freeform 428"/>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79" name="Freeform 429"/>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b="1">
                  <a:latin typeface="+mn-lt"/>
                  <a:ea typeface="黑体" panose="02010609060101010101" pitchFamily="2" charset="-122"/>
                </a:endParaRPr>
              </a:p>
            </p:txBody>
          </p:sp>
          <p:grpSp>
            <p:nvGrpSpPr>
              <p:cNvPr id="584" name="Group 434"/>
              <p:cNvGrpSpPr/>
              <p:nvPr/>
            </p:nvGrpSpPr>
            <p:grpSpPr bwMode="auto">
              <a:xfrm>
                <a:off x="3915" y="888"/>
                <a:ext cx="335" cy="51"/>
                <a:chOff x="3915" y="888"/>
                <a:chExt cx="335" cy="51"/>
              </a:xfrm>
            </p:grpSpPr>
            <p:sp>
              <p:nvSpPr>
                <p:cNvPr id="585" name="Freeform 435"/>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6" name="Freeform 436"/>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latin typeface="+mn-lt"/>
                    <a:ea typeface="黑体" panose="02010609060101010101"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anose="02010609060101010101" pitchFamily="2" charset="-122"/>
                  </a:endParaRPr>
                </a:p>
              </p:txBody>
            </p:sp>
          </p:grpSp>
        </p:grpSp>
      </p:grpSp>
      <p:sp>
        <p:nvSpPr>
          <p:cNvPr id="447" name="Text Box 438"/>
          <p:cNvSpPr txBox="1">
            <a:spLocks noChangeArrowheads="1"/>
          </p:cNvSpPr>
          <p:nvPr/>
        </p:nvSpPr>
        <p:spPr bwMode="auto">
          <a:xfrm>
            <a:off x="560512" y="186547"/>
            <a:ext cx="8973873" cy="1514261"/>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lnSpc>
                <a:spcPct val="110000"/>
              </a:lnSpc>
              <a:defRPr sz="2800" b="1">
                <a:solidFill>
                  <a:srgbClr val="000099"/>
                </a:solidFill>
                <a:latin typeface="+mn-lt"/>
                <a:ea typeface="黑体" panose="02010609060101010101" pitchFamily="2" charset="-122"/>
              </a:defRPr>
            </a:lvl1pPr>
          </a:lstStyle>
          <a:p>
            <a:r>
              <a:rPr lang="zh-CN" altLang="en-US" dirty="0"/>
              <a:t>两个路由器直接相连的接口处，可指明也可不指明 </a:t>
            </a:r>
            <a:r>
              <a:rPr lang="en-US" altLang="zh-CN" dirty="0"/>
              <a:t>IP </a:t>
            </a:r>
            <a:r>
              <a:rPr lang="zh-CN" altLang="en-US" dirty="0"/>
              <a:t>地址。如指明 </a:t>
            </a:r>
            <a:r>
              <a:rPr lang="en-US" altLang="zh-CN" dirty="0"/>
              <a:t>IP </a:t>
            </a:r>
            <a:r>
              <a:rPr lang="zh-CN" altLang="en-US" dirty="0"/>
              <a:t>地址，则这一段连线就构成了一种只包含一段线路的特殊“网络” 。现在常不指明 </a:t>
            </a:r>
            <a:r>
              <a:rPr lang="en-US" altLang="zh-CN" dirty="0"/>
              <a:t>IP </a:t>
            </a:r>
            <a:r>
              <a:rPr lang="zh-CN" altLang="en-US" dirty="0"/>
              <a:t>地址。</a:t>
            </a:r>
          </a:p>
        </p:txBody>
      </p:sp>
      <p:sp>
        <p:nvSpPr>
          <p:cNvPr id="455" name="Line 9"/>
          <p:cNvSpPr>
            <a:spLocks noChangeShapeType="1"/>
          </p:cNvSpPr>
          <p:nvPr/>
        </p:nvSpPr>
        <p:spPr bwMode="auto">
          <a:xfrm>
            <a:off x="3216218" y="4732616"/>
            <a:ext cx="249255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anose="02010609060101010101" pitchFamily="2" charset="-122"/>
            </a:endParaRPr>
          </a:p>
        </p:txBody>
      </p:sp>
      <p:sp>
        <p:nvSpPr>
          <p:cNvPr id="508" name="Oval 294"/>
          <p:cNvSpPr>
            <a:spLocks noChangeArrowheads="1"/>
          </p:cNvSpPr>
          <p:nvPr/>
        </p:nvSpPr>
        <p:spPr bwMode="auto">
          <a:xfrm>
            <a:off x="3620148" y="4695015"/>
            <a:ext cx="96877" cy="88739"/>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
        <p:nvSpPr>
          <p:cNvPr id="509" name="Oval 295"/>
          <p:cNvSpPr>
            <a:spLocks noChangeArrowheads="1"/>
          </p:cNvSpPr>
          <p:nvPr/>
        </p:nvSpPr>
        <p:spPr bwMode="auto">
          <a:xfrm>
            <a:off x="5342602" y="4688999"/>
            <a:ext cx="95236" cy="85731"/>
          </a:xfrm>
          <a:prstGeom prst="ellipse">
            <a:avLst/>
          </a:prstGeom>
          <a:solidFill>
            <a:srgbClr val="FFFFFF"/>
          </a:solidFill>
          <a:ln w="30163">
            <a:solidFill>
              <a:srgbClr val="000000"/>
            </a:solidFill>
            <a:round/>
          </a:ln>
        </p:spPr>
        <p:txBody>
          <a:bodyPr/>
          <a:lstStyle/>
          <a:p>
            <a:endParaRPr lang="zh-CN" altLang="en-US" b="1">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8501039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2"/>
          <p:cNvSpPr>
            <a:spLocks noGrp="1" noChangeArrowheads="1"/>
          </p:cNvSpPr>
          <p:nvPr>
            <p:ph type="title"/>
          </p:nvPr>
        </p:nvSpPr>
        <p:spPr/>
        <p:txBody>
          <a:bodyPr/>
          <a:lstStyle/>
          <a:p>
            <a:r>
              <a:rPr lang="en-US" altLang="zh-CN" dirty="0"/>
              <a:t>4.3.1   </a:t>
            </a:r>
            <a:r>
              <a:rPr lang="zh-CN" altLang="en-US" dirty="0"/>
              <a:t>划分子网</a:t>
            </a:r>
          </a:p>
        </p:txBody>
      </p:sp>
      <p:sp>
        <p:nvSpPr>
          <p:cNvPr id="500739" name="Rectangle 3"/>
          <p:cNvSpPr>
            <a:spLocks noGrp="1" noChangeArrowheads="1"/>
          </p:cNvSpPr>
          <p:nvPr>
            <p:ph idx="1"/>
          </p:nvPr>
        </p:nvSpPr>
        <p:spPr/>
        <p:txBody>
          <a:bodyPr/>
          <a:lstStyle/>
          <a:p>
            <a:pPr algn="just">
              <a:buFont typeface="Wingdings" panose="05000000000000000000" pitchFamily="2" charset="2"/>
              <a:buNone/>
            </a:pPr>
            <a:r>
              <a:rPr lang="en-US" altLang="zh-CN" sz="4400" dirty="0">
                <a:solidFill>
                  <a:srgbClr val="333399"/>
                </a:solidFill>
                <a:cs typeface="+mj-cs"/>
              </a:rPr>
              <a:t>1. </a:t>
            </a:r>
            <a:r>
              <a:rPr lang="zh-CN" altLang="en-US" sz="4400" dirty="0">
                <a:solidFill>
                  <a:srgbClr val="333399"/>
                </a:solidFill>
                <a:cs typeface="+mj-cs"/>
              </a:rPr>
              <a:t>从两级 </a:t>
            </a:r>
            <a:r>
              <a:rPr lang="en-US" altLang="zh-CN" sz="4400" dirty="0">
                <a:solidFill>
                  <a:srgbClr val="333399"/>
                </a:solidFill>
                <a:cs typeface="+mj-cs"/>
              </a:rPr>
              <a:t>IP </a:t>
            </a:r>
            <a:r>
              <a:rPr lang="zh-CN" altLang="en-US" sz="4400" dirty="0">
                <a:solidFill>
                  <a:srgbClr val="333399"/>
                </a:solidFill>
                <a:cs typeface="+mj-cs"/>
              </a:rPr>
              <a:t>地址到三级 </a:t>
            </a:r>
            <a:r>
              <a:rPr lang="en-US" altLang="zh-CN" sz="4400" dirty="0">
                <a:solidFill>
                  <a:srgbClr val="333399"/>
                </a:solidFill>
                <a:cs typeface="+mj-cs"/>
              </a:rPr>
              <a:t>IP </a:t>
            </a:r>
            <a:r>
              <a:rPr lang="zh-CN" altLang="en-US" sz="4400" dirty="0">
                <a:solidFill>
                  <a:srgbClr val="333399"/>
                </a:solidFill>
                <a:cs typeface="+mj-cs"/>
              </a:rPr>
              <a:t>地址 </a:t>
            </a:r>
          </a:p>
          <a:p>
            <a:pPr algn="just"/>
            <a:r>
              <a:rPr lang="zh-CN" altLang="en-US" dirty="0"/>
              <a:t>在 </a:t>
            </a:r>
            <a:r>
              <a:rPr lang="en-US" altLang="zh-CN" dirty="0"/>
              <a:t>ARPANET </a:t>
            </a:r>
            <a:r>
              <a:rPr lang="zh-CN" altLang="en-US" dirty="0"/>
              <a:t>的早期，</a:t>
            </a:r>
            <a:r>
              <a:rPr lang="en-US" altLang="zh-CN" dirty="0"/>
              <a:t>IP </a:t>
            </a:r>
            <a:r>
              <a:rPr lang="zh-CN" altLang="en-US" dirty="0"/>
              <a:t>地址的设计确实不够合理：</a:t>
            </a:r>
          </a:p>
          <a:p>
            <a:pPr lvl="1" algn="just"/>
            <a:r>
              <a:rPr lang="en-US" altLang="zh-CN" dirty="0">
                <a:latin typeface="Arial" panose="020B0604020202020204" pitchFamily="34" charset="0"/>
                <a:ea typeface="黑体" panose="02010609060101010101" pitchFamily="2" charset="-122"/>
              </a:rPr>
              <a:t>(1) IP </a:t>
            </a:r>
            <a:r>
              <a:rPr lang="zh-CN" altLang="en-US" dirty="0">
                <a:latin typeface="Arial" panose="020B0604020202020204" pitchFamily="34" charset="0"/>
                <a:ea typeface="黑体" panose="02010609060101010101" pitchFamily="2" charset="-122"/>
              </a:rPr>
              <a:t>地址空间的利用率有时很低。 </a:t>
            </a:r>
          </a:p>
          <a:p>
            <a:pPr lvl="1" algn="just"/>
            <a:r>
              <a:rPr lang="en-US" altLang="zh-CN" dirty="0">
                <a:latin typeface="Arial" panose="020B0604020202020204" pitchFamily="34" charset="0"/>
                <a:ea typeface="黑体" panose="02010609060101010101" pitchFamily="2" charset="-122"/>
              </a:rPr>
              <a:t>(2) </a:t>
            </a:r>
            <a:r>
              <a:rPr lang="zh-CN" altLang="en-US" dirty="0">
                <a:latin typeface="Arial" panose="020B0604020202020204" pitchFamily="34" charset="0"/>
                <a:ea typeface="黑体" panose="02010609060101010101" pitchFamily="2" charset="-122"/>
              </a:rPr>
              <a:t>给每一个物理网络分配一个网络号会使路由表变得太大因而使网络性能变坏。 </a:t>
            </a:r>
          </a:p>
          <a:p>
            <a:pPr lvl="1" algn="just"/>
            <a:r>
              <a:rPr lang="en-US" altLang="zh-CN" dirty="0">
                <a:latin typeface="Arial" panose="020B0604020202020204" pitchFamily="34" charset="0"/>
                <a:ea typeface="黑体" panose="02010609060101010101" pitchFamily="2" charset="-122"/>
              </a:rPr>
              <a:t>(3) </a:t>
            </a:r>
            <a:r>
              <a:rPr lang="zh-CN" altLang="en-US" dirty="0">
                <a:latin typeface="Arial" panose="020B0604020202020204" pitchFamily="34" charset="0"/>
                <a:ea typeface="黑体" panose="02010609060101010101" pitchFamily="2" charset="-122"/>
              </a:rPr>
              <a:t>两级的 </a:t>
            </a:r>
            <a:r>
              <a:rPr lang="en-US" altLang="zh-CN" dirty="0">
                <a:latin typeface="Arial" panose="020B0604020202020204" pitchFamily="34" charset="0"/>
                <a:ea typeface="黑体" panose="02010609060101010101" pitchFamily="2" charset="-122"/>
              </a:rPr>
              <a:t>IP </a:t>
            </a:r>
            <a:r>
              <a:rPr lang="zh-CN" altLang="en-US" dirty="0">
                <a:latin typeface="Arial" panose="020B0604020202020204" pitchFamily="34" charset="0"/>
                <a:ea typeface="黑体" panose="02010609060101010101" pitchFamily="2" charset="-122"/>
              </a:rPr>
              <a:t>地址不够灵活。</a:t>
            </a:r>
            <a:r>
              <a:rPr lang="zh-CN" altLang="en-US" dirty="0"/>
              <a:t>  </a:t>
            </a:r>
          </a:p>
        </p:txBody>
      </p:sp>
    </p:spTree>
    <p:extLst>
      <p:ext uri="{BB962C8B-B14F-4D97-AF65-F5344CB8AC3E}">
        <p14:creationId xmlns:p14="http://schemas.microsoft.com/office/powerpoint/2010/main" val="1007081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3" name="Rectangle 3"/>
          <p:cNvSpPr>
            <a:spLocks noGrp="1" noChangeArrowheads="1"/>
          </p:cNvSpPr>
          <p:nvPr>
            <p:ph type="title"/>
          </p:nvPr>
        </p:nvSpPr>
        <p:spPr/>
        <p:txBody>
          <a:bodyPr/>
          <a:lstStyle/>
          <a:p>
            <a:pPr algn="ctr"/>
            <a:r>
              <a:rPr lang="zh-CN" altLang="en-US" dirty="0"/>
              <a:t>三级 </a:t>
            </a:r>
            <a:r>
              <a:rPr lang="en-US" altLang="zh-CN" dirty="0"/>
              <a:t>IP </a:t>
            </a:r>
            <a:r>
              <a:rPr lang="zh-CN" altLang="en-US" dirty="0"/>
              <a:t>地址 </a:t>
            </a:r>
          </a:p>
        </p:txBody>
      </p:sp>
      <p:sp>
        <p:nvSpPr>
          <p:cNvPr id="501762" name="Rectangle 2"/>
          <p:cNvSpPr>
            <a:spLocks noGrp="1" noChangeArrowheads="1"/>
          </p:cNvSpPr>
          <p:nvPr>
            <p:ph idx="1"/>
          </p:nvPr>
        </p:nvSpPr>
        <p:spPr/>
        <p:txBody>
          <a:bodyPr/>
          <a:lstStyle/>
          <a:p>
            <a:r>
              <a:rPr lang="zh-CN" altLang="en-US" dirty="0"/>
              <a:t>从 </a:t>
            </a:r>
            <a:r>
              <a:rPr lang="en-US" altLang="zh-CN" dirty="0"/>
              <a:t>1985 </a:t>
            </a:r>
            <a:r>
              <a:rPr lang="zh-CN" altLang="en-US" dirty="0"/>
              <a:t>年起在 </a:t>
            </a:r>
            <a:r>
              <a:rPr lang="en-US" altLang="zh-CN" dirty="0"/>
              <a:t>IP </a:t>
            </a:r>
            <a:r>
              <a:rPr lang="zh-CN" altLang="en-US" dirty="0"/>
              <a:t>地址中又增加了一个“</a:t>
            </a:r>
            <a:r>
              <a:rPr lang="zh-CN" altLang="en-US" dirty="0">
                <a:solidFill>
                  <a:srgbClr val="FF0000"/>
                </a:solidFill>
              </a:rPr>
              <a:t>子网号字段</a:t>
            </a:r>
            <a:r>
              <a:rPr lang="zh-CN" altLang="en-US" dirty="0"/>
              <a:t>”，使两级的 </a:t>
            </a:r>
            <a:r>
              <a:rPr lang="en-US" altLang="zh-CN" dirty="0"/>
              <a:t>IP </a:t>
            </a:r>
            <a:r>
              <a:rPr lang="zh-CN" altLang="en-US" dirty="0"/>
              <a:t>地址变成为</a:t>
            </a:r>
            <a:r>
              <a:rPr lang="zh-CN" altLang="en-US" dirty="0">
                <a:solidFill>
                  <a:srgbClr val="FF0000"/>
                </a:solidFill>
              </a:rPr>
              <a:t>三级的 </a:t>
            </a:r>
            <a:r>
              <a:rPr lang="en-US" altLang="zh-CN" dirty="0">
                <a:solidFill>
                  <a:srgbClr val="FF0000"/>
                </a:solidFill>
              </a:rPr>
              <a:t>IP </a:t>
            </a:r>
            <a:r>
              <a:rPr lang="zh-CN" altLang="en-US" dirty="0">
                <a:solidFill>
                  <a:srgbClr val="FF0000"/>
                </a:solidFill>
              </a:rPr>
              <a:t>地址。</a:t>
            </a:r>
          </a:p>
          <a:p>
            <a:r>
              <a:rPr lang="zh-CN" altLang="en-US" dirty="0"/>
              <a:t>这种做法叫作</a:t>
            </a:r>
            <a:r>
              <a:rPr lang="zh-CN" altLang="en-US" dirty="0">
                <a:solidFill>
                  <a:srgbClr val="FF0000"/>
                </a:solidFill>
              </a:rPr>
              <a:t>划分子网 </a:t>
            </a:r>
            <a:r>
              <a:rPr lang="en-US" altLang="zh-CN" dirty="0"/>
              <a:t>(</a:t>
            </a:r>
            <a:r>
              <a:rPr lang="en-US" altLang="zh-CN" dirty="0" err="1"/>
              <a:t>subnetting</a:t>
            </a:r>
            <a:r>
              <a:rPr lang="en-US" altLang="zh-CN" dirty="0"/>
              <a:t>) </a:t>
            </a:r>
            <a:r>
              <a:rPr lang="zh-CN" altLang="en-US" dirty="0"/>
              <a:t>。</a:t>
            </a:r>
            <a:endParaRPr lang="en-US" altLang="zh-CN" dirty="0"/>
          </a:p>
          <a:p>
            <a:r>
              <a:rPr lang="zh-CN" altLang="en-US" dirty="0"/>
              <a:t>划分子网已成为互联网的正式标准协议。 </a:t>
            </a:r>
          </a:p>
        </p:txBody>
      </p:sp>
    </p:spTree>
    <p:extLst>
      <p:ext uri="{BB962C8B-B14F-4D97-AF65-F5344CB8AC3E}">
        <p14:creationId xmlns:p14="http://schemas.microsoft.com/office/powerpoint/2010/main" val="2259286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176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8" name="Rectangle 4"/>
          <p:cNvSpPr>
            <a:spLocks noGrp="1" noChangeArrowheads="1"/>
          </p:cNvSpPr>
          <p:nvPr>
            <p:ph type="title"/>
          </p:nvPr>
        </p:nvSpPr>
        <p:spPr/>
        <p:txBody>
          <a:bodyPr/>
          <a:lstStyle/>
          <a:p>
            <a:pPr algn="ctr"/>
            <a:r>
              <a:rPr lang="zh-CN" altLang="en-US"/>
              <a:t>划分子网的基本思路 </a:t>
            </a:r>
          </a:p>
        </p:txBody>
      </p:sp>
      <p:sp>
        <p:nvSpPr>
          <p:cNvPr id="502787" name="Rectangle 3"/>
          <p:cNvSpPr>
            <a:spLocks noGrp="1" noChangeArrowheads="1"/>
          </p:cNvSpPr>
          <p:nvPr>
            <p:ph idx="1"/>
          </p:nvPr>
        </p:nvSpPr>
        <p:spPr/>
        <p:txBody>
          <a:bodyPr/>
          <a:lstStyle/>
          <a:p>
            <a:pPr algn="just">
              <a:spcAft>
                <a:spcPts val="0"/>
              </a:spcAft>
            </a:pPr>
            <a:r>
              <a:rPr lang="zh-CN" altLang="en-US" sz="2800" dirty="0"/>
              <a:t>划分子网纯属一个</a:t>
            </a:r>
            <a:r>
              <a:rPr lang="zh-CN" altLang="en-US" sz="2800" dirty="0">
                <a:solidFill>
                  <a:srgbClr val="FF0000"/>
                </a:solidFill>
              </a:rPr>
              <a:t>单位内部的事情</a:t>
            </a:r>
            <a:r>
              <a:rPr lang="zh-CN" altLang="en-US" sz="2800" dirty="0"/>
              <a:t>。单位对外仍然表现为没有划分子网的网络。</a:t>
            </a:r>
          </a:p>
          <a:p>
            <a:pPr algn="just">
              <a:spcAft>
                <a:spcPts val="0"/>
              </a:spcAft>
            </a:pPr>
            <a:r>
              <a:rPr lang="zh-CN" altLang="en-US" sz="2800" dirty="0"/>
              <a:t>从主机号</a:t>
            </a:r>
            <a:r>
              <a:rPr lang="zh-CN" altLang="en-US" sz="2800" dirty="0">
                <a:solidFill>
                  <a:srgbClr val="FF0000"/>
                </a:solidFill>
              </a:rPr>
              <a:t>借用</a:t>
            </a:r>
            <a:r>
              <a:rPr lang="zh-CN" altLang="en-US" sz="2800" dirty="0"/>
              <a:t>若干个位作为</a:t>
            </a:r>
            <a:r>
              <a:rPr lang="zh-CN" altLang="en-US" sz="2800" dirty="0">
                <a:solidFill>
                  <a:srgbClr val="FF0000"/>
                </a:solidFill>
              </a:rPr>
              <a:t>子网号</a:t>
            </a:r>
            <a:r>
              <a:rPr lang="zh-CN" altLang="en-US" sz="2800" dirty="0"/>
              <a:t> </a:t>
            </a:r>
            <a:r>
              <a:rPr lang="en-US" altLang="zh-CN" sz="2800" dirty="0"/>
              <a:t>subnet-id</a:t>
            </a:r>
            <a:r>
              <a:rPr lang="zh-CN" altLang="en-US" sz="2800" dirty="0"/>
              <a:t>，而主机号 </a:t>
            </a:r>
            <a:r>
              <a:rPr lang="en-US" altLang="zh-CN" sz="2800" dirty="0"/>
              <a:t>host-id </a:t>
            </a:r>
            <a:r>
              <a:rPr lang="zh-CN" altLang="en-US" sz="2800" dirty="0"/>
              <a:t>也就相应减少了若干个位。</a:t>
            </a:r>
          </a:p>
          <a:p>
            <a:pPr algn="just">
              <a:buFont typeface="Wingdings" panose="05000000000000000000" pitchFamily="2" charset="2"/>
              <a:buNone/>
            </a:pPr>
            <a:endParaRPr lang="en-US" altLang="zh-CN" sz="2800" dirty="0"/>
          </a:p>
        </p:txBody>
      </p:sp>
      <p:sp>
        <p:nvSpPr>
          <p:cNvPr id="502786" name="Rectangle 2"/>
          <p:cNvSpPr>
            <a:spLocks noChangeArrowheads="1"/>
          </p:cNvSpPr>
          <p:nvPr/>
        </p:nvSpPr>
        <p:spPr bwMode="auto">
          <a:xfrm>
            <a:off x="770620" y="5445224"/>
            <a:ext cx="8790892" cy="648072"/>
          </a:xfrm>
          <a:prstGeom prst="rect">
            <a:avLst/>
          </a:prstGeom>
          <a:solidFill>
            <a:srgbClr val="66FF33"/>
          </a:solidFill>
          <a:ln w="28575">
            <a:solidFill>
              <a:schemeClr val="tx1"/>
            </a:solidFill>
            <a:miter lim="800000"/>
          </a:ln>
          <a:effectLst>
            <a:outerShdw dist="35921" dir="2700000" algn="ctr" rotWithShape="0">
              <a:schemeClr val="bg2"/>
            </a:outerShdw>
          </a:effectLst>
        </p:spPr>
        <p:txBody>
          <a:bodyPr wrap="none" anchor="ctr"/>
          <a:lstStyle/>
          <a:p>
            <a:pPr algn="ctr"/>
            <a:r>
              <a:rPr lang="en-US" altLang="zh-CN" sz="2800" b="1" dirty="0">
                <a:solidFill>
                  <a:srgbClr val="0000CC"/>
                </a:solidFill>
                <a:latin typeface="+mn-lt"/>
                <a:ea typeface="黑体" panose="02010609060101010101" pitchFamily="2" charset="-122"/>
              </a:rPr>
              <a:t>IP</a:t>
            </a:r>
            <a:r>
              <a:rPr lang="zh-CN" altLang="en-US" sz="2800" b="1" dirty="0">
                <a:solidFill>
                  <a:srgbClr val="0000CC"/>
                </a:solidFill>
                <a:latin typeface="+mn-lt"/>
                <a:ea typeface="黑体" panose="02010609060101010101" pitchFamily="2" charset="-122"/>
              </a:rPr>
              <a:t>地址 </a:t>
            </a:r>
            <a:r>
              <a:rPr lang="en-US" altLang="zh-CN" sz="2800" b="1" dirty="0">
                <a:solidFill>
                  <a:srgbClr val="0000CC"/>
                </a:solidFill>
                <a:latin typeface="+mn-lt"/>
                <a:ea typeface="黑体" panose="02010609060101010101" pitchFamily="2" charset="-122"/>
              </a:rPr>
              <a:t>::= {&lt;</a:t>
            </a:r>
            <a:r>
              <a:rPr lang="zh-CN" altLang="en-US" sz="2800" b="1" dirty="0">
                <a:solidFill>
                  <a:srgbClr val="0000CC"/>
                </a:solidFill>
                <a:latin typeface="+mn-lt"/>
                <a:ea typeface="黑体" panose="02010609060101010101" pitchFamily="2" charset="-122"/>
              </a:rPr>
              <a:t>网络号</a:t>
            </a:r>
            <a:r>
              <a:rPr lang="en-US" altLang="zh-CN" sz="2800" b="1" dirty="0">
                <a:solidFill>
                  <a:srgbClr val="0000CC"/>
                </a:solidFill>
                <a:latin typeface="+mn-lt"/>
                <a:ea typeface="黑体" panose="02010609060101010101" pitchFamily="2" charset="-122"/>
              </a:rPr>
              <a:t>&gt;, &lt;</a:t>
            </a:r>
            <a:r>
              <a:rPr lang="zh-CN" altLang="en-US" sz="2800" b="1" dirty="0">
                <a:solidFill>
                  <a:srgbClr val="0000CC"/>
                </a:solidFill>
                <a:latin typeface="+mn-lt"/>
                <a:ea typeface="黑体" panose="02010609060101010101" pitchFamily="2" charset="-122"/>
              </a:rPr>
              <a:t>子网号</a:t>
            </a:r>
            <a:r>
              <a:rPr lang="en-US" altLang="zh-CN" sz="2800" b="1" dirty="0">
                <a:solidFill>
                  <a:srgbClr val="0000CC"/>
                </a:solidFill>
                <a:latin typeface="+mn-lt"/>
                <a:ea typeface="黑体" panose="02010609060101010101" pitchFamily="2" charset="-122"/>
              </a:rPr>
              <a:t>&gt;, &lt;</a:t>
            </a:r>
            <a:r>
              <a:rPr lang="zh-CN" altLang="en-US" sz="2800" b="1" dirty="0">
                <a:solidFill>
                  <a:srgbClr val="0000CC"/>
                </a:solidFill>
                <a:latin typeface="+mn-lt"/>
                <a:ea typeface="黑体" panose="02010609060101010101" pitchFamily="2" charset="-122"/>
              </a:rPr>
              <a:t>主机号</a:t>
            </a:r>
            <a:r>
              <a:rPr lang="en-US" altLang="zh-CN" sz="2800" b="1" dirty="0">
                <a:solidFill>
                  <a:srgbClr val="0000CC"/>
                </a:solidFill>
                <a:latin typeface="+mn-lt"/>
                <a:ea typeface="黑体" panose="02010609060101010101" pitchFamily="2" charset="-122"/>
              </a:rPr>
              <a:t>&gt;}        (4-2)</a:t>
            </a:r>
            <a:endParaRPr lang="zh-CN" altLang="en-US" sz="2800" b="1" dirty="0">
              <a:solidFill>
                <a:srgbClr val="0000CC"/>
              </a:solidFill>
              <a:latin typeface="+mn-lt"/>
              <a:ea typeface="黑体" panose="02010609060101010101" pitchFamily="2" charset="-122"/>
            </a:endParaRPr>
          </a:p>
        </p:txBody>
      </p:sp>
      <p:grpSp>
        <p:nvGrpSpPr>
          <p:cNvPr id="2" name="组合 1"/>
          <p:cNvGrpSpPr/>
          <p:nvPr/>
        </p:nvGrpSpPr>
        <p:grpSpPr>
          <a:xfrm>
            <a:off x="1839416" y="3429000"/>
            <a:ext cx="5490146" cy="1752599"/>
            <a:chOff x="1839416" y="3501009"/>
            <a:chExt cx="5490146" cy="1752599"/>
          </a:xfrm>
        </p:grpSpPr>
        <p:grpSp>
          <p:nvGrpSpPr>
            <p:cNvPr id="23" name="Group 19"/>
            <p:cNvGrpSpPr/>
            <p:nvPr/>
          </p:nvGrpSpPr>
          <p:grpSpPr bwMode="auto">
            <a:xfrm>
              <a:off x="4160912" y="3577204"/>
              <a:ext cx="3168650" cy="500062"/>
              <a:chOff x="2375" y="2045"/>
              <a:chExt cx="1996" cy="430"/>
            </a:xfrm>
          </p:grpSpPr>
          <p:sp>
            <p:nvSpPr>
              <p:cNvPr id="24" name="Line 13"/>
              <p:cNvSpPr>
                <a:spLocks noChangeShapeType="1"/>
              </p:cNvSpPr>
              <p:nvPr/>
            </p:nvSpPr>
            <p:spPr bwMode="auto">
              <a:xfrm>
                <a:off x="4371" y="2045"/>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5" name="Line 14"/>
              <p:cNvSpPr>
                <a:spLocks noChangeShapeType="1"/>
              </p:cNvSpPr>
              <p:nvPr/>
            </p:nvSpPr>
            <p:spPr bwMode="auto">
              <a:xfrm>
                <a:off x="2375" y="2045"/>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grpSp>
          <p:nvGrpSpPr>
            <p:cNvPr id="26" name="Group 21"/>
            <p:cNvGrpSpPr/>
            <p:nvPr/>
          </p:nvGrpSpPr>
          <p:grpSpPr bwMode="auto">
            <a:xfrm>
              <a:off x="1867991" y="3501009"/>
              <a:ext cx="5454650" cy="1728788"/>
              <a:chOff x="755" y="2169"/>
              <a:chExt cx="3436" cy="1089"/>
            </a:xfrm>
          </p:grpSpPr>
          <p:sp>
            <p:nvSpPr>
              <p:cNvPr id="2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8" name="Text Box 10"/>
              <p:cNvSpPr txBox="1">
                <a:spLocks noChangeArrowheads="1"/>
              </p:cNvSpPr>
              <p:nvPr/>
            </p:nvSpPr>
            <p:spPr bwMode="auto">
              <a:xfrm>
                <a:off x="2218" y="2967"/>
                <a:ext cx="527" cy="29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位</a:t>
                </a:r>
              </a:p>
            </p:txBody>
          </p:sp>
          <p:sp>
            <p:nvSpPr>
              <p:cNvPr id="29" name="Line 15"/>
              <p:cNvSpPr>
                <a:spLocks noChangeShapeType="1"/>
              </p:cNvSpPr>
              <p:nvPr/>
            </p:nvSpPr>
            <p:spPr bwMode="auto">
              <a:xfrm>
                <a:off x="2199" y="2350"/>
                <a:ext cx="1992"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30" name="Text Box 16"/>
              <p:cNvSpPr txBox="1">
                <a:spLocks noChangeArrowheads="1"/>
              </p:cNvSpPr>
              <p:nvPr/>
            </p:nvSpPr>
            <p:spPr bwMode="auto">
              <a:xfrm>
                <a:off x="2789" y="2169"/>
                <a:ext cx="896" cy="29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rgbClr val="C00000"/>
                    </a:solidFill>
                    <a:effectLst/>
                    <a:uLnTx/>
                    <a:uFillTx/>
                    <a:latin typeface="+mn-lt"/>
                    <a:ea typeface="黑体" panose="02010609060101010101" pitchFamily="2" charset="-122"/>
                  </a:rPr>
                  <a:t>本地地址</a:t>
                </a:r>
              </a:p>
            </p:txBody>
          </p:sp>
        </p:grpSp>
        <p:grpSp>
          <p:nvGrpSpPr>
            <p:cNvPr id="31" name="Group 20"/>
            <p:cNvGrpSpPr/>
            <p:nvPr/>
          </p:nvGrpSpPr>
          <p:grpSpPr bwMode="auto">
            <a:xfrm>
              <a:off x="1842591" y="4644008"/>
              <a:ext cx="5486401" cy="609600"/>
              <a:chOff x="739" y="2832"/>
              <a:chExt cx="3456" cy="430"/>
            </a:xfrm>
          </p:grpSpPr>
          <p:sp>
            <p:nvSpPr>
              <p:cNvPr id="32" name="Line 8"/>
              <p:cNvSpPr>
                <a:spLocks noChangeShapeType="1"/>
              </p:cNvSpPr>
              <p:nvPr/>
            </p:nvSpPr>
            <p:spPr bwMode="auto">
              <a:xfrm>
                <a:off x="739"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33" name="Line 17"/>
              <p:cNvSpPr>
                <a:spLocks noChangeShapeType="1"/>
              </p:cNvSpPr>
              <p:nvPr/>
            </p:nvSpPr>
            <p:spPr bwMode="auto">
              <a:xfrm>
                <a:off x="4195"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grpSp>
          <p:nvGrpSpPr>
            <p:cNvPr id="34" name="Group 18"/>
            <p:cNvGrpSpPr/>
            <p:nvPr/>
          </p:nvGrpSpPr>
          <p:grpSpPr bwMode="auto">
            <a:xfrm>
              <a:off x="1839416" y="4105856"/>
              <a:ext cx="5482976" cy="612776"/>
              <a:chOff x="737" y="2493"/>
              <a:chExt cx="3894" cy="386"/>
            </a:xfrm>
          </p:grpSpPr>
          <p:sp>
            <p:nvSpPr>
              <p:cNvPr id="35"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网络号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36"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37" name="Rectangle 11"/>
              <p:cNvSpPr>
                <a:spLocks noChangeArrowheads="1"/>
              </p:cNvSpPr>
              <p:nvPr/>
            </p:nvSpPr>
            <p:spPr bwMode="auto">
              <a:xfrm>
                <a:off x="3613" y="2547"/>
                <a:ext cx="967" cy="291"/>
              </a:xfrm>
              <a:prstGeom prst="rect">
                <a:avLst/>
              </a:prstGeom>
              <a:noFill/>
              <a:ln w="9525" algn="ctr">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38" name="Rectangle 12"/>
              <p:cNvSpPr>
                <a:spLocks noChangeArrowheads="1"/>
              </p:cNvSpPr>
              <p:nvPr/>
            </p:nvSpPr>
            <p:spPr bwMode="auto">
              <a:xfrm>
                <a:off x="2440" y="2548"/>
                <a:ext cx="1068" cy="284"/>
              </a:xfrm>
              <a:prstGeom prst="rect">
                <a:avLst/>
              </a:prstGeom>
              <a:solidFill>
                <a:srgbClr val="FF66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子网号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grpSp>
      </p:grpSp>
    </p:spTree>
    <p:extLst>
      <p:ext uri="{BB962C8B-B14F-4D97-AF65-F5344CB8AC3E}">
        <p14:creationId xmlns:p14="http://schemas.microsoft.com/office/powerpoint/2010/main" val="334313251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1" name="Rectangle 3"/>
          <p:cNvSpPr>
            <a:spLocks noGrp="1" noChangeArrowheads="1"/>
          </p:cNvSpPr>
          <p:nvPr>
            <p:ph type="title"/>
          </p:nvPr>
        </p:nvSpPr>
        <p:spPr/>
        <p:txBody>
          <a:bodyPr/>
          <a:lstStyle/>
          <a:p>
            <a:pPr algn="ctr"/>
            <a:r>
              <a:rPr lang="zh-CN" altLang="en-US"/>
              <a:t>划分子网的基本思路（续） </a:t>
            </a:r>
          </a:p>
        </p:txBody>
      </p:sp>
      <p:sp>
        <p:nvSpPr>
          <p:cNvPr id="503810" name="Rectangle 2"/>
          <p:cNvSpPr>
            <a:spLocks noGrp="1" noChangeArrowheads="1"/>
          </p:cNvSpPr>
          <p:nvPr>
            <p:ph idx="1"/>
          </p:nvPr>
        </p:nvSpPr>
        <p:spPr/>
        <p:txBody>
          <a:bodyPr/>
          <a:lstStyle/>
          <a:p>
            <a:pPr algn="just">
              <a:spcAft>
                <a:spcPct val="30000"/>
              </a:spcAft>
            </a:pPr>
            <a:r>
              <a:rPr lang="zh-CN" altLang="en-US" dirty="0"/>
              <a:t>凡是从其他网络发送给本单位某个主机的 </a:t>
            </a:r>
            <a:r>
              <a:rPr lang="en-US" altLang="zh-CN" dirty="0"/>
              <a:t>IP </a:t>
            </a:r>
            <a:r>
              <a:rPr lang="zh-CN" altLang="en-US" dirty="0"/>
              <a:t>数据报，仍然是根据 </a:t>
            </a:r>
            <a:r>
              <a:rPr lang="en-US" altLang="zh-CN" dirty="0"/>
              <a:t>IP </a:t>
            </a:r>
            <a:r>
              <a:rPr lang="zh-CN" altLang="en-US" dirty="0"/>
              <a:t>数据报的</a:t>
            </a:r>
            <a:r>
              <a:rPr lang="zh-CN" altLang="en-US" dirty="0">
                <a:solidFill>
                  <a:srgbClr val="FF0000"/>
                </a:solidFill>
              </a:rPr>
              <a:t>目的网络号 </a:t>
            </a:r>
            <a:r>
              <a:rPr lang="en-US" altLang="zh-CN" dirty="0"/>
              <a:t>net-id</a:t>
            </a:r>
            <a:r>
              <a:rPr lang="zh-CN" altLang="en-US" dirty="0"/>
              <a:t>，先找到连接在</a:t>
            </a:r>
            <a:r>
              <a:rPr lang="zh-CN" altLang="en-US" dirty="0">
                <a:solidFill>
                  <a:srgbClr val="FF0000"/>
                </a:solidFill>
              </a:rPr>
              <a:t>本单位网络上的路由器。</a:t>
            </a:r>
          </a:p>
          <a:p>
            <a:pPr algn="just">
              <a:spcAft>
                <a:spcPct val="30000"/>
              </a:spcAft>
            </a:pPr>
            <a:r>
              <a:rPr lang="zh-CN" altLang="en-US" dirty="0"/>
              <a:t>然后</a:t>
            </a:r>
            <a:r>
              <a:rPr lang="zh-CN" altLang="en-US" dirty="0">
                <a:solidFill>
                  <a:srgbClr val="FF0000"/>
                </a:solidFill>
              </a:rPr>
              <a:t>此路由器</a:t>
            </a:r>
            <a:r>
              <a:rPr lang="zh-CN" altLang="en-US" dirty="0"/>
              <a:t>在收到</a:t>
            </a:r>
            <a:r>
              <a:rPr lang="en-US" altLang="zh-CN" dirty="0"/>
              <a:t>IP</a:t>
            </a:r>
            <a:r>
              <a:rPr lang="zh-CN" altLang="en-US" dirty="0"/>
              <a:t>数据报后，再按</a:t>
            </a:r>
            <a:r>
              <a:rPr lang="zh-CN" altLang="en-US" dirty="0">
                <a:solidFill>
                  <a:srgbClr val="FF0000"/>
                </a:solidFill>
              </a:rPr>
              <a:t>目的网络号</a:t>
            </a:r>
            <a:r>
              <a:rPr lang="en-US" altLang="zh-CN" dirty="0"/>
              <a:t>net-id</a:t>
            </a:r>
            <a:r>
              <a:rPr lang="zh-CN" altLang="en-US" dirty="0"/>
              <a:t>和</a:t>
            </a:r>
            <a:r>
              <a:rPr lang="zh-CN" altLang="en-US" dirty="0">
                <a:solidFill>
                  <a:srgbClr val="FF0000"/>
                </a:solidFill>
              </a:rPr>
              <a:t>子网号</a:t>
            </a:r>
            <a:r>
              <a:rPr lang="en-US" altLang="zh-CN" dirty="0"/>
              <a:t>subnet-id</a:t>
            </a:r>
            <a:r>
              <a:rPr lang="zh-CN" altLang="en-US" dirty="0"/>
              <a:t>找到目的子网。</a:t>
            </a:r>
          </a:p>
          <a:p>
            <a:pPr algn="just">
              <a:spcAft>
                <a:spcPct val="30000"/>
              </a:spcAft>
            </a:pPr>
            <a:r>
              <a:rPr lang="zh-CN" altLang="en-US" dirty="0"/>
              <a:t>最后就将 </a:t>
            </a:r>
            <a:r>
              <a:rPr lang="en-US" altLang="zh-CN" dirty="0"/>
              <a:t>IP </a:t>
            </a:r>
            <a:r>
              <a:rPr lang="zh-CN" altLang="en-US" dirty="0"/>
              <a:t>数据报直接交付目的主机。 </a:t>
            </a:r>
          </a:p>
        </p:txBody>
      </p:sp>
    </p:spTree>
    <p:extLst>
      <p:ext uri="{BB962C8B-B14F-4D97-AF65-F5344CB8AC3E}">
        <p14:creationId xmlns:p14="http://schemas.microsoft.com/office/powerpoint/2010/main" val="202518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40738" y="1222785"/>
            <a:ext cx="9608806" cy="4870511"/>
            <a:chOff x="240738" y="1222785"/>
            <a:chExt cx="9608806" cy="4870511"/>
          </a:xfrm>
        </p:grpSpPr>
        <p:sp>
          <p:nvSpPr>
            <p:cNvPr id="504834" name="AutoShape 2"/>
            <p:cNvSpPr>
              <a:spLocks noChangeArrowheads="1"/>
            </p:cNvSpPr>
            <p:nvPr/>
          </p:nvSpPr>
          <p:spPr bwMode="auto">
            <a:xfrm>
              <a:off x="674125" y="1252949"/>
              <a:ext cx="1938206" cy="676275"/>
            </a:xfrm>
            <a:prstGeom prst="roundRect">
              <a:avLst>
                <a:gd name="adj" fmla="val 16667"/>
              </a:avLst>
            </a:prstGeom>
            <a:solidFill>
              <a:srgbClr val="FF66FF"/>
            </a:solidFill>
            <a:ln w="9525">
              <a:solidFill>
                <a:srgbClr val="333399"/>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04835" name="Line 3"/>
            <p:cNvSpPr>
              <a:spLocks noChangeShapeType="1"/>
            </p:cNvSpPr>
            <p:nvPr/>
          </p:nvSpPr>
          <p:spPr bwMode="auto">
            <a:xfrm flipV="1">
              <a:off x="2282139" y="3923123"/>
              <a:ext cx="1014677"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36" name="Line 4"/>
            <p:cNvSpPr>
              <a:spLocks noChangeShapeType="1"/>
            </p:cNvSpPr>
            <p:nvPr/>
          </p:nvSpPr>
          <p:spPr bwMode="auto">
            <a:xfrm>
              <a:off x="3582293" y="2351499"/>
              <a:ext cx="254529" cy="7842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37" name="Line 5"/>
            <p:cNvSpPr>
              <a:spLocks noChangeShapeType="1"/>
            </p:cNvSpPr>
            <p:nvPr/>
          </p:nvSpPr>
          <p:spPr bwMode="auto">
            <a:xfrm flipH="1">
              <a:off x="8320319" y="2665823"/>
              <a:ext cx="674158" cy="7858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38" name="Line 6"/>
            <p:cNvSpPr>
              <a:spLocks noChangeShapeType="1"/>
            </p:cNvSpPr>
            <p:nvPr/>
          </p:nvSpPr>
          <p:spPr bwMode="auto">
            <a:xfrm flipH="1">
              <a:off x="6118986" y="2116548"/>
              <a:ext cx="84270" cy="8636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39" name="Line 7"/>
            <p:cNvSpPr>
              <a:spLocks noChangeShapeType="1"/>
            </p:cNvSpPr>
            <p:nvPr/>
          </p:nvSpPr>
          <p:spPr bwMode="auto">
            <a:xfrm flipV="1">
              <a:off x="6550654" y="4786724"/>
              <a:ext cx="0" cy="7842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40" name="Line 8"/>
            <p:cNvSpPr>
              <a:spLocks noChangeShapeType="1"/>
            </p:cNvSpPr>
            <p:nvPr/>
          </p:nvSpPr>
          <p:spPr bwMode="auto">
            <a:xfrm>
              <a:off x="4428431" y="2195924"/>
              <a:ext cx="0" cy="7064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41" name="Line 9"/>
            <p:cNvSpPr>
              <a:spLocks noChangeShapeType="1"/>
            </p:cNvSpPr>
            <p:nvPr/>
          </p:nvSpPr>
          <p:spPr bwMode="auto">
            <a:xfrm flipH="1">
              <a:off x="7811261" y="2351499"/>
              <a:ext cx="254529" cy="7080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42" name="Line 10"/>
            <p:cNvSpPr>
              <a:spLocks noChangeShapeType="1"/>
            </p:cNvSpPr>
            <p:nvPr/>
          </p:nvSpPr>
          <p:spPr bwMode="auto">
            <a:xfrm flipV="1">
              <a:off x="5448267" y="4707349"/>
              <a:ext cx="84270" cy="7064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43" name="Line 11"/>
            <p:cNvSpPr>
              <a:spLocks noChangeShapeType="1"/>
            </p:cNvSpPr>
            <p:nvPr/>
          </p:nvSpPr>
          <p:spPr bwMode="auto">
            <a:xfrm flipV="1">
              <a:off x="3666563" y="4315235"/>
              <a:ext cx="170260" cy="8636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44" name="Line 12"/>
            <p:cNvSpPr>
              <a:spLocks noChangeShapeType="1"/>
            </p:cNvSpPr>
            <p:nvPr/>
          </p:nvSpPr>
          <p:spPr bwMode="auto">
            <a:xfrm flipH="1" flipV="1">
              <a:off x="8487140" y="4472398"/>
              <a:ext cx="930407" cy="15716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pic>
          <p:nvPicPr>
            <p:cNvPr id="504845"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59891" y="1959386"/>
              <a:ext cx="417909"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6"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2034" y="2280061"/>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7"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36436" y="1802224"/>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41668" y="2429286"/>
              <a:ext cx="417909"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9"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95531" y="2038760"/>
              <a:ext cx="417909" cy="388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0"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008236" y="4327936"/>
              <a:ext cx="417910"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52878" y="5413786"/>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2"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78008" y="5335999"/>
              <a:ext cx="417909"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8024" y="5021674"/>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4854" name="Text Box 22"/>
            <p:cNvSpPr txBox="1">
              <a:spLocks noChangeArrowheads="1"/>
            </p:cNvSpPr>
            <p:nvPr/>
          </p:nvSpPr>
          <p:spPr bwMode="auto">
            <a:xfrm rot="5211293">
              <a:off x="9278664" y="3300793"/>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a:t>
              </a:r>
            </a:p>
          </p:txBody>
        </p:sp>
        <p:sp>
          <p:nvSpPr>
            <p:cNvPr id="504855" name="Text Box 23"/>
            <p:cNvSpPr txBox="1">
              <a:spLocks noChangeArrowheads="1"/>
            </p:cNvSpPr>
            <p:nvPr/>
          </p:nvSpPr>
          <p:spPr bwMode="auto">
            <a:xfrm rot="546999">
              <a:off x="4556975" y="4982749"/>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a:t>
              </a:r>
            </a:p>
          </p:txBody>
        </p:sp>
        <p:sp>
          <p:nvSpPr>
            <p:cNvPr id="504856" name="Text Box 24"/>
            <p:cNvSpPr txBox="1">
              <a:spLocks noChangeArrowheads="1"/>
            </p:cNvSpPr>
            <p:nvPr/>
          </p:nvSpPr>
          <p:spPr bwMode="auto">
            <a:xfrm rot="21237460">
              <a:off x="5182979" y="1777587"/>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504857" name="Text Box 25"/>
            <p:cNvSpPr txBox="1">
              <a:spLocks noChangeArrowheads="1"/>
            </p:cNvSpPr>
            <p:nvPr/>
          </p:nvSpPr>
          <p:spPr bwMode="auto">
            <a:xfrm>
              <a:off x="2612332" y="191493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145.13.3.10</a:t>
              </a:r>
            </a:p>
          </p:txBody>
        </p:sp>
        <p:sp>
          <p:nvSpPr>
            <p:cNvPr id="504858" name="Text Box 26"/>
            <p:cNvSpPr txBox="1">
              <a:spLocks noChangeArrowheads="1"/>
            </p:cNvSpPr>
            <p:nvPr/>
          </p:nvSpPr>
          <p:spPr bwMode="auto">
            <a:xfrm>
              <a:off x="3780069" y="1554574"/>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145.13.3.11</a:t>
              </a:r>
            </a:p>
          </p:txBody>
        </p:sp>
        <p:sp>
          <p:nvSpPr>
            <p:cNvPr id="504859" name="Text Box 27"/>
            <p:cNvSpPr txBox="1">
              <a:spLocks noChangeArrowheads="1"/>
            </p:cNvSpPr>
            <p:nvPr/>
          </p:nvSpPr>
          <p:spPr bwMode="auto">
            <a:xfrm>
              <a:off x="5429350" y="1410110"/>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145.13.3.101</a:t>
              </a:r>
            </a:p>
          </p:txBody>
        </p:sp>
        <p:sp>
          <p:nvSpPr>
            <p:cNvPr id="504860" name="Text Box 28"/>
            <p:cNvSpPr txBox="1">
              <a:spLocks noChangeArrowheads="1"/>
            </p:cNvSpPr>
            <p:nvPr/>
          </p:nvSpPr>
          <p:spPr bwMode="auto">
            <a:xfrm>
              <a:off x="7331439" y="169903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145.13.7.34</a:t>
              </a:r>
            </a:p>
          </p:txBody>
        </p:sp>
        <p:sp>
          <p:nvSpPr>
            <p:cNvPr id="504861" name="Text Box 29"/>
            <p:cNvSpPr txBox="1">
              <a:spLocks noChangeArrowheads="1"/>
            </p:cNvSpPr>
            <p:nvPr/>
          </p:nvSpPr>
          <p:spPr bwMode="auto">
            <a:xfrm>
              <a:off x="8306561" y="2095911"/>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145.13.7.35</a:t>
              </a:r>
            </a:p>
          </p:txBody>
        </p:sp>
        <p:sp>
          <p:nvSpPr>
            <p:cNvPr id="504862" name="Text Box 30"/>
            <p:cNvSpPr txBox="1">
              <a:spLocks noChangeArrowheads="1"/>
            </p:cNvSpPr>
            <p:nvPr/>
          </p:nvSpPr>
          <p:spPr bwMode="auto">
            <a:xfrm>
              <a:off x="8311944" y="4757082"/>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145.13.7.56</a:t>
              </a:r>
            </a:p>
          </p:txBody>
        </p:sp>
        <p:sp>
          <p:nvSpPr>
            <p:cNvPr id="504863" name="Text Box 31"/>
            <p:cNvSpPr txBox="1">
              <a:spLocks noChangeArrowheads="1"/>
            </p:cNvSpPr>
            <p:nvPr/>
          </p:nvSpPr>
          <p:spPr bwMode="auto">
            <a:xfrm>
              <a:off x="2925334" y="5339174"/>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145.13.21.23</a:t>
              </a:r>
            </a:p>
          </p:txBody>
        </p:sp>
        <p:sp>
          <p:nvSpPr>
            <p:cNvPr id="504864" name="Text Box 32"/>
            <p:cNvSpPr txBox="1">
              <a:spLocks noChangeArrowheads="1"/>
            </p:cNvSpPr>
            <p:nvPr/>
          </p:nvSpPr>
          <p:spPr bwMode="auto">
            <a:xfrm>
              <a:off x="4639965" y="569318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145.13.21.9</a:t>
              </a:r>
            </a:p>
          </p:txBody>
        </p:sp>
        <p:sp>
          <p:nvSpPr>
            <p:cNvPr id="504865" name="Text Box 33"/>
            <p:cNvSpPr txBox="1">
              <a:spLocks noChangeArrowheads="1"/>
            </p:cNvSpPr>
            <p:nvPr/>
          </p:nvSpPr>
          <p:spPr bwMode="auto">
            <a:xfrm>
              <a:off x="6732952" y="540743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145.13.21.8</a:t>
              </a:r>
            </a:p>
          </p:txBody>
        </p:sp>
        <p:sp>
          <p:nvSpPr>
            <p:cNvPr id="504866" name="Line 34"/>
            <p:cNvSpPr>
              <a:spLocks noChangeShapeType="1"/>
            </p:cNvSpPr>
            <p:nvPr/>
          </p:nvSpPr>
          <p:spPr bwMode="auto">
            <a:xfrm>
              <a:off x="961332" y="2586449"/>
              <a:ext cx="1606285" cy="1336675"/>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4867" name="Line 35"/>
            <p:cNvSpPr>
              <a:spLocks noChangeShapeType="1"/>
            </p:cNvSpPr>
            <p:nvPr/>
          </p:nvSpPr>
          <p:spPr bwMode="auto">
            <a:xfrm>
              <a:off x="791071" y="2586448"/>
              <a:ext cx="0" cy="2043112"/>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4868" name="Line 36"/>
            <p:cNvSpPr>
              <a:spLocks noChangeShapeType="1"/>
            </p:cNvSpPr>
            <p:nvPr/>
          </p:nvSpPr>
          <p:spPr bwMode="auto">
            <a:xfrm flipV="1">
              <a:off x="877061" y="3999323"/>
              <a:ext cx="1606285" cy="78740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4869" name="AutoShape 37"/>
            <p:cNvSpPr>
              <a:spLocks noChangeArrowheads="1"/>
            </p:cNvSpPr>
            <p:nvPr/>
          </p:nvSpPr>
          <p:spPr bwMode="auto">
            <a:xfrm>
              <a:off x="314690" y="5111217"/>
              <a:ext cx="2686315" cy="830323"/>
            </a:xfrm>
            <a:prstGeom prst="wedgeRoundRectCallout">
              <a:avLst>
                <a:gd name="adj1" fmla="val 34699"/>
                <a:gd name="adj2" fmla="val -169426"/>
                <a:gd name="adj3" fmla="val 16667"/>
              </a:avLst>
            </a:prstGeom>
            <a:solidFill>
              <a:srgbClr val="FFFF66"/>
            </a:solidFill>
            <a:ln w="9525">
              <a:solidFill>
                <a:schemeClr val="tx1"/>
              </a:solidFill>
              <a:miter lim="800000"/>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anose="02010609060101010101" pitchFamily="2" charset="-122"/>
              </a:endParaRPr>
            </a:p>
          </p:txBody>
        </p:sp>
        <p:sp>
          <p:nvSpPr>
            <p:cNvPr id="504870" name="Text Box 38"/>
            <p:cNvSpPr txBox="1">
              <a:spLocks noChangeArrowheads="1"/>
            </p:cNvSpPr>
            <p:nvPr/>
          </p:nvSpPr>
          <p:spPr bwMode="auto">
            <a:xfrm>
              <a:off x="272480" y="5183225"/>
              <a:ext cx="274650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dirty="0">
                  <a:solidFill>
                    <a:srgbClr val="0000CC"/>
                  </a:solidFill>
                  <a:latin typeface="+mn-lt"/>
                  <a:ea typeface="黑体" panose="02010609060101010101" pitchFamily="2" charset="-122"/>
                </a:rPr>
                <a:t>所有到网络 </a:t>
              </a:r>
              <a:r>
                <a:rPr kumimoji="1" lang="en-US" altLang="zh-CN" sz="2000" b="1" dirty="0">
                  <a:solidFill>
                    <a:srgbClr val="0000CC"/>
                  </a:solidFill>
                  <a:latin typeface="+mn-lt"/>
                  <a:ea typeface="黑体" panose="02010609060101010101" pitchFamily="2" charset="-122"/>
                </a:rPr>
                <a:t>145.13.0.0</a:t>
              </a:r>
              <a:r>
                <a:rPr kumimoji="1" lang="zh-CN" altLang="en-US" sz="2000" b="1" dirty="0">
                  <a:solidFill>
                    <a:srgbClr val="0000CC"/>
                  </a:solidFill>
                  <a:latin typeface="+mn-lt"/>
                  <a:ea typeface="黑体" panose="02010609060101010101" pitchFamily="2" charset="-122"/>
                </a:rPr>
                <a:t>的分组均到达此路由器</a:t>
              </a:r>
            </a:p>
          </p:txBody>
        </p:sp>
        <p:pic>
          <p:nvPicPr>
            <p:cNvPr id="504871" name="Picture 3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3992" y="4550185"/>
              <a:ext cx="76014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4872" name="Picture 4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3992" y="2351499"/>
              <a:ext cx="76014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4873" name="AutoShape 41"/>
            <p:cNvSpPr>
              <a:spLocks noChangeArrowheads="1"/>
            </p:cNvSpPr>
            <p:nvPr/>
          </p:nvSpPr>
          <p:spPr bwMode="auto">
            <a:xfrm rot="-1643298">
              <a:off x="1109233" y="3969161"/>
              <a:ext cx="1016396" cy="390525"/>
            </a:xfrm>
            <a:prstGeom prst="leftArrow">
              <a:avLst>
                <a:gd name="adj1" fmla="val 42500"/>
                <a:gd name="adj2" fmla="val 90514"/>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74" name="AutoShape 42"/>
            <p:cNvSpPr>
              <a:spLocks noChangeArrowheads="1"/>
            </p:cNvSpPr>
            <p:nvPr/>
          </p:nvSpPr>
          <p:spPr bwMode="auto">
            <a:xfrm rot="2494205">
              <a:off x="1355442" y="2820248"/>
              <a:ext cx="1014677" cy="393700"/>
            </a:xfrm>
            <a:prstGeom prst="leftArrow">
              <a:avLst>
                <a:gd name="adj1" fmla="val 42500"/>
                <a:gd name="adj2" fmla="val 89632"/>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4875" name="Text Box 43"/>
            <p:cNvSpPr txBox="1">
              <a:spLocks noChangeArrowheads="1"/>
            </p:cNvSpPr>
            <p:nvPr/>
          </p:nvSpPr>
          <p:spPr bwMode="auto">
            <a:xfrm>
              <a:off x="672406" y="1222785"/>
              <a:ext cx="173316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我的网络地址</a:t>
              </a:r>
            </a:p>
            <a:p>
              <a:r>
                <a:rPr kumimoji="1" lang="zh-CN" altLang="en-US" sz="2000" b="1" dirty="0">
                  <a:solidFill>
                    <a:srgbClr val="0000CC"/>
                  </a:solidFill>
                  <a:latin typeface="+mn-lt"/>
                  <a:ea typeface="黑体" panose="02010609060101010101" pitchFamily="2" charset="-122"/>
                </a:rPr>
                <a:t>是 </a:t>
              </a:r>
              <a:r>
                <a:rPr kumimoji="1" lang="en-US" altLang="zh-CN" sz="2000" b="1" dirty="0">
                  <a:solidFill>
                    <a:srgbClr val="0000CC"/>
                  </a:solidFill>
                  <a:latin typeface="+mn-lt"/>
                  <a:ea typeface="黑体" panose="02010609060101010101" pitchFamily="2" charset="-122"/>
                </a:rPr>
                <a:t>145.13.0.0</a:t>
              </a:r>
            </a:p>
          </p:txBody>
        </p:sp>
        <p:sp>
          <p:nvSpPr>
            <p:cNvPr id="504876" name="Line 44"/>
            <p:cNvSpPr>
              <a:spLocks noChangeShapeType="1"/>
            </p:cNvSpPr>
            <p:nvPr/>
          </p:nvSpPr>
          <p:spPr bwMode="auto">
            <a:xfrm>
              <a:off x="1677988" y="1955769"/>
              <a:ext cx="394692" cy="1211232"/>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4877" name="Line 45"/>
            <p:cNvSpPr>
              <a:spLocks noChangeShapeType="1"/>
            </p:cNvSpPr>
            <p:nvPr/>
          </p:nvSpPr>
          <p:spPr bwMode="auto">
            <a:xfrm>
              <a:off x="1468669" y="1959385"/>
              <a:ext cx="170260" cy="219868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4878" name="Text Box 46"/>
            <p:cNvSpPr txBox="1">
              <a:spLocks noChangeArrowheads="1"/>
            </p:cNvSpPr>
            <p:nvPr/>
          </p:nvSpPr>
          <p:spPr bwMode="auto">
            <a:xfrm>
              <a:off x="2404236" y="323256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anose="02010609060101010101" pitchFamily="2" charset="-122"/>
                </a:rPr>
                <a:t>R</a:t>
              </a:r>
              <a:r>
                <a:rPr kumimoji="1" lang="en-US" altLang="zh-CN" sz="2400" b="1" baseline="-25000" dirty="0">
                  <a:solidFill>
                    <a:srgbClr val="C00000"/>
                  </a:solidFill>
                  <a:latin typeface="+mn-lt"/>
                  <a:ea typeface="黑体" panose="02010609060101010101" pitchFamily="2" charset="-122"/>
                </a:rPr>
                <a:t>1</a:t>
              </a:r>
            </a:p>
          </p:txBody>
        </p:sp>
        <p:sp>
          <p:nvSpPr>
            <p:cNvPr id="504879" name="Text Box 47"/>
            <p:cNvSpPr txBox="1">
              <a:spLocks noChangeArrowheads="1"/>
            </p:cNvSpPr>
            <p:nvPr/>
          </p:nvSpPr>
          <p:spPr bwMode="auto">
            <a:xfrm>
              <a:off x="240738" y="414696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anose="02010609060101010101" pitchFamily="2" charset="-122"/>
                </a:rPr>
                <a:t>R</a:t>
              </a:r>
              <a:r>
                <a:rPr kumimoji="1" lang="en-US" altLang="zh-CN" sz="2400" b="1" baseline="-25000">
                  <a:solidFill>
                    <a:srgbClr val="C00000"/>
                  </a:solidFill>
                  <a:latin typeface="+mn-lt"/>
                  <a:ea typeface="黑体" panose="02010609060101010101" pitchFamily="2" charset="-122"/>
                </a:rPr>
                <a:t>3</a:t>
              </a:r>
            </a:p>
          </p:txBody>
        </p:sp>
        <p:sp>
          <p:nvSpPr>
            <p:cNvPr id="504880" name="Text Box 48"/>
            <p:cNvSpPr txBox="1">
              <a:spLocks noChangeArrowheads="1"/>
            </p:cNvSpPr>
            <p:nvPr/>
          </p:nvSpPr>
          <p:spPr bwMode="auto">
            <a:xfrm>
              <a:off x="240738" y="195144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anose="02010609060101010101" pitchFamily="2" charset="-122"/>
                </a:rPr>
                <a:t>R</a:t>
              </a:r>
              <a:r>
                <a:rPr kumimoji="1" lang="en-US" altLang="zh-CN" sz="2400" b="1" baseline="-25000">
                  <a:solidFill>
                    <a:srgbClr val="C00000"/>
                  </a:solidFill>
                  <a:latin typeface="+mn-lt"/>
                  <a:ea typeface="黑体" panose="02010609060101010101" pitchFamily="2" charset="-122"/>
                </a:rPr>
                <a:t>2</a:t>
              </a:r>
            </a:p>
          </p:txBody>
        </p:sp>
        <p:grpSp>
          <p:nvGrpSpPr>
            <p:cNvPr id="504881" name="Group 49"/>
            <p:cNvGrpSpPr/>
            <p:nvPr/>
          </p:nvGrpSpPr>
          <p:grpSpPr bwMode="auto">
            <a:xfrm>
              <a:off x="2832465" y="2357848"/>
              <a:ext cx="6144815" cy="2844800"/>
              <a:chOff x="1746" y="890"/>
              <a:chExt cx="3221" cy="1950"/>
            </a:xfrm>
          </p:grpSpPr>
          <p:grpSp>
            <p:nvGrpSpPr>
              <p:cNvPr id="504882" name="Group 50"/>
              <p:cNvGrpSpPr/>
              <p:nvPr/>
            </p:nvGrpSpPr>
            <p:grpSpPr bwMode="auto">
              <a:xfrm>
                <a:off x="1746" y="890"/>
                <a:ext cx="3221" cy="1950"/>
                <a:chOff x="912" y="768"/>
                <a:chExt cx="2400" cy="1584"/>
              </a:xfrm>
            </p:grpSpPr>
            <p:sp>
              <p:nvSpPr>
                <p:cNvPr id="504883" name="Oval 51"/>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4" name="Oval 52"/>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5" name="Oval 53"/>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6" name="Oval 54"/>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7" name="Oval 55"/>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8" name="Oval 56"/>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89" name="Oval 57"/>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0" name="Oval 58"/>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1" name="Oval 59"/>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504892" name="Group 60"/>
                <p:cNvGrpSpPr/>
                <p:nvPr/>
              </p:nvGrpSpPr>
              <p:grpSpPr bwMode="auto">
                <a:xfrm>
                  <a:off x="912" y="768"/>
                  <a:ext cx="2386" cy="1553"/>
                  <a:chOff x="912" y="768"/>
                  <a:chExt cx="2386" cy="1553"/>
                </a:xfrm>
              </p:grpSpPr>
              <p:sp>
                <p:nvSpPr>
                  <p:cNvPr id="504893" name="Oval 61"/>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4" name="Oval 62"/>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5" name="Oval 63"/>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6" name="Oval 64"/>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7" name="Oval 65"/>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8" name="Oval 66"/>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899" name="Oval 67"/>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900" name="Oval 68"/>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04901" name="Oval 69"/>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sp>
            <p:nvSpPr>
              <p:cNvPr id="504902" name="Text Box 70"/>
              <p:cNvSpPr txBox="1">
                <a:spLocks noChangeArrowheads="1"/>
              </p:cNvSpPr>
              <p:nvPr/>
            </p:nvSpPr>
            <p:spPr bwMode="auto">
              <a:xfrm>
                <a:off x="3002" y="1410"/>
                <a:ext cx="1111" cy="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3200" b="1" dirty="0">
                    <a:solidFill>
                      <a:srgbClr val="0000CC"/>
                    </a:solidFill>
                    <a:latin typeface="+mn-lt"/>
                    <a:ea typeface="黑体" panose="02010609060101010101" pitchFamily="2" charset="-122"/>
                  </a:rPr>
                  <a:t>网络</a:t>
                </a:r>
              </a:p>
              <a:p>
                <a:pPr algn="ctr"/>
                <a:r>
                  <a:rPr kumimoji="1" lang="en-US" altLang="zh-CN" sz="3200" b="1" dirty="0">
                    <a:solidFill>
                      <a:srgbClr val="0000CC"/>
                    </a:solidFill>
                    <a:latin typeface="+mn-lt"/>
                    <a:ea typeface="黑体" panose="02010609060101010101" pitchFamily="2" charset="-122"/>
                  </a:rPr>
                  <a:t>145.13.0.0</a:t>
                </a:r>
              </a:p>
            </p:txBody>
          </p:sp>
        </p:grpSp>
        <p:pic>
          <p:nvPicPr>
            <p:cNvPr id="504903" name="Picture 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30538" y="3686585"/>
              <a:ext cx="76014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504904" name="Rectangle 72"/>
          <p:cNvSpPr>
            <a:spLocks noGrp="1" noChangeArrowheads="1"/>
          </p:cNvSpPr>
          <p:nvPr>
            <p:ph type="title"/>
          </p:nvPr>
        </p:nvSpPr>
        <p:spPr/>
        <p:txBody>
          <a:bodyPr/>
          <a:lstStyle/>
          <a:p>
            <a:pPr algn="ctr"/>
            <a:r>
              <a:rPr lang="zh-CN" altLang="en-US" sz="3600" dirty="0"/>
              <a:t>一个未划分子网的 </a:t>
            </a:r>
            <a:r>
              <a:rPr lang="en-US" altLang="zh-CN" sz="3600" dirty="0"/>
              <a:t>B </a:t>
            </a:r>
            <a:r>
              <a:rPr lang="zh-CN" altLang="en-US" sz="3600" dirty="0"/>
              <a:t>类网络</a:t>
            </a:r>
            <a:r>
              <a:rPr lang="en-US" altLang="zh-CN" sz="3600" dirty="0"/>
              <a:t>145.13.0.0</a:t>
            </a:r>
          </a:p>
        </p:txBody>
      </p:sp>
    </p:spTree>
    <p:extLst>
      <p:ext uri="{BB962C8B-B14F-4D97-AF65-F5344CB8AC3E}">
        <p14:creationId xmlns:p14="http://schemas.microsoft.com/office/powerpoint/2010/main" val="310950558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2"/>
          <p:cNvSpPr>
            <a:spLocks noGrp="1" noChangeArrowheads="1"/>
          </p:cNvSpPr>
          <p:nvPr>
            <p:ph type="title"/>
          </p:nvPr>
        </p:nvSpPr>
        <p:spPr/>
        <p:txBody>
          <a:bodyPr/>
          <a:lstStyle/>
          <a:p>
            <a:pPr algn="ctr"/>
            <a:r>
              <a:rPr lang="zh-CN" altLang="en-US" sz="3600" dirty="0"/>
              <a:t>划分为三个子网后对外仍是一个网络 </a:t>
            </a:r>
          </a:p>
        </p:txBody>
      </p:sp>
      <p:sp>
        <p:nvSpPr>
          <p:cNvPr id="505859" name="Line 3"/>
          <p:cNvSpPr>
            <a:spLocks noChangeShapeType="1"/>
          </p:cNvSpPr>
          <p:nvPr/>
        </p:nvSpPr>
        <p:spPr bwMode="auto">
          <a:xfrm>
            <a:off x="912201" y="2628901"/>
            <a:ext cx="1592527" cy="1370013"/>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0" name="Line 4"/>
          <p:cNvSpPr>
            <a:spLocks noChangeShapeType="1"/>
          </p:cNvSpPr>
          <p:nvPr/>
        </p:nvSpPr>
        <p:spPr bwMode="auto">
          <a:xfrm>
            <a:off x="889414" y="2628900"/>
            <a:ext cx="0" cy="209550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1" name="Line 5"/>
          <p:cNvSpPr>
            <a:spLocks noChangeShapeType="1"/>
          </p:cNvSpPr>
          <p:nvPr/>
        </p:nvSpPr>
        <p:spPr bwMode="auto">
          <a:xfrm flipV="1">
            <a:off x="827932" y="4078288"/>
            <a:ext cx="1592527" cy="804862"/>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2" name="AutoShape 6"/>
          <p:cNvSpPr>
            <a:spLocks noChangeArrowheads="1"/>
          </p:cNvSpPr>
          <p:nvPr/>
        </p:nvSpPr>
        <p:spPr bwMode="auto">
          <a:xfrm>
            <a:off x="2739389" y="1341439"/>
            <a:ext cx="7049665" cy="5400675"/>
          </a:xfrm>
          <a:prstGeom prst="roundRect">
            <a:avLst>
              <a:gd name="adj" fmla="val 11116"/>
            </a:avLst>
          </a:prstGeom>
          <a:solidFill>
            <a:srgbClr val="66FFFF"/>
          </a:solidFill>
          <a:ln w="9525">
            <a:solidFill>
              <a:schemeClr val="tx1"/>
            </a:solidFill>
            <a:prstDash val="dash"/>
            <a:round/>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05863" name="Freeform 7"/>
          <p:cNvSpPr/>
          <p:nvPr/>
        </p:nvSpPr>
        <p:spPr bwMode="auto">
          <a:xfrm>
            <a:off x="2836787" y="1422400"/>
            <a:ext cx="4060429" cy="2071688"/>
          </a:xfrm>
          <a:custGeom>
            <a:avLst/>
            <a:gdLst>
              <a:gd name="T0" fmla="*/ 61 w 2326"/>
              <a:gd name="T1" fmla="*/ 152 h 1235"/>
              <a:gd name="T2" fmla="*/ 118 w 2326"/>
              <a:gd name="T3" fmla="*/ 113 h 1235"/>
              <a:gd name="T4" fmla="*/ 238 w 2326"/>
              <a:gd name="T5" fmla="*/ 35 h 1235"/>
              <a:gd name="T6" fmla="*/ 478 w 2326"/>
              <a:gd name="T7" fmla="*/ 11 h 1235"/>
              <a:gd name="T8" fmla="*/ 898 w 2326"/>
              <a:gd name="T9" fmla="*/ 47 h 1235"/>
              <a:gd name="T10" fmla="*/ 1510 w 2326"/>
              <a:gd name="T11" fmla="*/ 11 h 1235"/>
              <a:gd name="T12" fmla="*/ 2068 w 2326"/>
              <a:gd name="T13" fmla="*/ 11 h 1235"/>
              <a:gd name="T14" fmla="*/ 2302 w 2326"/>
              <a:gd name="T15" fmla="*/ 203 h 1235"/>
              <a:gd name="T16" fmla="*/ 2326 w 2326"/>
              <a:gd name="T17" fmla="*/ 275 h 1235"/>
              <a:gd name="T18" fmla="*/ 2302 w 2326"/>
              <a:gd name="T19" fmla="*/ 575 h 1235"/>
              <a:gd name="T20" fmla="*/ 2266 w 2326"/>
              <a:gd name="T21" fmla="*/ 773 h 1235"/>
              <a:gd name="T22" fmla="*/ 2170 w 2326"/>
              <a:gd name="T23" fmla="*/ 971 h 1235"/>
              <a:gd name="T24" fmla="*/ 2026 w 2326"/>
              <a:gd name="T25" fmla="*/ 1103 h 1235"/>
              <a:gd name="T26" fmla="*/ 1954 w 2326"/>
              <a:gd name="T27" fmla="*/ 1151 h 1235"/>
              <a:gd name="T28" fmla="*/ 1846 w 2326"/>
              <a:gd name="T29" fmla="*/ 1211 h 1235"/>
              <a:gd name="T30" fmla="*/ 1810 w 2326"/>
              <a:gd name="T31" fmla="*/ 1223 h 1235"/>
              <a:gd name="T32" fmla="*/ 1774 w 2326"/>
              <a:gd name="T33" fmla="*/ 1235 h 1235"/>
              <a:gd name="T34" fmla="*/ 1474 w 2326"/>
              <a:gd name="T35" fmla="*/ 1223 h 1235"/>
              <a:gd name="T36" fmla="*/ 1066 w 2326"/>
              <a:gd name="T37" fmla="*/ 1103 h 1235"/>
              <a:gd name="T38" fmla="*/ 766 w 2326"/>
              <a:gd name="T39" fmla="*/ 1055 h 1235"/>
              <a:gd name="T40" fmla="*/ 478 w 2326"/>
              <a:gd name="T41" fmla="*/ 947 h 1235"/>
              <a:gd name="T42" fmla="*/ 430 w 2326"/>
              <a:gd name="T43" fmla="*/ 923 h 1235"/>
              <a:gd name="T44" fmla="*/ 169 w 2326"/>
              <a:gd name="T45" fmla="*/ 848 h 1235"/>
              <a:gd name="T46" fmla="*/ 70 w 2326"/>
              <a:gd name="T47" fmla="*/ 725 h 1235"/>
              <a:gd name="T48" fmla="*/ 19 w 2326"/>
              <a:gd name="T49" fmla="*/ 542 h 1235"/>
              <a:gd name="T50" fmla="*/ 7 w 2326"/>
              <a:gd name="T51" fmla="*/ 404 h 1235"/>
              <a:gd name="T52" fmla="*/ 22 w 2326"/>
              <a:gd name="T53" fmla="*/ 263 h 1235"/>
              <a:gd name="T54" fmla="*/ 61 w 2326"/>
              <a:gd name="T55" fmla="*/ 152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4" name="Freeform 8"/>
          <p:cNvSpPr/>
          <p:nvPr/>
        </p:nvSpPr>
        <p:spPr bwMode="auto">
          <a:xfrm>
            <a:off x="2653639" y="2790826"/>
            <a:ext cx="1258888" cy="1128713"/>
          </a:xfrm>
          <a:custGeom>
            <a:avLst/>
            <a:gdLst>
              <a:gd name="T0" fmla="*/ 0 w 732"/>
              <a:gd name="T1" fmla="*/ 711 h 711"/>
              <a:gd name="T2" fmla="*/ 732 w 732"/>
              <a:gd name="T3" fmla="*/ 372 h 711"/>
              <a:gd name="T4" fmla="*/ 732 w 732"/>
              <a:gd name="T5" fmla="*/ 0 h 711"/>
            </a:gdLst>
            <a:ahLst/>
            <a:cxnLst>
              <a:cxn ang="0">
                <a:pos x="T0" y="T1"/>
              </a:cxn>
              <a:cxn ang="0">
                <a:pos x="T2" y="T3"/>
              </a:cxn>
              <a:cxn ang="0">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5" name="Freeform 9"/>
          <p:cNvSpPr/>
          <p:nvPr/>
        </p:nvSpPr>
        <p:spPr bwMode="auto">
          <a:xfrm>
            <a:off x="3118544" y="4189685"/>
            <a:ext cx="4426744" cy="2479675"/>
          </a:xfrm>
          <a:custGeom>
            <a:avLst/>
            <a:gdLst>
              <a:gd name="T0" fmla="*/ 65 w 2574"/>
              <a:gd name="T1" fmla="*/ 457 h 1562"/>
              <a:gd name="T2" fmla="*/ 612 w 2574"/>
              <a:gd name="T3" fmla="*/ 146 h 1562"/>
              <a:gd name="T4" fmla="*/ 770 w 2574"/>
              <a:gd name="T5" fmla="*/ 89 h 1562"/>
              <a:gd name="T6" fmla="*/ 917 w 2574"/>
              <a:gd name="T7" fmla="*/ 55 h 1562"/>
              <a:gd name="T8" fmla="*/ 1063 w 2574"/>
              <a:gd name="T9" fmla="*/ 50 h 1562"/>
              <a:gd name="T10" fmla="*/ 1303 w 2574"/>
              <a:gd name="T11" fmla="*/ 18 h 1562"/>
              <a:gd name="T12" fmla="*/ 1703 w 2574"/>
              <a:gd name="T13" fmla="*/ 18 h 1562"/>
              <a:gd name="T14" fmla="*/ 2119 w 2574"/>
              <a:gd name="T15" fmla="*/ 154 h 1562"/>
              <a:gd name="T16" fmla="*/ 2267 w 2574"/>
              <a:gd name="T17" fmla="*/ 361 h 1562"/>
              <a:gd name="T18" fmla="*/ 2401 w 2574"/>
              <a:gd name="T19" fmla="*/ 589 h 1562"/>
              <a:gd name="T20" fmla="*/ 2487 w 2574"/>
              <a:gd name="T21" fmla="*/ 762 h 1562"/>
              <a:gd name="T22" fmla="*/ 2567 w 2574"/>
              <a:gd name="T23" fmla="*/ 1226 h 1562"/>
              <a:gd name="T24" fmla="*/ 2455 w 2574"/>
              <a:gd name="T25" fmla="*/ 1394 h 1562"/>
              <a:gd name="T26" fmla="*/ 2287 w 2574"/>
              <a:gd name="T27" fmla="*/ 1458 h 1562"/>
              <a:gd name="T28" fmla="*/ 2000 w 2574"/>
              <a:gd name="T29" fmla="*/ 1515 h 1562"/>
              <a:gd name="T30" fmla="*/ 1756 w 2574"/>
              <a:gd name="T31" fmla="*/ 1502 h 1562"/>
              <a:gd name="T32" fmla="*/ 1512 w 2574"/>
              <a:gd name="T33" fmla="*/ 1388 h 1562"/>
              <a:gd name="T34" fmla="*/ 952 w 2574"/>
              <a:gd name="T35" fmla="*/ 1337 h 1562"/>
              <a:gd name="T36" fmla="*/ 684 w 2574"/>
              <a:gd name="T37" fmla="*/ 1274 h 1562"/>
              <a:gd name="T38" fmla="*/ 477 w 2574"/>
              <a:gd name="T39" fmla="*/ 1198 h 1562"/>
              <a:gd name="T40" fmla="*/ 65 w 2574"/>
              <a:gd name="T41" fmla="*/ 1036 h 1562"/>
              <a:gd name="T42" fmla="*/ 0 w 2574"/>
              <a:gd name="T43" fmla="*/ 853 h 1562"/>
              <a:gd name="T44" fmla="*/ 65 w 2574"/>
              <a:gd name="T45" fmla="*/ 457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6" name="Freeform 10"/>
          <p:cNvSpPr/>
          <p:nvPr/>
        </p:nvSpPr>
        <p:spPr bwMode="auto">
          <a:xfrm>
            <a:off x="2653640" y="4078288"/>
            <a:ext cx="1508257" cy="743222"/>
          </a:xfrm>
          <a:custGeom>
            <a:avLst/>
            <a:gdLst>
              <a:gd name="T0" fmla="*/ 0 w 877"/>
              <a:gd name="T1" fmla="*/ 0 h 507"/>
              <a:gd name="T2" fmla="*/ 877 w 877"/>
              <a:gd name="T3" fmla="*/ 287 h 507"/>
              <a:gd name="T4" fmla="*/ 877 w 877"/>
              <a:gd name="T5" fmla="*/ 507 h 507"/>
            </a:gdLst>
            <a:ahLst/>
            <a:cxnLst>
              <a:cxn ang="0">
                <a:pos x="T0" y="T1"/>
              </a:cxn>
              <a:cxn ang="0">
                <a:pos x="T2" y="T3"/>
              </a:cxn>
              <a:cxn ang="0">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7" name="Freeform 11"/>
          <p:cNvSpPr/>
          <p:nvPr/>
        </p:nvSpPr>
        <p:spPr bwMode="auto">
          <a:xfrm>
            <a:off x="6578204" y="1503364"/>
            <a:ext cx="3073267" cy="3963987"/>
          </a:xfrm>
          <a:custGeom>
            <a:avLst/>
            <a:gdLst>
              <a:gd name="T0" fmla="*/ 289 w 1787"/>
              <a:gd name="T1" fmla="*/ 1901 h 2497"/>
              <a:gd name="T2" fmla="*/ 128 w 1787"/>
              <a:gd name="T3" fmla="*/ 1797 h 2497"/>
              <a:gd name="T4" fmla="*/ 15 w 1787"/>
              <a:gd name="T5" fmla="*/ 1583 h 2497"/>
              <a:gd name="T6" fmla="*/ 83 w 1787"/>
              <a:gd name="T7" fmla="*/ 1007 h 2497"/>
              <a:gd name="T8" fmla="*/ 264 w 1787"/>
              <a:gd name="T9" fmla="*/ 596 h 2497"/>
              <a:gd name="T10" fmla="*/ 374 w 1787"/>
              <a:gd name="T11" fmla="*/ 228 h 2497"/>
              <a:gd name="T12" fmla="*/ 496 w 1787"/>
              <a:gd name="T13" fmla="*/ 101 h 2497"/>
              <a:gd name="T14" fmla="*/ 776 w 1787"/>
              <a:gd name="T15" fmla="*/ 0 h 2497"/>
              <a:gd name="T16" fmla="*/ 1263 w 1787"/>
              <a:gd name="T17" fmla="*/ 13 h 2497"/>
              <a:gd name="T18" fmla="*/ 1470 w 1787"/>
              <a:gd name="T19" fmla="*/ 89 h 2497"/>
              <a:gd name="T20" fmla="*/ 1543 w 1787"/>
              <a:gd name="T21" fmla="*/ 139 h 2497"/>
              <a:gd name="T22" fmla="*/ 1641 w 1787"/>
              <a:gd name="T23" fmla="*/ 241 h 2497"/>
              <a:gd name="T24" fmla="*/ 1738 w 1787"/>
              <a:gd name="T25" fmla="*/ 532 h 2497"/>
              <a:gd name="T26" fmla="*/ 1787 w 1787"/>
              <a:gd name="T27" fmla="*/ 1952 h 2497"/>
              <a:gd name="T28" fmla="*/ 1775 w 1787"/>
              <a:gd name="T29" fmla="*/ 2269 h 2497"/>
              <a:gd name="T30" fmla="*/ 1519 w 1787"/>
              <a:gd name="T31" fmla="*/ 2497 h 2497"/>
              <a:gd name="T32" fmla="*/ 1141 w 1787"/>
              <a:gd name="T33" fmla="*/ 2459 h 2497"/>
              <a:gd name="T34" fmla="*/ 971 w 1787"/>
              <a:gd name="T35" fmla="*/ 2396 h 2497"/>
              <a:gd name="T36" fmla="*/ 861 w 1787"/>
              <a:gd name="T37" fmla="*/ 2320 h 2497"/>
              <a:gd name="T38" fmla="*/ 812 w 1787"/>
              <a:gd name="T39" fmla="*/ 2294 h 2497"/>
              <a:gd name="T40" fmla="*/ 618 w 1787"/>
              <a:gd name="T41" fmla="*/ 2142 h 2497"/>
              <a:gd name="T42" fmla="*/ 386 w 1787"/>
              <a:gd name="T43" fmla="*/ 1977 h 2497"/>
              <a:gd name="T44" fmla="*/ 350 w 1787"/>
              <a:gd name="T45" fmla="*/ 1939 h 2497"/>
              <a:gd name="T46" fmla="*/ 289 w 1787"/>
              <a:gd name="T47" fmla="*/ 1901 h 2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68" name="Line 12"/>
          <p:cNvSpPr>
            <a:spLocks noChangeShapeType="1"/>
          </p:cNvSpPr>
          <p:nvPr/>
        </p:nvSpPr>
        <p:spPr bwMode="auto">
          <a:xfrm flipV="1">
            <a:off x="2653640" y="3998913"/>
            <a:ext cx="5532569"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69" name="Line 13"/>
          <p:cNvSpPr>
            <a:spLocks noChangeShapeType="1"/>
          </p:cNvSpPr>
          <p:nvPr/>
        </p:nvSpPr>
        <p:spPr bwMode="auto">
          <a:xfrm>
            <a:off x="3557381" y="2389188"/>
            <a:ext cx="0" cy="41275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0" name="Freeform 14"/>
          <p:cNvSpPr/>
          <p:nvPr/>
        </p:nvSpPr>
        <p:spPr bwMode="auto">
          <a:xfrm>
            <a:off x="8172450" y="2776538"/>
            <a:ext cx="536575" cy="508000"/>
          </a:xfrm>
          <a:custGeom>
            <a:avLst/>
            <a:gdLst>
              <a:gd name="T0" fmla="*/ 308 w 308"/>
              <a:gd name="T1" fmla="*/ 0 h 396"/>
              <a:gd name="T2" fmla="*/ 308 w 308"/>
              <a:gd name="T3" fmla="*/ 396 h 396"/>
              <a:gd name="T4" fmla="*/ 0 w 308"/>
              <a:gd name="T5" fmla="*/ 392 h 396"/>
            </a:gdLst>
            <a:ahLst/>
            <a:cxnLst>
              <a:cxn ang="0">
                <a:pos x="T0" y="T1"/>
              </a:cxn>
              <a:cxn ang="0">
                <a:pos x="T2" y="T3"/>
              </a:cxn>
              <a:cxn ang="0">
                <a:pos x="T4" y="T5"/>
              </a:cxn>
            </a:cxnLst>
            <a:rect l="0" t="0" r="r" b="b"/>
            <a:pathLst>
              <a:path w="308" h="396">
                <a:moveTo>
                  <a:pt x="308" y="0"/>
                </a:moveTo>
                <a:lnTo>
                  <a:pt x="308" y="396"/>
                </a:lnTo>
                <a:lnTo>
                  <a:pt x="0" y="392"/>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1" name="Line 15"/>
          <p:cNvSpPr>
            <a:spLocks noChangeShapeType="1"/>
          </p:cNvSpPr>
          <p:nvPr/>
        </p:nvSpPr>
        <p:spPr bwMode="auto">
          <a:xfrm>
            <a:off x="6155985" y="2147889"/>
            <a:ext cx="0" cy="6318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2" name="Line 16"/>
          <p:cNvSpPr>
            <a:spLocks noChangeShapeType="1"/>
          </p:cNvSpPr>
          <p:nvPr/>
        </p:nvSpPr>
        <p:spPr bwMode="auto">
          <a:xfrm flipV="1">
            <a:off x="6583924" y="4808810"/>
            <a:ext cx="10319" cy="10763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3" name="Line 17"/>
          <p:cNvSpPr>
            <a:spLocks noChangeShapeType="1"/>
          </p:cNvSpPr>
          <p:nvPr/>
        </p:nvSpPr>
        <p:spPr bwMode="auto">
          <a:xfrm flipH="1">
            <a:off x="4707921" y="2279650"/>
            <a:ext cx="0" cy="5222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4" name="Freeform 18"/>
          <p:cNvSpPr/>
          <p:nvPr/>
        </p:nvSpPr>
        <p:spPr bwMode="auto">
          <a:xfrm>
            <a:off x="7878366" y="2374901"/>
            <a:ext cx="307842" cy="657225"/>
          </a:xfrm>
          <a:custGeom>
            <a:avLst/>
            <a:gdLst>
              <a:gd name="T0" fmla="*/ 0 w 176"/>
              <a:gd name="T1" fmla="*/ 0 h 392"/>
              <a:gd name="T2" fmla="*/ 0 w 176"/>
              <a:gd name="T3" fmla="*/ 392 h 392"/>
              <a:gd name="T4" fmla="*/ 176 w 176"/>
              <a:gd name="T5" fmla="*/ 392 h 392"/>
            </a:gdLst>
            <a:ahLst/>
            <a:cxnLst>
              <a:cxn ang="0">
                <a:pos x="T0" y="T1"/>
              </a:cxn>
              <a:cxn ang="0">
                <a:pos x="T2" y="T3"/>
              </a:cxn>
              <a:cxn ang="0">
                <a:pos x="T4" y="T5"/>
              </a:cxn>
            </a:cxnLst>
            <a:rect l="0" t="0" r="r" b="b"/>
            <a:pathLst>
              <a:path w="176" h="392">
                <a:moveTo>
                  <a:pt x="0" y="0"/>
                </a:moveTo>
                <a:lnTo>
                  <a:pt x="0" y="392"/>
                </a:lnTo>
                <a:lnTo>
                  <a:pt x="176" y="392"/>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5" name="Line 19"/>
          <p:cNvSpPr>
            <a:spLocks noChangeShapeType="1"/>
          </p:cNvSpPr>
          <p:nvPr/>
        </p:nvSpPr>
        <p:spPr bwMode="auto">
          <a:xfrm flipH="1" flipV="1">
            <a:off x="5431663" y="4821509"/>
            <a:ext cx="0" cy="6873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6" name="Line 20"/>
          <p:cNvSpPr>
            <a:spLocks noChangeShapeType="1"/>
          </p:cNvSpPr>
          <p:nvPr/>
        </p:nvSpPr>
        <p:spPr bwMode="auto">
          <a:xfrm flipH="1" flipV="1">
            <a:off x="3923406" y="4821510"/>
            <a:ext cx="0" cy="40481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5877" name="Line 21"/>
          <p:cNvSpPr>
            <a:spLocks noChangeShapeType="1"/>
          </p:cNvSpPr>
          <p:nvPr/>
        </p:nvSpPr>
        <p:spPr bwMode="auto">
          <a:xfrm flipH="1" flipV="1">
            <a:off x="8186209" y="4683125"/>
            <a:ext cx="921808"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pic>
        <p:nvPicPr>
          <p:cNvPr id="505878"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8106" y="1985964"/>
            <a:ext cx="414470"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79" name="Picture 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25804" y="3756025"/>
            <a:ext cx="754988" cy="48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5880"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7885" y="2236788"/>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1"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56490" y="1825625"/>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2"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21569" y="2468564"/>
            <a:ext cx="414469"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3" name="Picture 2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84029" y="2066925"/>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4"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9477" y="4402138"/>
            <a:ext cx="41447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5"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86148" y="5672409"/>
            <a:ext cx="414469"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6" name="Picture 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1848" y="5386659"/>
            <a:ext cx="412750" cy="401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7" name="Picture 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11871" y="5064397"/>
            <a:ext cx="41447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5888" name="Text Box 32"/>
          <p:cNvSpPr txBox="1">
            <a:spLocks noChangeArrowheads="1"/>
          </p:cNvSpPr>
          <p:nvPr/>
        </p:nvSpPr>
        <p:spPr bwMode="auto">
          <a:xfrm>
            <a:off x="2739389" y="194877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145.13.3.10</a:t>
            </a:r>
          </a:p>
        </p:txBody>
      </p:sp>
      <p:sp>
        <p:nvSpPr>
          <p:cNvPr id="505889" name="Text Box 33"/>
          <p:cNvSpPr txBox="1">
            <a:spLocks noChangeArrowheads="1"/>
          </p:cNvSpPr>
          <p:nvPr/>
        </p:nvSpPr>
        <p:spPr bwMode="auto">
          <a:xfrm>
            <a:off x="3833679" y="1628800"/>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145.13.3.11</a:t>
            </a:r>
          </a:p>
        </p:txBody>
      </p:sp>
      <p:sp>
        <p:nvSpPr>
          <p:cNvPr id="505890" name="Text Box 34"/>
          <p:cNvSpPr txBox="1">
            <a:spLocks noChangeArrowheads="1"/>
          </p:cNvSpPr>
          <p:nvPr/>
        </p:nvSpPr>
        <p:spPr bwMode="auto">
          <a:xfrm>
            <a:off x="5144748" y="1519239"/>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145.13.3.101</a:t>
            </a:r>
          </a:p>
        </p:txBody>
      </p:sp>
      <p:sp>
        <p:nvSpPr>
          <p:cNvPr id="505891" name="Text Box 35"/>
          <p:cNvSpPr txBox="1">
            <a:spLocks noChangeArrowheads="1"/>
          </p:cNvSpPr>
          <p:nvPr/>
        </p:nvSpPr>
        <p:spPr bwMode="auto">
          <a:xfrm>
            <a:off x="7207647" y="1655764"/>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145.13.7.34</a:t>
            </a:r>
          </a:p>
        </p:txBody>
      </p:sp>
      <p:sp>
        <p:nvSpPr>
          <p:cNvPr id="505892" name="Text Box 36"/>
          <p:cNvSpPr txBox="1">
            <a:spLocks noChangeArrowheads="1"/>
          </p:cNvSpPr>
          <p:nvPr/>
        </p:nvSpPr>
        <p:spPr bwMode="auto">
          <a:xfrm>
            <a:off x="8187929" y="2044701"/>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145.13.7.35</a:t>
            </a:r>
          </a:p>
        </p:txBody>
      </p:sp>
      <p:sp>
        <p:nvSpPr>
          <p:cNvPr id="505893" name="Text Box 37"/>
          <p:cNvSpPr txBox="1">
            <a:spLocks noChangeArrowheads="1"/>
          </p:cNvSpPr>
          <p:nvPr/>
        </p:nvSpPr>
        <p:spPr bwMode="auto">
          <a:xfrm>
            <a:off x="8151813" y="4040189"/>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145.13.7.56</a:t>
            </a:r>
          </a:p>
        </p:txBody>
      </p:sp>
      <p:sp>
        <p:nvSpPr>
          <p:cNvPr id="505894" name="Text Box 38"/>
          <p:cNvSpPr txBox="1">
            <a:spLocks noChangeArrowheads="1"/>
          </p:cNvSpPr>
          <p:nvPr/>
        </p:nvSpPr>
        <p:spPr bwMode="auto">
          <a:xfrm>
            <a:off x="3056632" y="5445398"/>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145.13.21.23</a:t>
            </a:r>
          </a:p>
        </p:txBody>
      </p:sp>
      <p:sp>
        <p:nvSpPr>
          <p:cNvPr id="505895" name="Text Box 39"/>
          <p:cNvSpPr txBox="1">
            <a:spLocks noChangeArrowheads="1"/>
          </p:cNvSpPr>
          <p:nvPr/>
        </p:nvSpPr>
        <p:spPr bwMode="auto">
          <a:xfrm>
            <a:off x="4525333" y="5743848"/>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145.13.21.9</a:t>
            </a:r>
          </a:p>
        </p:txBody>
      </p:sp>
      <p:sp>
        <p:nvSpPr>
          <p:cNvPr id="505896" name="Text Box 40"/>
          <p:cNvSpPr txBox="1">
            <a:spLocks noChangeArrowheads="1"/>
          </p:cNvSpPr>
          <p:nvPr/>
        </p:nvSpPr>
        <p:spPr bwMode="auto">
          <a:xfrm>
            <a:off x="5720588" y="606611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145.13.21.8</a:t>
            </a:r>
          </a:p>
        </p:txBody>
      </p:sp>
      <p:sp>
        <p:nvSpPr>
          <p:cNvPr id="505897" name="Line 41"/>
          <p:cNvSpPr>
            <a:spLocks noChangeShapeType="1"/>
          </p:cNvSpPr>
          <p:nvPr/>
        </p:nvSpPr>
        <p:spPr bwMode="auto">
          <a:xfrm flipV="1">
            <a:off x="3539892" y="4807223"/>
            <a:ext cx="3417227" cy="14287"/>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98" name="Line 42"/>
          <p:cNvSpPr>
            <a:spLocks noChangeShapeType="1"/>
          </p:cNvSpPr>
          <p:nvPr/>
        </p:nvSpPr>
        <p:spPr bwMode="auto">
          <a:xfrm>
            <a:off x="3273614" y="2790825"/>
            <a:ext cx="33518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899" name="Text Box 43"/>
          <p:cNvSpPr txBox="1">
            <a:spLocks noChangeArrowheads="1"/>
          </p:cNvSpPr>
          <p:nvPr/>
        </p:nvSpPr>
        <p:spPr bwMode="auto">
          <a:xfrm>
            <a:off x="4453102" y="4951685"/>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505900" name="Text Box 44"/>
          <p:cNvSpPr txBox="1">
            <a:spLocks noChangeArrowheads="1"/>
          </p:cNvSpPr>
          <p:nvPr/>
        </p:nvSpPr>
        <p:spPr bwMode="auto">
          <a:xfrm>
            <a:off x="4922895" y="185737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505901" name="Line 45"/>
          <p:cNvSpPr>
            <a:spLocks noChangeShapeType="1"/>
          </p:cNvSpPr>
          <p:nvPr/>
        </p:nvSpPr>
        <p:spPr bwMode="auto">
          <a:xfrm rot="5400000">
            <a:off x="7017808" y="3797300"/>
            <a:ext cx="2336800"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5902" name="Text Box 46"/>
          <p:cNvSpPr txBox="1">
            <a:spLocks noChangeArrowheads="1"/>
          </p:cNvSpPr>
          <p:nvPr/>
        </p:nvSpPr>
        <p:spPr bwMode="auto">
          <a:xfrm rot="5400000">
            <a:off x="8691389" y="3519458"/>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505903" name="Text Box 47"/>
          <p:cNvSpPr txBox="1">
            <a:spLocks noChangeArrowheads="1"/>
          </p:cNvSpPr>
          <p:nvPr/>
        </p:nvSpPr>
        <p:spPr bwMode="auto">
          <a:xfrm>
            <a:off x="4382590" y="4410348"/>
            <a:ext cx="2124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子网 </a:t>
            </a:r>
            <a:r>
              <a:rPr kumimoji="1" lang="en-US" altLang="zh-CN" sz="2000" b="1">
                <a:solidFill>
                  <a:srgbClr val="0000CC"/>
                </a:solidFill>
                <a:latin typeface="+mn-lt"/>
                <a:ea typeface="黑体" panose="02010609060101010101" pitchFamily="2" charset="-122"/>
              </a:rPr>
              <a:t>145.13.21.0</a:t>
            </a:r>
          </a:p>
        </p:txBody>
      </p:sp>
      <p:sp>
        <p:nvSpPr>
          <p:cNvPr id="505904" name="Text Box 48"/>
          <p:cNvSpPr txBox="1">
            <a:spLocks noChangeArrowheads="1"/>
          </p:cNvSpPr>
          <p:nvPr/>
        </p:nvSpPr>
        <p:spPr bwMode="auto">
          <a:xfrm>
            <a:off x="4288292" y="2816226"/>
            <a:ext cx="19816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子网 </a:t>
            </a:r>
            <a:r>
              <a:rPr kumimoji="1" lang="en-US" altLang="zh-CN" sz="2000" b="1" dirty="0">
                <a:solidFill>
                  <a:srgbClr val="0000CC"/>
                </a:solidFill>
                <a:latin typeface="+mn-lt"/>
                <a:ea typeface="黑体" panose="02010609060101010101" pitchFamily="2" charset="-122"/>
              </a:rPr>
              <a:t>145.13.3.0</a:t>
            </a:r>
          </a:p>
        </p:txBody>
      </p:sp>
      <p:sp>
        <p:nvSpPr>
          <p:cNvPr id="505905" name="Text Box 49"/>
          <p:cNvSpPr txBox="1">
            <a:spLocks noChangeArrowheads="1"/>
          </p:cNvSpPr>
          <p:nvPr/>
        </p:nvSpPr>
        <p:spPr bwMode="auto">
          <a:xfrm>
            <a:off x="6512852" y="3262314"/>
            <a:ext cx="139493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    </a:t>
            </a:r>
            <a:r>
              <a:rPr kumimoji="1" lang="zh-CN" altLang="en-US" sz="2000" b="1">
                <a:solidFill>
                  <a:srgbClr val="0000CC"/>
                </a:solidFill>
                <a:latin typeface="+mn-lt"/>
                <a:ea typeface="黑体" panose="02010609060101010101" pitchFamily="2" charset="-122"/>
              </a:rPr>
              <a:t>子网 </a:t>
            </a:r>
          </a:p>
          <a:p>
            <a:r>
              <a:rPr kumimoji="1" lang="en-US" altLang="zh-CN" sz="2000" b="1">
                <a:solidFill>
                  <a:srgbClr val="0000CC"/>
                </a:solidFill>
                <a:latin typeface="+mn-lt"/>
                <a:ea typeface="黑体" panose="02010609060101010101" pitchFamily="2" charset="-122"/>
              </a:rPr>
              <a:t>145.13.7.0</a:t>
            </a:r>
          </a:p>
        </p:txBody>
      </p:sp>
      <p:pic>
        <p:nvPicPr>
          <p:cNvPr id="505906" name="Picture 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4055" y="4643438"/>
            <a:ext cx="754988"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5907" name="Picture 5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4055" y="2389188"/>
            <a:ext cx="754988"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5908" name="AutoShape 52"/>
          <p:cNvSpPr>
            <a:spLocks noChangeArrowheads="1"/>
          </p:cNvSpPr>
          <p:nvPr/>
        </p:nvSpPr>
        <p:spPr bwMode="auto">
          <a:xfrm>
            <a:off x="141022" y="1196752"/>
            <a:ext cx="2512617" cy="1073374"/>
          </a:xfrm>
          <a:prstGeom prst="wedgeRoundRectCallout">
            <a:avLst>
              <a:gd name="adj1" fmla="val 47574"/>
              <a:gd name="adj2" fmla="val 193336"/>
              <a:gd name="adj3" fmla="val 16667"/>
            </a:avLst>
          </a:prstGeom>
          <a:solidFill>
            <a:srgbClr val="FFFF99"/>
          </a:solidFill>
          <a:ln w="9525">
            <a:solidFill>
              <a:srgbClr val="333399"/>
            </a:solidFill>
            <a:miter lim="800000"/>
          </a:ln>
          <a:effectLst>
            <a:outerShdw dist="35921" dir="2700000" algn="ctr" rotWithShape="0">
              <a:schemeClr val="bg2"/>
            </a:outerShdw>
          </a:effectLst>
        </p:spPr>
        <p:txBody>
          <a:bodyPr/>
          <a:lstStyle/>
          <a:p>
            <a:pPr algn="ctr"/>
            <a:endParaRPr kumimoji="1" lang="zh-CN" altLang="zh-CN" sz="2000" b="1">
              <a:solidFill>
                <a:srgbClr val="0000CC"/>
              </a:solidFill>
              <a:latin typeface="+mn-lt"/>
              <a:ea typeface="黑体" panose="02010609060101010101" pitchFamily="2" charset="-122"/>
            </a:endParaRPr>
          </a:p>
        </p:txBody>
      </p:sp>
      <p:sp>
        <p:nvSpPr>
          <p:cNvPr id="505909" name="Text Box 53"/>
          <p:cNvSpPr txBox="1">
            <a:spLocks noChangeArrowheads="1"/>
          </p:cNvSpPr>
          <p:nvPr/>
        </p:nvSpPr>
        <p:spPr bwMode="auto">
          <a:xfrm>
            <a:off x="144884" y="1189201"/>
            <a:ext cx="2508756"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dirty="0">
                <a:solidFill>
                  <a:srgbClr val="0000CC"/>
                </a:solidFill>
                <a:latin typeface="+mn-lt"/>
                <a:ea typeface="黑体" panose="02010609060101010101" pitchFamily="2" charset="-122"/>
              </a:rPr>
              <a:t>所有到达网络</a:t>
            </a:r>
            <a:r>
              <a:rPr kumimoji="1" lang="en-US" altLang="zh-CN" sz="2000" b="1" dirty="0">
                <a:solidFill>
                  <a:srgbClr val="0000CC"/>
                </a:solidFill>
                <a:latin typeface="+mn-lt"/>
                <a:ea typeface="黑体" panose="02010609060101010101" pitchFamily="2" charset="-122"/>
              </a:rPr>
              <a:t>145.13.0.0</a:t>
            </a:r>
            <a:r>
              <a:rPr kumimoji="1" lang="zh-CN" altLang="en-US" sz="2000" b="1" dirty="0">
                <a:solidFill>
                  <a:srgbClr val="0000CC"/>
                </a:solidFill>
                <a:latin typeface="+mn-lt"/>
                <a:ea typeface="黑体" panose="02010609060101010101" pitchFamily="2" charset="-122"/>
              </a:rPr>
              <a:t>的分组均到达此路由器</a:t>
            </a:r>
          </a:p>
        </p:txBody>
      </p:sp>
      <p:sp>
        <p:nvSpPr>
          <p:cNvPr id="505912" name="Text Box 56"/>
          <p:cNvSpPr txBox="1">
            <a:spLocks noChangeArrowheads="1"/>
          </p:cNvSpPr>
          <p:nvPr/>
        </p:nvSpPr>
        <p:spPr bwMode="auto">
          <a:xfrm>
            <a:off x="7519509" y="5680075"/>
            <a:ext cx="1885453"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800" b="1" dirty="0">
                <a:solidFill>
                  <a:srgbClr val="0000CC"/>
                </a:solidFill>
                <a:latin typeface="+mn-lt"/>
                <a:ea typeface="黑体" panose="02010609060101010101" pitchFamily="2" charset="-122"/>
              </a:rPr>
              <a:t>网络</a:t>
            </a:r>
          </a:p>
          <a:p>
            <a:pPr algn="ctr"/>
            <a:r>
              <a:rPr kumimoji="1" lang="en-US" altLang="zh-CN" sz="2800" b="1" dirty="0">
                <a:solidFill>
                  <a:srgbClr val="0000CC"/>
                </a:solidFill>
                <a:latin typeface="+mn-lt"/>
                <a:ea typeface="黑体" panose="02010609060101010101" pitchFamily="2" charset="-122"/>
              </a:rPr>
              <a:t>145.13.0.0</a:t>
            </a:r>
          </a:p>
        </p:txBody>
      </p:sp>
      <p:sp>
        <p:nvSpPr>
          <p:cNvPr id="505913" name="Text Box 57"/>
          <p:cNvSpPr txBox="1">
            <a:spLocks noChangeArrowheads="1"/>
          </p:cNvSpPr>
          <p:nvPr/>
        </p:nvSpPr>
        <p:spPr bwMode="auto">
          <a:xfrm>
            <a:off x="2491465" y="4105548"/>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anose="02010609060101010101" pitchFamily="2" charset="-122"/>
              </a:rPr>
              <a:t>R</a:t>
            </a:r>
            <a:r>
              <a:rPr kumimoji="1" lang="en-US" altLang="zh-CN" sz="2400" b="1" baseline="-25000">
                <a:solidFill>
                  <a:srgbClr val="C00000"/>
                </a:solidFill>
                <a:latin typeface="+mn-lt"/>
                <a:ea typeface="黑体" panose="02010609060101010101" pitchFamily="2" charset="-122"/>
              </a:rPr>
              <a:t>1</a:t>
            </a:r>
          </a:p>
        </p:txBody>
      </p:sp>
      <p:sp>
        <p:nvSpPr>
          <p:cNvPr id="505914" name="Text Box 58"/>
          <p:cNvSpPr txBox="1">
            <a:spLocks noChangeArrowheads="1"/>
          </p:cNvSpPr>
          <p:nvPr/>
        </p:nvSpPr>
        <p:spPr bwMode="auto">
          <a:xfrm>
            <a:off x="332202" y="428466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anose="02010609060101010101" pitchFamily="2" charset="-122"/>
              </a:rPr>
              <a:t>R</a:t>
            </a:r>
            <a:r>
              <a:rPr kumimoji="1" lang="en-US" altLang="zh-CN" sz="2400" b="1" baseline="-25000" dirty="0">
                <a:solidFill>
                  <a:srgbClr val="C00000"/>
                </a:solidFill>
                <a:latin typeface="+mn-lt"/>
                <a:ea typeface="黑体" panose="02010609060101010101" pitchFamily="2" charset="-122"/>
              </a:rPr>
              <a:t>3</a:t>
            </a:r>
          </a:p>
        </p:txBody>
      </p:sp>
      <p:sp>
        <p:nvSpPr>
          <p:cNvPr id="505915" name="Text Box 59"/>
          <p:cNvSpPr txBox="1">
            <a:spLocks noChangeArrowheads="1"/>
          </p:cNvSpPr>
          <p:nvPr/>
        </p:nvSpPr>
        <p:spPr bwMode="auto">
          <a:xfrm>
            <a:off x="409593" y="2746376"/>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anose="02010609060101010101" pitchFamily="2" charset="-122"/>
              </a:rPr>
              <a:t>R</a:t>
            </a:r>
            <a:r>
              <a:rPr kumimoji="1" lang="en-US" altLang="zh-CN" sz="2400" b="1" baseline="-25000" dirty="0">
                <a:solidFill>
                  <a:srgbClr val="C00000"/>
                </a:solidFill>
                <a:latin typeface="+mn-lt"/>
                <a:ea typeface="黑体" panose="02010609060101010101" pitchFamily="2" charset="-122"/>
              </a:rPr>
              <a:t>2</a:t>
            </a:r>
          </a:p>
        </p:txBody>
      </p:sp>
      <p:sp>
        <p:nvSpPr>
          <p:cNvPr id="2" name="右箭头 1"/>
          <p:cNvSpPr/>
          <p:nvPr/>
        </p:nvSpPr>
        <p:spPr bwMode="auto">
          <a:xfrm rot="2390318">
            <a:off x="1397001" y="3051106"/>
            <a:ext cx="786308" cy="250882"/>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62" name="右箭头 61"/>
          <p:cNvSpPr/>
          <p:nvPr/>
        </p:nvSpPr>
        <p:spPr bwMode="auto">
          <a:xfrm rot="19808815">
            <a:off x="1303984" y="4119145"/>
            <a:ext cx="786308" cy="250882"/>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85226581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3" name="Rectangle 3"/>
          <p:cNvSpPr>
            <a:spLocks noGrp="1" noChangeArrowheads="1"/>
          </p:cNvSpPr>
          <p:nvPr>
            <p:ph type="title"/>
          </p:nvPr>
        </p:nvSpPr>
        <p:spPr/>
        <p:txBody>
          <a:bodyPr/>
          <a:lstStyle/>
          <a:p>
            <a:pPr algn="ctr"/>
            <a:r>
              <a:rPr lang="zh-CN" altLang="en-US" dirty="0"/>
              <a:t>划分子网后变成了三级结构 </a:t>
            </a:r>
          </a:p>
        </p:txBody>
      </p:sp>
      <p:sp>
        <p:nvSpPr>
          <p:cNvPr id="506882" name="Rectangle 2"/>
          <p:cNvSpPr>
            <a:spLocks noGrp="1" noChangeArrowheads="1"/>
          </p:cNvSpPr>
          <p:nvPr>
            <p:ph idx="1"/>
          </p:nvPr>
        </p:nvSpPr>
        <p:spPr/>
        <p:txBody>
          <a:bodyPr/>
          <a:lstStyle/>
          <a:p>
            <a:pPr algn="just"/>
            <a:r>
              <a:rPr lang="en-US" altLang="zh-CN" dirty="0"/>
              <a:t>IP </a:t>
            </a:r>
            <a:r>
              <a:rPr lang="zh-CN" altLang="en-US" dirty="0"/>
              <a:t>地址的没有划分子网时，</a:t>
            </a:r>
            <a:r>
              <a:rPr lang="en-US" altLang="zh-CN" dirty="0"/>
              <a:t>IP </a:t>
            </a:r>
            <a:r>
              <a:rPr lang="zh-CN" altLang="en-US" dirty="0"/>
              <a:t>地址是两级结构。</a:t>
            </a:r>
          </a:p>
          <a:p>
            <a:pPr algn="just"/>
            <a:r>
              <a:rPr lang="zh-CN" altLang="en-US" dirty="0"/>
              <a:t>划分子网后 </a:t>
            </a:r>
            <a:r>
              <a:rPr lang="en-US" altLang="zh-CN" dirty="0"/>
              <a:t>IP </a:t>
            </a:r>
            <a:r>
              <a:rPr lang="zh-CN" altLang="en-US" dirty="0"/>
              <a:t>地址就变成了</a:t>
            </a:r>
            <a:r>
              <a:rPr lang="zh-CN" altLang="en-US" dirty="0">
                <a:solidFill>
                  <a:srgbClr val="FF0000"/>
                </a:solidFill>
              </a:rPr>
              <a:t>三级结构。</a:t>
            </a:r>
          </a:p>
          <a:p>
            <a:pPr algn="just"/>
            <a:r>
              <a:rPr lang="zh-CN" altLang="en-US" dirty="0"/>
              <a:t>主机号 </a:t>
            </a:r>
            <a:r>
              <a:rPr lang="en-US" altLang="zh-CN" dirty="0"/>
              <a:t>host-id </a:t>
            </a:r>
            <a:r>
              <a:rPr lang="zh-CN" altLang="en-US" dirty="0"/>
              <a:t>这部分进行再划分，而</a:t>
            </a:r>
            <a:r>
              <a:rPr lang="zh-CN" altLang="en-US" dirty="0">
                <a:solidFill>
                  <a:srgbClr val="FF0000"/>
                </a:solidFill>
              </a:rPr>
              <a:t>不改变 </a:t>
            </a:r>
            <a:r>
              <a:rPr lang="en-US" altLang="zh-CN" dirty="0">
                <a:solidFill>
                  <a:srgbClr val="FF0000"/>
                </a:solidFill>
              </a:rPr>
              <a:t>IP </a:t>
            </a:r>
            <a:r>
              <a:rPr lang="zh-CN" altLang="en-US" dirty="0">
                <a:solidFill>
                  <a:srgbClr val="FF0000"/>
                </a:solidFill>
              </a:rPr>
              <a:t>地址原来的网络号 </a:t>
            </a:r>
            <a:r>
              <a:rPr lang="en-US" altLang="zh-CN" dirty="0">
                <a:solidFill>
                  <a:srgbClr val="FF0000"/>
                </a:solidFill>
              </a:rPr>
              <a:t>net-id</a:t>
            </a:r>
            <a:r>
              <a:rPr lang="zh-CN" altLang="en-US" dirty="0">
                <a:solidFill>
                  <a:srgbClr val="FF0000"/>
                </a:solidFill>
              </a:rPr>
              <a:t>。 </a:t>
            </a:r>
          </a:p>
        </p:txBody>
      </p:sp>
      <p:grpSp>
        <p:nvGrpSpPr>
          <p:cNvPr id="6" name="组合 5"/>
          <p:cNvGrpSpPr/>
          <p:nvPr/>
        </p:nvGrpSpPr>
        <p:grpSpPr>
          <a:xfrm>
            <a:off x="2199158" y="4412705"/>
            <a:ext cx="5490146" cy="1752599"/>
            <a:chOff x="1839416" y="3501009"/>
            <a:chExt cx="5490146" cy="1752599"/>
          </a:xfrm>
        </p:grpSpPr>
        <p:grpSp>
          <p:nvGrpSpPr>
            <p:cNvPr id="7" name="Group 19"/>
            <p:cNvGrpSpPr/>
            <p:nvPr/>
          </p:nvGrpSpPr>
          <p:grpSpPr bwMode="auto">
            <a:xfrm>
              <a:off x="4160912" y="3577204"/>
              <a:ext cx="3168650" cy="500062"/>
              <a:chOff x="2375" y="2045"/>
              <a:chExt cx="1996" cy="430"/>
            </a:xfrm>
          </p:grpSpPr>
          <p:sp>
            <p:nvSpPr>
              <p:cNvPr id="21" name="Line 13"/>
              <p:cNvSpPr>
                <a:spLocks noChangeShapeType="1"/>
              </p:cNvSpPr>
              <p:nvPr/>
            </p:nvSpPr>
            <p:spPr bwMode="auto">
              <a:xfrm>
                <a:off x="4371" y="2045"/>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2" name="Line 14"/>
              <p:cNvSpPr>
                <a:spLocks noChangeShapeType="1"/>
              </p:cNvSpPr>
              <p:nvPr/>
            </p:nvSpPr>
            <p:spPr bwMode="auto">
              <a:xfrm>
                <a:off x="2375" y="2045"/>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grpSp>
          <p:nvGrpSpPr>
            <p:cNvPr id="8" name="Group 21"/>
            <p:cNvGrpSpPr/>
            <p:nvPr/>
          </p:nvGrpSpPr>
          <p:grpSpPr bwMode="auto">
            <a:xfrm>
              <a:off x="1867991" y="3501009"/>
              <a:ext cx="5454650" cy="1728788"/>
              <a:chOff x="755" y="2169"/>
              <a:chExt cx="3436" cy="1089"/>
            </a:xfrm>
          </p:grpSpPr>
          <p:sp>
            <p:nvSpPr>
              <p:cNvPr id="1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8" name="Text Box 10"/>
              <p:cNvSpPr txBox="1">
                <a:spLocks noChangeArrowheads="1"/>
              </p:cNvSpPr>
              <p:nvPr/>
            </p:nvSpPr>
            <p:spPr bwMode="auto">
              <a:xfrm>
                <a:off x="2218" y="2967"/>
                <a:ext cx="527" cy="29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位</a:t>
                </a:r>
              </a:p>
            </p:txBody>
          </p:sp>
          <p:sp>
            <p:nvSpPr>
              <p:cNvPr id="19" name="Line 15"/>
              <p:cNvSpPr>
                <a:spLocks noChangeShapeType="1"/>
              </p:cNvSpPr>
              <p:nvPr/>
            </p:nvSpPr>
            <p:spPr bwMode="auto">
              <a:xfrm>
                <a:off x="2199" y="2350"/>
                <a:ext cx="1992"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0" name="Text Box 16"/>
              <p:cNvSpPr txBox="1">
                <a:spLocks noChangeArrowheads="1"/>
              </p:cNvSpPr>
              <p:nvPr/>
            </p:nvSpPr>
            <p:spPr bwMode="auto">
              <a:xfrm>
                <a:off x="2789" y="2169"/>
                <a:ext cx="896" cy="29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rgbClr val="C00000"/>
                    </a:solidFill>
                    <a:effectLst/>
                    <a:uLnTx/>
                    <a:uFillTx/>
                    <a:latin typeface="+mn-lt"/>
                    <a:ea typeface="黑体" panose="02010609060101010101" pitchFamily="2" charset="-122"/>
                  </a:rPr>
                  <a:t>本地地址</a:t>
                </a:r>
              </a:p>
            </p:txBody>
          </p:sp>
        </p:grpSp>
        <p:grpSp>
          <p:nvGrpSpPr>
            <p:cNvPr id="9" name="Group 20"/>
            <p:cNvGrpSpPr/>
            <p:nvPr/>
          </p:nvGrpSpPr>
          <p:grpSpPr bwMode="auto">
            <a:xfrm>
              <a:off x="1842591" y="4644008"/>
              <a:ext cx="5486401" cy="609600"/>
              <a:chOff x="739" y="2832"/>
              <a:chExt cx="3456" cy="430"/>
            </a:xfrm>
          </p:grpSpPr>
          <p:sp>
            <p:nvSpPr>
              <p:cNvPr id="15" name="Line 8"/>
              <p:cNvSpPr>
                <a:spLocks noChangeShapeType="1"/>
              </p:cNvSpPr>
              <p:nvPr/>
            </p:nvSpPr>
            <p:spPr bwMode="auto">
              <a:xfrm>
                <a:off x="739"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6" name="Line 17"/>
              <p:cNvSpPr>
                <a:spLocks noChangeShapeType="1"/>
              </p:cNvSpPr>
              <p:nvPr/>
            </p:nvSpPr>
            <p:spPr bwMode="auto">
              <a:xfrm>
                <a:off x="4195"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grpSp>
          <p:nvGrpSpPr>
            <p:cNvPr id="10" name="Group 18"/>
            <p:cNvGrpSpPr/>
            <p:nvPr/>
          </p:nvGrpSpPr>
          <p:grpSpPr bwMode="auto">
            <a:xfrm>
              <a:off x="1839416" y="4105856"/>
              <a:ext cx="5482976" cy="612776"/>
              <a:chOff x="737" y="2493"/>
              <a:chExt cx="3894" cy="386"/>
            </a:xfrm>
          </p:grpSpPr>
          <p:sp>
            <p:nvSpPr>
              <p:cNvPr id="11"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网络号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12"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3" name="Rectangle 11"/>
              <p:cNvSpPr>
                <a:spLocks noChangeArrowheads="1"/>
              </p:cNvSpPr>
              <p:nvPr/>
            </p:nvSpPr>
            <p:spPr bwMode="auto">
              <a:xfrm>
                <a:off x="3613" y="2547"/>
                <a:ext cx="967" cy="291"/>
              </a:xfrm>
              <a:prstGeom prst="rect">
                <a:avLst/>
              </a:prstGeom>
              <a:noFill/>
              <a:ln w="9525" algn="ctr">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14" name="Rectangle 12"/>
              <p:cNvSpPr>
                <a:spLocks noChangeArrowheads="1"/>
              </p:cNvSpPr>
              <p:nvPr/>
            </p:nvSpPr>
            <p:spPr bwMode="auto">
              <a:xfrm>
                <a:off x="2440" y="2548"/>
                <a:ext cx="1068" cy="284"/>
              </a:xfrm>
              <a:prstGeom prst="rect">
                <a:avLst/>
              </a:prstGeom>
              <a:solidFill>
                <a:srgbClr val="FF66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子网号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grpSp>
      </p:grpSp>
    </p:spTree>
    <p:extLst>
      <p:ext uri="{BB962C8B-B14F-4D97-AF65-F5344CB8AC3E}">
        <p14:creationId xmlns:p14="http://schemas.microsoft.com/office/powerpoint/2010/main" val="386324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3666" name="Rectangle 2"/>
          <p:cNvSpPr>
            <a:spLocks noGrp="1" noChangeArrowheads="1"/>
          </p:cNvSpPr>
          <p:nvPr>
            <p:ph type="title"/>
          </p:nvPr>
        </p:nvSpPr>
        <p:spPr/>
        <p:txBody>
          <a:bodyPr/>
          <a:lstStyle/>
          <a:p>
            <a:pPr algn="ctr"/>
            <a:r>
              <a:rPr lang="zh-CN" altLang="en-US" dirty="0"/>
              <a:t>划分子网后变成了三级结构 </a:t>
            </a:r>
            <a:endParaRPr lang="en-US" altLang="zh-CN" dirty="0"/>
          </a:p>
        </p:txBody>
      </p:sp>
      <p:sp>
        <p:nvSpPr>
          <p:cNvPr id="1393667" name="Rectangle 3"/>
          <p:cNvSpPr>
            <a:spLocks noGrp="1" noChangeArrowheads="1"/>
          </p:cNvSpPr>
          <p:nvPr>
            <p:ph type="body" idx="1"/>
          </p:nvPr>
        </p:nvSpPr>
        <p:spPr/>
        <p:txBody>
          <a:bodyPr/>
          <a:lstStyle/>
          <a:p>
            <a:r>
              <a:rPr lang="zh-CN" altLang="en-US" dirty="0">
                <a:solidFill>
                  <a:srgbClr val="FF0000"/>
                </a:solidFill>
              </a:rPr>
              <a:t>优点</a:t>
            </a:r>
          </a:p>
          <a:p>
            <a:pPr lvl="1"/>
            <a:r>
              <a:rPr lang="zh-CN" altLang="en-US" dirty="0"/>
              <a:t>减少了 </a:t>
            </a:r>
            <a:r>
              <a:rPr lang="en-US" altLang="zh-CN" dirty="0"/>
              <a:t>IP </a:t>
            </a:r>
            <a:r>
              <a:rPr lang="zh-CN" altLang="en-US" dirty="0"/>
              <a:t>地址的浪费</a:t>
            </a:r>
          </a:p>
          <a:p>
            <a:pPr lvl="1"/>
            <a:r>
              <a:rPr lang="zh-CN" altLang="en-US" dirty="0"/>
              <a:t>使网络的组织更加灵活</a:t>
            </a:r>
          </a:p>
          <a:p>
            <a:pPr lvl="1"/>
            <a:r>
              <a:rPr lang="zh-CN" altLang="en-US" dirty="0"/>
              <a:t>更便于维护和管理</a:t>
            </a:r>
          </a:p>
          <a:p>
            <a:r>
              <a:rPr lang="zh-CN" altLang="en-US" dirty="0">
                <a:solidFill>
                  <a:srgbClr val="0000FF"/>
                </a:solidFill>
              </a:rPr>
              <a:t>划分子网纯属一个单位内部的事情，对外部网络透明，</a:t>
            </a:r>
            <a:r>
              <a:rPr lang="zh-CN" altLang="en-US" dirty="0"/>
              <a:t>对外仍然表现为没有划分子网的一个网络。</a:t>
            </a:r>
          </a:p>
        </p:txBody>
      </p:sp>
    </p:spTree>
    <p:extLst>
      <p:ext uri="{BB962C8B-B14F-4D97-AF65-F5344CB8AC3E}">
        <p14:creationId xmlns:p14="http://schemas.microsoft.com/office/powerpoint/2010/main" val="137832850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7" name="Rectangle 3"/>
          <p:cNvSpPr>
            <a:spLocks noGrp="1" noChangeArrowheads="1"/>
          </p:cNvSpPr>
          <p:nvPr>
            <p:ph type="title"/>
          </p:nvPr>
        </p:nvSpPr>
        <p:spPr/>
        <p:txBody>
          <a:bodyPr/>
          <a:lstStyle/>
          <a:p>
            <a:r>
              <a:rPr lang="en-US" altLang="zh-CN" dirty="0"/>
              <a:t>2.  </a:t>
            </a:r>
            <a:r>
              <a:rPr lang="zh-CN" altLang="en-US" dirty="0"/>
              <a:t>子网掩码</a:t>
            </a:r>
          </a:p>
        </p:txBody>
      </p:sp>
      <p:sp>
        <p:nvSpPr>
          <p:cNvPr id="507906" name="Rectangle 2"/>
          <p:cNvSpPr>
            <a:spLocks noGrp="1" noChangeArrowheads="1"/>
          </p:cNvSpPr>
          <p:nvPr>
            <p:ph idx="1"/>
          </p:nvPr>
        </p:nvSpPr>
        <p:spPr/>
        <p:txBody>
          <a:bodyPr/>
          <a:lstStyle/>
          <a:p>
            <a:pPr algn="just"/>
            <a:r>
              <a:rPr lang="zh-CN" altLang="en-US" dirty="0"/>
              <a:t>从一个</a:t>
            </a:r>
            <a:r>
              <a:rPr lang="zh-CN" altLang="en-US" sz="2000" dirty="0"/>
              <a:t> </a:t>
            </a:r>
            <a:r>
              <a:rPr lang="en-US" altLang="zh-CN" dirty="0"/>
              <a:t>IP</a:t>
            </a:r>
            <a:r>
              <a:rPr lang="en-US" altLang="zh-CN" sz="2000" dirty="0"/>
              <a:t> </a:t>
            </a:r>
            <a:r>
              <a:rPr lang="zh-CN" altLang="en-US" dirty="0"/>
              <a:t>数据报的首部并</a:t>
            </a:r>
            <a:r>
              <a:rPr lang="zh-CN" altLang="en-US" dirty="0">
                <a:solidFill>
                  <a:srgbClr val="FF0000"/>
                </a:solidFill>
              </a:rPr>
              <a:t>无法判断</a:t>
            </a:r>
            <a:r>
              <a:rPr lang="zh-CN" altLang="en-US" dirty="0"/>
              <a:t>源主机或目的主机所连接的网络是否进行了子网划分。</a:t>
            </a:r>
          </a:p>
          <a:p>
            <a:pPr algn="just"/>
            <a:r>
              <a:rPr lang="zh-CN" altLang="en-US" dirty="0"/>
              <a:t>使用</a:t>
            </a:r>
            <a:r>
              <a:rPr lang="zh-CN" altLang="en-US" dirty="0">
                <a:solidFill>
                  <a:srgbClr val="FF0000"/>
                </a:solidFill>
              </a:rPr>
              <a:t>子网掩码</a:t>
            </a:r>
            <a:r>
              <a:rPr lang="en-US" altLang="zh-CN" dirty="0"/>
              <a:t>(subnet mask)</a:t>
            </a:r>
            <a:r>
              <a:rPr lang="zh-CN" altLang="en-US" dirty="0"/>
              <a:t>可以找出 </a:t>
            </a:r>
            <a:r>
              <a:rPr lang="en-US" altLang="zh-CN" dirty="0"/>
              <a:t>IP </a:t>
            </a:r>
            <a:r>
              <a:rPr lang="zh-CN" altLang="en-US" dirty="0"/>
              <a:t>地址中的子网部分。  </a:t>
            </a:r>
            <a:endParaRPr lang="en-US" altLang="zh-CN" dirty="0"/>
          </a:p>
          <a:p>
            <a:pPr>
              <a:buNone/>
            </a:pPr>
            <a:r>
              <a:rPr lang="zh-CN" altLang="en-US" dirty="0">
                <a:solidFill>
                  <a:srgbClr val="0000FF"/>
                </a:solidFill>
              </a:rPr>
              <a:t>规则：</a:t>
            </a:r>
          </a:p>
          <a:p>
            <a:r>
              <a:rPr lang="zh-CN" altLang="en-US" dirty="0"/>
              <a:t>子网掩码长度＝</a:t>
            </a:r>
            <a:r>
              <a:rPr lang="en-US" altLang="zh-CN" dirty="0"/>
              <a:t>32</a:t>
            </a:r>
            <a:r>
              <a:rPr lang="zh-CN" altLang="en-US" dirty="0"/>
              <a:t>位</a:t>
            </a:r>
          </a:p>
          <a:p>
            <a:r>
              <a:rPr lang="zh-CN" altLang="en-US" dirty="0">
                <a:solidFill>
                  <a:srgbClr val="FF0000"/>
                </a:solidFill>
              </a:rPr>
              <a:t>某位＝</a:t>
            </a:r>
            <a:r>
              <a:rPr lang="en-US" altLang="zh-CN" dirty="0">
                <a:solidFill>
                  <a:srgbClr val="FF0000"/>
                </a:solidFill>
              </a:rPr>
              <a:t>1</a:t>
            </a:r>
            <a:r>
              <a:rPr lang="zh-CN" altLang="en-US" dirty="0">
                <a:solidFill>
                  <a:srgbClr val="FF0000"/>
                </a:solidFill>
              </a:rPr>
              <a:t>：</a:t>
            </a:r>
            <a:r>
              <a:rPr lang="en-US" altLang="zh-CN" dirty="0"/>
              <a:t>IP</a:t>
            </a:r>
            <a:r>
              <a:rPr lang="zh-CN" altLang="en-US" dirty="0"/>
              <a:t>地址中的对应位为网络号和子网号</a:t>
            </a:r>
            <a:endParaRPr lang="en-US" altLang="zh-CN" dirty="0"/>
          </a:p>
          <a:p>
            <a:r>
              <a:rPr lang="zh-CN" altLang="en-US" dirty="0">
                <a:solidFill>
                  <a:srgbClr val="FF0000"/>
                </a:solidFill>
              </a:rPr>
              <a:t>某位＝</a:t>
            </a:r>
            <a:r>
              <a:rPr lang="en-US" altLang="zh-CN" dirty="0">
                <a:solidFill>
                  <a:srgbClr val="FF0000"/>
                </a:solidFill>
              </a:rPr>
              <a:t>0</a:t>
            </a:r>
            <a:r>
              <a:rPr lang="zh-CN" altLang="en-US" dirty="0">
                <a:solidFill>
                  <a:srgbClr val="FF0000"/>
                </a:solidFill>
              </a:rPr>
              <a:t>：</a:t>
            </a:r>
            <a:r>
              <a:rPr lang="en-US" altLang="zh-CN" dirty="0"/>
              <a:t>IP</a:t>
            </a:r>
            <a:r>
              <a:rPr lang="zh-CN" altLang="en-US" dirty="0"/>
              <a:t>地址中的对应位为主机号</a:t>
            </a:r>
          </a:p>
        </p:txBody>
      </p:sp>
    </p:spTree>
    <p:extLst>
      <p:ext uri="{BB962C8B-B14F-4D97-AF65-F5344CB8AC3E}">
        <p14:creationId xmlns:p14="http://schemas.microsoft.com/office/powerpoint/2010/main" val="44575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790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7906">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7906">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07906">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2" name="Rectangle 4"/>
          <p:cNvSpPr>
            <a:spLocks noGrp="1" noChangeArrowheads="1"/>
          </p:cNvSpPr>
          <p:nvPr>
            <p:ph type="title"/>
          </p:nvPr>
        </p:nvSpPr>
        <p:spPr/>
        <p:txBody>
          <a:bodyPr/>
          <a:lstStyle/>
          <a:p>
            <a:pPr algn="ctr"/>
            <a:r>
              <a:rPr lang="en-US" altLang="zh-CN"/>
              <a:t>IP </a:t>
            </a:r>
            <a:r>
              <a:rPr lang="zh-CN" altLang="en-US"/>
              <a:t>地址的各字段和子网掩码 </a:t>
            </a:r>
          </a:p>
        </p:txBody>
      </p:sp>
      <p:sp>
        <p:nvSpPr>
          <p:cNvPr id="508930" name="Rectangle 2"/>
          <p:cNvSpPr>
            <a:spLocks noChangeArrowheads="1"/>
          </p:cNvSpPr>
          <p:nvPr/>
        </p:nvSpPr>
        <p:spPr bwMode="auto">
          <a:xfrm>
            <a:off x="1935621" y="3140994"/>
            <a:ext cx="7702947" cy="473075"/>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31" name="Rectangle 3"/>
          <p:cNvSpPr>
            <a:spLocks noChangeArrowheads="1"/>
          </p:cNvSpPr>
          <p:nvPr/>
        </p:nvSpPr>
        <p:spPr bwMode="auto">
          <a:xfrm>
            <a:off x="1935621" y="1867818"/>
            <a:ext cx="7702947" cy="463550"/>
          </a:xfrm>
          <a:prstGeom prst="rect">
            <a:avLst/>
          </a:prstGeom>
          <a:solidFill>
            <a:srgbClr val="CCECFF"/>
          </a:solidFill>
          <a:ln w="1270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33" name="Line 5"/>
          <p:cNvSpPr>
            <a:spLocks noChangeShapeType="1"/>
          </p:cNvSpPr>
          <p:nvPr/>
        </p:nvSpPr>
        <p:spPr bwMode="auto">
          <a:xfrm>
            <a:off x="1973455" y="3904581"/>
            <a:ext cx="5682192" cy="635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34" name="Line 6"/>
          <p:cNvSpPr>
            <a:spLocks noChangeShapeType="1"/>
          </p:cNvSpPr>
          <p:nvPr/>
        </p:nvSpPr>
        <p:spPr bwMode="auto">
          <a:xfrm flipV="1">
            <a:off x="7690043" y="3904581"/>
            <a:ext cx="1926167"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36" name="Rectangle 8"/>
          <p:cNvSpPr>
            <a:spLocks noChangeArrowheads="1"/>
          </p:cNvSpPr>
          <p:nvPr/>
        </p:nvSpPr>
        <p:spPr bwMode="auto">
          <a:xfrm>
            <a:off x="1951099" y="1880519"/>
            <a:ext cx="3781821"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37" name="Rectangle 9"/>
          <p:cNvSpPr>
            <a:spLocks noChangeArrowheads="1"/>
          </p:cNvSpPr>
          <p:nvPr/>
        </p:nvSpPr>
        <p:spPr bwMode="auto">
          <a:xfrm>
            <a:off x="2601181" y="1845594"/>
            <a:ext cx="3603552"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dirty="0">
                <a:solidFill>
                  <a:srgbClr val="0000CC"/>
                </a:solidFill>
                <a:latin typeface="+mn-lt"/>
                <a:ea typeface="黑体" panose="02010609060101010101" pitchFamily="2" charset="-122"/>
              </a:rPr>
              <a:t>145        </a:t>
            </a:r>
            <a:r>
              <a:rPr kumimoji="1" lang="en-US" altLang="zh-CN" sz="28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        13            </a:t>
            </a:r>
            <a:r>
              <a:rPr kumimoji="1" lang="en-US" altLang="zh-CN" sz="2800" b="1" dirty="0">
                <a:solidFill>
                  <a:srgbClr val="0000CC"/>
                </a:solidFill>
                <a:latin typeface="+mn-lt"/>
                <a:ea typeface="黑体" panose="02010609060101010101" pitchFamily="2" charset="-122"/>
              </a:rPr>
              <a:t>.</a:t>
            </a:r>
          </a:p>
        </p:txBody>
      </p:sp>
      <p:sp>
        <p:nvSpPr>
          <p:cNvPr id="508938" name="Rectangle 10"/>
          <p:cNvSpPr>
            <a:spLocks noChangeArrowheads="1"/>
          </p:cNvSpPr>
          <p:nvPr/>
        </p:nvSpPr>
        <p:spPr bwMode="auto">
          <a:xfrm>
            <a:off x="6658168" y="1845594"/>
            <a:ext cx="2325959" cy="52065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anose="02010609060101010101" pitchFamily="2" charset="-122"/>
              </a:rPr>
              <a:t>3         </a:t>
            </a:r>
            <a:r>
              <a:rPr kumimoji="1" lang="en-US" altLang="zh-CN" sz="2800" b="1">
                <a:solidFill>
                  <a:srgbClr val="0000CC"/>
                </a:solidFill>
                <a:latin typeface="+mn-lt"/>
                <a:ea typeface="黑体" panose="02010609060101010101" pitchFamily="2" charset="-122"/>
              </a:rPr>
              <a:t>.</a:t>
            </a:r>
            <a:r>
              <a:rPr kumimoji="1" lang="en-US" altLang="zh-CN" sz="2400" b="1">
                <a:solidFill>
                  <a:srgbClr val="0000CC"/>
                </a:solidFill>
                <a:latin typeface="+mn-lt"/>
                <a:ea typeface="黑体" panose="02010609060101010101" pitchFamily="2" charset="-122"/>
              </a:rPr>
              <a:t>         10</a:t>
            </a:r>
          </a:p>
        </p:txBody>
      </p:sp>
      <p:sp>
        <p:nvSpPr>
          <p:cNvPr id="508939" name="Rectangle 11"/>
          <p:cNvSpPr>
            <a:spLocks noChangeArrowheads="1"/>
          </p:cNvSpPr>
          <p:nvPr/>
        </p:nvSpPr>
        <p:spPr bwMode="auto">
          <a:xfrm>
            <a:off x="344488" y="1880518"/>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两级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p:txBody>
      </p:sp>
      <p:sp>
        <p:nvSpPr>
          <p:cNvPr id="508940" name="Rectangle 12"/>
          <p:cNvSpPr>
            <a:spLocks noChangeArrowheads="1"/>
          </p:cNvSpPr>
          <p:nvPr/>
        </p:nvSpPr>
        <p:spPr bwMode="auto">
          <a:xfrm>
            <a:off x="3191069" y="3799807"/>
            <a:ext cx="1257168"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41" name="Line 13"/>
          <p:cNvSpPr>
            <a:spLocks noChangeShapeType="1"/>
          </p:cNvSpPr>
          <p:nvPr/>
        </p:nvSpPr>
        <p:spPr bwMode="auto">
          <a:xfrm>
            <a:off x="5741520" y="1875757"/>
            <a:ext cx="0" cy="4540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42" name="Rectangle 14"/>
          <p:cNvSpPr>
            <a:spLocks noChangeArrowheads="1"/>
          </p:cNvSpPr>
          <p:nvPr/>
        </p:nvSpPr>
        <p:spPr bwMode="auto">
          <a:xfrm>
            <a:off x="3148074" y="3710906"/>
            <a:ext cx="3411191"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子网号为 </a:t>
            </a:r>
            <a:r>
              <a:rPr kumimoji="1" lang="en-US" altLang="zh-CN" sz="2000" b="1">
                <a:solidFill>
                  <a:srgbClr val="0000CC"/>
                </a:solidFill>
                <a:latin typeface="+mn-lt"/>
                <a:ea typeface="黑体" panose="02010609060101010101" pitchFamily="2" charset="-122"/>
              </a:rPr>
              <a:t>3 </a:t>
            </a:r>
            <a:r>
              <a:rPr kumimoji="1" lang="zh-CN" altLang="en-US" sz="2000" b="1">
                <a:solidFill>
                  <a:srgbClr val="0000CC"/>
                </a:solidFill>
                <a:latin typeface="+mn-lt"/>
                <a:ea typeface="黑体" panose="02010609060101010101" pitchFamily="2" charset="-122"/>
              </a:rPr>
              <a:t>的网络的网络号</a:t>
            </a:r>
          </a:p>
        </p:txBody>
      </p:sp>
      <p:sp>
        <p:nvSpPr>
          <p:cNvPr id="508943" name="Rectangle 15"/>
          <p:cNvSpPr>
            <a:spLocks noChangeArrowheads="1"/>
          </p:cNvSpPr>
          <p:nvPr/>
        </p:nvSpPr>
        <p:spPr bwMode="auto">
          <a:xfrm>
            <a:off x="1964857" y="3161631"/>
            <a:ext cx="5707988"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46" name="Rectangle 18"/>
          <p:cNvSpPr>
            <a:spLocks noChangeArrowheads="1"/>
          </p:cNvSpPr>
          <p:nvPr/>
        </p:nvSpPr>
        <p:spPr bwMode="auto">
          <a:xfrm>
            <a:off x="344488" y="3161631"/>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三级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p:txBody>
      </p:sp>
      <p:sp>
        <p:nvSpPr>
          <p:cNvPr id="508947" name="Rectangle 19"/>
          <p:cNvSpPr>
            <a:spLocks noChangeArrowheads="1"/>
          </p:cNvSpPr>
          <p:nvPr/>
        </p:nvSpPr>
        <p:spPr bwMode="auto">
          <a:xfrm>
            <a:off x="8266174" y="3799806"/>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48" name="Line 20"/>
          <p:cNvSpPr>
            <a:spLocks noChangeShapeType="1"/>
          </p:cNvSpPr>
          <p:nvPr/>
        </p:nvSpPr>
        <p:spPr bwMode="auto">
          <a:xfrm>
            <a:off x="5741520" y="3160043"/>
            <a:ext cx="0" cy="450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49" name="Rectangle 21"/>
          <p:cNvSpPr>
            <a:spLocks noChangeArrowheads="1"/>
          </p:cNvSpPr>
          <p:nvPr/>
        </p:nvSpPr>
        <p:spPr bwMode="auto">
          <a:xfrm>
            <a:off x="8211141" y="3645818"/>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a:t>
            </a:r>
          </a:p>
        </p:txBody>
      </p:sp>
      <p:sp>
        <p:nvSpPr>
          <p:cNvPr id="508951" name="Line 23"/>
          <p:cNvSpPr>
            <a:spLocks noChangeShapeType="1"/>
          </p:cNvSpPr>
          <p:nvPr/>
        </p:nvSpPr>
        <p:spPr bwMode="auto">
          <a:xfrm>
            <a:off x="7690043" y="3147343"/>
            <a:ext cx="0" cy="4524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55" name="Line 27"/>
          <p:cNvSpPr>
            <a:spLocks noChangeShapeType="1"/>
          </p:cNvSpPr>
          <p:nvPr/>
        </p:nvSpPr>
        <p:spPr bwMode="auto">
          <a:xfrm>
            <a:off x="1949379" y="3652168"/>
            <a:ext cx="0" cy="39370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56" name="Line 28"/>
          <p:cNvSpPr>
            <a:spLocks noChangeShapeType="1"/>
          </p:cNvSpPr>
          <p:nvPr/>
        </p:nvSpPr>
        <p:spPr bwMode="auto">
          <a:xfrm>
            <a:off x="7690043" y="2637757"/>
            <a:ext cx="0" cy="4349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57" name="Rectangle 29"/>
          <p:cNvSpPr>
            <a:spLocks noChangeArrowheads="1"/>
          </p:cNvSpPr>
          <p:nvPr/>
        </p:nvSpPr>
        <p:spPr bwMode="auto">
          <a:xfrm>
            <a:off x="344488" y="4149056"/>
            <a:ext cx="1593579"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三级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a:p>
            <a:pPr defTabSz="762000" eaLnBrk="0" hangingPunct="0"/>
            <a:r>
              <a:rPr kumimoji="1" lang="zh-CN" altLang="en-US" sz="2000" b="1">
                <a:solidFill>
                  <a:srgbClr val="0000CC"/>
                </a:solidFill>
                <a:latin typeface="+mn-lt"/>
                <a:ea typeface="黑体" panose="02010609060101010101" pitchFamily="2" charset="-122"/>
              </a:rPr>
              <a:t>的子网掩码</a:t>
            </a:r>
          </a:p>
        </p:txBody>
      </p:sp>
      <p:sp>
        <p:nvSpPr>
          <p:cNvPr id="508958" name="Line 30"/>
          <p:cNvSpPr>
            <a:spLocks noChangeShapeType="1"/>
          </p:cNvSpPr>
          <p:nvPr/>
        </p:nvSpPr>
        <p:spPr bwMode="auto">
          <a:xfrm>
            <a:off x="1949379" y="1588418"/>
            <a:ext cx="377322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59" name="Line 31"/>
          <p:cNvSpPr>
            <a:spLocks noChangeShapeType="1"/>
          </p:cNvSpPr>
          <p:nvPr/>
        </p:nvSpPr>
        <p:spPr bwMode="auto">
          <a:xfrm>
            <a:off x="1949379" y="1377281"/>
            <a:ext cx="0" cy="4000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0" name="Line 32"/>
          <p:cNvSpPr>
            <a:spLocks noChangeShapeType="1"/>
          </p:cNvSpPr>
          <p:nvPr/>
        </p:nvSpPr>
        <p:spPr bwMode="auto">
          <a:xfrm>
            <a:off x="9638568" y="1377282"/>
            <a:ext cx="0" cy="3841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1" name="Rectangle 33"/>
          <p:cNvSpPr>
            <a:spLocks noChangeArrowheads="1"/>
          </p:cNvSpPr>
          <p:nvPr/>
        </p:nvSpPr>
        <p:spPr bwMode="auto">
          <a:xfrm>
            <a:off x="3356169" y="1340768"/>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08962" name="Line 34"/>
          <p:cNvSpPr>
            <a:spLocks noChangeShapeType="1"/>
          </p:cNvSpPr>
          <p:nvPr/>
        </p:nvSpPr>
        <p:spPr bwMode="auto">
          <a:xfrm>
            <a:off x="5770756" y="1588418"/>
            <a:ext cx="388157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3" name="Rectangle 35"/>
          <p:cNvSpPr>
            <a:spLocks noChangeArrowheads="1"/>
          </p:cNvSpPr>
          <p:nvPr/>
        </p:nvSpPr>
        <p:spPr bwMode="auto">
          <a:xfrm>
            <a:off x="7196464" y="1340768"/>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a:t>
            </a:r>
          </a:p>
        </p:txBody>
      </p:sp>
      <p:sp>
        <p:nvSpPr>
          <p:cNvPr id="508964" name="Line 36"/>
          <p:cNvSpPr>
            <a:spLocks noChangeShapeType="1"/>
          </p:cNvSpPr>
          <p:nvPr/>
        </p:nvSpPr>
        <p:spPr bwMode="auto">
          <a:xfrm>
            <a:off x="5741520" y="1377281"/>
            <a:ext cx="0" cy="4000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5" name="Line 37"/>
          <p:cNvSpPr>
            <a:spLocks noChangeShapeType="1"/>
          </p:cNvSpPr>
          <p:nvPr/>
        </p:nvSpPr>
        <p:spPr bwMode="auto">
          <a:xfrm flipV="1">
            <a:off x="1949379" y="2839368"/>
            <a:ext cx="3786981"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6" name="Line 38"/>
          <p:cNvSpPr>
            <a:spLocks noChangeShapeType="1"/>
          </p:cNvSpPr>
          <p:nvPr/>
        </p:nvSpPr>
        <p:spPr bwMode="auto">
          <a:xfrm>
            <a:off x="1949379" y="2640931"/>
            <a:ext cx="0" cy="4000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7" name="Line 39"/>
          <p:cNvSpPr>
            <a:spLocks noChangeShapeType="1"/>
          </p:cNvSpPr>
          <p:nvPr/>
        </p:nvSpPr>
        <p:spPr bwMode="auto">
          <a:xfrm>
            <a:off x="9638568" y="2640932"/>
            <a:ext cx="0" cy="3841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69" name="Line 41"/>
          <p:cNvSpPr>
            <a:spLocks noChangeShapeType="1"/>
          </p:cNvSpPr>
          <p:nvPr/>
        </p:nvSpPr>
        <p:spPr bwMode="auto">
          <a:xfrm flipV="1">
            <a:off x="5770756" y="2839368"/>
            <a:ext cx="3867812"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71" name="Line 43"/>
          <p:cNvSpPr>
            <a:spLocks noChangeShapeType="1"/>
          </p:cNvSpPr>
          <p:nvPr/>
        </p:nvSpPr>
        <p:spPr bwMode="auto">
          <a:xfrm>
            <a:off x="5741520" y="2640931"/>
            <a:ext cx="0" cy="4000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8972" name="Line 44"/>
          <p:cNvSpPr>
            <a:spLocks noChangeShapeType="1"/>
          </p:cNvSpPr>
          <p:nvPr/>
        </p:nvSpPr>
        <p:spPr bwMode="auto">
          <a:xfrm>
            <a:off x="7672845" y="3704557"/>
            <a:ext cx="0" cy="4540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73" name="Line 45"/>
          <p:cNvSpPr>
            <a:spLocks noChangeShapeType="1"/>
          </p:cNvSpPr>
          <p:nvPr/>
        </p:nvSpPr>
        <p:spPr bwMode="auto">
          <a:xfrm>
            <a:off x="9638568" y="3652169"/>
            <a:ext cx="0" cy="4540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74" name="Rectangle 46"/>
          <p:cNvSpPr>
            <a:spLocks noChangeArrowheads="1"/>
          </p:cNvSpPr>
          <p:nvPr/>
        </p:nvSpPr>
        <p:spPr bwMode="auto">
          <a:xfrm>
            <a:off x="729402" y="4999956"/>
            <a:ext cx="1208665"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anose="02010609060101010101" pitchFamily="2" charset="-122"/>
              </a:rPr>
              <a:t>子网的</a:t>
            </a:r>
          </a:p>
          <a:p>
            <a:pPr algn="ctr" defTabSz="762000" eaLnBrk="0" hangingPunct="0"/>
            <a:r>
              <a:rPr kumimoji="1" lang="zh-CN" altLang="en-US" sz="2000" b="1">
                <a:solidFill>
                  <a:srgbClr val="0000CC"/>
                </a:solidFill>
                <a:latin typeface="+mn-lt"/>
                <a:ea typeface="黑体" panose="02010609060101010101" pitchFamily="2" charset="-122"/>
              </a:rPr>
              <a:t>网络地址</a:t>
            </a:r>
          </a:p>
        </p:txBody>
      </p:sp>
      <p:sp>
        <p:nvSpPr>
          <p:cNvPr id="508975" name="Rectangle 47"/>
          <p:cNvSpPr>
            <a:spLocks noChangeArrowheads="1"/>
          </p:cNvSpPr>
          <p:nvPr/>
        </p:nvSpPr>
        <p:spPr bwMode="auto">
          <a:xfrm>
            <a:off x="7672846" y="4293518"/>
            <a:ext cx="1950244" cy="503238"/>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76" name="Rectangle 48"/>
          <p:cNvSpPr>
            <a:spLocks noChangeArrowheads="1"/>
          </p:cNvSpPr>
          <p:nvPr/>
        </p:nvSpPr>
        <p:spPr bwMode="auto">
          <a:xfrm>
            <a:off x="1976895" y="4293518"/>
            <a:ext cx="5695950" cy="503238"/>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08977" name="Group 49"/>
          <p:cNvGrpSpPr/>
          <p:nvPr/>
        </p:nvGrpSpPr>
        <p:grpSpPr bwMode="auto">
          <a:xfrm>
            <a:off x="2081802" y="4337981"/>
            <a:ext cx="7486254" cy="412751"/>
            <a:chOff x="1205" y="3120"/>
            <a:chExt cx="4353" cy="260"/>
          </a:xfrm>
        </p:grpSpPr>
        <p:sp>
          <p:nvSpPr>
            <p:cNvPr id="508978" name="Rectangle 50"/>
            <p:cNvSpPr>
              <a:spLocks noChangeArrowheads="1"/>
            </p:cNvSpPr>
            <p:nvPr/>
          </p:nvSpPr>
          <p:spPr bwMode="auto">
            <a:xfrm>
              <a:off x="1205" y="3120"/>
              <a:ext cx="3282"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anose="02010609060101010101" pitchFamily="2" charset="-122"/>
                </a:rPr>
                <a:t>1 1 1 1 1 1 1 1 1 1 1 1 1 1 1 1   1 1 1 1 1 1 1 1</a:t>
              </a:r>
            </a:p>
          </p:txBody>
        </p:sp>
        <p:sp>
          <p:nvSpPr>
            <p:cNvPr id="508979" name="Rectangle 51"/>
            <p:cNvSpPr>
              <a:spLocks noChangeArrowheads="1"/>
            </p:cNvSpPr>
            <p:nvPr/>
          </p:nvSpPr>
          <p:spPr bwMode="auto">
            <a:xfrm>
              <a:off x="4452" y="3120"/>
              <a:ext cx="1106" cy="26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anose="02010609060101010101" pitchFamily="2" charset="-122"/>
                </a:rPr>
                <a:t>0 0 0 0 0 0 0 0</a:t>
              </a:r>
            </a:p>
          </p:txBody>
        </p:sp>
      </p:grpSp>
      <p:sp>
        <p:nvSpPr>
          <p:cNvPr id="508980" name="Line 52"/>
          <p:cNvSpPr>
            <a:spLocks noChangeShapeType="1"/>
          </p:cNvSpPr>
          <p:nvPr/>
        </p:nvSpPr>
        <p:spPr bwMode="auto">
          <a:xfrm>
            <a:off x="5741520" y="4293518"/>
            <a:ext cx="1719" cy="503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81" name="Rectangle 53"/>
          <p:cNvSpPr>
            <a:spLocks noChangeArrowheads="1"/>
          </p:cNvSpPr>
          <p:nvPr/>
        </p:nvSpPr>
        <p:spPr bwMode="auto">
          <a:xfrm>
            <a:off x="7672846" y="5157118"/>
            <a:ext cx="1950244" cy="503238"/>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82" name="Rectangle 54"/>
          <p:cNvSpPr>
            <a:spLocks noChangeArrowheads="1"/>
          </p:cNvSpPr>
          <p:nvPr/>
        </p:nvSpPr>
        <p:spPr bwMode="auto">
          <a:xfrm>
            <a:off x="1976895" y="5157118"/>
            <a:ext cx="5695950" cy="503238"/>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83" name="Line 55"/>
          <p:cNvSpPr>
            <a:spLocks noChangeShapeType="1"/>
          </p:cNvSpPr>
          <p:nvPr/>
        </p:nvSpPr>
        <p:spPr bwMode="auto">
          <a:xfrm>
            <a:off x="5741520" y="5157118"/>
            <a:ext cx="1719" cy="503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8986" name="Rectangle 58"/>
          <p:cNvSpPr>
            <a:spLocks noChangeArrowheads="1"/>
          </p:cNvSpPr>
          <p:nvPr/>
        </p:nvSpPr>
        <p:spPr bwMode="auto">
          <a:xfrm>
            <a:off x="8451911" y="5180931"/>
            <a:ext cx="354265"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dirty="0">
                <a:solidFill>
                  <a:srgbClr val="0000CC"/>
                </a:solidFill>
                <a:latin typeface="+mn-lt"/>
                <a:ea typeface="黑体" panose="02010609060101010101" pitchFamily="2" charset="-122"/>
              </a:rPr>
              <a:t>0</a:t>
            </a:r>
          </a:p>
        </p:txBody>
      </p:sp>
      <p:sp>
        <p:nvSpPr>
          <p:cNvPr id="508988" name="Rectangle 60"/>
          <p:cNvSpPr>
            <a:spLocks noChangeArrowheads="1"/>
          </p:cNvSpPr>
          <p:nvPr/>
        </p:nvSpPr>
        <p:spPr bwMode="auto">
          <a:xfrm>
            <a:off x="3381966"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08953" name="Rectangle 25"/>
          <p:cNvSpPr>
            <a:spLocks noChangeArrowheads="1"/>
          </p:cNvSpPr>
          <p:nvPr/>
        </p:nvSpPr>
        <p:spPr bwMode="auto">
          <a:xfrm>
            <a:off x="6260897"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子网号</a:t>
            </a:r>
          </a:p>
        </p:txBody>
      </p:sp>
      <p:sp>
        <p:nvSpPr>
          <p:cNvPr id="508945" name="Rectangle 17"/>
          <p:cNvSpPr>
            <a:spLocks noChangeArrowheads="1"/>
          </p:cNvSpPr>
          <p:nvPr/>
        </p:nvSpPr>
        <p:spPr bwMode="auto">
          <a:xfrm>
            <a:off x="8187064"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a:t>
            </a:r>
          </a:p>
        </p:txBody>
      </p:sp>
      <p:sp>
        <p:nvSpPr>
          <p:cNvPr id="508989" name="Rectangle 61"/>
          <p:cNvSpPr>
            <a:spLocks noChangeArrowheads="1"/>
          </p:cNvSpPr>
          <p:nvPr/>
        </p:nvSpPr>
        <p:spPr bwMode="auto">
          <a:xfrm>
            <a:off x="2601181" y="3140994"/>
            <a:ext cx="3603552"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anose="02010609060101010101" pitchFamily="2" charset="-122"/>
              </a:rPr>
              <a:t>145        </a:t>
            </a:r>
            <a:r>
              <a:rPr kumimoji="1" lang="en-US" altLang="zh-CN" sz="2800" b="1">
                <a:solidFill>
                  <a:srgbClr val="0000CC"/>
                </a:solidFill>
                <a:latin typeface="+mn-lt"/>
                <a:ea typeface="黑体" panose="02010609060101010101" pitchFamily="2" charset="-122"/>
              </a:rPr>
              <a:t>.</a:t>
            </a:r>
            <a:r>
              <a:rPr kumimoji="1" lang="en-US" altLang="zh-CN" sz="2400" b="1">
                <a:solidFill>
                  <a:srgbClr val="0000CC"/>
                </a:solidFill>
                <a:latin typeface="+mn-lt"/>
                <a:ea typeface="黑体" panose="02010609060101010101" pitchFamily="2" charset="-122"/>
              </a:rPr>
              <a:t>        13            </a:t>
            </a:r>
            <a:r>
              <a:rPr kumimoji="1" lang="en-US" altLang="zh-CN" sz="2800" b="1">
                <a:solidFill>
                  <a:srgbClr val="0000CC"/>
                </a:solidFill>
                <a:latin typeface="+mn-lt"/>
                <a:ea typeface="黑体" panose="02010609060101010101" pitchFamily="2" charset="-122"/>
              </a:rPr>
              <a:t>.</a:t>
            </a:r>
          </a:p>
        </p:txBody>
      </p:sp>
      <p:sp>
        <p:nvSpPr>
          <p:cNvPr id="508991" name="Rectangle 63"/>
          <p:cNvSpPr>
            <a:spLocks noChangeArrowheads="1"/>
          </p:cNvSpPr>
          <p:nvPr/>
        </p:nvSpPr>
        <p:spPr bwMode="auto">
          <a:xfrm>
            <a:off x="2601181" y="5157119"/>
            <a:ext cx="4724051"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dirty="0">
                <a:solidFill>
                  <a:srgbClr val="0000CC"/>
                </a:solidFill>
                <a:latin typeface="+mn-lt"/>
                <a:ea typeface="黑体" panose="02010609060101010101" pitchFamily="2" charset="-122"/>
              </a:rPr>
              <a:t>145        </a:t>
            </a:r>
            <a:r>
              <a:rPr kumimoji="1" lang="en-US" altLang="zh-CN" sz="28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        13            </a:t>
            </a:r>
            <a:r>
              <a:rPr kumimoji="1" lang="en-US" altLang="zh-CN" sz="28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           3</a:t>
            </a:r>
          </a:p>
        </p:txBody>
      </p:sp>
      <p:sp>
        <p:nvSpPr>
          <p:cNvPr id="508992" name="Rectangle 64"/>
          <p:cNvSpPr>
            <a:spLocks noChangeArrowheads="1"/>
          </p:cNvSpPr>
          <p:nvPr/>
        </p:nvSpPr>
        <p:spPr bwMode="auto">
          <a:xfrm>
            <a:off x="6658168" y="3140994"/>
            <a:ext cx="2325959" cy="52065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anose="02010609060101010101" pitchFamily="2" charset="-122"/>
              </a:rPr>
              <a:t>3         </a:t>
            </a:r>
            <a:r>
              <a:rPr kumimoji="1" lang="en-US" altLang="zh-CN" sz="2800" b="1">
                <a:solidFill>
                  <a:srgbClr val="0000CC"/>
                </a:solidFill>
                <a:latin typeface="+mn-lt"/>
                <a:ea typeface="黑体" panose="02010609060101010101" pitchFamily="2" charset="-122"/>
              </a:rPr>
              <a:t>.</a:t>
            </a:r>
            <a:r>
              <a:rPr kumimoji="1" lang="en-US" altLang="zh-CN" sz="2400" b="1">
                <a:solidFill>
                  <a:srgbClr val="0000CC"/>
                </a:solidFill>
                <a:latin typeface="+mn-lt"/>
                <a:ea typeface="黑体" panose="02010609060101010101" pitchFamily="2" charset="-122"/>
              </a:rPr>
              <a:t>         10</a:t>
            </a:r>
          </a:p>
        </p:txBody>
      </p:sp>
    </p:spTree>
    <p:extLst>
      <p:ext uri="{BB962C8B-B14F-4D97-AF65-F5344CB8AC3E}">
        <p14:creationId xmlns:p14="http://schemas.microsoft.com/office/powerpoint/2010/main" val="773042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p:stCondLst>
                              <p:cond delay="0"/>
                            </p:stCondLst>
                            <p:childTnLst>
                              <p:par>
                                <p:cTn id="60" presetID="35" presetClass="emph" presetSubtype="0" repeatCount="4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p:stCondLst>
                              <p:cond delay="0"/>
                            </p:stCondLst>
                            <p:childTnLst>
                              <p:par>
                                <p:cTn id="75" presetID="35" presetClass="emph" presetSubtype="0" repeatCount="4000" fill="hold" grpId="1" nodeType="afterEffect">
                                  <p:stCondLst>
                                    <p:cond delay="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33" grpId="0" animBg="1"/>
      <p:bldP spid="508934" grpId="0" animBg="1"/>
      <p:bldP spid="508940" grpId="0" animBg="1"/>
      <p:bldP spid="508942" grpId="0" animBg="1"/>
      <p:bldP spid="508943" grpId="0" animBg="1"/>
      <p:bldP spid="508946" grpId="0"/>
      <p:bldP spid="508947" grpId="0" animBg="1"/>
      <p:bldP spid="508948" grpId="0" animBg="1"/>
      <p:bldP spid="508949" grpId="0"/>
      <p:bldP spid="508951" grpId="0" animBg="1"/>
      <p:bldP spid="508955" grpId="0" animBg="1"/>
      <p:bldP spid="508956" grpId="0" animBg="1"/>
      <p:bldP spid="508957" grpId="0"/>
      <p:bldP spid="508965" grpId="0" animBg="1"/>
      <p:bldP spid="508966" grpId="0" animBg="1"/>
      <p:bldP spid="508967" grpId="0" animBg="1"/>
      <p:bldP spid="508969" grpId="0" animBg="1"/>
      <p:bldP spid="508971" grpId="0" animBg="1"/>
      <p:bldP spid="508972" grpId="0" animBg="1"/>
      <p:bldP spid="508973" grpId="0" animBg="1"/>
      <p:bldP spid="508974" grpId="0"/>
      <p:bldP spid="508974" grpId="1"/>
      <p:bldP spid="508975" grpId="0" animBg="1"/>
      <p:bldP spid="508976" grpId="0" animBg="1"/>
      <p:bldP spid="508980" grpId="0" animBg="1"/>
      <p:bldP spid="508981" grpId="0" animBg="1"/>
      <p:bldP spid="508982" grpId="0" animBg="1"/>
      <p:bldP spid="508983" grpId="0" animBg="1"/>
      <p:bldP spid="508986" grpId="0"/>
      <p:bldP spid="50894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6" name="Rectangle 4"/>
          <p:cNvSpPr>
            <a:spLocks noGrp="1" noChangeArrowheads="1"/>
          </p:cNvSpPr>
          <p:nvPr>
            <p:ph type="title"/>
          </p:nvPr>
        </p:nvSpPr>
        <p:spPr>
          <a:solidFill>
            <a:srgbClr val="66FF66"/>
          </a:solidFill>
        </p:spPr>
        <p:txBody>
          <a:bodyPr/>
          <a:lstStyle/>
          <a:p>
            <a:pPr algn="ctr"/>
            <a:r>
              <a:rPr lang="en-US" altLang="zh-CN" sz="4000" dirty="0">
                <a:solidFill>
                  <a:srgbClr val="C00000"/>
                </a:solidFill>
              </a:rPr>
              <a:t>(IP </a:t>
            </a:r>
            <a:r>
              <a:rPr lang="zh-CN" altLang="en-US" sz="4000" dirty="0">
                <a:solidFill>
                  <a:srgbClr val="C00000"/>
                </a:solidFill>
              </a:rPr>
              <a:t>地址</a:t>
            </a:r>
            <a:r>
              <a:rPr lang="en-US" altLang="zh-CN" sz="4000" dirty="0">
                <a:solidFill>
                  <a:srgbClr val="C00000"/>
                </a:solidFill>
              </a:rPr>
              <a:t>) AND (</a:t>
            </a:r>
            <a:r>
              <a:rPr lang="zh-CN" altLang="en-US" sz="4000" dirty="0">
                <a:solidFill>
                  <a:srgbClr val="C00000"/>
                </a:solidFill>
              </a:rPr>
              <a:t>子网掩码</a:t>
            </a:r>
            <a:r>
              <a:rPr lang="en-US" altLang="zh-CN" sz="4000" dirty="0">
                <a:solidFill>
                  <a:srgbClr val="C00000"/>
                </a:solidFill>
              </a:rPr>
              <a:t>) =</a:t>
            </a:r>
            <a:r>
              <a:rPr lang="zh-CN" altLang="en-US" sz="4000" dirty="0">
                <a:solidFill>
                  <a:srgbClr val="C00000"/>
                </a:solidFill>
              </a:rPr>
              <a:t>网络地址</a:t>
            </a:r>
          </a:p>
        </p:txBody>
      </p:sp>
      <p:sp>
        <p:nvSpPr>
          <p:cNvPr id="509954" name="Rectangle 2"/>
          <p:cNvSpPr>
            <a:spLocks noChangeArrowheads="1"/>
          </p:cNvSpPr>
          <p:nvPr/>
        </p:nvSpPr>
        <p:spPr bwMode="auto">
          <a:xfrm>
            <a:off x="1993759" y="2890465"/>
            <a:ext cx="7702947" cy="46355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55" name="Rectangle 3"/>
          <p:cNvSpPr>
            <a:spLocks noChangeArrowheads="1"/>
          </p:cNvSpPr>
          <p:nvPr/>
        </p:nvSpPr>
        <p:spPr bwMode="auto">
          <a:xfrm>
            <a:off x="1993759" y="1607765"/>
            <a:ext cx="7702947" cy="463550"/>
          </a:xfrm>
          <a:prstGeom prst="rect">
            <a:avLst/>
          </a:prstGeom>
          <a:solidFill>
            <a:srgbClr val="CCECFF"/>
          </a:solidFill>
          <a:ln w="1270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57" name="Line 5"/>
          <p:cNvSpPr>
            <a:spLocks noChangeShapeType="1"/>
          </p:cNvSpPr>
          <p:nvPr/>
        </p:nvSpPr>
        <p:spPr bwMode="auto">
          <a:xfrm flipV="1">
            <a:off x="2031594" y="3644528"/>
            <a:ext cx="376806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9958" name="Line 6"/>
          <p:cNvSpPr>
            <a:spLocks noChangeShapeType="1"/>
          </p:cNvSpPr>
          <p:nvPr/>
        </p:nvSpPr>
        <p:spPr bwMode="auto">
          <a:xfrm flipV="1">
            <a:off x="7748181" y="3644528"/>
            <a:ext cx="1926167"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9959" name="Line 7"/>
          <p:cNvSpPr>
            <a:spLocks noChangeShapeType="1"/>
          </p:cNvSpPr>
          <p:nvPr/>
        </p:nvSpPr>
        <p:spPr bwMode="auto">
          <a:xfrm flipV="1">
            <a:off x="5799658" y="3644528"/>
            <a:ext cx="19399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9960" name="Rectangle 8"/>
          <p:cNvSpPr>
            <a:spLocks noChangeArrowheads="1"/>
          </p:cNvSpPr>
          <p:nvPr/>
        </p:nvSpPr>
        <p:spPr bwMode="auto">
          <a:xfrm>
            <a:off x="2009237" y="1620466"/>
            <a:ext cx="3781821"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509961" name="Rectangle 9"/>
          <p:cNvSpPr>
            <a:spLocks noChangeArrowheads="1"/>
          </p:cNvSpPr>
          <p:nvPr/>
        </p:nvSpPr>
        <p:spPr bwMode="auto">
          <a:xfrm>
            <a:off x="3354115" y="160174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网络号</a:t>
            </a:r>
          </a:p>
        </p:txBody>
      </p:sp>
      <p:sp>
        <p:nvSpPr>
          <p:cNvPr id="509962" name="Rectangle 10"/>
          <p:cNvSpPr>
            <a:spLocks noChangeArrowheads="1"/>
          </p:cNvSpPr>
          <p:nvPr/>
        </p:nvSpPr>
        <p:spPr bwMode="auto">
          <a:xfrm>
            <a:off x="7254602" y="1601748"/>
            <a:ext cx="11108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anose="02010609060101010101" pitchFamily="2" charset="-122"/>
              </a:rPr>
              <a:t>主机号</a:t>
            </a:r>
          </a:p>
        </p:txBody>
      </p:sp>
      <p:sp>
        <p:nvSpPr>
          <p:cNvPr id="509963" name="Rectangle 11"/>
          <p:cNvSpPr>
            <a:spLocks noChangeArrowheads="1"/>
          </p:cNvSpPr>
          <p:nvPr/>
        </p:nvSpPr>
        <p:spPr bwMode="auto">
          <a:xfrm>
            <a:off x="413938" y="1620465"/>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两级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p:txBody>
      </p:sp>
      <p:sp>
        <p:nvSpPr>
          <p:cNvPr id="509964" name="Rectangle 12"/>
          <p:cNvSpPr>
            <a:spLocks noChangeArrowheads="1"/>
          </p:cNvSpPr>
          <p:nvPr/>
        </p:nvSpPr>
        <p:spPr bwMode="auto">
          <a:xfrm>
            <a:off x="3249207" y="3539754"/>
            <a:ext cx="1257168"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65" name="Line 13"/>
          <p:cNvSpPr>
            <a:spLocks noChangeShapeType="1"/>
          </p:cNvSpPr>
          <p:nvPr/>
        </p:nvSpPr>
        <p:spPr bwMode="auto">
          <a:xfrm>
            <a:off x="5799658" y="1615704"/>
            <a:ext cx="0" cy="4540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66" name="Rectangle 14"/>
          <p:cNvSpPr>
            <a:spLocks noChangeArrowheads="1"/>
          </p:cNvSpPr>
          <p:nvPr/>
        </p:nvSpPr>
        <p:spPr bwMode="auto">
          <a:xfrm>
            <a:off x="3340356" y="3461965"/>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09967" name="Rectangle 15"/>
          <p:cNvSpPr>
            <a:spLocks noChangeArrowheads="1"/>
          </p:cNvSpPr>
          <p:nvPr/>
        </p:nvSpPr>
        <p:spPr bwMode="auto">
          <a:xfrm>
            <a:off x="2022995" y="2901578"/>
            <a:ext cx="3754305"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68" name="Rectangle 16"/>
          <p:cNvSpPr>
            <a:spLocks noChangeArrowheads="1"/>
          </p:cNvSpPr>
          <p:nvPr/>
        </p:nvSpPr>
        <p:spPr bwMode="auto">
          <a:xfrm>
            <a:off x="413938" y="2901578"/>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三级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p:txBody>
      </p:sp>
      <p:sp>
        <p:nvSpPr>
          <p:cNvPr id="509969" name="Rectangle 17"/>
          <p:cNvSpPr>
            <a:spLocks noChangeArrowheads="1"/>
          </p:cNvSpPr>
          <p:nvPr/>
        </p:nvSpPr>
        <p:spPr bwMode="auto">
          <a:xfrm>
            <a:off x="8324312" y="3539753"/>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70" name="Line 18"/>
          <p:cNvSpPr>
            <a:spLocks noChangeShapeType="1"/>
          </p:cNvSpPr>
          <p:nvPr/>
        </p:nvSpPr>
        <p:spPr bwMode="auto">
          <a:xfrm>
            <a:off x="5799658" y="2899990"/>
            <a:ext cx="0" cy="4508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71" name="Rectangle 19"/>
          <p:cNvSpPr>
            <a:spLocks noChangeArrowheads="1"/>
          </p:cNvSpPr>
          <p:nvPr/>
        </p:nvSpPr>
        <p:spPr bwMode="auto">
          <a:xfrm>
            <a:off x="8226284" y="3450853"/>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a:t>
            </a:r>
          </a:p>
        </p:txBody>
      </p:sp>
      <p:sp>
        <p:nvSpPr>
          <p:cNvPr id="509972" name="Rectangle 20"/>
          <p:cNvSpPr>
            <a:spLocks noChangeArrowheads="1"/>
          </p:cNvSpPr>
          <p:nvPr/>
        </p:nvSpPr>
        <p:spPr bwMode="auto">
          <a:xfrm>
            <a:off x="6324194" y="3528640"/>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73" name="Line 21"/>
          <p:cNvSpPr>
            <a:spLocks noChangeShapeType="1"/>
          </p:cNvSpPr>
          <p:nvPr/>
        </p:nvSpPr>
        <p:spPr bwMode="auto">
          <a:xfrm>
            <a:off x="7748181" y="2887290"/>
            <a:ext cx="0" cy="4524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75" name="Rectangle 23"/>
          <p:cNvSpPr>
            <a:spLocks noChangeArrowheads="1"/>
          </p:cNvSpPr>
          <p:nvPr/>
        </p:nvSpPr>
        <p:spPr bwMode="auto">
          <a:xfrm>
            <a:off x="3360994" y="292062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网络号</a:t>
            </a:r>
          </a:p>
        </p:txBody>
      </p:sp>
      <p:sp>
        <p:nvSpPr>
          <p:cNvPr id="509976" name="Rectangle 24"/>
          <p:cNvSpPr>
            <a:spLocks noChangeArrowheads="1"/>
          </p:cNvSpPr>
          <p:nvPr/>
        </p:nvSpPr>
        <p:spPr bwMode="auto">
          <a:xfrm>
            <a:off x="8202207" y="2920628"/>
            <a:ext cx="11108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anose="02010609060101010101" pitchFamily="2" charset="-122"/>
              </a:rPr>
              <a:t>主机号</a:t>
            </a:r>
          </a:p>
        </p:txBody>
      </p:sp>
      <p:sp>
        <p:nvSpPr>
          <p:cNvPr id="509977" name="Rectangle 25"/>
          <p:cNvSpPr>
            <a:spLocks noChangeArrowheads="1"/>
          </p:cNvSpPr>
          <p:nvPr/>
        </p:nvSpPr>
        <p:spPr bwMode="auto">
          <a:xfrm>
            <a:off x="6319035" y="292062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anose="02010609060101010101" pitchFamily="2" charset="-122"/>
              </a:rPr>
              <a:t>子网号</a:t>
            </a:r>
          </a:p>
        </p:txBody>
      </p:sp>
      <p:sp>
        <p:nvSpPr>
          <p:cNvPr id="509978" name="Rectangle 26"/>
          <p:cNvSpPr>
            <a:spLocks noChangeArrowheads="1"/>
          </p:cNvSpPr>
          <p:nvPr/>
        </p:nvSpPr>
        <p:spPr bwMode="auto">
          <a:xfrm>
            <a:off x="6212408" y="3461965"/>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子网号</a:t>
            </a:r>
          </a:p>
        </p:txBody>
      </p:sp>
      <p:sp>
        <p:nvSpPr>
          <p:cNvPr id="509980" name="Line 28"/>
          <p:cNvSpPr>
            <a:spLocks noChangeShapeType="1"/>
          </p:cNvSpPr>
          <p:nvPr/>
        </p:nvSpPr>
        <p:spPr bwMode="auto">
          <a:xfrm>
            <a:off x="7748181" y="3392116"/>
            <a:ext cx="0" cy="4349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09981" name="Rectangle 29"/>
          <p:cNvSpPr>
            <a:spLocks noChangeArrowheads="1"/>
          </p:cNvSpPr>
          <p:nvPr/>
        </p:nvSpPr>
        <p:spPr bwMode="auto">
          <a:xfrm>
            <a:off x="413938" y="3960440"/>
            <a:ext cx="1593579"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三级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地址</a:t>
            </a:r>
          </a:p>
          <a:p>
            <a:pPr defTabSz="762000" eaLnBrk="0" hangingPunct="0"/>
            <a:r>
              <a:rPr kumimoji="1" lang="zh-CN" altLang="en-US" sz="2000" b="1">
                <a:solidFill>
                  <a:srgbClr val="0000CC"/>
                </a:solidFill>
                <a:latin typeface="+mn-lt"/>
                <a:ea typeface="黑体" panose="02010609060101010101" pitchFamily="2" charset="-122"/>
              </a:rPr>
              <a:t>的子网掩码</a:t>
            </a:r>
          </a:p>
        </p:txBody>
      </p:sp>
      <p:sp>
        <p:nvSpPr>
          <p:cNvPr id="509996" name="Line 44"/>
          <p:cNvSpPr>
            <a:spLocks noChangeShapeType="1"/>
          </p:cNvSpPr>
          <p:nvPr/>
        </p:nvSpPr>
        <p:spPr bwMode="auto">
          <a:xfrm>
            <a:off x="5799658" y="3444504"/>
            <a:ext cx="0" cy="4540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09998" name="Rectangle 46"/>
          <p:cNvSpPr>
            <a:spLocks noChangeArrowheads="1"/>
          </p:cNvSpPr>
          <p:nvPr/>
        </p:nvSpPr>
        <p:spPr bwMode="auto">
          <a:xfrm>
            <a:off x="798852" y="4739903"/>
            <a:ext cx="1208665"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anose="02010609060101010101" pitchFamily="2" charset="-122"/>
              </a:rPr>
              <a:t>子网的</a:t>
            </a:r>
          </a:p>
          <a:p>
            <a:pPr algn="ctr" defTabSz="762000" eaLnBrk="0" hangingPunct="0"/>
            <a:r>
              <a:rPr kumimoji="1" lang="zh-CN" altLang="en-US" sz="2000" b="1">
                <a:solidFill>
                  <a:srgbClr val="0000CC"/>
                </a:solidFill>
                <a:latin typeface="+mn-lt"/>
                <a:ea typeface="黑体" panose="02010609060101010101" pitchFamily="2" charset="-122"/>
              </a:rPr>
              <a:t>网络地址</a:t>
            </a:r>
          </a:p>
        </p:txBody>
      </p:sp>
      <p:sp>
        <p:nvSpPr>
          <p:cNvPr id="509999" name="Rectangle 47"/>
          <p:cNvSpPr>
            <a:spLocks noChangeArrowheads="1"/>
          </p:cNvSpPr>
          <p:nvPr/>
        </p:nvSpPr>
        <p:spPr bwMode="auto">
          <a:xfrm>
            <a:off x="7730984" y="4033465"/>
            <a:ext cx="1950244" cy="503238"/>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000" name="Rectangle 48"/>
          <p:cNvSpPr>
            <a:spLocks noChangeArrowheads="1"/>
          </p:cNvSpPr>
          <p:nvPr/>
        </p:nvSpPr>
        <p:spPr bwMode="auto">
          <a:xfrm>
            <a:off x="2035033" y="4033465"/>
            <a:ext cx="5695950" cy="503238"/>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10001" name="Group 49"/>
          <p:cNvGrpSpPr/>
          <p:nvPr/>
        </p:nvGrpSpPr>
        <p:grpSpPr bwMode="auto">
          <a:xfrm>
            <a:off x="2065990" y="4096966"/>
            <a:ext cx="7639315" cy="412750"/>
            <a:chOff x="1174" y="3062"/>
            <a:chExt cx="4442" cy="260"/>
          </a:xfrm>
        </p:grpSpPr>
        <p:sp>
          <p:nvSpPr>
            <p:cNvPr id="510002" name="Rectangle 50"/>
            <p:cNvSpPr>
              <a:spLocks noChangeArrowheads="1"/>
            </p:cNvSpPr>
            <p:nvPr/>
          </p:nvSpPr>
          <p:spPr bwMode="auto">
            <a:xfrm>
              <a:off x="1174" y="3062"/>
              <a:ext cx="3282"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a:solidFill>
                    <a:srgbClr val="0000CC"/>
                  </a:solidFill>
                  <a:latin typeface="+mn-lt"/>
                  <a:ea typeface="黑体" panose="02010609060101010101" pitchFamily="2" charset="-122"/>
                </a:rPr>
                <a:t>1 1 1 1 1 1 1 1 1 1 1 1 1 1 1 1   1 1 1 1 1 1 1 1</a:t>
              </a:r>
            </a:p>
          </p:txBody>
        </p:sp>
        <p:sp>
          <p:nvSpPr>
            <p:cNvPr id="510003" name="Rectangle 51"/>
            <p:cNvSpPr>
              <a:spLocks noChangeArrowheads="1"/>
            </p:cNvSpPr>
            <p:nvPr/>
          </p:nvSpPr>
          <p:spPr bwMode="auto">
            <a:xfrm>
              <a:off x="4510" y="3062"/>
              <a:ext cx="1106" cy="26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anose="02010609060101010101" pitchFamily="2" charset="-122"/>
                </a:rPr>
                <a:t>0 0 0 0 0 0 0 0</a:t>
              </a:r>
            </a:p>
          </p:txBody>
        </p:sp>
      </p:grpSp>
      <p:sp>
        <p:nvSpPr>
          <p:cNvPr id="510004" name="Line 52"/>
          <p:cNvSpPr>
            <a:spLocks noChangeShapeType="1"/>
          </p:cNvSpPr>
          <p:nvPr/>
        </p:nvSpPr>
        <p:spPr bwMode="auto">
          <a:xfrm>
            <a:off x="5799658" y="4033465"/>
            <a:ext cx="1719" cy="503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005" name="Rectangle 53"/>
          <p:cNvSpPr>
            <a:spLocks noChangeArrowheads="1"/>
          </p:cNvSpPr>
          <p:nvPr/>
        </p:nvSpPr>
        <p:spPr bwMode="auto">
          <a:xfrm>
            <a:off x="7730984" y="4897065"/>
            <a:ext cx="1950244" cy="503238"/>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006" name="Rectangle 54"/>
          <p:cNvSpPr>
            <a:spLocks noChangeArrowheads="1"/>
          </p:cNvSpPr>
          <p:nvPr/>
        </p:nvSpPr>
        <p:spPr bwMode="auto">
          <a:xfrm>
            <a:off x="2035033" y="4897065"/>
            <a:ext cx="5695950" cy="503238"/>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007" name="Line 55"/>
          <p:cNvSpPr>
            <a:spLocks noChangeShapeType="1"/>
          </p:cNvSpPr>
          <p:nvPr/>
        </p:nvSpPr>
        <p:spPr bwMode="auto">
          <a:xfrm>
            <a:off x="5799658" y="4897065"/>
            <a:ext cx="1719" cy="503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009" name="Rectangle 57"/>
          <p:cNvSpPr>
            <a:spLocks noChangeArrowheads="1"/>
          </p:cNvSpPr>
          <p:nvPr/>
        </p:nvSpPr>
        <p:spPr bwMode="auto">
          <a:xfrm>
            <a:off x="3440104" y="492087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网络号</a:t>
            </a:r>
          </a:p>
        </p:txBody>
      </p:sp>
      <p:sp>
        <p:nvSpPr>
          <p:cNvPr id="510010" name="Rectangle 58"/>
          <p:cNvSpPr>
            <a:spLocks noChangeArrowheads="1"/>
          </p:cNvSpPr>
          <p:nvPr/>
        </p:nvSpPr>
        <p:spPr bwMode="auto">
          <a:xfrm>
            <a:off x="6239925" y="492087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子网号</a:t>
            </a:r>
          </a:p>
        </p:txBody>
      </p:sp>
      <p:sp>
        <p:nvSpPr>
          <p:cNvPr id="510011" name="Rectangle 59"/>
          <p:cNvSpPr>
            <a:spLocks noChangeArrowheads="1"/>
          </p:cNvSpPr>
          <p:nvPr/>
        </p:nvSpPr>
        <p:spPr bwMode="auto">
          <a:xfrm>
            <a:off x="8551324" y="4920878"/>
            <a:ext cx="354265"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anose="02010609060101010101" pitchFamily="2" charset="-122"/>
              </a:rPr>
              <a:t>0</a:t>
            </a:r>
          </a:p>
        </p:txBody>
      </p:sp>
      <p:sp>
        <p:nvSpPr>
          <p:cNvPr id="510012" name="Rectangle 60"/>
          <p:cNvSpPr>
            <a:spLocks noChangeArrowheads="1"/>
          </p:cNvSpPr>
          <p:nvPr/>
        </p:nvSpPr>
        <p:spPr bwMode="auto">
          <a:xfrm>
            <a:off x="2000672" y="3385766"/>
            <a:ext cx="7711546" cy="600075"/>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3600" b="1">
                <a:solidFill>
                  <a:srgbClr val="0000CC"/>
                </a:solidFill>
                <a:latin typeface="+mn-lt"/>
                <a:ea typeface="黑体" panose="02010609060101010101" pitchFamily="2" charset="-122"/>
              </a:rPr>
              <a:t>逐位进行 </a:t>
            </a:r>
            <a:r>
              <a:rPr lang="en-US" altLang="zh-CN" sz="3600" b="1">
                <a:solidFill>
                  <a:srgbClr val="0000CC"/>
                </a:solidFill>
                <a:latin typeface="+mn-lt"/>
                <a:ea typeface="黑体" panose="02010609060101010101" pitchFamily="2" charset="-122"/>
              </a:rPr>
              <a:t>AND </a:t>
            </a:r>
            <a:r>
              <a:rPr lang="zh-CN" altLang="en-US" sz="3600" b="1">
                <a:solidFill>
                  <a:srgbClr val="0000CC"/>
                </a:solidFill>
                <a:latin typeface="+mn-lt"/>
                <a:ea typeface="黑体" panose="02010609060101010101" pitchFamily="2" charset="-122"/>
              </a:rPr>
              <a:t>运算</a:t>
            </a:r>
          </a:p>
        </p:txBody>
      </p:sp>
      <p:sp>
        <p:nvSpPr>
          <p:cNvPr id="510013" name="AutoShape 61"/>
          <p:cNvSpPr>
            <a:spLocks noChangeArrowheads="1"/>
          </p:cNvSpPr>
          <p:nvPr/>
        </p:nvSpPr>
        <p:spPr bwMode="auto">
          <a:xfrm>
            <a:off x="5311237" y="4609729"/>
            <a:ext cx="937286" cy="503237"/>
          </a:xfrm>
          <a:prstGeom prst="downArrow">
            <a:avLst>
              <a:gd name="adj1" fmla="val 50000"/>
              <a:gd name="adj2" fmla="val 25000"/>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Tree>
    <p:extLst>
      <p:ext uri="{BB962C8B-B14F-4D97-AF65-F5344CB8AC3E}">
        <p14:creationId xmlns:p14="http://schemas.microsoft.com/office/powerpoint/2010/main" val="1408401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1" presetClass="entr" presetSubtype="0" fill="hold" grpId="0"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p:stCondLst>
                              <p:cond delay="1500"/>
                            </p:stCondLst>
                            <p:childTnLst>
                              <p:par>
                                <p:cTn id="13" presetID="1" presetClass="entr" presetSubtype="0" fill="hold" grpId="0"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bldLvl="0" animBg="1"/>
      <p:bldP spid="510012" grpId="0" animBg="1"/>
      <p:bldP spid="510013"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16496" y="1196752"/>
            <a:ext cx="9249180" cy="5162550"/>
            <a:chOff x="416496" y="1196752"/>
            <a:chExt cx="9249180" cy="5162550"/>
          </a:xfrm>
        </p:grpSpPr>
        <p:sp>
          <p:nvSpPr>
            <p:cNvPr id="511030" name="Rectangle 54"/>
            <p:cNvSpPr>
              <a:spLocks noChangeArrowheads="1"/>
            </p:cNvSpPr>
            <p:nvPr/>
          </p:nvSpPr>
          <p:spPr bwMode="auto">
            <a:xfrm>
              <a:off x="7780473" y="5621114"/>
              <a:ext cx="1721512" cy="496888"/>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11" name="Rectangle 35"/>
            <p:cNvSpPr>
              <a:spLocks noChangeArrowheads="1"/>
            </p:cNvSpPr>
            <p:nvPr/>
          </p:nvSpPr>
          <p:spPr bwMode="auto">
            <a:xfrm>
              <a:off x="2712247" y="5633814"/>
              <a:ext cx="5069946"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15" name="Rectangle 39"/>
            <p:cNvSpPr>
              <a:spLocks noChangeArrowheads="1"/>
            </p:cNvSpPr>
            <p:nvPr/>
          </p:nvSpPr>
          <p:spPr bwMode="auto">
            <a:xfrm>
              <a:off x="2664814" y="5676677"/>
              <a:ext cx="5228997" cy="3975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anose="02010609060101010101" pitchFamily="2" charset="-122"/>
                </a:rPr>
                <a:t>1 1 1 1 1 1 1 1 1 1 1 1 1 1 1 1 1 1 1 1 1 1 1 1</a:t>
              </a:r>
            </a:p>
          </p:txBody>
        </p:sp>
        <p:sp>
          <p:nvSpPr>
            <p:cNvPr id="511020" name="Rectangle 44"/>
            <p:cNvSpPr>
              <a:spLocks noChangeArrowheads="1"/>
            </p:cNvSpPr>
            <p:nvPr/>
          </p:nvSpPr>
          <p:spPr bwMode="auto">
            <a:xfrm>
              <a:off x="7727160" y="5676677"/>
              <a:ext cx="1817806"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0 0 0 0 0 0 0 0</a:t>
              </a:r>
            </a:p>
          </p:txBody>
        </p:sp>
        <p:sp>
          <p:nvSpPr>
            <p:cNvPr id="511029" name="Rectangle 53"/>
            <p:cNvSpPr>
              <a:spLocks noChangeArrowheads="1"/>
            </p:cNvSpPr>
            <p:nvPr/>
          </p:nvSpPr>
          <p:spPr bwMode="auto">
            <a:xfrm>
              <a:off x="6043483" y="3870102"/>
              <a:ext cx="3455062"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18" name="Rectangle 42"/>
            <p:cNvSpPr>
              <a:spLocks noChangeArrowheads="1"/>
            </p:cNvSpPr>
            <p:nvPr/>
          </p:nvSpPr>
          <p:spPr bwMode="auto">
            <a:xfrm>
              <a:off x="6050363" y="3909789"/>
              <a:ext cx="3523401"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0 0 0 0 0 0 0 0 0 0 0 0 0 0 0 0</a:t>
              </a:r>
            </a:p>
          </p:txBody>
        </p:sp>
        <p:sp>
          <p:nvSpPr>
            <p:cNvPr id="511005" name="Rectangle 29"/>
            <p:cNvSpPr>
              <a:spLocks noChangeArrowheads="1"/>
            </p:cNvSpPr>
            <p:nvPr/>
          </p:nvSpPr>
          <p:spPr bwMode="auto">
            <a:xfrm>
              <a:off x="2719127" y="3876452"/>
              <a:ext cx="3331236"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17" name="Rectangle 41"/>
            <p:cNvSpPr>
              <a:spLocks noChangeArrowheads="1"/>
            </p:cNvSpPr>
            <p:nvPr/>
          </p:nvSpPr>
          <p:spPr bwMode="auto">
            <a:xfrm>
              <a:off x="2654750" y="3909789"/>
              <a:ext cx="3523401" cy="3975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anose="02010609060101010101" pitchFamily="2" charset="-122"/>
                </a:rPr>
                <a:t>1 1 1 1 1 1 1 1 1 1 1 1 1 1 1 1</a:t>
              </a:r>
            </a:p>
          </p:txBody>
        </p:sp>
        <p:sp>
          <p:nvSpPr>
            <p:cNvPr id="510995" name="Rectangle 19"/>
            <p:cNvSpPr>
              <a:spLocks noChangeArrowheads="1"/>
            </p:cNvSpPr>
            <p:nvPr/>
          </p:nvSpPr>
          <p:spPr bwMode="auto">
            <a:xfrm>
              <a:off x="2719127" y="2119090"/>
              <a:ext cx="1736990"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28" name="Rectangle 52"/>
            <p:cNvSpPr>
              <a:spLocks noChangeArrowheads="1"/>
            </p:cNvSpPr>
            <p:nvPr/>
          </p:nvSpPr>
          <p:spPr bwMode="auto">
            <a:xfrm>
              <a:off x="4433759" y="2120677"/>
              <a:ext cx="5040710"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19" name="Rectangle 43"/>
            <p:cNvSpPr>
              <a:spLocks noChangeArrowheads="1"/>
            </p:cNvSpPr>
            <p:nvPr/>
          </p:nvSpPr>
          <p:spPr bwMode="auto">
            <a:xfrm>
              <a:off x="2668509" y="2168302"/>
              <a:ext cx="1817806"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anose="02010609060101010101" pitchFamily="2" charset="-122"/>
                </a:rPr>
                <a:t>1 1 1 1 1 1 1 1</a:t>
              </a:r>
            </a:p>
          </p:txBody>
        </p:sp>
        <p:sp>
          <p:nvSpPr>
            <p:cNvPr id="511016" name="Rectangle 40"/>
            <p:cNvSpPr>
              <a:spLocks noChangeArrowheads="1"/>
            </p:cNvSpPr>
            <p:nvPr/>
          </p:nvSpPr>
          <p:spPr bwMode="auto">
            <a:xfrm>
              <a:off x="4404523" y="2168302"/>
              <a:ext cx="5228997" cy="397545"/>
            </a:xfrm>
            <a:prstGeom prst="rect">
              <a:avLst/>
            </a:prstGeom>
            <a:noFill/>
            <a:ln>
              <a:noFill/>
            </a:ln>
            <a:effectLst/>
            <a:extLst>
              <a:ext uri="{909E8E84-426E-40DD-AFC4-6F175D3DCCD1}">
                <a14:hiddenFill xmlns:a14="http://schemas.microsoft.com/office/drawing/2010/main">
                  <a:solidFill>
                    <a:srgbClr val="FFCC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0 0 0 0 0 0 0 0 0 0 0 0 0 0 0 0 0 0 0 0 0 0 0 0</a:t>
              </a:r>
            </a:p>
          </p:txBody>
        </p:sp>
        <p:sp>
          <p:nvSpPr>
            <p:cNvPr id="510978" name="Rectangle 2"/>
            <p:cNvSpPr>
              <a:spLocks noChangeArrowheads="1"/>
            </p:cNvSpPr>
            <p:nvPr/>
          </p:nvSpPr>
          <p:spPr bwMode="auto">
            <a:xfrm>
              <a:off x="416496" y="1196752"/>
              <a:ext cx="9249180" cy="5162550"/>
            </a:xfrm>
            <a:prstGeom prst="rect">
              <a:avLst/>
            </a:prstGeom>
            <a:noFill/>
            <a:ln w="9525">
              <a:solidFill>
                <a:schemeClr val="tx1"/>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79" name="Rectangle 3"/>
            <p:cNvSpPr>
              <a:spLocks noChangeArrowheads="1"/>
            </p:cNvSpPr>
            <p:nvPr/>
          </p:nvSpPr>
          <p:spPr bwMode="auto">
            <a:xfrm>
              <a:off x="2715687" y="4836889"/>
              <a:ext cx="5069946"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0" name="Rectangle 4"/>
            <p:cNvSpPr>
              <a:spLocks noChangeArrowheads="1"/>
            </p:cNvSpPr>
            <p:nvPr/>
          </p:nvSpPr>
          <p:spPr bwMode="auto">
            <a:xfrm>
              <a:off x="5142313" y="4857527"/>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10981" name="Line 5"/>
            <p:cNvSpPr>
              <a:spLocks noChangeShapeType="1"/>
            </p:cNvSpPr>
            <p:nvPr/>
          </p:nvSpPr>
          <p:spPr bwMode="auto">
            <a:xfrm>
              <a:off x="7790791" y="4821015"/>
              <a:ext cx="0" cy="5064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2" name="Rectangle 6"/>
            <p:cNvSpPr>
              <a:spLocks noChangeArrowheads="1"/>
            </p:cNvSpPr>
            <p:nvPr/>
          </p:nvSpPr>
          <p:spPr bwMode="auto">
            <a:xfrm>
              <a:off x="2710528" y="4824190"/>
              <a:ext cx="6800056" cy="519113"/>
            </a:xfrm>
            <a:prstGeom prst="rect">
              <a:avLst/>
            </a:prstGeom>
            <a:noFill/>
            <a:ln w="1270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3" name="Rectangle 7"/>
            <p:cNvSpPr>
              <a:spLocks noChangeArrowheads="1"/>
            </p:cNvSpPr>
            <p:nvPr/>
          </p:nvSpPr>
          <p:spPr bwMode="auto">
            <a:xfrm>
              <a:off x="2720845" y="1388840"/>
              <a:ext cx="1700875"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4" name="Rectangle 8"/>
            <p:cNvSpPr>
              <a:spLocks noChangeArrowheads="1"/>
            </p:cNvSpPr>
            <p:nvPr/>
          </p:nvSpPr>
          <p:spPr bwMode="auto">
            <a:xfrm>
              <a:off x="4457835" y="1407889"/>
              <a:ext cx="5035550"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5" name="Rectangle 9"/>
            <p:cNvSpPr>
              <a:spLocks noChangeArrowheads="1"/>
            </p:cNvSpPr>
            <p:nvPr/>
          </p:nvSpPr>
          <p:spPr bwMode="auto">
            <a:xfrm>
              <a:off x="3124998" y="1441227"/>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10986" name="Rectangle 10"/>
            <p:cNvSpPr>
              <a:spLocks noChangeArrowheads="1"/>
            </p:cNvSpPr>
            <p:nvPr/>
          </p:nvSpPr>
          <p:spPr bwMode="auto">
            <a:xfrm>
              <a:off x="6163869" y="1441227"/>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主机号为全 </a:t>
              </a:r>
              <a:r>
                <a:rPr kumimoji="1" lang="en-US" altLang="zh-CN" sz="2000" b="1">
                  <a:solidFill>
                    <a:srgbClr val="0000CC"/>
                  </a:solidFill>
                  <a:latin typeface="+mn-lt"/>
                  <a:ea typeface="黑体" panose="02010609060101010101" pitchFamily="2" charset="-122"/>
                </a:rPr>
                <a:t>0</a:t>
              </a:r>
            </a:p>
          </p:txBody>
        </p:sp>
        <p:sp>
          <p:nvSpPr>
            <p:cNvPr id="510987" name="Line 11"/>
            <p:cNvSpPr>
              <a:spLocks noChangeShapeType="1"/>
            </p:cNvSpPr>
            <p:nvPr/>
          </p:nvSpPr>
          <p:spPr bwMode="auto">
            <a:xfrm>
              <a:off x="4437198" y="1384077"/>
              <a:ext cx="0" cy="508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8" name="Rectangle 12"/>
            <p:cNvSpPr>
              <a:spLocks noChangeArrowheads="1"/>
            </p:cNvSpPr>
            <p:nvPr/>
          </p:nvSpPr>
          <p:spPr bwMode="auto">
            <a:xfrm>
              <a:off x="2712247" y="1374552"/>
              <a:ext cx="6803496" cy="520700"/>
            </a:xfrm>
            <a:prstGeom prst="rect">
              <a:avLst/>
            </a:prstGeom>
            <a:noFill/>
            <a:ln w="1270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89" name="Rectangle 13"/>
            <p:cNvSpPr>
              <a:spLocks noChangeArrowheads="1"/>
            </p:cNvSpPr>
            <p:nvPr/>
          </p:nvSpPr>
          <p:spPr bwMode="auto">
            <a:xfrm>
              <a:off x="2715687" y="3098577"/>
              <a:ext cx="3334676"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90" name="Rectangle 14"/>
            <p:cNvSpPr>
              <a:spLocks noChangeArrowheads="1"/>
            </p:cNvSpPr>
            <p:nvPr/>
          </p:nvSpPr>
          <p:spPr bwMode="auto">
            <a:xfrm>
              <a:off x="3953937" y="3157314"/>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网络号</a:t>
              </a:r>
            </a:p>
          </p:txBody>
        </p:sp>
        <p:sp>
          <p:nvSpPr>
            <p:cNvPr id="510991" name="Line 15"/>
            <p:cNvSpPr>
              <a:spLocks noChangeShapeType="1"/>
            </p:cNvSpPr>
            <p:nvPr/>
          </p:nvSpPr>
          <p:spPr bwMode="auto">
            <a:xfrm>
              <a:off x="6071000" y="3093814"/>
              <a:ext cx="0" cy="508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92" name="Rectangle 16"/>
            <p:cNvSpPr>
              <a:spLocks noChangeArrowheads="1"/>
            </p:cNvSpPr>
            <p:nvPr/>
          </p:nvSpPr>
          <p:spPr bwMode="auto">
            <a:xfrm>
              <a:off x="2708807" y="3084289"/>
              <a:ext cx="6801776" cy="519113"/>
            </a:xfrm>
            <a:prstGeom prst="rect">
              <a:avLst/>
            </a:prstGeom>
            <a:noFill/>
            <a:ln w="1270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94" name="Rectangle 18"/>
            <p:cNvSpPr>
              <a:spLocks noChangeArrowheads="1"/>
            </p:cNvSpPr>
            <p:nvPr/>
          </p:nvSpPr>
          <p:spPr bwMode="auto">
            <a:xfrm>
              <a:off x="7801110" y="4836889"/>
              <a:ext cx="1685396"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97" name="Rectangle 21"/>
            <p:cNvSpPr>
              <a:spLocks noChangeArrowheads="1"/>
            </p:cNvSpPr>
            <p:nvPr/>
          </p:nvSpPr>
          <p:spPr bwMode="auto">
            <a:xfrm>
              <a:off x="2710527" y="2104802"/>
              <a:ext cx="6803496" cy="519112"/>
            </a:xfrm>
            <a:prstGeom prst="rect">
              <a:avLst/>
            </a:prstGeom>
            <a:noFill/>
            <a:ln w="1270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0998" name="Rectangle 22"/>
            <p:cNvSpPr>
              <a:spLocks noChangeArrowheads="1"/>
            </p:cNvSpPr>
            <p:nvPr/>
          </p:nvSpPr>
          <p:spPr bwMode="auto">
            <a:xfrm>
              <a:off x="1315345" y="14412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dirty="0">
                  <a:solidFill>
                    <a:srgbClr val="0000CC"/>
                  </a:solidFill>
                  <a:latin typeface="+mn-lt"/>
                  <a:ea typeface="黑体" panose="02010609060101010101" pitchFamily="2" charset="-122"/>
                </a:rPr>
                <a:t>网络地址</a:t>
              </a:r>
            </a:p>
          </p:txBody>
        </p:sp>
        <p:sp>
          <p:nvSpPr>
            <p:cNvPr id="510999" name="Text Box 23"/>
            <p:cNvSpPr txBox="1">
              <a:spLocks noChangeArrowheads="1"/>
            </p:cNvSpPr>
            <p:nvPr/>
          </p:nvSpPr>
          <p:spPr bwMode="auto">
            <a:xfrm>
              <a:off x="488504" y="1357090"/>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dirty="0">
                  <a:solidFill>
                    <a:srgbClr val="0000CC"/>
                  </a:solidFill>
                  <a:latin typeface="+mn-lt"/>
                  <a:ea typeface="黑体" panose="02010609060101010101" pitchFamily="2" charset="-122"/>
                </a:rPr>
                <a:t>A</a:t>
              </a:r>
            </a:p>
            <a:p>
              <a:pPr algn="ctr">
                <a:lnSpc>
                  <a:spcPct val="85000"/>
                </a:lnSpc>
              </a:pPr>
              <a:r>
                <a:rPr kumimoji="1" lang="zh-CN" altLang="en-US" sz="2000" b="1" dirty="0">
                  <a:solidFill>
                    <a:srgbClr val="0000CC"/>
                  </a:solidFill>
                  <a:latin typeface="+mn-lt"/>
                  <a:ea typeface="黑体" panose="02010609060101010101" pitchFamily="2" charset="-122"/>
                </a:rPr>
                <a:t>类</a:t>
              </a:r>
            </a:p>
            <a:p>
              <a:pPr algn="ctr">
                <a:lnSpc>
                  <a:spcPct val="85000"/>
                </a:lnSpc>
              </a:pPr>
              <a:r>
                <a:rPr kumimoji="1" lang="zh-CN" altLang="en-US" sz="2000" b="1" dirty="0">
                  <a:solidFill>
                    <a:srgbClr val="0000CC"/>
                  </a:solidFill>
                  <a:latin typeface="+mn-lt"/>
                  <a:ea typeface="黑体" panose="02010609060101010101" pitchFamily="2" charset="-122"/>
                </a:rPr>
                <a:t>地</a:t>
              </a:r>
            </a:p>
            <a:p>
              <a:pPr algn="ctr">
                <a:lnSpc>
                  <a:spcPct val="85000"/>
                </a:lnSpc>
              </a:pPr>
              <a:r>
                <a:rPr kumimoji="1" lang="zh-CN" altLang="en-US" sz="2000" b="1" dirty="0">
                  <a:solidFill>
                    <a:srgbClr val="0000CC"/>
                  </a:solidFill>
                  <a:latin typeface="+mn-lt"/>
                  <a:ea typeface="黑体" panose="02010609060101010101" pitchFamily="2" charset="-122"/>
                </a:rPr>
                <a:t>址</a:t>
              </a:r>
            </a:p>
          </p:txBody>
        </p:sp>
        <p:sp>
          <p:nvSpPr>
            <p:cNvPr id="511000" name="Rectangle 24"/>
            <p:cNvSpPr>
              <a:spLocks noChangeArrowheads="1"/>
            </p:cNvSpPr>
            <p:nvPr/>
          </p:nvSpPr>
          <p:spPr bwMode="auto">
            <a:xfrm>
              <a:off x="1036507" y="2076228"/>
              <a:ext cx="172162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anose="02010609060101010101" pitchFamily="2" charset="-122"/>
                </a:rPr>
                <a:t>默认子网掩码</a:t>
              </a:r>
            </a:p>
            <a:p>
              <a:pPr algn="ctr" defTabSz="762000" eaLnBrk="0" hangingPunct="0">
                <a:lnSpc>
                  <a:spcPct val="90000"/>
                </a:lnSpc>
              </a:pPr>
              <a:r>
                <a:rPr kumimoji="1" lang="en-US" altLang="zh-CN" sz="2000" b="1">
                  <a:solidFill>
                    <a:srgbClr val="0000CC"/>
                  </a:solidFill>
                  <a:latin typeface="+mn-lt"/>
                  <a:ea typeface="黑体" panose="02010609060101010101" pitchFamily="2" charset="-122"/>
                </a:rPr>
                <a:t>255.0.0.0</a:t>
              </a:r>
            </a:p>
          </p:txBody>
        </p:sp>
        <p:sp>
          <p:nvSpPr>
            <p:cNvPr id="511001" name="Rectangle 25"/>
            <p:cNvSpPr>
              <a:spLocks noChangeArrowheads="1"/>
            </p:cNvSpPr>
            <p:nvPr/>
          </p:nvSpPr>
          <p:spPr bwMode="auto">
            <a:xfrm>
              <a:off x="1323944" y="3157314"/>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anose="02010609060101010101" pitchFamily="2" charset="-122"/>
                </a:rPr>
                <a:t>网络地址</a:t>
              </a:r>
            </a:p>
          </p:txBody>
        </p:sp>
        <p:sp>
          <p:nvSpPr>
            <p:cNvPr id="511002" name="Text Box 26"/>
            <p:cNvSpPr txBox="1">
              <a:spLocks noChangeArrowheads="1"/>
            </p:cNvSpPr>
            <p:nvPr/>
          </p:nvSpPr>
          <p:spPr bwMode="auto">
            <a:xfrm>
              <a:off x="491083" y="3046190"/>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dirty="0">
                  <a:solidFill>
                    <a:srgbClr val="0000CC"/>
                  </a:solidFill>
                  <a:latin typeface="+mn-lt"/>
                  <a:ea typeface="黑体" panose="02010609060101010101" pitchFamily="2" charset="-122"/>
                </a:rPr>
                <a:t>B</a:t>
              </a:r>
            </a:p>
            <a:p>
              <a:pPr algn="ctr">
                <a:lnSpc>
                  <a:spcPct val="85000"/>
                </a:lnSpc>
              </a:pPr>
              <a:r>
                <a:rPr kumimoji="1" lang="zh-CN" altLang="en-US" sz="2000" b="1" dirty="0">
                  <a:solidFill>
                    <a:srgbClr val="0000CC"/>
                  </a:solidFill>
                  <a:latin typeface="+mn-lt"/>
                  <a:ea typeface="黑体" panose="02010609060101010101" pitchFamily="2" charset="-122"/>
                </a:rPr>
                <a:t>类</a:t>
              </a:r>
            </a:p>
            <a:p>
              <a:pPr algn="ctr">
                <a:lnSpc>
                  <a:spcPct val="85000"/>
                </a:lnSpc>
              </a:pPr>
              <a:r>
                <a:rPr kumimoji="1" lang="zh-CN" altLang="en-US" sz="2000" b="1" dirty="0">
                  <a:solidFill>
                    <a:srgbClr val="0000CC"/>
                  </a:solidFill>
                  <a:latin typeface="+mn-lt"/>
                  <a:ea typeface="黑体" panose="02010609060101010101" pitchFamily="2" charset="-122"/>
                </a:rPr>
                <a:t>地</a:t>
              </a:r>
            </a:p>
            <a:p>
              <a:pPr algn="ctr">
                <a:lnSpc>
                  <a:spcPct val="85000"/>
                </a:lnSpc>
              </a:pPr>
              <a:r>
                <a:rPr kumimoji="1" lang="zh-CN" altLang="en-US" sz="2000" b="1" dirty="0">
                  <a:solidFill>
                    <a:srgbClr val="0000CC"/>
                  </a:solidFill>
                  <a:latin typeface="+mn-lt"/>
                  <a:ea typeface="黑体" panose="02010609060101010101" pitchFamily="2" charset="-122"/>
                </a:rPr>
                <a:t>址</a:t>
              </a:r>
            </a:p>
          </p:txBody>
        </p:sp>
        <p:sp>
          <p:nvSpPr>
            <p:cNvPr id="511003" name="Rectangle 27"/>
            <p:cNvSpPr>
              <a:spLocks noChangeArrowheads="1"/>
            </p:cNvSpPr>
            <p:nvPr/>
          </p:nvSpPr>
          <p:spPr bwMode="auto">
            <a:xfrm>
              <a:off x="1000392" y="3766915"/>
              <a:ext cx="172162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anose="02010609060101010101" pitchFamily="2" charset="-122"/>
                </a:rPr>
                <a:t>默认子网掩码</a:t>
              </a:r>
            </a:p>
            <a:p>
              <a:pPr algn="ctr" defTabSz="762000" eaLnBrk="0" hangingPunct="0">
                <a:lnSpc>
                  <a:spcPct val="90000"/>
                </a:lnSpc>
              </a:pPr>
              <a:r>
                <a:rPr kumimoji="1" lang="en-US" altLang="zh-CN" sz="2000" b="1">
                  <a:solidFill>
                    <a:srgbClr val="0000CC"/>
                  </a:solidFill>
                  <a:latin typeface="+mn-lt"/>
                  <a:ea typeface="黑体" panose="02010609060101010101" pitchFamily="2" charset="-122"/>
                </a:rPr>
                <a:t>255.255.0.0</a:t>
              </a:r>
            </a:p>
          </p:txBody>
        </p:sp>
        <p:sp>
          <p:nvSpPr>
            <p:cNvPr id="511007" name="Rectangle 31"/>
            <p:cNvSpPr>
              <a:spLocks noChangeArrowheads="1"/>
            </p:cNvSpPr>
            <p:nvPr/>
          </p:nvSpPr>
          <p:spPr bwMode="auto">
            <a:xfrm>
              <a:off x="2710527" y="3862164"/>
              <a:ext cx="6803496" cy="520700"/>
            </a:xfrm>
            <a:prstGeom prst="rect">
              <a:avLst/>
            </a:prstGeom>
            <a:noFill/>
            <a:ln w="12700">
              <a:solidFill>
                <a:schemeClr val="tx1"/>
              </a:solidFill>
              <a:miter lim="800000"/>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08" name="Rectangle 32"/>
            <p:cNvSpPr>
              <a:spLocks noChangeArrowheads="1"/>
            </p:cNvSpPr>
            <p:nvPr/>
          </p:nvSpPr>
          <p:spPr bwMode="auto">
            <a:xfrm>
              <a:off x="1323944" y="4884514"/>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dirty="0">
                  <a:solidFill>
                    <a:srgbClr val="0000CC"/>
                  </a:solidFill>
                  <a:latin typeface="+mn-lt"/>
                  <a:ea typeface="黑体" panose="02010609060101010101" pitchFamily="2" charset="-122"/>
                </a:rPr>
                <a:t>网络地址</a:t>
              </a:r>
            </a:p>
          </p:txBody>
        </p:sp>
        <p:sp>
          <p:nvSpPr>
            <p:cNvPr id="511009" name="Text Box 33"/>
            <p:cNvSpPr txBox="1">
              <a:spLocks noChangeArrowheads="1"/>
            </p:cNvSpPr>
            <p:nvPr/>
          </p:nvSpPr>
          <p:spPr bwMode="auto">
            <a:xfrm>
              <a:off x="491083" y="4808315"/>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a:solidFill>
                    <a:srgbClr val="0000CC"/>
                  </a:solidFill>
                  <a:latin typeface="+mn-lt"/>
                  <a:ea typeface="黑体" panose="02010609060101010101" pitchFamily="2" charset="-122"/>
                </a:rPr>
                <a:t>C</a:t>
              </a:r>
            </a:p>
            <a:p>
              <a:pPr algn="ctr">
                <a:lnSpc>
                  <a:spcPct val="85000"/>
                </a:lnSpc>
              </a:pPr>
              <a:r>
                <a:rPr kumimoji="1" lang="zh-CN" altLang="en-US" sz="2000" b="1">
                  <a:solidFill>
                    <a:srgbClr val="0000CC"/>
                  </a:solidFill>
                  <a:latin typeface="+mn-lt"/>
                  <a:ea typeface="黑体" panose="02010609060101010101" pitchFamily="2" charset="-122"/>
                </a:rPr>
                <a:t>类</a:t>
              </a:r>
            </a:p>
            <a:p>
              <a:pPr algn="ctr">
                <a:lnSpc>
                  <a:spcPct val="85000"/>
                </a:lnSpc>
              </a:pPr>
              <a:r>
                <a:rPr kumimoji="1" lang="zh-CN" altLang="en-US" sz="2000" b="1">
                  <a:solidFill>
                    <a:srgbClr val="0000CC"/>
                  </a:solidFill>
                  <a:latin typeface="+mn-lt"/>
                  <a:ea typeface="黑体" panose="02010609060101010101" pitchFamily="2" charset="-122"/>
                </a:rPr>
                <a:t>地</a:t>
              </a:r>
            </a:p>
            <a:p>
              <a:pPr algn="ctr">
                <a:lnSpc>
                  <a:spcPct val="85000"/>
                </a:lnSpc>
              </a:pPr>
              <a:r>
                <a:rPr kumimoji="1" lang="zh-CN" altLang="en-US" sz="2000" b="1">
                  <a:solidFill>
                    <a:srgbClr val="0000CC"/>
                  </a:solidFill>
                  <a:latin typeface="+mn-lt"/>
                  <a:ea typeface="黑体" panose="02010609060101010101" pitchFamily="2" charset="-122"/>
                </a:rPr>
                <a:t>址</a:t>
              </a:r>
            </a:p>
          </p:txBody>
        </p:sp>
        <p:sp>
          <p:nvSpPr>
            <p:cNvPr id="511010" name="Rectangle 34"/>
            <p:cNvSpPr>
              <a:spLocks noChangeArrowheads="1"/>
            </p:cNvSpPr>
            <p:nvPr/>
          </p:nvSpPr>
          <p:spPr bwMode="auto">
            <a:xfrm>
              <a:off x="925852" y="5575077"/>
              <a:ext cx="187070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anose="02010609060101010101" pitchFamily="2" charset="-122"/>
                </a:rPr>
                <a:t>默认子网掩码</a:t>
              </a:r>
            </a:p>
            <a:p>
              <a:pPr algn="ctr" defTabSz="762000" eaLnBrk="0" hangingPunct="0">
                <a:lnSpc>
                  <a:spcPct val="90000"/>
                </a:lnSpc>
              </a:pPr>
              <a:r>
                <a:rPr kumimoji="1" lang="en-US" altLang="zh-CN" sz="2000" b="1">
                  <a:solidFill>
                    <a:srgbClr val="0000CC"/>
                  </a:solidFill>
                  <a:latin typeface="+mn-lt"/>
                  <a:ea typeface="黑体" panose="02010609060101010101" pitchFamily="2" charset="-122"/>
                </a:rPr>
                <a:t>255.255.255.0</a:t>
              </a:r>
            </a:p>
          </p:txBody>
        </p:sp>
        <p:sp>
          <p:nvSpPr>
            <p:cNvPr id="511013" name="Rectangle 37"/>
            <p:cNvSpPr>
              <a:spLocks noChangeArrowheads="1"/>
            </p:cNvSpPr>
            <p:nvPr/>
          </p:nvSpPr>
          <p:spPr bwMode="auto">
            <a:xfrm>
              <a:off x="2705368" y="5619527"/>
              <a:ext cx="6801776" cy="520700"/>
            </a:xfrm>
            <a:prstGeom prst="rect">
              <a:avLst/>
            </a:prstGeom>
            <a:noFill/>
            <a:ln w="12700">
              <a:solidFill>
                <a:schemeClr val="tx1"/>
              </a:solidFill>
              <a:miter lim="800000"/>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21" name="Rectangle 45"/>
            <p:cNvSpPr>
              <a:spLocks noChangeArrowheads="1"/>
            </p:cNvSpPr>
            <p:nvPr/>
          </p:nvSpPr>
          <p:spPr bwMode="auto">
            <a:xfrm>
              <a:off x="6081318" y="3096989"/>
              <a:ext cx="3412067"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11022" name="Rectangle 46"/>
            <p:cNvSpPr>
              <a:spLocks noChangeArrowheads="1"/>
            </p:cNvSpPr>
            <p:nvPr/>
          </p:nvSpPr>
          <p:spPr bwMode="auto">
            <a:xfrm>
              <a:off x="7752956" y="4862289"/>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主机号为全 </a:t>
              </a:r>
              <a:r>
                <a:rPr kumimoji="1" lang="en-US" altLang="zh-CN" sz="2000" b="1">
                  <a:solidFill>
                    <a:srgbClr val="0000CC"/>
                  </a:solidFill>
                  <a:latin typeface="+mn-lt"/>
                  <a:ea typeface="黑体" panose="02010609060101010101" pitchFamily="2" charset="-122"/>
                </a:rPr>
                <a:t>0</a:t>
              </a:r>
            </a:p>
          </p:txBody>
        </p:sp>
        <p:sp>
          <p:nvSpPr>
            <p:cNvPr id="511023" name="Rectangle 47"/>
            <p:cNvSpPr>
              <a:spLocks noChangeArrowheads="1"/>
            </p:cNvSpPr>
            <p:nvPr/>
          </p:nvSpPr>
          <p:spPr bwMode="auto">
            <a:xfrm>
              <a:off x="6896500" y="3157314"/>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主机号为全 </a:t>
              </a:r>
              <a:r>
                <a:rPr kumimoji="1" lang="en-US" altLang="zh-CN" sz="2000" b="1">
                  <a:solidFill>
                    <a:srgbClr val="0000CC"/>
                  </a:solidFill>
                  <a:latin typeface="+mn-lt"/>
                  <a:ea typeface="黑体" panose="02010609060101010101" pitchFamily="2" charset="-122"/>
                </a:rPr>
                <a:t>0</a:t>
              </a:r>
            </a:p>
          </p:txBody>
        </p:sp>
        <p:grpSp>
          <p:nvGrpSpPr>
            <p:cNvPr id="2" name="组合 1"/>
            <p:cNvGrpSpPr/>
            <p:nvPr/>
          </p:nvGrpSpPr>
          <p:grpSpPr>
            <a:xfrm>
              <a:off x="416496" y="2844577"/>
              <a:ext cx="9249180" cy="1757362"/>
              <a:chOff x="24077" y="2916585"/>
              <a:chExt cx="9785615" cy="1757362"/>
            </a:xfrm>
          </p:grpSpPr>
          <p:sp>
            <p:nvSpPr>
              <p:cNvPr id="511024" name="Line 48"/>
              <p:cNvSpPr>
                <a:spLocks noChangeShapeType="1"/>
              </p:cNvSpPr>
              <p:nvPr/>
            </p:nvSpPr>
            <p:spPr bwMode="auto">
              <a:xfrm>
                <a:off x="24077" y="2916585"/>
                <a:ext cx="9785615"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11025" name="Line 49"/>
              <p:cNvSpPr>
                <a:spLocks noChangeShapeType="1"/>
              </p:cNvSpPr>
              <p:nvPr/>
            </p:nvSpPr>
            <p:spPr bwMode="auto">
              <a:xfrm>
                <a:off x="24077" y="4673947"/>
                <a:ext cx="9785615"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11026" name="Line 50"/>
            <p:cNvSpPr>
              <a:spLocks noChangeShapeType="1"/>
            </p:cNvSpPr>
            <p:nvPr/>
          </p:nvSpPr>
          <p:spPr bwMode="auto">
            <a:xfrm>
              <a:off x="992560" y="1196752"/>
              <a:ext cx="0" cy="5162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11027" name="Rectangle 51"/>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dirty="0"/>
              <a:t>默认子网掩码 </a:t>
            </a:r>
          </a:p>
        </p:txBody>
      </p:sp>
    </p:spTree>
    <p:extLst>
      <p:ext uri="{BB962C8B-B14F-4D97-AF65-F5344CB8AC3E}">
        <p14:creationId xmlns:p14="http://schemas.microsoft.com/office/powerpoint/2010/main" val="190785324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dirty="0"/>
              <a:t>子网掩码是一个重要属性</a:t>
            </a:r>
          </a:p>
        </p:txBody>
      </p:sp>
      <p:sp>
        <p:nvSpPr>
          <p:cNvPr id="985091" name="Rectangle 3"/>
          <p:cNvSpPr>
            <a:spLocks noGrp="1" noChangeArrowheads="1"/>
          </p:cNvSpPr>
          <p:nvPr>
            <p:ph idx="1"/>
          </p:nvPr>
        </p:nvSpPr>
        <p:spPr/>
        <p:txBody>
          <a:bodyPr/>
          <a:lstStyle/>
          <a:p>
            <a:pPr>
              <a:lnSpc>
                <a:spcPct val="100000"/>
              </a:lnSpc>
            </a:pPr>
            <a:r>
              <a:rPr lang="zh-CN" altLang="en-US" dirty="0">
                <a:solidFill>
                  <a:srgbClr val="FF0000"/>
                </a:solidFill>
              </a:rPr>
              <a:t>子网掩码是一个网络或一个子网的重要属性。</a:t>
            </a:r>
          </a:p>
          <a:p>
            <a:pPr>
              <a:lnSpc>
                <a:spcPct val="100000"/>
              </a:lnSpc>
            </a:pPr>
            <a:r>
              <a:rPr lang="zh-CN" altLang="en-US" dirty="0"/>
              <a:t>路由器在和相邻路由器交换路由信息时，必须把自己所在网络（或子网）的子网掩码告诉相邻路由器。</a:t>
            </a:r>
          </a:p>
          <a:p>
            <a:pPr>
              <a:lnSpc>
                <a:spcPct val="100000"/>
              </a:lnSpc>
            </a:pPr>
            <a:r>
              <a:rPr lang="zh-CN" altLang="en-US" dirty="0"/>
              <a:t>路由器的路由表中的每一个项目，除了要给出目的网络地址外，还必须同时给出该网络的子网掩码。</a:t>
            </a:r>
          </a:p>
          <a:p>
            <a:pPr>
              <a:lnSpc>
                <a:spcPct val="100000"/>
              </a:lnSpc>
            </a:pPr>
            <a:r>
              <a:rPr lang="zh-CN" altLang="en-US" dirty="0"/>
              <a:t>若一个路由器连接在两个子网上就拥有两个网络地址和两个子网掩码。</a:t>
            </a:r>
          </a:p>
        </p:txBody>
      </p:sp>
    </p:spTree>
    <p:extLst>
      <p:ext uri="{BB962C8B-B14F-4D97-AF65-F5344CB8AC3E}">
        <p14:creationId xmlns:p14="http://schemas.microsoft.com/office/powerpoint/2010/main" val="107729733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子网划分方法</a:t>
            </a:r>
          </a:p>
        </p:txBody>
      </p:sp>
      <p:sp>
        <p:nvSpPr>
          <p:cNvPr id="3" name="内容占位符 2"/>
          <p:cNvSpPr>
            <a:spLocks noGrp="1"/>
          </p:cNvSpPr>
          <p:nvPr>
            <p:ph idx="1"/>
          </p:nvPr>
        </p:nvSpPr>
        <p:spPr/>
        <p:txBody>
          <a:bodyPr/>
          <a:lstStyle/>
          <a:p>
            <a:r>
              <a:rPr lang="zh-CN" altLang="en-US" sz="2800" dirty="0"/>
              <a:t>有</a:t>
            </a:r>
            <a:r>
              <a:rPr lang="zh-CN" altLang="en-US" sz="2800" dirty="0">
                <a:solidFill>
                  <a:srgbClr val="FF0000"/>
                </a:solidFill>
              </a:rPr>
              <a:t>固定长度子网</a:t>
            </a:r>
            <a:r>
              <a:rPr lang="zh-CN" altLang="en-US" sz="2800" dirty="0"/>
              <a:t>和</a:t>
            </a:r>
            <a:r>
              <a:rPr lang="zh-CN" altLang="en-US" sz="2800" dirty="0">
                <a:solidFill>
                  <a:srgbClr val="FF0000"/>
                </a:solidFill>
              </a:rPr>
              <a:t>变长子网</a:t>
            </a:r>
            <a:r>
              <a:rPr lang="zh-CN" altLang="en-US" sz="2800" dirty="0"/>
              <a:t>两种子网划分方法。</a:t>
            </a:r>
            <a:endParaRPr lang="en-US" altLang="zh-CN" sz="2800" dirty="0"/>
          </a:p>
          <a:p>
            <a:r>
              <a:rPr lang="zh-CN" altLang="zh-CN" sz="2800" dirty="0">
                <a:solidFill>
                  <a:srgbClr val="0000FF"/>
                </a:solidFill>
              </a:rPr>
              <a:t>在采用固定长度子网时，所划分的所有子网的子网掩码都是相同的</a:t>
            </a:r>
            <a:r>
              <a:rPr lang="zh-CN" altLang="en-US" sz="2800" dirty="0">
                <a:solidFill>
                  <a:srgbClr val="0000FF"/>
                </a:solidFill>
              </a:rPr>
              <a:t>。</a:t>
            </a:r>
            <a:endParaRPr lang="en-US" altLang="zh-CN" sz="2800" dirty="0">
              <a:solidFill>
                <a:srgbClr val="0000FF"/>
              </a:solidFill>
            </a:endParaRPr>
          </a:p>
          <a:p>
            <a:r>
              <a:rPr lang="zh-CN" altLang="zh-CN" sz="2800" dirty="0"/>
              <a:t>虽然根据已成为互联网标准协议的</a:t>
            </a:r>
            <a:r>
              <a:rPr lang="en-US" altLang="zh-CN" sz="2800" dirty="0"/>
              <a:t>RFC 950</a:t>
            </a:r>
            <a:r>
              <a:rPr lang="zh-CN" altLang="zh-CN" sz="2800" dirty="0"/>
              <a:t>文档，子网号不能为</a:t>
            </a:r>
            <a:r>
              <a:rPr lang="zh-CN" altLang="zh-CN" sz="2800" dirty="0">
                <a:solidFill>
                  <a:srgbClr val="FF0000"/>
                </a:solidFill>
              </a:rPr>
              <a:t>全</a:t>
            </a:r>
            <a:r>
              <a:rPr lang="en-US" altLang="zh-CN" sz="2800" dirty="0">
                <a:solidFill>
                  <a:srgbClr val="FF0000"/>
                </a:solidFill>
              </a:rPr>
              <a:t>1</a:t>
            </a:r>
            <a:r>
              <a:rPr lang="zh-CN" altLang="zh-CN" sz="2800" dirty="0"/>
              <a:t>或</a:t>
            </a:r>
            <a:r>
              <a:rPr lang="zh-CN" altLang="zh-CN" sz="2800" dirty="0">
                <a:solidFill>
                  <a:srgbClr val="FF0000"/>
                </a:solidFill>
              </a:rPr>
              <a:t>全</a:t>
            </a:r>
            <a:r>
              <a:rPr lang="en-US" altLang="zh-CN" sz="2800" dirty="0">
                <a:solidFill>
                  <a:srgbClr val="FF0000"/>
                </a:solidFill>
              </a:rPr>
              <a:t>0</a:t>
            </a:r>
            <a:r>
              <a:rPr lang="zh-CN" altLang="zh-CN" sz="2800" dirty="0">
                <a:solidFill>
                  <a:srgbClr val="FF0000"/>
                </a:solidFill>
              </a:rPr>
              <a:t>，</a:t>
            </a:r>
            <a:r>
              <a:rPr lang="zh-CN" altLang="zh-CN" sz="2800" dirty="0"/>
              <a:t>但随着无分类域间路由选择</a:t>
            </a:r>
            <a:r>
              <a:rPr lang="en-US" altLang="zh-CN" sz="2800" dirty="0"/>
              <a:t>CIDR</a:t>
            </a:r>
            <a:r>
              <a:rPr lang="zh-CN" altLang="zh-CN" sz="2800" dirty="0"/>
              <a:t>的广泛使用</a:t>
            </a:r>
            <a:r>
              <a:rPr lang="zh-CN" altLang="en-US" sz="2800" dirty="0"/>
              <a:t>，</a:t>
            </a:r>
            <a:r>
              <a:rPr lang="zh-CN" altLang="zh-CN" sz="2800" dirty="0"/>
              <a:t>现在全</a:t>
            </a:r>
            <a:r>
              <a:rPr lang="en-US" altLang="zh-CN" sz="2800" dirty="0"/>
              <a:t>1</a:t>
            </a:r>
            <a:r>
              <a:rPr lang="zh-CN" altLang="zh-CN" sz="2800" dirty="0"/>
              <a:t>和全</a:t>
            </a:r>
            <a:r>
              <a:rPr lang="en-US" altLang="zh-CN" sz="2800" dirty="0"/>
              <a:t>0</a:t>
            </a:r>
            <a:r>
              <a:rPr lang="zh-CN" altLang="zh-CN" sz="2800" dirty="0"/>
              <a:t>的子网号也可以使用了，但一定要谨慎使用，</a:t>
            </a:r>
            <a:r>
              <a:rPr lang="zh-CN" altLang="en-US" sz="2800" dirty="0"/>
              <a:t>确认</a:t>
            </a:r>
            <a:r>
              <a:rPr lang="zh-CN" altLang="zh-CN" sz="2800" dirty="0"/>
              <a:t>你的路由器所用的路由选择软件是否支持全</a:t>
            </a:r>
            <a:r>
              <a:rPr lang="en-US" altLang="zh-CN" sz="2800" dirty="0"/>
              <a:t>0</a:t>
            </a:r>
            <a:r>
              <a:rPr lang="zh-CN" altLang="zh-CN" sz="2800" dirty="0"/>
              <a:t>或全</a:t>
            </a:r>
            <a:r>
              <a:rPr lang="en-US" altLang="zh-CN" sz="2800" dirty="0"/>
              <a:t>1</a:t>
            </a:r>
            <a:r>
              <a:rPr lang="zh-CN" altLang="zh-CN" sz="2800" dirty="0"/>
              <a:t>的子网号这种较新的用法。</a:t>
            </a:r>
            <a:endParaRPr lang="en-US" altLang="zh-CN" sz="2800" dirty="0"/>
          </a:p>
          <a:p>
            <a:r>
              <a:rPr lang="zh-CN" altLang="zh-CN" sz="2800" dirty="0">
                <a:solidFill>
                  <a:srgbClr val="FF0000"/>
                </a:solidFill>
              </a:rPr>
              <a:t>划分子网增加了灵活性，但却减少了能够连接在网络上的主机总数。</a:t>
            </a:r>
            <a:endParaRPr lang="zh-CN" altLang="en-US" sz="2800" dirty="0">
              <a:solidFill>
                <a:srgbClr val="FF0000"/>
              </a:solidFill>
            </a:endParaRPr>
          </a:p>
        </p:txBody>
      </p:sp>
    </p:spTree>
    <p:extLst>
      <p:ext uri="{BB962C8B-B14F-4D97-AF65-F5344CB8AC3E}">
        <p14:creationId xmlns:p14="http://schemas.microsoft.com/office/powerpoint/2010/main" val="34032883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704527" y="764704"/>
          <a:ext cx="8856985" cy="5112562"/>
        </p:xfrm>
        <a:graphic>
          <a:graphicData uri="http://schemas.openxmlformats.org/drawingml/2006/table">
            <a:tbl>
              <a:tblPr>
                <a:tableStyleId>{5C22544A-7EE6-4342-B048-85BDC9FD1C3A}</a:tableStyleId>
              </a:tblPr>
              <a:tblGrid>
                <a:gridCol w="1944216">
                  <a:extLst>
                    <a:ext uri="{9D8B030D-6E8A-4147-A177-3AD203B41FA5}">
                      <a16:colId xmlns:a16="http://schemas.microsoft.com/office/drawing/2014/main" val="20000"/>
                    </a:ext>
                  </a:extLst>
                </a:gridCol>
                <a:gridCol w="2664296">
                  <a:extLst>
                    <a:ext uri="{9D8B030D-6E8A-4147-A177-3AD203B41FA5}">
                      <a16:colId xmlns:a16="http://schemas.microsoft.com/office/drawing/2014/main" val="20001"/>
                    </a:ext>
                  </a:extLst>
                </a:gridCol>
                <a:gridCol w="1800200">
                  <a:extLst>
                    <a:ext uri="{9D8B030D-6E8A-4147-A177-3AD203B41FA5}">
                      <a16:colId xmlns:a16="http://schemas.microsoft.com/office/drawing/2014/main" val="20002"/>
                    </a:ext>
                  </a:extLst>
                </a:gridCol>
                <a:gridCol w="2448273">
                  <a:extLst>
                    <a:ext uri="{9D8B030D-6E8A-4147-A177-3AD203B41FA5}">
                      <a16:colId xmlns:a16="http://schemas.microsoft.com/office/drawing/2014/main" val="20003"/>
                    </a:ext>
                  </a:extLst>
                </a:gridCol>
              </a:tblGrid>
              <a:tr h="365183">
                <a:tc>
                  <a:txBody>
                    <a:bodyPr/>
                    <a:lstStyle/>
                    <a:p>
                      <a:pPr algn="ctr">
                        <a:lnSpc>
                          <a:spcPct val="100000"/>
                        </a:lnSpc>
                        <a:spcAft>
                          <a:spcPts val="0"/>
                        </a:spcAft>
                      </a:pPr>
                      <a:r>
                        <a:rPr lang="zh-CN" sz="2200" b="1" dirty="0">
                          <a:solidFill>
                            <a:schemeClr val="tx1"/>
                          </a:solidFill>
                          <a:effectLst/>
                          <a:latin typeface="+mn-lt"/>
                          <a:ea typeface="黑体" panose="02010609060101010101" pitchFamily="2" charset="-122"/>
                        </a:rPr>
                        <a:t>子网号的位数</a:t>
                      </a: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anose="02010609060101010101" pitchFamily="2" charset="-122"/>
                        </a:rPr>
                        <a:t>子网掩码</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anose="02010609060101010101" pitchFamily="2" charset="-122"/>
                        </a:rPr>
                        <a:t>子网数</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anose="02010609060101010101" pitchFamily="2" charset="-122"/>
                        </a:rPr>
                        <a:t>每个子网的主机数</a:t>
                      </a: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255.255.192.0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16382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3</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anose="02010609060101010101" pitchFamily="2" charset="-122"/>
                        </a:rPr>
                        <a:t>255.255.224.0</a:t>
                      </a:r>
                      <a:endParaRPr lang="zh-CN" sz="2200" b="1" dirty="0">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6</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8190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4</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255.255.240.0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4094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5</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255.255.248.0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30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2046</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6</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255.255.252.0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62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1022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7</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255.255.254.0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126</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510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8</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9</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255.255.255.128</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510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126</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10</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255.255.255.192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1022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62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9"/>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11</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255.255.255.224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2046</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30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12</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255.255.255.240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4094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14</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1"/>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13</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255.255.255.248</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8190</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anose="02010609060101010101" pitchFamily="2" charset="-122"/>
                        </a:rPr>
                        <a:t>6</a:t>
                      </a:r>
                      <a:endParaRPr lang="zh-CN" sz="2200" b="1" dirty="0">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2"/>
                  </a:ext>
                </a:extLst>
              </a:tr>
              <a:tr h="365183">
                <a:tc>
                  <a:txBody>
                    <a:bodyPr/>
                    <a:lstStyle/>
                    <a:p>
                      <a:pPr algn="ctr">
                        <a:lnSpc>
                          <a:spcPct val="100000"/>
                        </a:lnSpc>
                        <a:spcAft>
                          <a:spcPts val="0"/>
                        </a:spcAft>
                      </a:pPr>
                      <a:r>
                        <a:rPr lang="en-US" sz="2200" b="1">
                          <a:solidFill>
                            <a:schemeClr val="tx1"/>
                          </a:solidFill>
                          <a:effectLst/>
                          <a:latin typeface="+mn-lt"/>
                          <a:ea typeface="黑体" panose="02010609060101010101" pitchFamily="2" charset="-122"/>
                        </a:rPr>
                        <a:t>14</a:t>
                      </a:r>
                      <a:endParaRPr lang="zh-CN" sz="2200" b="1">
                        <a:solidFill>
                          <a:schemeClr val="tx1"/>
                        </a:solidFill>
                        <a:effectLst/>
                        <a:latin typeface="+mn-lt"/>
                        <a:ea typeface="黑体" panose="02010609060101010101"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2200" b="1">
                          <a:solidFill>
                            <a:schemeClr val="tx1"/>
                          </a:solidFill>
                          <a:effectLst/>
                          <a:latin typeface="+mn-lt"/>
                          <a:ea typeface="黑体" panose="02010609060101010101" pitchFamily="2" charset="-122"/>
                        </a:rPr>
                        <a:t>255.255.255.252</a:t>
                      </a:r>
                      <a:endParaRPr lang="zh-CN" sz="2200" b="1">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anose="02010609060101010101" pitchFamily="2" charset="-122"/>
                        </a:rPr>
                        <a:t>16382</a:t>
                      </a:r>
                      <a:endParaRPr lang="zh-CN" sz="2200" b="1" dirty="0">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anose="02010609060101010101" pitchFamily="2" charset="-122"/>
                        </a:rPr>
                        <a:t>2</a:t>
                      </a:r>
                      <a:endParaRPr lang="zh-CN" sz="2200" b="1" dirty="0">
                        <a:solidFill>
                          <a:schemeClr val="tx1"/>
                        </a:solidFill>
                        <a:effectLst/>
                        <a:latin typeface="+mn-lt"/>
                        <a:ea typeface="黑体" panose="02010609060101010101"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3"/>
                  </a:ext>
                </a:extLst>
              </a:tr>
            </a:tbl>
          </a:graphicData>
        </a:graphic>
      </p:graphicFrame>
      <p:sp>
        <p:nvSpPr>
          <p:cNvPr id="5" name="矩形 4"/>
          <p:cNvSpPr/>
          <p:nvPr/>
        </p:nvSpPr>
        <p:spPr>
          <a:xfrm>
            <a:off x="1280592" y="303039"/>
            <a:ext cx="7632848" cy="461665"/>
          </a:xfrm>
          <a:prstGeom prst="rect">
            <a:avLst/>
          </a:prstGeom>
        </p:spPr>
        <p:txBody>
          <a:bodyPr wrap="square">
            <a:spAutoFit/>
          </a:bodyPr>
          <a:lstStyle/>
          <a:p>
            <a:pPr algn="ctr"/>
            <a:r>
              <a:rPr lang="en-US" altLang="zh-CN" sz="2400" b="1" dirty="0">
                <a:latin typeface="+mn-lt"/>
                <a:ea typeface="黑体" panose="02010609060101010101" pitchFamily="2" charset="-122"/>
              </a:rPr>
              <a:t>B </a:t>
            </a:r>
            <a:r>
              <a:rPr lang="zh-CN" altLang="zh-CN" sz="2400" b="1" dirty="0">
                <a:latin typeface="+mn-lt"/>
                <a:ea typeface="黑体" panose="02010609060101010101" pitchFamily="2" charset="-122"/>
              </a:rPr>
              <a:t>类地址的子网划分选择（使用固定长度子网）</a:t>
            </a:r>
            <a:endParaRPr lang="zh-CN" altLang="en-US" sz="2400" b="1" dirty="0">
              <a:latin typeface="+mn-lt"/>
              <a:ea typeface="黑体" panose="02010609060101010101" pitchFamily="2" charset="-122"/>
            </a:endParaRPr>
          </a:p>
        </p:txBody>
      </p:sp>
      <p:sp>
        <p:nvSpPr>
          <p:cNvPr id="6" name="矩形 5"/>
          <p:cNvSpPr/>
          <p:nvPr/>
        </p:nvSpPr>
        <p:spPr>
          <a:xfrm>
            <a:off x="704528" y="5949280"/>
            <a:ext cx="8841432" cy="400110"/>
          </a:xfrm>
          <a:prstGeom prst="rect">
            <a:avLst/>
          </a:prstGeom>
          <a:solidFill>
            <a:srgbClr val="FFFF66"/>
          </a:solidFill>
          <a:ln>
            <a:solidFill>
              <a:srgbClr val="000066"/>
            </a:solidFill>
          </a:ln>
        </p:spPr>
        <p:txBody>
          <a:bodyPr wrap="square">
            <a:spAutoFit/>
          </a:bodyPr>
          <a:lstStyle/>
          <a:p>
            <a:pPr algn="ctr"/>
            <a:r>
              <a:rPr lang="zh-CN" altLang="zh-CN" sz="2000" b="1" dirty="0">
                <a:solidFill>
                  <a:srgbClr val="000099"/>
                </a:solidFill>
                <a:latin typeface="+mn-lt"/>
                <a:ea typeface="黑体" panose="02010609060101010101" pitchFamily="2" charset="-122"/>
              </a:rPr>
              <a:t>表中的“子网号的位数”中没有</a:t>
            </a:r>
            <a:r>
              <a:rPr lang="en-US" altLang="zh-CN" sz="2000" b="1" dirty="0">
                <a:solidFill>
                  <a:srgbClr val="000099"/>
                </a:solidFill>
                <a:latin typeface="+mn-lt"/>
                <a:ea typeface="黑体" panose="02010609060101010101" pitchFamily="2" charset="-122"/>
              </a:rPr>
              <a:t>0, 1, 15</a:t>
            </a:r>
            <a:r>
              <a:rPr lang="zh-CN" altLang="zh-CN" sz="2000" b="1" dirty="0">
                <a:solidFill>
                  <a:srgbClr val="000099"/>
                </a:solidFill>
                <a:latin typeface="+mn-lt"/>
                <a:ea typeface="黑体" panose="02010609060101010101" pitchFamily="2" charset="-122"/>
              </a:rPr>
              <a:t>和</a:t>
            </a:r>
            <a:r>
              <a:rPr lang="en-US" altLang="zh-CN" sz="2000" b="1" dirty="0">
                <a:solidFill>
                  <a:srgbClr val="000099"/>
                </a:solidFill>
                <a:latin typeface="+mn-lt"/>
                <a:ea typeface="黑体" panose="02010609060101010101" pitchFamily="2" charset="-122"/>
              </a:rPr>
              <a:t>16</a:t>
            </a:r>
            <a:r>
              <a:rPr lang="zh-CN" altLang="zh-CN" sz="2000" b="1" dirty="0">
                <a:solidFill>
                  <a:srgbClr val="000099"/>
                </a:solidFill>
                <a:latin typeface="+mn-lt"/>
                <a:ea typeface="黑体" panose="02010609060101010101" pitchFamily="2" charset="-122"/>
              </a:rPr>
              <a:t>这四种情况，因为这没有意义。</a:t>
            </a:r>
            <a:endParaRPr lang="zh-CN" altLang="en-US" sz="2000" b="1" dirty="0">
              <a:solidFill>
                <a:srgbClr val="000099"/>
              </a:solidFill>
              <a:latin typeface="+mn-lt"/>
              <a:ea typeface="黑体" panose="02010609060101010101" pitchFamily="2" charset="-122"/>
            </a:endParaRPr>
          </a:p>
        </p:txBody>
      </p:sp>
    </p:spTree>
    <p:extLst>
      <p:ext uri="{BB962C8B-B14F-4D97-AF65-F5344CB8AC3E}">
        <p14:creationId xmlns:p14="http://schemas.microsoft.com/office/powerpoint/2010/main" val="151872394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93" name="Freeform 57"/>
          <p:cNvSpPr/>
          <p:nvPr/>
        </p:nvSpPr>
        <p:spPr bwMode="auto">
          <a:xfrm>
            <a:off x="6610880" y="2132014"/>
            <a:ext cx="1325960" cy="306387"/>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7179" name="Rectangle 43"/>
          <p:cNvSpPr>
            <a:spLocks noChangeArrowheads="1"/>
          </p:cNvSpPr>
          <p:nvPr/>
        </p:nvSpPr>
        <p:spPr bwMode="auto">
          <a:xfrm>
            <a:off x="3821377" y="3798889"/>
            <a:ext cx="3159258"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85" name="Text Box 49"/>
          <p:cNvSpPr txBox="1">
            <a:spLocks noChangeArrowheads="1"/>
          </p:cNvSpPr>
          <p:nvPr/>
        </p:nvSpPr>
        <p:spPr bwMode="auto">
          <a:xfrm>
            <a:off x="4347633" y="3810000"/>
            <a:ext cx="386516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r>
              <a:rPr kumimoji="1" lang="en-US" altLang="zh-CN" sz="1600" b="1" dirty="0">
                <a:solidFill>
                  <a:srgbClr val="0000CC"/>
                </a:solidFill>
                <a:latin typeface="+mn-lt"/>
                <a:ea typeface="黑体" panose="02010609060101010101" pitchFamily="2" charset="-122"/>
              </a:rPr>
              <a:t> 0 1 0 0 0 0 0 0 </a:t>
            </a:r>
            <a:endParaRPr kumimoji="1" lang="en-US" altLang="zh-CN" b="1" dirty="0">
              <a:solidFill>
                <a:srgbClr val="0000CC"/>
              </a:solidFill>
              <a:latin typeface="+mn-lt"/>
              <a:ea typeface="黑体" panose="02010609060101010101" pitchFamily="2" charset="-122"/>
            </a:endParaRPr>
          </a:p>
        </p:txBody>
      </p:sp>
      <p:sp>
        <p:nvSpPr>
          <p:cNvPr id="987172" name="Rectangle 36"/>
          <p:cNvSpPr>
            <a:spLocks noChangeArrowheads="1"/>
          </p:cNvSpPr>
          <p:nvPr/>
        </p:nvSpPr>
        <p:spPr bwMode="auto">
          <a:xfrm>
            <a:off x="3812779" y="3084513"/>
            <a:ext cx="3109383"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7" name="Rectangle 41"/>
          <p:cNvSpPr>
            <a:spLocks noChangeArrowheads="1"/>
          </p:cNvSpPr>
          <p:nvPr/>
        </p:nvSpPr>
        <p:spPr bwMode="auto">
          <a:xfrm>
            <a:off x="3786982" y="3068639"/>
            <a:ext cx="434093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anose="02010609060101010101" pitchFamily="2" charset="-122"/>
              </a:rPr>
              <a:t>1 1 1 1 1 1 1 1 1 1 1 1 1 1 1 1</a:t>
            </a:r>
            <a:r>
              <a:rPr kumimoji="1" lang="en-US" altLang="zh-CN" sz="1800" b="1" dirty="0">
                <a:solidFill>
                  <a:srgbClr val="0000CC"/>
                </a:solidFill>
                <a:latin typeface="+mn-lt"/>
                <a:ea typeface="黑体" panose="02010609060101010101" pitchFamily="2" charset="-122"/>
              </a:rPr>
              <a:t> </a:t>
            </a:r>
            <a:r>
              <a:rPr kumimoji="1" lang="en-US" altLang="zh-CN" sz="1600" b="1" dirty="0">
                <a:solidFill>
                  <a:srgbClr val="0000CC"/>
                </a:solidFill>
                <a:latin typeface="+mn-lt"/>
                <a:ea typeface="黑体" panose="02010609060101010101" pitchFamily="2" charset="-122"/>
              </a:rPr>
              <a:t>1 1 0 0 0 0 0 0</a:t>
            </a:r>
          </a:p>
        </p:txBody>
      </p:sp>
      <p:sp>
        <p:nvSpPr>
          <p:cNvPr id="987138" name="Rectangle 2"/>
          <p:cNvSpPr>
            <a:spLocks noGrp="1" noChangeArrowheads="1"/>
          </p:cNvSpPr>
          <p:nvPr>
            <p:ph type="title" idx="4294967295"/>
          </p:nvPr>
        </p:nvSpPr>
        <p:spPr>
          <a:xfrm>
            <a:off x="360040" y="116632"/>
            <a:ext cx="9417496" cy="1055688"/>
          </a:xfrm>
          <a:solidFill>
            <a:srgbClr val="FFFFCC"/>
          </a:solidFill>
          <a:ln>
            <a:solidFill>
              <a:srgbClr val="333399"/>
            </a:solidFill>
            <a:miter lim="800000"/>
          </a:ln>
          <a:effectLst>
            <a:outerShdw dist="35921" dir="2700000" algn="ctr" rotWithShape="0">
              <a:schemeClr val="bg2"/>
            </a:outerShdw>
          </a:effectLst>
        </p:spPr>
        <p:txBody>
          <a:bodyPr/>
          <a:lstStyle/>
          <a:p>
            <a:pPr algn="ctr"/>
            <a:r>
              <a:rPr lang="en-US" altLang="zh-CN" sz="3200" dirty="0">
                <a:solidFill>
                  <a:srgbClr val="0000CC"/>
                </a:solidFill>
              </a:rPr>
              <a:t>【</a:t>
            </a:r>
            <a:r>
              <a:rPr lang="zh-CN" altLang="en-US" sz="3200" dirty="0">
                <a:solidFill>
                  <a:srgbClr val="0000CC"/>
                </a:solidFill>
              </a:rPr>
              <a:t>例</a:t>
            </a:r>
            <a:r>
              <a:rPr lang="en-US" altLang="zh-CN" sz="3200" dirty="0">
                <a:solidFill>
                  <a:srgbClr val="0000CC"/>
                </a:solidFill>
              </a:rPr>
              <a:t>4-2】</a:t>
            </a:r>
            <a:r>
              <a:rPr lang="zh-CN" altLang="en-US" sz="3200" dirty="0">
                <a:solidFill>
                  <a:srgbClr val="0000CC"/>
                </a:solidFill>
              </a:rPr>
              <a:t>已知 </a:t>
            </a:r>
            <a:r>
              <a:rPr lang="en-US" altLang="zh-CN" sz="3200" dirty="0">
                <a:solidFill>
                  <a:srgbClr val="0000CC"/>
                </a:solidFill>
              </a:rPr>
              <a:t>IP </a:t>
            </a:r>
            <a:r>
              <a:rPr lang="zh-CN" altLang="en-US" sz="3200" dirty="0">
                <a:solidFill>
                  <a:srgbClr val="0000CC"/>
                </a:solidFill>
              </a:rPr>
              <a:t>地址是 </a:t>
            </a:r>
            <a:r>
              <a:rPr lang="en-US" altLang="zh-CN" sz="3200" dirty="0">
                <a:solidFill>
                  <a:srgbClr val="0000CC"/>
                </a:solidFill>
              </a:rPr>
              <a:t>141.14.72.24</a:t>
            </a:r>
            <a:r>
              <a:rPr lang="zh-CN" altLang="en-US" sz="3200" dirty="0">
                <a:solidFill>
                  <a:srgbClr val="0000CC"/>
                </a:solidFill>
              </a:rPr>
              <a:t>，子网掩码是 </a:t>
            </a:r>
            <a:r>
              <a:rPr lang="en-US" altLang="zh-CN" sz="3200" dirty="0">
                <a:solidFill>
                  <a:srgbClr val="0000CC"/>
                </a:solidFill>
              </a:rPr>
              <a:t>255.255.192.0</a:t>
            </a:r>
            <a:r>
              <a:rPr lang="zh-CN" altLang="en-US" sz="3200" dirty="0">
                <a:solidFill>
                  <a:srgbClr val="0000CC"/>
                </a:solidFill>
              </a:rPr>
              <a:t>。试求网络地址。 </a:t>
            </a:r>
          </a:p>
        </p:txBody>
      </p:sp>
      <p:sp>
        <p:nvSpPr>
          <p:cNvPr id="987169" name="Rectangle 33"/>
          <p:cNvSpPr>
            <a:spLocks noChangeArrowheads="1"/>
          </p:cNvSpPr>
          <p:nvPr/>
        </p:nvSpPr>
        <p:spPr bwMode="auto">
          <a:xfrm>
            <a:off x="3805899" y="1785938"/>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0" name="Rectangle 34"/>
          <p:cNvSpPr>
            <a:spLocks noChangeArrowheads="1"/>
          </p:cNvSpPr>
          <p:nvPr/>
        </p:nvSpPr>
        <p:spPr bwMode="auto">
          <a:xfrm>
            <a:off x="344488" y="1795464"/>
            <a:ext cx="3195428"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dirty="0">
                <a:latin typeface="+mn-lt"/>
                <a:ea typeface="黑体" panose="02010609060101010101" pitchFamily="2" charset="-122"/>
              </a:rPr>
              <a:t>(a) </a:t>
            </a:r>
            <a:r>
              <a:rPr kumimoji="1" lang="zh-CN" altLang="en-US" b="1" dirty="0">
                <a:latin typeface="+mn-lt"/>
                <a:ea typeface="黑体" panose="02010609060101010101" pitchFamily="2" charset="-122"/>
              </a:rPr>
              <a:t>点分十进制表示的 </a:t>
            </a:r>
            <a:r>
              <a:rPr kumimoji="1" lang="en-US" altLang="zh-CN" b="1" dirty="0">
                <a:latin typeface="+mn-lt"/>
                <a:ea typeface="黑体" panose="02010609060101010101" pitchFamily="2" charset="-122"/>
              </a:rPr>
              <a:t>IP </a:t>
            </a:r>
            <a:r>
              <a:rPr kumimoji="1" lang="zh-CN" altLang="en-US" b="1" dirty="0">
                <a:latin typeface="+mn-lt"/>
                <a:ea typeface="黑体" panose="02010609060101010101" pitchFamily="2" charset="-122"/>
              </a:rPr>
              <a:t>地址</a:t>
            </a:r>
          </a:p>
        </p:txBody>
      </p:sp>
      <p:sp>
        <p:nvSpPr>
          <p:cNvPr id="987171" name="Rectangle 35"/>
          <p:cNvSpPr>
            <a:spLocks noChangeArrowheads="1"/>
          </p:cNvSpPr>
          <p:nvPr/>
        </p:nvSpPr>
        <p:spPr bwMode="auto">
          <a:xfrm>
            <a:off x="3805899" y="4508501"/>
            <a:ext cx="5565246" cy="360363"/>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3" name="Rectangle 37"/>
          <p:cNvSpPr>
            <a:spLocks noChangeArrowheads="1"/>
          </p:cNvSpPr>
          <p:nvPr/>
        </p:nvSpPr>
        <p:spPr bwMode="auto">
          <a:xfrm>
            <a:off x="344489" y="3068639"/>
            <a:ext cx="323005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(c) </a:t>
            </a:r>
            <a:r>
              <a:rPr kumimoji="1" lang="zh-CN" altLang="en-US" b="1">
                <a:latin typeface="+mn-lt"/>
                <a:ea typeface="黑体" panose="02010609060101010101" pitchFamily="2" charset="-122"/>
              </a:rPr>
              <a:t>子网掩码是 </a:t>
            </a:r>
            <a:r>
              <a:rPr kumimoji="1" lang="en-US" altLang="zh-CN" b="1">
                <a:latin typeface="+mn-lt"/>
                <a:ea typeface="黑体" panose="02010609060101010101" pitchFamily="2" charset="-122"/>
              </a:rPr>
              <a:t>255.255.192.0</a:t>
            </a:r>
          </a:p>
        </p:txBody>
      </p:sp>
      <p:sp>
        <p:nvSpPr>
          <p:cNvPr id="987174" name="Line 38"/>
          <p:cNvSpPr>
            <a:spLocks noChangeShapeType="1"/>
          </p:cNvSpPr>
          <p:nvPr/>
        </p:nvSpPr>
        <p:spPr bwMode="auto">
          <a:xfrm>
            <a:off x="6555846" y="3081339"/>
            <a:ext cx="0" cy="352425"/>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5" name="Line 39"/>
          <p:cNvSpPr>
            <a:spLocks noChangeShapeType="1"/>
          </p:cNvSpPr>
          <p:nvPr/>
        </p:nvSpPr>
        <p:spPr bwMode="auto">
          <a:xfrm>
            <a:off x="7964356" y="3071814"/>
            <a:ext cx="0" cy="357187"/>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6" name="Rectangle 40"/>
          <p:cNvSpPr>
            <a:spLocks noChangeArrowheads="1"/>
          </p:cNvSpPr>
          <p:nvPr/>
        </p:nvSpPr>
        <p:spPr bwMode="auto">
          <a:xfrm>
            <a:off x="3805899" y="3074988"/>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78" name="Rectangle 42"/>
          <p:cNvSpPr>
            <a:spLocks noChangeArrowheads="1"/>
          </p:cNvSpPr>
          <p:nvPr/>
        </p:nvSpPr>
        <p:spPr bwMode="auto">
          <a:xfrm>
            <a:off x="7936840" y="3098801"/>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a:solidFill>
                  <a:srgbClr val="0000CC"/>
                </a:solidFill>
                <a:latin typeface="+mn-lt"/>
                <a:ea typeface="黑体" panose="02010609060101010101" pitchFamily="2" charset="-122"/>
              </a:rPr>
              <a:t>0 0 0 0 0 0 0 0</a:t>
            </a:r>
          </a:p>
        </p:txBody>
      </p:sp>
      <p:sp>
        <p:nvSpPr>
          <p:cNvPr id="987180" name="Rectangle 44"/>
          <p:cNvSpPr>
            <a:spLocks noChangeArrowheads="1"/>
          </p:cNvSpPr>
          <p:nvPr/>
        </p:nvSpPr>
        <p:spPr bwMode="auto">
          <a:xfrm>
            <a:off x="3816218" y="3789363"/>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81" name="Text Box 45"/>
          <p:cNvSpPr txBox="1">
            <a:spLocks noChangeArrowheads="1"/>
          </p:cNvSpPr>
          <p:nvPr/>
        </p:nvSpPr>
        <p:spPr bwMode="auto">
          <a:xfrm>
            <a:off x="4347633" y="1795463"/>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7182" name="Text Box 46"/>
          <p:cNvSpPr txBox="1">
            <a:spLocks noChangeArrowheads="1"/>
          </p:cNvSpPr>
          <p:nvPr/>
        </p:nvSpPr>
        <p:spPr bwMode="auto">
          <a:xfrm>
            <a:off x="7001272" y="1795463"/>
            <a:ext cx="210826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anose="02010609060101010101" pitchFamily="2" charset="-122"/>
              </a:rPr>
              <a:t> 72          .          24</a:t>
            </a:r>
          </a:p>
        </p:txBody>
      </p:sp>
      <p:sp>
        <p:nvSpPr>
          <p:cNvPr id="987183" name="Text Box 47"/>
          <p:cNvSpPr txBox="1">
            <a:spLocks noChangeArrowheads="1"/>
          </p:cNvSpPr>
          <p:nvPr/>
        </p:nvSpPr>
        <p:spPr bwMode="auto">
          <a:xfrm>
            <a:off x="4347633" y="4529138"/>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7184" name="Text Box 48"/>
          <p:cNvSpPr txBox="1">
            <a:spLocks noChangeArrowheads="1"/>
          </p:cNvSpPr>
          <p:nvPr/>
        </p:nvSpPr>
        <p:spPr bwMode="auto">
          <a:xfrm>
            <a:off x="7059745" y="4529138"/>
            <a:ext cx="20441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anose="02010609060101010101" pitchFamily="2" charset="-122"/>
              </a:rPr>
              <a:t>64          .            0</a:t>
            </a:r>
          </a:p>
        </p:txBody>
      </p:sp>
      <p:sp>
        <p:nvSpPr>
          <p:cNvPr id="987186" name="Text Box 50"/>
          <p:cNvSpPr txBox="1">
            <a:spLocks noChangeArrowheads="1"/>
          </p:cNvSpPr>
          <p:nvPr/>
        </p:nvSpPr>
        <p:spPr bwMode="auto">
          <a:xfrm>
            <a:off x="7883525" y="3810000"/>
            <a:ext cx="114646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 .           0</a:t>
            </a:r>
          </a:p>
        </p:txBody>
      </p:sp>
      <p:sp>
        <p:nvSpPr>
          <p:cNvPr id="987187" name="Line 51"/>
          <p:cNvSpPr>
            <a:spLocks noChangeShapeType="1"/>
          </p:cNvSpPr>
          <p:nvPr/>
        </p:nvSpPr>
        <p:spPr bwMode="auto">
          <a:xfrm>
            <a:off x="5205810" y="3071814"/>
            <a:ext cx="0" cy="352425"/>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88" name="Rectangle 52"/>
          <p:cNvSpPr>
            <a:spLocks noChangeArrowheads="1"/>
          </p:cNvSpPr>
          <p:nvPr/>
        </p:nvSpPr>
        <p:spPr bwMode="auto">
          <a:xfrm>
            <a:off x="6531769" y="2433639"/>
            <a:ext cx="1554914"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anose="02010609060101010101" pitchFamily="2" charset="-122"/>
              </a:rPr>
              <a:t> 0 1 0 0 1 0 0 0</a:t>
            </a:r>
          </a:p>
        </p:txBody>
      </p:sp>
      <p:sp>
        <p:nvSpPr>
          <p:cNvPr id="987189" name="Rectangle 53"/>
          <p:cNvSpPr>
            <a:spLocks noChangeArrowheads="1"/>
          </p:cNvSpPr>
          <p:nvPr/>
        </p:nvSpPr>
        <p:spPr bwMode="auto">
          <a:xfrm>
            <a:off x="3802460" y="2419351"/>
            <a:ext cx="5565246" cy="360363"/>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90" name="Text Box 54"/>
          <p:cNvSpPr txBox="1">
            <a:spLocks noChangeArrowheads="1"/>
          </p:cNvSpPr>
          <p:nvPr/>
        </p:nvSpPr>
        <p:spPr bwMode="auto">
          <a:xfrm>
            <a:off x="4347633" y="2430463"/>
            <a:ext cx="24288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7191" name="Text Box 55"/>
          <p:cNvSpPr txBox="1">
            <a:spLocks noChangeArrowheads="1"/>
          </p:cNvSpPr>
          <p:nvPr/>
        </p:nvSpPr>
        <p:spPr bwMode="auto">
          <a:xfrm>
            <a:off x="7859448" y="2430463"/>
            <a:ext cx="12105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 .          24</a:t>
            </a:r>
          </a:p>
        </p:txBody>
      </p:sp>
      <p:sp>
        <p:nvSpPr>
          <p:cNvPr id="987192" name="Rectangle 56"/>
          <p:cNvSpPr>
            <a:spLocks noChangeArrowheads="1"/>
          </p:cNvSpPr>
          <p:nvPr/>
        </p:nvSpPr>
        <p:spPr bwMode="auto">
          <a:xfrm>
            <a:off x="6922162" y="1795463"/>
            <a:ext cx="701675" cy="360362"/>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7194" name="Rectangle 58"/>
          <p:cNvSpPr>
            <a:spLocks noChangeArrowheads="1"/>
          </p:cNvSpPr>
          <p:nvPr/>
        </p:nvSpPr>
        <p:spPr bwMode="auto">
          <a:xfrm>
            <a:off x="344489" y="2419351"/>
            <a:ext cx="340061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(b) IP </a:t>
            </a:r>
            <a:r>
              <a:rPr kumimoji="1" lang="zh-CN" altLang="en-US" b="1">
                <a:latin typeface="+mn-lt"/>
                <a:ea typeface="黑体" panose="02010609060101010101" pitchFamily="2" charset="-122"/>
              </a:rPr>
              <a:t>地址的第 </a:t>
            </a:r>
            <a:r>
              <a:rPr kumimoji="1" lang="en-US" altLang="zh-CN" b="1">
                <a:latin typeface="+mn-lt"/>
                <a:ea typeface="黑体" panose="02010609060101010101" pitchFamily="2" charset="-122"/>
              </a:rPr>
              <a:t>3 </a:t>
            </a:r>
            <a:r>
              <a:rPr kumimoji="1" lang="zh-CN" altLang="en-US" b="1">
                <a:latin typeface="+mn-lt"/>
                <a:ea typeface="黑体" panose="02010609060101010101" pitchFamily="2" charset="-122"/>
              </a:rPr>
              <a:t>字节是二进制</a:t>
            </a:r>
          </a:p>
        </p:txBody>
      </p:sp>
      <p:sp>
        <p:nvSpPr>
          <p:cNvPr id="987195" name="Rectangle 59"/>
          <p:cNvSpPr>
            <a:spLocks noChangeArrowheads="1"/>
          </p:cNvSpPr>
          <p:nvPr/>
        </p:nvSpPr>
        <p:spPr bwMode="auto">
          <a:xfrm>
            <a:off x="344488" y="3787776"/>
            <a:ext cx="3376566"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(d) IP </a:t>
            </a:r>
            <a:r>
              <a:rPr kumimoji="1" lang="zh-CN" altLang="en-US" b="1">
                <a:latin typeface="+mn-lt"/>
                <a:ea typeface="黑体" panose="02010609060101010101" pitchFamily="2" charset="-122"/>
              </a:rPr>
              <a:t>地址与子网掩码逐位相与</a:t>
            </a:r>
          </a:p>
        </p:txBody>
      </p:sp>
      <p:sp>
        <p:nvSpPr>
          <p:cNvPr id="987196" name="Rectangle 60"/>
          <p:cNvSpPr>
            <a:spLocks noChangeArrowheads="1"/>
          </p:cNvSpPr>
          <p:nvPr/>
        </p:nvSpPr>
        <p:spPr bwMode="auto">
          <a:xfrm>
            <a:off x="344489" y="4532314"/>
            <a:ext cx="355065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(e) </a:t>
            </a:r>
            <a:r>
              <a:rPr kumimoji="1" lang="zh-CN" altLang="en-US" b="1">
                <a:latin typeface="+mn-lt"/>
                <a:ea typeface="黑体" panose="02010609060101010101" pitchFamily="2" charset="-122"/>
              </a:rPr>
              <a:t>网络地址（点分十进制表示）</a:t>
            </a:r>
          </a:p>
        </p:txBody>
      </p:sp>
    </p:spTree>
    <p:extLst>
      <p:ext uri="{BB962C8B-B14F-4D97-AF65-F5344CB8AC3E}">
        <p14:creationId xmlns:p14="http://schemas.microsoft.com/office/powerpoint/2010/main" val="29072034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7" name="Rectangle 3"/>
          <p:cNvSpPr>
            <a:spLocks noChangeArrowheads="1"/>
          </p:cNvSpPr>
          <p:nvPr/>
        </p:nvSpPr>
        <p:spPr bwMode="auto">
          <a:xfrm>
            <a:off x="3821377" y="3798889"/>
            <a:ext cx="3269325"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88" name="Text Box 4"/>
          <p:cNvSpPr txBox="1">
            <a:spLocks noChangeArrowheads="1"/>
          </p:cNvSpPr>
          <p:nvPr/>
        </p:nvSpPr>
        <p:spPr bwMode="auto">
          <a:xfrm>
            <a:off x="4347633" y="3810000"/>
            <a:ext cx="39036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141       .        14      . 0 1 0 0 0 0 0 0 </a:t>
            </a:r>
          </a:p>
        </p:txBody>
      </p:sp>
      <p:sp>
        <p:nvSpPr>
          <p:cNvPr id="989189" name="Rectangle 5"/>
          <p:cNvSpPr>
            <a:spLocks noChangeArrowheads="1"/>
          </p:cNvSpPr>
          <p:nvPr/>
        </p:nvSpPr>
        <p:spPr bwMode="auto">
          <a:xfrm>
            <a:off x="3812779" y="3084513"/>
            <a:ext cx="3274483"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0" name="Rectangle 6"/>
          <p:cNvSpPr>
            <a:spLocks noChangeArrowheads="1"/>
          </p:cNvSpPr>
          <p:nvPr/>
        </p:nvSpPr>
        <p:spPr bwMode="auto">
          <a:xfrm>
            <a:off x="3786982" y="3068639"/>
            <a:ext cx="434093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anose="02010609060101010101" pitchFamily="2" charset="-122"/>
              </a:rPr>
              <a:t>1 1 1 1 1 1 1 1 1 1 1 1 1 1 1 1</a:t>
            </a:r>
            <a:r>
              <a:rPr kumimoji="1" lang="en-US" altLang="zh-CN" sz="1800" b="1" dirty="0">
                <a:solidFill>
                  <a:srgbClr val="0000CC"/>
                </a:solidFill>
                <a:latin typeface="+mn-lt"/>
                <a:ea typeface="黑体" panose="02010609060101010101" pitchFamily="2" charset="-122"/>
              </a:rPr>
              <a:t> </a:t>
            </a:r>
            <a:r>
              <a:rPr kumimoji="1" lang="en-US" altLang="zh-CN" sz="800" b="1" dirty="0">
                <a:solidFill>
                  <a:srgbClr val="0000CC"/>
                </a:solidFill>
                <a:latin typeface="+mn-lt"/>
                <a:ea typeface="黑体" panose="02010609060101010101" pitchFamily="2" charset="-122"/>
              </a:rPr>
              <a:t> </a:t>
            </a:r>
            <a:r>
              <a:rPr kumimoji="1" lang="en-US" altLang="zh-CN" sz="1600" b="1" dirty="0">
                <a:solidFill>
                  <a:srgbClr val="0000CC"/>
                </a:solidFill>
                <a:latin typeface="+mn-lt"/>
                <a:ea typeface="黑体" panose="02010609060101010101" pitchFamily="2" charset="-122"/>
              </a:rPr>
              <a:t>1 1 1 0 0 0 0 0</a:t>
            </a:r>
          </a:p>
        </p:txBody>
      </p:sp>
      <p:sp>
        <p:nvSpPr>
          <p:cNvPr id="989186" name="Freeform 2"/>
          <p:cNvSpPr/>
          <p:nvPr/>
        </p:nvSpPr>
        <p:spPr bwMode="auto">
          <a:xfrm>
            <a:off x="6610880" y="2132014"/>
            <a:ext cx="1325960" cy="306387"/>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9191" name="Rectangle 7"/>
          <p:cNvSpPr>
            <a:spLocks noGrp="1" noChangeArrowheads="1"/>
          </p:cNvSpPr>
          <p:nvPr>
            <p:ph type="title" idx="4294967295"/>
          </p:nvPr>
        </p:nvSpPr>
        <p:spPr>
          <a:xfrm>
            <a:off x="344488" y="141064"/>
            <a:ext cx="9505056" cy="1055688"/>
          </a:xfrm>
          <a:solidFill>
            <a:srgbClr val="FFFFCC"/>
          </a:solidFill>
          <a:ln>
            <a:solidFill>
              <a:srgbClr val="333399"/>
            </a:solidFill>
            <a:miter lim="800000"/>
          </a:ln>
          <a:effectLst>
            <a:outerShdw dist="35921" dir="2700000" algn="ctr" rotWithShape="0">
              <a:schemeClr val="bg2"/>
            </a:outerShdw>
          </a:effectLst>
        </p:spPr>
        <p:txBody>
          <a:bodyPr vert="horz" wrap="square" lIns="91440" tIns="45720" rIns="91440" bIns="45720" numCol="1" anchor="b" anchorCtr="0" compatLnSpc="1"/>
          <a:lstStyle/>
          <a:p>
            <a:pPr algn="ctr"/>
            <a:r>
              <a:rPr lang="en-US" altLang="zh-CN" sz="3200" dirty="0">
                <a:solidFill>
                  <a:srgbClr val="0000CC"/>
                </a:solidFill>
              </a:rPr>
              <a:t>【</a:t>
            </a:r>
            <a:r>
              <a:rPr lang="zh-CN" altLang="en-US" sz="3200" dirty="0">
                <a:solidFill>
                  <a:srgbClr val="0000CC"/>
                </a:solidFill>
              </a:rPr>
              <a:t>例</a:t>
            </a:r>
            <a:r>
              <a:rPr lang="en-US" altLang="zh-CN" sz="3200" dirty="0">
                <a:solidFill>
                  <a:srgbClr val="0000CC"/>
                </a:solidFill>
              </a:rPr>
              <a:t>4-3】</a:t>
            </a:r>
            <a:r>
              <a:rPr lang="zh-CN" altLang="en-US" sz="3200" dirty="0">
                <a:solidFill>
                  <a:srgbClr val="0000CC"/>
                </a:solidFill>
              </a:rPr>
              <a:t>上例中，若子网掩码改为</a:t>
            </a:r>
            <a:r>
              <a:rPr lang="en-US" altLang="zh-CN" sz="3200" dirty="0">
                <a:solidFill>
                  <a:srgbClr val="0000CC"/>
                </a:solidFill>
              </a:rPr>
              <a:t>255.255.224.0</a:t>
            </a:r>
            <a:r>
              <a:rPr lang="zh-CN" altLang="en-US" sz="3200" dirty="0">
                <a:solidFill>
                  <a:srgbClr val="0000CC"/>
                </a:solidFill>
              </a:rPr>
              <a:t>，试求网络地址，讨论所得结果。 </a:t>
            </a:r>
          </a:p>
        </p:txBody>
      </p:sp>
      <p:sp>
        <p:nvSpPr>
          <p:cNvPr id="989192" name="Rectangle 8"/>
          <p:cNvSpPr>
            <a:spLocks noChangeArrowheads="1"/>
          </p:cNvSpPr>
          <p:nvPr/>
        </p:nvSpPr>
        <p:spPr bwMode="auto">
          <a:xfrm>
            <a:off x="3805899" y="1785938"/>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3" name="Rectangle 9"/>
          <p:cNvSpPr>
            <a:spLocks noChangeArrowheads="1"/>
          </p:cNvSpPr>
          <p:nvPr/>
        </p:nvSpPr>
        <p:spPr bwMode="auto">
          <a:xfrm>
            <a:off x="344488" y="1795464"/>
            <a:ext cx="3195428"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(a) </a:t>
            </a:r>
            <a:r>
              <a:rPr kumimoji="1" lang="zh-CN" altLang="en-US" b="1">
                <a:latin typeface="+mn-lt"/>
                <a:ea typeface="黑体" panose="02010609060101010101" pitchFamily="2" charset="-122"/>
              </a:rPr>
              <a:t>点分十进制表示的 </a:t>
            </a:r>
            <a:r>
              <a:rPr kumimoji="1" lang="en-US" altLang="zh-CN" b="1">
                <a:latin typeface="+mn-lt"/>
                <a:ea typeface="黑体" panose="02010609060101010101" pitchFamily="2" charset="-122"/>
              </a:rPr>
              <a:t>IP </a:t>
            </a:r>
            <a:r>
              <a:rPr kumimoji="1" lang="zh-CN" altLang="en-US" b="1">
                <a:latin typeface="+mn-lt"/>
                <a:ea typeface="黑体" panose="02010609060101010101" pitchFamily="2" charset="-122"/>
              </a:rPr>
              <a:t>地址</a:t>
            </a:r>
          </a:p>
        </p:txBody>
      </p:sp>
      <p:sp>
        <p:nvSpPr>
          <p:cNvPr id="989194" name="Rectangle 10"/>
          <p:cNvSpPr>
            <a:spLocks noChangeArrowheads="1"/>
          </p:cNvSpPr>
          <p:nvPr/>
        </p:nvSpPr>
        <p:spPr bwMode="auto">
          <a:xfrm>
            <a:off x="3805899" y="4508501"/>
            <a:ext cx="5565246" cy="360363"/>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5" name="Rectangle 11"/>
          <p:cNvSpPr>
            <a:spLocks noChangeArrowheads="1"/>
          </p:cNvSpPr>
          <p:nvPr/>
        </p:nvSpPr>
        <p:spPr bwMode="auto">
          <a:xfrm>
            <a:off x="344489" y="3068639"/>
            <a:ext cx="323005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(c) </a:t>
            </a:r>
            <a:r>
              <a:rPr kumimoji="1" lang="zh-CN" altLang="en-US" b="1">
                <a:latin typeface="+mn-lt"/>
                <a:ea typeface="黑体" panose="02010609060101010101" pitchFamily="2" charset="-122"/>
              </a:rPr>
              <a:t>子网掩码是 </a:t>
            </a:r>
            <a:r>
              <a:rPr kumimoji="1" lang="en-US" altLang="zh-CN" b="1">
                <a:latin typeface="+mn-lt"/>
                <a:ea typeface="黑体" panose="02010609060101010101" pitchFamily="2" charset="-122"/>
              </a:rPr>
              <a:t>255.255.224.0</a:t>
            </a:r>
          </a:p>
        </p:txBody>
      </p:sp>
      <p:sp>
        <p:nvSpPr>
          <p:cNvPr id="989196" name="Line 12"/>
          <p:cNvSpPr>
            <a:spLocks noChangeShapeType="1"/>
          </p:cNvSpPr>
          <p:nvPr/>
        </p:nvSpPr>
        <p:spPr bwMode="auto">
          <a:xfrm>
            <a:off x="6555846" y="3081339"/>
            <a:ext cx="0" cy="352425"/>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7" name="Line 13"/>
          <p:cNvSpPr>
            <a:spLocks noChangeShapeType="1"/>
          </p:cNvSpPr>
          <p:nvPr/>
        </p:nvSpPr>
        <p:spPr bwMode="auto">
          <a:xfrm>
            <a:off x="7964356" y="3071814"/>
            <a:ext cx="0" cy="357187"/>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8" name="Rectangle 14"/>
          <p:cNvSpPr>
            <a:spLocks noChangeArrowheads="1"/>
          </p:cNvSpPr>
          <p:nvPr/>
        </p:nvSpPr>
        <p:spPr bwMode="auto">
          <a:xfrm>
            <a:off x="3805899" y="3074988"/>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199" name="Rectangle 15"/>
          <p:cNvSpPr>
            <a:spLocks noChangeArrowheads="1"/>
          </p:cNvSpPr>
          <p:nvPr/>
        </p:nvSpPr>
        <p:spPr bwMode="auto">
          <a:xfrm>
            <a:off x="7936840" y="3098801"/>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a:solidFill>
                  <a:srgbClr val="0000CC"/>
                </a:solidFill>
                <a:latin typeface="+mn-lt"/>
                <a:ea typeface="黑体" panose="02010609060101010101" pitchFamily="2" charset="-122"/>
              </a:rPr>
              <a:t>0 0 0 0 0 0 0 0</a:t>
            </a:r>
          </a:p>
        </p:txBody>
      </p:sp>
      <p:sp>
        <p:nvSpPr>
          <p:cNvPr id="989200" name="Rectangle 16"/>
          <p:cNvSpPr>
            <a:spLocks noChangeArrowheads="1"/>
          </p:cNvSpPr>
          <p:nvPr/>
        </p:nvSpPr>
        <p:spPr bwMode="auto">
          <a:xfrm>
            <a:off x="3816218" y="3789363"/>
            <a:ext cx="5565246" cy="360362"/>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201" name="Text Box 17"/>
          <p:cNvSpPr txBox="1">
            <a:spLocks noChangeArrowheads="1"/>
          </p:cNvSpPr>
          <p:nvPr/>
        </p:nvSpPr>
        <p:spPr bwMode="auto">
          <a:xfrm>
            <a:off x="4347633" y="1795463"/>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9202" name="Text Box 18"/>
          <p:cNvSpPr txBox="1">
            <a:spLocks noChangeArrowheads="1"/>
          </p:cNvSpPr>
          <p:nvPr/>
        </p:nvSpPr>
        <p:spPr bwMode="auto">
          <a:xfrm>
            <a:off x="7001272" y="1795463"/>
            <a:ext cx="210826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anose="02010609060101010101" pitchFamily="2" charset="-122"/>
              </a:rPr>
              <a:t> 72          .          24</a:t>
            </a:r>
          </a:p>
        </p:txBody>
      </p:sp>
      <p:sp>
        <p:nvSpPr>
          <p:cNvPr id="989203" name="Text Box 19"/>
          <p:cNvSpPr txBox="1">
            <a:spLocks noChangeArrowheads="1"/>
          </p:cNvSpPr>
          <p:nvPr/>
        </p:nvSpPr>
        <p:spPr bwMode="auto">
          <a:xfrm>
            <a:off x="4347633" y="4529138"/>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9204" name="Text Box 20"/>
          <p:cNvSpPr txBox="1">
            <a:spLocks noChangeArrowheads="1"/>
          </p:cNvSpPr>
          <p:nvPr/>
        </p:nvSpPr>
        <p:spPr bwMode="auto">
          <a:xfrm>
            <a:off x="7059745" y="4529138"/>
            <a:ext cx="20441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64          .           0</a:t>
            </a:r>
          </a:p>
        </p:txBody>
      </p:sp>
      <p:sp>
        <p:nvSpPr>
          <p:cNvPr id="989205" name="Text Box 21"/>
          <p:cNvSpPr txBox="1">
            <a:spLocks noChangeArrowheads="1"/>
          </p:cNvSpPr>
          <p:nvPr/>
        </p:nvSpPr>
        <p:spPr bwMode="auto">
          <a:xfrm>
            <a:off x="7883525" y="3810000"/>
            <a:ext cx="114646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 .          0</a:t>
            </a:r>
          </a:p>
        </p:txBody>
      </p:sp>
      <p:sp>
        <p:nvSpPr>
          <p:cNvPr id="989206" name="Line 22"/>
          <p:cNvSpPr>
            <a:spLocks noChangeShapeType="1"/>
          </p:cNvSpPr>
          <p:nvPr/>
        </p:nvSpPr>
        <p:spPr bwMode="auto">
          <a:xfrm>
            <a:off x="5205810" y="3071814"/>
            <a:ext cx="0" cy="352425"/>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207" name="Rectangle 23"/>
          <p:cNvSpPr>
            <a:spLocks noChangeArrowheads="1"/>
          </p:cNvSpPr>
          <p:nvPr/>
        </p:nvSpPr>
        <p:spPr bwMode="auto">
          <a:xfrm>
            <a:off x="6531769" y="2433639"/>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anose="02010609060101010101" pitchFamily="2" charset="-122"/>
              </a:rPr>
              <a:t>0 1 0 0 1 0 0 0</a:t>
            </a:r>
          </a:p>
        </p:txBody>
      </p:sp>
      <p:sp>
        <p:nvSpPr>
          <p:cNvPr id="989208" name="Rectangle 24"/>
          <p:cNvSpPr>
            <a:spLocks noChangeArrowheads="1"/>
          </p:cNvSpPr>
          <p:nvPr/>
        </p:nvSpPr>
        <p:spPr bwMode="auto">
          <a:xfrm>
            <a:off x="3802460" y="2419351"/>
            <a:ext cx="5565246" cy="360363"/>
          </a:xfrm>
          <a:prstGeom prst="rect">
            <a:avLst/>
          </a:prstGeom>
          <a:noFill/>
          <a:ln w="9525">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209" name="Text Box 25"/>
          <p:cNvSpPr txBox="1">
            <a:spLocks noChangeArrowheads="1"/>
          </p:cNvSpPr>
          <p:nvPr/>
        </p:nvSpPr>
        <p:spPr bwMode="auto">
          <a:xfrm>
            <a:off x="4347633" y="2430463"/>
            <a:ext cx="24288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141       .        14       .</a:t>
            </a:r>
          </a:p>
        </p:txBody>
      </p:sp>
      <p:sp>
        <p:nvSpPr>
          <p:cNvPr id="989210" name="Text Box 26"/>
          <p:cNvSpPr txBox="1">
            <a:spLocks noChangeArrowheads="1"/>
          </p:cNvSpPr>
          <p:nvPr/>
        </p:nvSpPr>
        <p:spPr bwMode="auto">
          <a:xfrm>
            <a:off x="7859448" y="2430463"/>
            <a:ext cx="12105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           24</a:t>
            </a:r>
          </a:p>
        </p:txBody>
      </p:sp>
      <p:sp>
        <p:nvSpPr>
          <p:cNvPr id="989211" name="Rectangle 27"/>
          <p:cNvSpPr>
            <a:spLocks noChangeArrowheads="1"/>
          </p:cNvSpPr>
          <p:nvPr/>
        </p:nvSpPr>
        <p:spPr bwMode="auto">
          <a:xfrm>
            <a:off x="6922162" y="1795463"/>
            <a:ext cx="701675" cy="360362"/>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9212" name="Rectangle 28"/>
          <p:cNvSpPr>
            <a:spLocks noChangeArrowheads="1"/>
          </p:cNvSpPr>
          <p:nvPr/>
        </p:nvSpPr>
        <p:spPr bwMode="auto">
          <a:xfrm>
            <a:off x="344489" y="2419351"/>
            <a:ext cx="340061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(b) IP </a:t>
            </a:r>
            <a:r>
              <a:rPr kumimoji="1" lang="zh-CN" altLang="en-US" b="1">
                <a:latin typeface="+mn-lt"/>
                <a:ea typeface="黑体" panose="02010609060101010101" pitchFamily="2" charset="-122"/>
              </a:rPr>
              <a:t>地址的第 </a:t>
            </a:r>
            <a:r>
              <a:rPr kumimoji="1" lang="en-US" altLang="zh-CN" b="1">
                <a:latin typeface="+mn-lt"/>
                <a:ea typeface="黑体" panose="02010609060101010101" pitchFamily="2" charset="-122"/>
              </a:rPr>
              <a:t>3 </a:t>
            </a:r>
            <a:r>
              <a:rPr kumimoji="1" lang="zh-CN" altLang="en-US" b="1">
                <a:latin typeface="+mn-lt"/>
                <a:ea typeface="黑体" panose="02010609060101010101" pitchFamily="2" charset="-122"/>
              </a:rPr>
              <a:t>字节是二进制</a:t>
            </a:r>
          </a:p>
        </p:txBody>
      </p:sp>
      <p:sp>
        <p:nvSpPr>
          <p:cNvPr id="989213" name="Rectangle 29"/>
          <p:cNvSpPr>
            <a:spLocks noChangeArrowheads="1"/>
          </p:cNvSpPr>
          <p:nvPr/>
        </p:nvSpPr>
        <p:spPr bwMode="auto">
          <a:xfrm>
            <a:off x="344488" y="3787776"/>
            <a:ext cx="3376566"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(d) IP </a:t>
            </a:r>
            <a:r>
              <a:rPr kumimoji="1" lang="zh-CN" altLang="en-US" b="1">
                <a:latin typeface="+mn-lt"/>
                <a:ea typeface="黑体" panose="02010609060101010101" pitchFamily="2" charset="-122"/>
              </a:rPr>
              <a:t>地址与子网掩码逐位相与</a:t>
            </a:r>
          </a:p>
        </p:txBody>
      </p:sp>
      <p:sp>
        <p:nvSpPr>
          <p:cNvPr id="989214" name="Rectangle 30"/>
          <p:cNvSpPr>
            <a:spLocks noChangeArrowheads="1"/>
          </p:cNvSpPr>
          <p:nvPr/>
        </p:nvSpPr>
        <p:spPr bwMode="auto">
          <a:xfrm>
            <a:off x="344489" y="4532314"/>
            <a:ext cx="355065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anose="02010609060101010101" pitchFamily="2" charset="-122"/>
              </a:rPr>
              <a:t>(e) </a:t>
            </a:r>
            <a:r>
              <a:rPr kumimoji="1" lang="zh-CN" altLang="en-US" b="1">
                <a:latin typeface="+mn-lt"/>
                <a:ea typeface="黑体" panose="02010609060101010101" pitchFamily="2" charset="-122"/>
              </a:rPr>
              <a:t>网络地址（点分十进制表示）</a:t>
            </a:r>
          </a:p>
        </p:txBody>
      </p:sp>
      <p:sp>
        <p:nvSpPr>
          <p:cNvPr id="989215" name="Text Box 31"/>
          <p:cNvSpPr txBox="1">
            <a:spLocks noChangeArrowheads="1"/>
          </p:cNvSpPr>
          <p:nvPr/>
        </p:nvSpPr>
        <p:spPr bwMode="auto">
          <a:xfrm>
            <a:off x="2135031" y="5085184"/>
            <a:ext cx="6316152" cy="1040285"/>
          </a:xfrm>
          <a:prstGeom prst="rect">
            <a:avLst/>
          </a:prstGeom>
          <a:solidFill>
            <a:srgbClr val="66FF66"/>
          </a:solidFill>
          <a:ln w="12700">
            <a:solidFill>
              <a:srgbClr val="333399"/>
            </a:solidFill>
            <a:miter lim="800000"/>
          </a:ln>
          <a:effectLst>
            <a:outerShdw dist="35921" dir="2700000" algn="ctr" rotWithShape="0">
              <a:schemeClr val="bg2"/>
            </a:outerShdw>
          </a:effectLst>
        </p:spPr>
        <p:txBody>
          <a:bodyPr wrap="none">
            <a:spAutoFit/>
          </a:bodyPr>
          <a:lstStyle/>
          <a:p>
            <a:pPr algn="ctr">
              <a:lnSpc>
                <a:spcPct val="110000"/>
              </a:lnSpc>
            </a:pPr>
            <a:r>
              <a:rPr lang="zh-CN" altLang="en-US" sz="2800" b="1" dirty="0">
                <a:solidFill>
                  <a:srgbClr val="000099"/>
                </a:solidFill>
                <a:latin typeface="+mn-lt"/>
                <a:ea typeface="黑体" panose="02010609060101010101" pitchFamily="2" charset="-122"/>
              </a:rPr>
              <a:t>不同的子网掩码得出</a:t>
            </a:r>
            <a:r>
              <a:rPr lang="zh-CN" altLang="en-US" sz="2800" b="1" dirty="0">
                <a:solidFill>
                  <a:srgbClr val="FF0000"/>
                </a:solidFill>
                <a:latin typeface="+mn-lt"/>
                <a:ea typeface="黑体" panose="02010609060101010101" pitchFamily="2" charset="-122"/>
              </a:rPr>
              <a:t>相同</a:t>
            </a:r>
            <a:r>
              <a:rPr lang="zh-CN" altLang="en-US" sz="2800" b="1" dirty="0">
                <a:solidFill>
                  <a:srgbClr val="000099"/>
                </a:solidFill>
                <a:latin typeface="+mn-lt"/>
                <a:ea typeface="黑体" panose="02010609060101010101" pitchFamily="2" charset="-122"/>
              </a:rPr>
              <a:t>的网络地址。</a:t>
            </a:r>
          </a:p>
          <a:p>
            <a:pPr algn="ctr">
              <a:lnSpc>
                <a:spcPct val="110000"/>
              </a:lnSpc>
            </a:pPr>
            <a:r>
              <a:rPr lang="zh-CN" altLang="en-US" sz="2800" b="1" dirty="0">
                <a:solidFill>
                  <a:srgbClr val="000099"/>
                </a:solidFill>
                <a:latin typeface="+mn-lt"/>
                <a:ea typeface="黑体" panose="02010609060101010101" pitchFamily="2" charset="-122"/>
              </a:rPr>
              <a:t>但不同的掩码的效果是不同的。 </a:t>
            </a:r>
          </a:p>
        </p:txBody>
      </p:sp>
    </p:spTree>
    <p:extLst>
      <p:ext uri="{BB962C8B-B14F-4D97-AF65-F5344CB8AC3E}">
        <p14:creationId xmlns:p14="http://schemas.microsoft.com/office/powerpoint/2010/main" val="385819484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880539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5" name="Rectangle 3"/>
          <p:cNvSpPr>
            <a:spLocks noGrp="1" noChangeArrowheads="1"/>
          </p:cNvSpPr>
          <p:nvPr>
            <p:ph type="title"/>
          </p:nvPr>
        </p:nvSpPr>
        <p:spPr/>
        <p:txBody>
          <a:bodyPr/>
          <a:lstStyle/>
          <a:p>
            <a:r>
              <a:rPr lang="en-US" altLang="zh-CN" dirty="0"/>
              <a:t>4.3.3  </a:t>
            </a:r>
            <a:r>
              <a:rPr lang="zh-CN" altLang="en-US" dirty="0"/>
              <a:t>无分类编址 </a:t>
            </a:r>
            <a:r>
              <a:rPr lang="en-US" altLang="zh-CN" dirty="0"/>
              <a:t>CIDR</a:t>
            </a:r>
            <a:endParaRPr lang="zh-CN" altLang="en-US" dirty="0"/>
          </a:p>
        </p:txBody>
      </p:sp>
      <p:sp>
        <p:nvSpPr>
          <p:cNvPr id="520194" name="Rectangle 2"/>
          <p:cNvSpPr>
            <a:spLocks noGrp="1" noChangeArrowheads="1"/>
          </p:cNvSpPr>
          <p:nvPr>
            <p:ph idx="1"/>
          </p:nvPr>
        </p:nvSpPr>
        <p:spPr/>
        <p:txBody>
          <a:bodyPr/>
          <a:lstStyle/>
          <a:p>
            <a:pPr algn="just">
              <a:spcBef>
                <a:spcPct val="0"/>
              </a:spcBef>
              <a:spcAft>
                <a:spcPts val="600"/>
              </a:spcAft>
              <a:buNone/>
            </a:pPr>
            <a:r>
              <a:rPr lang="en-US" altLang="zh-CN" sz="4400" dirty="0">
                <a:solidFill>
                  <a:srgbClr val="333399"/>
                </a:solidFill>
                <a:cs typeface="+mj-cs"/>
              </a:rPr>
              <a:t>1.  </a:t>
            </a:r>
            <a:r>
              <a:rPr lang="zh-CN" altLang="en-US" sz="4400" dirty="0">
                <a:solidFill>
                  <a:srgbClr val="333399"/>
                </a:solidFill>
                <a:cs typeface="+mj-cs"/>
              </a:rPr>
              <a:t>网络前缀</a:t>
            </a:r>
            <a:endParaRPr lang="en-US" altLang="zh-CN" sz="4400" dirty="0">
              <a:solidFill>
                <a:srgbClr val="333399"/>
              </a:solidFill>
              <a:cs typeface="+mj-cs"/>
            </a:endParaRPr>
          </a:p>
          <a:p>
            <a:pPr algn="just">
              <a:spcBef>
                <a:spcPct val="0"/>
              </a:spcBef>
              <a:buNone/>
            </a:pPr>
            <a:r>
              <a:rPr lang="en-US" altLang="zh-CN" sz="2800" dirty="0"/>
              <a:t>	</a:t>
            </a:r>
            <a:r>
              <a:rPr lang="zh-CN" altLang="en-US" sz="2800" dirty="0"/>
              <a:t>划分子网在一定程度上缓解了互联网在发展中遇到的困难。然而在</a:t>
            </a:r>
            <a:r>
              <a:rPr lang="zh-CN" altLang="en-US" sz="1600" dirty="0"/>
              <a:t> </a:t>
            </a:r>
            <a:r>
              <a:rPr lang="en-US" altLang="zh-CN" sz="2800" dirty="0"/>
              <a:t>1992</a:t>
            </a:r>
            <a:r>
              <a:rPr lang="en-US" altLang="zh-CN" sz="1600" dirty="0"/>
              <a:t> </a:t>
            </a:r>
            <a:r>
              <a:rPr lang="zh-CN" altLang="en-US" sz="2800" dirty="0"/>
              <a:t>年互联网仍然面临三个必须尽早解决的问题：</a:t>
            </a:r>
          </a:p>
          <a:p>
            <a:pPr algn="just"/>
            <a:r>
              <a:rPr lang="en-US" altLang="zh-CN" sz="2800" dirty="0"/>
              <a:t>(1) B </a:t>
            </a:r>
            <a:r>
              <a:rPr lang="zh-CN" altLang="en-US" sz="2800" dirty="0"/>
              <a:t>类地址在 </a:t>
            </a:r>
            <a:r>
              <a:rPr lang="en-US" altLang="zh-CN" sz="2800" dirty="0"/>
              <a:t>1992 </a:t>
            </a:r>
            <a:r>
              <a:rPr lang="zh-CN" altLang="en-US" sz="2800" dirty="0"/>
              <a:t>年已分配了近一半，眼看就要在 </a:t>
            </a:r>
            <a:r>
              <a:rPr lang="en-US" altLang="zh-CN" sz="2800" dirty="0"/>
              <a:t>1994 </a:t>
            </a:r>
            <a:r>
              <a:rPr lang="zh-CN" altLang="en-US" sz="2800" dirty="0"/>
              <a:t>年 </a:t>
            </a:r>
            <a:r>
              <a:rPr lang="en-US" altLang="zh-CN" sz="2800" dirty="0"/>
              <a:t>3 </a:t>
            </a:r>
            <a:r>
              <a:rPr lang="zh-CN" altLang="en-US" sz="2800" dirty="0"/>
              <a:t>月全部分配完毕！</a:t>
            </a:r>
          </a:p>
          <a:p>
            <a:pPr algn="just"/>
            <a:r>
              <a:rPr lang="en-US" altLang="zh-CN" sz="2800" dirty="0"/>
              <a:t>(2) </a:t>
            </a:r>
            <a:r>
              <a:rPr lang="zh-CN" altLang="en-US" sz="2800" dirty="0"/>
              <a:t>互联网主干网上的路由表中的项目数急剧增长（从几千个增长到几万个）。</a:t>
            </a:r>
          </a:p>
          <a:p>
            <a:pPr algn="just"/>
            <a:r>
              <a:rPr lang="en-US" altLang="zh-CN" sz="2800" dirty="0"/>
              <a:t>(3) </a:t>
            </a:r>
            <a:r>
              <a:rPr lang="zh-CN" altLang="en-US" sz="2800" dirty="0"/>
              <a:t>整个 </a:t>
            </a:r>
            <a:r>
              <a:rPr lang="en-US" altLang="zh-CN" sz="2800" dirty="0"/>
              <a:t>IPv4 </a:t>
            </a:r>
            <a:r>
              <a:rPr lang="zh-CN" altLang="en-US" sz="2800" dirty="0"/>
              <a:t>的地址空间最终将全部耗尽。</a:t>
            </a:r>
          </a:p>
        </p:txBody>
      </p:sp>
    </p:spTree>
    <p:extLst>
      <p:ext uri="{BB962C8B-B14F-4D97-AF65-F5344CB8AC3E}">
        <p14:creationId xmlns:p14="http://schemas.microsoft.com/office/powerpoint/2010/main" val="329508067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9" name="Rectangle 3"/>
          <p:cNvSpPr>
            <a:spLocks noGrp="1" noChangeArrowheads="1"/>
          </p:cNvSpPr>
          <p:nvPr>
            <p:ph type="title"/>
          </p:nvPr>
        </p:nvSpPr>
        <p:spPr/>
        <p:txBody>
          <a:bodyPr/>
          <a:lstStyle/>
          <a:p>
            <a:pPr algn="ctr"/>
            <a:r>
              <a:rPr lang="en-US" altLang="zh-CN" dirty="0"/>
              <a:t>IP </a:t>
            </a:r>
            <a:r>
              <a:rPr lang="zh-CN" altLang="en-US" dirty="0"/>
              <a:t>编址问题的演进 </a:t>
            </a:r>
          </a:p>
        </p:txBody>
      </p:sp>
      <p:sp>
        <p:nvSpPr>
          <p:cNvPr id="521218" name="Rectangle 2"/>
          <p:cNvSpPr>
            <a:spLocks noGrp="1" noChangeArrowheads="1"/>
          </p:cNvSpPr>
          <p:nvPr>
            <p:ph idx="1"/>
          </p:nvPr>
        </p:nvSpPr>
        <p:spPr/>
        <p:txBody>
          <a:bodyPr/>
          <a:lstStyle/>
          <a:p>
            <a:pPr algn="just"/>
            <a:r>
              <a:rPr lang="en-US" altLang="zh-CN" dirty="0"/>
              <a:t>1987 </a:t>
            </a:r>
            <a:r>
              <a:rPr lang="zh-CN" altLang="en-US" dirty="0"/>
              <a:t>年，</a:t>
            </a:r>
            <a:r>
              <a:rPr lang="en-US" altLang="zh-CN" dirty="0"/>
              <a:t>RFC 1009 </a:t>
            </a:r>
            <a:r>
              <a:rPr lang="zh-CN" altLang="en-US" dirty="0"/>
              <a:t>就指明了在一个划分子网的网络中可同时使用几个不同的子网掩码。</a:t>
            </a:r>
            <a:endParaRPr lang="en-US" altLang="zh-CN" dirty="0"/>
          </a:p>
          <a:p>
            <a:pPr algn="just"/>
            <a:r>
              <a:rPr lang="zh-CN" altLang="en-US" dirty="0"/>
              <a:t>使用</a:t>
            </a:r>
            <a:r>
              <a:rPr lang="zh-CN" altLang="en-US" dirty="0">
                <a:solidFill>
                  <a:srgbClr val="FF0000"/>
                </a:solidFill>
              </a:rPr>
              <a:t>变长子网掩码 </a:t>
            </a:r>
            <a:r>
              <a:rPr lang="en-US" altLang="zh-CN" dirty="0">
                <a:solidFill>
                  <a:srgbClr val="FF0000"/>
                </a:solidFill>
              </a:rPr>
              <a:t>VLSM </a:t>
            </a:r>
            <a:r>
              <a:rPr lang="en-US" altLang="zh-CN" dirty="0"/>
              <a:t>(Variable Length Subnet Mask)</a:t>
            </a:r>
            <a:r>
              <a:rPr lang="zh-CN" altLang="en-US" dirty="0"/>
              <a:t>可进一步提高 </a:t>
            </a:r>
            <a:r>
              <a:rPr lang="en-US" altLang="zh-CN" dirty="0"/>
              <a:t>IP </a:t>
            </a:r>
            <a:r>
              <a:rPr lang="zh-CN" altLang="en-US" dirty="0"/>
              <a:t>地址资源的利用率。</a:t>
            </a:r>
          </a:p>
          <a:p>
            <a:pPr algn="just"/>
            <a:r>
              <a:rPr lang="zh-CN" altLang="en-US" dirty="0"/>
              <a:t>在 </a:t>
            </a:r>
            <a:r>
              <a:rPr lang="en-US" altLang="zh-CN" dirty="0"/>
              <a:t>VLSM </a:t>
            </a:r>
            <a:r>
              <a:rPr lang="zh-CN" altLang="en-US" dirty="0"/>
              <a:t>的基础上又进一步研究出无分类编址方法，它的正式名字是</a:t>
            </a:r>
            <a:r>
              <a:rPr lang="zh-CN" altLang="en-US" dirty="0">
                <a:solidFill>
                  <a:srgbClr val="FF0000"/>
                </a:solidFill>
              </a:rPr>
              <a:t>无分类域间路由选择 </a:t>
            </a:r>
            <a:r>
              <a:rPr lang="en-US" altLang="zh-CN" dirty="0">
                <a:solidFill>
                  <a:srgbClr val="FF0000"/>
                </a:solidFill>
              </a:rPr>
              <a:t>CIDR</a:t>
            </a:r>
            <a:r>
              <a:rPr lang="en-US" altLang="zh-CN" dirty="0"/>
              <a:t> (Classless Inter-Domain Routing)</a:t>
            </a:r>
            <a:r>
              <a:rPr lang="zh-CN" altLang="en-US" dirty="0"/>
              <a:t>。  </a:t>
            </a:r>
          </a:p>
        </p:txBody>
      </p:sp>
    </p:spTree>
    <p:extLst>
      <p:ext uri="{BB962C8B-B14F-4D97-AF65-F5344CB8AC3E}">
        <p14:creationId xmlns:p14="http://schemas.microsoft.com/office/powerpoint/2010/main" val="1676073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3" name="Rectangle 3"/>
          <p:cNvSpPr>
            <a:spLocks noGrp="1" noChangeArrowheads="1"/>
          </p:cNvSpPr>
          <p:nvPr>
            <p:ph type="title"/>
          </p:nvPr>
        </p:nvSpPr>
        <p:spPr/>
        <p:txBody>
          <a:bodyPr/>
          <a:lstStyle/>
          <a:p>
            <a:pPr algn="ctr"/>
            <a:r>
              <a:rPr lang="en-US" altLang="zh-CN"/>
              <a:t>CIDR </a:t>
            </a:r>
            <a:r>
              <a:rPr lang="zh-CN" altLang="en-US"/>
              <a:t>最主要的特点 </a:t>
            </a:r>
          </a:p>
        </p:txBody>
      </p:sp>
      <p:sp>
        <p:nvSpPr>
          <p:cNvPr id="522242" name="Rectangle 2"/>
          <p:cNvSpPr>
            <a:spLocks noGrp="1" noChangeArrowheads="1"/>
          </p:cNvSpPr>
          <p:nvPr>
            <p:ph idx="1"/>
          </p:nvPr>
        </p:nvSpPr>
        <p:spPr/>
        <p:txBody>
          <a:bodyPr/>
          <a:lstStyle/>
          <a:p>
            <a:pPr algn="just"/>
            <a:r>
              <a:rPr lang="en-US" altLang="zh-CN" dirty="0"/>
              <a:t>CIDR </a:t>
            </a:r>
            <a:r>
              <a:rPr lang="zh-CN" altLang="en-US" dirty="0"/>
              <a:t>消除了传统的 </a:t>
            </a:r>
            <a:r>
              <a:rPr lang="en-US" altLang="zh-CN" dirty="0"/>
              <a:t>A </a:t>
            </a:r>
            <a:r>
              <a:rPr lang="zh-CN" altLang="en-US" dirty="0"/>
              <a:t>类、</a:t>
            </a:r>
            <a:r>
              <a:rPr lang="en-US" altLang="zh-CN" dirty="0"/>
              <a:t>B </a:t>
            </a:r>
            <a:r>
              <a:rPr lang="zh-CN" altLang="en-US" dirty="0"/>
              <a:t>类和 </a:t>
            </a:r>
            <a:r>
              <a:rPr lang="en-US" altLang="zh-CN" dirty="0"/>
              <a:t>C </a:t>
            </a:r>
            <a:r>
              <a:rPr lang="zh-CN" altLang="en-US" dirty="0"/>
              <a:t>类地址以及划分子网的概念，因而可以更加有效地分配 </a:t>
            </a:r>
            <a:r>
              <a:rPr lang="en-US" altLang="zh-CN" dirty="0"/>
              <a:t>IPv4 </a:t>
            </a:r>
            <a:r>
              <a:rPr lang="zh-CN" altLang="en-US" dirty="0"/>
              <a:t>的地址空间。</a:t>
            </a:r>
          </a:p>
          <a:p>
            <a:pPr algn="just"/>
            <a:r>
              <a:rPr lang="en-US" altLang="zh-CN" dirty="0"/>
              <a:t>CIDR</a:t>
            </a:r>
            <a:r>
              <a:rPr lang="zh-CN" altLang="en-US" dirty="0"/>
              <a:t>使用各种长度的“</a:t>
            </a:r>
            <a:r>
              <a:rPr lang="zh-CN" altLang="en-US" dirty="0">
                <a:solidFill>
                  <a:srgbClr val="FF0000"/>
                </a:solidFill>
              </a:rPr>
              <a:t>网络前缀</a:t>
            </a:r>
            <a:r>
              <a:rPr lang="zh-CN" altLang="en-US" dirty="0"/>
              <a:t>”</a:t>
            </a:r>
            <a:r>
              <a:rPr lang="en-US" altLang="zh-CN" dirty="0"/>
              <a:t>(network-prefix)</a:t>
            </a:r>
            <a:r>
              <a:rPr lang="zh-CN" altLang="en-US" dirty="0"/>
              <a:t>来代替分类地址中的网络号和子网号。</a:t>
            </a:r>
          </a:p>
          <a:p>
            <a:pPr algn="just"/>
            <a:r>
              <a:rPr lang="en-US" altLang="zh-CN" dirty="0">
                <a:solidFill>
                  <a:srgbClr val="0000FF"/>
                </a:solidFill>
              </a:rPr>
              <a:t>IP </a:t>
            </a:r>
            <a:r>
              <a:rPr lang="zh-CN" altLang="en-US" dirty="0">
                <a:solidFill>
                  <a:srgbClr val="0000FF"/>
                </a:solidFill>
              </a:rPr>
              <a:t>地址从三级编址（使用子网掩码）又回到了两级编址。  </a:t>
            </a:r>
          </a:p>
        </p:txBody>
      </p:sp>
    </p:spTree>
    <p:extLst>
      <p:ext uri="{BB962C8B-B14F-4D97-AF65-F5344CB8AC3E}">
        <p14:creationId xmlns:p14="http://schemas.microsoft.com/office/powerpoint/2010/main" val="2810162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8" name="Rectangle 4"/>
          <p:cNvSpPr>
            <a:spLocks noGrp="1" noChangeArrowheads="1"/>
          </p:cNvSpPr>
          <p:nvPr>
            <p:ph type="title"/>
          </p:nvPr>
        </p:nvSpPr>
        <p:spPr/>
        <p:txBody>
          <a:bodyPr/>
          <a:lstStyle/>
          <a:p>
            <a:pPr algn="ctr"/>
            <a:r>
              <a:rPr lang="zh-CN" altLang="en-US" dirty="0"/>
              <a:t>无分类的两级编址 </a:t>
            </a:r>
          </a:p>
        </p:txBody>
      </p:sp>
      <p:sp>
        <p:nvSpPr>
          <p:cNvPr id="523267" name="Rectangle 3"/>
          <p:cNvSpPr>
            <a:spLocks noGrp="1" noChangeArrowheads="1"/>
          </p:cNvSpPr>
          <p:nvPr>
            <p:ph idx="1"/>
          </p:nvPr>
        </p:nvSpPr>
        <p:spPr/>
        <p:txBody>
          <a:bodyPr/>
          <a:lstStyle/>
          <a:p>
            <a:pPr algn="just"/>
            <a:r>
              <a:rPr lang="zh-CN" altLang="en-US" sz="2800" dirty="0"/>
              <a:t>无分类的两级编址的记法是： </a:t>
            </a:r>
          </a:p>
          <a:p>
            <a:pPr algn="just"/>
            <a:endParaRPr lang="en-US" altLang="zh-CN" sz="2800" dirty="0"/>
          </a:p>
          <a:p>
            <a:pPr algn="just"/>
            <a:endParaRPr lang="en-US" altLang="zh-CN" sz="2800" dirty="0"/>
          </a:p>
          <a:p>
            <a:pPr algn="just"/>
            <a:endParaRPr lang="en-US" altLang="zh-CN" sz="2800" dirty="0"/>
          </a:p>
          <a:p>
            <a:pPr algn="just"/>
            <a:endParaRPr lang="en-US" altLang="zh-CN" sz="2800" dirty="0"/>
          </a:p>
          <a:p>
            <a:pPr algn="just"/>
            <a:r>
              <a:rPr lang="en-US" altLang="zh-CN" sz="2800" dirty="0"/>
              <a:t>CIDR </a:t>
            </a:r>
            <a:r>
              <a:rPr lang="zh-CN" altLang="en-US" sz="2800" dirty="0"/>
              <a:t>使用“</a:t>
            </a:r>
            <a:r>
              <a:rPr lang="zh-CN" altLang="en-US" sz="2800" dirty="0">
                <a:solidFill>
                  <a:srgbClr val="FF0000"/>
                </a:solidFill>
              </a:rPr>
              <a:t>斜线记法</a:t>
            </a:r>
            <a:r>
              <a:rPr lang="zh-CN" altLang="en-US" sz="2800" dirty="0"/>
              <a:t>”</a:t>
            </a:r>
            <a:r>
              <a:rPr lang="en-US" altLang="zh-CN" sz="2800" dirty="0"/>
              <a:t>(slash notation)</a:t>
            </a:r>
            <a:r>
              <a:rPr lang="zh-CN" altLang="en-US" sz="2800" dirty="0"/>
              <a:t>，它又称为 </a:t>
            </a:r>
            <a:r>
              <a:rPr lang="en-US" altLang="zh-CN" sz="2800" dirty="0">
                <a:solidFill>
                  <a:srgbClr val="FF0000"/>
                </a:solidFill>
              </a:rPr>
              <a:t>CIDR </a:t>
            </a:r>
            <a:r>
              <a:rPr lang="zh-CN" altLang="en-US" sz="2800" dirty="0">
                <a:solidFill>
                  <a:srgbClr val="FF0000"/>
                </a:solidFill>
              </a:rPr>
              <a:t>记法</a:t>
            </a:r>
            <a:r>
              <a:rPr lang="zh-CN" altLang="en-US" sz="2800" dirty="0"/>
              <a:t>，即在 </a:t>
            </a:r>
            <a:r>
              <a:rPr lang="en-US" altLang="zh-CN" sz="2800" dirty="0"/>
              <a:t>IP </a:t>
            </a:r>
            <a:r>
              <a:rPr lang="zh-CN" altLang="en-US" sz="2800" dirty="0"/>
              <a:t>地址面加上一个斜线“</a:t>
            </a:r>
            <a:r>
              <a:rPr lang="en-US" altLang="zh-CN" sz="2800" dirty="0"/>
              <a:t>/”</a:t>
            </a:r>
            <a:r>
              <a:rPr lang="zh-CN" altLang="en-US" sz="2800" dirty="0"/>
              <a:t>，然后写上网络前缀所占的位数（这个数值对应于三级编址中子网掩码中 </a:t>
            </a:r>
            <a:r>
              <a:rPr lang="en-US" altLang="zh-CN" sz="2800" dirty="0"/>
              <a:t>1 </a:t>
            </a:r>
            <a:r>
              <a:rPr lang="zh-CN" altLang="en-US" sz="2800" dirty="0"/>
              <a:t>的个数）。例如： </a:t>
            </a:r>
            <a:r>
              <a:rPr lang="en-US" altLang="zh-CN" sz="2800" dirty="0">
                <a:solidFill>
                  <a:srgbClr val="0000FF"/>
                </a:solidFill>
              </a:rPr>
              <a:t>220.78.168.0</a:t>
            </a:r>
            <a:r>
              <a:rPr lang="en-US" altLang="zh-CN" sz="2800" dirty="0">
                <a:solidFill>
                  <a:srgbClr val="FF0000"/>
                </a:solidFill>
              </a:rPr>
              <a:t>/24</a:t>
            </a:r>
            <a:endParaRPr lang="zh-CN" altLang="en-US" sz="2800" dirty="0">
              <a:solidFill>
                <a:srgbClr val="FF0000"/>
              </a:solidFill>
            </a:endParaRPr>
          </a:p>
        </p:txBody>
      </p:sp>
      <p:sp>
        <p:nvSpPr>
          <p:cNvPr id="523266" name="Rectangle 2"/>
          <p:cNvSpPr>
            <a:spLocks noChangeArrowheads="1"/>
          </p:cNvSpPr>
          <p:nvPr/>
        </p:nvSpPr>
        <p:spPr bwMode="auto">
          <a:xfrm>
            <a:off x="920552" y="2924944"/>
            <a:ext cx="8280920" cy="660920"/>
          </a:xfrm>
          <a:prstGeom prst="rect">
            <a:avLst/>
          </a:prstGeom>
          <a:solidFill>
            <a:srgbClr val="66FF33"/>
          </a:solidFill>
          <a:ln w="9525">
            <a:solidFill>
              <a:srgbClr val="333399"/>
            </a:solidFill>
            <a:miter lim="800000"/>
          </a:ln>
          <a:effectLst>
            <a:outerShdw dist="35921" dir="2700000" algn="ctr" rotWithShape="0">
              <a:schemeClr val="bg2"/>
            </a:outerShdw>
          </a:effectLst>
        </p:spPr>
        <p:txBody>
          <a:bodyPr wrap="none" anchor="ctr"/>
          <a:lstStyle/>
          <a:p>
            <a:pPr algn="ctr">
              <a:spcBef>
                <a:spcPct val="50000"/>
              </a:spcBef>
              <a:spcAft>
                <a:spcPct val="40000"/>
              </a:spcAft>
              <a:buFont typeface="Wingdings" panose="05000000000000000000" pitchFamily="2" charset="2"/>
              <a:buNone/>
            </a:pPr>
            <a:r>
              <a:rPr lang="en-US" altLang="zh-CN" sz="2800" b="1" dirty="0">
                <a:solidFill>
                  <a:srgbClr val="0000CC"/>
                </a:solidFill>
                <a:latin typeface="+mn-lt"/>
                <a:ea typeface="黑体" panose="02010609060101010101" pitchFamily="2" charset="-122"/>
              </a:rPr>
              <a:t>IP</a:t>
            </a:r>
            <a:r>
              <a:rPr lang="zh-CN" altLang="en-US" sz="2800" b="1" dirty="0">
                <a:solidFill>
                  <a:srgbClr val="0000CC"/>
                </a:solidFill>
                <a:latin typeface="+mn-lt"/>
                <a:ea typeface="黑体" panose="02010609060101010101" pitchFamily="2" charset="-122"/>
              </a:rPr>
              <a:t>地址 </a:t>
            </a:r>
            <a:r>
              <a:rPr lang="en-US" altLang="zh-CN" sz="2800" b="1" dirty="0">
                <a:solidFill>
                  <a:srgbClr val="0000CC"/>
                </a:solidFill>
                <a:latin typeface="+mn-lt"/>
                <a:ea typeface="黑体" panose="02010609060101010101" pitchFamily="2" charset="-122"/>
              </a:rPr>
              <a:t>::= {&lt;</a:t>
            </a:r>
            <a:r>
              <a:rPr lang="zh-CN" altLang="en-US" sz="2800" b="1" dirty="0">
                <a:solidFill>
                  <a:srgbClr val="0000CC"/>
                </a:solidFill>
                <a:latin typeface="+mn-lt"/>
                <a:ea typeface="黑体" panose="02010609060101010101" pitchFamily="2" charset="-122"/>
              </a:rPr>
              <a:t>网络前缀</a:t>
            </a:r>
            <a:r>
              <a:rPr lang="en-US" altLang="zh-CN" sz="2800" b="1" dirty="0">
                <a:solidFill>
                  <a:srgbClr val="0000CC"/>
                </a:solidFill>
                <a:latin typeface="+mn-lt"/>
                <a:ea typeface="黑体" panose="02010609060101010101" pitchFamily="2" charset="-122"/>
              </a:rPr>
              <a:t>&gt;, &lt;</a:t>
            </a:r>
            <a:r>
              <a:rPr lang="zh-CN" altLang="en-US" sz="2800" b="1" dirty="0">
                <a:solidFill>
                  <a:srgbClr val="0000CC"/>
                </a:solidFill>
                <a:latin typeface="+mn-lt"/>
                <a:ea typeface="黑体" panose="02010609060101010101" pitchFamily="2" charset="-122"/>
              </a:rPr>
              <a:t>主机号</a:t>
            </a:r>
            <a:r>
              <a:rPr lang="en-US" altLang="zh-CN" sz="2800" b="1" dirty="0">
                <a:solidFill>
                  <a:srgbClr val="0000CC"/>
                </a:solidFill>
                <a:latin typeface="+mn-lt"/>
                <a:ea typeface="黑体" panose="02010609060101010101" pitchFamily="2" charset="-122"/>
              </a:rPr>
              <a:t>&gt;}             (4-3) </a:t>
            </a:r>
          </a:p>
        </p:txBody>
      </p:sp>
      <p:grpSp>
        <p:nvGrpSpPr>
          <p:cNvPr id="7" name="组合 6"/>
          <p:cNvGrpSpPr/>
          <p:nvPr/>
        </p:nvGrpSpPr>
        <p:grpSpPr>
          <a:xfrm>
            <a:off x="2406749" y="1790909"/>
            <a:ext cx="4562475" cy="1062027"/>
            <a:chOff x="1839416" y="4105856"/>
            <a:chExt cx="4562475" cy="1147752"/>
          </a:xfrm>
        </p:grpSpPr>
        <p:grpSp>
          <p:nvGrpSpPr>
            <p:cNvPr id="9" name="Group 21"/>
            <p:cNvGrpSpPr/>
            <p:nvPr/>
          </p:nvGrpSpPr>
          <p:grpSpPr bwMode="auto">
            <a:xfrm>
              <a:off x="1867991" y="4767838"/>
              <a:ext cx="4533900" cy="461963"/>
              <a:chOff x="755" y="2967"/>
              <a:chExt cx="2856" cy="291"/>
            </a:xfrm>
          </p:grpSpPr>
          <p:sp>
            <p:nvSpPr>
              <p:cNvPr id="18" name="Line 9"/>
              <p:cNvSpPr>
                <a:spLocks noChangeShapeType="1"/>
              </p:cNvSpPr>
              <p:nvPr/>
            </p:nvSpPr>
            <p:spPr bwMode="auto">
              <a:xfrm>
                <a:off x="755" y="3122"/>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9" name="Text Box 10"/>
              <p:cNvSpPr txBox="1">
                <a:spLocks noChangeArrowheads="1"/>
              </p:cNvSpPr>
              <p:nvPr/>
            </p:nvSpPr>
            <p:spPr bwMode="auto">
              <a:xfrm>
                <a:off x="1950" y="2967"/>
                <a:ext cx="527" cy="29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位</a:t>
                </a:r>
              </a:p>
            </p:txBody>
          </p:sp>
        </p:grpSp>
        <p:grpSp>
          <p:nvGrpSpPr>
            <p:cNvPr id="10" name="Group 20"/>
            <p:cNvGrpSpPr/>
            <p:nvPr/>
          </p:nvGrpSpPr>
          <p:grpSpPr bwMode="auto">
            <a:xfrm>
              <a:off x="1842591" y="4644008"/>
              <a:ext cx="4559300" cy="609600"/>
              <a:chOff x="739" y="2832"/>
              <a:chExt cx="2872" cy="430"/>
            </a:xfrm>
          </p:grpSpPr>
          <p:sp>
            <p:nvSpPr>
              <p:cNvPr id="16" name="Line 8"/>
              <p:cNvSpPr>
                <a:spLocks noChangeShapeType="1"/>
              </p:cNvSpPr>
              <p:nvPr/>
            </p:nvSpPr>
            <p:spPr bwMode="auto">
              <a:xfrm>
                <a:off x="739"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7" name="Line 17"/>
              <p:cNvSpPr>
                <a:spLocks noChangeShapeType="1"/>
              </p:cNvSpPr>
              <p:nvPr/>
            </p:nvSpPr>
            <p:spPr bwMode="auto">
              <a:xfrm>
                <a:off x="3611" y="2832"/>
                <a:ext cx="0" cy="430"/>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grpSp>
        <p:grpSp>
          <p:nvGrpSpPr>
            <p:cNvPr id="11" name="Group 18"/>
            <p:cNvGrpSpPr/>
            <p:nvPr/>
          </p:nvGrpSpPr>
          <p:grpSpPr bwMode="auto">
            <a:xfrm>
              <a:off x="1839416" y="4105856"/>
              <a:ext cx="4562105" cy="612776"/>
              <a:chOff x="737" y="2493"/>
              <a:chExt cx="3240" cy="386"/>
            </a:xfrm>
          </p:grpSpPr>
          <p:sp>
            <p:nvSpPr>
              <p:cNvPr id="12"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网络前缀</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sp>
            <p:nvSpPr>
              <p:cNvPr id="13" name="Rectangle 7"/>
              <p:cNvSpPr>
                <a:spLocks noChangeArrowheads="1"/>
              </p:cNvSpPr>
              <p:nvPr/>
            </p:nvSpPr>
            <p:spPr bwMode="auto">
              <a:xfrm>
                <a:off x="2387" y="2494"/>
                <a:ext cx="1590" cy="385"/>
              </a:xfrm>
              <a:prstGeom prst="rect">
                <a:avLst/>
              </a:prstGeom>
              <a:solidFill>
                <a:srgbClr val="66FF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4" name="Rectangle 11"/>
              <p:cNvSpPr>
                <a:spLocks noChangeArrowheads="1"/>
              </p:cNvSpPr>
              <p:nvPr/>
            </p:nvSpPr>
            <p:spPr bwMode="auto">
              <a:xfrm>
                <a:off x="2754" y="2547"/>
                <a:ext cx="967" cy="291"/>
              </a:xfrm>
              <a:prstGeom prst="rect">
                <a:avLst/>
              </a:prstGeom>
              <a:noFill/>
              <a:ln w="9525" algn="ctr">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anose="02010609060101010101" pitchFamily="2" charset="-122"/>
                </a:endParaRPr>
              </a:p>
            </p:txBody>
          </p:sp>
        </p:grpSp>
      </p:grpSp>
    </p:spTree>
    <p:extLst>
      <p:ext uri="{BB962C8B-B14F-4D97-AF65-F5344CB8AC3E}">
        <p14:creationId xmlns:p14="http://schemas.microsoft.com/office/powerpoint/2010/main" val="4292716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2"/>
          <p:cNvSpPr>
            <a:spLocks noGrp="1" noChangeArrowheads="1"/>
          </p:cNvSpPr>
          <p:nvPr>
            <p:ph type="title"/>
          </p:nvPr>
        </p:nvSpPr>
        <p:spPr/>
        <p:txBody>
          <a:bodyPr/>
          <a:lstStyle/>
          <a:p>
            <a:pPr algn="ctr"/>
            <a:r>
              <a:rPr lang="en-US" altLang="zh-CN"/>
              <a:t>CIDR </a:t>
            </a:r>
            <a:r>
              <a:rPr lang="zh-CN" altLang="en-US"/>
              <a:t>地址块 </a:t>
            </a:r>
          </a:p>
        </p:txBody>
      </p:sp>
      <p:sp>
        <p:nvSpPr>
          <p:cNvPr id="524291" name="Rectangle 3"/>
          <p:cNvSpPr>
            <a:spLocks noGrp="1" noChangeArrowheads="1"/>
          </p:cNvSpPr>
          <p:nvPr>
            <p:ph idx="1"/>
          </p:nvPr>
        </p:nvSpPr>
        <p:spPr/>
        <p:txBody>
          <a:bodyPr/>
          <a:lstStyle/>
          <a:p>
            <a:pPr algn="just">
              <a:lnSpc>
                <a:spcPct val="100000"/>
              </a:lnSpc>
            </a:pPr>
            <a:r>
              <a:rPr lang="en-US" altLang="zh-CN" sz="2800" dirty="0"/>
              <a:t>CIDR </a:t>
            </a:r>
            <a:r>
              <a:rPr lang="zh-CN" altLang="en-US" sz="2800" dirty="0"/>
              <a:t>把网络前缀都相同的连续的 </a:t>
            </a:r>
            <a:r>
              <a:rPr lang="en-US" altLang="zh-CN" sz="2800" dirty="0"/>
              <a:t>IP </a:t>
            </a:r>
            <a:r>
              <a:rPr lang="zh-CN" altLang="en-US" sz="2800" dirty="0"/>
              <a:t>地址组成“</a:t>
            </a:r>
            <a:r>
              <a:rPr lang="en-US" altLang="zh-CN" sz="2800" dirty="0">
                <a:solidFill>
                  <a:srgbClr val="FF0000"/>
                </a:solidFill>
              </a:rPr>
              <a:t>CIDR </a:t>
            </a:r>
            <a:r>
              <a:rPr lang="zh-CN" altLang="en-US" sz="2800" dirty="0">
                <a:solidFill>
                  <a:srgbClr val="FF0000"/>
                </a:solidFill>
              </a:rPr>
              <a:t>地址块</a:t>
            </a:r>
            <a:r>
              <a:rPr lang="zh-CN" altLang="en-US" sz="2800" dirty="0"/>
              <a:t>”。</a:t>
            </a:r>
            <a:endParaRPr lang="en-US" altLang="zh-CN" sz="2800" dirty="0"/>
          </a:p>
          <a:p>
            <a:pPr algn="just">
              <a:lnSpc>
                <a:spcPct val="100000"/>
              </a:lnSpc>
            </a:pPr>
            <a:r>
              <a:rPr lang="en-US" altLang="zh-CN" sz="2800" dirty="0"/>
              <a:t>128.14.32.0/20 </a:t>
            </a:r>
            <a:r>
              <a:rPr lang="zh-CN" altLang="en-US" sz="2800" dirty="0"/>
              <a:t>表示的地址块</a:t>
            </a:r>
            <a:r>
              <a:rPr lang="zh-CN" altLang="en-US" sz="2800" dirty="0">
                <a:solidFill>
                  <a:srgbClr val="0000FF"/>
                </a:solidFill>
              </a:rPr>
              <a:t>共有 </a:t>
            </a:r>
            <a:r>
              <a:rPr lang="en-US" altLang="zh-CN" sz="2800" dirty="0">
                <a:solidFill>
                  <a:srgbClr val="0000FF"/>
                </a:solidFill>
              </a:rPr>
              <a:t>2</a:t>
            </a:r>
            <a:r>
              <a:rPr lang="en-US" altLang="zh-CN" sz="2800" baseline="30000" dirty="0">
                <a:solidFill>
                  <a:srgbClr val="0000FF"/>
                </a:solidFill>
              </a:rPr>
              <a:t>12 </a:t>
            </a:r>
            <a:r>
              <a:rPr lang="zh-CN" altLang="en-US" sz="2800" dirty="0">
                <a:solidFill>
                  <a:srgbClr val="0000FF"/>
                </a:solidFill>
              </a:rPr>
              <a:t>个地址</a:t>
            </a:r>
            <a:r>
              <a:rPr lang="zh-CN" altLang="en-US" sz="2800" dirty="0"/>
              <a:t>（因为</a:t>
            </a:r>
            <a:r>
              <a:rPr lang="zh-CN" altLang="en-US" sz="2800" dirty="0">
                <a:solidFill>
                  <a:srgbClr val="FF0000"/>
                </a:solidFill>
              </a:rPr>
              <a:t>斜线后面的 </a:t>
            </a:r>
            <a:r>
              <a:rPr lang="en-US" altLang="zh-CN" sz="2800" dirty="0">
                <a:solidFill>
                  <a:srgbClr val="FF0000"/>
                </a:solidFill>
              </a:rPr>
              <a:t>20 </a:t>
            </a:r>
            <a:r>
              <a:rPr lang="zh-CN" altLang="en-US" sz="2800" dirty="0">
                <a:solidFill>
                  <a:srgbClr val="FF0000"/>
                </a:solidFill>
              </a:rPr>
              <a:t>是网络前缀的位数</a:t>
            </a:r>
            <a:r>
              <a:rPr lang="zh-CN" altLang="en-US" sz="2800" dirty="0"/>
              <a:t>，所以这个地址的主机号是 </a:t>
            </a:r>
            <a:r>
              <a:rPr lang="en-US" altLang="zh-CN" sz="2800" dirty="0"/>
              <a:t>12 </a:t>
            </a:r>
            <a:r>
              <a:rPr lang="zh-CN" altLang="en-US" sz="2800" dirty="0"/>
              <a:t>位）。</a:t>
            </a:r>
          </a:p>
          <a:p>
            <a:pPr lvl="1" algn="just">
              <a:lnSpc>
                <a:spcPct val="100000"/>
              </a:lnSpc>
            </a:pPr>
            <a:r>
              <a:rPr lang="zh-CN" altLang="en-US" sz="2400" dirty="0"/>
              <a:t>这个地址块的起始地址是 </a:t>
            </a:r>
            <a:r>
              <a:rPr lang="en-US" altLang="zh-CN" sz="2400" dirty="0"/>
              <a:t>128.14.32.0</a:t>
            </a:r>
            <a:r>
              <a:rPr lang="zh-CN" altLang="en-US" sz="2400" dirty="0"/>
              <a:t>。</a:t>
            </a:r>
          </a:p>
          <a:p>
            <a:pPr lvl="1" algn="just">
              <a:lnSpc>
                <a:spcPct val="100000"/>
              </a:lnSpc>
            </a:pPr>
            <a:r>
              <a:rPr lang="zh-CN" altLang="en-US" sz="2400" dirty="0"/>
              <a:t>在不需要指出地址块的起始地址时，也可将这样的地址块简称为“</a:t>
            </a:r>
            <a:r>
              <a:rPr lang="en-US" altLang="zh-CN" sz="2400" dirty="0">
                <a:solidFill>
                  <a:srgbClr val="FF0000"/>
                </a:solidFill>
              </a:rPr>
              <a:t>/20 </a:t>
            </a:r>
            <a:r>
              <a:rPr lang="zh-CN" altLang="en-US" sz="2400" dirty="0">
                <a:solidFill>
                  <a:srgbClr val="FF0000"/>
                </a:solidFill>
              </a:rPr>
              <a:t>地址块</a:t>
            </a:r>
            <a:r>
              <a:rPr lang="zh-CN" altLang="en-US" sz="2400" dirty="0"/>
              <a:t>”。</a:t>
            </a:r>
          </a:p>
          <a:p>
            <a:pPr lvl="1" algn="just">
              <a:lnSpc>
                <a:spcPct val="100000"/>
              </a:lnSpc>
            </a:pPr>
            <a:r>
              <a:rPr lang="en-US" altLang="zh-CN" sz="2400" dirty="0"/>
              <a:t>128.14.32.0/20 </a:t>
            </a:r>
            <a:r>
              <a:rPr lang="zh-CN" altLang="en-US" sz="2400" dirty="0"/>
              <a:t>地址块的最小地址：</a:t>
            </a:r>
            <a:r>
              <a:rPr lang="en-US" altLang="zh-CN" sz="2400" dirty="0"/>
              <a:t>128.14.32.0</a:t>
            </a:r>
          </a:p>
          <a:p>
            <a:pPr lvl="1" algn="just">
              <a:lnSpc>
                <a:spcPct val="100000"/>
              </a:lnSpc>
            </a:pPr>
            <a:r>
              <a:rPr lang="en-US" altLang="zh-CN" sz="2400" dirty="0"/>
              <a:t>128.14.32.0/20 </a:t>
            </a:r>
            <a:r>
              <a:rPr lang="zh-CN" altLang="en-US" sz="2400" dirty="0"/>
              <a:t>地址块的最大地址：</a:t>
            </a:r>
            <a:r>
              <a:rPr lang="en-US" altLang="zh-CN" sz="2400" dirty="0"/>
              <a:t>128.14.47.255</a:t>
            </a:r>
          </a:p>
          <a:p>
            <a:pPr lvl="1" algn="just">
              <a:lnSpc>
                <a:spcPct val="100000"/>
              </a:lnSpc>
            </a:pPr>
            <a:r>
              <a:rPr lang="zh-CN" altLang="en-US" sz="2400" dirty="0">
                <a:solidFill>
                  <a:srgbClr val="0000FF"/>
                </a:solidFill>
              </a:rPr>
              <a:t>全 </a:t>
            </a:r>
            <a:r>
              <a:rPr lang="en-US" altLang="zh-CN" sz="2400" dirty="0">
                <a:solidFill>
                  <a:srgbClr val="0000FF"/>
                </a:solidFill>
              </a:rPr>
              <a:t>0 </a:t>
            </a:r>
            <a:r>
              <a:rPr lang="zh-CN" altLang="en-US" sz="2400" dirty="0">
                <a:solidFill>
                  <a:srgbClr val="0000FF"/>
                </a:solidFill>
              </a:rPr>
              <a:t>和全 </a:t>
            </a:r>
            <a:r>
              <a:rPr lang="en-US" altLang="zh-CN" sz="2400" dirty="0">
                <a:solidFill>
                  <a:srgbClr val="0000FF"/>
                </a:solidFill>
              </a:rPr>
              <a:t>1 </a:t>
            </a:r>
            <a:r>
              <a:rPr lang="zh-CN" altLang="en-US" sz="2400" dirty="0">
                <a:solidFill>
                  <a:srgbClr val="0000FF"/>
                </a:solidFill>
              </a:rPr>
              <a:t>的主机号地址一般不使用。</a:t>
            </a:r>
          </a:p>
        </p:txBody>
      </p:sp>
    </p:spTree>
    <p:extLst>
      <p:ext uri="{BB962C8B-B14F-4D97-AF65-F5344CB8AC3E}">
        <p14:creationId xmlns:p14="http://schemas.microsoft.com/office/powerpoint/2010/main" val="2540084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4291">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4291">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4291">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24291">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4291">
                                            <p:txEl>
                                              <p:pRg st="5" end="5"/>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2429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9506" name="Rectangle 2"/>
          <p:cNvSpPr>
            <a:spLocks noGrp="1" noChangeArrowheads="1"/>
          </p:cNvSpPr>
          <p:nvPr>
            <p:ph type="title" idx="4294967295"/>
          </p:nvPr>
        </p:nvSpPr>
        <p:spPr>
          <a:xfrm>
            <a:off x="488504" y="44624"/>
            <a:ext cx="9066212" cy="648072"/>
          </a:xfrm>
          <a:solidFill>
            <a:srgbClr val="FFFF66"/>
          </a:solidFill>
          <a:ln>
            <a:solidFill>
              <a:srgbClr val="000099"/>
            </a:solidFill>
          </a:ln>
        </p:spPr>
        <p:txBody>
          <a:bodyPr/>
          <a:lstStyle/>
          <a:p>
            <a:pPr algn="ctr"/>
            <a:r>
              <a:rPr lang="en-US" altLang="zh-CN" sz="3600" dirty="0">
                <a:solidFill>
                  <a:srgbClr val="000099"/>
                </a:solidFill>
              </a:rPr>
              <a:t>128.14.32.0/20 </a:t>
            </a:r>
            <a:r>
              <a:rPr lang="zh-CN" altLang="en-US" sz="3600" dirty="0">
                <a:solidFill>
                  <a:srgbClr val="000099"/>
                </a:solidFill>
              </a:rPr>
              <a:t>表示的地址（</a:t>
            </a:r>
            <a:r>
              <a:rPr lang="en-US" altLang="zh-CN" sz="3600" dirty="0">
                <a:solidFill>
                  <a:srgbClr val="000099"/>
                </a:solidFill>
              </a:rPr>
              <a:t>2</a:t>
            </a:r>
            <a:r>
              <a:rPr lang="en-US" altLang="zh-CN" sz="3600" baseline="30000" dirty="0">
                <a:solidFill>
                  <a:srgbClr val="000099"/>
                </a:solidFill>
              </a:rPr>
              <a:t>12</a:t>
            </a:r>
            <a:r>
              <a:rPr lang="en-US" altLang="zh-CN" sz="3600" dirty="0">
                <a:solidFill>
                  <a:srgbClr val="000099"/>
                </a:solidFill>
              </a:rPr>
              <a:t> </a:t>
            </a:r>
            <a:r>
              <a:rPr lang="zh-CN" altLang="en-US" sz="3600" dirty="0">
                <a:solidFill>
                  <a:srgbClr val="000099"/>
                </a:solidFill>
              </a:rPr>
              <a:t>个地址）</a:t>
            </a:r>
          </a:p>
        </p:txBody>
      </p:sp>
      <p:sp>
        <p:nvSpPr>
          <p:cNvPr id="1429507" name="Text Box 3"/>
          <p:cNvSpPr txBox="1">
            <a:spLocks noChangeArrowheads="1"/>
          </p:cNvSpPr>
          <p:nvPr/>
        </p:nvSpPr>
        <p:spPr bwMode="auto">
          <a:xfrm>
            <a:off x="2221971" y="876300"/>
            <a:ext cx="6979501" cy="5693866"/>
          </a:xfrm>
          <a:prstGeom prst="rect">
            <a:avLst/>
          </a:prstGeom>
          <a:solidFill>
            <a:srgbClr val="CCFFFF"/>
          </a:solidFill>
          <a:ln w="9525">
            <a:solidFill>
              <a:schemeClr val="tx2"/>
            </a:solidFill>
            <a:miter lim="800000"/>
          </a:ln>
          <a:effectLst/>
        </p:spPr>
        <p:txBody>
          <a:bodyPr wrap="square">
            <a:spAutoFit/>
          </a:bodyPr>
          <a:lstStyle/>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00 00000000</a:t>
            </a:r>
          </a:p>
          <a:p>
            <a:r>
              <a:rPr lang="en-US" altLang="zh-CN" sz="2800" b="1" dirty="0">
                <a:solidFill>
                  <a:srgbClr val="FF0000"/>
                </a:solidFill>
                <a:latin typeface="+mn-lt"/>
                <a:ea typeface="黑体" panose="02010609060101010101" pitchFamily="2" charset="-122"/>
              </a:rPr>
              <a:t>10000000 00001110 001</a:t>
            </a:r>
            <a:r>
              <a:rPr kumimoji="0" lang="en-US" altLang="zh-CN" sz="2800" b="1" dirty="0">
                <a:solidFill>
                  <a:srgbClr val="FF0000"/>
                </a:solidFill>
                <a:latin typeface="+mn-lt"/>
                <a:ea typeface="黑体" panose="02010609060101010101" pitchFamily="2" charset="-122"/>
              </a:rPr>
              <a:t>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00 00000001</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00 00000010</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00 00000011</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00 00000100</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00</a:t>
            </a:r>
            <a:r>
              <a:rPr kumimoji="0" lang="en-US" altLang="zh-CN" sz="2800" b="1" dirty="0">
                <a:solidFill>
                  <a:srgbClr val="0000CC"/>
                </a:solidFill>
                <a:latin typeface="+mn-lt"/>
                <a:ea typeface="黑体" panose="02010609060101010101" pitchFamily="2" charset="-122"/>
              </a:rPr>
              <a:t>00 00000101</a:t>
            </a:r>
          </a:p>
          <a:p>
            <a:endParaRPr kumimoji="0" lang="en-US" altLang="zh-CN" sz="2800" b="1" dirty="0">
              <a:solidFill>
                <a:srgbClr val="0000CC"/>
              </a:solidFill>
              <a:latin typeface="+mn-lt"/>
              <a:ea typeface="黑体" panose="02010609060101010101" pitchFamily="2" charset="-122"/>
            </a:endParaRPr>
          </a:p>
          <a:p>
            <a:endParaRPr kumimoji="0" lang="en-US" altLang="zh-CN" sz="2800" b="1" dirty="0">
              <a:solidFill>
                <a:srgbClr val="0000CC"/>
              </a:solidFill>
              <a:latin typeface="+mn-lt"/>
              <a:ea typeface="黑体" panose="02010609060101010101" pitchFamily="2" charset="-122"/>
            </a:endParaRP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11</a:t>
            </a:r>
            <a:r>
              <a:rPr kumimoji="0" lang="en-US" altLang="zh-CN" sz="2800" b="1" dirty="0">
                <a:solidFill>
                  <a:srgbClr val="0000CC"/>
                </a:solidFill>
                <a:latin typeface="+mn-lt"/>
                <a:ea typeface="黑体" panose="02010609060101010101" pitchFamily="2" charset="-122"/>
              </a:rPr>
              <a:t>11 11111011</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11</a:t>
            </a:r>
            <a:r>
              <a:rPr kumimoji="0" lang="en-US" altLang="zh-CN" sz="2800" b="1" dirty="0">
                <a:solidFill>
                  <a:srgbClr val="0000CC"/>
                </a:solidFill>
                <a:latin typeface="+mn-lt"/>
                <a:ea typeface="黑体" panose="02010609060101010101" pitchFamily="2" charset="-122"/>
              </a:rPr>
              <a:t>11 11111100</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11</a:t>
            </a:r>
            <a:r>
              <a:rPr kumimoji="0" lang="en-US" altLang="zh-CN" sz="2800" b="1" dirty="0">
                <a:solidFill>
                  <a:srgbClr val="0000CC"/>
                </a:solidFill>
                <a:latin typeface="+mn-lt"/>
                <a:ea typeface="黑体" panose="02010609060101010101" pitchFamily="2" charset="-122"/>
              </a:rPr>
              <a:t>11 11111101</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11</a:t>
            </a:r>
            <a:r>
              <a:rPr kumimoji="0" lang="en-US" altLang="zh-CN" sz="2800" b="1" dirty="0">
                <a:solidFill>
                  <a:srgbClr val="0000CC"/>
                </a:solidFill>
                <a:latin typeface="+mn-lt"/>
                <a:ea typeface="黑体" panose="02010609060101010101" pitchFamily="2" charset="-122"/>
              </a:rPr>
              <a:t>11 11111110</a:t>
            </a:r>
          </a:p>
          <a:p>
            <a:r>
              <a:rPr kumimoji="0" lang="en-US" altLang="zh-CN" sz="2800" b="1" dirty="0">
                <a:solidFill>
                  <a:srgbClr val="FF0000"/>
                </a:solidFill>
                <a:latin typeface="+mn-lt"/>
                <a:ea typeface="黑体" panose="02010609060101010101" pitchFamily="2" charset="-122"/>
              </a:rPr>
              <a:t>10000000 00001110 0010</a:t>
            </a:r>
            <a:r>
              <a:rPr lang="en-US" altLang="zh-CN" sz="2800" b="1" dirty="0">
                <a:solidFill>
                  <a:srgbClr val="0000CC"/>
                </a:solidFill>
                <a:latin typeface="+mn-lt"/>
                <a:ea typeface="黑体" panose="02010609060101010101" pitchFamily="2" charset="-122"/>
              </a:rPr>
              <a:t>11</a:t>
            </a:r>
            <a:r>
              <a:rPr kumimoji="0" lang="en-US" altLang="zh-CN" sz="2800" b="1" dirty="0">
                <a:solidFill>
                  <a:srgbClr val="0000CC"/>
                </a:solidFill>
                <a:latin typeface="+mn-lt"/>
                <a:ea typeface="黑体" panose="02010609060101010101" pitchFamily="2" charset="-122"/>
              </a:rPr>
              <a:t>11 11111111</a:t>
            </a:r>
          </a:p>
        </p:txBody>
      </p:sp>
      <p:sp>
        <p:nvSpPr>
          <p:cNvPr id="1429508" name="Text Box 4"/>
          <p:cNvSpPr txBox="1">
            <a:spLocks noChangeArrowheads="1"/>
          </p:cNvSpPr>
          <p:nvPr/>
        </p:nvSpPr>
        <p:spPr bwMode="auto">
          <a:xfrm>
            <a:off x="7371027" y="3162300"/>
            <a:ext cx="87716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5400">
                <a:solidFill>
                  <a:srgbClr val="0000CC"/>
                </a:solidFill>
                <a:sym typeface="Symbol" panose="05050102010706020507" pitchFamily="18" charset="2"/>
              </a:rPr>
              <a:t></a:t>
            </a:r>
          </a:p>
        </p:txBody>
      </p:sp>
      <p:sp>
        <p:nvSpPr>
          <p:cNvPr id="1429509" name="Text Box 5"/>
          <p:cNvSpPr txBox="1">
            <a:spLocks noChangeArrowheads="1"/>
          </p:cNvSpPr>
          <p:nvPr/>
        </p:nvSpPr>
        <p:spPr bwMode="auto">
          <a:xfrm>
            <a:off x="4017433" y="3162300"/>
            <a:ext cx="87716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5400" dirty="0">
                <a:solidFill>
                  <a:srgbClr val="0000CC"/>
                </a:solidFill>
                <a:sym typeface="Symbol" panose="05050102010706020507" pitchFamily="18" charset="2"/>
              </a:rPr>
              <a:t></a:t>
            </a:r>
          </a:p>
        </p:txBody>
      </p:sp>
      <p:sp>
        <p:nvSpPr>
          <p:cNvPr id="1429510" name="Rectangle 6"/>
          <p:cNvSpPr>
            <a:spLocks noChangeArrowheads="1"/>
          </p:cNvSpPr>
          <p:nvPr/>
        </p:nvSpPr>
        <p:spPr bwMode="auto">
          <a:xfrm>
            <a:off x="2216696" y="908051"/>
            <a:ext cx="4201049" cy="5616575"/>
          </a:xfrm>
          <a:prstGeom prst="rect">
            <a:avLst/>
          </a:prstGeom>
          <a:noFill/>
          <a:ln w="28575">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29511" name="Text Box 7"/>
          <p:cNvSpPr txBox="1">
            <a:spLocks noChangeArrowheads="1"/>
          </p:cNvSpPr>
          <p:nvPr/>
        </p:nvSpPr>
        <p:spPr bwMode="auto">
          <a:xfrm>
            <a:off x="451723" y="2636912"/>
            <a:ext cx="1620957" cy="2074414"/>
          </a:xfrm>
          <a:prstGeom prst="rect">
            <a:avLst/>
          </a:prstGeom>
          <a:noFill/>
          <a:ln w="9525">
            <a:solidFill>
              <a:srgbClr val="333399"/>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5000"/>
              </a:lnSpc>
            </a:pPr>
            <a:r>
              <a:rPr kumimoji="0" lang="zh-CN" altLang="en-US" sz="2800" b="1">
                <a:solidFill>
                  <a:srgbClr val="0000CC"/>
                </a:solidFill>
                <a:latin typeface="+mn-lt"/>
                <a:ea typeface="黑体" panose="02010609060101010101" pitchFamily="2" charset="-122"/>
              </a:rPr>
              <a:t>所有地址</a:t>
            </a:r>
          </a:p>
          <a:p>
            <a:pPr algn="ctr">
              <a:lnSpc>
                <a:spcPct val="115000"/>
              </a:lnSpc>
            </a:pPr>
            <a:r>
              <a:rPr kumimoji="0" lang="zh-CN" altLang="en-US" sz="2800" b="1">
                <a:solidFill>
                  <a:srgbClr val="0000CC"/>
                </a:solidFill>
                <a:latin typeface="+mn-lt"/>
                <a:ea typeface="黑体" panose="02010609060101010101" pitchFamily="2" charset="-122"/>
              </a:rPr>
              <a:t>的 </a:t>
            </a:r>
            <a:r>
              <a:rPr kumimoji="0" lang="en-US" altLang="zh-CN" sz="2800" b="1">
                <a:solidFill>
                  <a:srgbClr val="0000CC"/>
                </a:solidFill>
                <a:latin typeface="+mn-lt"/>
                <a:ea typeface="黑体" panose="02010609060101010101" pitchFamily="2" charset="-122"/>
              </a:rPr>
              <a:t>20 </a:t>
            </a:r>
            <a:r>
              <a:rPr kumimoji="0" lang="zh-CN" altLang="en-US" sz="2800" b="1">
                <a:solidFill>
                  <a:srgbClr val="0000CC"/>
                </a:solidFill>
                <a:latin typeface="+mn-lt"/>
                <a:ea typeface="黑体" panose="02010609060101010101" pitchFamily="2" charset="-122"/>
              </a:rPr>
              <a:t>位</a:t>
            </a:r>
          </a:p>
          <a:p>
            <a:pPr algn="ctr">
              <a:lnSpc>
                <a:spcPct val="115000"/>
              </a:lnSpc>
            </a:pPr>
            <a:r>
              <a:rPr kumimoji="0" lang="zh-CN" altLang="en-US" sz="2800" b="1">
                <a:solidFill>
                  <a:srgbClr val="0000CC"/>
                </a:solidFill>
                <a:latin typeface="+mn-lt"/>
                <a:ea typeface="黑体" panose="02010609060101010101" pitchFamily="2" charset="-122"/>
              </a:rPr>
              <a:t>前缀都是</a:t>
            </a:r>
          </a:p>
          <a:p>
            <a:pPr algn="ctr">
              <a:lnSpc>
                <a:spcPct val="115000"/>
              </a:lnSpc>
            </a:pPr>
            <a:r>
              <a:rPr kumimoji="0" lang="zh-CN" altLang="en-US" sz="2800" b="1">
                <a:solidFill>
                  <a:srgbClr val="0000CC"/>
                </a:solidFill>
                <a:latin typeface="+mn-lt"/>
                <a:ea typeface="黑体" panose="02010609060101010101" pitchFamily="2" charset="-122"/>
              </a:rPr>
              <a:t>一样的</a:t>
            </a:r>
          </a:p>
        </p:txBody>
      </p:sp>
      <p:grpSp>
        <p:nvGrpSpPr>
          <p:cNvPr id="1429512" name="Group 8"/>
          <p:cNvGrpSpPr/>
          <p:nvPr/>
        </p:nvGrpSpPr>
        <p:grpSpPr bwMode="auto">
          <a:xfrm>
            <a:off x="272098" y="879475"/>
            <a:ext cx="1958844" cy="461962"/>
            <a:chOff x="251" y="554"/>
            <a:chExt cx="1139" cy="291"/>
          </a:xfrm>
        </p:grpSpPr>
        <p:sp>
          <p:nvSpPr>
            <p:cNvPr id="1429513" name="Text Box 9"/>
            <p:cNvSpPr txBox="1">
              <a:spLocks noChangeArrowheads="1"/>
            </p:cNvSpPr>
            <p:nvPr/>
          </p:nvSpPr>
          <p:spPr bwMode="auto">
            <a:xfrm>
              <a:off x="251" y="554"/>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400" b="1" dirty="0">
                  <a:solidFill>
                    <a:srgbClr val="C00000"/>
                  </a:solidFill>
                  <a:latin typeface="+mn-lt"/>
                  <a:ea typeface="黑体" panose="02010609060101010101" pitchFamily="2" charset="-122"/>
                </a:rPr>
                <a:t>最小地址</a:t>
              </a:r>
            </a:p>
          </p:txBody>
        </p:sp>
        <p:sp>
          <p:nvSpPr>
            <p:cNvPr id="1429514" name="AutoShape 10"/>
            <p:cNvSpPr>
              <a:spLocks noChangeArrowheads="1"/>
            </p:cNvSpPr>
            <p:nvPr/>
          </p:nvSpPr>
          <p:spPr bwMode="auto">
            <a:xfrm>
              <a:off x="1078" y="656"/>
              <a:ext cx="312" cy="110"/>
            </a:xfrm>
            <a:prstGeom prst="rightArrow">
              <a:avLst>
                <a:gd name="adj1" fmla="val 50000"/>
                <a:gd name="adj2" fmla="val 86364"/>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429515" name="Group 11"/>
          <p:cNvGrpSpPr/>
          <p:nvPr/>
        </p:nvGrpSpPr>
        <p:grpSpPr bwMode="auto">
          <a:xfrm>
            <a:off x="234262" y="6021387"/>
            <a:ext cx="1965723" cy="461962"/>
            <a:chOff x="229" y="3793"/>
            <a:chExt cx="1143" cy="291"/>
          </a:xfrm>
        </p:grpSpPr>
        <p:sp>
          <p:nvSpPr>
            <p:cNvPr id="1429516" name="Text Box 12"/>
            <p:cNvSpPr txBox="1">
              <a:spLocks noChangeArrowheads="1"/>
            </p:cNvSpPr>
            <p:nvPr/>
          </p:nvSpPr>
          <p:spPr bwMode="auto">
            <a:xfrm>
              <a:off x="229" y="3793"/>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400" b="1" dirty="0">
                  <a:solidFill>
                    <a:srgbClr val="C00000"/>
                  </a:solidFill>
                  <a:latin typeface="+mn-lt"/>
                  <a:ea typeface="黑体" panose="02010609060101010101" pitchFamily="2" charset="-122"/>
                </a:rPr>
                <a:t>最大地址</a:t>
              </a:r>
            </a:p>
          </p:txBody>
        </p:sp>
        <p:sp>
          <p:nvSpPr>
            <p:cNvPr id="1429517" name="AutoShape 13"/>
            <p:cNvSpPr>
              <a:spLocks noChangeArrowheads="1"/>
            </p:cNvSpPr>
            <p:nvPr/>
          </p:nvSpPr>
          <p:spPr bwMode="auto">
            <a:xfrm>
              <a:off x="1056" y="3899"/>
              <a:ext cx="316" cy="110"/>
            </a:xfrm>
            <a:prstGeom prst="rightArrow">
              <a:avLst>
                <a:gd name="adj1" fmla="val 50000"/>
                <a:gd name="adj2" fmla="val 86364"/>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extLst>
      <p:ext uri="{BB962C8B-B14F-4D97-AF65-F5344CB8AC3E}">
        <p14:creationId xmlns:p14="http://schemas.microsoft.com/office/powerpoint/2010/main" val="302767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295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9511"/>
                                        </p:tgtEl>
                                        <p:attrNameLst>
                                          <p:attrName>style.visibility</p:attrName>
                                        </p:attrNameLst>
                                      </p:cBhvr>
                                      <p:to>
                                        <p:strVal val="visible"/>
                                      </p:to>
                                    </p:set>
                                  </p:childTnLst>
                                </p:cTn>
                              </p:par>
                            </p:childTnLst>
                          </p:cTn>
                        </p:par>
                        <p:par>
                          <p:cTn id="9" fill="hold">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1429510"/>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1429511"/>
                                        </p:tgtEl>
                                        <p:attrNameLst>
                                          <p:attrName>style.visibility</p:attrName>
                                        </p:attrNameLst>
                                      </p:cBhvr>
                                      <p:tavLst>
                                        <p:tav tm="0">
                                          <p:val>
                                            <p:strVal val="hidden"/>
                                          </p:val>
                                        </p:tav>
                                        <p:tav tm="50000">
                                          <p:val>
                                            <p:strVal val="visible"/>
                                          </p:val>
                                        </p:tav>
                                      </p:tavLst>
                                    </p:anim>
                                  </p:childTnLst>
                                </p:cTn>
                              </p:par>
                            </p:childTnLst>
                          </p:cTn>
                        </p:par>
                        <p:par>
                          <p:cTn id="14" fill="hold">
                            <p:stCondLst>
                              <p:cond delay="1500"/>
                            </p:stCondLst>
                            <p:childTnLst>
                              <p:par>
                                <p:cTn id="15" presetID="1" presetClass="exit" presetSubtype="0" fill="hold" grpId="2" nodeType="afterEffect">
                                  <p:stCondLst>
                                    <p:cond delay="500"/>
                                  </p:stCondLst>
                                  <p:childTnLst>
                                    <p:set>
                                      <p:cBhvr>
                                        <p:cTn id="16" dur="1" fill="hold">
                                          <p:stCondLst>
                                            <p:cond delay="0"/>
                                          </p:stCondLst>
                                        </p:cTn>
                                        <p:tgtEl>
                                          <p:spTgt spid="1429510"/>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4295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4295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9510" grpId="0" animBg="1"/>
      <p:bldP spid="1429510" grpId="1" animBg="1"/>
      <p:bldP spid="1429510" grpId="2" animBg="1"/>
      <p:bldP spid="1429511" grpId="0" animBg="1"/>
      <p:bldP spid="1429511" grpId="1"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9" name="Rectangle 3"/>
          <p:cNvSpPr>
            <a:spLocks noGrp="1" noChangeArrowheads="1"/>
          </p:cNvSpPr>
          <p:nvPr>
            <p:ph type="title"/>
          </p:nvPr>
        </p:nvSpPr>
        <p:spPr/>
        <p:txBody>
          <a:bodyPr/>
          <a:lstStyle/>
          <a:p>
            <a:pPr algn="ctr"/>
            <a:r>
              <a:rPr lang="zh-CN" altLang="en-US" dirty="0"/>
              <a:t>路由聚合 </a:t>
            </a:r>
            <a:r>
              <a:rPr lang="en-US" altLang="zh-CN" dirty="0"/>
              <a:t>(route aggregation) </a:t>
            </a:r>
          </a:p>
        </p:txBody>
      </p:sp>
      <p:sp>
        <p:nvSpPr>
          <p:cNvPr id="526338" name="Rectangle 2"/>
          <p:cNvSpPr>
            <a:spLocks noGrp="1" noChangeArrowheads="1"/>
          </p:cNvSpPr>
          <p:nvPr>
            <p:ph idx="1"/>
          </p:nvPr>
        </p:nvSpPr>
        <p:spPr/>
        <p:txBody>
          <a:bodyPr/>
          <a:lstStyle/>
          <a:p>
            <a:pPr marL="360680" indent="-360680" algn="just"/>
            <a:r>
              <a:rPr lang="zh-CN" altLang="en-US" sz="2800" dirty="0"/>
              <a:t>一个 </a:t>
            </a:r>
            <a:r>
              <a:rPr lang="en-US" altLang="zh-CN" sz="2800" dirty="0"/>
              <a:t>CIDR </a:t>
            </a:r>
            <a:r>
              <a:rPr lang="zh-CN" altLang="en-US" sz="2800" dirty="0"/>
              <a:t>地址块可以表示很多地址，这种地址的聚合常称为</a:t>
            </a:r>
            <a:r>
              <a:rPr lang="zh-CN" altLang="en-US" sz="2800" dirty="0">
                <a:solidFill>
                  <a:srgbClr val="FF0000"/>
                </a:solidFill>
              </a:rPr>
              <a:t>路由聚合</a:t>
            </a:r>
            <a:r>
              <a:rPr lang="zh-CN" altLang="en-US" sz="2800" dirty="0"/>
              <a:t>，它使得路由表中的一个项目可以表示很多个（例如上千个）原来传统分类地址的路由。</a:t>
            </a:r>
            <a:endParaRPr lang="en-US" altLang="zh-CN" sz="2800" dirty="0"/>
          </a:p>
          <a:p>
            <a:pPr marL="360680" indent="-360680" algn="just"/>
            <a:r>
              <a:rPr lang="zh-CN" altLang="zh-CN" sz="2800" dirty="0"/>
              <a:t>路由聚合有利于</a:t>
            </a:r>
            <a:r>
              <a:rPr lang="zh-CN" altLang="zh-CN" sz="2800" dirty="0">
                <a:solidFill>
                  <a:srgbClr val="FF0000"/>
                </a:solidFill>
              </a:rPr>
              <a:t>减少</a:t>
            </a:r>
            <a:r>
              <a:rPr lang="zh-CN" altLang="zh-CN" sz="2800" dirty="0"/>
              <a:t>路由器之间的路由选择信息的交换，从而提高了整个互联网的性能。</a:t>
            </a:r>
            <a:endParaRPr lang="zh-CN" altLang="en-US" sz="2800" dirty="0"/>
          </a:p>
          <a:p>
            <a:pPr marL="360680" indent="-360680" algn="just"/>
            <a:r>
              <a:rPr lang="zh-CN" altLang="en-US" sz="2800" dirty="0">
                <a:solidFill>
                  <a:srgbClr val="0000FF"/>
                </a:solidFill>
              </a:rPr>
              <a:t>路由聚合也称为</a:t>
            </a:r>
            <a:r>
              <a:rPr lang="zh-CN" altLang="en-US" sz="2800" dirty="0">
                <a:solidFill>
                  <a:srgbClr val="FF0000"/>
                </a:solidFill>
              </a:rPr>
              <a:t>构成超网 </a:t>
            </a:r>
            <a:r>
              <a:rPr lang="en-US" altLang="zh-CN" sz="2800" dirty="0">
                <a:solidFill>
                  <a:srgbClr val="0000FF"/>
                </a:solidFill>
              </a:rPr>
              <a:t>(</a:t>
            </a:r>
            <a:r>
              <a:rPr lang="en-US" altLang="zh-CN" sz="2800" dirty="0" err="1">
                <a:solidFill>
                  <a:srgbClr val="0000FF"/>
                </a:solidFill>
              </a:rPr>
              <a:t>supernetting</a:t>
            </a:r>
            <a:r>
              <a:rPr lang="en-US" altLang="zh-CN" sz="2800" dirty="0">
                <a:solidFill>
                  <a:srgbClr val="0000FF"/>
                </a:solidFill>
              </a:rPr>
              <a:t>)</a:t>
            </a:r>
            <a:r>
              <a:rPr lang="zh-CN" altLang="en-US" sz="2800" dirty="0">
                <a:solidFill>
                  <a:srgbClr val="0000FF"/>
                </a:solidFill>
              </a:rPr>
              <a:t>。</a:t>
            </a:r>
          </a:p>
          <a:p>
            <a:pPr marL="360680" indent="-360680" algn="just"/>
            <a:r>
              <a:rPr lang="en-US" altLang="zh-CN" sz="2800" dirty="0"/>
              <a:t>CIDR </a:t>
            </a:r>
            <a:r>
              <a:rPr lang="zh-CN" altLang="en-US" sz="2800" dirty="0"/>
              <a:t>虽然不使用子网了，但仍然使用“</a:t>
            </a:r>
            <a:r>
              <a:rPr lang="zh-CN" altLang="en-US" sz="2800" dirty="0">
                <a:solidFill>
                  <a:srgbClr val="FF0000"/>
                </a:solidFill>
              </a:rPr>
              <a:t>掩码</a:t>
            </a:r>
            <a:r>
              <a:rPr lang="zh-CN" altLang="en-US" sz="2800" dirty="0"/>
              <a:t>”这一名词（但不叫子网掩码）。</a:t>
            </a:r>
          </a:p>
          <a:p>
            <a:pPr marL="360680" indent="-360680" algn="just"/>
            <a:r>
              <a:rPr lang="zh-CN" altLang="en-US" sz="2800" dirty="0"/>
              <a:t>对于</a:t>
            </a:r>
            <a:r>
              <a:rPr lang="zh-CN" altLang="en-US" sz="1400" dirty="0"/>
              <a:t> </a:t>
            </a:r>
            <a:r>
              <a:rPr lang="en-US" altLang="zh-CN" sz="2800" dirty="0">
                <a:solidFill>
                  <a:srgbClr val="FF0000"/>
                </a:solidFill>
              </a:rPr>
              <a:t>/20</a:t>
            </a:r>
            <a:r>
              <a:rPr lang="en-US" altLang="zh-CN" sz="700" dirty="0">
                <a:solidFill>
                  <a:srgbClr val="FF0000"/>
                </a:solidFill>
              </a:rPr>
              <a:t>  </a:t>
            </a:r>
            <a:r>
              <a:rPr lang="zh-CN" altLang="en-US" sz="2800" dirty="0"/>
              <a:t>地址块，它的掩码是</a:t>
            </a:r>
            <a:r>
              <a:rPr lang="zh-CN" altLang="en-US" sz="1400" dirty="0"/>
              <a:t> </a:t>
            </a:r>
            <a:r>
              <a:rPr lang="en-US" altLang="zh-CN" sz="2800" dirty="0"/>
              <a:t>20</a:t>
            </a:r>
            <a:r>
              <a:rPr lang="en-US" altLang="zh-CN" sz="900" dirty="0"/>
              <a:t> </a:t>
            </a:r>
            <a:r>
              <a:rPr lang="zh-CN" altLang="en-US" sz="2800" dirty="0"/>
              <a:t>个连续的 </a:t>
            </a:r>
            <a:r>
              <a:rPr lang="en-US" altLang="zh-CN" sz="2800" dirty="0"/>
              <a:t>1</a:t>
            </a:r>
            <a:r>
              <a:rPr lang="zh-CN" altLang="en-US" sz="2800" dirty="0"/>
              <a:t>。 斜线记法中的数字就是掩码中</a:t>
            </a:r>
            <a:r>
              <a:rPr lang="en-US" altLang="zh-CN" sz="2800" dirty="0"/>
              <a:t>1</a:t>
            </a:r>
            <a:r>
              <a:rPr lang="zh-CN" altLang="en-US" sz="2800" dirty="0"/>
              <a:t>的个数。    </a:t>
            </a:r>
          </a:p>
        </p:txBody>
      </p:sp>
    </p:spTree>
    <p:extLst>
      <p:ext uri="{BB962C8B-B14F-4D97-AF65-F5344CB8AC3E}">
        <p14:creationId xmlns:p14="http://schemas.microsoft.com/office/powerpoint/2010/main" val="500320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26338">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2633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Rectangle 2"/>
          <p:cNvSpPr>
            <a:spLocks noGrp="1" noChangeArrowheads="1"/>
          </p:cNvSpPr>
          <p:nvPr>
            <p:ph type="title"/>
          </p:nvPr>
        </p:nvSpPr>
        <p:spPr/>
        <p:txBody>
          <a:bodyPr/>
          <a:lstStyle/>
          <a:p>
            <a:pPr algn="ctr"/>
            <a:r>
              <a:rPr lang="en-US" altLang="zh-CN"/>
              <a:t>CIDR </a:t>
            </a:r>
            <a:r>
              <a:rPr lang="zh-CN" altLang="en-US"/>
              <a:t>记法的其他形式 </a:t>
            </a:r>
          </a:p>
        </p:txBody>
      </p:sp>
      <p:sp>
        <p:nvSpPr>
          <p:cNvPr id="527363" name="Rectangle 3"/>
          <p:cNvSpPr>
            <a:spLocks noGrp="1" noChangeArrowheads="1"/>
          </p:cNvSpPr>
          <p:nvPr>
            <p:ph idx="1"/>
          </p:nvPr>
        </p:nvSpPr>
        <p:spPr/>
        <p:txBody>
          <a:bodyPr/>
          <a:lstStyle/>
          <a:p>
            <a:pPr algn="just"/>
            <a:r>
              <a:rPr lang="en-US" altLang="zh-CN" sz="2800" dirty="0"/>
              <a:t>10.0.0.0/10 </a:t>
            </a:r>
            <a:r>
              <a:rPr lang="zh-CN" altLang="en-US" sz="2800" dirty="0"/>
              <a:t>可</a:t>
            </a:r>
            <a:r>
              <a:rPr lang="zh-CN" altLang="en-US" sz="2800" dirty="0">
                <a:solidFill>
                  <a:srgbClr val="FF0000"/>
                </a:solidFill>
              </a:rPr>
              <a:t>简写</a:t>
            </a:r>
            <a:r>
              <a:rPr lang="zh-CN" altLang="en-US" sz="2800" dirty="0"/>
              <a:t>为 </a:t>
            </a:r>
            <a:r>
              <a:rPr lang="en-US" altLang="zh-CN" sz="2800" dirty="0"/>
              <a:t>10/10</a:t>
            </a:r>
            <a:r>
              <a:rPr lang="zh-CN" altLang="en-US" sz="2800" dirty="0"/>
              <a:t>，也就是把点分十进制中低位连续的 </a:t>
            </a:r>
            <a:r>
              <a:rPr lang="en-US" altLang="zh-CN" sz="2800" dirty="0"/>
              <a:t>0 </a:t>
            </a:r>
            <a:r>
              <a:rPr lang="zh-CN" altLang="en-US" sz="2800" dirty="0"/>
              <a:t>省略。</a:t>
            </a:r>
          </a:p>
          <a:p>
            <a:pPr algn="just"/>
            <a:r>
              <a:rPr lang="en-US" altLang="zh-CN" sz="2800" dirty="0"/>
              <a:t>10.0.0.0/10 </a:t>
            </a:r>
            <a:r>
              <a:rPr lang="zh-CN" altLang="en-US" sz="2800" dirty="0"/>
              <a:t>隐含地指出 </a:t>
            </a:r>
            <a:r>
              <a:rPr lang="en-US" altLang="zh-CN" sz="2800" dirty="0"/>
              <a:t>IP </a:t>
            </a:r>
            <a:r>
              <a:rPr lang="zh-CN" altLang="en-US" sz="2800" dirty="0"/>
              <a:t>地址 </a:t>
            </a:r>
            <a:r>
              <a:rPr lang="en-US" altLang="zh-CN" sz="2800" dirty="0"/>
              <a:t>10.0.0.0 </a:t>
            </a:r>
            <a:r>
              <a:rPr lang="zh-CN" altLang="en-US" sz="2800" dirty="0"/>
              <a:t>的</a:t>
            </a:r>
            <a:r>
              <a:rPr lang="zh-CN" altLang="en-US" sz="2800" dirty="0">
                <a:solidFill>
                  <a:srgbClr val="FF0000"/>
                </a:solidFill>
              </a:rPr>
              <a:t>掩码</a:t>
            </a:r>
            <a:r>
              <a:rPr lang="zh-CN" altLang="en-US" sz="2800" dirty="0"/>
              <a:t>是 </a:t>
            </a:r>
            <a:r>
              <a:rPr lang="en-US" altLang="zh-CN" sz="2800" dirty="0"/>
              <a:t>255.192.0.0</a:t>
            </a:r>
            <a:r>
              <a:rPr lang="zh-CN" altLang="en-US" sz="2800" dirty="0"/>
              <a:t>。此掩码可表示为：</a:t>
            </a:r>
            <a:endParaRPr lang="en-US" altLang="zh-CN" sz="2800" dirty="0"/>
          </a:p>
          <a:p>
            <a:pPr algn="just"/>
            <a:endParaRPr lang="en-US" altLang="zh-CN" sz="2800" dirty="0"/>
          </a:p>
          <a:p>
            <a:pPr algn="just"/>
            <a:endParaRPr lang="en-US" altLang="zh-CN" sz="2800" dirty="0"/>
          </a:p>
          <a:p>
            <a:pPr algn="just"/>
            <a:endParaRPr lang="en-US" altLang="zh-CN" sz="2800" dirty="0"/>
          </a:p>
          <a:p>
            <a:r>
              <a:rPr lang="zh-CN" altLang="en-US" sz="2800" dirty="0"/>
              <a:t>网络前缀的后面加一个</a:t>
            </a:r>
            <a:r>
              <a:rPr lang="zh-CN" altLang="en-US" sz="2800" dirty="0">
                <a:solidFill>
                  <a:srgbClr val="FF0000"/>
                </a:solidFill>
              </a:rPr>
              <a:t>星号</a:t>
            </a:r>
            <a:r>
              <a:rPr lang="zh-CN" altLang="en-US" sz="2800" dirty="0"/>
              <a:t> * 的表示方法，如 </a:t>
            </a:r>
            <a:r>
              <a:rPr lang="en-US" altLang="zh-CN" sz="2800" dirty="0"/>
              <a:t>00001010 00*</a:t>
            </a:r>
            <a:r>
              <a:rPr lang="zh-CN" altLang="en-US" sz="2800" dirty="0"/>
              <a:t>，在星号 * 之前是网络前缀，而星号 * 表示 </a:t>
            </a:r>
            <a:r>
              <a:rPr lang="en-US" altLang="zh-CN" sz="2800" dirty="0"/>
              <a:t>IP </a:t>
            </a:r>
            <a:r>
              <a:rPr lang="zh-CN" altLang="en-US" sz="2800" dirty="0"/>
              <a:t>地址中的主机号，可以是任意值。  </a:t>
            </a:r>
            <a:endParaRPr lang="en-US" altLang="zh-CN" dirty="0"/>
          </a:p>
        </p:txBody>
      </p:sp>
      <p:grpSp>
        <p:nvGrpSpPr>
          <p:cNvPr id="527364" name="Group 4"/>
          <p:cNvGrpSpPr/>
          <p:nvPr/>
        </p:nvGrpSpPr>
        <p:grpSpPr bwMode="auto">
          <a:xfrm>
            <a:off x="1407050" y="3789038"/>
            <a:ext cx="7432607" cy="606426"/>
            <a:chOff x="994" y="2659"/>
            <a:chExt cx="4026" cy="382"/>
          </a:xfrm>
        </p:grpSpPr>
        <p:sp>
          <p:nvSpPr>
            <p:cNvPr id="527365" name="AutoShape 5"/>
            <p:cNvSpPr/>
            <p:nvPr/>
          </p:nvSpPr>
          <p:spPr bwMode="auto">
            <a:xfrm rot="16200000">
              <a:off x="1403" y="2250"/>
              <a:ext cx="136" cy="953"/>
            </a:xfrm>
            <a:prstGeom prst="leftBrace">
              <a:avLst>
                <a:gd name="adj1" fmla="val 58395"/>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anose="02010609060101010101" pitchFamily="2" charset="-122"/>
              </a:endParaRPr>
            </a:p>
          </p:txBody>
        </p:sp>
        <p:sp>
          <p:nvSpPr>
            <p:cNvPr id="527366" name="AutoShape 6"/>
            <p:cNvSpPr/>
            <p:nvPr/>
          </p:nvSpPr>
          <p:spPr bwMode="auto">
            <a:xfrm rot="16200000">
              <a:off x="2437" y="2278"/>
              <a:ext cx="136" cy="897"/>
            </a:xfrm>
            <a:prstGeom prst="leftBrace">
              <a:avLst>
                <a:gd name="adj1" fmla="val 58395"/>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anose="02010609060101010101" pitchFamily="2" charset="-122"/>
              </a:endParaRPr>
            </a:p>
          </p:txBody>
        </p:sp>
        <p:sp>
          <p:nvSpPr>
            <p:cNvPr id="527367" name="AutoShape 7"/>
            <p:cNvSpPr/>
            <p:nvPr/>
          </p:nvSpPr>
          <p:spPr bwMode="auto">
            <a:xfrm rot="16200000">
              <a:off x="3423" y="2250"/>
              <a:ext cx="136" cy="953"/>
            </a:xfrm>
            <a:prstGeom prst="leftBrace">
              <a:avLst>
                <a:gd name="adj1" fmla="val 58395"/>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anose="02010609060101010101" pitchFamily="2" charset="-122"/>
              </a:endParaRPr>
            </a:p>
          </p:txBody>
        </p:sp>
        <p:sp>
          <p:nvSpPr>
            <p:cNvPr id="527368" name="AutoShape 8"/>
            <p:cNvSpPr/>
            <p:nvPr/>
          </p:nvSpPr>
          <p:spPr bwMode="auto">
            <a:xfrm rot="16200000">
              <a:off x="4476" y="2250"/>
              <a:ext cx="136" cy="953"/>
            </a:xfrm>
            <a:prstGeom prst="leftBrace">
              <a:avLst>
                <a:gd name="adj1" fmla="val 58395"/>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anose="02010609060101010101" pitchFamily="2" charset="-122"/>
              </a:endParaRPr>
            </a:p>
          </p:txBody>
        </p:sp>
        <p:sp>
          <p:nvSpPr>
            <p:cNvPr id="527369" name="Text Box 9"/>
            <p:cNvSpPr txBox="1">
              <a:spLocks noChangeArrowheads="1"/>
            </p:cNvSpPr>
            <p:nvPr/>
          </p:nvSpPr>
          <p:spPr bwMode="auto">
            <a:xfrm>
              <a:off x="1254" y="2750"/>
              <a:ext cx="37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anose="02010609060101010101" pitchFamily="2" charset="-122"/>
                </a:rPr>
                <a:t>255</a:t>
              </a:r>
            </a:p>
          </p:txBody>
        </p:sp>
        <p:sp>
          <p:nvSpPr>
            <p:cNvPr id="527370" name="Text Box 10"/>
            <p:cNvSpPr txBox="1">
              <a:spLocks noChangeArrowheads="1"/>
            </p:cNvSpPr>
            <p:nvPr/>
          </p:nvSpPr>
          <p:spPr bwMode="auto">
            <a:xfrm>
              <a:off x="2291" y="2750"/>
              <a:ext cx="37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anose="02010609060101010101" pitchFamily="2" charset="-122"/>
                </a:rPr>
                <a:t>192</a:t>
              </a:r>
            </a:p>
          </p:txBody>
        </p:sp>
        <p:sp>
          <p:nvSpPr>
            <p:cNvPr id="527371" name="Text Box 11"/>
            <p:cNvSpPr txBox="1">
              <a:spLocks noChangeArrowheads="1"/>
            </p:cNvSpPr>
            <p:nvPr/>
          </p:nvSpPr>
          <p:spPr bwMode="auto">
            <a:xfrm>
              <a:off x="3383" y="2750"/>
              <a:ext cx="19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anose="02010609060101010101" pitchFamily="2" charset="-122"/>
                </a:rPr>
                <a:t>0</a:t>
              </a:r>
            </a:p>
          </p:txBody>
        </p:sp>
        <p:sp>
          <p:nvSpPr>
            <p:cNvPr id="527372" name="Text Box 12"/>
            <p:cNvSpPr txBox="1">
              <a:spLocks noChangeArrowheads="1"/>
            </p:cNvSpPr>
            <p:nvPr/>
          </p:nvSpPr>
          <p:spPr bwMode="auto">
            <a:xfrm>
              <a:off x="4436" y="2750"/>
              <a:ext cx="19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anose="02010609060101010101" pitchFamily="2" charset="-122"/>
                </a:rPr>
                <a:t>0</a:t>
              </a:r>
            </a:p>
          </p:txBody>
        </p:sp>
      </p:grpSp>
      <p:grpSp>
        <p:nvGrpSpPr>
          <p:cNvPr id="527373" name="Group 13"/>
          <p:cNvGrpSpPr/>
          <p:nvPr/>
        </p:nvGrpSpPr>
        <p:grpSpPr bwMode="auto">
          <a:xfrm>
            <a:off x="1406126" y="2637435"/>
            <a:ext cx="3473990" cy="2159001"/>
            <a:chOff x="1126" y="1435"/>
            <a:chExt cx="1889" cy="1360"/>
          </a:xfrm>
        </p:grpSpPr>
        <p:grpSp>
          <p:nvGrpSpPr>
            <p:cNvPr id="527374" name="Group 14"/>
            <p:cNvGrpSpPr/>
            <p:nvPr/>
          </p:nvGrpSpPr>
          <p:grpSpPr bwMode="auto">
            <a:xfrm>
              <a:off x="1126" y="1435"/>
              <a:ext cx="1224" cy="725"/>
              <a:chOff x="1126" y="1435"/>
              <a:chExt cx="1224" cy="725"/>
            </a:xfrm>
          </p:grpSpPr>
          <p:sp>
            <p:nvSpPr>
              <p:cNvPr id="527375" name="Rectangle 15"/>
              <p:cNvSpPr>
                <a:spLocks noChangeArrowheads="1"/>
              </p:cNvSpPr>
              <p:nvPr/>
            </p:nvSpPr>
            <p:spPr bwMode="auto">
              <a:xfrm>
                <a:off x="1126" y="1843"/>
                <a:ext cx="1224" cy="317"/>
              </a:xfrm>
              <a:prstGeom prst="rect">
                <a:avLst/>
              </a:prstGeom>
              <a:noFill/>
              <a:ln w="381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7376" name="Line 16"/>
              <p:cNvSpPr>
                <a:spLocks noChangeShapeType="1"/>
              </p:cNvSpPr>
              <p:nvPr/>
            </p:nvSpPr>
            <p:spPr bwMode="auto">
              <a:xfrm>
                <a:off x="1606" y="1435"/>
                <a:ext cx="272" cy="0"/>
              </a:xfrm>
              <a:prstGeom prst="line">
                <a:avLst/>
              </a:prstGeom>
              <a:noFill/>
              <a:ln w="381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27377" name="Text Box 17"/>
            <p:cNvSpPr txBox="1">
              <a:spLocks noChangeArrowheads="1"/>
            </p:cNvSpPr>
            <p:nvPr/>
          </p:nvSpPr>
          <p:spPr bwMode="auto">
            <a:xfrm>
              <a:off x="1150" y="2504"/>
              <a:ext cx="1865" cy="291"/>
            </a:xfrm>
            <a:prstGeom prst="rect">
              <a:avLst/>
            </a:prstGeom>
            <a:solidFill>
              <a:srgbClr val="FFFF66"/>
            </a:solidFill>
            <a:ln w="19050">
              <a:solidFill>
                <a:srgbClr val="0000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anose="02010609060101010101" pitchFamily="2" charset="-122"/>
                </a:rPr>
                <a:t>掩码中有 </a:t>
              </a:r>
              <a:r>
                <a:rPr lang="en-US" altLang="zh-CN" sz="2400" b="1" dirty="0">
                  <a:solidFill>
                    <a:srgbClr val="000099"/>
                  </a:solidFill>
                  <a:latin typeface="+mn-lt"/>
                  <a:ea typeface="黑体" panose="02010609060101010101" pitchFamily="2" charset="-122"/>
                </a:rPr>
                <a:t>10 </a:t>
              </a:r>
              <a:r>
                <a:rPr lang="zh-CN" altLang="en-US" sz="2400" b="1" dirty="0">
                  <a:solidFill>
                    <a:srgbClr val="000099"/>
                  </a:solidFill>
                  <a:latin typeface="+mn-lt"/>
                  <a:ea typeface="黑体" panose="02010609060101010101" pitchFamily="2" charset="-122"/>
                </a:rPr>
                <a:t>个连续的 </a:t>
              </a:r>
              <a:r>
                <a:rPr lang="en-US" altLang="zh-CN" sz="2400" b="1" dirty="0">
                  <a:solidFill>
                    <a:srgbClr val="000099"/>
                  </a:solidFill>
                  <a:latin typeface="+mn-lt"/>
                  <a:ea typeface="黑体" panose="02010609060101010101" pitchFamily="2" charset="-122"/>
                </a:rPr>
                <a:t>1</a:t>
              </a:r>
            </a:p>
          </p:txBody>
        </p:sp>
      </p:grpSp>
      <p:sp>
        <p:nvSpPr>
          <p:cNvPr id="20" name="Text Box 7"/>
          <p:cNvSpPr txBox="1">
            <a:spLocks noChangeArrowheads="1"/>
          </p:cNvSpPr>
          <p:nvPr/>
        </p:nvSpPr>
        <p:spPr bwMode="auto">
          <a:xfrm>
            <a:off x="1356372" y="3284984"/>
            <a:ext cx="762907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3200" b="1" dirty="0">
                <a:latin typeface="+mn-lt"/>
                <a:ea typeface="黑体" panose="02010609060101010101" pitchFamily="2" charset="-122"/>
              </a:rPr>
              <a:t>11111111 11000000 00000000 00000000</a:t>
            </a:r>
          </a:p>
        </p:txBody>
      </p:sp>
    </p:spTree>
    <p:extLst>
      <p:ext uri="{BB962C8B-B14F-4D97-AF65-F5344CB8AC3E}">
        <p14:creationId xmlns:p14="http://schemas.microsoft.com/office/powerpoint/2010/main" val="337295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7363">
                                            <p:txEl>
                                              <p:pRg st="5" end="5"/>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52736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repeatCount="3000" fill="hold" nodeType="clickEffect">
                                  <p:stCondLst>
                                    <p:cond delay="0"/>
                                  </p:stCondLst>
                                  <p:childTnLst>
                                    <p:set>
                                      <p:cBhvr>
                                        <p:cTn id="17" dur="1" fill="hold">
                                          <p:stCondLst>
                                            <p:cond delay="0"/>
                                          </p:stCondLst>
                                        </p:cTn>
                                        <p:tgtEl>
                                          <p:spTgt spid="527373"/>
                                        </p:tgtEl>
                                        <p:attrNameLst>
                                          <p:attrName>style.visibility</p:attrName>
                                        </p:attrNameLst>
                                      </p:cBhvr>
                                      <p:to>
                                        <p:strVal val="visible"/>
                                      </p:to>
                                    </p:set>
                                  </p:childTnLst>
                                </p:cTn>
                              </p:par>
                            </p:childTnLst>
                          </p:cTn>
                        </p:par>
                        <p:par>
                          <p:cTn id="18" fill="hold">
                            <p:stCondLst>
                              <p:cond delay="0"/>
                            </p:stCondLst>
                            <p:childTnLst>
                              <p:par>
                                <p:cTn id="19" presetID="35" presetClass="emph" presetSubtype="0" repeatCount="3000" fill="hold" nodeType="afterEffect">
                                  <p:stCondLst>
                                    <p:cond delay="500"/>
                                  </p:stCondLst>
                                  <p:childTnLst>
                                    <p:anim calcmode="discrete" valueType="str">
                                      <p:cBhvr>
                                        <p:cTn id="20"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560512" y="836712"/>
          <a:ext cx="9145015" cy="5400603"/>
        </p:xfrm>
        <a:graphic>
          <a:graphicData uri="http://schemas.openxmlformats.org/drawingml/2006/table">
            <a:tbl>
              <a:tblPr>
                <a:tableStyleId>{5C22544A-7EE6-4342-B048-85BDC9FD1C3A}</a:tableStyleId>
              </a:tblPr>
              <a:tblGrid>
                <a:gridCol w="1872208">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016224">
                  <a:extLst>
                    <a:ext uri="{9D8B030D-6E8A-4147-A177-3AD203B41FA5}">
                      <a16:colId xmlns:a16="http://schemas.microsoft.com/office/drawing/2014/main" val="20002"/>
                    </a:ext>
                  </a:extLst>
                </a:gridCol>
                <a:gridCol w="3024335">
                  <a:extLst>
                    <a:ext uri="{9D8B030D-6E8A-4147-A177-3AD203B41FA5}">
                      <a16:colId xmlns:a16="http://schemas.microsoft.com/office/drawing/2014/main" val="20003"/>
                    </a:ext>
                  </a:extLst>
                </a:gridCol>
              </a:tblGrid>
              <a:tr h="536283">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CIDR </a:t>
                      </a:r>
                      <a:r>
                        <a:rPr lang="zh-CN" sz="2000" b="1" dirty="0">
                          <a:solidFill>
                            <a:schemeClr val="tx1"/>
                          </a:solidFill>
                          <a:effectLst/>
                          <a:latin typeface="+mn-lt"/>
                          <a:ea typeface="黑体" panose="02010609060101010101" pitchFamily="2" charset="-122"/>
                        </a:rPr>
                        <a:t>前缀长度</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点分十进制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包含的地址数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相当于包含分类的网络数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24288">
                <a:tc>
                  <a:txBody>
                    <a:bodyPr/>
                    <a:lstStyle/>
                    <a:p>
                      <a:pPr algn="ctr">
                        <a:lnSpc>
                          <a:spcPct val="100000"/>
                        </a:lnSpc>
                        <a:spcAft>
                          <a:spcPts val="0"/>
                        </a:spcAft>
                        <a:tabLst>
                          <a:tab pos="2637155" algn="ctr"/>
                          <a:tab pos="5274310" algn="r"/>
                          <a:tab pos="266700" algn="l"/>
                        </a:tabLst>
                      </a:pPr>
                      <a:r>
                        <a:rPr lang="en-US" sz="2000" b="1">
                          <a:solidFill>
                            <a:schemeClr val="tx1"/>
                          </a:solidFill>
                          <a:effectLst/>
                          <a:latin typeface="+mn-lt"/>
                          <a:ea typeface="黑体" panose="02010609060101010101" pitchFamily="2" charset="-122"/>
                        </a:rPr>
                        <a:t>/13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255.248.0.0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512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8</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B</a:t>
                      </a:r>
                      <a:r>
                        <a:rPr lang="zh-CN" sz="2000" b="1">
                          <a:solidFill>
                            <a:schemeClr val="tx1"/>
                          </a:solidFill>
                          <a:effectLst/>
                          <a:latin typeface="+mn-lt"/>
                          <a:ea typeface="黑体" panose="02010609060101010101" pitchFamily="2" charset="-122"/>
                        </a:rPr>
                        <a:t>类或</a:t>
                      </a:r>
                      <a:r>
                        <a:rPr lang="en-US" sz="2000" b="1">
                          <a:solidFill>
                            <a:schemeClr val="tx1"/>
                          </a:solidFill>
                          <a:effectLst/>
                          <a:latin typeface="+mn-lt"/>
                          <a:ea typeface="黑体" panose="02010609060101010101" pitchFamily="2" charset="-122"/>
                        </a:rPr>
                        <a:t>2048</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/14</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255.252.0.0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256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4</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B</a:t>
                      </a:r>
                      <a:r>
                        <a:rPr lang="zh-CN" sz="2000" b="1">
                          <a:solidFill>
                            <a:schemeClr val="tx1"/>
                          </a:solidFill>
                          <a:effectLst/>
                          <a:latin typeface="+mn-lt"/>
                          <a:ea typeface="黑体" panose="02010609060101010101" pitchFamily="2" charset="-122"/>
                        </a:rPr>
                        <a:t>类或</a:t>
                      </a:r>
                      <a:r>
                        <a:rPr lang="en-US" sz="2000" b="1">
                          <a:solidFill>
                            <a:schemeClr val="tx1"/>
                          </a:solidFill>
                          <a:effectLst/>
                          <a:latin typeface="+mn-lt"/>
                          <a:ea typeface="黑体" panose="02010609060101010101" pitchFamily="2" charset="-122"/>
                        </a:rPr>
                        <a:t>1024</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/15</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255.254.0.0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128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B</a:t>
                      </a:r>
                      <a:r>
                        <a:rPr lang="zh-CN" sz="2000" b="1">
                          <a:solidFill>
                            <a:schemeClr val="tx1"/>
                          </a:solidFill>
                          <a:effectLst/>
                          <a:latin typeface="+mn-lt"/>
                          <a:ea typeface="黑体" panose="02010609060101010101" pitchFamily="2" charset="-122"/>
                        </a:rPr>
                        <a:t>类或</a:t>
                      </a:r>
                      <a:r>
                        <a:rPr lang="en-US" sz="2000" b="1">
                          <a:solidFill>
                            <a:schemeClr val="tx1"/>
                          </a:solidFill>
                          <a:effectLst/>
                          <a:latin typeface="+mn-lt"/>
                          <a:ea typeface="黑体" panose="02010609060101010101" pitchFamily="2" charset="-122"/>
                        </a:rPr>
                        <a:t>512</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/16</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64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B</a:t>
                      </a:r>
                      <a:r>
                        <a:rPr lang="zh-CN" sz="2000" b="1">
                          <a:solidFill>
                            <a:schemeClr val="tx1"/>
                          </a:solidFill>
                          <a:effectLst/>
                          <a:latin typeface="+mn-lt"/>
                          <a:ea typeface="黑体" panose="02010609060101010101" pitchFamily="2" charset="-122"/>
                        </a:rPr>
                        <a:t>类或</a:t>
                      </a:r>
                      <a:r>
                        <a:rPr lang="en-US" sz="2000" b="1">
                          <a:solidFill>
                            <a:schemeClr val="tx1"/>
                          </a:solidFill>
                          <a:effectLst/>
                          <a:latin typeface="+mn-lt"/>
                          <a:ea typeface="黑体" panose="02010609060101010101" pitchFamily="2" charset="-122"/>
                        </a:rPr>
                        <a:t>256</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/17</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255.255.128.0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32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128</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/18</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255.255.192.0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16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64</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/19</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255.255.224.0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8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32</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/20</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255.255.240.0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4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16</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/21</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255.255.248.0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8</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/22</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255.255.252.0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 K</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4</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255.255.254.0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512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/24</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255.255.255.0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256</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255.255.255.128</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128</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1/2</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/26</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255.255.255.192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64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1/4</a:t>
                      </a:r>
                      <a:r>
                        <a:rPr lang="zh-CN" sz="2000" b="1">
                          <a:solidFill>
                            <a:schemeClr val="tx1"/>
                          </a:solidFill>
                          <a:effectLst/>
                          <a:latin typeface="+mn-lt"/>
                          <a:ea typeface="黑体" panose="02010609060101010101" pitchFamily="2" charset="-122"/>
                        </a:rPr>
                        <a:t>个</a:t>
                      </a:r>
                      <a:r>
                        <a:rPr lang="en-US" sz="2000" b="1">
                          <a:solidFill>
                            <a:schemeClr val="tx1"/>
                          </a:solidFill>
                          <a:effectLst/>
                          <a:latin typeface="+mn-lt"/>
                          <a:ea typeface="黑体" panose="02010609060101010101" pitchFamily="2" charset="-122"/>
                        </a:rPr>
                        <a:t>C</a:t>
                      </a:r>
                      <a:r>
                        <a:rPr lang="zh-CN" sz="2000" b="1">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324288">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/27</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255.255.255.224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32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1/8</a:t>
                      </a:r>
                      <a:r>
                        <a:rPr lang="zh-CN" sz="2000" b="1" dirty="0">
                          <a:solidFill>
                            <a:schemeClr val="tx1"/>
                          </a:solidFill>
                          <a:effectLst/>
                          <a:latin typeface="+mn-lt"/>
                          <a:ea typeface="黑体" panose="02010609060101010101" pitchFamily="2" charset="-122"/>
                        </a:rPr>
                        <a:t>个</a:t>
                      </a:r>
                      <a:r>
                        <a:rPr lang="en-US" sz="2000" b="1" dirty="0">
                          <a:solidFill>
                            <a:schemeClr val="tx1"/>
                          </a:solidFill>
                          <a:effectLst/>
                          <a:latin typeface="+mn-lt"/>
                          <a:ea typeface="黑体" panose="02010609060101010101" pitchFamily="2" charset="-122"/>
                        </a:rPr>
                        <a:t>C</a:t>
                      </a:r>
                      <a:r>
                        <a:rPr lang="zh-CN" sz="2000" b="1" dirty="0">
                          <a:solidFill>
                            <a:schemeClr val="tx1"/>
                          </a:solidFill>
                          <a:effectLst/>
                          <a:latin typeface="+mn-lt"/>
                          <a:ea typeface="黑体" panose="02010609060101010101"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bl>
          </a:graphicData>
        </a:graphic>
      </p:graphicFrame>
      <p:sp>
        <p:nvSpPr>
          <p:cNvPr id="5" name="矩形 4"/>
          <p:cNvSpPr/>
          <p:nvPr/>
        </p:nvSpPr>
        <p:spPr>
          <a:xfrm>
            <a:off x="3008784" y="260648"/>
            <a:ext cx="3744416" cy="523220"/>
          </a:xfrm>
          <a:prstGeom prst="rect">
            <a:avLst/>
          </a:prstGeom>
        </p:spPr>
        <p:txBody>
          <a:bodyPr wrap="square">
            <a:spAutoFit/>
          </a:bodyPr>
          <a:lstStyle/>
          <a:p>
            <a:pPr algn="ctr"/>
            <a:r>
              <a:rPr lang="zh-CN" altLang="zh-CN" sz="2800" b="1" dirty="0">
                <a:latin typeface="+mn-lt"/>
                <a:ea typeface="黑体" panose="02010609060101010101" pitchFamily="2" charset="-122"/>
              </a:rPr>
              <a:t>常用的</a:t>
            </a:r>
            <a:r>
              <a:rPr lang="en-US" altLang="zh-CN" sz="2800" b="1" dirty="0">
                <a:latin typeface="+mn-lt"/>
                <a:ea typeface="黑体" panose="02010609060101010101" pitchFamily="2" charset="-122"/>
              </a:rPr>
              <a:t> CIDR </a:t>
            </a:r>
            <a:r>
              <a:rPr lang="zh-CN" altLang="zh-CN" sz="2800" b="1" dirty="0">
                <a:latin typeface="+mn-lt"/>
                <a:ea typeface="黑体" panose="02010609060101010101" pitchFamily="2" charset="-122"/>
              </a:rPr>
              <a:t>地址块</a:t>
            </a:r>
            <a:endParaRPr lang="zh-CN" altLang="en-US" sz="2800" b="1" dirty="0">
              <a:latin typeface="+mn-lt"/>
              <a:ea typeface="黑体" panose="02010609060101010101" pitchFamily="2" charset="-122"/>
            </a:endParaRPr>
          </a:p>
        </p:txBody>
      </p:sp>
    </p:spTree>
    <p:extLst>
      <p:ext uri="{BB962C8B-B14F-4D97-AF65-F5344CB8AC3E}">
        <p14:creationId xmlns:p14="http://schemas.microsoft.com/office/powerpoint/2010/main" val="392397685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Rectangle 2"/>
          <p:cNvSpPr>
            <a:spLocks noGrp="1" noChangeArrowheads="1"/>
          </p:cNvSpPr>
          <p:nvPr>
            <p:ph type="title"/>
          </p:nvPr>
        </p:nvSpPr>
        <p:spPr/>
        <p:txBody>
          <a:bodyPr/>
          <a:lstStyle/>
          <a:p>
            <a:pPr algn="ctr"/>
            <a:r>
              <a:rPr lang="zh-CN" altLang="en-US" dirty="0"/>
              <a:t>构成超网 </a:t>
            </a:r>
          </a:p>
        </p:txBody>
      </p:sp>
      <p:sp>
        <p:nvSpPr>
          <p:cNvPr id="529411" name="Rectangle 3"/>
          <p:cNvSpPr>
            <a:spLocks noGrp="1" noChangeArrowheads="1"/>
          </p:cNvSpPr>
          <p:nvPr>
            <p:ph idx="1"/>
          </p:nvPr>
        </p:nvSpPr>
        <p:spPr/>
        <p:txBody>
          <a:bodyPr/>
          <a:lstStyle/>
          <a:p>
            <a:r>
              <a:rPr lang="zh-CN" altLang="en-US" sz="2800" dirty="0"/>
              <a:t>前缀长度不超过 </a:t>
            </a:r>
            <a:r>
              <a:rPr lang="en-US" altLang="zh-CN" sz="2800" dirty="0"/>
              <a:t>23 </a:t>
            </a:r>
            <a:r>
              <a:rPr lang="zh-CN" altLang="en-US" sz="2800" dirty="0"/>
              <a:t>位的 </a:t>
            </a:r>
            <a:r>
              <a:rPr lang="en-US" altLang="zh-CN" sz="2800" dirty="0"/>
              <a:t>CIDR </a:t>
            </a:r>
            <a:r>
              <a:rPr lang="zh-CN" altLang="en-US" sz="2800" dirty="0"/>
              <a:t>地址块都包含了多个 </a:t>
            </a:r>
            <a:r>
              <a:rPr lang="en-US" altLang="zh-CN" sz="2800" dirty="0"/>
              <a:t>C  </a:t>
            </a:r>
            <a:r>
              <a:rPr lang="zh-CN" altLang="en-US" sz="2800" dirty="0"/>
              <a:t>类地址。</a:t>
            </a:r>
          </a:p>
          <a:p>
            <a:r>
              <a:rPr lang="zh-CN" altLang="en-US" sz="2800" dirty="0"/>
              <a:t>这些 </a:t>
            </a:r>
            <a:r>
              <a:rPr lang="en-US" altLang="zh-CN" sz="2800" dirty="0"/>
              <a:t>C </a:t>
            </a:r>
            <a:r>
              <a:rPr lang="zh-CN" altLang="en-US" sz="2800" dirty="0"/>
              <a:t>类地址合起来就构成了超网。</a:t>
            </a:r>
          </a:p>
          <a:p>
            <a:r>
              <a:rPr lang="en-US" altLang="zh-CN" sz="2800" dirty="0">
                <a:solidFill>
                  <a:srgbClr val="FF0000"/>
                </a:solidFill>
              </a:rPr>
              <a:t>CIDR </a:t>
            </a:r>
            <a:r>
              <a:rPr lang="zh-CN" altLang="en-US" sz="2800" dirty="0">
                <a:solidFill>
                  <a:srgbClr val="FF0000"/>
                </a:solidFill>
              </a:rPr>
              <a:t>地址块中的地址数一定是 </a:t>
            </a:r>
            <a:r>
              <a:rPr lang="en-US" altLang="zh-CN" sz="2800" dirty="0">
                <a:solidFill>
                  <a:srgbClr val="FF0000"/>
                </a:solidFill>
              </a:rPr>
              <a:t>2 </a:t>
            </a:r>
            <a:r>
              <a:rPr lang="zh-CN" altLang="en-US" sz="2800" dirty="0">
                <a:solidFill>
                  <a:srgbClr val="FF0000"/>
                </a:solidFill>
              </a:rPr>
              <a:t>的整数次幂。</a:t>
            </a:r>
          </a:p>
          <a:p>
            <a:r>
              <a:rPr lang="zh-CN" altLang="en-US" sz="2800" dirty="0"/>
              <a:t>网络前缀越短，其地址块所包含的地址数就越多。</a:t>
            </a:r>
            <a:r>
              <a:rPr lang="zh-CN" altLang="en-US" sz="2800" dirty="0">
                <a:solidFill>
                  <a:srgbClr val="0000FF"/>
                </a:solidFill>
              </a:rPr>
              <a:t>而在三级结构的</a:t>
            </a:r>
            <a:r>
              <a:rPr lang="en-US" altLang="zh-CN" sz="2800" dirty="0">
                <a:solidFill>
                  <a:srgbClr val="0000FF"/>
                </a:solidFill>
              </a:rPr>
              <a:t>IP</a:t>
            </a:r>
            <a:r>
              <a:rPr lang="zh-CN" altLang="en-US" sz="2800" dirty="0">
                <a:solidFill>
                  <a:srgbClr val="0000FF"/>
                </a:solidFill>
              </a:rPr>
              <a:t>地址中，划分子网是使网络前缀变长。</a:t>
            </a:r>
            <a:endParaRPr lang="en-US" altLang="zh-CN" sz="2800" dirty="0">
              <a:solidFill>
                <a:srgbClr val="0000FF"/>
              </a:solidFill>
            </a:endParaRPr>
          </a:p>
          <a:p>
            <a:r>
              <a:rPr lang="en-US" altLang="zh-CN" sz="2800" dirty="0"/>
              <a:t>CIDR </a:t>
            </a:r>
            <a:r>
              <a:rPr lang="zh-CN" altLang="zh-CN" sz="2800" dirty="0"/>
              <a:t>的一个好处是</a:t>
            </a:r>
            <a:r>
              <a:rPr lang="zh-CN" altLang="en-US" sz="2800" dirty="0"/>
              <a:t>：</a:t>
            </a:r>
            <a:r>
              <a:rPr lang="zh-CN" altLang="zh-CN" sz="2800" dirty="0"/>
              <a:t>可以更加有效地分配</a:t>
            </a:r>
            <a:r>
              <a:rPr lang="en-US" altLang="zh-CN" sz="2800" dirty="0"/>
              <a:t> IPv4 </a:t>
            </a:r>
            <a:r>
              <a:rPr lang="zh-CN" altLang="zh-CN" sz="2800" dirty="0"/>
              <a:t>的地址空间，可根据客户的需要分配适当大小的</a:t>
            </a:r>
            <a:r>
              <a:rPr lang="en-US" altLang="zh-CN" sz="2800" dirty="0"/>
              <a:t> CIDR </a:t>
            </a:r>
            <a:r>
              <a:rPr lang="zh-CN" altLang="zh-CN" sz="2800" dirty="0"/>
              <a:t>地址块。</a:t>
            </a:r>
            <a:r>
              <a:rPr lang="zh-CN" altLang="en-US" sz="2800" dirty="0"/>
              <a:t>  </a:t>
            </a:r>
          </a:p>
        </p:txBody>
      </p:sp>
    </p:spTree>
    <p:extLst>
      <p:ext uri="{BB962C8B-B14F-4D97-AF65-F5344CB8AC3E}">
        <p14:creationId xmlns:p14="http://schemas.microsoft.com/office/powerpoint/2010/main" val="1998819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294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bwMode="auto">
          <a:xfrm>
            <a:off x="718576" y="-27384"/>
            <a:ext cx="8694481"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2pPr>
            <a:lvl3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3pPr>
            <a:lvl4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4pPr>
            <a:lvl5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5pPr>
            <a:lvl6pPr marL="4572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6pPr>
            <a:lvl7pPr marL="9144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7pPr>
            <a:lvl8pPr marL="13716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8pPr>
            <a:lvl9pPr marL="18288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3600"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CIDR </a:t>
            </a:r>
            <a:r>
              <a:rPr kumimoji="1" lang="zh-CN" altLang="en-US" sz="3600"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地址块划分举例 </a:t>
            </a:r>
          </a:p>
        </p:txBody>
      </p:sp>
      <p:sp>
        <p:nvSpPr>
          <p:cNvPr id="5" name="Rectangle 3"/>
          <p:cNvSpPr>
            <a:spLocks noChangeArrowheads="1"/>
          </p:cNvSpPr>
          <p:nvPr/>
        </p:nvSpPr>
        <p:spPr bwMode="auto">
          <a:xfrm>
            <a:off x="1480442" y="4103291"/>
            <a:ext cx="7525808" cy="2390775"/>
          </a:xfrm>
          <a:prstGeom prst="rect">
            <a:avLst/>
          </a:prstGeom>
          <a:solidFill>
            <a:srgbClr val="CCECFF"/>
          </a:solidFill>
          <a:ln w="28575">
            <a:solidFill>
              <a:srgbClr val="333399"/>
            </a:solidFill>
            <a:miter lim="800000"/>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grpSp>
        <p:nvGrpSpPr>
          <p:cNvPr id="66" name="组合 65"/>
          <p:cNvGrpSpPr/>
          <p:nvPr/>
        </p:nvGrpSpPr>
        <p:grpSpPr>
          <a:xfrm>
            <a:off x="291422" y="1033063"/>
            <a:ext cx="1637242" cy="738188"/>
            <a:chOff x="228433" y="1033063"/>
            <a:chExt cx="1637242" cy="738188"/>
          </a:xfrm>
        </p:grpSpPr>
        <p:grpSp>
          <p:nvGrpSpPr>
            <p:cNvPr id="7" name="Group 5"/>
            <p:cNvGrpSpPr/>
            <p:nvPr/>
          </p:nvGrpSpPr>
          <p:grpSpPr bwMode="auto">
            <a:xfrm>
              <a:off x="237984" y="1047510"/>
              <a:ext cx="1627691" cy="723741"/>
              <a:chOff x="3134" y="1375"/>
              <a:chExt cx="2386" cy="1553"/>
            </a:xfrm>
            <a:solidFill>
              <a:schemeClr val="bg1">
                <a:lumMod val="65000"/>
              </a:schemeClr>
            </a:solidFill>
          </p:grpSpPr>
          <p:sp>
            <p:nvSpPr>
              <p:cNvPr id="17"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8"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9"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0"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1"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2"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3"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4"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5"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grpSp>
        <p:sp>
          <p:nvSpPr>
            <p:cNvPr id="8" name="Oval 15"/>
            <p:cNvSpPr>
              <a:spLocks noChangeArrowheads="1"/>
            </p:cNvSpPr>
            <p:nvPr/>
          </p:nvSpPr>
          <p:spPr bwMode="auto">
            <a:xfrm>
              <a:off x="790553" y="1033063"/>
              <a:ext cx="700603" cy="29219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9" name="Oval 16"/>
            <p:cNvSpPr>
              <a:spLocks noChangeArrowheads="1"/>
            </p:cNvSpPr>
            <p:nvPr/>
          </p:nvSpPr>
          <p:spPr bwMode="auto">
            <a:xfrm>
              <a:off x="396250" y="1113686"/>
              <a:ext cx="532786" cy="29219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0" name="Oval 17"/>
            <p:cNvSpPr>
              <a:spLocks noChangeArrowheads="1"/>
            </p:cNvSpPr>
            <p:nvPr/>
          </p:nvSpPr>
          <p:spPr bwMode="auto">
            <a:xfrm>
              <a:off x="228433" y="1296369"/>
              <a:ext cx="354736" cy="23348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1" name="Oval 18"/>
            <p:cNvSpPr>
              <a:spLocks noChangeArrowheads="1"/>
            </p:cNvSpPr>
            <p:nvPr/>
          </p:nvSpPr>
          <p:spPr bwMode="auto">
            <a:xfrm>
              <a:off x="336900" y="1405885"/>
              <a:ext cx="542336" cy="25584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2" name="Oval 19"/>
            <p:cNvSpPr>
              <a:spLocks noChangeArrowheads="1"/>
            </p:cNvSpPr>
            <p:nvPr/>
          </p:nvSpPr>
          <p:spPr bwMode="auto">
            <a:xfrm>
              <a:off x="731203" y="1449692"/>
              <a:ext cx="818621" cy="307112"/>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3" name="Oval 20"/>
            <p:cNvSpPr>
              <a:spLocks noChangeArrowheads="1"/>
            </p:cNvSpPr>
            <p:nvPr/>
          </p:nvSpPr>
          <p:spPr bwMode="auto">
            <a:xfrm>
              <a:off x="1263989" y="1120676"/>
              <a:ext cx="513002" cy="22649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4" name="Oval 21"/>
            <p:cNvSpPr>
              <a:spLocks noChangeArrowheads="1"/>
            </p:cNvSpPr>
            <p:nvPr/>
          </p:nvSpPr>
          <p:spPr bwMode="auto">
            <a:xfrm>
              <a:off x="1343122" y="1274465"/>
              <a:ext cx="513002" cy="22649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5" name="Oval 22"/>
            <p:cNvSpPr>
              <a:spLocks noChangeArrowheads="1"/>
            </p:cNvSpPr>
            <p:nvPr/>
          </p:nvSpPr>
          <p:spPr bwMode="auto">
            <a:xfrm>
              <a:off x="1293322" y="1325262"/>
              <a:ext cx="513002" cy="38027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6" name="Oval 23"/>
            <p:cNvSpPr>
              <a:spLocks noChangeArrowheads="1"/>
            </p:cNvSpPr>
            <p:nvPr/>
          </p:nvSpPr>
          <p:spPr bwMode="auto">
            <a:xfrm>
              <a:off x="524501" y="1208289"/>
              <a:ext cx="1055339" cy="38027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6" name="Text Box 24"/>
            <p:cNvSpPr txBox="1">
              <a:spLocks noChangeArrowheads="1"/>
            </p:cNvSpPr>
            <p:nvPr/>
          </p:nvSpPr>
          <p:spPr bwMode="auto">
            <a:xfrm>
              <a:off x="548204" y="1196956"/>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dirty="0">
                  <a:solidFill>
                    <a:srgbClr val="0000CC"/>
                  </a:solidFill>
                  <a:latin typeface="+mn-lt"/>
                  <a:ea typeface="黑体" panose="02010609060101010101" pitchFamily="2" charset="-122"/>
                </a:rPr>
                <a:t>互联网</a:t>
              </a:r>
            </a:p>
          </p:txBody>
        </p:sp>
      </p:grpSp>
      <p:sp>
        <p:nvSpPr>
          <p:cNvPr id="27" name="Oval 25"/>
          <p:cNvSpPr>
            <a:spLocks noChangeArrowheads="1"/>
          </p:cNvSpPr>
          <p:nvPr/>
        </p:nvSpPr>
        <p:spPr bwMode="auto">
          <a:xfrm>
            <a:off x="3931147" y="885426"/>
            <a:ext cx="2844535" cy="958850"/>
          </a:xfrm>
          <a:prstGeom prst="ellipse">
            <a:avLst/>
          </a:prstGeom>
          <a:solidFill>
            <a:srgbClr val="3399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28" name="Oval 26"/>
          <p:cNvSpPr>
            <a:spLocks noChangeArrowheads="1"/>
          </p:cNvSpPr>
          <p:nvPr/>
        </p:nvSpPr>
        <p:spPr bwMode="auto">
          <a:xfrm>
            <a:off x="4534793" y="1033066"/>
            <a:ext cx="1810941" cy="665163"/>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29" name="Text Box 27"/>
          <p:cNvSpPr txBox="1">
            <a:spLocks noChangeArrowheads="1"/>
          </p:cNvSpPr>
          <p:nvPr/>
        </p:nvSpPr>
        <p:spPr bwMode="auto">
          <a:xfrm>
            <a:off x="4627660" y="118070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206.0.68.0/22</a:t>
            </a:r>
          </a:p>
        </p:txBody>
      </p:sp>
      <p:sp>
        <p:nvSpPr>
          <p:cNvPr id="30" name="Text Box 28"/>
          <p:cNvSpPr txBox="1">
            <a:spLocks noChangeArrowheads="1"/>
          </p:cNvSpPr>
          <p:nvPr/>
        </p:nvSpPr>
        <p:spPr bwMode="auto">
          <a:xfrm>
            <a:off x="2211354" y="95845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206.0.64.0/18</a:t>
            </a:r>
          </a:p>
        </p:txBody>
      </p:sp>
      <p:sp>
        <p:nvSpPr>
          <p:cNvPr id="31" name="AutoShape 29"/>
          <p:cNvSpPr>
            <a:spLocks noChangeArrowheads="1"/>
          </p:cNvSpPr>
          <p:nvPr/>
        </p:nvSpPr>
        <p:spPr bwMode="auto">
          <a:xfrm>
            <a:off x="1951665" y="1272776"/>
            <a:ext cx="1895210" cy="220662"/>
          </a:xfrm>
          <a:prstGeom prst="leftArrow">
            <a:avLst>
              <a:gd name="adj1" fmla="val 50000"/>
              <a:gd name="adj2" fmla="val 198202"/>
            </a:avLst>
          </a:prstGeom>
          <a:solidFill>
            <a:srgbClr val="FF0000"/>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32" name="Text Box 30"/>
          <p:cNvSpPr txBox="1">
            <a:spLocks noChangeArrowheads="1"/>
          </p:cNvSpPr>
          <p:nvPr/>
        </p:nvSpPr>
        <p:spPr bwMode="auto">
          <a:xfrm>
            <a:off x="3760887" y="66794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2400" b="1">
                <a:solidFill>
                  <a:srgbClr val="0000CC"/>
                </a:solidFill>
                <a:latin typeface="+mn-lt"/>
                <a:ea typeface="黑体" panose="02010609060101010101" pitchFamily="2" charset="-122"/>
              </a:rPr>
              <a:t>ISP</a:t>
            </a:r>
          </a:p>
        </p:txBody>
      </p:sp>
      <p:sp>
        <p:nvSpPr>
          <p:cNvPr id="33" name="Text Box 31"/>
          <p:cNvSpPr txBox="1">
            <a:spLocks noChangeArrowheads="1"/>
          </p:cNvSpPr>
          <p:nvPr/>
        </p:nvSpPr>
        <p:spPr bwMode="auto">
          <a:xfrm>
            <a:off x="6947662" y="739378"/>
            <a:ext cx="11144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a:solidFill>
                  <a:srgbClr val="0000CC"/>
                </a:solidFill>
                <a:latin typeface="+mn-lt"/>
                <a:ea typeface="黑体" panose="02010609060101010101" pitchFamily="2" charset="-122"/>
              </a:rPr>
              <a:t>大学 </a:t>
            </a:r>
            <a:r>
              <a:rPr kumimoji="1" lang="en-US" altLang="zh-CN" sz="2400" b="1">
                <a:solidFill>
                  <a:srgbClr val="0000CC"/>
                </a:solidFill>
                <a:latin typeface="+mn-lt"/>
                <a:ea typeface="黑体" panose="02010609060101010101" pitchFamily="2" charset="-122"/>
              </a:rPr>
              <a:t>X</a:t>
            </a:r>
          </a:p>
        </p:txBody>
      </p:sp>
      <p:sp>
        <p:nvSpPr>
          <p:cNvPr id="34" name="Line 32"/>
          <p:cNvSpPr>
            <a:spLocks noChangeShapeType="1"/>
          </p:cNvSpPr>
          <p:nvPr/>
        </p:nvSpPr>
        <p:spPr bwMode="auto">
          <a:xfrm flipV="1">
            <a:off x="6258024" y="1033066"/>
            <a:ext cx="689637" cy="22066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35" name="Text Box 33"/>
          <p:cNvSpPr txBox="1">
            <a:spLocks noChangeArrowheads="1"/>
          </p:cNvSpPr>
          <p:nvPr/>
        </p:nvSpPr>
        <p:spPr bwMode="auto">
          <a:xfrm>
            <a:off x="2360712" y="3549252"/>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dirty="0">
                <a:solidFill>
                  <a:srgbClr val="0000CC"/>
                </a:solidFill>
                <a:latin typeface="+mn-lt"/>
                <a:ea typeface="黑体" panose="02010609060101010101" pitchFamily="2" charset="-122"/>
              </a:rPr>
              <a:t>一系</a:t>
            </a:r>
          </a:p>
        </p:txBody>
      </p:sp>
      <p:sp>
        <p:nvSpPr>
          <p:cNvPr id="36" name="Text Box 34"/>
          <p:cNvSpPr txBox="1">
            <a:spLocks noChangeArrowheads="1"/>
          </p:cNvSpPr>
          <p:nvPr/>
        </p:nvSpPr>
        <p:spPr bwMode="auto">
          <a:xfrm>
            <a:off x="5086847" y="354131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二系</a:t>
            </a:r>
          </a:p>
        </p:txBody>
      </p:sp>
      <p:sp>
        <p:nvSpPr>
          <p:cNvPr id="37" name="Text Box 35"/>
          <p:cNvSpPr txBox="1">
            <a:spLocks noChangeArrowheads="1"/>
          </p:cNvSpPr>
          <p:nvPr/>
        </p:nvSpPr>
        <p:spPr bwMode="auto">
          <a:xfrm>
            <a:off x="6258024"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三系</a:t>
            </a:r>
          </a:p>
        </p:txBody>
      </p:sp>
      <p:sp>
        <p:nvSpPr>
          <p:cNvPr id="38" name="Text Box 36"/>
          <p:cNvSpPr txBox="1">
            <a:spLocks noChangeArrowheads="1"/>
          </p:cNvSpPr>
          <p:nvPr/>
        </p:nvSpPr>
        <p:spPr bwMode="auto">
          <a:xfrm>
            <a:off x="8598661"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四系</a:t>
            </a:r>
          </a:p>
        </p:txBody>
      </p:sp>
      <p:sp>
        <p:nvSpPr>
          <p:cNvPr id="39" name="AutoShape 37"/>
          <p:cNvSpPr>
            <a:spLocks noChangeArrowheads="1"/>
          </p:cNvSpPr>
          <p:nvPr/>
        </p:nvSpPr>
        <p:spPr bwMode="auto">
          <a:xfrm rot="1625099">
            <a:off x="5972537" y="1941113"/>
            <a:ext cx="2712112" cy="173038"/>
          </a:xfrm>
          <a:prstGeom prst="leftArrow">
            <a:avLst>
              <a:gd name="adj1" fmla="val 27083"/>
              <a:gd name="adj2" fmla="val 410994"/>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0" name="Oval 38"/>
          <p:cNvSpPr>
            <a:spLocks noChangeArrowheads="1"/>
          </p:cNvSpPr>
          <p:nvPr/>
        </p:nvSpPr>
        <p:spPr bwMode="auto">
          <a:xfrm>
            <a:off x="7809276" y="2507851"/>
            <a:ext cx="2153179" cy="887412"/>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1" name="Text Box 39"/>
          <p:cNvSpPr txBox="1">
            <a:spLocks noChangeArrowheads="1"/>
          </p:cNvSpPr>
          <p:nvPr/>
        </p:nvSpPr>
        <p:spPr bwMode="auto">
          <a:xfrm>
            <a:off x="7895266" y="266184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206.0.71.128/26</a:t>
            </a:r>
          </a:p>
          <a:p>
            <a:pPr eaLnBrk="1" hangingPunct="1"/>
            <a:r>
              <a:rPr kumimoji="1" lang="en-US" altLang="zh-CN" b="1">
                <a:solidFill>
                  <a:srgbClr val="0000CC"/>
                </a:solidFill>
                <a:latin typeface="+mn-lt"/>
                <a:ea typeface="黑体" panose="02010609060101010101" pitchFamily="2" charset="-122"/>
              </a:rPr>
              <a:t>206.0.71.192/26</a:t>
            </a:r>
          </a:p>
        </p:txBody>
      </p:sp>
      <p:sp>
        <p:nvSpPr>
          <p:cNvPr id="42" name="AutoShape 40"/>
          <p:cNvSpPr>
            <a:spLocks noChangeArrowheads="1"/>
          </p:cNvSpPr>
          <p:nvPr/>
        </p:nvSpPr>
        <p:spPr bwMode="auto">
          <a:xfrm rot="8870696">
            <a:off x="2003258" y="2036363"/>
            <a:ext cx="2897850" cy="184150"/>
          </a:xfrm>
          <a:prstGeom prst="leftArrow">
            <a:avLst>
              <a:gd name="adj1" fmla="val 27083"/>
              <a:gd name="adj2" fmla="val 412642"/>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3" name="Oval 41"/>
          <p:cNvSpPr>
            <a:spLocks noChangeArrowheads="1"/>
          </p:cNvSpPr>
          <p:nvPr/>
        </p:nvSpPr>
        <p:spPr bwMode="auto">
          <a:xfrm>
            <a:off x="56456" y="2507851"/>
            <a:ext cx="2583127" cy="1403350"/>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4" name="Text Box 42"/>
          <p:cNvSpPr txBox="1">
            <a:spLocks noChangeArrowheads="1"/>
          </p:cNvSpPr>
          <p:nvPr/>
        </p:nvSpPr>
        <p:spPr bwMode="auto">
          <a:xfrm>
            <a:off x="486404"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206.0.68.0/25</a:t>
            </a:r>
          </a:p>
          <a:p>
            <a:pPr eaLnBrk="1" hangingPunct="1"/>
            <a:r>
              <a:rPr kumimoji="1" lang="en-US" altLang="zh-CN" b="1">
                <a:solidFill>
                  <a:srgbClr val="0000CC"/>
                </a:solidFill>
                <a:latin typeface="+mn-lt"/>
                <a:ea typeface="黑体" panose="02010609060101010101" pitchFamily="2" charset="-122"/>
              </a:rPr>
              <a:t>206.0.68.128/25</a:t>
            </a:r>
          </a:p>
          <a:p>
            <a:pPr eaLnBrk="1" hangingPunct="1"/>
            <a:r>
              <a:rPr kumimoji="1" lang="en-US" altLang="zh-CN" b="1">
                <a:solidFill>
                  <a:srgbClr val="0000CC"/>
                </a:solidFill>
                <a:latin typeface="+mn-lt"/>
                <a:ea typeface="黑体" panose="02010609060101010101" pitchFamily="2" charset="-122"/>
              </a:rPr>
              <a:t>206.0.69.0/25</a:t>
            </a:r>
          </a:p>
          <a:p>
            <a:pPr eaLnBrk="1" hangingPunct="1"/>
            <a:r>
              <a:rPr kumimoji="1" lang="en-US" altLang="zh-CN" b="1">
                <a:solidFill>
                  <a:srgbClr val="0000CC"/>
                </a:solidFill>
                <a:latin typeface="+mn-lt"/>
                <a:ea typeface="黑体" panose="02010609060101010101" pitchFamily="2" charset="-122"/>
              </a:rPr>
              <a:t>206.0.69.128/25</a:t>
            </a:r>
          </a:p>
        </p:txBody>
      </p:sp>
      <p:sp>
        <p:nvSpPr>
          <p:cNvPr id="45" name="AutoShape 43"/>
          <p:cNvSpPr>
            <a:spLocks noChangeArrowheads="1"/>
          </p:cNvSpPr>
          <p:nvPr/>
        </p:nvSpPr>
        <p:spPr bwMode="auto">
          <a:xfrm rot="7490917">
            <a:off x="3593075" y="2249949"/>
            <a:ext cx="2143125" cy="204656"/>
          </a:xfrm>
          <a:prstGeom prst="leftArrow">
            <a:avLst>
              <a:gd name="adj1" fmla="val 27083"/>
              <a:gd name="adj2" fmla="val 322268"/>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6" name="Oval 44"/>
          <p:cNvSpPr>
            <a:spLocks noChangeArrowheads="1"/>
          </p:cNvSpPr>
          <p:nvPr/>
        </p:nvSpPr>
        <p:spPr bwMode="auto">
          <a:xfrm>
            <a:off x="2813282" y="2507851"/>
            <a:ext cx="2583127" cy="1403350"/>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7" name="Text Box 45"/>
          <p:cNvSpPr txBox="1">
            <a:spLocks noChangeArrowheads="1"/>
          </p:cNvSpPr>
          <p:nvPr/>
        </p:nvSpPr>
        <p:spPr bwMode="auto">
          <a:xfrm>
            <a:off x="3243230"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206.0.70.0/26</a:t>
            </a:r>
          </a:p>
          <a:p>
            <a:pPr eaLnBrk="1" hangingPunct="1"/>
            <a:r>
              <a:rPr kumimoji="1" lang="en-US" altLang="zh-CN" b="1">
                <a:solidFill>
                  <a:srgbClr val="0000CC"/>
                </a:solidFill>
                <a:latin typeface="+mn-lt"/>
                <a:ea typeface="黑体" panose="02010609060101010101" pitchFamily="2" charset="-122"/>
              </a:rPr>
              <a:t>206.0.70.64/26</a:t>
            </a:r>
          </a:p>
          <a:p>
            <a:pPr eaLnBrk="1" hangingPunct="1"/>
            <a:r>
              <a:rPr kumimoji="1" lang="en-US" altLang="zh-CN" b="1">
                <a:solidFill>
                  <a:srgbClr val="0000CC"/>
                </a:solidFill>
                <a:latin typeface="+mn-lt"/>
                <a:ea typeface="黑体" panose="02010609060101010101" pitchFamily="2" charset="-122"/>
              </a:rPr>
              <a:t>206.0.70.128/26</a:t>
            </a:r>
          </a:p>
          <a:p>
            <a:pPr eaLnBrk="1" hangingPunct="1"/>
            <a:r>
              <a:rPr kumimoji="1" lang="en-US" altLang="zh-CN" b="1">
                <a:solidFill>
                  <a:srgbClr val="0000CC"/>
                </a:solidFill>
                <a:latin typeface="+mn-lt"/>
                <a:ea typeface="黑体" panose="02010609060101010101" pitchFamily="2" charset="-122"/>
              </a:rPr>
              <a:t>206.0.70.192/26</a:t>
            </a:r>
          </a:p>
        </p:txBody>
      </p:sp>
      <p:sp>
        <p:nvSpPr>
          <p:cNvPr id="48" name="Rectangle 46"/>
          <p:cNvSpPr>
            <a:spLocks noChangeArrowheads="1"/>
          </p:cNvSpPr>
          <p:nvPr/>
        </p:nvSpPr>
        <p:spPr bwMode="auto">
          <a:xfrm>
            <a:off x="3846877" y="2222101"/>
            <a:ext cx="1463543" cy="19526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9" name="Text Box 47"/>
          <p:cNvSpPr txBox="1">
            <a:spLocks noChangeArrowheads="1"/>
          </p:cNvSpPr>
          <p:nvPr/>
        </p:nvSpPr>
        <p:spPr bwMode="auto">
          <a:xfrm>
            <a:off x="3760885" y="2109389"/>
            <a:ext cx="1595309" cy="3693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206.0.70.0/24</a:t>
            </a:r>
          </a:p>
        </p:txBody>
      </p:sp>
      <p:sp>
        <p:nvSpPr>
          <p:cNvPr id="50" name="AutoShape 48"/>
          <p:cNvSpPr>
            <a:spLocks noChangeArrowheads="1"/>
          </p:cNvSpPr>
          <p:nvPr/>
        </p:nvSpPr>
        <p:spPr bwMode="auto">
          <a:xfrm rot="14362323" flipH="1">
            <a:off x="5224363" y="2298369"/>
            <a:ext cx="2144713" cy="204655"/>
          </a:xfrm>
          <a:prstGeom prst="leftArrow">
            <a:avLst>
              <a:gd name="adj1" fmla="val 27083"/>
              <a:gd name="adj2" fmla="val 322509"/>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51" name="Rectangle 49"/>
          <p:cNvSpPr>
            <a:spLocks noChangeArrowheads="1"/>
          </p:cNvSpPr>
          <p:nvPr/>
        </p:nvSpPr>
        <p:spPr bwMode="auto">
          <a:xfrm>
            <a:off x="5656095" y="2241151"/>
            <a:ext cx="1453225" cy="18415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2" name="Text Box 50"/>
          <p:cNvSpPr txBox="1">
            <a:spLocks noChangeArrowheads="1"/>
          </p:cNvSpPr>
          <p:nvPr/>
        </p:nvSpPr>
        <p:spPr bwMode="auto">
          <a:xfrm>
            <a:off x="5568387" y="2123676"/>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206.0.71.0/25</a:t>
            </a:r>
          </a:p>
        </p:txBody>
      </p:sp>
      <p:sp>
        <p:nvSpPr>
          <p:cNvPr id="53" name="Oval 51"/>
          <p:cNvSpPr>
            <a:spLocks noChangeArrowheads="1"/>
          </p:cNvSpPr>
          <p:nvPr/>
        </p:nvSpPr>
        <p:spPr bwMode="auto">
          <a:xfrm>
            <a:off x="5484118" y="2507851"/>
            <a:ext cx="2153179" cy="887412"/>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4" name="Text Box 52"/>
          <p:cNvSpPr txBox="1">
            <a:spLocks noChangeArrowheads="1"/>
          </p:cNvSpPr>
          <p:nvPr/>
        </p:nvSpPr>
        <p:spPr bwMode="auto">
          <a:xfrm>
            <a:off x="5656096" y="266184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206.0.71.0/26</a:t>
            </a:r>
          </a:p>
          <a:p>
            <a:pPr eaLnBrk="1" hangingPunct="1"/>
            <a:r>
              <a:rPr kumimoji="1" lang="en-US" altLang="zh-CN" b="1">
                <a:solidFill>
                  <a:srgbClr val="0000CC"/>
                </a:solidFill>
                <a:latin typeface="+mn-lt"/>
                <a:ea typeface="黑体" panose="02010609060101010101" pitchFamily="2" charset="-122"/>
              </a:rPr>
              <a:t>206.0.71.64/26</a:t>
            </a:r>
          </a:p>
        </p:txBody>
      </p:sp>
      <p:sp>
        <p:nvSpPr>
          <p:cNvPr id="55" name="Rectangle 53"/>
          <p:cNvSpPr>
            <a:spLocks noChangeArrowheads="1"/>
          </p:cNvSpPr>
          <p:nvPr/>
        </p:nvSpPr>
        <p:spPr bwMode="auto">
          <a:xfrm>
            <a:off x="7809276" y="2214163"/>
            <a:ext cx="1712913"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6" name="Text Box 54"/>
          <p:cNvSpPr txBox="1">
            <a:spLocks noChangeArrowheads="1"/>
          </p:cNvSpPr>
          <p:nvPr/>
        </p:nvSpPr>
        <p:spPr bwMode="auto">
          <a:xfrm>
            <a:off x="7721568" y="2077639"/>
            <a:ext cx="18517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206.0.71.128/25</a:t>
            </a:r>
          </a:p>
        </p:txBody>
      </p:sp>
      <p:sp>
        <p:nvSpPr>
          <p:cNvPr id="57" name="Rectangle 55"/>
          <p:cNvSpPr>
            <a:spLocks noChangeArrowheads="1"/>
          </p:cNvSpPr>
          <p:nvPr/>
        </p:nvSpPr>
        <p:spPr bwMode="auto">
          <a:xfrm>
            <a:off x="2037655" y="2214163"/>
            <a:ext cx="1453225"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8" name="Text Box 56"/>
          <p:cNvSpPr txBox="1">
            <a:spLocks noChangeArrowheads="1"/>
          </p:cNvSpPr>
          <p:nvPr/>
        </p:nvSpPr>
        <p:spPr bwMode="auto">
          <a:xfrm>
            <a:off x="1949945" y="2109389"/>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206.0.68.0/23</a:t>
            </a:r>
          </a:p>
        </p:txBody>
      </p:sp>
      <p:sp>
        <p:nvSpPr>
          <p:cNvPr id="59" name="Text Box 57"/>
          <p:cNvSpPr txBox="1">
            <a:spLocks noChangeArrowheads="1"/>
          </p:cNvSpPr>
          <p:nvPr/>
        </p:nvSpPr>
        <p:spPr bwMode="auto">
          <a:xfrm>
            <a:off x="1430570" y="4042963"/>
            <a:ext cx="7788936" cy="2488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lnSpc>
                <a:spcPct val="145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单位         地址块                              二进制表示                         地址数</a:t>
            </a:r>
          </a:p>
          <a:p>
            <a:pPr eaLnBrk="1" hangingPunct="1">
              <a:lnSpc>
                <a:spcPct val="120000"/>
              </a:lnSpc>
            </a:pPr>
            <a:r>
              <a:rPr kumimoji="1" lang="zh-CN" altLang="en-US" b="1" dirty="0">
                <a:solidFill>
                  <a:srgbClr val="0000CC"/>
                </a:solidFill>
                <a:latin typeface="+mn-lt"/>
                <a:ea typeface="黑体" panose="02010609060101010101" pitchFamily="2" charset="-122"/>
              </a:rPr>
              <a:t>   </a:t>
            </a:r>
            <a:r>
              <a:rPr kumimoji="1" lang="en-US" altLang="zh-CN" b="1" dirty="0">
                <a:solidFill>
                  <a:srgbClr val="0000CC"/>
                </a:solidFill>
                <a:latin typeface="+mn-lt"/>
                <a:ea typeface="黑体" panose="02010609060101010101" pitchFamily="2" charset="-122"/>
              </a:rPr>
              <a:t>ISP    206.0.64.0/18        11001110.00000000.01*                     16384</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大学    </a:t>
            </a:r>
            <a:r>
              <a:rPr kumimoji="1" lang="en-US" altLang="zh-CN" b="1" dirty="0">
                <a:solidFill>
                  <a:srgbClr val="0000CC"/>
                </a:solidFill>
                <a:latin typeface="+mn-lt"/>
                <a:ea typeface="黑体" panose="02010609060101010101" pitchFamily="2" charset="-122"/>
              </a:rPr>
              <a:t>206.0.68.0/22        11001110.00000000.010001*               1024</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一系    </a:t>
            </a:r>
            <a:r>
              <a:rPr kumimoji="1" lang="en-US" altLang="zh-CN" b="1" dirty="0">
                <a:solidFill>
                  <a:srgbClr val="0000CC"/>
                </a:solidFill>
                <a:latin typeface="+mn-lt"/>
                <a:ea typeface="黑体" panose="02010609060101010101" pitchFamily="2" charset="-122"/>
              </a:rPr>
              <a:t>206.0.68.0/23        11001110.00000000.0100010*               512</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二系    </a:t>
            </a:r>
            <a:r>
              <a:rPr kumimoji="1" lang="en-US" altLang="zh-CN" b="1" dirty="0">
                <a:solidFill>
                  <a:srgbClr val="0000CC"/>
                </a:solidFill>
                <a:latin typeface="+mn-lt"/>
                <a:ea typeface="黑体" panose="02010609060101010101" pitchFamily="2" charset="-122"/>
              </a:rPr>
              <a:t>206.0.70.0/24        11001110.00000000.01000110.*            256</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三系    </a:t>
            </a:r>
            <a:r>
              <a:rPr kumimoji="1" lang="en-US" altLang="zh-CN" b="1" dirty="0">
                <a:solidFill>
                  <a:srgbClr val="0000CC"/>
                </a:solidFill>
                <a:latin typeface="+mn-lt"/>
                <a:ea typeface="黑体" panose="02010609060101010101" pitchFamily="2" charset="-122"/>
              </a:rPr>
              <a:t>206.0.71.0/25        11001110.00000000.01000111.0*          128</a:t>
            </a:r>
          </a:p>
          <a:p>
            <a:pPr eaLnBrk="1" hangingPunct="1">
              <a:lnSpc>
                <a:spcPct val="120000"/>
              </a:lnSpc>
              <a:spcAft>
                <a:spcPct val="25000"/>
              </a:spcAft>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四系    </a:t>
            </a:r>
            <a:r>
              <a:rPr kumimoji="1" lang="en-US" altLang="zh-CN" b="1" dirty="0">
                <a:solidFill>
                  <a:srgbClr val="0000CC"/>
                </a:solidFill>
                <a:latin typeface="+mn-lt"/>
                <a:ea typeface="黑体" panose="02010609060101010101" pitchFamily="2" charset="-122"/>
              </a:rPr>
              <a:t>206.0.71.128/25    11001110.00000000.01000111.1*          128</a:t>
            </a:r>
          </a:p>
        </p:txBody>
      </p:sp>
      <p:sp>
        <p:nvSpPr>
          <p:cNvPr id="60" name="Line 58"/>
          <p:cNvSpPr>
            <a:spLocks noChangeShapeType="1"/>
          </p:cNvSpPr>
          <p:nvPr/>
        </p:nvSpPr>
        <p:spPr bwMode="auto">
          <a:xfrm>
            <a:off x="1470124" y="4500163"/>
            <a:ext cx="755848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1" name="Line 59"/>
          <p:cNvSpPr>
            <a:spLocks noChangeShapeType="1"/>
          </p:cNvSpPr>
          <p:nvPr/>
        </p:nvSpPr>
        <p:spPr bwMode="auto">
          <a:xfrm flipH="1">
            <a:off x="2242312" y="4090591"/>
            <a:ext cx="1719"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2" name="Line 60"/>
          <p:cNvSpPr>
            <a:spLocks noChangeShapeType="1"/>
          </p:cNvSpPr>
          <p:nvPr/>
        </p:nvSpPr>
        <p:spPr bwMode="auto">
          <a:xfrm flipH="1">
            <a:off x="4060129" y="4103291"/>
            <a:ext cx="3440"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3" name="Line 61"/>
          <p:cNvSpPr>
            <a:spLocks noChangeShapeType="1"/>
          </p:cNvSpPr>
          <p:nvPr/>
        </p:nvSpPr>
        <p:spPr bwMode="auto">
          <a:xfrm flipH="1">
            <a:off x="7726725" y="4103291"/>
            <a:ext cx="3440"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4" name="Oval 62"/>
          <p:cNvSpPr>
            <a:spLocks noChangeArrowheads="1"/>
          </p:cNvSpPr>
          <p:nvPr/>
        </p:nvSpPr>
        <p:spPr bwMode="auto">
          <a:xfrm>
            <a:off x="4018854" y="1299763"/>
            <a:ext cx="412750" cy="228600"/>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5" name="Oval 63"/>
          <p:cNvSpPr>
            <a:spLocks noChangeArrowheads="1"/>
          </p:cNvSpPr>
          <p:nvPr/>
        </p:nvSpPr>
        <p:spPr bwMode="auto">
          <a:xfrm>
            <a:off x="4163317" y="1042588"/>
            <a:ext cx="412750" cy="228600"/>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Tree>
    <p:extLst>
      <p:ext uri="{BB962C8B-B14F-4D97-AF65-F5344CB8AC3E}">
        <p14:creationId xmlns:p14="http://schemas.microsoft.com/office/powerpoint/2010/main" val="198864463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bwMode="auto">
          <a:xfrm>
            <a:off x="718576" y="-27384"/>
            <a:ext cx="8694481"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2pPr>
            <a:lvl3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3pPr>
            <a:lvl4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4pPr>
            <a:lvl5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5pPr>
            <a:lvl6pPr marL="4572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6pPr>
            <a:lvl7pPr marL="9144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7pPr>
            <a:lvl8pPr marL="13716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8pPr>
            <a:lvl9pPr marL="18288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3600"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CIDR </a:t>
            </a:r>
            <a:r>
              <a:rPr kumimoji="1" lang="zh-CN" altLang="en-US" sz="3600"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地址块划分举例 </a:t>
            </a:r>
          </a:p>
        </p:txBody>
      </p:sp>
      <p:sp>
        <p:nvSpPr>
          <p:cNvPr id="5" name="Rectangle 3"/>
          <p:cNvSpPr>
            <a:spLocks noChangeArrowheads="1"/>
          </p:cNvSpPr>
          <p:nvPr/>
        </p:nvSpPr>
        <p:spPr bwMode="auto">
          <a:xfrm>
            <a:off x="1480442" y="4103291"/>
            <a:ext cx="7525808" cy="2390775"/>
          </a:xfrm>
          <a:prstGeom prst="rect">
            <a:avLst/>
          </a:prstGeom>
          <a:solidFill>
            <a:srgbClr val="CCECFF"/>
          </a:solidFill>
          <a:ln w="28575">
            <a:solidFill>
              <a:srgbClr val="333399"/>
            </a:solidFill>
            <a:miter lim="800000"/>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grpSp>
        <p:nvGrpSpPr>
          <p:cNvPr id="66" name="组合 65"/>
          <p:cNvGrpSpPr/>
          <p:nvPr/>
        </p:nvGrpSpPr>
        <p:grpSpPr>
          <a:xfrm>
            <a:off x="291422" y="1033063"/>
            <a:ext cx="1637242" cy="738188"/>
            <a:chOff x="228433" y="1033063"/>
            <a:chExt cx="1637242" cy="738188"/>
          </a:xfrm>
        </p:grpSpPr>
        <p:grpSp>
          <p:nvGrpSpPr>
            <p:cNvPr id="7" name="Group 5"/>
            <p:cNvGrpSpPr/>
            <p:nvPr/>
          </p:nvGrpSpPr>
          <p:grpSpPr bwMode="auto">
            <a:xfrm>
              <a:off x="237984" y="1047510"/>
              <a:ext cx="1627691" cy="723741"/>
              <a:chOff x="3134" y="1375"/>
              <a:chExt cx="2386" cy="1553"/>
            </a:xfrm>
            <a:solidFill>
              <a:schemeClr val="bg1">
                <a:lumMod val="65000"/>
              </a:schemeClr>
            </a:solidFill>
          </p:grpSpPr>
          <p:sp>
            <p:nvSpPr>
              <p:cNvPr id="17"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8"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9"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0"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1"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2"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3"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4"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5"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grpSp>
        <p:sp>
          <p:nvSpPr>
            <p:cNvPr id="8" name="Oval 15"/>
            <p:cNvSpPr>
              <a:spLocks noChangeArrowheads="1"/>
            </p:cNvSpPr>
            <p:nvPr/>
          </p:nvSpPr>
          <p:spPr bwMode="auto">
            <a:xfrm>
              <a:off x="790553" y="1033063"/>
              <a:ext cx="700603" cy="29219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9" name="Oval 16"/>
            <p:cNvSpPr>
              <a:spLocks noChangeArrowheads="1"/>
            </p:cNvSpPr>
            <p:nvPr/>
          </p:nvSpPr>
          <p:spPr bwMode="auto">
            <a:xfrm>
              <a:off x="396250" y="1113686"/>
              <a:ext cx="532786" cy="29219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0" name="Oval 17"/>
            <p:cNvSpPr>
              <a:spLocks noChangeArrowheads="1"/>
            </p:cNvSpPr>
            <p:nvPr/>
          </p:nvSpPr>
          <p:spPr bwMode="auto">
            <a:xfrm>
              <a:off x="228433" y="1296369"/>
              <a:ext cx="354736" cy="23348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1" name="Oval 18"/>
            <p:cNvSpPr>
              <a:spLocks noChangeArrowheads="1"/>
            </p:cNvSpPr>
            <p:nvPr/>
          </p:nvSpPr>
          <p:spPr bwMode="auto">
            <a:xfrm>
              <a:off x="336900" y="1405885"/>
              <a:ext cx="542336" cy="25584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2" name="Oval 19"/>
            <p:cNvSpPr>
              <a:spLocks noChangeArrowheads="1"/>
            </p:cNvSpPr>
            <p:nvPr/>
          </p:nvSpPr>
          <p:spPr bwMode="auto">
            <a:xfrm>
              <a:off x="731203" y="1449692"/>
              <a:ext cx="818621" cy="307112"/>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3" name="Oval 20"/>
            <p:cNvSpPr>
              <a:spLocks noChangeArrowheads="1"/>
            </p:cNvSpPr>
            <p:nvPr/>
          </p:nvSpPr>
          <p:spPr bwMode="auto">
            <a:xfrm>
              <a:off x="1263989" y="1120676"/>
              <a:ext cx="513002" cy="22649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4" name="Oval 21"/>
            <p:cNvSpPr>
              <a:spLocks noChangeArrowheads="1"/>
            </p:cNvSpPr>
            <p:nvPr/>
          </p:nvSpPr>
          <p:spPr bwMode="auto">
            <a:xfrm>
              <a:off x="1343122" y="1274465"/>
              <a:ext cx="513002" cy="226490"/>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5" name="Oval 22"/>
            <p:cNvSpPr>
              <a:spLocks noChangeArrowheads="1"/>
            </p:cNvSpPr>
            <p:nvPr/>
          </p:nvSpPr>
          <p:spPr bwMode="auto">
            <a:xfrm>
              <a:off x="1293322" y="1325262"/>
              <a:ext cx="513002" cy="38027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16" name="Oval 23"/>
            <p:cNvSpPr>
              <a:spLocks noChangeArrowheads="1"/>
            </p:cNvSpPr>
            <p:nvPr/>
          </p:nvSpPr>
          <p:spPr bwMode="auto">
            <a:xfrm>
              <a:off x="524501" y="1208289"/>
              <a:ext cx="1055339" cy="380279"/>
            </a:xfrm>
            <a:prstGeom prst="ellipse">
              <a:avLst/>
            </a:prstGeom>
            <a:solidFill>
              <a:schemeClr val="bg1">
                <a:lumMod val="65000"/>
              </a:schemeClr>
            </a:solidFill>
            <a:ln>
              <a:noFill/>
            </a:ln>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26" name="Text Box 24"/>
            <p:cNvSpPr txBox="1">
              <a:spLocks noChangeArrowheads="1"/>
            </p:cNvSpPr>
            <p:nvPr/>
          </p:nvSpPr>
          <p:spPr bwMode="auto">
            <a:xfrm>
              <a:off x="548204" y="1196956"/>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dirty="0">
                  <a:solidFill>
                    <a:srgbClr val="0000CC"/>
                  </a:solidFill>
                  <a:latin typeface="+mn-lt"/>
                  <a:ea typeface="黑体" panose="02010609060101010101" pitchFamily="2" charset="-122"/>
                </a:rPr>
                <a:t>互联网</a:t>
              </a:r>
            </a:p>
          </p:txBody>
        </p:sp>
      </p:grpSp>
      <p:sp>
        <p:nvSpPr>
          <p:cNvPr id="27" name="Oval 25"/>
          <p:cNvSpPr>
            <a:spLocks noChangeArrowheads="1"/>
          </p:cNvSpPr>
          <p:nvPr/>
        </p:nvSpPr>
        <p:spPr bwMode="auto">
          <a:xfrm>
            <a:off x="3931147" y="885426"/>
            <a:ext cx="2844535" cy="958850"/>
          </a:xfrm>
          <a:prstGeom prst="ellipse">
            <a:avLst/>
          </a:prstGeom>
          <a:solidFill>
            <a:srgbClr val="3399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28" name="Oval 26"/>
          <p:cNvSpPr>
            <a:spLocks noChangeArrowheads="1"/>
          </p:cNvSpPr>
          <p:nvPr/>
        </p:nvSpPr>
        <p:spPr bwMode="auto">
          <a:xfrm>
            <a:off x="4534793" y="1033066"/>
            <a:ext cx="1810941" cy="665163"/>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29" name="Text Box 27"/>
          <p:cNvSpPr txBox="1">
            <a:spLocks noChangeArrowheads="1"/>
          </p:cNvSpPr>
          <p:nvPr/>
        </p:nvSpPr>
        <p:spPr bwMode="auto">
          <a:xfrm>
            <a:off x="4627660" y="118070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206.0.68.0/22</a:t>
            </a:r>
          </a:p>
        </p:txBody>
      </p:sp>
      <p:sp>
        <p:nvSpPr>
          <p:cNvPr id="30" name="Text Box 28"/>
          <p:cNvSpPr txBox="1">
            <a:spLocks noChangeArrowheads="1"/>
          </p:cNvSpPr>
          <p:nvPr/>
        </p:nvSpPr>
        <p:spPr bwMode="auto">
          <a:xfrm>
            <a:off x="2211354" y="95845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dirty="0">
                <a:solidFill>
                  <a:srgbClr val="0000CC"/>
                </a:solidFill>
                <a:latin typeface="+mn-lt"/>
                <a:ea typeface="黑体" panose="02010609060101010101" pitchFamily="2" charset="-122"/>
              </a:rPr>
              <a:t>206.0.64.0/18</a:t>
            </a:r>
          </a:p>
        </p:txBody>
      </p:sp>
      <p:sp>
        <p:nvSpPr>
          <p:cNvPr id="31" name="AutoShape 29"/>
          <p:cNvSpPr>
            <a:spLocks noChangeArrowheads="1"/>
          </p:cNvSpPr>
          <p:nvPr/>
        </p:nvSpPr>
        <p:spPr bwMode="auto">
          <a:xfrm>
            <a:off x="1951665" y="1272776"/>
            <a:ext cx="1895210" cy="220662"/>
          </a:xfrm>
          <a:prstGeom prst="leftArrow">
            <a:avLst>
              <a:gd name="adj1" fmla="val 50000"/>
              <a:gd name="adj2" fmla="val 198202"/>
            </a:avLst>
          </a:prstGeom>
          <a:solidFill>
            <a:srgbClr val="FF0000"/>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32" name="Text Box 30"/>
          <p:cNvSpPr txBox="1">
            <a:spLocks noChangeArrowheads="1"/>
          </p:cNvSpPr>
          <p:nvPr/>
        </p:nvSpPr>
        <p:spPr bwMode="auto">
          <a:xfrm>
            <a:off x="3760887" y="66794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2400" b="1">
                <a:solidFill>
                  <a:srgbClr val="0000CC"/>
                </a:solidFill>
                <a:latin typeface="+mn-lt"/>
                <a:ea typeface="黑体" panose="02010609060101010101" pitchFamily="2" charset="-122"/>
              </a:rPr>
              <a:t>ISP</a:t>
            </a:r>
          </a:p>
        </p:txBody>
      </p:sp>
      <p:sp>
        <p:nvSpPr>
          <p:cNvPr id="33" name="Text Box 31"/>
          <p:cNvSpPr txBox="1">
            <a:spLocks noChangeArrowheads="1"/>
          </p:cNvSpPr>
          <p:nvPr/>
        </p:nvSpPr>
        <p:spPr bwMode="auto">
          <a:xfrm>
            <a:off x="6947662" y="739378"/>
            <a:ext cx="11144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a:solidFill>
                  <a:srgbClr val="0000CC"/>
                </a:solidFill>
                <a:latin typeface="+mn-lt"/>
                <a:ea typeface="黑体" panose="02010609060101010101" pitchFamily="2" charset="-122"/>
              </a:rPr>
              <a:t>大学 </a:t>
            </a:r>
            <a:r>
              <a:rPr kumimoji="1" lang="en-US" altLang="zh-CN" sz="2400" b="1">
                <a:solidFill>
                  <a:srgbClr val="0000CC"/>
                </a:solidFill>
                <a:latin typeface="+mn-lt"/>
                <a:ea typeface="黑体" panose="02010609060101010101" pitchFamily="2" charset="-122"/>
              </a:rPr>
              <a:t>X</a:t>
            </a:r>
          </a:p>
        </p:txBody>
      </p:sp>
      <p:sp>
        <p:nvSpPr>
          <p:cNvPr id="34" name="Line 32"/>
          <p:cNvSpPr>
            <a:spLocks noChangeShapeType="1"/>
          </p:cNvSpPr>
          <p:nvPr/>
        </p:nvSpPr>
        <p:spPr bwMode="auto">
          <a:xfrm flipV="1">
            <a:off x="6258024" y="1033066"/>
            <a:ext cx="689637" cy="22066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2400" b="1">
              <a:solidFill>
                <a:srgbClr val="0000CC"/>
              </a:solidFill>
              <a:latin typeface="+mn-lt"/>
              <a:ea typeface="黑体" panose="02010609060101010101" pitchFamily="2" charset="-122"/>
            </a:endParaRPr>
          </a:p>
        </p:txBody>
      </p:sp>
      <p:sp>
        <p:nvSpPr>
          <p:cNvPr id="35" name="Text Box 33"/>
          <p:cNvSpPr txBox="1">
            <a:spLocks noChangeArrowheads="1"/>
          </p:cNvSpPr>
          <p:nvPr/>
        </p:nvSpPr>
        <p:spPr bwMode="auto">
          <a:xfrm>
            <a:off x="2360712" y="3549252"/>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dirty="0">
                <a:solidFill>
                  <a:srgbClr val="0000CC"/>
                </a:solidFill>
                <a:latin typeface="+mn-lt"/>
                <a:ea typeface="黑体" panose="02010609060101010101" pitchFamily="2" charset="-122"/>
              </a:rPr>
              <a:t>一系</a:t>
            </a:r>
          </a:p>
        </p:txBody>
      </p:sp>
      <p:sp>
        <p:nvSpPr>
          <p:cNvPr id="36" name="Text Box 34"/>
          <p:cNvSpPr txBox="1">
            <a:spLocks noChangeArrowheads="1"/>
          </p:cNvSpPr>
          <p:nvPr/>
        </p:nvSpPr>
        <p:spPr bwMode="auto">
          <a:xfrm>
            <a:off x="5086847" y="354131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二系</a:t>
            </a:r>
          </a:p>
        </p:txBody>
      </p:sp>
      <p:sp>
        <p:nvSpPr>
          <p:cNvPr id="37" name="Text Box 35"/>
          <p:cNvSpPr txBox="1">
            <a:spLocks noChangeArrowheads="1"/>
          </p:cNvSpPr>
          <p:nvPr/>
        </p:nvSpPr>
        <p:spPr bwMode="auto">
          <a:xfrm>
            <a:off x="6258024"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三系</a:t>
            </a:r>
          </a:p>
        </p:txBody>
      </p:sp>
      <p:sp>
        <p:nvSpPr>
          <p:cNvPr id="38" name="Text Box 36"/>
          <p:cNvSpPr txBox="1">
            <a:spLocks noChangeArrowheads="1"/>
          </p:cNvSpPr>
          <p:nvPr/>
        </p:nvSpPr>
        <p:spPr bwMode="auto">
          <a:xfrm>
            <a:off x="8598661"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anose="02010609060101010101" pitchFamily="2" charset="-122"/>
              </a:rPr>
              <a:t>四系</a:t>
            </a:r>
          </a:p>
        </p:txBody>
      </p:sp>
      <p:sp>
        <p:nvSpPr>
          <p:cNvPr id="39" name="AutoShape 37"/>
          <p:cNvSpPr>
            <a:spLocks noChangeArrowheads="1"/>
          </p:cNvSpPr>
          <p:nvPr/>
        </p:nvSpPr>
        <p:spPr bwMode="auto">
          <a:xfrm rot="1625099">
            <a:off x="5972537" y="1941113"/>
            <a:ext cx="2712112" cy="173038"/>
          </a:xfrm>
          <a:prstGeom prst="leftArrow">
            <a:avLst>
              <a:gd name="adj1" fmla="val 27083"/>
              <a:gd name="adj2" fmla="val 410994"/>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0" name="Oval 38"/>
          <p:cNvSpPr>
            <a:spLocks noChangeArrowheads="1"/>
          </p:cNvSpPr>
          <p:nvPr/>
        </p:nvSpPr>
        <p:spPr bwMode="auto">
          <a:xfrm>
            <a:off x="7809276" y="2507851"/>
            <a:ext cx="2153179" cy="887412"/>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1" name="Text Box 39"/>
          <p:cNvSpPr txBox="1">
            <a:spLocks noChangeArrowheads="1"/>
          </p:cNvSpPr>
          <p:nvPr/>
        </p:nvSpPr>
        <p:spPr bwMode="auto">
          <a:xfrm>
            <a:off x="7895266" y="266184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206.0.71.128/26</a:t>
            </a:r>
          </a:p>
          <a:p>
            <a:pPr eaLnBrk="1" hangingPunct="1"/>
            <a:r>
              <a:rPr kumimoji="1" lang="en-US" altLang="zh-CN" b="1">
                <a:solidFill>
                  <a:srgbClr val="0000CC"/>
                </a:solidFill>
                <a:latin typeface="+mn-lt"/>
                <a:ea typeface="黑体" panose="02010609060101010101" pitchFamily="2" charset="-122"/>
              </a:rPr>
              <a:t>206.0.71.192/26</a:t>
            </a:r>
          </a:p>
        </p:txBody>
      </p:sp>
      <p:sp>
        <p:nvSpPr>
          <p:cNvPr id="42" name="AutoShape 40"/>
          <p:cNvSpPr>
            <a:spLocks noChangeArrowheads="1"/>
          </p:cNvSpPr>
          <p:nvPr/>
        </p:nvSpPr>
        <p:spPr bwMode="auto">
          <a:xfrm rot="8870696">
            <a:off x="2003258" y="2036363"/>
            <a:ext cx="2897850" cy="184150"/>
          </a:xfrm>
          <a:prstGeom prst="leftArrow">
            <a:avLst>
              <a:gd name="adj1" fmla="val 27083"/>
              <a:gd name="adj2" fmla="val 412642"/>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3" name="Oval 41"/>
          <p:cNvSpPr>
            <a:spLocks noChangeArrowheads="1"/>
          </p:cNvSpPr>
          <p:nvPr/>
        </p:nvSpPr>
        <p:spPr bwMode="auto">
          <a:xfrm>
            <a:off x="56456" y="2507851"/>
            <a:ext cx="2583127" cy="1403350"/>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4" name="Text Box 42"/>
          <p:cNvSpPr txBox="1">
            <a:spLocks noChangeArrowheads="1"/>
          </p:cNvSpPr>
          <p:nvPr/>
        </p:nvSpPr>
        <p:spPr bwMode="auto">
          <a:xfrm>
            <a:off x="486404"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206.0.68.0/25</a:t>
            </a:r>
          </a:p>
          <a:p>
            <a:pPr eaLnBrk="1" hangingPunct="1"/>
            <a:r>
              <a:rPr kumimoji="1" lang="en-US" altLang="zh-CN" b="1">
                <a:solidFill>
                  <a:srgbClr val="0000CC"/>
                </a:solidFill>
                <a:latin typeface="+mn-lt"/>
                <a:ea typeface="黑体" panose="02010609060101010101" pitchFamily="2" charset="-122"/>
              </a:rPr>
              <a:t>206.0.68.128/25</a:t>
            </a:r>
          </a:p>
          <a:p>
            <a:pPr eaLnBrk="1" hangingPunct="1"/>
            <a:r>
              <a:rPr kumimoji="1" lang="en-US" altLang="zh-CN" b="1">
                <a:solidFill>
                  <a:srgbClr val="0000CC"/>
                </a:solidFill>
                <a:latin typeface="+mn-lt"/>
                <a:ea typeface="黑体" panose="02010609060101010101" pitchFamily="2" charset="-122"/>
              </a:rPr>
              <a:t>206.0.69.0/25</a:t>
            </a:r>
          </a:p>
          <a:p>
            <a:pPr eaLnBrk="1" hangingPunct="1"/>
            <a:r>
              <a:rPr kumimoji="1" lang="en-US" altLang="zh-CN" b="1">
                <a:solidFill>
                  <a:srgbClr val="0000CC"/>
                </a:solidFill>
                <a:latin typeface="+mn-lt"/>
                <a:ea typeface="黑体" panose="02010609060101010101" pitchFamily="2" charset="-122"/>
              </a:rPr>
              <a:t>206.0.69.128/25</a:t>
            </a:r>
          </a:p>
        </p:txBody>
      </p:sp>
      <p:sp>
        <p:nvSpPr>
          <p:cNvPr id="45" name="AutoShape 43"/>
          <p:cNvSpPr>
            <a:spLocks noChangeArrowheads="1"/>
          </p:cNvSpPr>
          <p:nvPr/>
        </p:nvSpPr>
        <p:spPr bwMode="auto">
          <a:xfrm rot="7490917">
            <a:off x="3593075" y="2249949"/>
            <a:ext cx="2143125" cy="204656"/>
          </a:xfrm>
          <a:prstGeom prst="leftArrow">
            <a:avLst>
              <a:gd name="adj1" fmla="val 27083"/>
              <a:gd name="adj2" fmla="val 322268"/>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46" name="Oval 44"/>
          <p:cNvSpPr>
            <a:spLocks noChangeArrowheads="1"/>
          </p:cNvSpPr>
          <p:nvPr/>
        </p:nvSpPr>
        <p:spPr bwMode="auto">
          <a:xfrm>
            <a:off x="2813282" y="2507851"/>
            <a:ext cx="2583127" cy="1403350"/>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7" name="Text Box 45"/>
          <p:cNvSpPr txBox="1">
            <a:spLocks noChangeArrowheads="1"/>
          </p:cNvSpPr>
          <p:nvPr/>
        </p:nvSpPr>
        <p:spPr bwMode="auto">
          <a:xfrm>
            <a:off x="3243230"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206.0.70.0/26</a:t>
            </a:r>
          </a:p>
          <a:p>
            <a:pPr eaLnBrk="1" hangingPunct="1"/>
            <a:r>
              <a:rPr kumimoji="1" lang="en-US" altLang="zh-CN" b="1">
                <a:solidFill>
                  <a:srgbClr val="0000CC"/>
                </a:solidFill>
                <a:latin typeface="+mn-lt"/>
                <a:ea typeface="黑体" panose="02010609060101010101" pitchFamily="2" charset="-122"/>
              </a:rPr>
              <a:t>206.0.70.64/26</a:t>
            </a:r>
          </a:p>
          <a:p>
            <a:pPr eaLnBrk="1" hangingPunct="1"/>
            <a:r>
              <a:rPr kumimoji="1" lang="en-US" altLang="zh-CN" b="1">
                <a:solidFill>
                  <a:srgbClr val="0000CC"/>
                </a:solidFill>
                <a:latin typeface="+mn-lt"/>
                <a:ea typeface="黑体" panose="02010609060101010101" pitchFamily="2" charset="-122"/>
              </a:rPr>
              <a:t>206.0.70.128/26</a:t>
            </a:r>
          </a:p>
          <a:p>
            <a:pPr eaLnBrk="1" hangingPunct="1"/>
            <a:r>
              <a:rPr kumimoji="1" lang="en-US" altLang="zh-CN" b="1">
                <a:solidFill>
                  <a:srgbClr val="0000CC"/>
                </a:solidFill>
                <a:latin typeface="+mn-lt"/>
                <a:ea typeface="黑体" panose="02010609060101010101" pitchFamily="2" charset="-122"/>
              </a:rPr>
              <a:t>206.0.70.192/26</a:t>
            </a:r>
          </a:p>
        </p:txBody>
      </p:sp>
      <p:sp>
        <p:nvSpPr>
          <p:cNvPr id="48" name="Rectangle 46"/>
          <p:cNvSpPr>
            <a:spLocks noChangeArrowheads="1"/>
          </p:cNvSpPr>
          <p:nvPr/>
        </p:nvSpPr>
        <p:spPr bwMode="auto">
          <a:xfrm>
            <a:off x="3846877" y="2222101"/>
            <a:ext cx="1463543" cy="19526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49" name="Text Box 47"/>
          <p:cNvSpPr txBox="1">
            <a:spLocks noChangeArrowheads="1"/>
          </p:cNvSpPr>
          <p:nvPr/>
        </p:nvSpPr>
        <p:spPr bwMode="auto">
          <a:xfrm>
            <a:off x="3760885" y="2109389"/>
            <a:ext cx="1595309" cy="3693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206.0.70.0/24</a:t>
            </a:r>
          </a:p>
        </p:txBody>
      </p:sp>
      <p:sp>
        <p:nvSpPr>
          <p:cNvPr id="50" name="AutoShape 48"/>
          <p:cNvSpPr>
            <a:spLocks noChangeArrowheads="1"/>
          </p:cNvSpPr>
          <p:nvPr/>
        </p:nvSpPr>
        <p:spPr bwMode="auto">
          <a:xfrm rot="14362323" flipH="1">
            <a:off x="5224363" y="2298369"/>
            <a:ext cx="2144713" cy="204655"/>
          </a:xfrm>
          <a:prstGeom prst="leftArrow">
            <a:avLst>
              <a:gd name="adj1" fmla="val 27083"/>
              <a:gd name="adj2" fmla="val 322509"/>
            </a:avLst>
          </a:prstGeom>
          <a:solidFill>
            <a:srgbClr val="66C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anose="02010609060101010101" pitchFamily="2" charset="-122"/>
            </a:endParaRPr>
          </a:p>
        </p:txBody>
      </p:sp>
      <p:sp>
        <p:nvSpPr>
          <p:cNvPr id="51" name="Rectangle 49"/>
          <p:cNvSpPr>
            <a:spLocks noChangeArrowheads="1"/>
          </p:cNvSpPr>
          <p:nvPr/>
        </p:nvSpPr>
        <p:spPr bwMode="auto">
          <a:xfrm>
            <a:off x="5656095" y="2241151"/>
            <a:ext cx="1453225" cy="18415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2" name="Text Box 50"/>
          <p:cNvSpPr txBox="1">
            <a:spLocks noChangeArrowheads="1"/>
          </p:cNvSpPr>
          <p:nvPr/>
        </p:nvSpPr>
        <p:spPr bwMode="auto">
          <a:xfrm>
            <a:off x="5568387" y="2123676"/>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206.0.71.0/25</a:t>
            </a:r>
          </a:p>
        </p:txBody>
      </p:sp>
      <p:sp>
        <p:nvSpPr>
          <p:cNvPr id="53" name="Oval 51"/>
          <p:cNvSpPr>
            <a:spLocks noChangeArrowheads="1"/>
          </p:cNvSpPr>
          <p:nvPr/>
        </p:nvSpPr>
        <p:spPr bwMode="auto">
          <a:xfrm>
            <a:off x="5484118" y="2507851"/>
            <a:ext cx="2153179" cy="887412"/>
          </a:xfrm>
          <a:prstGeom prst="ellipse">
            <a:avLst/>
          </a:prstGeom>
          <a:solidFill>
            <a:srgbClr val="FFFF99"/>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4" name="Text Box 52"/>
          <p:cNvSpPr txBox="1">
            <a:spLocks noChangeArrowheads="1"/>
          </p:cNvSpPr>
          <p:nvPr/>
        </p:nvSpPr>
        <p:spPr bwMode="auto">
          <a:xfrm>
            <a:off x="5656096" y="266184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206.0.71.0/26</a:t>
            </a:r>
          </a:p>
          <a:p>
            <a:pPr eaLnBrk="1" hangingPunct="1"/>
            <a:r>
              <a:rPr kumimoji="1" lang="en-US" altLang="zh-CN" b="1">
                <a:solidFill>
                  <a:srgbClr val="0000CC"/>
                </a:solidFill>
                <a:latin typeface="+mn-lt"/>
                <a:ea typeface="黑体" panose="02010609060101010101" pitchFamily="2" charset="-122"/>
              </a:rPr>
              <a:t>206.0.71.64/26</a:t>
            </a:r>
          </a:p>
        </p:txBody>
      </p:sp>
      <p:sp>
        <p:nvSpPr>
          <p:cNvPr id="55" name="Rectangle 53"/>
          <p:cNvSpPr>
            <a:spLocks noChangeArrowheads="1"/>
          </p:cNvSpPr>
          <p:nvPr/>
        </p:nvSpPr>
        <p:spPr bwMode="auto">
          <a:xfrm>
            <a:off x="7809276" y="2214163"/>
            <a:ext cx="1712913"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6" name="Text Box 54"/>
          <p:cNvSpPr txBox="1">
            <a:spLocks noChangeArrowheads="1"/>
          </p:cNvSpPr>
          <p:nvPr/>
        </p:nvSpPr>
        <p:spPr bwMode="auto">
          <a:xfrm>
            <a:off x="7721568" y="2077639"/>
            <a:ext cx="18517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206.0.71.128/25</a:t>
            </a:r>
          </a:p>
        </p:txBody>
      </p:sp>
      <p:sp>
        <p:nvSpPr>
          <p:cNvPr id="57" name="Rectangle 55"/>
          <p:cNvSpPr>
            <a:spLocks noChangeArrowheads="1"/>
          </p:cNvSpPr>
          <p:nvPr/>
        </p:nvSpPr>
        <p:spPr bwMode="auto">
          <a:xfrm>
            <a:off x="2037655" y="2214163"/>
            <a:ext cx="1453225"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58" name="Text Box 56"/>
          <p:cNvSpPr txBox="1">
            <a:spLocks noChangeArrowheads="1"/>
          </p:cNvSpPr>
          <p:nvPr/>
        </p:nvSpPr>
        <p:spPr bwMode="auto">
          <a:xfrm>
            <a:off x="1949945" y="2109389"/>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anose="02010609060101010101" pitchFamily="2" charset="-122"/>
              </a:rPr>
              <a:t>206.0.68.0/23</a:t>
            </a:r>
          </a:p>
        </p:txBody>
      </p:sp>
      <p:sp>
        <p:nvSpPr>
          <p:cNvPr id="59" name="Text Box 57"/>
          <p:cNvSpPr txBox="1">
            <a:spLocks noChangeArrowheads="1"/>
          </p:cNvSpPr>
          <p:nvPr/>
        </p:nvSpPr>
        <p:spPr bwMode="auto">
          <a:xfrm>
            <a:off x="1430570" y="4042963"/>
            <a:ext cx="7788936" cy="2488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lnSpc>
                <a:spcPct val="145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单位         地址块                              二进制表示                         地址数</a:t>
            </a:r>
          </a:p>
          <a:p>
            <a:pPr eaLnBrk="1" hangingPunct="1">
              <a:lnSpc>
                <a:spcPct val="120000"/>
              </a:lnSpc>
            </a:pPr>
            <a:r>
              <a:rPr kumimoji="1" lang="zh-CN" altLang="en-US" b="1" dirty="0">
                <a:solidFill>
                  <a:srgbClr val="0000CC"/>
                </a:solidFill>
                <a:latin typeface="+mn-lt"/>
                <a:ea typeface="黑体" panose="02010609060101010101" pitchFamily="2" charset="-122"/>
              </a:rPr>
              <a:t>   </a:t>
            </a:r>
            <a:r>
              <a:rPr kumimoji="1" lang="en-US" altLang="zh-CN" b="1" dirty="0">
                <a:solidFill>
                  <a:srgbClr val="0000CC"/>
                </a:solidFill>
                <a:latin typeface="+mn-lt"/>
                <a:ea typeface="黑体" panose="02010609060101010101" pitchFamily="2" charset="-122"/>
              </a:rPr>
              <a:t>ISP    206.0.64.0/18        11001110.00000000.01*                     16384</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大学    </a:t>
            </a:r>
            <a:r>
              <a:rPr kumimoji="1" lang="en-US" altLang="zh-CN" b="1" dirty="0">
                <a:solidFill>
                  <a:srgbClr val="0000CC"/>
                </a:solidFill>
                <a:latin typeface="+mn-lt"/>
                <a:ea typeface="黑体" panose="02010609060101010101" pitchFamily="2" charset="-122"/>
              </a:rPr>
              <a:t>206.0.68.0/22        11001110.00000000.010001*               1024</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一系    </a:t>
            </a:r>
            <a:r>
              <a:rPr kumimoji="1" lang="en-US" altLang="zh-CN" b="1" dirty="0">
                <a:solidFill>
                  <a:srgbClr val="0000CC"/>
                </a:solidFill>
                <a:latin typeface="+mn-lt"/>
                <a:ea typeface="黑体" panose="02010609060101010101" pitchFamily="2" charset="-122"/>
              </a:rPr>
              <a:t>206.0.68.0/23        11001110.00000000.0100010*               512</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二系    </a:t>
            </a:r>
            <a:r>
              <a:rPr kumimoji="1" lang="en-US" altLang="zh-CN" b="1" dirty="0">
                <a:solidFill>
                  <a:srgbClr val="0000CC"/>
                </a:solidFill>
                <a:latin typeface="+mn-lt"/>
                <a:ea typeface="黑体" panose="02010609060101010101" pitchFamily="2" charset="-122"/>
              </a:rPr>
              <a:t>206.0.70.0/24        11001110.00000000.01000110.*            256</a:t>
            </a:r>
          </a:p>
          <a:p>
            <a:pPr eaLnBrk="1" hangingPunct="1">
              <a:lnSpc>
                <a:spcPct val="120000"/>
              </a:lnSpc>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三系    </a:t>
            </a:r>
            <a:r>
              <a:rPr kumimoji="1" lang="en-US" altLang="zh-CN" b="1" dirty="0">
                <a:solidFill>
                  <a:srgbClr val="0000CC"/>
                </a:solidFill>
                <a:latin typeface="+mn-lt"/>
                <a:ea typeface="黑体" panose="02010609060101010101" pitchFamily="2" charset="-122"/>
              </a:rPr>
              <a:t>206.0.71.0/25        11001110.00000000.01000111.0*          128</a:t>
            </a:r>
          </a:p>
          <a:p>
            <a:pPr eaLnBrk="1" hangingPunct="1">
              <a:lnSpc>
                <a:spcPct val="120000"/>
              </a:lnSpc>
              <a:spcAft>
                <a:spcPct val="25000"/>
              </a:spcAft>
            </a:pPr>
            <a:r>
              <a:rPr kumimoji="1" lang="en-US" altLang="zh-CN" b="1" dirty="0">
                <a:solidFill>
                  <a:srgbClr val="0000CC"/>
                </a:solidFill>
                <a:latin typeface="+mn-lt"/>
                <a:ea typeface="黑体" panose="02010609060101010101" pitchFamily="2" charset="-122"/>
              </a:rPr>
              <a:t> </a:t>
            </a:r>
            <a:r>
              <a:rPr kumimoji="1" lang="zh-CN" altLang="en-US" b="1" dirty="0">
                <a:solidFill>
                  <a:srgbClr val="0000CC"/>
                </a:solidFill>
                <a:latin typeface="+mn-lt"/>
                <a:ea typeface="黑体" panose="02010609060101010101" pitchFamily="2" charset="-122"/>
              </a:rPr>
              <a:t>四系    </a:t>
            </a:r>
            <a:r>
              <a:rPr kumimoji="1" lang="en-US" altLang="zh-CN" b="1" dirty="0">
                <a:solidFill>
                  <a:srgbClr val="0000CC"/>
                </a:solidFill>
                <a:latin typeface="+mn-lt"/>
                <a:ea typeface="黑体" panose="02010609060101010101" pitchFamily="2" charset="-122"/>
              </a:rPr>
              <a:t>206.0.71.128/25    11001110.00000000.01000111.1*          128</a:t>
            </a:r>
          </a:p>
        </p:txBody>
      </p:sp>
      <p:sp>
        <p:nvSpPr>
          <p:cNvPr id="60" name="Line 58"/>
          <p:cNvSpPr>
            <a:spLocks noChangeShapeType="1"/>
          </p:cNvSpPr>
          <p:nvPr/>
        </p:nvSpPr>
        <p:spPr bwMode="auto">
          <a:xfrm>
            <a:off x="1470124" y="4500163"/>
            <a:ext cx="755848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1" name="Line 59"/>
          <p:cNvSpPr>
            <a:spLocks noChangeShapeType="1"/>
          </p:cNvSpPr>
          <p:nvPr/>
        </p:nvSpPr>
        <p:spPr bwMode="auto">
          <a:xfrm flipH="1">
            <a:off x="2242312" y="4090591"/>
            <a:ext cx="1719"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2" name="Line 60"/>
          <p:cNvSpPr>
            <a:spLocks noChangeShapeType="1"/>
          </p:cNvSpPr>
          <p:nvPr/>
        </p:nvSpPr>
        <p:spPr bwMode="auto">
          <a:xfrm flipH="1">
            <a:off x="4060129" y="4103291"/>
            <a:ext cx="3440"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3" name="Line 61"/>
          <p:cNvSpPr>
            <a:spLocks noChangeShapeType="1"/>
          </p:cNvSpPr>
          <p:nvPr/>
        </p:nvSpPr>
        <p:spPr bwMode="auto">
          <a:xfrm flipH="1">
            <a:off x="7726725" y="4103291"/>
            <a:ext cx="3440" cy="24034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4" name="Oval 62"/>
          <p:cNvSpPr>
            <a:spLocks noChangeArrowheads="1"/>
          </p:cNvSpPr>
          <p:nvPr/>
        </p:nvSpPr>
        <p:spPr bwMode="auto">
          <a:xfrm>
            <a:off x="4018854" y="1299763"/>
            <a:ext cx="412750" cy="228600"/>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5" name="Oval 63"/>
          <p:cNvSpPr>
            <a:spLocks noChangeArrowheads="1"/>
          </p:cNvSpPr>
          <p:nvPr/>
        </p:nvSpPr>
        <p:spPr bwMode="auto">
          <a:xfrm>
            <a:off x="4163317" y="1042588"/>
            <a:ext cx="412750" cy="228600"/>
          </a:xfrm>
          <a:prstGeom prst="ellipse">
            <a:avLst/>
          </a:prstGeom>
          <a:solidFill>
            <a:srgbClr val="CCECFF"/>
          </a:solidFill>
          <a:ln w="9525">
            <a:solidFill>
              <a:srgbClr val="000000"/>
            </a:solidFill>
            <a:rou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1"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endParaRPr>
          </a:p>
        </p:txBody>
      </p:sp>
      <p:sp>
        <p:nvSpPr>
          <p:cNvPr id="67" name="Rectangle 56"/>
          <p:cNvSpPr>
            <a:spLocks noChangeArrowheads="1"/>
          </p:cNvSpPr>
          <p:nvPr/>
        </p:nvSpPr>
        <p:spPr bwMode="auto">
          <a:xfrm>
            <a:off x="247723" y="4077072"/>
            <a:ext cx="9673829" cy="27809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a:solidFill>
                <a:srgbClr val="000000"/>
              </a:solidFill>
              <a:latin typeface="Tahoma" panose="020B0604030504040204" pitchFamily="34" charset="0"/>
              <a:ea typeface="宋体" panose="02010600030101010101" pitchFamily="2" charset="-122"/>
            </a:endParaRPr>
          </a:p>
        </p:txBody>
      </p:sp>
      <p:sp>
        <p:nvSpPr>
          <p:cNvPr id="68" name="Text Box 57"/>
          <p:cNvSpPr txBox="1">
            <a:spLocks noChangeArrowheads="1"/>
          </p:cNvSpPr>
          <p:nvPr/>
        </p:nvSpPr>
        <p:spPr bwMode="auto">
          <a:xfrm>
            <a:off x="544207" y="4292971"/>
            <a:ext cx="9181741" cy="19476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10000"/>
              </a:lnSpc>
            </a:pPr>
            <a:r>
              <a:rPr lang="zh-CN" altLang="en-US" sz="2800" b="1" dirty="0">
                <a:solidFill>
                  <a:srgbClr val="0000CC"/>
                </a:solidFill>
                <a:latin typeface="+mn-lt"/>
                <a:ea typeface="黑体" panose="02010609060101010101" pitchFamily="2" charset="-122"/>
              </a:rPr>
              <a:t>这个 </a:t>
            </a:r>
            <a:r>
              <a:rPr lang="en-US" altLang="zh-CN" sz="2800" b="1" dirty="0">
                <a:solidFill>
                  <a:srgbClr val="0000CC"/>
                </a:solidFill>
                <a:latin typeface="+mn-lt"/>
                <a:ea typeface="黑体" panose="02010609060101010101" pitchFamily="2" charset="-122"/>
              </a:rPr>
              <a:t>ISP </a:t>
            </a:r>
            <a:r>
              <a:rPr lang="zh-CN" altLang="en-US" sz="2800" b="1" dirty="0">
                <a:solidFill>
                  <a:srgbClr val="0000CC"/>
                </a:solidFill>
                <a:latin typeface="+mn-lt"/>
                <a:ea typeface="黑体" panose="02010609060101010101" pitchFamily="2" charset="-122"/>
              </a:rPr>
              <a:t>共有 </a:t>
            </a:r>
            <a:r>
              <a:rPr lang="en-US" altLang="zh-CN" sz="2800" b="1" dirty="0">
                <a:solidFill>
                  <a:srgbClr val="0000CC"/>
                </a:solidFill>
                <a:latin typeface="+mn-lt"/>
                <a:ea typeface="黑体" panose="02010609060101010101" pitchFamily="2" charset="-122"/>
              </a:rPr>
              <a:t>64 </a:t>
            </a:r>
            <a:r>
              <a:rPr lang="zh-CN" altLang="en-US" sz="2800" b="1" dirty="0">
                <a:solidFill>
                  <a:srgbClr val="0000CC"/>
                </a:solidFill>
                <a:latin typeface="+mn-lt"/>
                <a:ea typeface="黑体" panose="02010609060101010101" pitchFamily="2" charset="-122"/>
              </a:rPr>
              <a:t>个 </a:t>
            </a:r>
            <a:r>
              <a:rPr lang="en-US" altLang="zh-CN" sz="2800" b="1" dirty="0">
                <a:solidFill>
                  <a:srgbClr val="0000CC"/>
                </a:solidFill>
                <a:latin typeface="+mn-lt"/>
                <a:ea typeface="黑体" panose="02010609060101010101" pitchFamily="2" charset="-122"/>
              </a:rPr>
              <a:t>C </a:t>
            </a:r>
            <a:r>
              <a:rPr lang="zh-CN" altLang="en-US" sz="2800" b="1" dirty="0">
                <a:solidFill>
                  <a:srgbClr val="0000CC"/>
                </a:solidFill>
                <a:latin typeface="+mn-lt"/>
                <a:ea typeface="黑体" panose="02010609060101010101" pitchFamily="2" charset="-122"/>
              </a:rPr>
              <a:t>类网络。如果不采用 </a:t>
            </a:r>
            <a:r>
              <a:rPr lang="en-US" altLang="zh-CN" sz="2800" b="1" dirty="0">
                <a:solidFill>
                  <a:srgbClr val="0000CC"/>
                </a:solidFill>
                <a:latin typeface="+mn-lt"/>
                <a:ea typeface="黑体" panose="02010609060101010101" pitchFamily="2" charset="-122"/>
              </a:rPr>
              <a:t>CIDR </a:t>
            </a:r>
            <a:r>
              <a:rPr lang="zh-CN" altLang="en-US" sz="2800" b="1" dirty="0">
                <a:solidFill>
                  <a:srgbClr val="0000CC"/>
                </a:solidFill>
                <a:latin typeface="+mn-lt"/>
                <a:ea typeface="黑体" panose="02010609060101010101" pitchFamily="2" charset="-122"/>
              </a:rPr>
              <a:t>技术，则在与该 </a:t>
            </a:r>
            <a:r>
              <a:rPr lang="en-US" altLang="zh-CN" sz="2800" b="1" dirty="0">
                <a:solidFill>
                  <a:srgbClr val="0000CC"/>
                </a:solidFill>
                <a:latin typeface="+mn-lt"/>
                <a:ea typeface="黑体" panose="02010609060101010101" pitchFamily="2" charset="-122"/>
              </a:rPr>
              <a:t>ISP </a:t>
            </a:r>
            <a:r>
              <a:rPr lang="zh-CN" altLang="en-US" sz="2800" b="1" dirty="0">
                <a:solidFill>
                  <a:srgbClr val="0000CC"/>
                </a:solidFill>
                <a:latin typeface="+mn-lt"/>
                <a:ea typeface="黑体" panose="02010609060101010101" pitchFamily="2" charset="-122"/>
              </a:rPr>
              <a:t>的路由器交换路由信息的每一个路由器的路由表中，就需要有 </a:t>
            </a:r>
            <a:r>
              <a:rPr lang="en-US" altLang="zh-CN" sz="2800" b="1" dirty="0">
                <a:solidFill>
                  <a:srgbClr val="0000CC"/>
                </a:solidFill>
                <a:latin typeface="+mn-lt"/>
                <a:ea typeface="黑体" panose="02010609060101010101" pitchFamily="2" charset="-122"/>
              </a:rPr>
              <a:t>64 </a:t>
            </a:r>
            <a:r>
              <a:rPr lang="zh-CN" altLang="en-US" sz="2800" b="1" dirty="0">
                <a:solidFill>
                  <a:srgbClr val="0000CC"/>
                </a:solidFill>
                <a:latin typeface="+mn-lt"/>
                <a:ea typeface="黑体" panose="02010609060101010101" pitchFamily="2" charset="-122"/>
              </a:rPr>
              <a:t>个项目。但采用地址聚合后，只需用路由聚合后的 </a:t>
            </a:r>
            <a:r>
              <a:rPr lang="en-US" altLang="zh-CN" sz="2800" b="1" dirty="0">
                <a:solidFill>
                  <a:srgbClr val="0000CC"/>
                </a:solidFill>
                <a:latin typeface="+mn-lt"/>
                <a:ea typeface="黑体" panose="02010609060101010101" pitchFamily="2" charset="-122"/>
              </a:rPr>
              <a:t>1 </a:t>
            </a:r>
            <a:r>
              <a:rPr lang="zh-CN" altLang="en-US" sz="2800" b="1" dirty="0">
                <a:solidFill>
                  <a:srgbClr val="0000CC"/>
                </a:solidFill>
                <a:latin typeface="+mn-lt"/>
                <a:ea typeface="黑体" panose="02010609060101010101" pitchFamily="2" charset="-122"/>
              </a:rPr>
              <a:t>个项目 </a:t>
            </a:r>
            <a:r>
              <a:rPr lang="en-US" altLang="zh-CN" sz="2800" b="1" dirty="0">
                <a:solidFill>
                  <a:srgbClr val="0000CC"/>
                </a:solidFill>
                <a:latin typeface="+mn-lt"/>
                <a:ea typeface="黑体" panose="02010609060101010101" pitchFamily="2" charset="-122"/>
              </a:rPr>
              <a:t>206.0.64.0/18 </a:t>
            </a:r>
            <a:r>
              <a:rPr lang="zh-CN" altLang="en-US" sz="2800" b="1" dirty="0">
                <a:solidFill>
                  <a:srgbClr val="0000CC"/>
                </a:solidFill>
                <a:latin typeface="+mn-lt"/>
                <a:ea typeface="黑体" panose="02010609060101010101" pitchFamily="2" charset="-122"/>
              </a:rPr>
              <a:t>就能找到该 </a:t>
            </a:r>
            <a:r>
              <a:rPr lang="en-US" altLang="zh-CN" sz="2800" b="1" dirty="0">
                <a:solidFill>
                  <a:srgbClr val="0000CC"/>
                </a:solidFill>
                <a:latin typeface="+mn-lt"/>
                <a:ea typeface="黑体" panose="02010609060101010101" pitchFamily="2" charset="-122"/>
              </a:rPr>
              <a:t>ISP</a:t>
            </a:r>
            <a:r>
              <a:rPr lang="zh-CN" altLang="en-US" sz="2800" b="1" dirty="0">
                <a:solidFill>
                  <a:srgbClr val="0000CC"/>
                </a:solidFill>
                <a:latin typeface="+mn-lt"/>
                <a:ea typeface="黑体" panose="02010609060101010101" pitchFamily="2" charset="-122"/>
              </a:rPr>
              <a:t>。 </a:t>
            </a:r>
          </a:p>
        </p:txBody>
      </p:sp>
    </p:spTree>
    <p:extLst>
      <p:ext uri="{BB962C8B-B14F-4D97-AF65-F5344CB8AC3E}">
        <p14:creationId xmlns:p14="http://schemas.microsoft.com/office/powerpoint/2010/main" val="2614232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nvSpPr>
        <p:spPr>
          <a:xfrm>
            <a:off x="920550" y="1052736"/>
            <a:ext cx="6624737" cy="461665"/>
          </a:xfrm>
          <a:prstGeom prst="rect">
            <a:avLst/>
          </a:prstGeom>
          <a:noFill/>
        </p:spPr>
        <p:txBody>
          <a:bodyPr wrap="square" rtlCol="0">
            <a:spAutoFit/>
          </a:bodyPr>
          <a:lstStyle/>
          <a:p>
            <a:r>
              <a:rPr lang="en-US" altLang="zh-CN" sz="2400" b="1" dirty="0">
                <a:latin typeface="+mn-lt"/>
                <a:ea typeface="黑体" panose="02010609060101010101" pitchFamily="2" charset="-122"/>
              </a:rPr>
              <a:t>1.</a:t>
            </a:r>
            <a:r>
              <a:rPr lang="zh-CN" altLang="en-US" sz="2400" b="1" dirty="0">
                <a:latin typeface="+mn-lt"/>
                <a:ea typeface="黑体" panose="02010609060101010101" pitchFamily="2" charset="-122"/>
              </a:rPr>
              <a:t>下列哪一个是有效的</a:t>
            </a:r>
            <a:r>
              <a:rPr lang="en-US" altLang="zh-CN" sz="2400" b="1" dirty="0">
                <a:latin typeface="+mn-lt"/>
                <a:ea typeface="黑体" panose="02010609060101010101" pitchFamily="2" charset="-122"/>
              </a:rPr>
              <a:t>IP</a:t>
            </a:r>
            <a:r>
              <a:rPr lang="zh-CN" altLang="en-US" sz="2400" b="1" dirty="0">
                <a:latin typeface="+mn-lt"/>
                <a:ea typeface="黑体" panose="02010609060101010101" pitchFamily="2" charset="-122"/>
              </a:rPr>
              <a:t>地址？</a:t>
            </a:r>
          </a:p>
        </p:txBody>
      </p:sp>
      <p:sp>
        <p:nvSpPr>
          <p:cNvPr id="6" name="文本框 5"/>
          <p:cNvSpPr txBox="1"/>
          <p:nvPr/>
        </p:nvSpPr>
        <p:spPr>
          <a:xfrm>
            <a:off x="848544" y="1535168"/>
            <a:ext cx="3024336" cy="400110"/>
          </a:xfrm>
          <a:prstGeom prst="rect">
            <a:avLst/>
          </a:prstGeom>
          <a:noFill/>
        </p:spPr>
        <p:txBody>
          <a:bodyPr wrap="square" rtlCol="0">
            <a:spAutoFit/>
          </a:bodyPr>
          <a:lstStyle>
            <a:defPPr>
              <a:defRPr lang="en-US"/>
            </a:defPPr>
            <a:lvl1pPr>
              <a:defRPr sz="2400" b="1">
                <a:latin typeface="+mn-lt"/>
                <a:ea typeface="黑体" panose="02010609060101010101" pitchFamily="2" charset="-122"/>
              </a:defRPr>
            </a:lvl1pPr>
          </a:lstStyle>
          <a:p>
            <a:r>
              <a:rPr lang="en-US" altLang="zh-CN" sz="2000" dirty="0"/>
              <a:t>A   202.259.230.45</a:t>
            </a:r>
            <a:endParaRPr lang="zh-CN" altLang="en-US" sz="2000" dirty="0"/>
          </a:p>
        </p:txBody>
      </p:sp>
      <p:sp>
        <p:nvSpPr>
          <p:cNvPr id="7" name="文本框 6"/>
          <p:cNvSpPr txBox="1"/>
          <p:nvPr/>
        </p:nvSpPr>
        <p:spPr>
          <a:xfrm>
            <a:off x="5529064" y="1530836"/>
            <a:ext cx="3024336" cy="369332"/>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B   130.192.263.45</a:t>
            </a:r>
            <a:endParaRPr lang="zh-CN" altLang="en-US" dirty="0"/>
          </a:p>
        </p:txBody>
      </p:sp>
      <p:sp>
        <p:nvSpPr>
          <p:cNvPr id="8" name="文本框 7"/>
          <p:cNvSpPr txBox="1"/>
          <p:nvPr/>
        </p:nvSpPr>
        <p:spPr>
          <a:xfrm>
            <a:off x="848544" y="1988840"/>
            <a:ext cx="3024336" cy="400110"/>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C   192.202.130.45</a:t>
            </a:r>
            <a:endParaRPr lang="zh-CN" altLang="en-US" dirty="0"/>
          </a:p>
        </p:txBody>
      </p:sp>
      <p:sp>
        <p:nvSpPr>
          <p:cNvPr id="9" name="文本框 8"/>
          <p:cNvSpPr txBox="1"/>
          <p:nvPr/>
        </p:nvSpPr>
        <p:spPr>
          <a:xfrm>
            <a:off x="5528498" y="1988840"/>
            <a:ext cx="3024336" cy="369332"/>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D   280.192.33.45</a:t>
            </a:r>
            <a:endParaRPr lang="zh-CN" altLang="en-US" dirty="0"/>
          </a:p>
        </p:txBody>
      </p:sp>
      <p:sp>
        <p:nvSpPr>
          <p:cNvPr id="10" name="文本框 9"/>
          <p:cNvSpPr txBox="1"/>
          <p:nvPr/>
        </p:nvSpPr>
        <p:spPr>
          <a:xfrm>
            <a:off x="920551" y="2492896"/>
            <a:ext cx="6624735" cy="461665"/>
          </a:xfrm>
          <a:prstGeom prst="rect">
            <a:avLst/>
          </a:prstGeom>
          <a:noFill/>
        </p:spPr>
        <p:txBody>
          <a:bodyPr wrap="square" rtlCol="0">
            <a:spAutoFit/>
          </a:bodyPr>
          <a:lstStyle>
            <a:defPPr>
              <a:defRPr lang="en-US"/>
            </a:defPPr>
            <a:lvl1pPr>
              <a:defRPr sz="2400" b="1">
                <a:latin typeface="+mn-lt"/>
                <a:ea typeface="黑体" panose="02010609060101010101" pitchFamily="2" charset="-122"/>
              </a:defRPr>
            </a:lvl1pPr>
          </a:lstStyle>
          <a:p>
            <a:r>
              <a:rPr lang="en-US" altLang="zh-CN" dirty="0"/>
              <a:t>2.</a:t>
            </a:r>
            <a:r>
              <a:rPr lang="zh-CN" altLang="en-US" dirty="0"/>
              <a:t>以下</a:t>
            </a:r>
            <a:r>
              <a:rPr lang="en-US" altLang="zh-CN" dirty="0"/>
              <a:t>IP</a:t>
            </a:r>
            <a:r>
              <a:rPr lang="zh-CN" altLang="en-US" dirty="0"/>
              <a:t>地址中，</a:t>
            </a:r>
            <a:r>
              <a:rPr lang="en-US" altLang="zh-CN" dirty="0"/>
              <a:t>___</a:t>
            </a:r>
            <a:r>
              <a:rPr lang="zh-CN" altLang="en-US" dirty="0"/>
              <a:t>不可能是</a:t>
            </a:r>
            <a:r>
              <a:rPr lang="en-US" altLang="zh-CN" dirty="0"/>
              <a:t>B</a:t>
            </a:r>
            <a:r>
              <a:rPr lang="zh-CN" altLang="en-US" dirty="0"/>
              <a:t>类地址？</a:t>
            </a:r>
          </a:p>
        </p:txBody>
      </p:sp>
      <p:sp>
        <p:nvSpPr>
          <p:cNvPr id="11" name="文本框 10"/>
          <p:cNvSpPr txBox="1"/>
          <p:nvPr/>
        </p:nvSpPr>
        <p:spPr>
          <a:xfrm>
            <a:off x="854587" y="3001284"/>
            <a:ext cx="3024336" cy="400110"/>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A   150.66.80.8</a:t>
            </a:r>
            <a:endParaRPr lang="zh-CN" altLang="en-US" dirty="0"/>
          </a:p>
        </p:txBody>
      </p:sp>
      <p:sp>
        <p:nvSpPr>
          <p:cNvPr id="12" name="文本框 11"/>
          <p:cNvSpPr txBox="1"/>
          <p:nvPr/>
        </p:nvSpPr>
        <p:spPr>
          <a:xfrm>
            <a:off x="5601072" y="2996952"/>
            <a:ext cx="3024336" cy="400110"/>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B   190.55.7.5</a:t>
            </a:r>
            <a:endParaRPr lang="zh-CN" altLang="en-US" dirty="0"/>
          </a:p>
        </p:txBody>
      </p:sp>
      <p:sp>
        <p:nvSpPr>
          <p:cNvPr id="13" name="文本框 12"/>
          <p:cNvSpPr txBox="1"/>
          <p:nvPr/>
        </p:nvSpPr>
        <p:spPr>
          <a:xfrm>
            <a:off x="854587" y="3429000"/>
            <a:ext cx="3024336" cy="400110"/>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C   126.110.2.6</a:t>
            </a:r>
            <a:endParaRPr lang="zh-CN" altLang="en-US" dirty="0"/>
          </a:p>
        </p:txBody>
      </p:sp>
      <p:sp>
        <p:nvSpPr>
          <p:cNvPr id="14" name="文本框 13"/>
          <p:cNvSpPr txBox="1"/>
          <p:nvPr/>
        </p:nvSpPr>
        <p:spPr>
          <a:xfrm>
            <a:off x="5601072" y="3429000"/>
            <a:ext cx="3024336" cy="400110"/>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D   160.33.88.55</a:t>
            </a:r>
            <a:endParaRPr lang="zh-CN" altLang="en-US" dirty="0"/>
          </a:p>
        </p:txBody>
      </p:sp>
      <p:sp>
        <p:nvSpPr>
          <p:cNvPr id="16" name="文本框 15"/>
          <p:cNvSpPr txBox="1"/>
          <p:nvPr/>
        </p:nvSpPr>
        <p:spPr>
          <a:xfrm>
            <a:off x="920550" y="6093296"/>
            <a:ext cx="8496945" cy="707886"/>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4.129.__.__</a:t>
            </a:r>
            <a:r>
              <a:rPr lang="zh-CN" altLang="en-US" dirty="0"/>
              <a:t>的网络和</a:t>
            </a:r>
            <a:r>
              <a:rPr lang="en-US" altLang="zh-CN" dirty="0"/>
              <a:t>192.__.__.__</a:t>
            </a:r>
            <a:r>
              <a:rPr lang="zh-CN" altLang="en-US" dirty="0"/>
              <a:t>的网络能够支持的最大主机数分别是多少？</a:t>
            </a:r>
          </a:p>
        </p:txBody>
      </p:sp>
      <p:sp>
        <p:nvSpPr>
          <p:cNvPr id="18" name="文本框 17"/>
          <p:cNvSpPr txBox="1"/>
          <p:nvPr/>
        </p:nvSpPr>
        <p:spPr>
          <a:xfrm>
            <a:off x="920551" y="3915633"/>
            <a:ext cx="5112568" cy="461665"/>
          </a:xfrm>
          <a:prstGeom prst="rect">
            <a:avLst/>
          </a:prstGeom>
          <a:noFill/>
        </p:spPr>
        <p:txBody>
          <a:bodyPr wrap="square" rtlCol="0">
            <a:spAutoFit/>
          </a:bodyPr>
          <a:lstStyle>
            <a:defPPr>
              <a:defRPr lang="en-US"/>
            </a:defPPr>
            <a:lvl1pPr>
              <a:defRPr sz="2400" b="1">
                <a:latin typeface="+mn-lt"/>
                <a:ea typeface="黑体" panose="02010609060101010101" pitchFamily="2" charset="-122"/>
              </a:defRPr>
            </a:lvl1pPr>
          </a:lstStyle>
          <a:p>
            <a:r>
              <a:rPr lang="en-US" altLang="zh-CN" dirty="0"/>
              <a:t>3.</a:t>
            </a:r>
            <a:r>
              <a:rPr lang="zh-CN" altLang="en-US" dirty="0"/>
              <a:t>以下说法正确的是？</a:t>
            </a:r>
          </a:p>
        </p:txBody>
      </p:sp>
      <p:sp>
        <p:nvSpPr>
          <p:cNvPr id="19" name="文本框 18"/>
          <p:cNvSpPr txBox="1"/>
          <p:nvPr/>
        </p:nvSpPr>
        <p:spPr>
          <a:xfrm>
            <a:off x="848545" y="4377298"/>
            <a:ext cx="3024336" cy="707886"/>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A   </a:t>
            </a:r>
            <a:r>
              <a:rPr lang="zh-CN" altLang="en-US" dirty="0"/>
              <a:t>不同网络中两台计算机的</a:t>
            </a:r>
            <a:r>
              <a:rPr lang="en-US" altLang="zh-CN" dirty="0"/>
              <a:t>IP</a:t>
            </a:r>
            <a:r>
              <a:rPr lang="zh-CN" altLang="en-US" dirty="0"/>
              <a:t>地址允许重复</a:t>
            </a:r>
          </a:p>
        </p:txBody>
      </p:sp>
      <p:sp>
        <p:nvSpPr>
          <p:cNvPr id="20" name="文本框 19"/>
          <p:cNvSpPr txBox="1"/>
          <p:nvPr/>
        </p:nvSpPr>
        <p:spPr>
          <a:xfrm>
            <a:off x="5463100" y="4305290"/>
            <a:ext cx="3810381" cy="707886"/>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B  </a:t>
            </a:r>
            <a:r>
              <a:rPr lang="zh-CN" altLang="en-US" dirty="0"/>
              <a:t>连接在一个交换机不同端口的计算机属于同一网络</a:t>
            </a:r>
          </a:p>
        </p:txBody>
      </p:sp>
      <p:sp>
        <p:nvSpPr>
          <p:cNvPr id="21" name="文本框 20"/>
          <p:cNvSpPr txBox="1"/>
          <p:nvPr/>
        </p:nvSpPr>
        <p:spPr>
          <a:xfrm>
            <a:off x="848544" y="5097378"/>
            <a:ext cx="3384377" cy="707886"/>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C  </a:t>
            </a:r>
            <a:r>
              <a:rPr lang="zh-CN" altLang="en-US" dirty="0"/>
              <a:t>位于一个路由器不同端口的两台计算机的</a:t>
            </a:r>
            <a:r>
              <a:rPr lang="en-US" altLang="zh-CN" dirty="0"/>
              <a:t>IP</a:t>
            </a:r>
            <a:r>
              <a:rPr lang="zh-CN" altLang="en-US" dirty="0"/>
              <a:t>允许重复</a:t>
            </a:r>
          </a:p>
        </p:txBody>
      </p:sp>
      <p:sp>
        <p:nvSpPr>
          <p:cNvPr id="22" name="文本框 21"/>
          <p:cNvSpPr txBox="1"/>
          <p:nvPr/>
        </p:nvSpPr>
        <p:spPr>
          <a:xfrm>
            <a:off x="5456492" y="5097378"/>
            <a:ext cx="3600966" cy="707886"/>
          </a:xfrm>
          <a:prstGeom prst="rect">
            <a:avLst/>
          </a:prstGeom>
          <a:noFill/>
        </p:spPr>
        <p:txBody>
          <a:bodyPr wrap="square" rtlCol="0">
            <a:spAutoFit/>
          </a:bodyPr>
          <a:lstStyle>
            <a:defPPr>
              <a:defRPr lang="en-US"/>
            </a:defPPr>
            <a:lvl1pPr>
              <a:defRPr sz="2000" b="1">
                <a:latin typeface="+mn-lt"/>
                <a:ea typeface="黑体" panose="02010609060101010101" pitchFamily="2" charset="-122"/>
              </a:defRPr>
            </a:lvl1pPr>
          </a:lstStyle>
          <a:p>
            <a:r>
              <a:rPr lang="en-US" altLang="zh-CN" dirty="0"/>
              <a:t>D  </a:t>
            </a:r>
            <a:r>
              <a:rPr lang="zh-CN" altLang="en-US" dirty="0"/>
              <a:t>位于一个交换机不同端口的两台计算机的</a:t>
            </a:r>
            <a:r>
              <a:rPr lang="en-US" altLang="zh-CN" dirty="0"/>
              <a:t>IP</a:t>
            </a:r>
            <a:r>
              <a:rPr lang="zh-CN" altLang="en-US" dirty="0"/>
              <a:t>允许重复</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图片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6496" y="1988840"/>
            <a:ext cx="2304256" cy="2304256"/>
          </a:xfrm>
          <a:prstGeom prst="rect">
            <a:avLst/>
          </a:prstGeom>
        </p:spPr>
      </p:pic>
      <p:sp>
        <p:nvSpPr>
          <p:cNvPr id="16" name="对话气泡: 椭圆形 15"/>
          <p:cNvSpPr/>
          <p:nvPr/>
        </p:nvSpPr>
        <p:spPr bwMode="auto">
          <a:xfrm>
            <a:off x="1352600" y="1156878"/>
            <a:ext cx="3600400" cy="1365411"/>
          </a:xfrm>
          <a:prstGeom prst="wedgeEllipseCallout">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系的</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同学</a:t>
            </a:r>
            <a:r>
              <a:rPr lang="zh-CN" altLang="en-US" dirty="0">
                <a:latin typeface="+mn-lt"/>
                <a:ea typeface="黑体" panose="02010609060101010101" pitchFamily="2" charset="-122"/>
              </a:rPr>
              <a:t>，辅导员要来宿舍找你，你在哪个宿舍哪个床位？</a:t>
            </a:r>
          </a:p>
        </p:txBody>
      </p:sp>
      <p:pic>
        <p:nvPicPr>
          <p:cNvPr id="18" name="图片 1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05328" y="2079898"/>
            <a:ext cx="1807103" cy="1852501"/>
          </a:xfrm>
          <a:prstGeom prst="rect">
            <a:avLst/>
          </a:prstGeom>
        </p:spPr>
      </p:pic>
      <p:sp>
        <p:nvSpPr>
          <p:cNvPr id="19" name="对话气泡: 椭圆形 18"/>
          <p:cNvSpPr/>
          <p:nvPr/>
        </p:nvSpPr>
        <p:spPr bwMode="auto">
          <a:xfrm flipH="1">
            <a:off x="6177135" y="1133941"/>
            <a:ext cx="2845651" cy="1368152"/>
          </a:xfrm>
          <a:prstGeom prst="wedgeEllipseCallout">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dirty="0">
                <a:latin typeface="+mn-lt"/>
                <a:ea typeface="黑体" panose="02010609060101010101" pitchFamily="2" charset="-122"/>
              </a:rPr>
              <a:t>我是</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系的</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同学</a:t>
            </a:r>
            <a:r>
              <a:rPr lang="zh-CN" altLang="en-US" dirty="0">
                <a:latin typeface="+mn-lt"/>
                <a:ea typeface="黑体" panose="02010609060101010101" pitchFamily="2" charset="-122"/>
              </a:rPr>
              <a:t>，我的宿舍是</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楼</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号</a:t>
            </a:r>
            <a:r>
              <a:rPr lang="en-US" altLang="zh-CN" dirty="0">
                <a:solidFill>
                  <a:srgbClr val="FF0000"/>
                </a:solidFill>
                <a:latin typeface="+mn-lt"/>
                <a:ea typeface="黑体" panose="02010609060101010101" pitchFamily="2" charset="-122"/>
              </a:rPr>
              <a:t>XX</a:t>
            </a:r>
            <a:r>
              <a:rPr lang="zh-CN" altLang="en-US" dirty="0">
                <a:solidFill>
                  <a:srgbClr val="FF0000"/>
                </a:solidFill>
                <a:latin typeface="+mn-lt"/>
                <a:ea typeface="黑体" panose="02010609060101010101" pitchFamily="2" charset="-122"/>
              </a:rPr>
              <a:t>位</a:t>
            </a:r>
          </a:p>
        </p:txBody>
      </p:sp>
      <p:sp>
        <p:nvSpPr>
          <p:cNvPr id="20" name="椭圆 19"/>
          <p:cNvSpPr/>
          <p:nvPr/>
        </p:nvSpPr>
        <p:spPr bwMode="auto">
          <a:xfrm>
            <a:off x="1786780" y="4437112"/>
            <a:ext cx="3744416" cy="2376264"/>
          </a:xfrm>
          <a:prstGeom prst="ellips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solidFill>
                <a:srgbClr val="FF0000"/>
              </a:solidFill>
              <a:latin typeface="+mn-lt"/>
              <a:ea typeface="黑体" panose="02010609060101010101" pitchFamily="2" charset="-122"/>
            </a:endParaRPr>
          </a:p>
        </p:txBody>
      </p:sp>
      <p:sp>
        <p:nvSpPr>
          <p:cNvPr id="21" name="椭圆 20"/>
          <p:cNvSpPr/>
          <p:nvPr/>
        </p:nvSpPr>
        <p:spPr bwMode="auto">
          <a:xfrm>
            <a:off x="1933460" y="5265204"/>
            <a:ext cx="1365487" cy="720080"/>
          </a:xfrm>
          <a:prstGeom prst="ellips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zh-CN" altLang="en-US" dirty="0">
                <a:latin typeface="+mn-lt"/>
                <a:ea typeface="黑体" panose="02010609060101010101" pitchFamily="2" charset="-122"/>
              </a:rPr>
              <a:t>石油工程系</a:t>
            </a:r>
          </a:p>
        </p:txBody>
      </p:sp>
      <p:sp>
        <p:nvSpPr>
          <p:cNvPr id="22" name="椭圆 21"/>
          <p:cNvSpPr/>
          <p:nvPr/>
        </p:nvSpPr>
        <p:spPr bwMode="auto">
          <a:xfrm>
            <a:off x="4091036" y="5265204"/>
            <a:ext cx="1224136" cy="720080"/>
          </a:xfrm>
          <a:prstGeom prst="ellips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zh-CN" altLang="en-US" dirty="0">
                <a:latin typeface="+mn-lt"/>
                <a:ea typeface="黑体" panose="02010609060101010101" pitchFamily="2" charset="-122"/>
              </a:rPr>
              <a:t>计算机系</a:t>
            </a:r>
          </a:p>
        </p:txBody>
      </p:sp>
      <p:cxnSp>
        <p:nvCxnSpPr>
          <p:cNvPr id="24" name="直接箭头连接符 23"/>
          <p:cNvCxnSpPr/>
          <p:nvPr/>
        </p:nvCxnSpPr>
        <p:spPr bwMode="auto">
          <a:xfrm flipV="1">
            <a:off x="5099148" y="4721932"/>
            <a:ext cx="1368152" cy="903312"/>
          </a:xfrm>
          <a:prstGeom prst="straightConnector1">
            <a:avLst/>
          </a:prstGeom>
          <a:solidFill>
            <a:schemeClr val="accent1"/>
          </a:solidFill>
          <a:ln w="28575" cap="flat" cmpd="sng" algn="ctr">
            <a:solidFill>
              <a:schemeClr val="tx1"/>
            </a:solidFill>
            <a:prstDash val="solid"/>
            <a:round/>
            <a:headEnd type="none" w="med" len="med"/>
            <a:tailEnd type="triangle"/>
          </a:ln>
        </p:spPr>
      </p:cxnSp>
      <p:sp>
        <p:nvSpPr>
          <p:cNvPr id="27" name="文本框 26"/>
          <p:cNvSpPr txBox="1"/>
          <p:nvPr/>
        </p:nvSpPr>
        <p:spPr>
          <a:xfrm>
            <a:off x="6537176" y="4499828"/>
            <a:ext cx="2446140" cy="646331"/>
          </a:xfrm>
          <a:prstGeom prst="rect">
            <a:avLst/>
          </a:prstGeom>
          <a:noFill/>
        </p:spPr>
        <p:txBody>
          <a:bodyPr wrap="square" rtlCol="0">
            <a:spAutoFit/>
          </a:bodyPr>
          <a:lstStyle/>
          <a:p>
            <a:r>
              <a:rPr lang="en-US" altLang="zh-CN" dirty="0"/>
              <a:t>IP</a:t>
            </a:r>
            <a:r>
              <a:rPr lang="zh-CN" altLang="en-US" dirty="0"/>
              <a:t>地址</a:t>
            </a:r>
            <a:r>
              <a:rPr lang="en-US" altLang="zh-CN" dirty="0"/>
              <a:t>=</a:t>
            </a:r>
            <a:r>
              <a:rPr lang="zh-CN" altLang="en-US" dirty="0"/>
              <a:t>院系</a:t>
            </a:r>
            <a:r>
              <a:rPr lang="en-US" altLang="zh-CN" dirty="0"/>
              <a:t>-</a:t>
            </a:r>
            <a:r>
              <a:rPr lang="zh-CN" altLang="en-US" dirty="0"/>
              <a:t>班级</a:t>
            </a:r>
            <a:r>
              <a:rPr lang="en-US" altLang="zh-CN" dirty="0"/>
              <a:t>-</a:t>
            </a:r>
            <a:r>
              <a:rPr lang="zh-CN" altLang="en-US" dirty="0"/>
              <a:t>名字</a:t>
            </a:r>
          </a:p>
        </p:txBody>
      </p:sp>
      <p:cxnSp>
        <p:nvCxnSpPr>
          <p:cNvPr id="28" name="直接箭头连接符 27"/>
          <p:cNvCxnSpPr/>
          <p:nvPr/>
        </p:nvCxnSpPr>
        <p:spPr bwMode="auto">
          <a:xfrm>
            <a:off x="5099148" y="5724264"/>
            <a:ext cx="1365487" cy="869876"/>
          </a:xfrm>
          <a:prstGeom prst="straightConnector1">
            <a:avLst/>
          </a:prstGeom>
          <a:solidFill>
            <a:schemeClr val="accent1"/>
          </a:solidFill>
          <a:ln w="28575" cap="flat" cmpd="sng" algn="ctr">
            <a:solidFill>
              <a:schemeClr val="tx1"/>
            </a:solidFill>
            <a:prstDash val="solid"/>
            <a:round/>
            <a:headEnd type="none" w="med" len="med"/>
            <a:tailEnd type="triangle"/>
          </a:ln>
        </p:spPr>
      </p:cxnSp>
      <p:sp>
        <p:nvSpPr>
          <p:cNvPr id="31" name="文本框 30"/>
          <p:cNvSpPr txBox="1"/>
          <p:nvPr/>
        </p:nvSpPr>
        <p:spPr>
          <a:xfrm>
            <a:off x="6611316" y="6409474"/>
            <a:ext cx="2446140" cy="369332"/>
          </a:xfrm>
          <a:prstGeom prst="rect">
            <a:avLst/>
          </a:prstGeom>
          <a:noFill/>
        </p:spPr>
        <p:txBody>
          <a:bodyPr wrap="square" rtlCol="0">
            <a:spAutoFit/>
          </a:bodyPr>
          <a:lstStyle/>
          <a:p>
            <a:r>
              <a:rPr lang="en-US" altLang="zh-CN" dirty="0"/>
              <a:t>MAC=</a:t>
            </a:r>
            <a:r>
              <a:rPr lang="zh-CN" altLang="en-US" dirty="0"/>
              <a:t>宿舍号</a:t>
            </a:r>
          </a:p>
        </p:txBody>
      </p:sp>
      <p:sp>
        <p:nvSpPr>
          <p:cNvPr id="32" name="文本框 31"/>
          <p:cNvSpPr txBox="1"/>
          <p:nvPr/>
        </p:nvSpPr>
        <p:spPr>
          <a:xfrm>
            <a:off x="3082924" y="4721932"/>
            <a:ext cx="1152128" cy="369332"/>
          </a:xfrm>
          <a:prstGeom prst="rect">
            <a:avLst/>
          </a:prstGeom>
          <a:noFill/>
        </p:spPr>
        <p:txBody>
          <a:bodyPr wrap="square" rtlCol="0">
            <a:spAutoFit/>
          </a:bodyPr>
          <a:lstStyle/>
          <a:p>
            <a:r>
              <a:rPr lang="zh-CN" altLang="en-US" dirty="0"/>
              <a:t>石油大学</a:t>
            </a:r>
          </a:p>
        </p:txBody>
      </p:sp>
      <p:sp>
        <p:nvSpPr>
          <p:cNvPr id="33" name="文本框 32"/>
          <p:cNvSpPr txBox="1"/>
          <p:nvPr/>
        </p:nvSpPr>
        <p:spPr>
          <a:xfrm>
            <a:off x="1242190" y="3501008"/>
            <a:ext cx="652868" cy="369332"/>
          </a:xfrm>
          <a:prstGeom prst="rect">
            <a:avLst/>
          </a:prstGeom>
          <a:noFill/>
        </p:spPr>
        <p:txBody>
          <a:bodyPr wrap="square" rtlCol="0">
            <a:spAutoFit/>
          </a:bodyPr>
          <a:lstStyle/>
          <a:p>
            <a:r>
              <a:rPr lang="zh-CN" altLang="en-US" dirty="0"/>
              <a:t>班长</a:t>
            </a:r>
          </a:p>
        </p:txBody>
      </p:sp>
      <p:sp>
        <p:nvSpPr>
          <p:cNvPr id="34" name="文本框 33"/>
          <p:cNvSpPr txBox="1"/>
          <p:nvPr/>
        </p:nvSpPr>
        <p:spPr>
          <a:xfrm>
            <a:off x="8482444" y="3465428"/>
            <a:ext cx="935051" cy="369332"/>
          </a:xfrm>
          <a:prstGeom prst="rect">
            <a:avLst/>
          </a:prstGeom>
          <a:noFill/>
        </p:spPr>
        <p:txBody>
          <a:bodyPr wrap="square" rtlCol="0">
            <a:spAutoFit/>
          </a:bodyPr>
          <a:lstStyle/>
          <a:p>
            <a:r>
              <a:rPr lang="en-US" altLang="zh-CN" dirty="0"/>
              <a:t>A</a:t>
            </a:r>
            <a:r>
              <a:rPr lang="zh-CN" altLang="en-US" dirty="0"/>
              <a:t>同学</a:t>
            </a:r>
          </a:p>
        </p:txBody>
      </p:sp>
      <p:sp>
        <p:nvSpPr>
          <p:cNvPr id="35" name="矩形 34"/>
          <p:cNvSpPr/>
          <p:nvPr/>
        </p:nvSpPr>
        <p:spPr>
          <a:xfrm>
            <a:off x="3224808" y="2997386"/>
            <a:ext cx="4043094" cy="369332"/>
          </a:xfrm>
          <a:prstGeom prst="rect">
            <a:avLst/>
          </a:prstGeom>
        </p:spPr>
        <p:txBody>
          <a:bodyPr wrap="none">
            <a:spAutoFit/>
          </a:bodyPr>
          <a:lstStyle/>
          <a:p>
            <a:r>
              <a:rPr lang="zh-CN" altLang="en-US" dirty="0"/>
              <a:t>院系班级（</a:t>
            </a:r>
            <a:r>
              <a:rPr lang="en-US" altLang="zh-CN" dirty="0"/>
              <a:t>IP</a:t>
            </a:r>
            <a:r>
              <a:rPr lang="zh-CN" altLang="en-US" dirty="0"/>
              <a:t>地址）</a:t>
            </a:r>
            <a:r>
              <a:rPr lang="en-US" altLang="zh-CN" dirty="0"/>
              <a:t>=</a:t>
            </a:r>
            <a:r>
              <a:rPr lang="en-US" altLang="zh-CN" dirty="0">
                <a:solidFill>
                  <a:srgbClr val="FF0000"/>
                </a:solidFill>
              </a:rPr>
              <a:t> XX</a:t>
            </a:r>
            <a:r>
              <a:rPr lang="zh-CN" altLang="en-US" dirty="0">
                <a:solidFill>
                  <a:srgbClr val="FF0000"/>
                </a:solidFill>
              </a:rPr>
              <a:t>系的</a:t>
            </a:r>
            <a:r>
              <a:rPr lang="en-US" altLang="zh-CN" dirty="0">
                <a:solidFill>
                  <a:srgbClr val="FF0000"/>
                </a:solidFill>
              </a:rPr>
              <a:t>XX</a:t>
            </a:r>
            <a:r>
              <a:rPr lang="zh-CN" altLang="en-US" dirty="0">
                <a:solidFill>
                  <a:srgbClr val="FF0000"/>
                </a:solidFill>
              </a:rPr>
              <a:t>同学</a:t>
            </a:r>
            <a:endParaRPr lang="zh-CN" altLang="en-US" dirty="0"/>
          </a:p>
        </p:txBody>
      </p:sp>
      <p:sp>
        <p:nvSpPr>
          <p:cNvPr id="36" name="矩形 35"/>
          <p:cNvSpPr/>
          <p:nvPr/>
        </p:nvSpPr>
        <p:spPr>
          <a:xfrm>
            <a:off x="3224808" y="3491716"/>
            <a:ext cx="4184159" cy="369332"/>
          </a:xfrm>
          <a:prstGeom prst="rect">
            <a:avLst/>
          </a:prstGeom>
        </p:spPr>
        <p:txBody>
          <a:bodyPr wrap="none">
            <a:spAutoFit/>
          </a:bodyPr>
          <a:lstStyle/>
          <a:p>
            <a:r>
              <a:rPr lang="zh-CN" altLang="en-US" dirty="0"/>
              <a:t>宿舍号（</a:t>
            </a:r>
            <a:r>
              <a:rPr lang="en-US" altLang="zh-CN" dirty="0"/>
              <a:t>MAC</a:t>
            </a:r>
            <a:r>
              <a:rPr lang="zh-CN" altLang="en-US" dirty="0"/>
              <a:t>地址）</a:t>
            </a:r>
            <a:r>
              <a:rPr lang="en-US" altLang="zh-CN" dirty="0"/>
              <a:t>=</a:t>
            </a:r>
            <a:r>
              <a:rPr lang="en-US" altLang="zh-CN" dirty="0">
                <a:solidFill>
                  <a:srgbClr val="FF0000"/>
                </a:solidFill>
              </a:rPr>
              <a:t> XX</a:t>
            </a:r>
            <a:r>
              <a:rPr lang="zh-CN" altLang="en-US" dirty="0">
                <a:solidFill>
                  <a:srgbClr val="FF0000"/>
                </a:solidFill>
              </a:rPr>
              <a:t>楼</a:t>
            </a:r>
            <a:r>
              <a:rPr lang="en-US" altLang="zh-CN" dirty="0">
                <a:solidFill>
                  <a:srgbClr val="FF0000"/>
                </a:solidFill>
              </a:rPr>
              <a:t>XX</a:t>
            </a:r>
            <a:r>
              <a:rPr lang="zh-CN" altLang="en-US" dirty="0">
                <a:solidFill>
                  <a:srgbClr val="FF0000"/>
                </a:solidFill>
              </a:rPr>
              <a:t>号</a:t>
            </a:r>
            <a:r>
              <a:rPr lang="en-US" altLang="zh-CN" dirty="0">
                <a:solidFill>
                  <a:srgbClr val="FF0000"/>
                </a:solidFill>
              </a:rPr>
              <a:t>XX</a:t>
            </a:r>
            <a:r>
              <a:rPr lang="zh-CN" altLang="en-US" dirty="0">
                <a:solidFill>
                  <a:srgbClr val="FF0000"/>
                </a:solidFill>
              </a:rPr>
              <a:t>位</a:t>
            </a:r>
            <a:endParaRPr lang="zh-CN" altLang="en-US" dirty="0"/>
          </a:p>
        </p:txBody>
      </p:sp>
      <p:cxnSp>
        <p:nvCxnSpPr>
          <p:cNvPr id="38" name="直接箭头连接符 37"/>
          <p:cNvCxnSpPr/>
          <p:nvPr/>
        </p:nvCxnSpPr>
        <p:spPr bwMode="auto">
          <a:xfrm>
            <a:off x="7185248" y="5146159"/>
            <a:ext cx="0" cy="1263315"/>
          </a:xfrm>
          <a:prstGeom prst="straightConnector1">
            <a:avLst/>
          </a:prstGeom>
          <a:solidFill>
            <a:schemeClr val="accent1"/>
          </a:solidFill>
          <a:ln w="28575" cap="flat" cmpd="sng" algn="ctr">
            <a:solidFill>
              <a:schemeClr val="tx1"/>
            </a:solidFill>
            <a:prstDash val="solid"/>
            <a:round/>
            <a:headEnd type="none" w="med" len="med"/>
            <a:tailEnd type="triangle"/>
          </a:ln>
        </p:spPr>
      </p:cxnSp>
      <p:cxnSp>
        <p:nvCxnSpPr>
          <p:cNvPr id="40" name="直接箭头连接符 39"/>
          <p:cNvCxnSpPr/>
          <p:nvPr/>
        </p:nvCxnSpPr>
        <p:spPr bwMode="auto">
          <a:xfrm flipV="1">
            <a:off x="7545288" y="5146159"/>
            <a:ext cx="0" cy="1263315"/>
          </a:xfrm>
          <a:prstGeom prst="straightConnector1">
            <a:avLst/>
          </a:prstGeom>
          <a:solidFill>
            <a:schemeClr val="accent1"/>
          </a:solidFill>
          <a:ln w="28575" cap="flat" cmpd="sng" algn="ctr">
            <a:solidFill>
              <a:schemeClr val="tx1"/>
            </a:solidFill>
            <a:prstDash val="solid"/>
            <a:round/>
            <a:headEnd type="none" w="med" len="med"/>
            <a:tailEnd type="triangle"/>
          </a:ln>
        </p:spPr>
      </p:cxn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296304607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89" name="Rectangle 45"/>
          <p:cNvSpPr>
            <a:spLocks noGrp="1" noChangeArrowheads="1"/>
          </p:cNvSpPr>
          <p:nvPr>
            <p:ph type="title"/>
          </p:nvPr>
        </p:nvSpPr>
        <p:spPr/>
        <p:txBody>
          <a:bodyPr/>
          <a:lstStyle/>
          <a:p>
            <a:r>
              <a:rPr lang="en-US" altLang="zh-CN" dirty="0"/>
              <a:t>4.2.6  IP </a:t>
            </a:r>
            <a:r>
              <a:rPr lang="zh-CN" altLang="en-US" dirty="0"/>
              <a:t>层转发分组的流程 </a:t>
            </a:r>
          </a:p>
        </p:txBody>
      </p:sp>
      <p:sp>
        <p:nvSpPr>
          <p:cNvPr id="390193" name="Rectangle 49"/>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a:lnSpc>
                <a:spcPct val="100000"/>
              </a:lnSpc>
            </a:pPr>
            <a:r>
              <a:rPr lang="zh-CN" altLang="en-US" dirty="0"/>
              <a:t>假设：有四个 </a:t>
            </a:r>
            <a:r>
              <a:rPr lang="en-US" altLang="zh-CN" dirty="0"/>
              <a:t>A </a:t>
            </a:r>
            <a:r>
              <a:rPr lang="zh-CN" altLang="en-US" dirty="0"/>
              <a:t>类网络通过三个路由器连接在一起。每一个网络上都可能有成千上万个主机。</a:t>
            </a:r>
          </a:p>
          <a:p>
            <a:pPr>
              <a:lnSpc>
                <a:spcPct val="100000"/>
              </a:lnSpc>
            </a:pPr>
            <a:r>
              <a:rPr lang="zh-CN" altLang="en-US" dirty="0"/>
              <a:t>可以想像，</a:t>
            </a:r>
            <a:r>
              <a:rPr lang="zh-CN" altLang="en-US" dirty="0">
                <a:solidFill>
                  <a:srgbClr val="FF0000"/>
                </a:solidFill>
              </a:rPr>
              <a:t>若按目的主机号来制作路由表，</a:t>
            </a:r>
            <a:r>
              <a:rPr lang="zh-CN" altLang="zh-CN" dirty="0"/>
              <a:t>每一个路由表就有</a:t>
            </a:r>
            <a:r>
              <a:rPr lang="en-US" altLang="zh-CN" dirty="0"/>
              <a:t> 4 </a:t>
            </a:r>
            <a:r>
              <a:rPr lang="zh-CN" altLang="zh-CN" dirty="0"/>
              <a:t>万个项目，即</a:t>
            </a:r>
            <a:r>
              <a:rPr lang="en-US" altLang="zh-CN" dirty="0"/>
              <a:t> 4 </a:t>
            </a:r>
            <a:r>
              <a:rPr lang="zh-CN" altLang="zh-CN" dirty="0"/>
              <a:t>万行</a:t>
            </a:r>
            <a:r>
              <a:rPr lang="zh-CN" altLang="en-US" dirty="0"/>
              <a:t>（</a:t>
            </a:r>
            <a:r>
              <a:rPr lang="zh-CN" altLang="zh-CN" dirty="0"/>
              <a:t>每一行对应于一台主机</a:t>
            </a:r>
            <a:r>
              <a:rPr lang="zh-CN" altLang="en-US" dirty="0"/>
              <a:t>），则所得出的路由表就会过于庞大。</a:t>
            </a:r>
          </a:p>
          <a:p>
            <a:pPr>
              <a:lnSpc>
                <a:spcPct val="100000"/>
              </a:lnSpc>
            </a:pPr>
            <a:r>
              <a:rPr lang="zh-CN" altLang="en-US" dirty="0"/>
              <a:t>但</a:t>
            </a:r>
            <a:r>
              <a:rPr lang="zh-CN" altLang="en-US" dirty="0">
                <a:solidFill>
                  <a:srgbClr val="FF0000"/>
                </a:solidFill>
              </a:rPr>
              <a:t>若按主机所在的网络地址来制作路由表，</a:t>
            </a:r>
            <a:r>
              <a:rPr lang="zh-CN" altLang="en-US" dirty="0"/>
              <a:t>那么每一个路由器中的路由表就只包含 </a:t>
            </a:r>
            <a:r>
              <a:rPr lang="en-US" altLang="zh-CN" dirty="0"/>
              <a:t>4 </a:t>
            </a:r>
            <a:r>
              <a:rPr lang="zh-CN" altLang="en-US" dirty="0"/>
              <a:t>个项目（</a:t>
            </a:r>
            <a:r>
              <a:rPr lang="zh-CN" altLang="zh-CN" dirty="0"/>
              <a:t>每一行对应于一个网络</a:t>
            </a:r>
            <a:r>
              <a:rPr lang="zh-CN" altLang="en-US" dirty="0"/>
              <a:t>），这样就可使路由表大大简化。 </a:t>
            </a:r>
          </a:p>
        </p:txBody>
      </p:sp>
    </p:spTree>
    <p:extLst>
      <p:ext uri="{BB962C8B-B14F-4D97-AF65-F5344CB8AC3E}">
        <p14:creationId xmlns:p14="http://schemas.microsoft.com/office/powerpoint/2010/main" val="107352088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459" name="Text Box 155"/>
          <p:cNvSpPr txBox="1">
            <a:spLocks noChangeArrowheads="1"/>
          </p:cNvSpPr>
          <p:nvPr/>
        </p:nvSpPr>
        <p:spPr bwMode="auto">
          <a:xfrm>
            <a:off x="1516532" y="197055"/>
            <a:ext cx="6676828" cy="1040285"/>
          </a:xfrm>
          <a:prstGeom prst="rect">
            <a:avLst/>
          </a:prstGeom>
          <a:solidFill>
            <a:srgbClr val="FFCCFF"/>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800" b="1" dirty="0">
                <a:solidFill>
                  <a:srgbClr val="0000CC"/>
                </a:solidFill>
                <a:latin typeface="+mn-lt"/>
                <a:ea typeface="黑体" panose="02010609060101010101" pitchFamily="2" charset="-122"/>
              </a:rPr>
              <a:t>在路由表中，对每一条路由，最主要的是</a:t>
            </a:r>
          </a:p>
          <a:p>
            <a:pPr algn="ctr">
              <a:lnSpc>
                <a:spcPct val="110000"/>
              </a:lnSpc>
            </a:pPr>
            <a:r>
              <a:rPr lang="zh-CN" altLang="en-US" sz="2800" b="1" dirty="0">
                <a:solidFill>
                  <a:srgbClr val="C00000"/>
                </a:solidFill>
                <a:latin typeface="+mn-lt"/>
                <a:ea typeface="黑体" panose="02010609060101010101" pitchFamily="2" charset="-122"/>
              </a:rPr>
              <a:t>（目的网络地址，下一跳地址） </a:t>
            </a:r>
          </a:p>
        </p:txBody>
      </p:sp>
      <p:grpSp>
        <p:nvGrpSpPr>
          <p:cNvPr id="2" name="组合 1"/>
          <p:cNvGrpSpPr/>
          <p:nvPr/>
        </p:nvGrpSpPr>
        <p:grpSpPr>
          <a:xfrm>
            <a:off x="84344" y="1477964"/>
            <a:ext cx="9837208" cy="5120090"/>
            <a:chOff x="84344" y="1477964"/>
            <a:chExt cx="9837208" cy="5120090"/>
          </a:xfrm>
        </p:grpSpPr>
        <p:sp>
          <p:nvSpPr>
            <p:cNvPr id="482308" name="Freeform 4"/>
            <p:cNvSpPr/>
            <p:nvPr/>
          </p:nvSpPr>
          <p:spPr bwMode="auto">
            <a:xfrm>
              <a:off x="2349310" y="2401889"/>
              <a:ext cx="5458619" cy="1027111"/>
            </a:xfrm>
            <a:custGeom>
              <a:avLst/>
              <a:gdLst>
                <a:gd name="T0" fmla="*/ 0 w 3024"/>
                <a:gd name="T1" fmla="*/ 636 h 636"/>
                <a:gd name="T2" fmla="*/ 1520 w 3024"/>
                <a:gd name="T3" fmla="*/ 0 h 636"/>
                <a:gd name="T4" fmla="*/ 3024 w 3024"/>
                <a:gd name="T5" fmla="*/ 636 h 636"/>
                <a:gd name="T6" fmla="*/ 0 w 3024"/>
                <a:gd name="T7" fmla="*/ 636 h 636"/>
              </a:gdLst>
              <a:ahLst/>
              <a:cxnLst>
                <a:cxn ang="0">
                  <a:pos x="T0" y="T1"/>
                </a:cxn>
                <a:cxn ang="0">
                  <a:pos x="T2" y="T3"/>
                </a:cxn>
                <a:cxn ang="0">
                  <a:pos x="T4" y="T5"/>
                </a:cxn>
                <a:cxn ang="0">
                  <a:pos x="T6" y="T7"/>
                </a:cxn>
              </a:cxnLst>
              <a:rect l="0" t="0" r="r" b="b"/>
              <a:pathLst>
                <a:path w="3024" h="636">
                  <a:moveTo>
                    <a:pt x="0" y="636"/>
                  </a:moveTo>
                  <a:lnTo>
                    <a:pt x="1520" y="0"/>
                  </a:lnTo>
                  <a:lnTo>
                    <a:pt x="3024" y="636"/>
                  </a:lnTo>
                  <a:lnTo>
                    <a:pt x="0" y="636"/>
                  </a:lnTo>
                  <a:close/>
                </a:path>
              </a:pathLst>
            </a:custGeom>
            <a:gradFill rotWithShape="1">
              <a:gsLst>
                <a:gs pos="0">
                  <a:srgbClr val="FFFF99">
                    <a:gamma/>
                    <a:shade val="81961"/>
                    <a:invGamma/>
                  </a:srgbClr>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482309" name="Group 5"/>
            <p:cNvGrpSpPr/>
            <p:nvPr/>
          </p:nvGrpSpPr>
          <p:grpSpPr bwMode="auto">
            <a:xfrm>
              <a:off x="84344" y="1855788"/>
              <a:ext cx="1379273" cy="914400"/>
              <a:chOff x="912" y="768"/>
              <a:chExt cx="2400" cy="1584"/>
            </a:xfrm>
          </p:grpSpPr>
          <p:sp>
            <p:nvSpPr>
              <p:cNvPr id="482310" name="Oval 6"/>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1" name="Oval 7"/>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2" name="Oval 8"/>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3" name="Oval 9"/>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4" name="Oval 10"/>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5" name="Oval 11"/>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6" name="Oval 12"/>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7" name="Oval 13"/>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18" name="Oval 14"/>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482319" name="Group 15"/>
              <p:cNvGrpSpPr/>
              <p:nvPr/>
            </p:nvGrpSpPr>
            <p:grpSpPr bwMode="auto">
              <a:xfrm>
                <a:off x="912" y="768"/>
                <a:ext cx="2386" cy="1553"/>
                <a:chOff x="912" y="768"/>
                <a:chExt cx="2386" cy="1553"/>
              </a:xfrm>
            </p:grpSpPr>
            <p:sp>
              <p:nvSpPr>
                <p:cNvPr id="482320" name="Oval 16"/>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1" name="Oval 17"/>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2" name="Oval 18"/>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3" name="Oval 19"/>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4" name="Oval 20"/>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5" name="Oval 21"/>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6" name="Oval 22"/>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7" name="Oval 23"/>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28" name="Oval 24"/>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sp>
          <p:nvSpPr>
            <p:cNvPr id="482329" name="Line 25"/>
            <p:cNvSpPr>
              <a:spLocks noChangeShapeType="1"/>
            </p:cNvSpPr>
            <p:nvPr/>
          </p:nvSpPr>
          <p:spPr bwMode="auto">
            <a:xfrm>
              <a:off x="1463616" y="2286000"/>
              <a:ext cx="7321154"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482330" name="Group 26"/>
            <p:cNvGrpSpPr/>
            <p:nvPr/>
          </p:nvGrpSpPr>
          <p:grpSpPr bwMode="auto">
            <a:xfrm>
              <a:off x="8542279" y="1855788"/>
              <a:ext cx="1379273" cy="914400"/>
              <a:chOff x="912" y="768"/>
              <a:chExt cx="2400" cy="1584"/>
            </a:xfrm>
          </p:grpSpPr>
          <p:sp>
            <p:nvSpPr>
              <p:cNvPr id="482331" name="Oval 2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2" name="Oval 2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3" name="Oval 2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4" name="Oval 3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5" name="Oval 3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6" name="Oval 3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7" name="Oval 3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8" name="Oval 3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39" name="Oval 3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482340" name="Group 36"/>
              <p:cNvGrpSpPr/>
              <p:nvPr/>
            </p:nvGrpSpPr>
            <p:grpSpPr bwMode="auto">
              <a:xfrm>
                <a:off x="912" y="768"/>
                <a:ext cx="2386" cy="1553"/>
                <a:chOff x="912" y="768"/>
                <a:chExt cx="2386" cy="1553"/>
              </a:xfrm>
            </p:grpSpPr>
            <p:sp>
              <p:nvSpPr>
                <p:cNvPr id="482341" name="Oval 3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2" name="Oval 3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3" name="Oval 3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4" name="Oval 4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5" name="Oval 4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6" name="Oval 4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7" name="Oval 4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8" name="Oval 4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49" name="Oval 4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grpSp>
          <p:nvGrpSpPr>
            <p:cNvPr id="482350" name="Group 46"/>
            <p:cNvGrpSpPr/>
            <p:nvPr/>
          </p:nvGrpSpPr>
          <p:grpSpPr bwMode="auto">
            <a:xfrm>
              <a:off x="5818129" y="1890714"/>
              <a:ext cx="1379273" cy="915987"/>
              <a:chOff x="912" y="768"/>
              <a:chExt cx="2400" cy="1584"/>
            </a:xfrm>
          </p:grpSpPr>
          <p:sp>
            <p:nvSpPr>
              <p:cNvPr id="482351" name="Oval 4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2" name="Oval 4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3" name="Oval 4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4" name="Oval 5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5" name="Oval 5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6" name="Oval 5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7" name="Oval 5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8" name="Oval 5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59" name="Oval 5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482360" name="Group 56"/>
              <p:cNvGrpSpPr/>
              <p:nvPr/>
            </p:nvGrpSpPr>
            <p:grpSpPr bwMode="auto">
              <a:xfrm>
                <a:off x="912" y="768"/>
                <a:ext cx="2386" cy="1553"/>
                <a:chOff x="912" y="768"/>
                <a:chExt cx="2386" cy="1553"/>
              </a:xfrm>
            </p:grpSpPr>
            <p:sp>
              <p:nvSpPr>
                <p:cNvPr id="482361" name="Oval 5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2" name="Oval 5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3" name="Oval 5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4" name="Oval 6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5" name="Oval 6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6" name="Oval 6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7" name="Oval 6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8" name="Oval 6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69" name="Oval 6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grpSp>
          <p:nvGrpSpPr>
            <p:cNvPr id="482370" name="Group 66"/>
            <p:cNvGrpSpPr/>
            <p:nvPr/>
          </p:nvGrpSpPr>
          <p:grpSpPr bwMode="auto">
            <a:xfrm>
              <a:off x="2983912" y="1855788"/>
              <a:ext cx="1379273" cy="914400"/>
              <a:chOff x="912" y="768"/>
              <a:chExt cx="2400" cy="1584"/>
            </a:xfrm>
          </p:grpSpPr>
          <p:sp>
            <p:nvSpPr>
              <p:cNvPr id="482371" name="Oval 6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2" name="Oval 6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3" name="Oval 6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4" name="Oval 7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5" name="Oval 7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6" name="Oval 7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7" name="Oval 7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8" name="Oval 7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79" name="Oval 7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482380" name="Group 76"/>
              <p:cNvGrpSpPr/>
              <p:nvPr/>
            </p:nvGrpSpPr>
            <p:grpSpPr bwMode="auto">
              <a:xfrm>
                <a:off x="912" y="768"/>
                <a:ext cx="2386" cy="1553"/>
                <a:chOff x="912" y="768"/>
                <a:chExt cx="2386" cy="1553"/>
              </a:xfrm>
            </p:grpSpPr>
            <p:sp>
              <p:nvSpPr>
                <p:cNvPr id="482381" name="Oval 7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2" name="Oval 7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3" name="Oval 7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4" name="Oval 8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5" name="Oval 8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6" name="Oval 8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7" name="Oval 8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8" name="Oval 8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482389" name="Oval 8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sp>
          <p:nvSpPr>
            <p:cNvPr id="482390" name="Text Box 86"/>
            <p:cNvSpPr txBox="1">
              <a:spLocks noChangeArrowheads="1"/>
            </p:cNvSpPr>
            <p:nvPr/>
          </p:nvSpPr>
          <p:spPr bwMode="auto">
            <a:xfrm>
              <a:off x="216768"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   </a:t>
              </a:r>
              <a:r>
                <a:rPr kumimoji="1" lang="zh-CN" altLang="en-US" sz="2000" b="1">
                  <a:solidFill>
                    <a:srgbClr val="0000CC"/>
                  </a:solidFill>
                  <a:latin typeface="+mn-lt"/>
                  <a:ea typeface="黑体" panose="02010609060101010101" pitchFamily="2" charset="-122"/>
                </a:rPr>
                <a:t>网</a:t>
              </a:r>
              <a:r>
                <a:rPr kumimoji="1" lang="zh-CN" altLang="en-US" sz="12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p>
            <a:p>
              <a:r>
                <a:rPr kumimoji="1" lang="en-US" altLang="zh-CN" sz="2000" b="1">
                  <a:solidFill>
                    <a:srgbClr val="0000CC"/>
                  </a:solidFill>
                  <a:latin typeface="+mn-lt"/>
                  <a:ea typeface="黑体" panose="02010609060101010101" pitchFamily="2" charset="-122"/>
                </a:rPr>
                <a:t>10.0.0.0</a:t>
              </a:r>
            </a:p>
          </p:txBody>
        </p:sp>
        <p:sp>
          <p:nvSpPr>
            <p:cNvPr id="482391" name="Text Box 87"/>
            <p:cNvSpPr txBox="1">
              <a:spLocks noChangeArrowheads="1"/>
            </p:cNvSpPr>
            <p:nvPr/>
          </p:nvSpPr>
          <p:spPr bwMode="auto">
            <a:xfrm>
              <a:off x="8784770"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   </a:t>
              </a:r>
              <a:r>
                <a:rPr kumimoji="1" lang="zh-CN" altLang="en-US" sz="2000" b="1">
                  <a:solidFill>
                    <a:srgbClr val="0000CC"/>
                  </a:solidFill>
                  <a:latin typeface="+mn-lt"/>
                  <a:ea typeface="黑体" panose="02010609060101010101" pitchFamily="2" charset="-122"/>
                </a:rPr>
                <a:t>网</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4</a:t>
              </a:r>
            </a:p>
            <a:p>
              <a:r>
                <a:rPr kumimoji="1" lang="en-US" altLang="zh-CN" sz="2000" b="1">
                  <a:solidFill>
                    <a:srgbClr val="0000CC"/>
                  </a:solidFill>
                  <a:latin typeface="+mn-lt"/>
                  <a:ea typeface="黑体" panose="02010609060101010101" pitchFamily="2" charset="-122"/>
                </a:rPr>
                <a:t>40.0.0.0</a:t>
              </a:r>
            </a:p>
          </p:txBody>
        </p:sp>
        <p:sp>
          <p:nvSpPr>
            <p:cNvPr id="482392" name="Text Box 88"/>
            <p:cNvSpPr txBox="1">
              <a:spLocks noChangeArrowheads="1"/>
            </p:cNvSpPr>
            <p:nvPr/>
          </p:nvSpPr>
          <p:spPr bwMode="auto">
            <a:xfrm>
              <a:off x="5969470"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   </a:t>
              </a:r>
              <a:r>
                <a:rPr kumimoji="1" lang="zh-CN" altLang="en-US" sz="2000" b="1">
                  <a:solidFill>
                    <a:srgbClr val="0000CC"/>
                  </a:solidFill>
                  <a:latin typeface="+mn-lt"/>
                  <a:ea typeface="黑体" panose="02010609060101010101" pitchFamily="2" charset="-122"/>
                </a:rPr>
                <a:t>网</a:t>
              </a:r>
              <a:r>
                <a:rPr kumimoji="1" lang="zh-CN" altLang="en-US" sz="12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3</a:t>
              </a:r>
            </a:p>
            <a:p>
              <a:r>
                <a:rPr kumimoji="1" lang="en-US" altLang="zh-CN" sz="2000" b="1">
                  <a:solidFill>
                    <a:srgbClr val="0000CC"/>
                  </a:solidFill>
                  <a:latin typeface="+mn-lt"/>
                  <a:ea typeface="黑体" panose="02010609060101010101" pitchFamily="2" charset="-122"/>
                </a:rPr>
                <a:t>30.0.0.0</a:t>
              </a:r>
            </a:p>
          </p:txBody>
        </p:sp>
        <p:sp>
          <p:nvSpPr>
            <p:cNvPr id="482393" name="Text Box 89"/>
            <p:cNvSpPr txBox="1">
              <a:spLocks noChangeArrowheads="1"/>
            </p:cNvSpPr>
            <p:nvPr/>
          </p:nvSpPr>
          <p:spPr bwMode="auto">
            <a:xfrm>
              <a:off x="3135254"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   </a:t>
              </a:r>
              <a:r>
                <a:rPr kumimoji="1" lang="zh-CN" altLang="en-US" sz="2000" b="1" dirty="0">
                  <a:solidFill>
                    <a:srgbClr val="0000CC"/>
                  </a:solidFill>
                  <a:latin typeface="+mn-lt"/>
                  <a:ea typeface="黑体" panose="02010609060101010101" pitchFamily="2" charset="-122"/>
                </a:rPr>
                <a:t>网</a:t>
              </a:r>
              <a:r>
                <a:rPr kumimoji="1" lang="zh-CN" altLang="en-US" sz="1000" b="1" dirty="0">
                  <a:solidFill>
                    <a:srgbClr val="0000CC"/>
                  </a:solidFill>
                  <a:latin typeface="+mn-lt"/>
                  <a:ea typeface="黑体" panose="02010609060101010101" pitchFamily="2" charset="-122"/>
                </a:rPr>
                <a:t> </a:t>
              </a:r>
              <a:r>
                <a:rPr kumimoji="1" lang="en-US" altLang="zh-CN" sz="2000" b="1" dirty="0">
                  <a:solidFill>
                    <a:srgbClr val="0000CC"/>
                  </a:solidFill>
                  <a:latin typeface="+mn-lt"/>
                  <a:ea typeface="黑体" panose="02010609060101010101" pitchFamily="2" charset="-122"/>
                </a:rPr>
                <a:t>2</a:t>
              </a:r>
            </a:p>
            <a:p>
              <a:r>
                <a:rPr kumimoji="1" lang="en-US" altLang="zh-CN" sz="2000" b="1" dirty="0">
                  <a:solidFill>
                    <a:srgbClr val="0000CC"/>
                  </a:solidFill>
                  <a:latin typeface="+mn-lt"/>
                  <a:ea typeface="黑体" panose="02010609060101010101" pitchFamily="2" charset="-122"/>
                </a:rPr>
                <a:t>20.0.0.0</a:t>
              </a:r>
            </a:p>
          </p:txBody>
        </p:sp>
        <p:sp>
          <p:nvSpPr>
            <p:cNvPr id="482394" name="Text Box 90"/>
            <p:cNvSpPr txBox="1">
              <a:spLocks noChangeArrowheads="1"/>
            </p:cNvSpPr>
            <p:nvPr/>
          </p:nvSpPr>
          <p:spPr bwMode="auto">
            <a:xfrm>
              <a:off x="90296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10.0.0.4</a:t>
              </a:r>
            </a:p>
          </p:txBody>
        </p:sp>
        <p:sp>
          <p:nvSpPr>
            <p:cNvPr id="482395" name="Text Box 91"/>
            <p:cNvSpPr txBox="1">
              <a:spLocks noChangeArrowheads="1"/>
            </p:cNvSpPr>
            <p:nvPr/>
          </p:nvSpPr>
          <p:spPr bwMode="auto">
            <a:xfrm>
              <a:off x="7897358"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40.0.0.4</a:t>
              </a:r>
            </a:p>
          </p:txBody>
        </p:sp>
        <p:sp>
          <p:nvSpPr>
            <p:cNvPr id="482396" name="Text Box 92"/>
            <p:cNvSpPr txBox="1">
              <a:spLocks noChangeArrowheads="1"/>
            </p:cNvSpPr>
            <p:nvPr/>
          </p:nvSpPr>
          <p:spPr bwMode="auto">
            <a:xfrm>
              <a:off x="5238560"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30.0.0.2</a:t>
              </a:r>
            </a:p>
          </p:txBody>
        </p:sp>
        <p:sp>
          <p:nvSpPr>
            <p:cNvPr id="482397" name="Text Box 93"/>
            <p:cNvSpPr txBox="1">
              <a:spLocks noChangeArrowheads="1"/>
            </p:cNvSpPr>
            <p:nvPr/>
          </p:nvSpPr>
          <p:spPr bwMode="auto">
            <a:xfrm>
              <a:off x="388336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20.0.0.9</a:t>
              </a:r>
            </a:p>
          </p:txBody>
        </p:sp>
        <p:sp>
          <p:nvSpPr>
            <p:cNvPr id="482398" name="Text Box 94"/>
            <p:cNvSpPr txBox="1">
              <a:spLocks noChangeArrowheads="1"/>
            </p:cNvSpPr>
            <p:nvPr/>
          </p:nvSpPr>
          <p:spPr bwMode="auto">
            <a:xfrm>
              <a:off x="222892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20.0.0.7</a:t>
              </a:r>
            </a:p>
          </p:txBody>
        </p:sp>
        <p:sp>
          <p:nvSpPr>
            <p:cNvPr id="482399" name="Line 95"/>
            <p:cNvSpPr>
              <a:spLocks noChangeShapeType="1"/>
            </p:cNvSpPr>
            <p:nvPr/>
          </p:nvSpPr>
          <p:spPr bwMode="auto">
            <a:xfrm>
              <a:off x="1633876" y="1881188"/>
              <a:ext cx="0" cy="404812"/>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0" name="Line 96"/>
            <p:cNvSpPr>
              <a:spLocks noChangeShapeType="1"/>
            </p:cNvSpPr>
            <p:nvPr/>
          </p:nvSpPr>
          <p:spPr bwMode="auto">
            <a:xfrm>
              <a:off x="2827411" y="1881188"/>
              <a:ext cx="0" cy="404812"/>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1" name="Line 97"/>
            <p:cNvSpPr>
              <a:spLocks noChangeShapeType="1"/>
            </p:cNvSpPr>
            <p:nvPr/>
          </p:nvSpPr>
          <p:spPr bwMode="auto">
            <a:xfrm>
              <a:off x="7262753" y="1881188"/>
              <a:ext cx="0" cy="404812"/>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2" name="Line 98"/>
            <p:cNvSpPr>
              <a:spLocks noChangeShapeType="1"/>
            </p:cNvSpPr>
            <p:nvPr/>
          </p:nvSpPr>
          <p:spPr bwMode="auto">
            <a:xfrm>
              <a:off x="4619434" y="1881188"/>
              <a:ext cx="0" cy="404812"/>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3" name="Line 99"/>
            <p:cNvSpPr>
              <a:spLocks noChangeShapeType="1"/>
            </p:cNvSpPr>
            <p:nvPr/>
          </p:nvSpPr>
          <p:spPr bwMode="auto">
            <a:xfrm>
              <a:off x="8458009" y="1860550"/>
              <a:ext cx="0" cy="403225"/>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4" name="Line 100"/>
            <p:cNvSpPr>
              <a:spLocks noChangeShapeType="1"/>
            </p:cNvSpPr>
            <p:nvPr/>
          </p:nvSpPr>
          <p:spPr bwMode="auto">
            <a:xfrm>
              <a:off x="5728699" y="1881188"/>
              <a:ext cx="0" cy="404812"/>
            </a:xfrm>
            <a:prstGeom prst="line">
              <a:avLst/>
            </a:prstGeom>
            <a:noFill/>
            <a:ln w="381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5" name="Rectangle 101"/>
            <p:cNvSpPr>
              <a:spLocks noChangeArrowheads="1"/>
            </p:cNvSpPr>
            <p:nvPr/>
          </p:nvSpPr>
          <p:spPr bwMode="auto">
            <a:xfrm>
              <a:off x="2349310" y="3429000"/>
              <a:ext cx="5458619" cy="1778000"/>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482406" name="Line 102"/>
            <p:cNvSpPr>
              <a:spLocks noChangeShapeType="1"/>
            </p:cNvSpPr>
            <p:nvPr/>
          </p:nvSpPr>
          <p:spPr bwMode="auto">
            <a:xfrm>
              <a:off x="2349310" y="3914775"/>
              <a:ext cx="5458619"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07" name="Text Box 103"/>
            <p:cNvSpPr txBox="1">
              <a:spLocks noChangeArrowheads="1"/>
            </p:cNvSpPr>
            <p:nvPr/>
          </p:nvSpPr>
          <p:spPr bwMode="auto">
            <a:xfrm>
              <a:off x="2361347" y="3452813"/>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目的主机所在的网络</a:t>
              </a:r>
            </a:p>
          </p:txBody>
        </p:sp>
        <p:sp>
          <p:nvSpPr>
            <p:cNvPr id="482408" name="Text Box 104"/>
            <p:cNvSpPr txBox="1">
              <a:spLocks noChangeArrowheads="1"/>
            </p:cNvSpPr>
            <p:nvPr/>
          </p:nvSpPr>
          <p:spPr bwMode="auto">
            <a:xfrm>
              <a:off x="5646149" y="3448050"/>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下一跳地址</a:t>
              </a:r>
            </a:p>
          </p:txBody>
        </p:sp>
        <p:sp>
          <p:nvSpPr>
            <p:cNvPr id="482409" name="Line 105"/>
            <p:cNvSpPr>
              <a:spLocks noChangeShapeType="1"/>
            </p:cNvSpPr>
            <p:nvPr/>
          </p:nvSpPr>
          <p:spPr bwMode="auto">
            <a:xfrm>
              <a:off x="5078618" y="3429000"/>
              <a:ext cx="0" cy="177800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10" name="Line 106"/>
            <p:cNvSpPr>
              <a:spLocks noChangeShapeType="1"/>
            </p:cNvSpPr>
            <p:nvPr/>
          </p:nvSpPr>
          <p:spPr bwMode="auto">
            <a:xfrm>
              <a:off x="2349310" y="4237037"/>
              <a:ext cx="5458619"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11" name="Line 107"/>
            <p:cNvSpPr>
              <a:spLocks noChangeShapeType="1"/>
            </p:cNvSpPr>
            <p:nvPr/>
          </p:nvSpPr>
          <p:spPr bwMode="auto">
            <a:xfrm>
              <a:off x="2349310" y="4560887"/>
              <a:ext cx="5458619"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12" name="Line 108"/>
            <p:cNvSpPr>
              <a:spLocks noChangeShapeType="1"/>
            </p:cNvSpPr>
            <p:nvPr/>
          </p:nvSpPr>
          <p:spPr bwMode="auto">
            <a:xfrm>
              <a:off x="2349310" y="4884737"/>
              <a:ext cx="5458619"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13" name="Text Box 109"/>
            <p:cNvSpPr txBox="1">
              <a:spLocks noChangeArrowheads="1"/>
            </p:cNvSpPr>
            <p:nvPr/>
          </p:nvSpPr>
          <p:spPr bwMode="auto">
            <a:xfrm>
              <a:off x="3087099" y="38639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20.0.0.0</a:t>
              </a:r>
            </a:p>
          </p:txBody>
        </p:sp>
        <p:sp>
          <p:nvSpPr>
            <p:cNvPr id="482414" name="Text Box 110"/>
            <p:cNvSpPr txBox="1">
              <a:spLocks noChangeArrowheads="1"/>
            </p:cNvSpPr>
            <p:nvPr/>
          </p:nvSpPr>
          <p:spPr bwMode="auto">
            <a:xfrm>
              <a:off x="3087099" y="4178300"/>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30.0.0.0</a:t>
              </a:r>
            </a:p>
          </p:txBody>
        </p:sp>
        <p:sp>
          <p:nvSpPr>
            <p:cNvPr id="482415" name="Text Box 111"/>
            <p:cNvSpPr txBox="1">
              <a:spLocks noChangeArrowheads="1"/>
            </p:cNvSpPr>
            <p:nvPr/>
          </p:nvSpPr>
          <p:spPr bwMode="auto">
            <a:xfrm>
              <a:off x="3087099" y="45243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10.0.0.0</a:t>
              </a:r>
            </a:p>
          </p:txBody>
        </p:sp>
        <p:sp>
          <p:nvSpPr>
            <p:cNvPr id="482416" name="Text Box 112"/>
            <p:cNvSpPr txBox="1">
              <a:spLocks noChangeArrowheads="1"/>
            </p:cNvSpPr>
            <p:nvPr/>
          </p:nvSpPr>
          <p:spPr bwMode="auto">
            <a:xfrm>
              <a:off x="3087099" y="4822825"/>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40.0.0.0</a:t>
              </a:r>
            </a:p>
          </p:txBody>
        </p:sp>
        <p:sp>
          <p:nvSpPr>
            <p:cNvPr id="482417" name="Text Box 113"/>
            <p:cNvSpPr txBox="1">
              <a:spLocks noChangeArrowheads="1"/>
            </p:cNvSpPr>
            <p:nvPr/>
          </p:nvSpPr>
          <p:spPr bwMode="auto">
            <a:xfrm>
              <a:off x="5747618" y="45116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20.0.0.7</a:t>
              </a:r>
            </a:p>
          </p:txBody>
        </p:sp>
        <p:sp>
          <p:nvSpPr>
            <p:cNvPr id="482418" name="Text Box 114"/>
            <p:cNvSpPr txBox="1">
              <a:spLocks noChangeArrowheads="1"/>
            </p:cNvSpPr>
            <p:nvPr/>
          </p:nvSpPr>
          <p:spPr bwMode="auto">
            <a:xfrm>
              <a:off x="5747618" y="483552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30.0.0.1</a:t>
              </a:r>
            </a:p>
          </p:txBody>
        </p:sp>
        <p:sp>
          <p:nvSpPr>
            <p:cNvPr id="482419" name="Text Box 115"/>
            <p:cNvSpPr txBox="1">
              <a:spLocks noChangeArrowheads="1"/>
            </p:cNvSpPr>
            <p:nvPr/>
          </p:nvSpPr>
          <p:spPr bwMode="auto">
            <a:xfrm>
              <a:off x="5271235" y="4205287"/>
              <a:ext cx="22509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直接交付，接口 </a:t>
              </a:r>
              <a:r>
                <a:rPr kumimoji="1" lang="en-US" altLang="zh-CN" sz="2000" b="1" dirty="0">
                  <a:solidFill>
                    <a:srgbClr val="0000CC"/>
                  </a:solidFill>
                  <a:latin typeface="+mn-lt"/>
                  <a:ea typeface="黑体" panose="02010609060101010101" pitchFamily="2" charset="-122"/>
                </a:rPr>
                <a:t>1</a:t>
              </a:r>
            </a:p>
          </p:txBody>
        </p:sp>
        <p:sp>
          <p:nvSpPr>
            <p:cNvPr id="482420" name="Text Box 116"/>
            <p:cNvSpPr txBox="1">
              <a:spLocks noChangeArrowheads="1"/>
            </p:cNvSpPr>
            <p:nvPr/>
          </p:nvSpPr>
          <p:spPr bwMode="auto">
            <a:xfrm>
              <a:off x="5271235" y="3860801"/>
              <a:ext cx="22509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直接交付，接口 </a:t>
              </a:r>
              <a:r>
                <a:rPr kumimoji="1" lang="en-US" altLang="zh-CN" sz="2000" b="1" dirty="0">
                  <a:solidFill>
                    <a:srgbClr val="0000CC"/>
                  </a:solidFill>
                  <a:latin typeface="+mn-lt"/>
                  <a:ea typeface="黑体" panose="02010609060101010101" pitchFamily="2" charset="-122"/>
                </a:rPr>
                <a:t>0</a:t>
              </a:r>
            </a:p>
          </p:txBody>
        </p:sp>
        <p:sp>
          <p:nvSpPr>
            <p:cNvPr id="482421" name="Text Box 117"/>
            <p:cNvSpPr txBox="1">
              <a:spLocks noChangeArrowheads="1"/>
            </p:cNvSpPr>
            <p:nvPr/>
          </p:nvSpPr>
          <p:spPr bwMode="auto">
            <a:xfrm>
              <a:off x="3542845" y="2924944"/>
              <a:ext cx="28568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路由器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en-US" altLang="zh-CN" sz="2400" b="1" dirty="0">
                  <a:solidFill>
                    <a:srgbClr val="0000CC"/>
                  </a:solidFill>
                  <a:latin typeface="+mn-lt"/>
                  <a:ea typeface="黑体" panose="02010609060101010101" pitchFamily="2" charset="-122"/>
                </a:rPr>
                <a:t> </a:t>
              </a:r>
              <a:r>
                <a:rPr kumimoji="1" lang="zh-CN" altLang="en-US" sz="2400" b="1">
                  <a:solidFill>
                    <a:srgbClr val="0000CC"/>
                  </a:solidFill>
                  <a:latin typeface="+mn-lt"/>
                  <a:ea typeface="黑体" panose="02010609060101010101" pitchFamily="2" charset="-122"/>
                </a:rPr>
                <a:t>的转发表</a:t>
              </a:r>
              <a:endParaRPr kumimoji="1" lang="zh-CN" altLang="en-US" sz="2400" b="1" dirty="0">
                <a:solidFill>
                  <a:srgbClr val="0000CC"/>
                </a:solidFill>
                <a:latin typeface="+mn-lt"/>
                <a:ea typeface="黑体" panose="02010609060101010101" pitchFamily="2" charset="-122"/>
              </a:endParaRPr>
            </a:p>
          </p:txBody>
        </p:sp>
        <p:sp>
          <p:nvSpPr>
            <p:cNvPr id="482422" name="Text Box 118"/>
            <p:cNvSpPr txBox="1">
              <a:spLocks noChangeArrowheads="1"/>
            </p:cNvSpPr>
            <p:nvPr/>
          </p:nvSpPr>
          <p:spPr bwMode="auto">
            <a:xfrm>
              <a:off x="6617833"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30.0.0.1</a:t>
              </a:r>
            </a:p>
          </p:txBody>
        </p:sp>
        <p:sp>
          <p:nvSpPr>
            <p:cNvPr id="482425" name="Line 121"/>
            <p:cNvSpPr>
              <a:spLocks noChangeShapeType="1"/>
            </p:cNvSpPr>
            <p:nvPr/>
          </p:nvSpPr>
          <p:spPr bwMode="auto">
            <a:xfrm flipV="1">
              <a:off x="130778" y="6181254"/>
              <a:ext cx="9520767" cy="15875"/>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26" name="Rectangle 122"/>
            <p:cNvSpPr>
              <a:spLocks noChangeArrowheads="1"/>
            </p:cNvSpPr>
            <p:nvPr/>
          </p:nvSpPr>
          <p:spPr bwMode="auto">
            <a:xfrm>
              <a:off x="7887039" y="5458941"/>
              <a:ext cx="999198" cy="2762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27" name="Text Box 123"/>
            <p:cNvSpPr txBox="1">
              <a:spLocks noChangeArrowheads="1"/>
            </p:cNvSpPr>
            <p:nvPr/>
          </p:nvSpPr>
          <p:spPr bwMode="auto">
            <a:xfrm>
              <a:off x="980356"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10.0.0.4</a:t>
              </a:r>
            </a:p>
          </p:txBody>
        </p:sp>
        <p:sp>
          <p:nvSpPr>
            <p:cNvPr id="482428" name="Text Box 124"/>
            <p:cNvSpPr txBox="1">
              <a:spLocks noChangeArrowheads="1"/>
            </p:cNvSpPr>
            <p:nvPr/>
          </p:nvSpPr>
          <p:spPr bwMode="auto">
            <a:xfrm>
              <a:off x="8009143"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40.0.0.4</a:t>
              </a:r>
            </a:p>
          </p:txBody>
        </p:sp>
        <p:sp>
          <p:nvSpPr>
            <p:cNvPr id="482429" name="Text Box 125"/>
            <p:cNvSpPr txBox="1">
              <a:spLocks noChangeArrowheads="1"/>
            </p:cNvSpPr>
            <p:nvPr/>
          </p:nvSpPr>
          <p:spPr bwMode="auto">
            <a:xfrm>
              <a:off x="5193845"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30.0.0.2</a:t>
              </a:r>
            </a:p>
          </p:txBody>
        </p:sp>
        <p:sp>
          <p:nvSpPr>
            <p:cNvPr id="482430" name="Text Box 126"/>
            <p:cNvSpPr txBox="1">
              <a:spLocks noChangeArrowheads="1"/>
            </p:cNvSpPr>
            <p:nvPr/>
          </p:nvSpPr>
          <p:spPr bwMode="auto">
            <a:xfrm>
              <a:off x="3788774"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20.0.0.9</a:t>
              </a:r>
            </a:p>
          </p:txBody>
        </p:sp>
        <p:sp>
          <p:nvSpPr>
            <p:cNvPr id="482431" name="Text Box 127"/>
            <p:cNvSpPr txBox="1">
              <a:spLocks noChangeArrowheads="1"/>
            </p:cNvSpPr>
            <p:nvPr/>
          </p:nvSpPr>
          <p:spPr bwMode="auto">
            <a:xfrm>
              <a:off x="2385424"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20.0.0.7</a:t>
              </a:r>
            </a:p>
          </p:txBody>
        </p:sp>
        <p:sp>
          <p:nvSpPr>
            <p:cNvPr id="482432" name="Line 128"/>
            <p:cNvSpPr>
              <a:spLocks noChangeShapeType="1"/>
            </p:cNvSpPr>
            <p:nvPr/>
          </p:nvSpPr>
          <p:spPr bwMode="auto">
            <a:xfrm>
              <a:off x="1633876" y="5778029"/>
              <a:ext cx="0" cy="403225"/>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3" name="Line 129"/>
            <p:cNvSpPr>
              <a:spLocks noChangeShapeType="1"/>
            </p:cNvSpPr>
            <p:nvPr/>
          </p:nvSpPr>
          <p:spPr bwMode="auto">
            <a:xfrm>
              <a:off x="2913401" y="5778029"/>
              <a:ext cx="0" cy="403225"/>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4" name="Line 130"/>
            <p:cNvSpPr>
              <a:spLocks noChangeShapeType="1"/>
            </p:cNvSpPr>
            <p:nvPr/>
          </p:nvSpPr>
          <p:spPr bwMode="auto">
            <a:xfrm>
              <a:off x="7262753" y="5778029"/>
              <a:ext cx="0" cy="403225"/>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5" name="Line 131"/>
            <p:cNvSpPr>
              <a:spLocks noChangeShapeType="1"/>
            </p:cNvSpPr>
            <p:nvPr/>
          </p:nvSpPr>
          <p:spPr bwMode="auto">
            <a:xfrm>
              <a:off x="4449174" y="5778029"/>
              <a:ext cx="0" cy="403225"/>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6" name="Line 132"/>
            <p:cNvSpPr>
              <a:spLocks noChangeShapeType="1"/>
            </p:cNvSpPr>
            <p:nvPr/>
          </p:nvSpPr>
          <p:spPr bwMode="auto">
            <a:xfrm>
              <a:off x="8542278" y="5755804"/>
              <a:ext cx="0" cy="403225"/>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7" name="Line 133"/>
            <p:cNvSpPr>
              <a:spLocks noChangeShapeType="1"/>
            </p:cNvSpPr>
            <p:nvPr/>
          </p:nvSpPr>
          <p:spPr bwMode="auto">
            <a:xfrm>
              <a:off x="5728699" y="5793903"/>
              <a:ext cx="0" cy="404812"/>
            </a:xfrm>
            <a:prstGeom prst="line">
              <a:avLst/>
            </a:prstGeom>
            <a:noFill/>
            <a:ln w="38100">
              <a:solidFill>
                <a:srgbClr val="99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2438" name="Text Box 134"/>
            <p:cNvSpPr txBox="1">
              <a:spLocks noChangeArrowheads="1"/>
            </p:cNvSpPr>
            <p:nvPr/>
          </p:nvSpPr>
          <p:spPr bwMode="auto">
            <a:xfrm>
              <a:off x="6573118"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30.0.0.1</a:t>
              </a:r>
            </a:p>
          </p:txBody>
        </p:sp>
        <p:sp>
          <p:nvSpPr>
            <p:cNvPr id="482439" name="Text Box 135"/>
            <p:cNvSpPr txBox="1">
              <a:spLocks noChangeArrowheads="1"/>
            </p:cNvSpPr>
            <p:nvPr/>
          </p:nvSpPr>
          <p:spPr bwMode="auto">
            <a:xfrm>
              <a:off x="8884518" y="5747866"/>
              <a:ext cx="8883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链路</a:t>
              </a:r>
              <a:r>
                <a:rPr kumimoji="1" lang="zh-CN" altLang="en-US" sz="9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4</a:t>
              </a:r>
            </a:p>
          </p:txBody>
        </p:sp>
        <p:sp>
          <p:nvSpPr>
            <p:cNvPr id="482440" name="Text Box 136"/>
            <p:cNvSpPr txBox="1">
              <a:spLocks noChangeArrowheads="1"/>
            </p:cNvSpPr>
            <p:nvPr/>
          </p:nvSpPr>
          <p:spPr bwMode="auto">
            <a:xfrm>
              <a:off x="6096735"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链路</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3</a:t>
              </a:r>
            </a:p>
          </p:txBody>
        </p:sp>
        <p:sp>
          <p:nvSpPr>
            <p:cNvPr id="482441" name="Text Box 137"/>
            <p:cNvSpPr txBox="1">
              <a:spLocks noChangeArrowheads="1"/>
            </p:cNvSpPr>
            <p:nvPr/>
          </p:nvSpPr>
          <p:spPr bwMode="auto">
            <a:xfrm>
              <a:off x="3253919"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链路</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2</a:t>
              </a:r>
            </a:p>
          </p:txBody>
        </p:sp>
        <p:sp>
          <p:nvSpPr>
            <p:cNvPr id="482442" name="Text Box 138"/>
            <p:cNvSpPr txBox="1">
              <a:spLocks noChangeArrowheads="1"/>
            </p:cNvSpPr>
            <p:nvPr/>
          </p:nvSpPr>
          <p:spPr bwMode="auto">
            <a:xfrm>
              <a:off x="184091"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链路</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p>
          </p:txBody>
        </p:sp>
        <p:pic>
          <p:nvPicPr>
            <p:cNvPr id="482443" name="Picture 1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0124" y="2103438"/>
              <a:ext cx="777346"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2444" name="Text Box 140"/>
            <p:cNvSpPr txBox="1">
              <a:spLocks noChangeArrowheads="1"/>
            </p:cNvSpPr>
            <p:nvPr/>
          </p:nvSpPr>
          <p:spPr bwMode="auto">
            <a:xfrm>
              <a:off x="4946195"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482445" name="Text Box 141"/>
            <p:cNvSpPr txBox="1">
              <a:spLocks noChangeArrowheads="1"/>
            </p:cNvSpPr>
            <p:nvPr/>
          </p:nvSpPr>
          <p:spPr bwMode="auto">
            <a:xfrm>
              <a:off x="7703021"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3</a:t>
              </a:r>
              <a:endParaRPr kumimoji="1" lang="en-US" altLang="zh-CN" sz="2000" b="1">
                <a:solidFill>
                  <a:srgbClr val="0000CC"/>
                </a:solidFill>
                <a:latin typeface="+mn-lt"/>
                <a:ea typeface="黑体" panose="02010609060101010101" pitchFamily="2" charset="-122"/>
              </a:endParaRPr>
            </a:p>
          </p:txBody>
        </p:sp>
        <p:sp>
          <p:nvSpPr>
            <p:cNvPr id="482446" name="Text Box 142"/>
            <p:cNvSpPr txBox="1">
              <a:spLocks noChangeArrowheads="1"/>
            </p:cNvSpPr>
            <p:nvPr/>
          </p:nvSpPr>
          <p:spPr bwMode="auto">
            <a:xfrm>
              <a:off x="2003631"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sp>
          <p:nvSpPr>
            <p:cNvPr id="482450" name="Text Box 146"/>
            <p:cNvSpPr txBox="1">
              <a:spLocks noChangeArrowheads="1"/>
            </p:cNvSpPr>
            <p:nvPr/>
          </p:nvSpPr>
          <p:spPr bwMode="auto">
            <a:xfrm>
              <a:off x="4407899" y="2232026"/>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a:t>
              </a:r>
            </a:p>
          </p:txBody>
        </p:sp>
        <p:sp>
          <p:nvSpPr>
            <p:cNvPr id="482451" name="Text Box 147"/>
            <p:cNvSpPr txBox="1">
              <a:spLocks noChangeArrowheads="1"/>
            </p:cNvSpPr>
            <p:nvPr/>
          </p:nvSpPr>
          <p:spPr bwMode="auto">
            <a:xfrm>
              <a:off x="5503408" y="223837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pic>
          <p:nvPicPr>
            <p:cNvPr id="482452" name="Picture 1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41539" y="2081213"/>
              <a:ext cx="77906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3" name="Picture 1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94926" y="208756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4" name="Picture 1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03524" y="5995515"/>
              <a:ext cx="777346"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5" name="Picture 1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67588" y="600345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6"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8724" y="600980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2447" name="Text Box 143"/>
            <p:cNvSpPr txBox="1">
              <a:spLocks noChangeArrowheads="1"/>
            </p:cNvSpPr>
            <p:nvPr/>
          </p:nvSpPr>
          <p:spPr bwMode="auto">
            <a:xfrm>
              <a:off x="4789693"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482449" name="Text Box 145"/>
            <p:cNvSpPr txBox="1">
              <a:spLocks noChangeArrowheads="1"/>
            </p:cNvSpPr>
            <p:nvPr/>
          </p:nvSpPr>
          <p:spPr bwMode="auto">
            <a:xfrm>
              <a:off x="7646268"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3</a:t>
              </a:r>
              <a:endParaRPr kumimoji="1" lang="en-US" altLang="zh-CN" sz="2000" b="1">
                <a:solidFill>
                  <a:srgbClr val="0000CC"/>
                </a:solidFill>
                <a:latin typeface="+mn-lt"/>
                <a:ea typeface="黑体" panose="02010609060101010101" pitchFamily="2" charset="-122"/>
              </a:endParaRPr>
            </a:p>
          </p:txBody>
        </p:sp>
        <p:sp>
          <p:nvSpPr>
            <p:cNvPr id="482448" name="Text Box 144"/>
            <p:cNvSpPr txBox="1">
              <a:spLocks noChangeArrowheads="1"/>
            </p:cNvSpPr>
            <p:nvPr/>
          </p:nvSpPr>
          <p:spPr bwMode="auto">
            <a:xfrm>
              <a:off x="2060385"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sp>
          <p:nvSpPr>
            <p:cNvPr id="150" name="Text Box 146"/>
            <p:cNvSpPr txBox="1">
              <a:spLocks noChangeArrowheads="1"/>
            </p:cNvSpPr>
            <p:nvPr/>
          </p:nvSpPr>
          <p:spPr bwMode="auto">
            <a:xfrm>
              <a:off x="4407899" y="619159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a:t>
              </a:r>
            </a:p>
          </p:txBody>
        </p:sp>
        <p:sp>
          <p:nvSpPr>
            <p:cNvPr id="151" name="Text Box 147"/>
            <p:cNvSpPr txBox="1">
              <a:spLocks noChangeArrowheads="1"/>
            </p:cNvSpPr>
            <p:nvPr/>
          </p:nvSpPr>
          <p:spPr bwMode="auto">
            <a:xfrm>
              <a:off x="5503408" y="619794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grpSp>
      <p:pic>
        <p:nvPicPr>
          <p:cNvPr id="102" name="图片 101"/>
          <p:cNvPicPr/>
          <p:nvPr/>
        </p:nvPicPr>
        <p:blipFill>
          <a:blip r:embed="rId4"/>
          <a:stretch>
            <a:fillRect/>
          </a:stretch>
        </p:blipFill>
        <p:spPr>
          <a:xfrm>
            <a:off x="6607810" y="31115"/>
            <a:ext cx="3286760" cy="2050415"/>
          </a:xfrm>
          <a:prstGeom prst="rect">
            <a:avLst/>
          </a:prstGeom>
          <a:noFill/>
          <a:ln w="9525">
            <a:noFill/>
          </a:ln>
        </p:spPr>
      </p:pic>
    </p:spTree>
    <p:extLst>
      <p:ext uri="{BB962C8B-B14F-4D97-AF65-F5344CB8AC3E}">
        <p14:creationId xmlns:p14="http://schemas.microsoft.com/office/powerpoint/2010/main" val="116025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down)">
                                      <p:cBhvr>
                                        <p:cTn id="11"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8946" name="Rectangle 2"/>
          <p:cNvSpPr>
            <a:spLocks noGrp="1" noChangeArrowheads="1"/>
          </p:cNvSpPr>
          <p:nvPr>
            <p:ph type="title"/>
          </p:nvPr>
        </p:nvSpPr>
        <p:spPr/>
        <p:txBody>
          <a:bodyPr/>
          <a:lstStyle/>
          <a:p>
            <a:pPr algn="ctr"/>
            <a:r>
              <a:rPr lang="zh-CN" altLang="en-US"/>
              <a:t>查找路由表</a:t>
            </a:r>
          </a:p>
        </p:txBody>
      </p:sp>
      <p:sp>
        <p:nvSpPr>
          <p:cNvPr id="978947" name="Rectangle 3"/>
          <p:cNvSpPr>
            <a:spLocks noGrp="1" noChangeArrowheads="1"/>
          </p:cNvSpPr>
          <p:nvPr>
            <p:ph idx="1"/>
          </p:nvPr>
        </p:nvSpPr>
        <p:spPr/>
        <p:txBody>
          <a:bodyPr/>
          <a:lstStyle/>
          <a:p>
            <a:pPr>
              <a:buFont typeface="Wingdings" panose="05000000000000000000" pitchFamily="2" charset="2"/>
              <a:buNone/>
            </a:pPr>
            <a:r>
              <a:rPr lang="en-US" altLang="zh-CN" dirty="0"/>
              <a:t>	</a:t>
            </a:r>
            <a:r>
              <a:rPr lang="zh-CN" altLang="en-US" dirty="0">
                <a:solidFill>
                  <a:srgbClr val="FF0000"/>
                </a:solidFill>
              </a:rPr>
              <a:t>根据目的网络地址</a:t>
            </a:r>
            <a:r>
              <a:rPr lang="zh-CN" altLang="en-US" dirty="0"/>
              <a:t>就能确定下一跳路由器，这样做的结果是：</a:t>
            </a:r>
          </a:p>
          <a:p>
            <a:r>
              <a:rPr lang="en-US" altLang="zh-CN" dirty="0"/>
              <a:t>IP </a:t>
            </a:r>
            <a:r>
              <a:rPr lang="zh-CN" altLang="en-US" dirty="0"/>
              <a:t>数据报最终一定可以找到目的主机所在目的网络上的路由器（可能要通过多次的</a:t>
            </a:r>
            <a:r>
              <a:rPr lang="zh-CN" altLang="en-US" dirty="0">
                <a:solidFill>
                  <a:srgbClr val="FF0000"/>
                </a:solidFill>
              </a:rPr>
              <a:t>间接交付</a:t>
            </a:r>
            <a:r>
              <a:rPr lang="zh-CN" altLang="en-US" dirty="0"/>
              <a:t>）。</a:t>
            </a:r>
          </a:p>
          <a:p>
            <a:r>
              <a:rPr lang="zh-CN" altLang="en-US" dirty="0"/>
              <a:t>只有到达最后一个路由器时，才试图向目的主机进行</a:t>
            </a:r>
            <a:r>
              <a:rPr lang="zh-CN" altLang="en-US" dirty="0">
                <a:solidFill>
                  <a:srgbClr val="FF0000"/>
                </a:solidFill>
              </a:rPr>
              <a:t>直接交付。 </a:t>
            </a:r>
          </a:p>
        </p:txBody>
      </p:sp>
    </p:spTree>
    <p:extLst>
      <p:ext uri="{BB962C8B-B14F-4D97-AF65-F5344CB8AC3E}">
        <p14:creationId xmlns:p14="http://schemas.microsoft.com/office/powerpoint/2010/main" val="260508836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305" name="Rectangle 41"/>
          <p:cNvSpPr>
            <a:spLocks noGrp="1" noChangeArrowheads="1"/>
          </p:cNvSpPr>
          <p:nvPr>
            <p:ph type="title"/>
          </p:nvPr>
        </p:nvSpPr>
        <p:spPr/>
        <p:txBody>
          <a:bodyPr/>
          <a:lstStyle/>
          <a:p>
            <a:pPr algn="ctr"/>
            <a:r>
              <a:rPr lang="zh-CN" altLang="en-US" dirty="0"/>
              <a:t>特定主机路由 </a:t>
            </a:r>
          </a:p>
        </p:txBody>
      </p:sp>
      <p:sp>
        <p:nvSpPr>
          <p:cNvPr id="395306" name="Rectangle 42"/>
          <p:cNvSpPr>
            <a:spLocks noGrp="1" noChangeArrowheads="1"/>
          </p:cNvSpPr>
          <p:nvPr>
            <p:ph idx="1"/>
          </p:nvPr>
        </p:nvSpPr>
        <p:spPr/>
        <p:txBody>
          <a:bodyPr/>
          <a:lstStyle/>
          <a:p>
            <a:r>
              <a:rPr lang="zh-CN" altLang="zh-CN" dirty="0"/>
              <a:t>虽然互联网所有的分组转发都是</a:t>
            </a:r>
            <a:r>
              <a:rPr lang="zh-CN" altLang="zh-CN" dirty="0">
                <a:solidFill>
                  <a:srgbClr val="FF0000"/>
                </a:solidFill>
              </a:rPr>
              <a:t>基于目的主机所在的网络，</a:t>
            </a:r>
            <a:r>
              <a:rPr lang="zh-CN" altLang="zh-CN" dirty="0"/>
              <a:t>但在大多数情况下都允许有这样的特例，即</a:t>
            </a:r>
            <a:r>
              <a:rPr lang="zh-CN" altLang="en-US" dirty="0"/>
              <a:t>为</a:t>
            </a:r>
            <a:r>
              <a:rPr lang="zh-CN" altLang="zh-CN" dirty="0"/>
              <a:t>特定的目的主机指明一个路由</a:t>
            </a:r>
            <a:r>
              <a:rPr lang="zh-CN" altLang="en-US" dirty="0"/>
              <a:t>。</a:t>
            </a:r>
            <a:endParaRPr lang="en-US" altLang="zh-CN" dirty="0"/>
          </a:p>
          <a:p>
            <a:r>
              <a:rPr lang="zh-CN" altLang="en-US" dirty="0"/>
              <a:t>采用</a:t>
            </a:r>
            <a:r>
              <a:rPr lang="zh-CN" altLang="en-US" dirty="0">
                <a:solidFill>
                  <a:srgbClr val="FF0000"/>
                </a:solidFill>
              </a:rPr>
              <a:t>特定主机路由</a:t>
            </a:r>
            <a:r>
              <a:rPr lang="zh-CN" altLang="en-US" dirty="0"/>
              <a:t>可使网络管理人员能更方便地控制网络和测试网络，同时也可在需要考虑某种安全问题时采用这种特定主机路由。 </a:t>
            </a:r>
          </a:p>
        </p:txBody>
      </p:sp>
      <p:sp>
        <p:nvSpPr>
          <p:cNvPr id="395266"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7"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8"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9"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71" name="Rectangle 7"/>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72" name="Rectangle 8"/>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863519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2"/>
          <p:cNvSpPr>
            <a:spLocks noGrp="1" noChangeArrowheads="1"/>
          </p:cNvSpPr>
          <p:nvPr>
            <p:ph type="title"/>
          </p:nvPr>
        </p:nvSpPr>
        <p:spPr/>
        <p:txBody>
          <a:bodyPr/>
          <a:lstStyle/>
          <a:p>
            <a:pPr algn="ctr"/>
            <a:r>
              <a:rPr lang="zh-CN" altLang="en-US" dirty="0"/>
              <a:t>默认路由 </a:t>
            </a:r>
            <a:r>
              <a:rPr lang="en-US" altLang="zh-CN" dirty="0"/>
              <a:t>(default route)</a:t>
            </a:r>
          </a:p>
        </p:txBody>
      </p:sp>
      <p:sp>
        <p:nvSpPr>
          <p:cNvPr id="980995" name="Rectangle 3"/>
          <p:cNvSpPr>
            <a:spLocks noGrp="1" noChangeArrowheads="1"/>
          </p:cNvSpPr>
          <p:nvPr>
            <p:ph idx="1"/>
          </p:nvPr>
        </p:nvSpPr>
        <p:spPr/>
        <p:txBody>
          <a:bodyPr/>
          <a:lstStyle/>
          <a:p>
            <a:pPr>
              <a:lnSpc>
                <a:spcPct val="100000"/>
              </a:lnSpc>
            </a:pPr>
            <a:r>
              <a:rPr lang="zh-CN" altLang="en-US" dirty="0"/>
              <a:t>路由器还可采用</a:t>
            </a:r>
            <a:r>
              <a:rPr lang="zh-CN" altLang="en-US" dirty="0">
                <a:solidFill>
                  <a:srgbClr val="FF0000"/>
                </a:solidFill>
              </a:rPr>
              <a:t>默认路由</a:t>
            </a:r>
            <a:r>
              <a:rPr lang="zh-CN" altLang="en-US" dirty="0"/>
              <a:t>以</a:t>
            </a:r>
            <a:r>
              <a:rPr lang="zh-CN" altLang="en-US" dirty="0">
                <a:solidFill>
                  <a:srgbClr val="FF0000"/>
                </a:solidFill>
              </a:rPr>
              <a:t>减少路由表所占用的空间和搜索路由表所用的时间。</a:t>
            </a:r>
          </a:p>
          <a:p>
            <a:pPr>
              <a:lnSpc>
                <a:spcPct val="100000"/>
              </a:lnSpc>
            </a:pPr>
            <a:r>
              <a:rPr lang="zh-CN" altLang="en-US" dirty="0"/>
              <a:t>这种转发方式在一个网络只有很少的对外连接时是很有用的。</a:t>
            </a:r>
          </a:p>
          <a:p>
            <a:pPr>
              <a:lnSpc>
                <a:spcPct val="100000"/>
              </a:lnSpc>
            </a:pPr>
            <a:r>
              <a:rPr lang="zh-CN" altLang="en-US" dirty="0"/>
              <a:t>默认路由在主机发送 </a:t>
            </a:r>
            <a:r>
              <a:rPr lang="en-US" altLang="zh-CN" dirty="0"/>
              <a:t>IP </a:t>
            </a:r>
            <a:r>
              <a:rPr lang="zh-CN" altLang="en-US" dirty="0"/>
              <a:t>数据报时往往更能显示出它的好处。</a:t>
            </a:r>
          </a:p>
          <a:p>
            <a:pPr>
              <a:lnSpc>
                <a:spcPct val="100000"/>
              </a:lnSpc>
            </a:pPr>
            <a:r>
              <a:rPr lang="zh-CN" altLang="en-US" dirty="0"/>
              <a:t>如果一个主机连接在一个小网络上，而这个网络只用一个路由器和互联网连接，那么在这种情况下使用默认路由是非常合适的。 </a:t>
            </a:r>
          </a:p>
        </p:txBody>
      </p:sp>
    </p:spTree>
    <p:extLst>
      <p:ext uri="{BB962C8B-B14F-4D97-AF65-F5344CB8AC3E}">
        <p14:creationId xmlns:p14="http://schemas.microsoft.com/office/powerpoint/2010/main" val="135717247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4" name="Line 4"/>
          <p:cNvSpPr>
            <a:spLocks noChangeShapeType="1"/>
          </p:cNvSpPr>
          <p:nvPr/>
        </p:nvSpPr>
        <p:spPr bwMode="auto">
          <a:xfrm flipV="1">
            <a:off x="5558367" y="3008857"/>
            <a:ext cx="748110" cy="37306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3045" name="Line 5"/>
          <p:cNvSpPr>
            <a:spLocks noChangeShapeType="1"/>
          </p:cNvSpPr>
          <p:nvPr/>
        </p:nvSpPr>
        <p:spPr bwMode="auto">
          <a:xfrm flipV="1">
            <a:off x="5025231" y="3473994"/>
            <a:ext cx="428229" cy="37306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3046" name="Line 6"/>
          <p:cNvSpPr>
            <a:spLocks noChangeShapeType="1"/>
          </p:cNvSpPr>
          <p:nvPr/>
        </p:nvSpPr>
        <p:spPr bwMode="auto">
          <a:xfrm flipV="1">
            <a:off x="5365750" y="4085183"/>
            <a:ext cx="1226212" cy="222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3047" name="Line 7"/>
          <p:cNvSpPr>
            <a:spLocks noChangeShapeType="1"/>
          </p:cNvSpPr>
          <p:nvPr/>
        </p:nvSpPr>
        <p:spPr bwMode="auto">
          <a:xfrm flipH="1">
            <a:off x="3958960" y="4218532"/>
            <a:ext cx="639763" cy="65246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3048" name="Line 8"/>
          <p:cNvSpPr>
            <a:spLocks noChangeShapeType="1"/>
          </p:cNvSpPr>
          <p:nvPr/>
        </p:nvSpPr>
        <p:spPr bwMode="auto">
          <a:xfrm>
            <a:off x="5025232" y="4310607"/>
            <a:ext cx="319881" cy="65246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83049" name="Line 9"/>
          <p:cNvSpPr>
            <a:spLocks noChangeShapeType="1"/>
          </p:cNvSpPr>
          <p:nvPr/>
        </p:nvSpPr>
        <p:spPr bwMode="auto">
          <a:xfrm flipV="1">
            <a:off x="3530733" y="4126458"/>
            <a:ext cx="854736" cy="9207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983069"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73341" y="3994694"/>
            <a:ext cx="557213" cy="279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83071" name="Text Box 31"/>
          <p:cNvSpPr txBox="1">
            <a:spLocks noChangeArrowheads="1"/>
          </p:cNvSpPr>
          <p:nvPr/>
        </p:nvSpPr>
        <p:spPr bwMode="auto">
          <a:xfrm>
            <a:off x="5836973" y="362004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1</a:t>
            </a:r>
          </a:p>
        </p:txBody>
      </p:sp>
      <p:graphicFrame>
        <p:nvGraphicFramePr>
          <p:cNvPr id="983072" name="Object 32"/>
          <p:cNvGraphicFramePr>
            <a:graphicFrameLocks noChangeAspect="1"/>
          </p:cNvGraphicFramePr>
          <p:nvPr/>
        </p:nvGraphicFramePr>
        <p:xfrm>
          <a:off x="6519863" y="3335338"/>
          <a:ext cx="3306762" cy="1963737"/>
        </p:xfrm>
        <a:graphic>
          <a:graphicData uri="http://schemas.openxmlformats.org/presentationml/2006/ole">
            <mc:AlternateContent xmlns:mc="http://schemas.openxmlformats.org/markup-compatibility/2006">
              <mc:Choice xmlns:v="urn:schemas-microsoft-com:vml" Requires="v">
                <p:oleObj spid="_x0000_s1027" name="Visio" r:id="rId5" imgW="1644015" imgH="942340" progId="Visio.Drawing.11">
                  <p:embed/>
                </p:oleObj>
              </mc:Choice>
              <mc:Fallback>
                <p:oleObj name="Visio" r:id="rId5" imgW="1644015" imgH="942340" progId="Visio.Drawing.11">
                  <p:embed/>
                  <p:pic>
                    <p:nvPicPr>
                      <p:cNvPr id="983072" name="Object 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19863" y="3335338"/>
                        <a:ext cx="3306762" cy="196373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83073" name="Text Box 33"/>
          <p:cNvSpPr txBox="1">
            <a:spLocks noChangeArrowheads="1"/>
          </p:cNvSpPr>
          <p:nvPr/>
        </p:nvSpPr>
        <p:spPr bwMode="auto">
          <a:xfrm>
            <a:off x="7587721" y="3980407"/>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CC"/>
                </a:solidFill>
                <a:latin typeface="+mn-lt"/>
                <a:ea typeface="黑体" panose="02010609060101010101" pitchFamily="2" charset="-122"/>
              </a:rPr>
              <a:t>互联网</a:t>
            </a:r>
            <a:endParaRPr lang="zh-CN" altLang="en-US" sz="2400" b="1" baseline="-25000" dirty="0">
              <a:solidFill>
                <a:srgbClr val="0000CC"/>
              </a:solidFill>
              <a:latin typeface="+mn-lt"/>
              <a:ea typeface="黑体" panose="02010609060101010101" pitchFamily="2" charset="-122"/>
            </a:endParaRPr>
          </a:p>
        </p:txBody>
      </p:sp>
      <p:pic>
        <p:nvPicPr>
          <p:cNvPr id="983074" name="Picture 3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33579" y="4775744"/>
            <a:ext cx="488421" cy="446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83080" name="Text Box 40"/>
          <p:cNvSpPr txBox="1">
            <a:spLocks noChangeArrowheads="1"/>
          </p:cNvSpPr>
          <p:nvPr/>
        </p:nvSpPr>
        <p:spPr bwMode="auto">
          <a:xfrm>
            <a:off x="987202" y="2915194"/>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CC"/>
                </a:solidFill>
                <a:latin typeface="+mn-lt"/>
                <a:ea typeface="黑体" panose="02010609060101010101" pitchFamily="2" charset="-122"/>
              </a:rPr>
              <a:t>转发表</a:t>
            </a:r>
            <a:endParaRPr lang="zh-CN" altLang="en-US" sz="2400" b="1" baseline="-25000" dirty="0">
              <a:solidFill>
                <a:srgbClr val="0000CC"/>
              </a:solidFill>
              <a:latin typeface="+mn-lt"/>
              <a:ea typeface="黑体" panose="02010609060101010101" pitchFamily="2" charset="-122"/>
            </a:endParaRPr>
          </a:p>
        </p:txBody>
      </p:sp>
      <p:sp>
        <p:nvSpPr>
          <p:cNvPr id="983081" name="Freeform 41"/>
          <p:cNvSpPr/>
          <p:nvPr/>
        </p:nvSpPr>
        <p:spPr bwMode="auto">
          <a:xfrm>
            <a:off x="2720752" y="3426369"/>
            <a:ext cx="689596" cy="1462088"/>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FFFF66"/>
              </a:gs>
              <a:gs pos="100000">
                <a:schemeClr val="bg1">
                  <a:lumMod val="65000"/>
                </a:schemeClr>
              </a:gs>
            </a:gsLst>
            <a:lin ang="0" scaled="0"/>
          </a:gradFill>
          <a:ln>
            <a:noFill/>
          </a:ln>
          <a:effectLst/>
        </p:spPr>
        <p:txBody>
          <a:bodyPr/>
          <a:lstStyle/>
          <a:p>
            <a:endParaRPr lang="zh-CN" altLang="en-US" b="1">
              <a:solidFill>
                <a:srgbClr val="0000CC"/>
              </a:solidFill>
              <a:latin typeface="+mn-lt"/>
              <a:ea typeface="黑体" panose="02010609060101010101" pitchFamily="2" charset="-122"/>
            </a:endParaRPr>
          </a:p>
        </p:txBody>
      </p:sp>
      <p:pic>
        <p:nvPicPr>
          <p:cNvPr id="983082" name="Picture 4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19198" y="3847057"/>
            <a:ext cx="488421"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3083" name="Picture 4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45706" y="4683669"/>
            <a:ext cx="488421"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83084" name="Group 44"/>
          <p:cNvGrpSpPr/>
          <p:nvPr/>
        </p:nvGrpSpPr>
        <p:grpSpPr bwMode="auto">
          <a:xfrm>
            <a:off x="5773341" y="2637383"/>
            <a:ext cx="1183217" cy="701675"/>
            <a:chOff x="1776" y="2768"/>
            <a:chExt cx="1824" cy="736"/>
          </a:xfrm>
          <a:solidFill>
            <a:schemeClr val="bg1">
              <a:lumMod val="75000"/>
            </a:schemeClr>
          </a:solidFill>
        </p:grpSpPr>
        <p:grpSp>
          <p:nvGrpSpPr>
            <p:cNvPr id="983085" name="Group 45"/>
            <p:cNvGrpSpPr/>
            <p:nvPr/>
          </p:nvGrpSpPr>
          <p:grpSpPr bwMode="auto">
            <a:xfrm>
              <a:off x="1787" y="2783"/>
              <a:ext cx="1813" cy="721"/>
              <a:chOff x="1787" y="2783"/>
              <a:chExt cx="1813" cy="721"/>
            </a:xfrm>
            <a:grpFill/>
          </p:grpSpPr>
          <p:sp>
            <p:nvSpPr>
              <p:cNvPr id="983086"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87"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88"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89"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0"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1"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2"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3"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4"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83095"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6"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7"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8"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099"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100"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101"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102"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983103"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83104" name="Text Box 64"/>
          <p:cNvSpPr txBox="1">
            <a:spLocks noChangeArrowheads="1"/>
          </p:cNvSpPr>
          <p:nvPr/>
        </p:nvSpPr>
        <p:spPr bwMode="auto">
          <a:xfrm>
            <a:off x="6081184" y="272787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anose="02010609060101010101" pitchFamily="2" charset="-122"/>
              </a:rPr>
              <a:t>N</a:t>
            </a:r>
            <a:r>
              <a:rPr lang="en-US" altLang="zh-CN" sz="2000" b="1" baseline="-25000">
                <a:solidFill>
                  <a:srgbClr val="0000CC"/>
                </a:solidFill>
                <a:latin typeface="+mn-lt"/>
                <a:ea typeface="黑体" panose="02010609060101010101" pitchFamily="2" charset="-122"/>
              </a:rPr>
              <a:t>2</a:t>
            </a:r>
          </a:p>
        </p:txBody>
      </p:sp>
      <p:pic>
        <p:nvPicPr>
          <p:cNvPr id="983105"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38485" y="3289845"/>
            <a:ext cx="55893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83106" name="Text Box 66"/>
          <p:cNvSpPr txBox="1">
            <a:spLocks noChangeArrowheads="1"/>
          </p:cNvSpPr>
          <p:nvPr/>
        </p:nvSpPr>
        <p:spPr bwMode="auto">
          <a:xfrm>
            <a:off x="4982237" y="287550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anose="02010609060101010101" pitchFamily="2" charset="-122"/>
              </a:rPr>
              <a:t>R</a:t>
            </a:r>
            <a:r>
              <a:rPr lang="en-US" altLang="zh-CN" sz="2000" b="1" baseline="-25000">
                <a:solidFill>
                  <a:srgbClr val="0000CC"/>
                </a:solidFill>
                <a:latin typeface="+mn-lt"/>
                <a:ea typeface="黑体" panose="02010609060101010101" pitchFamily="2" charset="-122"/>
              </a:rPr>
              <a:t>2</a:t>
            </a:r>
          </a:p>
        </p:txBody>
      </p:sp>
      <p:sp>
        <p:nvSpPr>
          <p:cNvPr id="983109" name="Text Box 69"/>
          <p:cNvSpPr txBox="1">
            <a:spLocks noChangeArrowheads="1"/>
          </p:cNvSpPr>
          <p:nvPr/>
        </p:nvSpPr>
        <p:spPr bwMode="auto">
          <a:xfrm>
            <a:off x="776536" y="1211268"/>
            <a:ext cx="4774282" cy="1569660"/>
          </a:xfrm>
          <a:prstGeom prst="rect">
            <a:avLst/>
          </a:prstGeom>
          <a:solidFill>
            <a:srgbClr val="66FF66"/>
          </a:solidFill>
          <a:ln>
            <a:solidFill>
              <a:srgbClr val="000099"/>
            </a:solidFill>
          </a:ln>
          <a:effectLst/>
        </p:spPr>
        <p:txBody>
          <a:bodyPr wrap="square">
            <a:spAutoFit/>
          </a:bodyPr>
          <a:lstStyle/>
          <a:p>
            <a:pPr algn="ctr"/>
            <a:r>
              <a:rPr lang="zh-CN" altLang="en-US" sz="2400" b="1" dirty="0">
                <a:solidFill>
                  <a:srgbClr val="000066"/>
                </a:solidFill>
                <a:latin typeface="+mn-lt"/>
                <a:ea typeface="黑体" panose="02010609060101010101" pitchFamily="2" charset="-122"/>
              </a:rPr>
              <a:t>只要目的网络不是 </a:t>
            </a:r>
            <a:r>
              <a:rPr lang="en-US" altLang="zh-CN" sz="2400" b="1" dirty="0">
                <a:solidFill>
                  <a:srgbClr val="000066"/>
                </a:solidFill>
                <a:latin typeface="+mn-lt"/>
                <a:ea typeface="黑体" panose="02010609060101010101" pitchFamily="2" charset="-122"/>
              </a:rPr>
              <a:t>N</a:t>
            </a:r>
            <a:r>
              <a:rPr lang="en-US" altLang="zh-CN" sz="2400" b="1" baseline="-25000" dirty="0">
                <a:solidFill>
                  <a:srgbClr val="000066"/>
                </a:solidFill>
                <a:latin typeface="+mn-lt"/>
                <a:ea typeface="黑体" panose="02010609060101010101" pitchFamily="2" charset="-122"/>
              </a:rPr>
              <a:t>1 </a:t>
            </a:r>
            <a:r>
              <a:rPr lang="zh-CN" altLang="en-US" sz="2400" b="1" dirty="0">
                <a:solidFill>
                  <a:srgbClr val="000066"/>
                </a:solidFill>
                <a:latin typeface="+mn-lt"/>
                <a:ea typeface="黑体" panose="02010609060101010101" pitchFamily="2" charset="-122"/>
              </a:rPr>
              <a:t>和 </a:t>
            </a:r>
            <a:r>
              <a:rPr lang="en-US" altLang="zh-CN" sz="2400" b="1" dirty="0">
                <a:solidFill>
                  <a:srgbClr val="000066"/>
                </a:solidFill>
                <a:latin typeface="+mn-lt"/>
                <a:ea typeface="黑体" panose="02010609060101010101" pitchFamily="2" charset="-122"/>
              </a:rPr>
              <a:t>N</a:t>
            </a:r>
            <a:r>
              <a:rPr lang="en-US" altLang="zh-CN" sz="2400" b="1" baseline="-25000" dirty="0">
                <a:solidFill>
                  <a:srgbClr val="000066"/>
                </a:solidFill>
                <a:latin typeface="+mn-lt"/>
                <a:ea typeface="黑体" panose="02010609060101010101" pitchFamily="2" charset="-122"/>
              </a:rPr>
              <a:t>2</a:t>
            </a:r>
            <a:r>
              <a:rPr lang="zh-CN" altLang="en-US" sz="2400" b="1" dirty="0">
                <a:solidFill>
                  <a:srgbClr val="000066"/>
                </a:solidFill>
                <a:latin typeface="+mn-lt"/>
                <a:ea typeface="黑体" panose="02010609060101010101" pitchFamily="2" charset="-122"/>
              </a:rPr>
              <a:t>，</a:t>
            </a:r>
            <a:endParaRPr lang="en-US" altLang="zh-CN" sz="2400" b="1" dirty="0">
              <a:solidFill>
                <a:srgbClr val="000066"/>
              </a:solidFill>
              <a:latin typeface="+mn-lt"/>
              <a:ea typeface="黑体" panose="02010609060101010101" pitchFamily="2" charset="-122"/>
            </a:endParaRPr>
          </a:p>
          <a:p>
            <a:pPr algn="ctr"/>
            <a:r>
              <a:rPr lang="zh-CN" altLang="en-US" sz="2400" b="1" dirty="0">
                <a:solidFill>
                  <a:srgbClr val="000066"/>
                </a:solidFill>
                <a:latin typeface="+mn-lt"/>
                <a:ea typeface="黑体" panose="02010609060101010101" pitchFamily="2" charset="-122"/>
              </a:rPr>
              <a:t>就一律选择默认路由，</a:t>
            </a:r>
          </a:p>
          <a:p>
            <a:pPr algn="ctr"/>
            <a:r>
              <a:rPr lang="zh-CN" altLang="en-US" sz="2400" b="1" dirty="0">
                <a:solidFill>
                  <a:srgbClr val="000066"/>
                </a:solidFill>
                <a:latin typeface="+mn-lt"/>
                <a:ea typeface="黑体" panose="02010609060101010101" pitchFamily="2" charset="-122"/>
              </a:rPr>
              <a:t>把数据报先间接交付路由器 </a:t>
            </a:r>
            <a:r>
              <a:rPr lang="en-US" altLang="zh-CN" sz="2400" b="1" dirty="0">
                <a:solidFill>
                  <a:srgbClr val="000066"/>
                </a:solidFill>
                <a:latin typeface="+mn-lt"/>
                <a:ea typeface="黑体" panose="02010609060101010101" pitchFamily="2" charset="-122"/>
              </a:rPr>
              <a:t>R</a:t>
            </a:r>
            <a:r>
              <a:rPr lang="en-US" altLang="zh-CN" sz="2400" b="1" baseline="-25000" dirty="0">
                <a:solidFill>
                  <a:srgbClr val="000066"/>
                </a:solidFill>
                <a:latin typeface="+mn-lt"/>
                <a:ea typeface="黑体" panose="02010609060101010101" pitchFamily="2" charset="-122"/>
              </a:rPr>
              <a:t>1</a:t>
            </a:r>
            <a:r>
              <a:rPr lang="zh-CN" altLang="en-US" sz="2400" b="1" dirty="0">
                <a:solidFill>
                  <a:srgbClr val="000066"/>
                </a:solidFill>
                <a:latin typeface="+mn-lt"/>
                <a:ea typeface="黑体" panose="02010609060101010101" pitchFamily="2" charset="-122"/>
              </a:rPr>
              <a:t>，</a:t>
            </a:r>
          </a:p>
          <a:p>
            <a:pPr algn="ctr"/>
            <a:r>
              <a:rPr lang="zh-CN" altLang="en-US" sz="2400" b="1" dirty="0">
                <a:solidFill>
                  <a:srgbClr val="000066"/>
                </a:solidFill>
                <a:latin typeface="+mn-lt"/>
                <a:ea typeface="黑体" panose="02010609060101010101" pitchFamily="2" charset="-122"/>
              </a:rPr>
              <a:t>让 </a:t>
            </a:r>
            <a:r>
              <a:rPr lang="en-US" altLang="zh-CN" sz="2400" b="1" dirty="0">
                <a:solidFill>
                  <a:srgbClr val="000066"/>
                </a:solidFill>
                <a:latin typeface="+mn-lt"/>
                <a:ea typeface="黑体" panose="02010609060101010101" pitchFamily="2" charset="-122"/>
              </a:rPr>
              <a:t>R</a:t>
            </a:r>
            <a:r>
              <a:rPr lang="en-US" altLang="zh-CN" sz="2400" b="1" baseline="-25000" dirty="0">
                <a:solidFill>
                  <a:srgbClr val="000066"/>
                </a:solidFill>
                <a:latin typeface="+mn-lt"/>
                <a:ea typeface="黑体" panose="02010609060101010101" pitchFamily="2" charset="-122"/>
              </a:rPr>
              <a:t>1 </a:t>
            </a:r>
            <a:r>
              <a:rPr lang="zh-CN" altLang="en-US" sz="2400" b="1" dirty="0">
                <a:solidFill>
                  <a:srgbClr val="000066"/>
                </a:solidFill>
                <a:latin typeface="+mn-lt"/>
                <a:ea typeface="黑体" panose="02010609060101010101" pitchFamily="2" charset="-122"/>
              </a:rPr>
              <a:t>再转发给下一个路由器。 </a:t>
            </a:r>
          </a:p>
        </p:txBody>
      </p:sp>
      <p:sp>
        <p:nvSpPr>
          <p:cNvPr id="2" name="标题 1"/>
          <p:cNvSpPr>
            <a:spLocks noGrp="1"/>
          </p:cNvSpPr>
          <p:nvPr>
            <p:ph type="title"/>
          </p:nvPr>
        </p:nvSpPr>
        <p:spPr/>
        <p:txBody>
          <a:bodyPr/>
          <a:lstStyle/>
          <a:p>
            <a:pPr algn="ctr"/>
            <a:r>
              <a:rPr lang="zh-CN" altLang="en-US" dirty="0"/>
              <a:t>默认路由举例</a:t>
            </a:r>
          </a:p>
        </p:txBody>
      </p:sp>
      <p:grpSp>
        <p:nvGrpSpPr>
          <p:cNvPr id="68" name="Group 44"/>
          <p:cNvGrpSpPr/>
          <p:nvPr/>
        </p:nvGrpSpPr>
        <p:grpSpPr bwMode="auto">
          <a:xfrm>
            <a:off x="4089597" y="3572419"/>
            <a:ext cx="1439467" cy="917947"/>
            <a:chOff x="1776" y="2768"/>
            <a:chExt cx="1824" cy="736"/>
          </a:xfrm>
          <a:solidFill>
            <a:schemeClr val="bg1">
              <a:lumMod val="75000"/>
            </a:schemeClr>
          </a:solidFill>
        </p:grpSpPr>
        <p:grpSp>
          <p:nvGrpSpPr>
            <p:cNvPr id="69" name="Group 45"/>
            <p:cNvGrpSpPr/>
            <p:nvPr/>
          </p:nvGrpSpPr>
          <p:grpSpPr bwMode="auto">
            <a:xfrm>
              <a:off x="1787" y="2783"/>
              <a:ext cx="1813" cy="721"/>
              <a:chOff x="1787" y="2783"/>
              <a:chExt cx="1813" cy="721"/>
            </a:xfrm>
            <a:grpFill/>
          </p:grpSpPr>
          <p:sp>
            <p:nvSpPr>
              <p:cNvPr id="79"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0"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1"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2"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3"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4"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5"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6"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87"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70"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1"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2"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3"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4"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5"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6"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7"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78"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83070" name="Text Box 30"/>
          <p:cNvSpPr txBox="1">
            <a:spLocks noChangeArrowheads="1"/>
          </p:cNvSpPr>
          <p:nvPr/>
        </p:nvSpPr>
        <p:spPr bwMode="auto">
          <a:xfrm>
            <a:off x="4598723" y="381371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anose="02010609060101010101" pitchFamily="2" charset="-122"/>
              </a:rPr>
              <a:t>N</a:t>
            </a:r>
            <a:r>
              <a:rPr lang="en-US" altLang="zh-CN" sz="2000" b="1" baseline="-25000">
                <a:solidFill>
                  <a:srgbClr val="0000CC"/>
                </a:solidFill>
                <a:latin typeface="+mn-lt"/>
                <a:ea typeface="黑体" panose="02010609060101010101" pitchFamily="2" charset="-122"/>
              </a:rPr>
              <a:t>1</a:t>
            </a:r>
          </a:p>
        </p:txBody>
      </p:sp>
      <p:sp>
        <p:nvSpPr>
          <p:cNvPr id="3" name="矩形 2"/>
          <p:cNvSpPr/>
          <p:nvPr/>
        </p:nvSpPr>
        <p:spPr>
          <a:xfrm>
            <a:off x="2144688" y="5517232"/>
            <a:ext cx="6494399" cy="461665"/>
          </a:xfrm>
          <a:prstGeom prst="rect">
            <a:avLst/>
          </a:prstGeom>
        </p:spPr>
        <p:txBody>
          <a:bodyPr wrap="square">
            <a:spAutoFit/>
          </a:bodyPr>
          <a:lstStyle/>
          <a:p>
            <a:pPr algn="ctr"/>
            <a:r>
              <a:rPr lang="zh-CN" altLang="zh-CN" sz="2400" b="1" dirty="0">
                <a:latin typeface="+mn-lt"/>
                <a:ea typeface="黑体" panose="02010609060101010101" pitchFamily="2" charset="-122"/>
              </a:rPr>
              <a:t>路由器</a:t>
            </a:r>
            <a:r>
              <a:rPr lang="en-US" altLang="zh-CN" sz="2400" b="1" dirty="0">
                <a:latin typeface="+mn-lt"/>
                <a:ea typeface="黑体" panose="02010609060101010101" pitchFamily="2" charset="-122"/>
              </a:rPr>
              <a:t> R</a:t>
            </a:r>
            <a:r>
              <a:rPr lang="en-US" altLang="zh-CN" sz="2400" b="1" baseline="-25000" dirty="0">
                <a:latin typeface="+mn-lt"/>
                <a:ea typeface="黑体" panose="02010609060101010101" pitchFamily="2" charset="-122"/>
              </a:rPr>
              <a:t>1 </a:t>
            </a:r>
            <a:r>
              <a:rPr lang="zh-CN" altLang="zh-CN" sz="2400" b="1" dirty="0">
                <a:latin typeface="+mn-lt"/>
                <a:ea typeface="黑体" panose="02010609060101010101" pitchFamily="2" charset="-122"/>
              </a:rPr>
              <a:t>充当网络</a:t>
            </a:r>
            <a:r>
              <a:rPr lang="en-US" altLang="zh-CN" sz="2400" b="1" dirty="0">
                <a:latin typeface="+mn-lt"/>
                <a:ea typeface="黑体" panose="02010609060101010101" pitchFamily="2" charset="-122"/>
              </a:rPr>
              <a:t> N</a:t>
            </a:r>
            <a:r>
              <a:rPr lang="en-US" altLang="zh-CN" sz="2400" b="1" baseline="-25000" dirty="0">
                <a:latin typeface="+mn-lt"/>
                <a:ea typeface="黑体" panose="02010609060101010101" pitchFamily="2" charset="-122"/>
              </a:rPr>
              <a:t>1 </a:t>
            </a:r>
            <a:r>
              <a:rPr lang="zh-CN" altLang="zh-CN" sz="2400" b="1" dirty="0">
                <a:latin typeface="+mn-lt"/>
                <a:ea typeface="黑体" panose="02010609060101010101" pitchFamily="2" charset="-122"/>
              </a:rPr>
              <a:t>的默认路由器</a:t>
            </a:r>
            <a:endParaRPr lang="zh-CN" altLang="en-US" sz="2400" b="1" dirty="0">
              <a:latin typeface="+mn-lt"/>
              <a:ea typeface="黑体" panose="02010609060101010101" pitchFamily="2" charset="-122"/>
            </a:endParaRPr>
          </a:p>
        </p:txBody>
      </p:sp>
      <p:sp>
        <p:nvSpPr>
          <p:cNvPr id="983076" name="Rectangle 36"/>
          <p:cNvSpPr>
            <a:spLocks noChangeArrowheads="1"/>
          </p:cNvSpPr>
          <p:nvPr/>
        </p:nvSpPr>
        <p:spPr bwMode="auto">
          <a:xfrm>
            <a:off x="374956" y="3431132"/>
            <a:ext cx="2345796" cy="1436687"/>
          </a:xfrm>
          <a:prstGeom prst="rect">
            <a:avLst/>
          </a:prstGeom>
          <a:solidFill>
            <a:srgbClr val="FFFF66"/>
          </a:solidFill>
          <a:ln w="19050">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983075" name="Text Box 35"/>
          <p:cNvSpPr txBox="1">
            <a:spLocks noChangeArrowheads="1"/>
          </p:cNvSpPr>
          <p:nvPr/>
        </p:nvSpPr>
        <p:spPr bwMode="auto">
          <a:xfrm>
            <a:off x="374957" y="3358108"/>
            <a:ext cx="2180405"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20000"/>
              </a:lnSpc>
            </a:pPr>
            <a:r>
              <a:rPr lang="zh-CN" altLang="en-US" sz="2000" b="1">
                <a:solidFill>
                  <a:srgbClr val="000099"/>
                </a:solidFill>
                <a:latin typeface="+mn-lt"/>
                <a:ea typeface="黑体" panose="02010609060101010101" pitchFamily="2" charset="-122"/>
              </a:rPr>
              <a:t>目的网络  下一跳</a:t>
            </a:r>
          </a:p>
          <a:p>
            <a:pPr>
              <a:lnSpc>
                <a:spcPct val="120000"/>
              </a:lnSpc>
            </a:pPr>
            <a:r>
              <a:rPr lang="zh-CN" altLang="en-US" sz="2000" b="1">
                <a:solidFill>
                  <a:srgbClr val="000099"/>
                </a:solidFill>
                <a:latin typeface="+mn-lt"/>
                <a:ea typeface="黑体" panose="02010609060101010101" pitchFamily="2" charset="-122"/>
              </a:rPr>
              <a:t>      </a:t>
            </a:r>
            <a:r>
              <a:rPr lang="en-US" altLang="zh-CN" sz="2000" b="1">
                <a:solidFill>
                  <a:srgbClr val="000099"/>
                </a:solidFill>
                <a:latin typeface="+mn-lt"/>
                <a:ea typeface="黑体" panose="02010609060101010101" pitchFamily="2" charset="-122"/>
              </a:rPr>
              <a:t>N</a:t>
            </a:r>
            <a:r>
              <a:rPr lang="en-US" altLang="zh-CN" sz="2000" b="1" baseline="-25000">
                <a:solidFill>
                  <a:srgbClr val="000099"/>
                </a:solidFill>
                <a:latin typeface="+mn-lt"/>
                <a:ea typeface="黑体" panose="02010609060101010101" pitchFamily="2" charset="-122"/>
              </a:rPr>
              <a:t>1</a:t>
            </a:r>
            <a:r>
              <a:rPr lang="en-US" altLang="zh-CN" sz="2000" b="1">
                <a:solidFill>
                  <a:srgbClr val="000099"/>
                </a:solidFill>
                <a:latin typeface="+mn-lt"/>
                <a:ea typeface="黑体" panose="02010609060101010101" pitchFamily="2" charset="-122"/>
              </a:rPr>
              <a:t>          </a:t>
            </a:r>
            <a:r>
              <a:rPr lang="zh-CN" altLang="en-US" sz="2000" b="1">
                <a:solidFill>
                  <a:srgbClr val="000099"/>
                </a:solidFill>
                <a:latin typeface="+mn-lt"/>
                <a:ea typeface="黑体" panose="02010609060101010101" pitchFamily="2" charset="-122"/>
              </a:rPr>
              <a:t>直接 </a:t>
            </a:r>
          </a:p>
          <a:p>
            <a:pPr>
              <a:lnSpc>
                <a:spcPct val="120000"/>
              </a:lnSpc>
            </a:pPr>
            <a:r>
              <a:rPr lang="zh-CN" altLang="en-US" sz="2000" b="1">
                <a:solidFill>
                  <a:srgbClr val="000099"/>
                </a:solidFill>
                <a:latin typeface="+mn-lt"/>
                <a:ea typeface="黑体" panose="02010609060101010101" pitchFamily="2" charset="-122"/>
              </a:rPr>
              <a:t>      </a:t>
            </a:r>
            <a:r>
              <a:rPr lang="en-US" altLang="zh-CN" sz="2000" b="1">
                <a:solidFill>
                  <a:srgbClr val="000099"/>
                </a:solidFill>
                <a:latin typeface="+mn-lt"/>
                <a:ea typeface="黑体" panose="02010609060101010101" pitchFamily="2" charset="-122"/>
              </a:rPr>
              <a:t>N</a:t>
            </a:r>
            <a:r>
              <a:rPr lang="en-US" altLang="zh-CN" sz="2000" b="1" baseline="-25000">
                <a:solidFill>
                  <a:srgbClr val="000099"/>
                </a:solidFill>
                <a:latin typeface="+mn-lt"/>
                <a:ea typeface="黑体" panose="02010609060101010101" pitchFamily="2" charset="-122"/>
              </a:rPr>
              <a:t>2</a:t>
            </a:r>
            <a:r>
              <a:rPr lang="en-US" altLang="zh-CN" sz="2000" b="1">
                <a:solidFill>
                  <a:srgbClr val="000099"/>
                </a:solidFill>
                <a:latin typeface="+mn-lt"/>
                <a:ea typeface="黑体" panose="02010609060101010101" pitchFamily="2" charset="-122"/>
              </a:rPr>
              <a:t>     </a:t>
            </a:r>
            <a:r>
              <a:rPr lang="en-US" altLang="zh-CN" sz="1000" b="1">
                <a:solidFill>
                  <a:srgbClr val="000099"/>
                </a:solidFill>
                <a:latin typeface="+mn-lt"/>
                <a:ea typeface="黑体" panose="02010609060101010101" pitchFamily="2" charset="-122"/>
              </a:rPr>
              <a:t>   </a:t>
            </a:r>
            <a:r>
              <a:rPr lang="en-US" altLang="zh-CN" sz="2000" b="1">
                <a:solidFill>
                  <a:srgbClr val="000099"/>
                </a:solidFill>
                <a:latin typeface="+mn-lt"/>
                <a:ea typeface="黑体" panose="02010609060101010101" pitchFamily="2" charset="-122"/>
              </a:rPr>
              <a:t>      R</a:t>
            </a:r>
            <a:r>
              <a:rPr lang="en-US" altLang="zh-CN" sz="2000" b="1" baseline="-25000">
                <a:solidFill>
                  <a:srgbClr val="000099"/>
                </a:solidFill>
                <a:latin typeface="+mn-lt"/>
                <a:ea typeface="黑体" panose="02010609060101010101" pitchFamily="2" charset="-122"/>
              </a:rPr>
              <a:t>2</a:t>
            </a:r>
          </a:p>
          <a:p>
            <a:pPr>
              <a:lnSpc>
                <a:spcPct val="120000"/>
              </a:lnSpc>
            </a:pPr>
            <a:r>
              <a:rPr lang="en-US" altLang="zh-CN" sz="2000" b="1">
                <a:solidFill>
                  <a:srgbClr val="000099"/>
                </a:solidFill>
                <a:latin typeface="+mn-lt"/>
                <a:ea typeface="黑体" panose="02010609060101010101" pitchFamily="2" charset="-122"/>
              </a:rPr>
              <a:t>    </a:t>
            </a:r>
            <a:r>
              <a:rPr lang="zh-CN" altLang="en-US" sz="2000" b="1">
                <a:solidFill>
                  <a:srgbClr val="000099"/>
                </a:solidFill>
                <a:latin typeface="+mn-lt"/>
                <a:ea typeface="黑体" panose="02010609060101010101" pitchFamily="2" charset="-122"/>
              </a:rPr>
              <a:t>默认           </a:t>
            </a:r>
            <a:r>
              <a:rPr lang="en-US" altLang="zh-CN" sz="2000" b="1">
                <a:solidFill>
                  <a:srgbClr val="000099"/>
                </a:solidFill>
                <a:latin typeface="+mn-lt"/>
                <a:ea typeface="黑体" panose="02010609060101010101" pitchFamily="2" charset="-122"/>
              </a:rPr>
              <a:t>R</a:t>
            </a:r>
            <a:r>
              <a:rPr lang="en-US" altLang="zh-CN" sz="2000" b="1" baseline="-25000">
                <a:solidFill>
                  <a:srgbClr val="000099"/>
                </a:solidFill>
                <a:latin typeface="+mn-lt"/>
                <a:ea typeface="黑体" panose="02010609060101010101" pitchFamily="2" charset="-122"/>
              </a:rPr>
              <a:t>1</a:t>
            </a:r>
          </a:p>
        </p:txBody>
      </p:sp>
      <p:sp>
        <p:nvSpPr>
          <p:cNvPr id="983077" name="Line 37"/>
          <p:cNvSpPr>
            <a:spLocks noChangeShapeType="1"/>
          </p:cNvSpPr>
          <p:nvPr/>
        </p:nvSpPr>
        <p:spPr bwMode="auto">
          <a:xfrm>
            <a:off x="374956" y="3796257"/>
            <a:ext cx="2345796" cy="0"/>
          </a:xfrm>
          <a:prstGeom prst="line">
            <a:avLst/>
          </a:prstGeom>
          <a:noFill/>
          <a:ln w="38100" cmpd="dbl">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83078" name="Line 38"/>
          <p:cNvSpPr>
            <a:spLocks noChangeShapeType="1"/>
          </p:cNvSpPr>
          <p:nvPr/>
        </p:nvSpPr>
        <p:spPr bwMode="auto">
          <a:xfrm>
            <a:off x="374956" y="4161382"/>
            <a:ext cx="2345796"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83079" name="Line 39"/>
          <p:cNvSpPr>
            <a:spLocks noChangeShapeType="1"/>
          </p:cNvSpPr>
          <p:nvPr/>
        </p:nvSpPr>
        <p:spPr bwMode="auto">
          <a:xfrm>
            <a:off x="1654481" y="3431132"/>
            <a:ext cx="5159" cy="141763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83107" name="Line 67"/>
          <p:cNvSpPr>
            <a:spLocks noChangeShapeType="1"/>
          </p:cNvSpPr>
          <p:nvPr/>
        </p:nvSpPr>
        <p:spPr bwMode="auto">
          <a:xfrm>
            <a:off x="374956" y="4497932"/>
            <a:ext cx="2345796"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Tree>
    <p:extLst>
      <p:ext uri="{BB962C8B-B14F-4D97-AF65-F5344CB8AC3E}">
        <p14:creationId xmlns:p14="http://schemas.microsoft.com/office/powerpoint/2010/main" val="109669029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8" name="Rectangle 6"/>
          <p:cNvSpPr>
            <a:spLocks noGrp="1" noChangeArrowheads="1"/>
          </p:cNvSpPr>
          <p:nvPr>
            <p:ph type="title"/>
          </p:nvPr>
        </p:nvSpPr>
        <p:spPr/>
        <p:txBody>
          <a:bodyPr/>
          <a:lstStyle/>
          <a:p>
            <a:pPr algn="ctr"/>
            <a:r>
              <a:rPr lang="zh-CN" altLang="en-US" dirty="0"/>
              <a:t>必须强调指出 </a:t>
            </a:r>
          </a:p>
        </p:txBody>
      </p:sp>
      <p:sp>
        <p:nvSpPr>
          <p:cNvPr id="397319" name="Rectangle 7"/>
          <p:cNvSpPr>
            <a:spLocks noGrp="1" noChangeArrowheads="1"/>
          </p:cNvSpPr>
          <p:nvPr>
            <p:ph idx="1"/>
          </p:nvPr>
        </p:nvSpPr>
        <p:spPr/>
        <p:txBody>
          <a:bodyPr/>
          <a:lstStyle/>
          <a:p>
            <a:pPr algn="just"/>
            <a:r>
              <a:rPr lang="en-US" altLang="zh-CN" dirty="0"/>
              <a:t>IP</a:t>
            </a:r>
            <a:r>
              <a:rPr lang="en-US" altLang="zh-CN" sz="2000" dirty="0"/>
              <a:t> </a:t>
            </a:r>
            <a:r>
              <a:rPr lang="zh-CN" altLang="en-US" dirty="0"/>
              <a:t>数据报的首部中</a:t>
            </a:r>
            <a:r>
              <a:rPr lang="zh-CN" altLang="en-US" dirty="0">
                <a:solidFill>
                  <a:srgbClr val="FF0000"/>
                </a:solidFill>
              </a:rPr>
              <a:t>没有</a:t>
            </a:r>
            <a:r>
              <a:rPr lang="zh-CN" altLang="en-US" dirty="0"/>
              <a:t>地方可以用来指明“下一跳路由器的 </a:t>
            </a:r>
            <a:r>
              <a:rPr lang="en-US" altLang="zh-CN" dirty="0"/>
              <a:t>IP </a:t>
            </a:r>
            <a:r>
              <a:rPr lang="zh-CN" altLang="en-US" dirty="0"/>
              <a:t>地址”。</a:t>
            </a:r>
          </a:p>
          <a:p>
            <a:pPr algn="just"/>
            <a:r>
              <a:rPr lang="zh-CN" altLang="en-US" dirty="0"/>
              <a:t>当路由器收到待转发的数据报，不是将下一跳路由器的</a:t>
            </a:r>
            <a:r>
              <a:rPr lang="zh-CN" altLang="en-US" sz="1800" dirty="0"/>
              <a:t> </a:t>
            </a:r>
            <a:r>
              <a:rPr lang="en-US" altLang="zh-CN" dirty="0"/>
              <a:t>IP</a:t>
            </a:r>
            <a:r>
              <a:rPr lang="en-US" altLang="zh-CN" sz="2000" dirty="0"/>
              <a:t> </a:t>
            </a:r>
            <a:r>
              <a:rPr lang="zh-CN" altLang="en-US" dirty="0"/>
              <a:t>地址填入 </a:t>
            </a:r>
            <a:r>
              <a:rPr lang="en-US" altLang="zh-CN" dirty="0"/>
              <a:t>IP </a:t>
            </a:r>
            <a:r>
              <a:rPr lang="zh-CN" altLang="en-US" dirty="0"/>
              <a:t>数据报，而是</a:t>
            </a:r>
            <a:r>
              <a:rPr lang="zh-CN" altLang="en-US" dirty="0">
                <a:solidFill>
                  <a:srgbClr val="FF0000"/>
                </a:solidFill>
              </a:rPr>
              <a:t>送交下层</a:t>
            </a:r>
            <a:r>
              <a:rPr lang="zh-CN" altLang="en-US" dirty="0"/>
              <a:t>的网络接口软件。</a:t>
            </a:r>
          </a:p>
          <a:p>
            <a:pPr algn="just"/>
            <a:r>
              <a:rPr lang="zh-CN" altLang="en-US" dirty="0"/>
              <a:t>网络接口软件</a:t>
            </a:r>
            <a:r>
              <a:rPr lang="zh-CN" altLang="en-US" dirty="0">
                <a:solidFill>
                  <a:srgbClr val="FF0000"/>
                </a:solidFill>
              </a:rPr>
              <a:t>使用</a:t>
            </a:r>
            <a:r>
              <a:rPr lang="zh-CN" altLang="en-US" sz="1800" dirty="0">
                <a:solidFill>
                  <a:srgbClr val="FF0000"/>
                </a:solidFill>
              </a:rPr>
              <a:t> </a:t>
            </a:r>
            <a:r>
              <a:rPr lang="en-US" altLang="zh-CN" dirty="0">
                <a:solidFill>
                  <a:srgbClr val="FF0000"/>
                </a:solidFill>
              </a:rPr>
              <a:t>ARP</a:t>
            </a:r>
            <a:r>
              <a:rPr lang="en-US" altLang="zh-CN" sz="1800" dirty="0">
                <a:solidFill>
                  <a:srgbClr val="FF0000"/>
                </a:solidFill>
              </a:rPr>
              <a:t> </a:t>
            </a:r>
            <a:r>
              <a:rPr lang="zh-CN" altLang="en-US" dirty="0"/>
              <a:t>负责将下一跳路由器的 </a:t>
            </a:r>
            <a:r>
              <a:rPr lang="en-US" altLang="zh-CN" dirty="0"/>
              <a:t>IP</a:t>
            </a:r>
            <a:r>
              <a:rPr lang="en-US" altLang="zh-CN" sz="2000" dirty="0"/>
              <a:t> </a:t>
            </a:r>
            <a:r>
              <a:rPr lang="zh-CN" altLang="en-US" dirty="0"/>
              <a:t>地址转换成硬件地址，并将此硬件地址放在链路层的</a:t>
            </a:r>
            <a:r>
              <a:rPr lang="zh-CN" altLang="en-US" sz="2000" dirty="0"/>
              <a:t> </a:t>
            </a:r>
            <a:r>
              <a:rPr lang="en-US" altLang="zh-CN" dirty="0"/>
              <a:t>MAC</a:t>
            </a:r>
            <a:r>
              <a:rPr lang="en-US" altLang="zh-CN" sz="1800" dirty="0"/>
              <a:t> </a:t>
            </a:r>
            <a:r>
              <a:rPr lang="zh-CN" altLang="en-US" dirty="0"/>
              <a:t>帧的首部，然后根据这个硬件地址找到下一跳路由器。  </a:t>
            </a:r>
          </a:p>
        </p:txBody>
      </p:sp>
      <p:sp>
        <p:nvSpPr>
          <p:cNvPr id="397314"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5"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6"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7"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20" name="Rectangle 8"/>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21" name="Rectangle 9"/>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588805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1"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2"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3"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4" name="Rectangle 6"/>
          <p:cNvSpPr>
            <a:spLocks noGrp="1" noChangeArrowheads="1"/>
          </p:cNvSpPr>
          <p:nvPr>
            <p:ph type="title"/>
          </p:nvPr>
        </p:nvSpPr>
        <p:spPr/>
        <p:txBody>
          <a:bodyPr/>
          <a:lstStyle/>
          <a:p>
            <a:pPr algn="ctr"/>
            <a:r>
              <a:rPr lang="zh-CN" altLang="en-US" dirty="0"/>
              <a:t>路由器分组转发算法 </a:t>
            </a:r>
          </a:p>
        </p:txBody>
      </p:sp>
      <p:sp>
        <p:nvSpPr>
          <p:cNvPr id="396295" name="Rectangle 7"/>
          <p:cNvSpPr>
            <a:spLocks noGrp="1" noChangeArrowheads="1"/>
          </p:cNvSpPr>
          <p:nvPr>
            <p:ph idx="1"/>
          </p:nvPr>
        </p:nvSpPr>
        <p:spPr>
          <a:ln>
            <a:solidFill>
              <a:schemeClr val="tx2"/>
            </a:solidFill>
            <a:miter lim="800000"/>
          </a:ln>
        </p:spPr>
        <p:txBody>
          <a:bodyPr/>
          <a:lstStyle/>
          <a:p>
            <a:pPr marL="539750" indent="-539750" algn="just">
              <a:spcBef>
                <a:spcPct val="0"/>
              </a:spcBef>
              <a:spcAft>
                <a:spcPct val="20000"/>
              </a:spcAft>
              <a:buFont typeface="Wingdings" panose="05000000000000000000" pitchFamily="2" charset="2"/>
              <a:buNone/>
              <a:tabLst>
                <a:tab pos="1528445" algn="l"/>
              </a:tabLst>
            </a:pPr>
            <a:r>
              <a:rPr lang="en-US" altLang="zh-CN" sz="2400" dirty="0"/>
              <a:t>(1) </a:t>
            </a:r>
            <a:r>
              <a:rPr lang="zh-CN" altLang="en-US" sz="2400" dirty="0"/>
              <a:t>从数据报的首部提取</a:t>
            </a:r>
            <a:r>
              <a:rPr lang="zh-CN" altLang="en-US" sz="2400" dirty="0">
                <a:solidFill>
                  <a:srgbClr val="FF0000"/>
                </a:solidFill>
              </a:rPr>
              <a:t>目的主机的</a:t>
            </a:r>
            <a:r>
              <a:rPr lang="zh-CN" altLang="en-US" sz="1600" dirty="0">
                <a:solidFill>
                  <a:srgbClr val="FF0000"/>
                </a:solidFill>
              </a:rPr>
              <a:t> </a:t>
            </a:r>
            <a:r>
              <a:rPr lang="en-US" altLang="zh-CN" sz="2400" dirty="0">
                <a:solidFill>
                  <a:srgbClr val="FF0000"/>
                </a:solidFill>
              </a:rPr>
              <a:t>IP</a:t>
            </a:r>
            <a:r>
              <a:rPr lang="en-US" altLang="zh-CN" sz="1600" dirty="0">
                <a:solidFill>
                  <a:srgbClr val="FF0000"/>
                </a:solidFill>
              </a:rPr>
              <a:t> </a:t>
            </a:r>
            <a:r>
              <a:rPr lang="zh-CN" altLang="en-US" sz="2400" dirty="0">
                <a:solidFill>
                  <a:srgbClr val="FF0000"/>
                </a:solidFill>
              </a:rPr>
              <a:t>地址</a:t>
            </a:r>
            <a:r>
              <a:rPr lang="zh-CN" altLang="en-US" sz="1400" dirty="0">
                <a:solidFill>
                  <a:srgbClr val="FF0000"/>
                </a:solidFill>
              </a:rPr>
              <a:t> </a:t>
            </a:r>
            <a:r>
              <a:rPr lang="en-US" altLang="zh-CN" sz="2400" dirty="0">
                <a:solidFill>
                  <a:srgbClr val="FF0000"/>
                </a:solidFill>
              </a:rPr>
              <a:t>D, </a:t>
            </a:r>
            <a:r>
              <a:rPr lang="zh-CN" altLang="en-US" sz="2400" dirty="0"/>
              <a:t>得出</a:t>
            </a:r>
            <a:r>
              <a:rPr lang="zh-CN" altLang="en-US" sz="2400" dirty="0">
                <a:solidFill>
                  <a:srgbClr val="FF0000"/>
                </a:solidFill>
              </a:rPr>
              <a:t>目的网络地址为</a:t>
            </a:r>
            <a:r>
              <a:rPr lang="zh-CN" altLang="en-US" sz="1400" dirty="0">
                <a:solidFill>
                  <a:srgbClr val="FF0000"/>
                </a:solidFill>
              </a:rPr>
              <a:t> </a:t>
            </a:r>
            <a:r>
              <a:rPr lang="en-US" altLang="zh-CN" sz="2400" dirty="0">
                <a:solidFill>
                  <a:srgbClr val="FF0000"/>
                </a:solidFill>
              </a:rPr>
              <a:t>N</a:t>
            </a:r>
            <a:r>
              <a:rPr lang="zh-CN" altLang="en-US" sz="2400" dirty="0">
                <a:solidFill>
                  <a:srgbClr val="FF0000"/>
                </a:solidFill>
              </a:rPr>
              <a:t>。</a:t>
            </a:r>
          </a:p>
          <a:p>
            <a:pPr marL="539750" indent="-539750" algn="just">
              <a:spcBef>
                <a:spcPct val="0"/>
              </a:spcBef>
              <a:spcAft>
                <a:spcPct val="20000"/>
              </a:spcAft>
              <a:buFont typeface="Wingdings" panose="05000000000000000000" pitchFamily="2" charset="2"/>
              <a:buNone/>
              <a:tabLst>
                <a:tab pos="1528445" algn="l"/>
              </a:tabLst>
            </a:pPr>
            <a:r>
              <a:rPr lang="en-US" altLang="zh-CN" sz="2400" dirty="0"/>
              <a:t>(2) </a:t>
            </a:r>
            <a:r>
              <a:rPr lang="zh-CN" altLang="en-US" sz="2400" dirty="0"/>
              <a:t>若网络</a:t>
            </a:r>
            <a:r>
              <a:rPr lang="zh-CN" altLang="en-US" sz="1200" dirty="0"/>
              <a:t> </a:t>
            </a:r>
            <a:r>
              <a:rPr lang="en-US" altLang="zh-CN" sz="2400" i="1" dirty="0"/>
              <a:t>N </a:t>
            </a:r>
            <a:r>
              <a:rPr lang="zh-CN" altLang="en-US" sz="2400" dirty="0"/>
              <a:t>与此路由器直接相连，则把数据报</a:t>
            </a:r>
            <a:r>
              <a:rPr lang="zh-CN" altLang="en-US" sz="2400" dirty="0">
                <a:solidFill>
                  <a:srgbClr val="FF0000"/>
                </a:solidFill>
              </a:rPr>
              <a:t>直接交付</a:t>
            </a:r>
            <a:r>
              <a:rPr lang="zh-CN" altLang="en-US" sz="2400" dirty="0"/>
              <a:t>目的主机</a:t>
            </a:r>
            <a:r>
              <a:rPr lang="zh-CN" altLang="en-US" sz="1200" dirty="0"/>
              <a:t> </a:t>
            </a:r>
            <a:r>
              <a:rPr lang="en-US" altLang="zh-CN" sz="2400" i="1" dirty="0"/>
              <a:t>D</a:t>
            </a:r>
            <a:r>
              <a:rPr lang="zh-CN" altLang="en-US" sz="2400" dirty="0"/>
              <a:t>；否则是</a:t>
            </a:r>
            <a:r>
              <a:rPr lang="zh-CN" altLang="en-US" sz="2400" dirty="0">
                <a:solidFill>
                  <a:srgbClr val="FF0000"/>
                </a:solidFill>
              </a:rPr>
              <a:t>间接交付，</a:t>
            </a:r>
            <a:r>
              <a:rPr lang="zh-CN" altLang="en-US" sz="2400" dirty="0"/>
              <a:t>执行</a:t>
            </a:r>
            <a:r>
              <a:rPr lang="en-US" altLang="zh-CN" sz="2400" dirty="0"/>
              <a:t>(3)</a:t>
            </a:r>
            <a:r>
              <a:rPr lang="zh-CN" altLang="en-US" sz="2400" dirty="0"/>
              <a:t>。</a:t>
            </a:r>
          </a:p>
          <a:p>
            <a:pPr marL="539750" indent="-539750" algn="just">
              <a:spcBef>
                <a:spcPct val="0"/>
              </a:spcBef>
              <a:spcAft>
                <a:spcPct val="20000"/>
              </a:spcAft>
              <a:buFont typeface="Wingdings" panose="05000000000000000000" pitchFamily="2" charset="2"/>
              <a:buNone/>
              <a:tabLst>
                <a:tab pos="1528445" algn="l"/>
              </a:tabLst>
            </a:pPr>
            <a:r>
              <a:rPr lang="en-US" altLang="zh-CN" sz="2400" dirty="0"/>
              <a:t>(3) </a:t>
            </a:r>
            <a:r>
              <a:rPr lang="zh-CN" altLang="en-US" sz="2400" dirty="0"/>
              <a:t>若路由表中有目的地址为 </a:t>
            </a:r>
            <a:r>
              <a:rPr lang="en-US" altLang="zh-CN" sz="2400" i="1" dirty="0"/>
              <a:t>D </a:t>
            </a:r>
            <a:r>
              <a:rPr lang="zh-CN" altLang="en-US" sz="2400" dirty="0"/>
              <a:t>的</a:t>
            </a:r>
            <a:r>
              <a:rPr lang="zh-CN" altLang="en-US" sz="2400" dirty="0">
                <a:solidFill>
                  <a:srgbClr val="FF0000"/>
                </a:solidFill>
              </a:rPr>
              <a:t>特定主机路由，</a:t>
            </a:r>
            <a:r>
              <a:rPr lang="zh-CN" altLang="en-US" sz="2400" dirty="0"/>
              <a:t>则把数据报传送给路由表中所指明的下一跳路由器；否则，执行</a:t>
            </a:r>
            <a:r>
              <a:rPr lang="en-US" altLang="zh-CN" sz="2400" dirty="0"/>
              <a:t>(4)</a:t>
            </a:r>
            <a:r>
              <a:rPr lang="zh-CN" altLang="en-US" sz="2400" dirty="0"/>
              <a:t>。</a:t>
            </a:r>
          </a:p>
          <a:p>
            <a:pPr marL="539750" indent="-539750" algn="just">
              <a:spcBef>
                <a:spcPct val="0"/>
              </a:spcBef>
              <a:spcAft>
                <a:spcPct val="20000"/>
              </a:spcAft>
              <a:buFont typeface="Wingdings" panose="05000000000000000000" pitchFamily="2" charset="2"/>
              <a:buNone/>
              <a:tabLst>
                <a:tab pos="1528445" algn="l"/>
              </a:tabLst>
            </a:pPr>
            <a:r>
              <a:rPr lang="en-US" altLang="zh-CN" sz="2400" dirty="0"/>
              <a:t>(4) </a:t>
            </a:r>
            <a:r>
              <a:rPr lang="zh-CN" altLang="en-US" sz="2400" dirty="0"/>
              <a:t>若路由表中有</a:t>
            </a:r>
            <a:r>
              <a:rPr lang="zh-CN" altLang="en-US" sz="2400" dirty="0">
                <a:solidFill>
                  <a:srgbClr val="FF0000"/>
                </a:solidFill>
              </a:rPr>
              <a:t>到达网络 </a:t>
            </a:r>
            <a:r>
              <a:rPr lang="en-US" altLang="zh-CN" sz="2400" i="1" dirty="0">
                <a:solidFill>
                  <a:srgbClr val="FF0000"/>
                </a:solidFill>
              </a:rPr>
              <a:t>N </a:t>
            </a:r>
            <a:r>
              <a:rPr lang="zh-CN" altLang="en-US" sz="2400" dirty="0">
                <a:solidFill>
                  <a:srgbClr val="FF0000"/>
                </a:solidFill>
              </a:rPr>
              <a:t>的路由，</a:t>
            </a:r>
            <a:r>
              <a:rPr lang="zh-CN" altLang="en-US" sz="2400" dirty="0"/>
              <a:t>则把数据报传送给路由表指明的下一跳路由器；否则，执行</a:t>
            </a:r>
            <a:r>
              <a:rPr lang="en-US" altLang="zh-CN" sz="2400" dirty="0"/>
              <a:t>(5)</a:t>
            </a:r>
            <a:r>
              <a:rPr lang="zh-CN" altLang="en-US" sz="2400" dirty="0"/>
              <a:t>。</a:t>
            </a:r>
          </a:p>
          <a:p>
            <a:pPr marL="539750" indent="-539750" algn="just">
              <a:spcBef>
                <a:spcPct val="0"/>
              </a:spcBef>
              <a:spcAft>
                <a:spcPct val="20000"/>
              </a:spcAft>
              <a:buFont typeface="Wingdings" panose="05000000000000000000" pitchFamily="2" charset="2"/>
              <a:buNone/>
              <a:tabLst>
                <a:tab pos="1528445" algn="l"/>
              </a:tabLst>
            </a:pPr>
            <a:r>
              <a:rPr lang="en-US" altLang="zh-CN" sz="2400" dirty="0"/>
              <a:t>(5) </a:t>
            </a:r>
            <a:r>
              <a:rPr lang="zh-CN" altLang="en-US" sz="2400" dirty="0"/>
              <a:t>若路由表中有一个</a:t>
            </a:r>
            <a:r>
              <a:rPr lang="zh-CN" altLang="en-US" sz="2400" dirty="0">
                <a:solidFill>
                  <a:srgbClr val="FF0000"/>
                </a:solidFill>
              </a:rPr>
              <a:t>默认路由，</a:t>
            </a:r>
            <a:r>
              <a:rPr lang="zh-CN" altLang="en-US" sz="2400" dirty="0"/>
              <a:t>则把数据报传送给路由表中所指明的默认路由器；否则，执行</a:t>
            </a:r>
            <a:r>
              <a:rPr lang="en-US" altLang="zh-CN" sz="2400" dirty="0"/>
              <a:t>(6)</a:t>
            </a:r>
            <a:r>
              <a:rPr lang="zh-CN" altLang="en-US" sz="2400" dirty="0"/>
              <a:t>。</a:t>
            </a:r>
          </a:p>
          <a:p>
            <a:pPr marL="539750" indent="-539750" algn="just">
              <a:spcBef>
                <a:spcPct val="0"/>
              </a:spcBef>
              <a:spcAft>
                <a:spcPct val="20000"/>
              </a:spcAft>
              <a:buFont typeface="Wingdings" panose="05000000000000000000" pitchFamily="2" charset="2"/>
              <a:buNone/>
              <a:tabLst>
                <a:tab pos="1528445" algn="l"/>
              </a:tabLst>
            </a:pPr>
            <a:r>
              <a:rPr lang="en-US" altLang="zh-CN" sz="2400" dirty="0"/>
              <a:t>(6)  </a:t>
            </a:r>
            <a:r>
              <a:rPr lang="zh-CN" altLang="en-US" sz="2400" dirty="0"/>
              <a:t>报告转发分组出错。 </a:t>
            </a:r>
          </a:p>
        </p:txBody>
      </p:sp>
      <p:sp>
        <p:nvSpPr>
          <p:cNvPr id="396296" name="Rectangle 8"/>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7" name="Rectangle 9"/>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97280232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关于路由表</a:t>
            </a:r>
          </a:p>
        </p:txBody>
      </p:sp>
      <p:sp>
        <p:nvSpPr>
          <p:cNvPr id="3" name="内容占位符 2"/>
          <p:cNvSpPr>
            <a:spLocks noGrp="1"/>
          </p:cNvSpPr>
          <p:nvPr>
            <p:ph idx="1"/>
          </p:nvPr>
        </p:nvSpPr>
        <p:spPr/>
        <p:txBody>
          <a:bodyPr/>
          <a:lstStyle/>
          <a:p>
            <a:pPr>
              <a:spcBef>
                <a:spcPts val="1200"/>
              </a:spcBef>
            </a:pPr>
            <a:r>
              <a:rPr lang="zh-CN" altLang="zh-CN" dirty="0"/>
              <a:t>路由表没有给分组指明到某个网络的完整路径</a:t>
            </a:r>
            <a:r>
              <a:rPr lang="zh-CN" altLang="en-US" dirty="0"/>
              <a:t>。</a:t>
            </a:r>
            <a:endParaRPr lang="en-US" altLang="zh-CN" dirty="0"/>
          </a:p>
          <a:p>
            <a:pPr>
              <a:spcBef>
                <a:spcPts val="1200"/>
              </a:spcBef>
            </a:pPr>
            <a:r>
              <a:rPr lang="zh-CN" altLang="zh-CN" dirty="0">
                <a:solidFill>
                  <a:srgbClr val="FF0000"/>
                </a:solidFill>
              </a:rPr>
              <a:t>路由表指出，到某个网络应当先到某个路由器（即下一跳路由器）</a:t>
            </a:r>
            <a:r>
              <a:rPr lang="zh-CN" altLang="en-US" dirty="0">
                <a:solidFill>
                  <a:srgbClr val="FF0000"/>
                </a:solidFill>
              </a:rPr>
              <a:t>。</a:t>
            </a:r>
            <a:endParaRPr lang="en-US" altLang="zh-CN" dirty="0">
              <a:solidFill>
                <a:srgbClr val="FF0000"/>
              </a:solidFill>
            </a:endParaRPr>
          </a:p>
          <a:p>
            <a:pPr>
              <a:spcBef>
                <a:spcPts val="1200"/>
              </a:spcBef>
            </a:pPr>
            <a:r>
              <a:rPr lang="zh-CN" altLang="zh-CN" dirty="0"/>
              <a:t>在到达下一跳路由器后，再继续查找其路由表，知道再下一步应当到哪一个路由器。</a:t>
            </a:r>
            <a:endParaRPr lang="en-US" altLang="zh-CN" dirty="0"/>
          </a:p>
          <a:p>
            <a:pPr>
              <a:spcBef>
                <a:spcPts val="1200"/>
              </a:spcBef>
            </a:pPr>
            <a:r>
              <a:rPr lang="zh-CN" altLang="zh-CN" dirty="0"/>
              <a:t>这样一步一步地查找下去，直到最后到达目的网络。</a:t>
            </a:r>
            <a:endParaRPr lang="zh-CN" altLang="en-US" dirty="0"/>
          </a:p>
        </p:txBody>
      </p:sp>
    </p:spTree>
    <p:extLst>
      <p:ext uri="{BB962C8B-B14F-4D97-AF65-F5344CB8AC3E}">
        <p14:creationId xmlns:p14="http://schemas.microsoft.com/office/powerpoint/2010/main" val="270030040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4" name="Rectangle 4"/>
          <p:cNvSpPr>
            <a:spLocks noGrp="1" noChangeArrowheads="1"/>
          </p:cNvSpPr>
          <p:nvPr>
            <p:ph type="title"/>
          </p:nvPr>
        </p:nvSpPr>
        <p:spPr/>
        <p:txBody>
          <a:bodyPr/>
          <a:lstStyle/>
          <a:p>
            <a:r>
              <a:rPr lang="en-US" altLang="zh-CN" dirty="0"/>
              <a:t>2. </a:t>
            </a:r>
            <a:r>
              <a:rPr lang="zh-CN" altLang="en-US" dirty="0"/>
              <a:t>最长前缀匹配</a:t>
            </a:r>
          </a:p>
        </p:txBody>
      </p:sp>
      <p:sp>
        <p:nvSpPr>
          <p:cNvPr id="532486" name="Rectangle 6"/>
          <p:cNvSpPr>
            <a:spLocks noGrp="1" noChangeArrowheads="1"/>
          </p:cNvSpPr>
          <p:nvPr>
            <p:ph idx="1"/>
          </p:nvPr>
        </p:nvSpPr>
        <p:spPr/>
        <p:txBody>
          <a:bodyPr/>
          <a:lstStyle/>
          <a:p>
            <a:pPr algn="just"/>
            <a:r>
              <a:rPr lang="zh-CN" altLang="en-US" dirty="0"/>
              <a:t>使用 </a:t>
            </a:r>
            <a:r>
              <a:rPr lang="en-US" altLang="zh-CN" dirty="0"/>
              <a:t>CIDR </a:t>
            </a:r>
            <a:r>
              <a:rPr lang="zh-CN" altLang="en-US" dirty="0"/>
              <a:t>时，路由表中的每个项目由“网络前缀”和“下一跳地址”组成。</a:t>
            </a:r>
            <a:r>
              <a:rPr lang="zh-CN" altLang="en-US" dirty="0">
                <a:solidFill>
                  <a:srgbClr val="0000FF"/>
                </a:solidFill>
              </a:rPr>
              <a:t>在查找路由表时可能会得到不止一个匹配结果。</a:t>
            </a:r>
            <a:r>
              <a:rPr lang="zh-CN" altLang="en-US" dirty="0"/>
              <a:t> </a:t>
            </a:r>
          </a:p>
          <a:p>
            <a:pPr algn="just"/>
            <a:r>
              <a:rPr lang="zh-CN" altLang="en-US" dirty="0"/>
              <a:t>应当从匹配结果中选择具有最长网络前缀的路由：</a:t>
            </a:r>
            <a:r>
              <a:rPr lang="zh-CN" altLang="en-US" dirty="0">
                <a:solidFill>
                  <a:srgbClr val="FF0000"/>
                </a:solidFill>
              </a:rPr>
              <a:t>最长前缀匹配</a:t>
            </a:r>
            <a:r>
              <a:rPr lang="zh-CN" altLang="en-US" dirty="0"/>
              <a:t> </a:t>
            </a:r>
            <a:r>
              <a:rPr lang="en-US" altLang="zh-CN" dirty="0"/>
              <a:t>(longest-prefix matching)</a:t>
            </a:r>
            <a:r>
              <a:rPr lang="zh-CN" altLang="en-US" dirty="0"/>
              <a:t>。</a:t>
            </a:r>
          </a:p>
          <a:p>
            <a:pPr algn="just"/>
            <a:r>
              <a:rPr lang="zh-CN" altLang="en-US" dirty="0"/>
              <a:t>网络前缀越长，其地址块就越小，因而路由就越具体 </a:t>
            </a:r>
            <a:r>
              <a:rPr lang="en-US" altLang="zh-CN" dirty="0"/>
              <a:t>(more specific) </a:t>
            </a:r>
            <a:r>
              <a:rPr lang="zh-CN" altLang="en-US" dirty="0"/>
              <a:t>。</a:t>
            </a:r>
          </a:p>
          <a:p>
            <a:pPr algn="just"/>
            <a:r>
              <a:rPr lang="zh-CN" altLang="en-US" dirty="0"/>
              <a:t>最长前缀匹配又称为</a:t>
            </a:r>
            <a:r>
              <a:rPr lang="zh-CN" altLang="en-US" dirty="0">
                <a:solidFill>
                  <a:srgbClr val="FF0000"/>
                </a:solidFill>
              </a:rPr>
              <a:t>最长匹配</a:t>
            </a:r>
            <a:r>
              <a:rPr lang="zh-CN" altLang="en-US" dirty="0"/>
              <a:t>或</a:t>
            </a:r>
            <a:r>
              <a:rPr lang="zh-CN" altLang="en-US" dirty="0">
                <a:solidFill>
                  <a:srgbClr val="FF0000"/>
                </a:solidFill>
              </a:rPr>
              <a:t>最佳匹配。</a:t>
            </a:r>
          </a:p>
        </p:txBody>
      </p:sp>
      <p:sp>
        <p:nvSpPr>
          <p:cNvPr id="532482" name="Rectangle 2"/>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2483" name="Rectangle 3"/>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2485" name="Rectangle 5"/>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299824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2449959" y="4415194"/>
            <a:ext cx="4519265" cy="1584325"/>
          </a:xfrm>
          <a:prstGeom prst="rect">
            <a:avLst/>
          </a:prstGeom>
          <a:solidFill>
            <a:srgbClr val="66FFFF"/>
          </a:solidFill>
          <a:ln w="28575">
            <a:solidFill>
              <a:srgbClr val="FF0000"/>
            </a:solidFill>
            <a:miter lim="800000"/>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2pPr>
            <a:lvl3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3pPr>
            <a:lvl4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4pPr>
            <a:lvl5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5pPr>
            <a:lvl6pPr marL="4572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6pPr>
            <a:lvl7pPr marL="9144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7pPr>
            <a:lvl8pPr marL="13716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8pPr>
            <a:lvl9pPr marL="18288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最长前缀匹配举例</a:t>
            </a:r>
          </a:p>
        </p:txBody>
      </p:sp>
      <p:sp>
        <p:nvSpPr>
          <p:cNvPr id="9" name="Text Box 4"/>
          <p:cNvSpPr txBox="1">
            <a:spLocks noChangeArrowheads="1"/>
          </p:cNvSpPr>
          <p:nvPr/>
        </p:nvSpPr>
        <p:spPr bwMode="auto">
          <a:xfrm>
            <a:off x="433834" y="838200"/>
            <a:ext cx="8450262"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0" lang="zh-CN" altLang="en-US" sz="3200" b="1" dirty="0">
                <a:latin typeface="+mn-lt"/>
                <a:ea typeface="黑体" panose="02010609060101010101" pitchFamily="2" charset="-122"/>
              </a:rPr>
              <a:t>收到的分组的目的地址 </a:t>
            </a:r>
            <a:r>
              <a:rPr kumimoji="0" lang="en-US" altLang="zh-CN" sz="3200" b="1" i="1" dirty="0">
                <a:solidFill>
                  <a:srgbClr val="C00000"/>
                </a:solidFill>
                <a:latin typeface="+mn-lt"/>
                <a:ea typeface="黑体" panose="02010609060101010101" pitchFamily="2" charset="-122"/>
              </a:rPr>
              <a:t>D</a:t>
            </a:r>
            <a:r>
              <a:rPr kumimoji="0" lang="en-US" altLang="zh-CN" sz="3200" b="1" dirty="0">
                <a:solidFill>
                  <a:srgbClr val="C00000"/>
                </a:solidFill>
                <a:latin typeface="+mn-lt"/>
                <a:ea typeface="黑体" panose="02010609060101010101" pitchFamily="2" charset="-122"/>
              </a:rPr>
              <a:t> = 206.0.71.130</a:t>
            </a:r>
          </a:p>
          <a:p>
            <a:r>
              <a:rPr kumimoji="0" lang="zh-CN" altLang="en-US" sz="3200" b="1" dirty="0">
                <a:latin typeface="+mn-lt"/>
                <a:ea typeface="黑体" panose="02010609060101010101" pitchFamily="2" charset="-122"/>
              </a:rPr>
              <a:t>路由表中的项目：</a:t>
            </a:r>
            <a:r>
              <a:rPr kumimoji="0" lang="en-US" altLang="zh-CN" sz="3200" b="1" dirty="0">
                <a:solidFill>
                  <a:srgbClr val="0000FF"/>
                </a:solidFill>
                <a:latin typeface="+mn-lt"/>
                <a:ea typeface="黑体" panose="02010609060101010101" pitchFamily="2" charset="-122"/>
              </a:rPr>
              <a:t>206.0.68.0/22		1</a:t>
            </a:r>
          </a:p>
          <a:p>
            <a:r>
              <a:rPr kumimoji="0" lang="en-US" altLang="zh-CN" sz="3200" b="1" dirty="0">
                <a:solidFill>
                  <a:srgbClr val="0000FF"/>
                </a:solidFill>
                <a:latin typeface="+mn-lt"/>
                <a:ea typeface="黑体" panose="02010609060101010101" pitchFamily="2" charset="-122"/>
              </a:rPr>
              <a:t>                             206.0.71.128/25		2</a:t>
            </a:r>
          </a:p>
        </p:txBody>
      </p:sp>
      <p:sp>
        <p:nvSpPr>
          <p:cNvPr id="10" name="Text Box 5"/>
          <p:cNvSpPr txBox="1">
            <a:spLocks noChangeArrowheads="1"/>
          </p:cNvSpPr>
          <p:nvPr/>
        </p:nvSpPr>
        <p:spPr bwMode="auto">
          <a:xfrm>
            <a:off x="433834" y="2425700"/>
            <a:ext cx="4911922" cy="523220"/>
          </a:xfrm>
          <a:prstGeom prst="rect">
            <a:avLst/>
          </a:prstGeom>
          <a:solidFill>
            <a:srgbClr val="FFFF66"/>
          </a:solidFill>
          <a:ln>
            <a:noFill/>
          </a:ln>
          <a:effectLst/>
        </p:spPr>
        <p:txBody>
          <a:bodyPr wrap="none">
            <a:spAutoFit/>
          </a:bodyPr>
          <a:lstStyle/>
          <a:p>
            <a:r>
              <a:rPr kumimoji="0" lang="zh-CN" altLang="en-US" sz="2800" b="1" dirty="0">
                <a:solidFill>
                  <a:srgbClr val="C00000"/>
                </a:solidFill>
                <a:latin typeface="+mn-lt"/>
                <a:ea typeface="黑体" panose="02010609060101010101" pitchFamily="2" charset="-122"/>
              </a:rPr>
              <a:t>查找路由表中的第 </a:t>
            </a:r>
            <a:r>
              <a:rPr kumimoji="0" lang="en-US" altLang="zh-CN" sz="2800" b="1" dirty="0">
                <a:solidFill>
                  <a:srgbClr val="C00000"/>
                </a:solidFill>
                <a:latin typeface="+mn-lt"/>
                <a:ea typeface="黑体" panose="02010609060101010101" pitchFamily="2" charset="-122"/>
              </a:rPr>
              <a:t>1 </a:t>
            </a:r>
            <a:r>
              <a:rPr kumimoji="0" lang="zh-CN" altLang="en-US" sz="2800" b="1" dirty="0">
                <a:solidFill>
                  <a:srgbClr val="C00000"/>
                </a:solidFill>
                <a:latin typeface="+mn-lt"/>
                <a:ea typeface="黑体" panose="02010609060101010101" pitchFamily="2" charset="-122"/>
              </a:rPr>
              <a:t>个项目：</a:t>
            </a:r>
          </a:p>
        </p:txBody>
      </p:sp>
      <p:sp>
        <p:nvSpPr>
          <p:cNvPr id="11" name="Text Box 6"/>
          <p:cNvSpPr txBox="1">
            <a:spLocks noChangeArrowheads="1"/>
          </p:cNvSpPr>
          <p:nvPr/>
        </p:nvSpPr>
        <p:spPr bwMode="auto">
          <a:xfrm>
            <a:off x="360809" y="4920019"/>
            <a:ext cx="847584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anose="02010609060101010101" pitchFamily="2" charset="-122"/>
              </a:rPr>
              <a:t>AND      </a:t>
            </a:r>
            <a:r>
              <a:rPr kumimoji="0" lang="en-US" altLang="zh-CN" sz="2800" b="1" i="1" dirty="0">
                <a:solidFill>
                  <a:srgbClr val="0000FF"/>
                </a:solidFill>
                <a:latin typeface="+mn-lt"/>
                <a:ea typeface="黑体" panose="02010609060101010101" pitchFamily="2" charset="-122"/>
              </a:rPr>
              <a:t>D</a:t>
            </a:r>
            <a:r>
              <a:rPr kumimoji="0" lang="en-US" altLang="zh-CN" sz="2800" b="1" dirty="0">
                <a:solidFill>
                  <a:srgbClr val="0000FF"/>
                </a:solidFill>
                <a:latin typeface="+mn-lt"/>
                <a:ea typeface="黑体" panose="02010609060101010101" pitchFamily="2" charset="-122"/>
              </a:rPr>
              <a:t> =       206.           0.       01000111.    130</a:t>
            </a:r>
          </a:p>
        </p:txBody>
      </p:sp>
      <p:sp>
        <p:nvSpPr>
          <p:cNvPr id="12" name="Text Box 7"/>
          <p:cNvSpPr txBox="1">
            <a:spLocks noChangeArrowheads="1"/>
          </p:cNvSpPr>
          <p:nvPr/>
        </p:nvSpPr>
        <p:spPr bwMode="auto">
          <a:xfrm>
            <a:off x="433834" y="2859088"/>
            <a:ext cx="907011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a:latin typeface="+mn-lt"/>
                <a:ea typeface="黑体" panose="02010609060101010101" pitchFamily="2" charset="-122"/>
              </a:rPr>
              <a:t>第 </a:t>
            </a:r>
            <a:r>
              <a:rPr kumimoji="0" lang="en-US" altLang="zh-CN" sz="2800" b="1">
                <a:latin typeface="+mn-lt"/>
                <a:ea typeface="黑体" panose="02010609060101010101" pitchFamily="2" charset="-122"/>
              </a:rPr>
              <a:t>1 </a:t>
            </a:r>
            <a:r>
              <a:rPr kumimoji="0" lang="zh-CN" altLang="en-US" sz="2800" b="1">
                <a:latin typeface="+mn-lt"/>
                <a:ea typeface="黑体" panose="02010609060101010101" pitchFamily="2" charset="-122"/>
              </a:rPr>
              <a:t>个项目 </a:t>
            </a:r>
            <a:r>
              <a:rPr kumimoji="0" lang="en-US" altLang="zh-CN" sz="2800" b="1">
                <a:latin typeface="+mn-lt"/>
                <a:ea typeface="黑体" panose="02010609060101010101" pitchFamily="2" charset="-122"/>
              </a:rPr>
              <a:t>206.0.68.0/22 </a:t>
            </a:r>
            <a:r>
              <a:rPr kumimoji="0" lang="zh-CN" altLang="en-US" sz="2800" b="1">
                <a:latin typeface="+mn-lt"/>
                <a:ea typeface="黑体" panose="02010609060101010101" pitchFamily="2" charset="-122"/>
              </a:rPr>
              <a:t>的掩码 </a:t>
            </a:r>
            <a:r>
              <a:rPr kumimoji="0" lang="en-US" altLang="zh-CN" sz="2800" b="1" i="1">
                <a:latin typeface="+mn-lt"/>
                <a:ea typeface="黑体" panose="02010609060101010101" pitchFamily="2" charset="-122"/>
              </a:rPr>
              <a:t>M</a:t>
            </a:r>
            <a:r>
              <a:rPr kumimoji="0" lang="en-US" altLang="zh-CN" sz="2800" b="1">
                <a:latin typeface="+mn-lt"/>
                <a:ea typeface="黑体" panose="02010609060101010101" pitchFamily="2" charset="-122"/>
              </a:rPr>
              <a:t> </a:t>
            </a:r>
            <a:r>
              <a:rPr kumimoji="0" lang="zh-CN" altLang="en-US" sz="2800" b="1">
                <a:latin typeface="+mn-lt"/>
                <a:ea typeface="黑体" panose="02010609060101010101" pitchFamily="2" charset="-122"/>
              </a:rPr>
              <a:t>有 </a:t>
            </a:r>
            <a:r>
              <a:rPr kumimoji="0" lang="en-US" altLang="zh-CN" sz="2800" b="1">
                <a:latin typeface="+mn-lt"/>
                <a:ea typeface="黑体" panose="02010609060101010101" pitchFamily="2" charset="-122"/>
              </a:rPr>
              <a:t>22 </a:t>
            </a:r>
            <a:r>
              <a:rPr kumimoji="0" lang="zh-CN" altLang="en-US" sz="2800" b="1">
                <a:latin typeface="+mn-lt"/>
                <a:ea typeface="黑体" panose="02010609060101010101" pitchFamily="2" charset="-122"/>
              </a:rPr>
              <a:t>个连续的 </a:t>
            </a:r>
            <a:r>
              <a:rPr kumimoji="0" lang="en-US" altLang="zh-CN" sz="2800" b="1">
                <a:latin typeface="+mn-lt"/>
                <a:ea typeface="黑体" panose="02010609060101010101" pitchFamily="2" charset="-122"/>
              </a:rPr>
              <a:t>1</a:t>
            </a:r>
            <a:r>
              <a:rPr kumimoji="0" lang="zh-CN" altLang="en-US" sz="2800" b="1">
                <a:latin typeface="+mn-lt"/>
                <a:ea typeface="黑体" panose="02010609060101010101" pitchFamily="2" charset="-122"/>
              </a:rPr>
              <a:t>。</a:t>
            </a:r>
          </a:p>
        </p:txBody>
      </p:sp>
      <p:sp>
        <p:nvSpPr>
          <p:cNvPr id="13" name="Text Box 8"/>
          <p:cNvSpPr txBox="1">
            <a:spLocks noChangeArrowheads="1"/>
          </p:cNvSpPr>
          <p:nvPr/>
        </p:nvSpPr>
        <p:spPr bwMode="auto">
          <a:xfrm>
            <a:off x="1687959" y="3367088"/>
            <a:ext cx="72269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anose="02010609060101010101" pitchFamily="2" charset="-122"/>
              </a:rPr>
              <a:t>M</a:t>
            </a:r>
            <a:r>
              <a:rPr kumimoji="0" lang="en-US" altLang="zh-CN" sz="2800" b="1" dirty="0">
                <a:solidFill>
                  <a:srgbClr val="0000FF"/>
                </a:solidFill>
                <a:latin typeface="+mn-lt"/>
                <a:ea typeface="黑体" panose="02010609060101010101" pitchFamily="2" charset="-122"/>
              </a:rPr>
              <a:t> = 11111111 11111111 11111100 00000000</a:t>
            </a:r>
          </a:p>
        </p:txBody>
      </p:sp>
      <p:sp>
        <p:nvSpPr>
          <p:cNvPr id="14" name="Text Box 9"/>
          <p:cNvSpPr txBox="1">
            <a:spLocks noChangeArrowheads="1"/>
          </p:cNvSpPr>
          <p:nvPr/>
        </p:nvSpPr>
        <p:spPr bwMode="auto">
          <a:xfrm>
            <a:off x="433834" y="3929063"/>
            <a:ext cx="740298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anose="02010609060101010101" pitchFamily="2" charset="-122"/>
              </a:rPr>
              <a:t>因此只需把 </a:t>
            </a:r>
            <a:r>
              <a:rPr kumimoji="0" lang="en-US" altLang="zh-CN" sz="2800" b="1" i="1" dirty="0">
                <a:latin typeface="+mn-lt"/>
                <a:ea typeface="黑体" panose="02010609060101010101" pitchFamily="2" charset="-122"/>
              </a:rPr>
              <a:t>D</a:t>
            </a:r>
            <a:r>
              <a:rPr kumimoji="0" lang="en-US" altLang="zh-CN" sz="2800" b="1" dirty="0">
                <a:latin typeface="+mn-lt"/>
                <a:ea typeface="黑体" panose="02010609060101010101" pitchFamily="2" charset="-122"/>
              </a:rPr>
              <a:t> </a:t>
            </a:r>
            <a:r>
              <a:rPr kumimoji="0" lang="zh-CN" altLang="en-US" sz="2800" b="1" dirty="0">
                <a:latin typeface="+mn-lt"/>
                <a:ea typeface="黑体" panose="02010609060101010101" pitchFamily="2" charset="-122"/>
              </a:rPr>
              <a:t>的第 </a:t>
            </a:r>
            <a:r>
              <a:rPr kumimoji="0" lang="en-US" altLang="zh-CN" sz="2800" b="1" dirty="0">
                <a:latin typeface="+mn-lt"/>
                <a:ea typeface="黑体" panose="02010609060101010101" pitchFamily="2" charset="-122"/>
              </a:rPr>
              <a:t>3 </a:t>
            </a:r>
            <a:r>
              <a:rPr kumimoji="0" lang="zh-CN" altLang="en-US" sz="2800" b="1" dirty="0">
                <a:latin typeface="+mn-lt"/>
                <a:ea typeface="黑体" panose="02010609060101010101" pitchFamily="2" charset="-122"/>
              </a:rPr>
              <a:t>个字节转换成二进制。</a:t>
            </a:r>
          </a:p>
        </p:txBody>
      </p:sp>
      <p:sp>
        <p:nvSpPr>
          <p:cNvPr id="15" name="Text Box 10"/>
          <p:cNvSpPr txBox="1">
            <a:spLocks noChangeArrowheads="1"/>
          </p:cNvSpPr>
          <p:nvPr/>
        </p:nvSpPr>
        <p:spPr bwMode="auto">
          <a:xfrm>
            <a:off x="1686525" y="4400907"/>
            <a:ext cx="752507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anose="02010609060101010101" pitchFamily="2" charset="-122"/>
              </a:rPr>
              <a:t>M</a:t>
            </a:r>
            <a:r>
              <a:rPr kumimoji="0" lang="en-US" altLang="zh-CN" sz="2800" b="1" dirty="0">
                <a:solidFill>
                  <a:srgbClr val="0000FF"/>
                </a:solidFill>
                <a:latin typeface="+mn-lt"/>
                <a:ea typeface="黑体" panose="02010609060101010101" pitchFamily="2" charset="-122"/>
              </a:rPr>
              <a:t> =    11111111 11111111 11111100 00000000</a:t>
            </a:r>
          </a:p>
        </p:txBody>
      </p:sp>
      <p:sp>
        <p:nvSpPr>
          <p:cNvPr id="16" name="Line 11"/>
          <p:cNvSpPr>
            <a:spLocks noChangeShapeType="1"/>
          </p:cNvSpPr>
          <p:nvPr/>
        </p:nvSpPr>
        <p:spPr bwMode="auto">
          <a:xfrm>
            <a:off x="325884" y="5423257"/>
            <a:ext cx="8820150"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7" name="Text Box 12"/>
          <p:cNvSpPr txBox="1">
            <a:spLocks noChangeArrowheads="1"/>
          </p:cNvSpPr>
          <p:nvPr/>
        </p:nvSpPr>
        <p:spPr bwMode="auto">
          <a:xfrm>
            <a:off x="2978596" y="5496282"/>
            <a:ext cx="557235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anose="02010609060101010101" pitchFamily="2" charset="-122"/>
              </a:rPr>
              <a:t>206.           0.       01000100.       0</a:t>
            </a:r>
          </a:p>
        </p:txBody>
      </p:sp>
      <p:sp>
        <p:nvSpPr>
          <p:cNvPr id="18" name="Text Box 13"/>
          <p:cNvSpPr txBox="1">
            <a:spLocks noChangeArrowheads="1"/>
          </p:cNvSpPr>
          <p:nvPr/>
        </p:nvSpPr>
        <p:spPr bwMode="auto">
          <a:xfrm>
            <a:off x="2648744" y="5949280"/>
            <a:ext cx="428835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rPr>
              <a:t>与 </a:t>
            </a:r>
            <a:r>
              <a:rPr kumimoji="0" lang="en-US" altLang="zh-CN" sz="3200" b="1" i="0" u="none" strike="noStrike" kern="0" cap="none" spc="0" normalizeH="0" baseline="0" noProof="0" dirty="0">
                <a:ln>
                  <a:noFill/>
                </a:ln>
                <a:solidFill>
                  <a:srgbClr val="FF0000"/>
                </a:solidFill>
                <a:effectLst/>
                <a:uLnTx/>
                <a:uFillTx/>
                <a:latin typeface="+mn-lt"/>
                <a:ea typeface="黑体" panose="02010609060101010101" pitchFamily="2" charset="-122"/>
              </a:rPr>
              <a:t>206.0.68.0/22 </a:t>
            </a:r>
            <a:r>
              <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rPr>
              <a:t>匹配</a:t>
            </a:r>
            <a:r>
              <a:rPr kumimoji="0" lang="en-US" altLang="zh-CN" sz="3200" b="1" i="0" u="none" strike="noStrike" kern="0" cap="none" spc="0" normalizeH="0" baseline="0" noProof="0" dirty="0">
                <a:ln>
                  <a:noFill/>
                </a:ln>
                <a:solidFill>
                  <a:srgbClr val="FF0000"/>
                </a:solidFill>
                <a:effectLst/>
                <a:uLnTx/>
                <a:uFillTx/>
                <a:latin typeface="+mn-lt"/>
                <a:ea typeface="黑体" panose="02010609060101010101" pitchFamily="2" charset="-122"/>
              </a:rPr>
              <a:t>!</a:t>
            </a:r>
            <a:endPar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endParaRPr>
          </a:p>
        </p:txBody>
      </p:sp>
    </p:spTree>
    <p:extLst>
      <p:ext uri="{BB962C8B-B14F-4D97-AF65-F5344CB8AC3E}">
        <p14:creationId xmlns:p14="http://schemas.microsoft.com/office/powerpoint/2010/main" val="2893972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7"/>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8"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2449959" y="4415194"/>
            <a:ext cx="5239345" cy="1584325"/>
          </a:xfrm>
          <a:prstGeom prst="rect">
            <a:avLst/>
          </a:prstGeom>
          <a:solidFill>
            <a:srgbClr val="66FFFF"/>
          </a:solidFill>
          <a:ln w="28575">
            <a:solidFill>
              <a:srgbClr val="FF0000"/>
            </a:solidFill>
            <a:miter lim="800000"/>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2pPr>
            <a:lvl3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3pPr>
            <a:lvl4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4pPr>
            <a:lvl5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5pPr>
            <a:lvl6pPr marL="4572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6pPr>
            <a:lvl7pPr marL="9144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7pPr>
            <a:lvl8pPr marL="13716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8pPr>
            <a:lvl9pPr marL="18288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最长前缀匹配举例</a:t>
            </a:r>
          </a:p>
        </p:txBody>
      </p:sp>
      <p:sp>
        <p:nvSpPr>
          <p:cNvPr id="9" name="Text Box 4"/>
          <p:cNvSpPr txBox="1">
            <a:spLocks noChangeArrowheads="1"/>
          </p:cNvSpPr>
          <p:nvPr/>
        </p:nvSpPr>
        <p:spPr bwMode="auto">
          <a:xfrm>
            <a:off x="433834" y="838200"/>
            <a:ext cx="8450262"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0" lang="zh-CN" altLang="en-US" sz="3200" b="1" dirty="0">
                <a:latin typeface="+mn-lt"/>
                <a:ea typeface="黑体" panose="02010609060101010101" pitchFamily="2" charset="-122"/>
              </a:rPr>
              <a:t>收到的分组的目的地址 </a:t>
            </a:r>
            <a:r>
              <a:rPr kumimoji="0" lang="en-US" altLang="zh-CN" sz="3200" b="1" i="1" dirty="0">
                <a:solidFill>
                  <a:srgbClr val="C00000"/>
                </a:solidFill>
                <a:latin typeface="+mn-lt"/>
                <a:ea typeface="黑体" panose="02010609060101010101" pitchFamily="2" charset="-122"/>
              </a:rPr>
              <a:t>D</a:t>
            </a:r>
            <a:r>
              <a:rPr kumimoji="0" lang="en-US" altLang="zh-CN" sz="3200" b="1" dirty="0">
                <a:solidFill>
                  <a:srgbClr val="C00000"/>
                </a:solidFill>
                <a:latin typeface="+mn-lt"/>
                <a:ea typeface="黑体" panose="02010609060101010101" pitchFamily="2" charset="-122"/>
              </a:rPr>
              <a:t> = 206.0.71.130</a:t>
            </a:r>
          </a:p>
          <a:p>
            <a:r>
              <a:rPr kumimoji="0" lang="zh-CN" altLang="en-US" sz="3200" b="1" dirty="0">
                <a:latin typeface="+mn-lt"/>
                <a:ea typeface="黑体" panose="02010609060101010101" pitchFamily="2" charset="-122"/>
              </a:rPr>
              <a:t>路由表中的项目：</a:t>
            </a:r>
            <a:r>
              <a:rPr kumimoji="0" lang="en-US" altLang="zh-CN" sz="3200" b="1" dirty="0">
                <a:solidFill>
                  <a:srgbClr val="0000FF"/>
                </a:solidFill>
                <a:latin typeface="+mn-lt"/>
                <a:ea typeface="黑体" panose="02010609060101010101" pitchFamily="2" charset="-122"/>
              </a:rPr>
              <a:t>206.0.68.0/22		1</a:t>
            </a:r>
          </a:p>
          <a:p>
            <a:r>
              <a:rPr kumimoji="0" lang="en-US" altLang="zh-CN" sz="3200" b="1" dirty="0">
                <a:solidFill>
                  <a:srgbClr val="0000FF"/>
                </a:solidFill>
                <a:latin typeface="+mn-lt"/>
                <a:ea typeface="黑体" panose="02010609060101010101" pitchFamily="2" charset="-122"/>
              </a:rPr>
              <a:t>                             206.0.71.128/25		2</a:t>
            </a:r>
          </a:p>
        </p:txBody>
      </p:sp>
      <p:sp>
        <p:nvSpPr>
          <p:cNvPr id="10" name="Text Box 5"/>
          <p:cNvSpPr txBox="1">
            <a:spLocks noChangeArrowheads="1"/>
          </p:cNvSpPr>
          <p:nvPr/>
        </p:nvSpPr>
        <p:spPr bwMode="auto">
          <a:xfrm>
            <a:off x="433834" y="2425700"/>
            <a:ext cx="4911922" cy="523220"/>
          </a:xfrm>
          <a:prstGeom prst="rect">
            <a:avLst/>
          </a:prstGeom>
          <a:solidFill>
            <a:srgbClr val="FFFF66"/>
          </a:solidFill>
          <a:ln>
            <a:noFill/>
          </a:ln>
          <a:effectLst/>
        </p:spPr>
        <p:txBody>
          <a:bodyPr wrap="none">
            <a:spAutoFit/>
          </a:bodyPr>
          <a:lstStyle/>
          <a:p>
            <a:r>
              <a:rPr kumimoji="0" lang="zh-CN" altLang="en-US" sz="2800" b="1" dirty="0">
                <a:solidFill>
                  <a:srgbClr val="C00000"/>
                </a:solidFill>
                <a:latin typeface="+mn-lt"/>
                <a:ea typeface="黑体" panose="02010609060101010101" pitchFamily="2" charset="-122"/>
              </a:rPr>
              <a:t>查找路由表中的第 </a:t>
            </a:r>
            <a:r>
              <a:rPr lang="en-US" altLang="zh-CN" sz="2800" b="1" dirty="0">
                <a:solidFill>
                  <a:srgbClr val="C00000"/>
                </a:solidFill>
                <a:latin typeface="+mn-lt"/>
                <a:ea typeface="黑体" panose="02010609060101010101" pitchFamily="2" charset="-122"/>
              </a:rPr>
              <a:t>2</a:t>
            </a:r>
            <a:r>
              <a:rPr kumimoji="0" lang="en-US" altLang="zh-CN" sz="2800" b="1" dirty="0">
                <a:solidFill>
                  <a:srgbClr val="C00000"/>
                </a:solidFill>
                <a:latin typeface="+mn-lt"/>
                <a:ea typeface="黑体" panose="02010609060101010101" pitchFamily="2" charset="-122"/>
              </a:rPr>
              <a:t> </a:t>
            </a:r>
            <a:r>
              <a:rPr kumimoji="0" lang="zh-CN" altLang="en-US" sz="2800" b="1" dirty="0">
                <a:solidFill>
                  <a:srgbClr val="C00000"/>
                </a:solidFill>
                <a:latin typeface="+mn-lt"/>
                <a:ea typeface="黑体" panose="02010609060101010101" pitchFamily="2" charset="-122"/>
              </a:rPr>
              <a:t>个项目：</a:t>
            </a:r>
          </a:p>
        </p:txBody>
      </p:sp>
      <p:sp>
        <p:nvSpPr>
          <p:cNvPr id="11" name="Text Box 6"/>
          <p:cNvSpPr txBox="1">
            <a:spLocks noChangeArrowheads="1"/>
          </p:cNvSpPr>
          <p:nvPr/>
        </p:nvSpPr>
        <p:spPr bwMode="auto">
          <a:xfrm>
            <a:off x="360809" y="4920019"/>
            <a:ext cx="8909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anose="02010609060101010101" pitchFamily="2" charset="-122"/>
              </a:rPr>
              <a:t>AND      </a:t>
            </a:r>
            <a:r>
              <a:rPr kumimoji="0" lang="en-US" altLang="zh-CN" sz="2800" b="1" i="1" dirty="0">
                <a:solidFill>
                  <a:srgbClr val="0000FF"/>
                </a:solidFill>
                <a:latin typeface="+mn-lt"/>
                <a:ea typeface="黑体" panose="02010609060101010101" pitchFamily="2" charset="-122"/>
              </a:rPr>
              <a:t>D</a:t>
            </a:r>
            <a:r>
              <a:rPr kumimoji="0" lang="en-US" altLang="zh-CN" sz="2800" b="1" dirty="0">
                <a:solidFill>
                  <a:srgbClr val="0000FF"/>
                </a:solidFill>
                <a:latin typeface="+mn-lt"/>
                <a:ea typeface="黑体" panose="02010609060101010101" pitchFamily="2" charset="-122"/>
              </a:rPr>
              <a:t> =       206.           0.              71.    10000010</a:t>
            </a:r>
          </a:p>
        </p:txBody>
      </p:sp>
      <p:sp>
        <p:nvSpPr>
          <p:cNvPr id="12" name="Text Box 7"/>
          <p:cNvSpPr txBox="1">
            <a:spLocks noChangeArrowheads="1"/>
          </p:cNvSpPr>
          <p:nvPr/>
        </p:nvSpPr>
        <p:spPr bwMode="auto">
          <a:xfrm>
            <a:off x="433834" y="2859088"/>
            <a:ext cx="947086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anose="02010609060101010101" pitchFamily="2" charset="-122"/>
              </a:rPr>
              <a:t>第 </a:t>
            </a:r>
            <a:r>
              <a:rPr kumimoji="0" lang="en-US" altLang="zh-CN" sz="2800" b="1" dirty="0">
                <a:latin typeface="+mn-lt"/>
                <a:ea typeface="黑体" panose="02010609060101010101" pitchFamily="2" charset="-122"/>
              </a:rPr>
              <a:t>2 </a:t>
            </a:r>
            <a:r>
              <a:rPr kumimoji="0" lang="zh-CN" altLang="en-US" sz="2800" b="1" dirty="0">
                <a:latin typeface="+mn-lt"/>
                <a:ea typeface="黑体" panose="02010609060101010101" pitchFamily="2" charset="-122"/>
              </a:rPr>
              <a:t>个项目 </a:t>
            </a:r>
            <a:r>
              <a:rPr kumimoji="0" lang="en-US" altLang="zh-CN" sz="2800" b="1" dirty="0">
                <a:latin typeface="+mn-lt"/>
                <a:ea typeface="黑体" panose="02010609060101010101" pitchFamily="2" charset="-122"/>
              </a:rPr>
              <a:t>206.0.71.128/25 </a:t>
            </a:r>
            <a:r>
              <a:rPr kumimoji="0" lang="zh-CN" altLang="en-US" sz="2800" b="1" dirty="0">
                <a:latin typeface="+mn-lt"/>
                <a:ea typeface="黑体" panose="02010609060101010101" pitchFamily="2" charset="-122"/>
              </a:rPr>
              <a:t>的掩码 </a:t>
            </a:r>
            <a:r>
              <a:rPr kumimoji="0" lang="en-US" altLang="zh-CN" sz="2800" b="1" i="1" dirty="0">
                <a:latin typeface="+mn-lt"/>
                <a:ea typeface="黑体" panose="02010609060101010101" pitchFamily="2" charset="-122"/>
              </a:rPr>
              <a:t>M</a:t>
            </a:r>
            <a:r>
              <a:rPr kumimoji="0" lang="en-US" altLang="zh-CN" sz="2800" b="1" dirty="0">
                <a:latin typeface="+mn-lt"/>
                <a:ea typeface="黑体" panose="02010609060101010101" pitchFamily="2" charset="-122"/>
              </a:rPr>
              <a:t> </a:t>
            </a:r>
            <a:r>
              <a:rPr kumimoji="0" lang="zh-CN" altLang="en-US" sz="2800" b="1" dirty="0">
                <a:latin typeface="+mn-lt"/>
                <a:ea typeface="黑体" panose="02010609060101010101" pitchFamily="2" charset="-122"/>
              </a:rPr>
              <a:t>有 </a:t>
            </a:r>
            <a:r>
              <a:rPr kumimoji="0" lang="en-US" altLang="zh-CN" sz="2800" b="1" dirty="0">
                <a:latin typeface="+mn-lt"/>
                <a:ea typeface="黑体" panose="02010609060101010101" pitchFamily="2" charset="-122"/>
              </a:rPr>
              <a:t>25 </a:t>
            </a:r>
            <a:r>
              <a:rPr kumimoji="0" lang="zh-CN" altLang="en-US" sz="2800" b="1" dirty="0">
                <a:latin typeface="+mn-lt"/>
                <a:ea typeface="黑体" panose="02010609060101010101" pitchFamily="2" charset="-122"/>
              </a:rPr>
              <a:t>个连续的 </a:t>
            </a:r>
            <a:r>
              <a:rPr kumimoji="0" lang="en-US" altLang="zh-CN" sz="2800" b="1" dirty="0">
                <a:latin typeface="+mn-lt"/>
                <a:ea typeface="黑体" panose="02010609060101010101" pitchFamily="2" charset="-122"/>
              </a:rPr>
              <a:t>1</a:t>
            </a:r>
            <a:r>
              <a:rPr kumimoji="0" lang="zh-CN" altLang="en-US" sz="2800" b="1" dirty="0">
                <a:latin typeface="+mn-lt"/>
                <a:ea typeface="黑体" panose="02010609060101010101" pitchFamily="2" charset="-122"/>
              </a:rPr>
              <a:t>。</a:t>
            </a:r>
          </a:p>
        </p:txBody>
      </p:sp>
      <p:sp>
        <p:nvSpPr>
          <p:cNvPr id="13" name="Text Box 8"/>
          <p:cNvSpPr txBox="1">
            <a:spLocks noChangeArrowheads="1"/>
          </p:cNvSpPr>
          <p:nvPr/>
        </p:nvSpPr>
        <p:spPr bwMode="auto">
          <a:xfrm>
            <a:off x="1687959" y="3367088"/>
            <a:ext cx="72269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anose="02010609060101010101" pitchFamily="2" charset="-122"/>
              </a:rPr>
              <a:t>M</a:t>
            </a:r>
            <a:r>
              <a:rPr kumimoji="0" lang="en-US" altLang="zh-CN" sz="2800" b="1" dirty="0">
                <a:solidFill>
                  <a:srgbClr val="0000FF"/>
                </a:solidFill>
                <a:latin typeface="+mn-lt"/>
                <a:ea typeface="黑体" panose="02010609060101010101" pitchFamily="2" charset="-122"/>
              </a:rPr>
              <a:t> = 11111111 11111111 11111100 00000000</a:t>
            </a:r>
          </a:p>
        </p:txBody>
      </p:sp>
      <p:sp>
        <p:nvSpPr>
          <p:cNvPr id="14" name="Text Box 9"/>
          <p:cNvSpPr txBox="1">
            <a:spLocks noChangeArrowheads="1"/>
          </p:cNvSpPr>
          <p:nvPr/>
        </p:nvSpPr>
        <p:spPr bwMode="auto">
          <a:xfrm>
            <a:off x="433834" y="3929063"/>
            <a:ext cx="717375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anose="02010609060101010101" pitchFamily="2" charset="-122"/>
              </a:rPr>
              <a:t>因此只需把 </a:t>
            </a:r>
            <a:r>
              <a:rPr kumimoji="0" lang="en-US" altLang="zh-CN" sz="2800" b="1" i="1" dirty="0">
                <a:latin typeface="+mn-lt"/>
                <a:ea typeface="黑体" panose="02010609060101010101" pitchFamily="2" charset="-122"/>
              </a:rPr>
              <a:t>D</a:t>
            </a:r>
            <a:r>
              <a:rPr kumimoji="0" lang="en-US" altLang="zh-CN" sz="2800" b="1" dirty="0">
                <a:latin typeface="+mn-lt"/>
                <a:ea typeface="黑体" panose="02010609060101010101" pitchFamily="2" charset="-122"/>
              </a:rPr>
              <a:t> </a:t>
            </a:r>
            <a:r>
              <a:rPr kumimoji="0" lang="zh-CN" altLang="en-US" sz="2800" b="1" dirty="0">
                <a:latin typeface="+mn-lt"/>
                <a:ea typeface="黑体" panose="02010609060101010101" pitchFamily="2" charset="-122"/>
              </a:rPr>
              <a:t>的第 </a:t>
            </a:r>
            <a:r>
              <a:rPr lang="en-US" altLang="zh-CN" sz="2800" b="1" dirty="0">
                <a:latin typeface="+mn-lt"/>
                <a:ea typeface="黑体" panose="02010609060101010101" pitchFamily="2" charset="-122"/>
              </a:rPr>
              <a:t>4</a:t>
            </a:r>
            <a:r>
              <a:rPr kumimoji="0" lang="en-US" altLang="zh-CN" sz="2800" b="1" dirty="0">
                <a:latin typeface="+mn-lt"/>
                <a:ea typeface="黑体" panose="02010609060101010101" pitchFamily="2" charset="-122"/>
              </a:rPr>
              <a:t> </a:t>
            </a:r>
            <a:r>
              <a:rPr kumimoji="0" lang="zh-CN" altLang="en-US" sz="2800" b="1" dirty="0">
                <a:latin typeface="+mn-lt"/>
                <a:ea typeface="黑体" panose="02010609060101010101" pitchFamily="2" charset="-122"/>
              </a:rPr>
              <a:t>个字节转换成二进制。</a:t>
            </a:r>
          </a:p>
        </p:txBody>
      </p:sp>
      <p:sp>
        <p:nvSpPr>
          <p:cNvPr id="15" name="Text Box 10"/>
          <p:cNvSpPr txBox="1">
            <a:spLocks noChangeArrowheads="1"/>
          </p:cNvSpPr>
          <p:nvPr/>
        </p:nvSpPr>
        <p:spPr bwMode="auto">
          <a:xfrm>
            <a:off x="1686525" y="4400907"/>
            <a:ext cx="748544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anose="02010609060101010101" pitchFamily="2" charset="-122"/>
              </a:rPr>
              <a:t>M</a:t>
            </a:r>
            <a:r>
              <a:rPr kumimoji="0" lang="en-US" altLang="zh-CN" sz="2800" b="1" dirty="0">
                <a:solidFill>
                  <a:srgbClr val="0000FF"/>
                </a:solidFill>
                <a:latin typeface="+mn-lt"/>
                <a:ea typeface="黑体" panose="02010609060101010101" pitchFamily="2" charset="-122"/>
              </a:rPr>
              <a:t> =    11111111 11111111 11111111 10000000</a:t>
            </a:r>
          </a:p>
        </p:txBody>
      </p:sp>
      <p:sp>
        <p:nvSpPr>
          <p:cNvPr id="16" name="Line 11"/>
          <p:cNvSpPr>
            <a:spLocks noChangeShapeType="1"/>
          </p:cNvSpPr>
          <p:nvPr/>
        </p:nvSpPr>
        <p:spPr bwMode="auto">
          <a:xfrm>
            <a:off x="325884" y="5423257"/>
            <a:ext cx="8820150"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7" name="Text Box 12"/>
          <p:cNvSpPr txBox="1">
            <a:spLocks noChangeArrowheads="1"/>
          </p:cNvSpPr>
          <p:nvPr/>
        </p:nvSpPr>
        <p:spPr bwMode="auto">
          <a:xfrm>
            <a:off x="2978596" y="5496282"/>
            <a:ext cx="617027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anose="02010609060101010101" pitchFamily="2" charset="-122"/>
              </a:rPr>
              <a:t>206.           0.              71.    10000000</a:t>
            </a:r>
          </a:p>
        </p:txBody>
      </p:sp>
      <p:sp>
        <p:nvSpPr>
          <p:cNvPr id="18" name="Text Box 13"/>
          <p:cNvSpPr txBox="1">
            <a:spLocks noChangeArrowheads="1"/>
          </p:cNvSpPr>
          <p:nvPr/>
        </p:nvSpPr>
        <p:spPr bwMode="auto">
          <a:xfrm>
            <a:off x="2648744" y="5949280"/>
            <a:ext cx="47436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rPr>
              <a:t>与 </a:t>
            </a:r>
            <a:r>
              <a:rPr kumimoji="0" lang="en-US" altLang="zh-CN" sz="3200" b="1" i="0" u="none" strike="noStrike" kern="0" cap="none" spc="0" normalizeH="0" baseline="0" noProof="0" dirty="0">
                <a:ln>
                  <a:noFill/>
                </a:ln>
                <a:solidFill>
                  <a:srgbClr val="FF0000"/>
                </a:solidFill>
                <a:effectLst/>
                <a:uLnTx/>
                <a:uFillTx/>
                <a:latin typeface="+mn-lt"/>
                <a:ea typeface="黑体" panose="02010609060101010101" pitchFamily="2" charset="-122"/>
              </a:rPr>
              <a:t>206.0.71.128/25 </a:t>
            </a:r>
            <a:r>
              <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rPr>
              <a:t>匹配</a:t>
            </a:r>
            <a:r>
              <a:rPr kumimoji="0" lang="en-US" altLang="zh-CN" sz="3200" b="1" i="0" u="none" strike="noStrike" kern="0" cap="none" spc="0" normalizeH="0" baseline="0" noProof="0" dirty="0">
                <a:ln>
                  <a:noFill/>
                </a:ln>
                <a:solidFill>
                  <a:srgbClr val="FF0000"/>
                </a:solidFill>
                <a:effectLst/>
                <a:uLnTx/>
                <a:uFillTx/>
                <a:latin typeface="+mn-lt"/>
                <a:ea typeface="黑体" panose="02010609060101010101" pitchFamily="2" charset="-122"/>
              </a:rPr>
              <a:t>!</a:t>
            </a:r>
            <a:endParaRPr kumimoji="0" lang="zh-CN" altLang="en-US" sz="3200" b="1" i="0" u="none" strike="noStrike" kern="0" cap="none" spc="0" normalizeH="0" baseline="0" noProof="0" dirty="0">
              <a:ln>
                <a:noFill/>
              </a:ln>
              <a:solidFill>
                <a:srgbClr val="FF0000"/>
              </a:solidFill>
              <a:effectLst/>
              <a:uLnTx/>
              <a:uFillTx/>
              <a:latin typeface="+mn-lt"/>
              <a:ea typeface="黑体" panose="02010609060101010101" pitchFamily="2" charset="-122"/>
            </a:endParaRPr>
          </a:p>
        </p:txBody>
      </p:sp>
    </p:spTree>
    <p:extLst>
      <p:ext uri="{BB962C8B-B14F-4D97-AF65-F5344CB8AC3E}">
        <p14:creationId xmlns:p14="http://schemas.microsoft.com/office/powerpoint/2010/main" val="3920307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7"/>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8"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2pPr>
            <a:lvl3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3pPr>
            <a:lvl4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4pPr>
            <a:lvl5pPr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5pPr>
            <a:lvl6pPr marL="4572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6pPr>
            <a:lvl7pPr marL="9144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7pPr>
            <a:lvl8pPr marL="13716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8pPr>
            <a:lvl9pPr marL="1828800" algn="l" rtl="0" fontAlgn="base">
              <a:spcBef>
                <a:spcPct val="0"/>
              </a:spcBef>
              <a:spcAft>
                <a:spcPct val="0"/>
              </a:spcAft>
              <a:defRPr kumimoji="1" sz="4400" b="1">
                <a:solidFill>
                  <a:schemeClr val="tx2"/>
                </a:solidFill>
                <a:latin typeface="Tahoma" panose="020B0604030504040204" pitchFamily="34" charset="0"/>
                <a:ea typeface="黑体" panose="0201060906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b="1" i="0" u="none" strike="noStrike" kern="0" cap="none" spc="0" normalizeH="0" baseline="0" noProof="0" dirty="0">
                <a:ln>
                  <a:noFill/>
                </a:ln>
                <a:solidFill>
                  <a:srgbClr val="333399"/>
                </a:solidFill>
                <a:effectLst/>
                <a:uLnTx/>
                <a:uFillTx/>
                <a:latin typeface="Tahoma" panose="020B0604030504040204"/>
                <a:ea typeface="黑体" panose="02010609060101010101" pitchFamily="2" charset="-122"/>
                <a:cs typeface="+mj-cs"/>
              </a:rPr>
              <a:t>最长前缀匹配举例</a:t>
            </a:r>
          </a:p>
        </p:txBody>
      </p:sp>
      <p:sp>
        <p:nvSpPr>
          <p:cNvPr id="2" name="矩形 1"/>
          <p:cNvSpPr/>
          <p:nvPr/>
        </p:nvSpPr>
        <p:spPr>
          <a:xfrm>
            <a:off x="776536" y="1196752"/>
            <a:ext cx="8712968" cy="2246769"/>
          </a:xfrm>
          <a:prstGeom prst="rect">
            <a:avLst/>
          </a:prstGeom>
        </p:spPr>
        <p:txBody>
          <a:bodyPr wrap="square">
            <a:spAutoFit/>
          </a:bodyPr>
          <a:lstStyle/>
          <a:p>
            <a:pPr>
              <a:buFont typeface="Wingdings" panose="05000000000000000000" pitchFamily="2" charset="2"/>
              <a:buNone/>
            </a:pPr>
            <a:r>
              <a:rPr lang="en-US" altLang="zh-CN" sz="2800" b="1" i="1" dirty="0">
                <a:solidFill>
                  <a:srgbClr val="0000CC"/>
                </a:solidFill>
                <a:latin typeface="+mn-lt"/>
                <a:ea typeface="黑体" panose="02010609060101010101" pitchFamily="2" charset="-122"/>
              </a:rPr>
              <a:t>D </a:t>
            </a:r>
            <a:r>
              <a:rPr lang="en-US" altLang="zh-CN" sz="2800" b="1" dirty="0">
                <a:solidFill>
                  <a:srgbClr val="FF0000"/>
                </a:solidFill>
                <a:latin typeface="+mn-lt"/>
                <a:ea typeface="黑体" panose="02010609060101010101" pitchFamily="2" charset="-122"/>
              </a:rPr>
              <a:t>AND</a:t>
            </a:r>
            <a:r>
              <a:rPr lang="en-US" altLang="zh-CN" sz="2800" b="1" dirty="0">
                <a:solidFill>
                  <a:srgbClr val="0000CC"/>
                </a:solidFill>
                <a:latin typeface="+mn-lt"/>
                <a:ea typeface="黑体" panose="02010609060101010101" pitchFamily="2" charset="-122"/>
              </a:rPr>
              <a:t> (11111111 11111111 11111100 00000000)</a:t>
            </a:r>
          </a:p>
          <a:p>
            <a:pPr>
              <a:buFont typeface="Wingdings" panose="05000000000000000000" pitchFamily="2" charset="2"/>
              <a:buNone/>
            </a:pPr>
            <a:r>
              <a:rPr lang="en-US" altLang="zh-CN" sz="2800" b="1" dirty="0">
                <a:solidFill>
                  <a:srgbClr val="0000CC"/>
                </a:solidFill>
                <a:latin typeface="+mn-lt"/>
                <a:ea typeface="黑体" panose="02010609060101010101" pitchFamily="2" charset="-122"/>
              </a:rPr>
              <a:t>          = 206.0.68.0/22            </a:t>
            </a:r>
            <a:r>
              <a:rPr lang="zh-CN" altLang="en-US" sz="2800" b="1" dirty="0">
                <a:solidFill>
                  <a:srgbClr val="C00000"/>
                </a:solidFill>
                <a:latin typeface="+mn-lt"/>
                <a:ea typeface="黑体" panose="02010609060101010101" pitchFamily="2" charset="-122"/>
              </a:rPr>
              <a:t>匹配</a:t>
            </a:r>
            <a:endParaRPr lang="en-US" altLang="zh-CN" sz="2800" b="1" dirty="0">
              <a:solidFill>
                <a:srgbClr val="C00000"/>
              </a:solidFill>
              <a:latin typeface="+mn-lt"/>
              <a:ea typeface="黑体" panose="02010609060101010101" pitchFamily="2" charset="-122"/>
            </a:endParaRPr>
          </a:p>
          <a:p>
            <a:pPr>
              <a:buFont typeface="Wingdings" panose="05000000000000000000" pitchFamily="2" charset="2"/>
              <a:buNone/>
            </a:pPr>
            <a:endParaRPr lang="zh-CN" altLang="en-US" sz="2800" b="1" i="1" dirty="0">
              <a:solidFill>
                <a:srgbClr val="0000CC"/>
              </a:solidFill>
              <a:latin typeface="+mn-lt"/>
              <a:ea typeface="黑体" panose="02010609060101010101" pitchFamily="2" charset="-122"/>
            </a:endParaRPr>
          </a:p>
          <a:p>
            <a:pPr>
              <a:buFont typeface="Wingdings" panose="05000000000000000000" pitchFamily="2" charset="2"/>
              <a:buNone/>
            </a:pPr>
            <a:r>
              <a:rPr lang="en-US" altLang="zh-CN" sz="2800" b="1" i="1" dirty="0">
                <a:solidFill>
                  <a:srgbClr val="0000CC"/>
                </a:solidFill>
                <a:latin typeface="+mn-lt"/>
                <a:ea typeface="黑体" panose="02010609060101010101" pitchFamily="2" charset="-122"/>
              </a:rPr>
              <a:t>D </a:t>
            </a:r>
            <a:r>
              <a:rPr lang="en-US" altLang="zh-CN" sz="2800" b="1" dirty="0">
                <a:solidFill>
                  <a:srgbClr val="FF0000"/>
                </a:solidFill>
                <a:latin typeface="+mn-lt"/>
                <a:ea typeface="黑体" panose="02010609060101010101" pitchFamily="2" charset="-122"/>
              </a:rPr>
              <a:t>AND</a:t>
            </a:r>
            <a:r>
              <a:rPr lang="en-US" altLang="zh-CN" sz="2800" b="1" dirty="0">
                <a:solidFill>
                  <a:srgbClr val="0000CC"/>
                </a:solidFill>
                <a:latin typeface="+mn-lt"/>
                <a:ea typeface="黑体" panose="02010609060101010101" pitchFamily="2" charset="-122"/>
              </a:rPr>
              <a:t> (11111111 11111111 11111111 10000000)</a:t>
            </a:r>
          </a:p>
          <a:p>
            <a:pPr>
              <a:buFont typeface="Wingdings" panose="05000000000000000000" pitchFamily="2" charset="2"/>
              <a:buNone/>
            </a:pPr>
            <a:r>
              <a:rPr lang="en-US" altLang="zh-CN" sz="2800" b="1" dirty="0">
                <a:solidFill>
                  <a:srgbClr val="0000CC"/>
                </a:solidFill>
                <a:latin typeface="+mn-lt"/>
                <a:ea typeface="黑体" panose="02010609060101010101" pitchFamily="2" charset="-122"/>
              </a:rPr>
              <a:t>         = 206.0.71.128/25         </a:t>
            </a:r>
            <a:r>
              <a:rPr lang="zh-CN" altLang="en-US" sz="2800" b="1" dirty="0">
                <a:solidFill>
                  <a:srgbClr val="C00000"/>
                </a:solidFill>
                <a:latin typeface="+mn-lt"/>
                <a:ea typeface="黑体" panose="02010609060101010101" pitchFamily="2" charset="-122"/>
              </a:rPr>
              <a:t>匹配</a:t>
            </a:r>
          </a:p>
        </p:txBody>
      </p:sp>
      <p:sp>
        <p:nvSpPr>
          <p:cNvPr id="22" name="Line 10"/>
          <p:cNvSpPr>
            <a:spLocks noChangeShapeType="1"/>
          </p:cNvSpPr>
          <p:nvPr/>
        </p:nvSpPr>
        <p:spPr bwMode="auto">
          <a:xfrm>
            <a:off x="1928664" y="3443521"/>
            <a:ext cx="4523052" cy="0"/>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 name="矩形 2"/>
          <p:cNvSpPr/>
          <p:nvPr/>
        </p:nvSpPr>
        <p:spPr>
          <a:xfrm>
            <a:off x="919537" y="3933056"/>
            <a:ext cx="8426965" cy="1129348"/>
          </a:xfrm>
          <a:prstGeom prst="rect">
            <a:avLst/>
          </a:prstGeom>
          <a:solidFill>
            <a:srgbClr val="FFFF66"/>
          </a:solidFill>
          <a:ln>
            <a:solidFill>
              <a:srgbClr val="000099"/>
            </a:solidFill>
          </a:ln>
        </p:spPr>
        <p:txBody>
          <a:bodyPr wrap="square">
            <a:spAutoFit/>
          </a:bodyPr>
          <a:lstStyle/>
          <a:p>
            <a:pPr>
              <a:lnSpc>
                <a:spcPct val="110000"/>
              </a:lnSpc>
            </a:pPr>
            <a:r>
              <a:rPr lang="zh-CN" altLang="en-US" sz="3200" b="1" dirty="0">
                <a:solidFill>
                  <a:srgbClr val="0000CC"/>
                </a:solidFill>
                <a:latin typeface="+mn-lt"/>
                <a:ea typeface="黑体" panose="02010609060101010101" pitchFamily="2" charset="-122"/>
              </a:rPr>
              <a:t>选择两个匹配的地址中更具体的一个，即选择</a:t>
            </a:r>
            <a:r>
              <a:rPr lang="zh-CN" altLang="en-US" sz="3200" b="1" dirty="0">
                <a:solidFill>
                  <a:srgbClr val="FF0000"/>
                </a:solidFill>
                <a:latin typeface="+mn-lt"/>
                <a:ea typeface="黑体" panose="02010609060101010101" pitchFamily="2" charset="-122"/>
              </a:rPr>
              <a:t>最长前缀的地址</a:t>
            </a:r>
            <a:r>
              <a:rPr lang="zh-CN" altLang="en-US" sz="3200" b="1" dirty="0">
                <a:solidFill>
                  <a:srgbClr val="0000CC"/>
                </a:solidFill>
                <a:latin typeface="+mn-lt"/>
                <a:ea typeface="黑体" panose="02010609060101010101" pitchFamily="2" charset="-122"/>
              </a:rPr>
              <a:t>。 </a:t>
            </a:r>
          </a:p>
        </p:txBody>
      </p:sp>
    </p:spTree>
    <p:extLst>
      <p:ext uri="{BB962C8B-B14F-4D97-AF65-F5344CB8AC3E}">
        <p14:creationId xmlns:p14="http://schemas.microsoft.com/office/powerpoint/2010/main" val="17862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par>
                          <p:cTn id="19" fill="hold">
                            <p:stCondLst>
                              <p:cond delay="0"/>
                            </p:stCondLst>
                            <p:childTnLst>
                              <p:par>
                                <p:cTn id="20" presetID="1" presetClass="entr" presetSubtype="0" repeatCount="3000" fill="hold" grpId="0" nodeType="afterEffect">
                                  <p:stCondLst>
                                    <p:cond delay="500"/>
                                  </p:stCondLst>
                                  <p:childTnLst>
                                    <p:set>
                                      <p:cBhvr>
                                        <p:cTn id="21" dur="1" fill="hold">
                                          <p:stCondLst>
                                            <p:cond delay="0"/>
                                          </p:stCondLst>
                                        </p:cTn>
                                        <p:tgtEl>
                                          <p:spTgt spid="22"/>
                                        </p:tgtEl>
                                        <p:attrNameLst>
                                          <p:attrName>style.visibility</p:attrName>
                                        </p:attrNameLst>
                                      </p:cBhvr>
                                      <p:to>
                                        <p:strVal val="visible"/>
                                      </p:to>
                                    </p:set>
                                  </p:childTnLst>
                                </p:cTn>
                              </p:par>
                            </p:childTnLst>
                          </p:cTn>
                        </p:par>
                        <p:par>
                          <p:cTn id="22" fill="hold">
                            <p:stCondLst>
                              <p:cond delay="500"/>
                            </p:stCondLst>
                            <p:childTnLst>
                              <p:par>
                                <p:cTn id="23" presetID="35" presetClass="emph" presetSubtype="0" repeatCount="3000" fill="hold" grpId="1" nodeType="afterEffect">
                                  <p:stCondLst>
                                    <p:cond delay="500"/>
                                  </p:stCondLst>
                                  <p:childTnLst>
                                    <p:anim calcmode="discrete" valueType="str">
                                      <p:cBhvr>
                                        <p:cTn id="24"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3"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Rectangle 2"/>
          <p:cNvSpPr>
            <a:spLocks noGrp="1" noChangeArrowheads="1"/>
          </p:cNvSpPr>
          <p:nvPr>
            <p:ph type="title"/>
          </p:nvPr>
        </p:nvSpPr>
        <p:spPr/>
        <p:txBody>
          <a:bodyPr/>
          <a:lstStyle/>
          <a:p>
            <a:r>
              <a:rPr lang="en-US" altLang="zh-CN" dirty="0"/>
              <a:t>3. </a:t>
            </a:r>
            <a:r>
              <a:rPr lang="zh-CN" altLang="en-US" dirty="0"/>
              <a:t>使用二叉线索查找路由表</a:t>
            </a:r>
          </a:p>
        </p:txBody>
      </p:sp>
      <p:sp>
        <p:nvSpPr>
          <p:cNvPr id="536579" name="Rectangle 3"/>
          <p:cNvSpPr>
            <a:spLocks noGrp="1" noChangeArrowheads="1"/>
          </p:cNvSpPr>
          <p:nvPr>
            <p:ph idx="1"/>
          </p:nvPr>
        </p:nvSpPr>
        <p:spPr/>
        <p:txBody>
          <a:bodyPr/>
          <a:lstStyle/>
          <a:p>
            <a:pPr algn="just"/>
            <a:r>
              <a:rPr lang="zh-CN" altLang="en-US" sz="2700" dirty="0"/>
              <a:t>当路由表的项目数很大时，怎样设法减小路由表的查找时间就成为一个非常重要的问题。 </a:t>
            </a:r>
          </a:p>
          <a:p>
            <a:pPr algn="just"/>
            <a:r>
              <a:rPr lang="zh-CN" altLang="en-US" sz="2700" dirty="0">
                <a:solidFill>
                  <a:srgbClr val="0000FF"/>
                </a:solidFill>
              </a:rPr>
              <a:t>为了进行更加有效的查找</a:t>
            </a:r>
            <a:r>
              <a:rPr lang="zh-CN" altLang="en-US" sz="2700" dirty="0"/>
              <a:t>，通常是将无分类编址的路由表存放在一种</a:t>
            </a:r>
            <a:r>
              <a:rPr lang="zh-CN" altLang="en-US" sz="2700" dirty="0">
                <a:solidFill>
                  <a:srgbClr val="0000FF"/>
                </a:solidFill>
              </a:rPr>
              <a:t>层次的数据结构</a:t>
            </a:r>
            <a:r>
              <a:rPr lang="zh-CN" altLang="en-US" sz="2700" dirty="0"/>
              <a:t>中，然后自</a:t>
            </a:r>
            <a:r>
              <a:rPr lang="zh-CN" altLang="en-US" sz="2700" dirty="0">
                <a:solidFill>
                  <a:srgbClr val="0000FF"/>
                </a:solidFill>
              </a:rPr>
              <a:t>上而下地按层次</a:t>
            </a:r>
            <a:r>
              <a:rPr lang="zh-CN" altLang="en-US" sz="2700" dirty="0"/>
              <a:t>进行查找。这里最常用的就是</a:t>
            </a:r>
            <a:r>
              <a:rPr lang="zh-CN" altLang="en-US" sz="2700" dirty="0">
                <a:solidFill>
                  <a:srgbClr val="FF0000"/>
                </a:solidFill>
              </a:rPr>
              <a:t>二叉线索 </a:t>
            </a:r>
            <a:r>
              <a:rPr lang="en-US" altLang="zh-CN" sz="2700" dirty="0"/>
              <a:t>(binary </a:t>
            </a:r>
            <a:r>
              <a:rPr lang="en-US" altLang="zh-CN" sz="2700" dirty="0" err="1"/>
              <a:t>trie</a:t>
            </a:r>
            <a:r>
              <a:rPr lang="en-US" altLang="zh-CN" sz="2700" dirty="0"/>
              <a:t>)</a:t>
            </a:r>
            <a:r>
              <a:rPr lang="zh-CN" altLang="en-US" sz="2700" dirty="0"/>
              <a:t>。</a:t>
            </a:r>
          </a:p>
          <a:p>
            <a:pPr algn="just"/>
            <a:r>
              <a:rPr lang="en-US" altLang="zh-CN" sz="2700" dirty="0"/>
              <a:t>IP </a:t>
            </a:r>
            <a:r>
              <a:rPr lang="zh-CN" altLang="en-US" sz="2700" dirty="0"/>
              <a:t>地址中从左到右的比特值决定了从根结点逐层向下层延伸的路径，而二叉线索中的各个路径就代表路由表中存放的各个地址。</a:t>
            </a:r>
          </a:p>
          <a:p>
            <a:pPr algn="just"/>
            <a:r>
              <a:rPr lang="zh-CN" altLang="en-US" sz="2700" dirty="0"/>
              <a:t>为了提高二叉线索的查找速度，广泛使用了各种压缩技术。   </a:t>
            </a:r>
          </a:p>
        </p:txBody>
      </p:sp>
    </p:spTree>
    <p:extLst>
      <p:ext uri="{BB962C8B-B14F-4D97-AF65-F5344CB8AC3E}">
        <p14:creationId xmlns:p14="http://schemas.microsoft.com/office/powerpoint/2010/main" val="3428880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657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657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657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657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6579" grpId="0"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34" name="Rectangle 2"/>
          <p:cNvSpPr>
            <a:spLocks noGrp="1" noChangeArrowheads="1"/>
          </p:cNvSpPr>
          <p:nvPr>
            <p:ph type="title"/>
          </p:nvPr>
        </p:nvSpPr>
        <p:spPr/>
        <p:txBody>
          <a:bodyPr/>
          <a:lstStyle/>
          <a:p>
            <a:pPr algn="ctr"/>
            <a:r>
              <a:rPr lang="zh-CN" altLang="en-US" sz="4000"/>
              <a:t>用 </a:t>
            </a:r>
            <a:r>
              <a:rPr lang="en-US" altLang="zh-CN" sz="4000"/>
              <a:t>5 </a:t>
            </a:r>
            <a:r>
              <a:rPr lang="zh-CN" altLang="en-US" sz="4000"/>
              <a:t>个前缀构成的二叉线索 </a:t>
            </a:r>
          </a:p>
        </p:txBody>
      </p:sp>
      <p:sp>
        <p:nvSpPr>
          <p:cNvPr id="991236" name="Text Box 4"/>
          <p:cNvSpPr txBox="1">
            <a:spLocks noChangeArrowheads="1"/>
          </p:cNvSpPr>
          <p:nvPr/>
        </p:nvSpPr>
        <p:spPr bwMode="auto">
          <a:xfrm>
            <a:off x="196130" y="1268760"/>
            <a:ext cx="6685676" cy="28807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2400" b="1" dirty="0">
                <a:latin typeface="+mn-lt"/>
                <a:ea typeface="黑体" panose="02010609060101010101" pitchFamily="2" charset="-122"/>
              </a:rPr>
              <a:t>                32 </a:t>
            </a:r>
            <a:r>
              <a:rPr kumimoji="1" lang="zh-CN" altLang="en-US" sz="2400" b="1" dirty="0">
                <a:latin typeface="+mn-lt"/>
                <a:ea typeface="黑体" panose="02010609060101010101" pitchFamily="2" charset="-122"/>
              </a:rPr>
              <a:t>位的 </a:t>
            </a:r>
            <a:r>
              <a:rPr kumimoji="1" lang="en-US" altLang="zh-CN" sz="2400" b="1" dirty="0">
                <a:latin typeface="+mn-lt"/>
                <a:ea typeface="黑体" panose="02010609060101010101" pitchFamily="2" charset="-122"/>
              </a:rPr>
              <a:t>IP </a:t>
            </a:r>
            <a:r>
              <a:rPr kumimoji="1" lang="zh-CN" altLang="en-US" sz="2400" b="1" dirty="0">
                <a:latin typeface="+mn-lt"/>
                <a:ea typeface="黑体" panose="02010609060101010101" pitchFamily="2" charset="-122"/>
              </a:rPr>
              <a:t>地址                    唯一前缀</a:t>
            </a:r>
          </a:p>
          <a:p>
            <a:pPr>
              <a:lnSpc>
                <a:spcPct val="130000"/>
              </a:lnSpc>
            </a:pPr>
            <a:r>
              <a:rPr kumimoji="1" lang="en-US" altLang="zh-CN" sz="2000" b="1" dirty="0">
                <a:solidFill>
                  <a:srgbClr val="0000CC"/>
                </a:solidFill>
                <a:latin typeface="+mn-lt"/>
                <a:ea typeface="黑体" panose="02010609060101010101" pitchFamily="2" charset="-122"/>
              </a:rPr>
              <a:t>  01000110 00000000 00000000 00000000	0100</a:t>
            </a:r>
          </a:p>
          <a:p>
            <a:pPr>
              <a:lnSpc>
                <a:spcPct val="130000"/>
              </a:lnSpc>
            </a:pPr>
            <a:r>
              <a:rPr kumimoji="1" lang="en-US" altLang="zh-CN" sz="2000" b="1" dirty="0">
                <a:solidFill>
                  <a:srgbClr val="0000CC"/>
                </a:solidFill>
                <a:latin typeface="+mn-lt"/>
                <a:ea typeface="黑体" panose="02010609060101010101" pitchFamily="2" charset="-122"/>
              </a:rPr>
              <a:t>  01010110 00000000 00000000 00000000	0101</a:t>
            </a:r>
          </a:p>
          <a:p>
            <a:pPr>
              <a:lnSpc>
                <a:spcPct val="130000"/>
              </a:lnSpc>
            </a:pPr>
            <a:r>
              <a:rPr kumimoji="1" lang="en-US" altLang="zh-CN" sz="2000" b="1" dirty="0">
                <a:solidFill>
                  <a:srgbClr val="0000CC"/>
                </a:solidFill>
                <a:latin typeface="+mn-lt"/>
                <a:ea typeface="黑体" panose="02010609060101010101" pitchFamily="2" charset="-122"/>
              </a:rPr>
              <a:t>  01100001 00000000 00000000 00000000	011</a:t>
            </a:r>
          </a:p>
          <a:p>
            <a:pPr>
              <a:lnSpc>
                <a:spcPct val="130000"/>
              </a:lnSpc>
            </a:pPr>
            <a:r>
              <a:rPr kumimoji="1" lang="en-US" altLang="zh-CN" sz="2000" b="1" dirty="0">
                <a:solidFill>
                  <a:srgbClr val="0000CC"/>
                </a:solidFill>
                <a:latin typeface="+mn-lt"/>
                <a:ea typeface="黑体" panose="02010609060101010101" pitchFamily="2" charset="-122"/>
              </a:rPr>
              <a:t>  10110000 00000010 00000000 00000000	10110</a:t>
            </a:r>
          </a:p>
          <a:p>
            <a:pPr>
              <a:lnSpc>
                <a:spcPct val="130000"/>
              </a:lnSpc>
            </a:pPr>
            <a:r>
              <a:rPr kumimoji="1" lang="en-US" altLang="zh-CN" sz="2000" b="1" dirty="0">
                <a:solidFill>
                  <a:srgbClr val="0000CC"/>
                </a:solidFill>
                <a:latin typeface="+mn-lt"/>
                <a:ea typeface="黑体" panose="02010609060101010101" pitchFamily="2" charset="-122"/>
              </a:rPr>
              <a:t>  10111011 00001010 00000000 00000000	10111</a:t>
            </a:r>
          </a:p>
          <a:p>
            <a:endParaRPr kumimoji="1" lang="en-US" altLang="zh-CN" sz="2000" b="1" dirty="0">
              <a:solidFill>
                <a:srgbClr val="0000CC"/>
              </a:solidFill>
              <a:latin typeface="+mn-lt"/>
              <a:ea typeface="黑体" panose="02010609060101010101" pitchFamily="2" charset="-122"/>
            </a:endParaRPr>
          </a:p>
        </p:txBody>
      </p:sp>
      <p:sp>
        <p:nvSpPr>
          <p:cNvPr id="991237" name="Line 5"/>
          <p:cNvSpPr>
            <a:spLocks noChangeShapeType="1"/>
          </p:cNvSpPr>
          <p:nvPr/>
        </p:nvSpPr>
        <p:spPr bwMode="auto">
          <a:xfrm>
            <a:off x="416496" y="1700808"/>
            <a:ext cx="6336703"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991269" name="Group 37"/>
          <p:cNvGrpSpPr/>
          <p:nvPr/>
        </p:nvGrpSpPr>
        <p:grpSpPr bwMode="auto">
          <a:xfrm>
            <a:off x="6897216" y="1628800"/>
            <a:ext cx="2810139" cy="2463800"/>
            <a:chOff x="4043" y="1379"/>
            <a:chExt cx="1634" cy="1734"/>
          </a:xfrm>
        </p:grpSpPr>
        <p:sp>
          <p:nvSpPr>
            <p:cNvPr id="991238" name="Freeform 6"/>
            <p:cNvSpPr/>
            <p:nvPr/>
          </p:nvSpPr>
          <p:spPr bwMode="auto">
            <a:xfrm>
              <a:off x="4787" y="1454"/>
              <a:ext cx="772" cy="1604"/>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91239" name="Freeform 7"/>
            <p:cNvSpPr/>
            <p:nvPr/>
          </p:nvSpPr>
          <p:spPr bwMode="auto">
            <a:xfrm>
              <a:off x="4098" y="1447"/>
              <a:ext cx="695" cy="1287"/>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57150" cmpd="sng">
              <a:solidFill>
                <a:srgbClr val="C00000"/>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91240" name="Line 8"/>
            <p:cNvSpPr>
              <a:spLocks noChangeShapeType="1"/>
            </p:cNvSpPr>
            <p:nvPr/>
          </p:nvSpPr>
          <p:spPr bwMode="auto">
            <a:xfrm flipH="1">
              <a:off x="5311" y="2726"/>
              <a:ext cx="112" cy="332"/>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91241" name="Text Box 9"/>
            <p:cNvSpPr txBox="1">
              <a:spLocks noChangeArrowheads="1"/>
            </p:cNvSpPr>
            <p:nvPr/>
          </p:nvSpPr>
          <p:spPr bwMode="auto">
            <a:xfrm>
              <a:off x="4043" y="238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991242" name="Text Box 10"/>
            <p:cNvSpPr txBox="1">
              <a:spLocks noChangeArrowheads="1"/>
            </p:cNvSpPr>
            <p:nvPr/>
          </p:nvSpPr>
          <p:spPr bwMode="auto">
            <a:xfrm>
              <a:off x="4223" y="2063"/>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991243" name="Text Box 11"/>
            <p:cNvSpPr txBox="1">
              <a:spLocks noChangeArrowheads="1"/>
            </p:cNvSpPr>
            <p:nvPr/>
          </p:nvSpPr>
          <p:spPr bwMode="auto">
            <a:xfrm>
              <a:off x="5207" y="272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991244" name="Text Box 12"/>
            <p:cNvSpPr txBox="1">
              <a:spLocks noChangeArrowheads="1"/>
            </p:cNvSpPr>
            <p:nvPr/>
          </p:nvSpPr>
          <p:spPr bwMode="auto">
            <a:xfrm>
              <a:off x="4283" y="1379"/>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991245" name="Line 13"/>
            <p:cNvSpPr>
              <a:spLocks noChangeShapeType="1"/>
            </p:cNvSpPr>
            <p:nvPr/>
          </p:nvSpPr>
          <p:spPr bwMode="auto">
            <a:xfrm flipH="1">
              <a:off x="4155" y="2415"/>
              <a:ext cx="114" cy="318"/>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91246" name="Freeform 14"/>
            <p:cNvSpPr/>
            <p:nvPr/>
          </p:nvSpPr>
          <p:spPr bwMode="auto">
            <a:xfrm>
              <a:off x="4503" y="2111"/>
              <a:ext cx="168" cy="304"/>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991247" name="Text Box 15"/>
            <p:cNvSpPr txBox="1">
              <a:spLocks noChangeArrowheads="1"/>
            </p:cNvSpPr>
            <p:nvPr/>
          </p:nvSpPr>
          <p:spPr bwMode="auto">
            <a:xfrm>
              <a:off x="5487" y="2734"/>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48" name="Text Box 16"/>
            <p:cNvSpPr txBox="1">
              <a:spLocks noChangeArrowheads="1"/>
            </p:cNvSpPr>
            <p:nvPr/>
          </p:nvSpPr>
          <p:spPr bwMode="auto">
            <a:xfrm>
              <a:off x="4545" y="2056"/>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49" name="Text Box 17"/>
            <p:cNvSpPr txBox="1">
              <a:spLocks noChangeArrowheads="1"/>
            </p:cNvSpPr>
            <p:nvPr/>
          </p:nvSpPr>
          <p:spPr bwMode="auto">
            <a:xfrm>
              <a:off x="4341" y="2395"/>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50" name="Text Box 18"/>
            <p:cNvSpPr txBox="1">
              <a:spLocks noChangeArrowheads="1"/>
            </p:cNvSpPr>
            <p:nvPr/>
          </p:nvSpPr>
          <p:spPr bwMode="auto">
            <a:xfrm>
              <a:off x="4275" y="1732"/>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51" name="Text Box 19"/>
            <p:cNvSpPr txBox="1">
              <a:spLocks noChangeArrowheads="1"/>
            </p:cNvSpPr>
            <p:nvPr/>
          </p:nvSpPr>
          <p:spPr bwMode="auto">
            <a:xfrm>
              <a:off x="5151" y="1386"/>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52" name="Text Box 20"/>
            <p:cNvSpPr txBox="1">
              <a:spLocks noChangeArrowheads="1"/>
            </p:cNvSpPr>
            <p:nvPr/>
          </p:nvSpPr>
          <p:spPr bwMode="auto">
            <a:xfrm>
              <a:off x="5361" y="2402"/>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53" name="Text Box 21"/>
            <p:cNvSpPr txBox="1">
              <a:spLocks noChangeArrowheads="1"/>
            </p:cNvSpPr>
            <p:nvPr/>
          </p:nvSpPr>
          <p:spPr bwMode="auto">
            <a:xfrm>
              <a:off x="5211" y="2063"/>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a:t>
              </a:r>
            </a:p>
          </p:txBody>
        </p:sp>
        <p:sp>
          <p:nvSpPr>
            <p:cNvPr id="991254" name="Text Box 22"/>
            <p:cNvSpPr txBox="1">
              <a:spLocks noChangeArrowheads="1"/>
            </p:cNvSpPr>
            <p:nvPr/>
          </p:nvSpPr>
          <p:spPr bwMode="auto">
            <a:xfrm>
              <a:off x="5183" y="173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991255" name="Oval 23"/>
            <p:cNvSpPr>
              <a:spLocks noChangeArrowheads="1"/>
            </p:cNvSpPr>
            <p:nvPr/>
          </p:nvSpPr>
          <p:spPr bwMode="auto">
            <a:xfrm>
              <a:off x="5085" y="2062"/>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56" name="Oval 24"/>
            <p:cNvSpPr>
              <a:spLocks noChangeArrowheads="1"/>
            </p:cNvSpPr>
            <p:nvPr/>
          </p:nvSpPr>
          <p:spPr bwMode="auto">
            <a:xfrm>
              <a:off x="4455" y="2062"/>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57" name="Oval 25"/>
            <p:cNvSpPr>
              <a:spLocks noChangeArrowheads="1"/>
            </p:cNvSpPr>
            <p:nvPr/>
          </p:nvSpPr>
          <p:spPr bwMode="auto">
            <a:xfrm>
              <a:off x="4065" y="1737"/>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58" name="Oval 26"/>
            <p:cNvSpPr>
              <a:spLocks noChangeArrowheads="1"/>
            </p:cNvSpPr>
            <p:nvPr/>
          </p:nvSpPr>
          <p:spPr bwMode="auto">
            <a:xfrm>
              <a:off x="5259" y="2380"/>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59" name="Oval 27"/>
            <p:cNvSpPr>
              <a:spLocks noChangeArrowheads="1"/>
            </p:cNvSpPr>
            <p:nvPr/>
          </p:nvSpPr>
          <p:spPr bwMode="auto">
            <a:xfrm>
              <a:off x="5385" y="2691"/>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0" name="Oval 28"/>
            <p:cNvSpPr>
              <a:spLocks noChangeArrowheads="1"/>
            </p:cNvSpPr>
            <p:nvPr/>
          </p:nvSpPr>
          <p:spPr bwMode="auto">
            <a:xfrm>
              <a:off x="4245" y="2373"/>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1" name="Oval 29"/>
            <p:cNvSpPr>
              <a:spLocks noChangeArrowheads="1"/>
            </p:cNvSpPr>
            <p:nvPr/>
          </p:nvSpPr>
          <p:spPr bwMode="auto">
            <a:xfrm>
              <a:off x="5505" y="1730"/>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2" name="Oval 30"/>
            <p:cNvSpPr>
              <a:spLocks noChangeArrowheads="1"/>
            </p:cNvSpPr>
            <p:nvPr/>
          </p:nvSpPr>
          <p:spPr bwMode="auto">
            <a:xfrm>
              <a:off x="4745" y="1412"/>
              <a:ext cx="66" cy="76"/>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3" name="Rectangle 31"/>
            <p:cNvSpPr>
              <a:spLocks noChangeArrowheads="1"/>
            </p:cNvSpPr>
            <p:nvPr/>
          </p:nvSpPr>
          <p:spPr bwMode="auto">
            <a:xfrm>
              <a:off x="4101" y="2677"/>
              <a:ext cx="96" cy="111"/>
            </a:xfrm>
            <a:prstGeom prst="rect">
              <a:avLst/>
            </a:prstGeom>
            <a:solidFill>
              <a:schemeClr val="accent1"/>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4" name="Rectangle 32"/>
            <p:cNvSpPr>
              <a:spLocks noChangeArrowheads="1"/>
            </p:cNvSpPr>
            <p:nvPr/>
          </p:nvSpPr>
          <p:spPr bwMode="auto">
            <a:xfrm>
              <a:off x="4389" y="2671"/>
              <a:ext cx="96" cy="110"/>
            </a:xfrm>
            <a:prstGeom prst="rect">
              <a:avLst/>
            </a:prstGeom>
            <a:solidFill>
              <a:schemeClr val="accent1"/>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5" name="Rectangle 33"/>
            <p:cNvSpPr>
              <a:spLocks noChangeArrowheads="1"/>
            </p:cNvSpPr>
            <p:nvPr/>
          </p:nvSpPr>
          <p:spPr bwMode="auto">
            <a:xfrm>
              <a:off x="4611" y="2359"/>
              <a:ext cx="96" cy="111"/>
            </a:xfrm>
            <a:prstGeom prst="rect">
              <a:avLst/>
            </a:prstGeom>
            <a:solidFill>
              <a:schemeClr val="accent1"/>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6" name="Rectangle 34"/>
            <p:cNvSpPr>
              <a:spLocks noChangeArrowheads="1"/>
            </p:cNvSpPr>
            <p:nvPr/>
          </p:nvSpPr>
          <p:spPr bwMode="auto">
            <a:xfrm>
              <a:off x="5511" y="3002"/>
              <a:ext cx="96" cy="111"/>
            </a:xfrm>
            <a:prstGeom prst="rect">
              <a:avLst/>
            </a:prstGeom>
            <a:solidFill>
              <a:schemeClr val="accent1"/>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1267" name="Rectangle 35"/>
            <p:cNvSpPr>
              <a:spLocks noChangeArrowheads="1"/>
            </p:cNvSpPr>
            <p:nvPr/>
          </p:nvSpPr>
          <p:spPr bwMode="auto">
            <a:xfrm>
              <a:off x="5265" y="3002"/>
              <a:ext cx="96" cy="111"/>
            </a:xfrm>
            <a:prstGeom prst="rect">
              <a:avLst/>
            </a:prstGeom>
            <a:solidFill>
              <a:schemeClr val="accent1"/>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2" name="矩形 1"/>
          <p:cNvSpPr/>
          <p:nvPr/>
        </p:nvSpPr>
        <p:spPr>
          <a:xfrm>
            <a:off x="560512" y="4221088"/>
            <a:ext cx="9073008" cy="2123658"/>
          </a:xfrm>
          <a:prstGeom prst="rect">
            <a:avLst/>
          </a:prstGeom>
          <a:solidFill>
            <a:srgbClr val="66FFFF"/>
          </a:solidFill>
          <a:ln>
            <a:solidFill>
              <a:schemeClr val="tx1"/>
            </a:solidFill>
          </a:ln>
        </p:spPr>
        <p:txBody>
          <a:bodyPr wrap="square">
            <a:spAutoFit/>
          </a:bodyPr>
          <a:lstStyle/>
          <a:p>
            <a:pPr>
              <a:lnSpc>
                <a:spcPct val="110000"/>
              </a:lnSpc>
            </a:pPr>
            <a:r>
              <a:rPr lang="zh-CN" altLang="zh-CN" sz="2400" b="1" dirty="0">
                <a:solidFill>
                  <a:srgbClr val="000066"/>
                </a:solidFill>
                <a:latin typeface="+mn-lt"/>
                <a:ea typeface="黑体" panose="02010609060101010101" pitchFamily="2" charset="-122"/>
              </a:rPr>
              <a:t>从二叉线索的根节点自顶向下的深度最多有</a:t>
            </a:r>
            <a:r>
              <a:rPr lang="en-US" altLang="zh-CN" sz="2400" b="1" dirty="0">
                <a:solidFill>
                  <a:srgbClr val="000066"/>
                </a:solidFill>
                <a:latin typeface="+mn-lt"/>
                <a:ea typeface="黑体" panose="02010609060101010101" pitchFamily="2" charset="-122"/>
              </a:rPr>
              <a:t>32</a:t>
            </a:r>
            <a:r>
              <a:rPr lang="zh-CN" altLang="zh-CN" sz="2400" b="1" dirty="0">
                <a:solidFill>
                  <a:srgbClr val="000066"/>
                </a:solidFill>
                <a:latin typeface="+mn-lt"/>
                <a:ea typeface="黑体" panose="02010609060101010101" pitchFamily="2" charset="-122"/>
              </a:rPr>
              <a:t>层，每一层对应于</a:t>
            </a:r>
            <a:r>
              <a:rPr lang="en-US" altLang="zh-CN" sz="2400" b="1" dirty="0">
                <a:solidFill>
                  <a:srgbClr val="000066"/>
                </a:solidFill>
                <a:latin typeface="+mn-lt"/>
                <a:ea typeface="黑体" panose="02010609060101010101" pitchFamily="2" charset="-122"/>
              </a:rPr>
              <a:t>IP</a:t>
            </a:r>
            <a:r>
              <a:rPr lang="zh-CN" altLang="zh-CN" sz="2400" b="1" dirty="0">
                <a:solidFill>
                  <a:srgbClr val="000066"/>
                </a:solidFill>
                <a:latin typeface="+mn-lt"/>
                <a:ea typeface="黑体" panose="02010609060101010101" pitchFamily="2" charset="-122"/>
              </a:rPr>
              <a:t>地址中的一位。一个</a:t>
            </a:r>
            <a:r>
              <a:rPr lang="en-US" altLang="zh-CN" sz="2400" b="1" dirty="0">
                <a:solidFill>
                  <a:srgbClr val="000066"/>
                </a:solidFill>
                <a:latin typeface="+mn-lt"/>
                <a:ea typeface="黑体" panose="02010609060101010101" pitchFamily="2" charset="-122"/>
              </a:rPr>
              <a:t>IP</a:t>
            </a:r>
            <a:r>
              <a:rPr lang="zh-CN" altLang="zh-CN" sz="2400" b="1" dirty="0">
                <a:solidFill>
                  <a:srgbClr val="000066"/>
                </a:solidFill>
                <a:latin typeface="+mn-lt"/>
                <a:ea typeface="黑体" panose="02010609060101010101" pitchFamily="2" charset="-122"/>
              </a:rPr>
              <a:t>地址存入二叉线索的规则很简单。先检查</a:t>
            </a:r>
            <a:r>
              <a:rPr lang="en-US" altLang="zh-CN" sz="2400" b="1" dirty="0">
                <a:solidFill>
                  <a:srgbClr val="000066"/>
                </a:solidFill>
                <a:latin typeface="+mn-lt"/>
                <a:ea typeface="黑体" panose="02010609060101010101" pitchFamily="2" charset="-122"/>
              </a:rPr>
              <a:t>IP</a:t>
            </a:r>
            <a:r>
              <a:rPr lang="zh-CN" altLang="zh-CN" sz="2400" b="1" dirty="0">
                <a:solidFill>
                  <a:srgbClr val="000066"/>
                </a:solidFill>
                <a:latin typeface="+mn-lt"/>
                <a:ea typeface="黑体" panose="02010609060101010101" pitchFamily="2" charset="-122"/>
              </a:rPr>
              <a:t>地址左边的第一位，如为</a:t>
            </a:r>
            <a:r>
              <a:rPr lang="en-US" altLang="zh-CN" sz="2400" b="1" dirty="0">
                <a:solidFill>
                  <a:srgbClr val="000066"/>
                </a:solidFill>
                <a:latin typeface="+mn-lt"/>
                <a:ea typeface="黑体" panose="02010609060101010101" pitchFamily="2" charset="-122"/>
              </a:rPr>
              <a:t> 0</a:t>
            </a:r>
            <a:r>
              <a:rPr lang="zh-CN" altLang="zh-CN" sz="2400" b="1" dirty="0">
                <a:solidFill>
                  <a:srgbClr val="000066"/>
                </a:solidFill>
                <a:latin typeface="+mn-lt"/>
                <a:ea typeface="黑体" panose="02010609060101010101" pitchFamily="2" charset="-122"/>
              </a:rPr>
              <a:t>，则第一层的节点就在根节点的左下方；如为</a:t>
            </a:r>
            <a:r>
              <a:rPr lang="en-US" altLang="zh-CN" sz="2400" b="1" dirty="0">
                <a:solidFill>
                  <a:srgbClr val="000066"/>
                </a:solidFill>
                <a:latin typeface="+mn-lt"/>
                <a:ea typeface="黑体" panose="02010609060101010101" pitchFamily="2" charset="-122"/>
              </a:rPr>
              <a:t> 1</a:t>
            </a:r>
            <a:r>
              <a:rPr lang="zh-CN" altLang="zh-CN" sz="2400" b="1" dirty="0">
                <a:solidFill>
                  <a:srgbClr val="000066"/>
                </a:solidFill>
                <a:latin typeface="+mn-lt"/>
                <a:ea typeface="黑体" panose="02010609060101010101" pitchFamily="2" charset="-122"/>
              </a:rPr>
              <a:t>，则在右下方。然后再检查地址的第二位，构造出第二层的节点。依此类推，直到唯一前缀的最后一位。</a:t>
            </a:r>
            <a:endParaRPr lang="zh-CN" altLang="en-US" sz="2400" b="1" dirty="0">
              <a:solidFill>
                <a:srgbClr val="000066"/>
              </a:solidFill>
              <a:latin typeface="+mn-lt"/>
              <a:ea typeface="黑体" panose="02010609060101010101" pitchFamily="2" charset="-122"/>
            </a:endParaRPr>
          </a:p>
        </p:txBody>
      </p:sp>
    </p:spTree>
    <p:extLst>
      <p:ext uri="{BB962C8B-B14F-4D97-AF65-F5344CB8AC3E}">
        <p14:creationId xmlns:p14="http://schemas.microsoft.com/office/powerpoint/2010/main" val="326931063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49022044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ChangeArrowheads="1"/>
          </p:cNvSpPr>
          <p:nvPr>
            <p:ph type="title"/>
          </p:nvPr>
        </p:nvSpPr>
        <p:spPr/>
        <p:txBody>
          <a:bodyPr/>
          <a:lstStyle/>
          <a:p>
            <a:r>
              <a:rPr lang="en-US" altLang="zh-CN" dirty="0"/>
              <a:t>4.2.3  IP </a:t>
            </a:r>
            <a:r>
              <a:rPr lang="zh-CN" altLang="zh-CN" dirty="0"/>
              <a:t>地址与硬件地址</a:t>
            </a:r>
            <a:endParaRPr lang="zh-CN" altLang="en-US" dirty="0"/>
          </a:p>
        </p:txBody>
      </p:sp>
      <p:sp>
        <p:nvSpPr>
          <p:cNvPr id="2" name="内容占位符 1"/>
          <p:cNvSpPr>
            <a:spLocks noGrp="1"/>
          </p:cNvSpPr>
          <p:nvPr>
            <p:ph idx="1"/>
          </p:nvPr>
        </p:nvSpPr>
        <p:spPr/>
        <p:txBody>
          <a:bodyPr/>
          <a:lstStyle/>
          <a:p>
            <a:r>
              <a:rPr lang="en-US" altLang="zh-CN" dirty="0"/>
              <a:t>IP </a:t>
            </a:r>
            <a:r>
              <a:rPr lang="zh-CN" altLang="zh-CN" dirty="0"/>
              <a:t>地址与硬件地址</a:t>
            </a:r>
            <a:r>
              <a:rPr lang="zh-CN" altLang="en-US" dirty="0"/>
              <a:t>是不同的地址。</a:t>
            </a:r>
            <a:endParaRPr lang="en-US" altLang="zh-CN" dirty="0"/>
          </a:p>
          <a:p>
            <a:r>
              <a:rPr lang="zh-CN" altLang="zh-CN" dirty="0"/>
              <a:t>从层次的角度看，</a:t>
            </a:r>
            <a:endParaRPr lang="en-US" altLang="zh-CN" dirty="0"/>
          </a:p>
          <a:p>
            <a:pPr lvl="1"/>
            <a:r>
              <a:rPr lang="zh-CN" altLang="en-US" dirty="0">
                <a:solidFill>
                  <a:srgbClr val="FF0000"/>
                </a:solidFill>
              </a:rPr>
              <a:t>硬件地址（或</a:t>
            </a:r>
            <a:r>
              <a:rPr lang="zh-CN" altLang="zh-CN" dirty="0">
                <a:solidFill>
                  <a:srgbClr val="FF0000"/>
                </a:solidFill>
              </a:rPr>
              <a:t>物理地址</a:t>
            </a:r>
            <a:r>
              <a:rPr lang="zh-CN" altLang="en-US" dirty="0">
                <a:solidFill>
                  <a:srgbClr val="FF0000"/>
                </a:solidFill>
              </a:rPr>
              <a:t>）</a:t>
            </a:r>
            <a:r>
              <a:rPr lang="zh-CN" altLang="zh-CN" dirty="0"/>
              <a:t>是数据链路层和物理层使用的地址</a:t>
            </a:r>
            <a:r>
              <a:rPr lang="zh-CN" altLang="en-US" dirty="0"/>
              <a:t>。</a:t>
            </a:r>
            <a:endParaRPr lang="en-US" altLang="zh-CN" dirty="0"/>
          </a:p>
          <a:p>
            <a:pPr lvl="1"/>
            <a:r>
              <a:rPr lang="en-US" altLang="zh-CN" dirty="0">
                <a:solidFill>
                  <a:srgbClr val="FF0000"/>
                </a:solidFill>
              </a:rPr>
              <a:t>IP </a:t>
            </a:r>
            <a:r>
              <a:rPr lang="zh-CN" altLang="zh-CN" dirty="0">
                <a:solidFill>
                  <a:srgbClr val="FF0000"/>
                </a:solidFill>
              </a:rPr>
              <a:t>地址</a:t>
            </a:r>
            <a:r>
              <a:rPr lang="zh-CN" altLang="zh-CN" dirty="0"/>
              <a:t>是网络层和以上各层使用的地址，是一种</a:t>
            </a:r>
            <a:r>
              <a:rPr lang="zh-CN" altLang="zh-CN" dirty="0">
                <a:solidFill>
                  <a:srgbClr val="0000FF"/>
                </a:solidFill>
              </a:rPr>
              <a:t>逻辑地址</a:t>
            </a:r>
            <a:r>
              <a:rPr lang="zh-CN" altLang="zh-CN" dirty="0"/>
              <a:t>（称</a:t>
            </a:r>
            <a:r>
              <a:rPr lang="en-US" altLang="zh-CN" dirty="0"/>
              <a:t> IP </a:t>
            </a:r>
            <a:r>
              <a:rPr lang="zh-CN" altLang="zh-CN" dirty="0"/>
              <a:t>地址是逻辑地址是因为</a:t>
            </a:r>
            <a:r>
              <a:rPr lang="en-US" altLang="zh-CN" dirty="0"/>
              <a:t> IP </a:t>
            </a:r>
            <a:r>
              <a:rPr lang="zh-CN" altLang="zh-CN" dirty="0"/>
              <a:t>地址是用软件实现的）。</a:t>
            </a:r>
          </a:p>
          <a:p>
            <a:endParaRPr lang="zh-CN" altLang="en-US" dirty="0"/>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ChangeArrowheads="1"/>
          </p:cNvSpPr>
          <p:nvPr>
            <p:ph type="title"/>
          </p:nvPr>
        </p:nvSpPr>
        <p:spPr/>
        <p:txBody>
          <a:bodyPr/>
          <a:lstStyle/>
          <a:p>
            <a:r>
              <a:rPr lang="en-US" altLang="zh-CN" dirty="0"/>
              <a:t>4.2.3  IP </a:t>
            </a:r>
            <a:r>
              <a:rPr lang="zh-CN" altLang="zh-CN" dirty="0"/>
              <a:t>地址与硬件地址</a:t>
            </a:r>
            <a:endParaRPr lang="zh-CN" altLang="en-US" dirty="0"/>
          </a:p>
        </p:txBody>
      </p:sp>
      <p:sp>
        <p:nvSpPr>
          <p:cNvPr id="218117" name="Line 5"/>
          <p:cNvSpPr>
            <a:spLocks noChangeShapeType="1"/>
          </p:cNvSpPr>
          <p:nvPr/>
        </p:nvSpPr>
        <p:spPr bwMode="auto">
          <a:xfrm>
            <a:off x="1848777" y="4315867"/>
            <a:ext cx="5647796"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18" name="Line 6"/>
          <p:cNvSpPr>
            <a:spLocks noChangeShapeType="1"/>
          </p:cNvSpPr>
          <p:nvPr/>
        </p:nvSpPr>
        <p:spPr bwMode="auto">
          <a:xfrm>
            <a:off x="2603765" y="3341142"/>
            <a:ext cx="413781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19" name="Line 7"/>
          <p:cNvSpPr>
            <a:spLocks noChangeShapeType="1"/>
          </p:cNvSpPr>
          <p:nvPr/>
        </p:nvSpPr>
        <p:spPr bwMode="auto">
          <a:xfrm>
            <a:off x="3332957" y="2258467"/>
            <a:ext cx="3429265"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20" name="Rectangle 8"/>
          <p:cNvSpPr>
            <a:spLocks noChangeArrowheads="1"/>
          </p:cNvSpPr>
          <p:nvPr/>
        </p:nvSpPr>
        <p:spPr bwMode="auto">
          <a:xfrm>
            <a:off x="4498975" y="2133055"/>
            <a:ext cx="1128183" cy="1809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21" name="Text Box 9"/>
          <p:cNvSpPr txBox="1">
            <a:spLocks noChangeArrowheads="1"/>
          </p:cNvSpPr>
          <p:nvPr/>
        </p:nvSpPr>
        <p:spPr bwMode="auto">
          <a:xfrm>
            <a:off x="4394069" y="2028279"/>
            <a:ext cx="1498359"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TCP </a:t>
            </a:r>
            <a:r>
              <a:rPr kumimoji="1" lang="zh-CN" altLang="en-US" sz="2400" b="1">
                <a:solidFill>
                  <a:srgbClr val="0000CC"/>
                </a:solidFill>
                <a:latin typeface="+mn-lt"/>
                <a:ea typeface="黑体" panose="02010609060101010101" pitchFamily="2" charset="-122"/>
              </a:rPr>
              <a:t>报文</a:t>
            </a:r>
          </a:p>
        </p:txBody>
      </p:sp>
      <p:sp>
        <p:nvSpPr>
          <p:cNvPr id="218122" name="Rectangle 10"/>
          <p:cNvSpPr>
            <a:spLocks noChangeArrowheads="1"/>
          </p:cNvSpPr>
          <p:nvPr/>
        </p:nvSpPr>
        <p:spPr bwMode="auto">
          <a:xfrm>
            <a:off x="4156737" y="3237954"/>
            <a:ext cx="1047353" cy="1730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23" name="Text Box 11"/>
          <p:cNvSpPr txBox="1">
            <a:spLocks noChangeArrowheads="1"/>
          </p:cNvSpPr>
          <p:nvPr/>
        </p:nvSpPr>
        <p:spPr bwMode="auto">
          <a:xfrm>
            <a:off x="4022594" y="3106193"/>
            <a:ext cx="1482329"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数据报</a:t>
            </a:r>
          </a:p>
        </p:txBody>
      </p:sp>
      <p:sp>
        <p:nvSpPr>
          <p:cNvPr id="218124" name="Rectangle 12"/>
          <p:cNvSpPr>
            <a:spLocks noChangeArrowheads="1"/>
          </p:cNvSpPr>
          <p:nvPr/>
        </p:nvSpPr>
        <p:spPr bwMode="auto">
          <a:xfrm>
            <a:off x="4220369" y="4225380"/>
            <a:ext cx="889133" cy="1825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25" name="Text Box 13"/>
          <p:cNvSpPr txBox="1">
            <a:spLocks noChangeArrowheads="1"/>
          </p:cNvSpPr>
          <p:nvPr/>
        </p:nvSpPr>
        <p:spPr bwMode="auto">
          <a:xfrm>
            <a:off x="4115462" y="4079329"/>
            <a:ext cx="1281120"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MAC </a:t>
            </a:r>
            <a:r>
              <a:rPr kumimoji="1" lang="zh-CN" altLang="en-US" sz="2400" b="1">
                <a:solidFill>
                  <a:srgbClr val="0000CC"/>
                </a:solidFill>
                <a:latin typeface="+mn-lt"/>
                <a:ea typeface="黑体" panose="02010609060101010101" pitchFamily="2" charset="-122"/>
              </a:rPr>
              <a:t>帧</a:t>
            </a:r>
          </a:p>
        </p:txBody>
      </p:sp>
      <p:sp>
        <p:nvSpPr>
          <p:cNvPr id="218130" name="Line 18"/>
          <p:cNvSpPr>
            <a:spLocks noChangeShapeType="1"/>
          </p:cNvSpPr>
          <p:nvPr/>
        </p:nvSpPr>
        <p:spPr bwMode="auto">
          <a:xfrm>
            <a:off x="2603765" y="3177629"/>
            <a:ext cx="0" cy="406400"/>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1" name="Line 19"/>
          <p:cNvSpPr>
            <a:spLocks noChangeShapeType="1"/>
          </p:cNvSpPr>
          <p:nvPr/>
        </p:nvSpPr>
        <p:spPr bwMode="auto">
          <a:xfrm>
            <a:off x="6741583" y="3177629"/>
            <a:ext cx="0" cy="406400"/>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2" name="Line 20"/>
          <p:cNvSpPr>
            <a:spLocks noChangeShapeType="1"/>
          </p:cNvSpPr>
          <p:nvPr/>
        </p:nvSpPr>
        <p:spPr bwMode="auto">
          <a:xfrm>
            <a:off x="3346715" y="2052092"/>
            <a:ext cx="13758" cy="558800"/>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3" name="Line 21"/>
          <p:cNvSpPr>
            <a:spLocks noChangeShapeType="1"/>
          </p:cNvSpPr>
          <p:nvPr/>
        </p:nvSpPr>
        <p:spPr bwMode="auto">
          <a:xfrm>
            <a:off x="6741583" y="2052092"/>
            <a:ext cx="0" cy="558800"/>
          </a:xfrm>
          <a:prstGeom prst="line">
            <a:avLst/>
          </a:prstGeom>
          <a:noFill/>
          <a:ln w="952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4" name="Line 22"/>
          <p:cNvSpPr>
            <a:spLocks noChangeShapeType="1"/>
          </p:cNvSpPr>
          <p:nvPr/>
        </p:nvSpPr>
        <p:spPr bwMode="auto">
          <a:xfrm flipV="1">
            <a:off x="7138856" y="3358604"/>
            <a:ext cx="2495417"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5" name="Rectangle 23"/>
          <p:cNvSpPr>
            <a:spLocks noChangeArrowheads="1"/>
          </p:cNvSpPr>
          <p:nvPr/>
        </p:nvSpPr>
        <p:spPr bwMode="auto">
          <a:xfrm>
            <a:off x="3346715" y="1556792"/>
            <a:ext cx="3394869" cy="487362"/>
          </a:xfrm>
          <a:prstGeom prst="rect">
            <a:avLst/>
          </a:prstGeom>
          <a:solidFill>
            <a:srgbClr val="66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6" name="Line 24"/>
          <p:cNvSpPr>
            <a:spLocks noChangeShapeType="1"/>
          </p:cNvSpPr>
          <p:nvPr/>
        </p:nvSpPr>
        <p:spPr bwMode="auto">
          <a:xfrm flipH="1">
            <a:off x="4089665" y="1556792"/>
            <a:ext cx="0" cy="48736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37" name="Text Box 25"/>
          <p:cNvSpPr txBox="1">
            <a:spLocks noChangeArrowheads="1"/>
          </p:cNvSpPr>
          <p:nvPr/>
        </p:nvSpPr>
        <p:spPr bwMode="auto">
          <a:xfrm>
            <a:off x="4636558" y="1558380"/>
            <a:ext cx="17315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应用层数据</a:t>
            </a:r>
          </a:p>
        </p:txBody>
      </p:sp>
      <p:sp>
        <p:nvSpPr>
          <p:cNvPr id="218138" name="Text Box 26"/>
          <p:cNvSpPr txBox="1">
            <a:spLocks noChangeArrowheads="1"/>
          </p:cNvSpPr>
          <p:nvPr/>
        </p:nvSpPr>
        <p:spPr bwMode="auto">
          <a:xfrm>
            <a:off x="3319198" y="1559968"/>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首部</a:t>
            </a:r>
          </a:p>
        </p:txBody>
      </p:sp>
      <p:sp>
        <p:nvSpPr>
          <p:cNvPr id="218139" name="Rectangle 27"/>
          <p:cNvSpPr>
            <a:spLocks noChangeArrowheads="1"/>
          </p:cNvSpPr>
          <p:nvPr/>
        </p:nvSpPr>
        <p:spPr bwMode="auto">
          <a:xfrm>
            <a:off x="2603765" y="2610892"/>
            <a:ext cx="4137819" cy="487362"/>
          </a:xfrm>
          <a:prstGeom prst="rect">
            <a:avLst/>
          </a:prstGeom>
          <a:solidFill>
            <a:srgbClr val="FFFF66"/>
          </a:solidFill>
          <a:ln w="28575">
            <a:solidFill>
              <a:schemeClr val="tx1"/>
            </a:solidFill>
            <a:miter lim="800000"/>
          </a:ln>
          <a:effec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0" name="Line 28"/>
          <p:cNvSpPr>
            <a:spLocks noChangeShapeType="1"/>
          </p:cNvSpPr>
          <p:nvPr/>
        </p:nvSpPr>
        <p:spPr bwMode="auto">
          <a:xfrm>
            <a:off x="3346715" y="2610892"/>
            <a:ext cx="0" cy="48736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1" name="Text Box 29"/>
          <p:cNvSpPr txBox="1">
            <a:spLocks noChangeArrowheads="1"/>
          </p:cNvSpPr>
          <p:nvPr/>
        </p:nvSpPr>
        <p:spPr bwMode="auto">
          <a:xfrm>
            <a:off x="2577968" y="2602955"/>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首部</a:t>
            </a:r>
          </a:p>
        </p:txBody>
      </p:sp>
      <p:sp>
        <p:nvSpPr>
          <p:cNvPr id="218142" name="Rectangle 30"/>
          <p:cNvSpPr>
            <a:spLocks noChangeArrowheads="1"/>
          </p:cNvSpPr>
          <p:nvPr/>
        </p:nvSpPr>
        <p:spPr bwMode="auto">
          <a:xfrm>
            <a:off x="1872854" y="3614192"/>
            <a:ext cx="741230" cy="457200"/>
          </a:xfrm>
          <a:prstGeom prst="rect">
            <a:avLst/>
          </a:prstGeom>
          <a:solidFill>
            <a:srgbClr val="66FFFF"/>
          </a:solidFill>
          <a:ln>
            <a:noFill/>
          </a:ln>
          <a:effec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3" name="Rectangle 31"/>
          <p:cNvSpPr>
            <a:spLocks noChangeArrowheads="1"/>
          </p:cNvSpPr>
          <p:nvPr/>
        </p:nvSpPr>
        <p:spPr bwMode="auto">
          <a:xfrm>
            <a:off x="1862536" y="3584030"/>
            <a:ext cx="5621998" cy="487363"/>
          </a:xfrm>
          <a:prstGeom prst="rect">
            <a:avLst/>
          </a:prstGeom>
          <a:solidFill>
            <a:srgbClr val="66FFFF"/>
          </a:solidFill>
          <a:ln w="28575">
            <a:solidFill>
              <a:schemeClr val="tx1"/>
            </a:solidFill>
            <a:miter lim="800000"/>
          </a:ln>
          <a:effec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4" name="Line 32"/>
          <p:cNvSpPr>
            <a:spLocks noChangeShapeType="1"/>
          </p:cNvSpPr>
          <p:nvPr/>
        </p:nvSpPr>
        <p:spPr bwMode="auto">
          <a:xfrm>
            <a:off x="2603765" y="3584030"/>
            <a:ext cx="0" cy="48736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5" name="Line 33"/>
          <p:cNvSpPr>
            <a:spLocks noChangeShapeType="1"/>
          </p:cNvSpPr>
          <p:nvPr/>
        </p:nvSpPr>
        <p:spPr bwMode="auto">
          <a:xfrm>
            <a:off x="6741583" y="3584030"/>
            <a:ext cx="0" cy="48736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218146" name="Text Box 34"/>
          <p:cNvSpPr txBox="1">
            <a:spLocks noChangeArrowheads="1"/>
          </p:cNvSpPr>
          <p:nvPr/>
        </p:nvSpPr>
        <p:spPr bwMode="auto">
          <a:xfrm>
            <a:off x="6681414" y="3573016"/>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尾部</a:t>
            </a:r>
          </a:p>
        </p:txBody>
      </p:sp>
      <p:sp>
        <p:nvSpPr>
          <p:cNvPr id="218147" name="Text Box 35"/>
          <p:cNvSpPr txBox="1">
            <a:spLocks noChangeArrowheads="1"/>
          </p:cNvSpPr>
          <p:nvPr/>
        </p:nvSpPr>
        <p:spPr bwMode="auto">
          <a:xfrm>
            <a:off x="1850496" y="3579267"/>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首部</a:t>
            </a:r>
          </a:p>
        </p:txBody>
      </p:sp>
      <p:grpSp>
        <p:nvGrpSpPr>
          <p:cNvPr id="218161" name="Group 49"/>
          <p:cNvGrpSpPr/>
          <p:nvPr/>
        </p:nvGrpSpPr>
        <p:grpSpPr bwMode="auto">
          <a:xfrm>
            <a:off x="313002" y="2890294"/>
            <a:ext cx="9335029" cy="1820863"/>
            <a:chOff x="182" y="2409"/>
            <a:chExt cx="5428" cy="1147"/>
          </a:xfrm>
        </p:grpSpPr>
        <p:grpSp>
          <p:nvGrpSpPr>
            <p:cNvPr id="218157" name="Group 45"/>
            <p:cNvGrpSpPr/>
            <p:nvPr/>
          </p:nvGrpSpPr>
          <p:grpSpPr bwMode="auto">
            <a:xfrm>
              <a:off x="4423" y="2709"/>
              <a:ext cx="1187" cy="847"/>
              <a:chOff x="4423" y="2709"/>
              <a:chExt cx="1187" cy="847"/>
            </a:xfrm>
          </p:grpSpPr>
          <p:sp>
            <p:nvSpPr>
              <p:cNvPr id="218127" name="AutoShape 15"/>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2000" b="1">
                  <a:solidFill>
                    <a:srgbClr val="0000CC"/>
                  </a:solidFill>
                  <a:latin typeface="+mn-lt"/>
                  <a:ea typeface="黑体" panose="02010609060101010101" pitchFamily="2" charset="-122"/>
                </a:endParaRPr>
              </a:p>
            </p:txBody>
          </p:sp>
          <p:sp>
            <p:nvSpPr>
              <p:cNvPr id="218129" name="Text Box 17"/>
              <p:cNvSpPr txBox="1">
                <a:spLocks noChangeArrowheads="1"/>
              </p:cNvSpPr>
              <p:nvPr/>
            </p:nvSpPr>
            <p:spPr bwMode="auto">
              <a:xfrm>
                <a:off x="4423" y="3033"/>
                <a:ext cx="11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链路层及以下</a:t>
                </a:r>
              </a:p>
              <a:p>
                <a:r>
                  <a:rPr kumimoji="1" lang="zh-CN" altLang="en-US" sz="2400" b="1" dirty="0">
                    <a:solidFill>
                      <a:srgbClr val="0000CC"/>
                    </a:solidFill>
                    <a:latin typeface="+mn-lt"/>
                    <a:ea typeface="黑体" panose="02010609060101010101" pitchFamily="2" charset="-122"/>
                  </a:rPr>
                  <a:t>使用硬件地址</a:t>
                </a:r>
              </a:p>
            </p:txBody>
          </p:sp>
        </p:grpSp>
        <p:grpSp>
          <p:nvGrpSpPr>
            <p:cNvPr id="218159" name="Group 47"/>
            <p:cNvGrpSpPr/>
            <p:nvPr/>
          </p:nvGrpSpPr>
          <p:grpSpPr bwMode="auto">
            <a:xfrm>
              <a:off x="182" y="2409"/>
              <a:ext cx="835" cy="291"/>
              <a:chOff x="182" y="2409"/>
              <a:chExt cx="835" cy="291"/>
            </a:xfrm>
          </p:grpSpPr>
          <p:sp>
            <p:nvSpPr>
              <p:cNvPr id="218149"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anose="02010609060101010101" pitchFamily="2" charset="-122"/>
                </a:endParaRPr>
              </a:p>
            </p:txBody>
          </p:sp>
          <p:sp>
            <p:nvSpPr>
              <p:cNvPr id="218150" name="Text Box 38"/>
              <p:cNvSpPr txBox="1">
                <a:spLocks noChangeArrowheads="1"/>
              </p:cNvSpPr>
              <p:nvPr/>
            </p:nvSpPr>
            <p:spPr bwMode="auto">
              <a:xfrm>
                <a:off x="190" y="2409"/>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硬件地址</a:t>
                </a:r>
              </a:p>
            </p:txBody>
          </p:sp>
        </p:grpSp>
      </p:grpSp>
      <p:grpSp>
        <p:nvGrpSpPr>
          <p:cNvPr id="218160" name="Group 48"/>
          <p:cNvGrpSpPr/>
          <p:nvPr/>
        </p:nvGrpSpPr>
        <p:grpSpPr bwMode="auto">
          <a:xfrm>
            <a:off x="1583929" y="1953668"/>
            <a:ext cx="8074421" cy="1412875"/>
            <a:chOff x="921" y="1819"/>
            <a:chExt cx="4695" cy="890"/>
          </a:xfrm>
        </p:grpSpPr>
        <p:grpSp>
          <p:nvGrpSpPr>
            <p:cNvPr id="218156" name="Group 44"/>
            <p:cNvGrpSpPr/>
            <p:nvPr/>
          </p:nvGrpSpPr>
          <p:grpSpPr bwMode="auto">
            <a:xfrm>
              <a:off x="4429" y="1854"/>
              <a:ext cx="1187" cy="855"/>
              <a:chOff x="4429" y="1854"/>
              <a:chExt cx="1187" cy="855"/>
            </a:xfrm>
          </p:grpSpPr>
          <p:sp>
            <p:nvSpPr>
              <p:cNvPr id="218126"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2000" b="1">
                  <a:solidFill>
                    <a:srgbClr val="0000CC"/>
                  </a:solidFill>
                  <a:latin typeface="+mn-lt"/>
                  <a:ea typeface="黑体" panose="02010609060101010101" pitchFamily="2" charset="-122"/>
                </a:endParaRPr>
              </a:p>
            </p:txBody>
          </p:sp>
          <p:sp>
            <p:nvSpPr>
              <p:cNvPr id="218128" name="Text Box 16"/>
              <p:cNvSpPr txBox="1">
                <a:spLocks noChangeArrowheads="1"/>
              </p:cNvSpPr>
              <p:nvPr/>
            </p:nvSpPr>
            <p:spPr bwMode="auto">
              <a:xfrm>
                <a:off x="4429" y="1854"/>
                <a:ext cx="11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网络层及以上</a:t>
                </a:r>
              </a:p>
              <a:p>
                <a:r>
                  <a:rPr kumimoji="1" lang="zh-CN" altLang="en-US" sz="2400" b="1" dirty="0">
                    <a:solidFill>
                      <a:srgbClr val="0000CC"/>
                    </a:solidFill>
                    <a:latin typeface="+mn-lt"/>
                    <a:ea typeface="黑体" panose="02010609060101010101" pitchFamily="2" charset="-122"/>
                  </a:rPr>
                  <a:t> 使用 </a:t>
                </a:r>
                <a:r>
                  <a:rPr kumimoji="1" lang="en-US" altLang="zh-CN" sz="2400" b="1" dirty="0">
                    <a:solidFill>
                      <a:srgbClr val="0000CC"/>
                    </a:solidFill>
                    <a:latin typeface="+mn-lt"/>
                    <a:ea typeface="黑体" panose="02010609060101010101" pitchFamily="2" charset="-122"/>
                  </a:rPr>
                  <a:t>IP </a:t>
                </a:r>
                <a:r>
                  <a:rPr kumimoji="1" lang="zh-CN" altLang="en-US" sz="2400" b="1" dirty="0">
                    <a:solidFill>
                      <a:srgbClr val="0000CC"/>
                    </a:solidFill>
                    <a:latin typeface="+mn-lt"/>
                    <a:ea typeface="黑体" panose="02010609060101010101" pitchFamily="2" charset="-122"/>
                  </a:rPr>
                  <a:t>地址</a:t>
                </a:r>
              </a:p>
            </p:txBody>
          </p:sp>
        </p:grpSp>
        <p:grpSp>
          <p:nvGrpSpPr>
            <p:cNvPr id="218158" name="Group 46"/>
            <p:cNvGrpSpPr/>
            <p:nvPr/>
          </p:nvGrpSpPr>
          <p:grpSpPr bwMode="auto">
            <a:xfrm>
              <a:off x="921" y="1819"/>
              <a:ext cx="688" cy="291"/>
              <a:chOff x="921" y="1819"/>
              <a:chExt cx="688" cy="291"/>
            </a:xfrm>
          </p:grpSpPr>
          <p:sp>
            <p:nvSpPr>
              <p:cNvPr id="21815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anose="02010609060101010101" pitchFamily="2" charset="-122"/>
                </a:endParaRPr>
              </a:p>
            </p:txBody>
          </p:sp>
          <p:sp>
            <p:nvSpPr>
              <p:cNvPr id="218153" name="Text Box 41"/>
              <p:cNvSpPr txBox="1">
                <a:spLocks noChangeArrowheads="1"/>
              </p:cNvSpPr>
              <p:nvPr/>
            </p:nvSpPr>
            <p:spPr bwMode="auto">
              <a:xfrm>
                <a:off x="927" y="1819"/>
                <a:ext cx="682"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anose="02010609060101010101" pitchFamily="2" charset="-122"/>
                  </a:rPr>
                  <a:t>IP </a:t>
                </a:r>
                <a:r>
                  <a:rPr kumimoji="1" lang="zh-CN" altLang="en-US" sz="2400" b="1" dirty="0">
                    <a:solidFill>
                      <a:srgbClr val="0000CC"/>
                    </a:solidFill>
                    <a:latin typeface="+mn-lt"/>
                    <a:ea typeface="黑体" panose="02010609060101010101" pitchFamily="2" charset="-122"/>
                  </a:rPr>
                  <a:t>地址</a:t>
                </a:r>
              </a:p>
            </p:txBody>
          </p:sp>
        </p:grpSp>
      </p:grpSp>
      <p:sp>
        <p:nvSpPr>
          <p:cNvPr id="218155" name="Rectangle 43"/>
          <p:cNvSpPr>
            <a:spLocks noChangeArrowheads="1"/>
          </p:cNvSpPr>
          <p:nvPr/>
        </p:nvSpPr>
        <p:spPr bwMode="auto">
          <a:xfrm>
            <a:off x="2626122" y="3614193"/>
            <a:ext cx="4091384" cy="433387"/>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anose="02010609060101010101" pitchFamily="2" charset="-122"/>
            </a:endParaRPr>
          </a:p>
        </p:txBody>
      </p:sp>
      <p:sp>
        <p:nvSpPr>
          <p:cNvPr id="4" name="矩形 3"/>
          <p:cNvSpPr/>
          <p:nvPr/>
        </p:nvSpPr>
        <p:spPr>
          <a:xfrm>
            <a:off x="2432720" y="5703639"/>
            <a:ext cx="5472608" cy="461665"/>
          </a:xfrm>
          <a:prstGeom prst="rect">
            <a:avLst/>
          </a:prstGeom>
        </p:spPr>
        <p:txBody>
          <a:bodyPr wrap="square">
            <a:spAutoFit/>
          </a:bodyPr>
          <a:lstStyle/>
          <a:p>
            <a:pPr algn="ctr"/>
            <a:r>
              <a:rPr lang="en-US" altLang="zh-CN" sz="2400" b="1" dirty="0">
                <a:latin typeface="+mn-lt"/>
                <a:ea typeface="黑体" panose="02010609060101010101" pitchFamily="2" charset="-122"/>
              </a:rPr>
              <a:t>IP </a:t>
            </a:r>
            <a:r>
              <a:rPr lang="zh-CN" altLang="zh-CN" sz="2400" b="1" dirty="0">
                <a:latin typeface="+mn-lt"/>
                <a:ea typeface="黑体" panose="02010609060101010101" pitchFamily="2" charset="-122"/>
              </a:rPr>
              <a:t>地址与硬件地址的区别</a:t>
            </a:r>
            <a:endParaRPr lang="zh-CN" altLang="en-US" sz="2400" b="1" dirty="0">
              <a:latin typeface="+mn-lt"/>
              <a:ea typeface="黑体" panose="02010609060101010101" pitchFamily="2" charset="-122"/>
            </a:endParaRPr>
          </a:p>
        </p:txBody>
      </p:sp>
      <p:sp>
        <p:nvSpPr>
          <p:cNvPr id="5" name="矩形 4"/>
          <p:cNvSpPr/>
          <p:nvPr/>
        </p:nvSpPr>
        <p:spPr>
          <a:xfrm>
            <a:off x="344488" y="4437112"/>
            <a:ext cx="3376422" cy="1200329"/>
          </a:xfrm>
          <a:prstGeom prst="rect">
            <a:avLst/>
          </a:prstGeom>
          <a:solidFill>
            <a:srgbClr val="000099"/>
          </a:solidFill>
        </p:spPr>
        <p:txBody>
          <a:bodyPr wrap="square">
            <a:spAutoFit/>
          </a:bodyPr>
          <a:lstStyle/>
          <a:p>
            <a:r>
              <a:rPr lang="en-US" altLang="zh-CN" sz="2400" b="1" dirty="0">
                <a:solidFill>
                  <a:schemeClr val="bg1"/>
                </a:solidFill>
                <a:latin typeface="+mn-lt"/>
                <a:ea typeface="黑体" panose="02010609060101010101" pitchFamily="2" charset="-122"/>
              </a:rPr>
              <a:t>IP </a:t>
            </a:r>
            <a:r>
              <a:rPr lang="zh-CN" altLang="zh-CN" sz="2400" b="1" dirty="0">
                <a:solidFill>
                  <a:schemeClr val="bg1"/>
                </a:solidFill>
                <a:latin typeface="+mn-lt"/>
                <a:ea typeface="黑体" panose="02010609060101010101" pitchFamily="2" charset="-122"/>
              </a:rPr>
              <a:t>地址放在</a:t>
            </a:r>
            <a:r>
              <a:rPr lang="en-US" altLang="zh-CN" sz="2400" b="1" dirty="0">
                <a:solidFill>
                  <a:schemeClr val="bg1"/>
                </a:solidFill>
                <a:latin typeface="+mn-lt"/>
                <a:ea typeface="黑体" panose="02010609060101010101" pitchFamily="2" charset="-122"/>
              </a:rPr>
              <a:t> IP </a:t>
            </a:r>
            <a:r>
              <a:rPr lang="zh-CN" altLang="zh-CN" sz="2400" b="1" dirty="0">
                <a:solidFill>
                  <a:schemeClr val="bg1"/>
                </a:solidFill>
                <a:latin typeface="+mn-lt"/>
                <a:ea typeface="黑体" panose="02010609060101010101" pitchFamily="2" charset="-122"/>
              </a:rPr>
              <a:t>数据报的首部，而硬件地址则放在</a:t>
            </a:r>
            <a:r>
              <a:rPr lang="en-US" altLang="zh-CN" sz="2400" b="1" dirty="0">
                <a:solidFill>
                  <a:schemeClr val="bg1"/>
                </a:solidFill>
                <a:latin typeface="+mn-lt"/>
                <a:ea typeface="黑体" panose="02010609060101010101" pitchFamily="2" charset="-122"/>
              </a:rPr>
              <a:t> MAC </a:t>
            </a:r>
            <a:r>
              <a:rPr lang="zh-CN" altLang="zh-CN" sz="2400" b="1" dirty="0">
                <a:solidFill>
                  <a:schemeClr val="bg1"/>
                </a:solidFill>
                <a:latin typeface="+mn-lt"/>
                <a:ea typeface="黑体" panose="02010609060101010101" pitchFamily="2" charset="-122"/>
              </a:rPr>
              <a:t>帧的首部</a:t>
            </a:r>
            <a:r>
              <a:rPr lang="zh-CN" altLang="en-US" sz="2400" b="1" dirty="0">
                <a:solidFill>
                  <a:schemeClr val="bg1"/>
                </a:solidFill>
                <a:latin typeface="+mn-lt"/>
                <a:ea typeface="黑体" panose="02010609060101010101" pitchFamily="2" charset="-122"/>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04908" y="116632"/>
            <a:ext cx="9663509" cy="1658194"/>
            <a:chOff x="104908" y="116632"/>
            <a:chExt cx="9663509" cy="1658194"/>
          </a:xfrm>
        </p:grpSpPr>
        <p:sp>
          <p:nvSpPr>
            <p:cNvPr id="453634" name="Freeform 2"/>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35" name="Freeform 3"/>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36" name="Line 4"/>
            <p:cNvSpPr>
              <a:spLocks noChangeShapeType="1"/>
            </p:cNvSpPr>
            <p:nvPr/>
          </p:nvSpPr>
          <p:spPr bwMode="auto">
            <a:xfrm rot="-5400000">
              <a:off x="907520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37" name="Line 5"/>
            <p:cNvSpPr>
              <a:spLocks noChangeShapeType="1"/>
            </p:cNvSpPr>
            <p:nvPr/>
          </p:nvSpPr>
          <p:spPr bwMode="auto">
            <a:xfrm rot="-5400000">
              <a:off x="24235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38" name="Line 6"/>
            <p:cNvSpPr>
              <a:spLocks noChangeShapeType="1"/>
            </p:cNvSpPr>
            <p:nvPr/>
          </p:nvSpPr>
          <p:spPr bwMode="auto">
            <a:xfrm>
              <a:off x="252811" y="1773238"/>
              <a:ext cx="280326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39"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453640"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453641"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453642"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453643" name="Line 11"/>
            <p:cNvSpPr>
              <a:spLocks noChangeShapeType="1"/>
            </p:cNvSpPr>
            <p:nvPr/>
          </p:nvSpPr>
          <p:spPr bwMode="auto">
            <a:xfrm>
              <a:off x="6540368" y="1773238"/>
              <a:ext cx="3143779"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44"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453645"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1</a:t>
              </a:r>
              <a:endParaRPr kumimoji="1" lang="en-US" altLang="zh-CN" sz="1800" b="1" dirty="0">
                <a:solidFill>
                  <a:srgbClr val="0000CC"/>
                </a:solidFill>
                <a:latin typeface="+mn-lt"/>
                <a:ea typeface="黑体" panose="02010609060101010101" pitchFamily="2" charset="-122"/>
              </a:endParaRPr>
            </a:p>
          </p:txBody>
        </p:sp>
        <p:sp>
          <p:nvSpPr>
            <p:cNvPr id="453646"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2</a:t>
              </a:r>
              <a:endParaRPr kumimoji="1" lang="en-US" altLang="zh-CN" sz="1800" b="1" dirty="0">
                <a:solidFill>
                  <a:srgbClr val="0000CC"/>
                </a:solidFill>
                <a:latin typeface="+mn-lt"/>
                <a:ea typeface="黑体" panose="02010609060101010101" pitchFamily="2" charset="-122"/>
              </a:endParaRPr>
            </a:p>
          </p:txBody>
        </p:sp>
        <p:sp>
          <p:nvSpPr>
            <p:cNvPr id="453647" name="Line 15"/>
            <p:cNvSpPr>
              <a:spLocks noChangeShapeType="1"/>
            </p:cNvSpPr>
            <p:nvPr/>
          </p:nvSpPr>
          <p:spPr bwMode="auto">
            <a:xfrm>
              <a:off x="3566848" y="1773238"/>
              <a:ext cx="2462742"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48" name="Freeform 16"/>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49" name="Freeform 17"/>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650"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p>
          </p:txBody>
        </p:sp>
        <p:pic>
          <p:nvPicPr>
            <p:cNvPr id="45365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3652"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365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3654"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53655"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ln>
            <a:effectLst/>
          </p:spPr>
          <p:txBody>
            <a:bodyPr rot="10800000" wrap="none" anchor="ctr"/>
            <a:lstStyle/>
            <a:p>
              <a:pPr algn="ctr"/>
              <a:r>
                <a:rPr kumimoji="1" lang="en-US" altLang="zh-CN" b="1" dirty="0">
                  <a:solidFill>
                    <a:srgbClr val="0000CC"/>
                  </a:solidFill>
                  <a:ea typeface="黑体" panose="02010609060101010101" pitchFamily="2" charset="-122"/>
                </a:rPr>
                <a:t>HA</a:t>
              </a:r>
              <a:r>
                <a:rPr kumimoji="1" lang="zh-CN" altLang="en-US" b="1" dirty="0">
                  <a:solidFill>
                    <a:srgbClr val="0000CC"/>
                  </a:solidFill>
                  <a:ea typeface="黑体" panose="02010609060101010101" pitchFamily="2" charset="-122"/>
                </a:rPr>
                <a:t>为硬件地址</a:t>
              </a:r>
            </a:p>
          </p:txBody>
        </p:sp>
        <p:sp>
          <p:nvSpPr>
            <p:cNvPr id="453657"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路由器 </a:t>
              </a:r>
              <a:r>
                <a:rPr kumimoji="1" lang="en-US" altLang="zh-CN" sz="1800" b="1" dirty="0">
                  <a:solidFill>
                    <a:srgbClr val="0000CC"/>
                  </a:solidFill>
                  <a:latin typeface="+mn-lt"/>
                  <a:ea typeface="黑体" panose="02010609060101010101" pitchFamily="2" charset="-122"/>
                </a:rPr>
                <a:t>R</a:t>
              </a:r>
              <a:r>
                <a:rPr kumimoji="1" lang="en-US" altLang="zh-CN" sz="1800" b="1" baseline="-25000" dirty="0">
                  <a:solidFill>
                    <a:srgbClr val="0000CC"/>
                  </a:solidFill>
                  <a:latin typeface="+mn-lt"/>
                  <a:ea typeface="黑体" panose="02010609060101010101" pitchFamily="2" charset="-122"/>
                </a:rPr>
                <a:t>2</a:t>
              </a:r>
            </a:p>
          </p:txBody>
        </p:sp>
        <p:sp>
          <p:nvSpPr>
            <p:cNvPr id="453658"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453659"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453660"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453661"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453662"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453663"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grpSp>
      <p:sp>
        <p:nvSpPr>
          <p:cNvPr id="453740" name="Text Box 108"/>
          <p:cNvSpPr txBox="1">
            <a:spLocks noChangeArrowheads="1"/>
          </p:cNvSpPr>
          <p:nvPr/>
        </p:nvSpPr>
        <p:spPr bwMode="auto">
          <a:xfrm>
            <a:off x="1907101" y="2132856"/>
            <a:ext cx="5524269" cy="904863"/>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400" b="1" dirty="0">
                <a:solidFill>
                  <a:srgbClr val="0000CC"/>
                </a:solidFill>
                <a:latin typeface="+mn-lt"/>
                <a:ea typeface="黑体" panose="02010609060101010101" pitchFamily="2" charset="-122"/>
              </a:rPr>
              <a:t>通信的路径：</a:t>
            </a:r>
          </a:p>
          <a:p>
            <a:pPr algn="ctr">
              <a:lnSpc>
                <a:spcPct val="110000"/>
              </a:lnSpc>
              <a:spcAft>
                <a:spcPct val="30000"/>
              </a:spcAft>
            </a:pPr>
            <a:r>
              <a:rPr lang="en-US" altLang="zh-CN" sz="2400" b="1" dirty="0">
                <a:solidFill>
                  <a:srgbClr val="0000CC"/>
                </a:solidFill>
                <a:latin typeface="+mn-lt"/>
                <a:ea typeface="黑体" panose="02010609060101010101" pitchFamily="2" charset="-122"/>
              </a:rPr>
              <a:t>H</a:t>
            </a:r>
            <a:r>
              <a:rPr lang="en-US" altLang="zh-CN" sz="2400" b="1" baseline="-25000" dirty="0">
                <a:solidFill>
                  <a:srgbClr val="0000CC"/>
                </a:solidFill>
                <a:latin typeface="+mn-lt"/>
                <a:ea typeface="黑体" panose="02010609060101010101" pitchFamily="2" charset="-122"/>
              </a:rPr>
              <a:t>1</a:t>
            </a:r>
            <a:r>
              <a:rPr lang="en-US" altLang="zh-CN" sz="2400" b="1" dirty="0">
                <a:solidFill>
                  <a:srgbClr val="0000CC"/>
                </a:solidFill>
                <a:latin typeface="+mn-lt"/>
                <a:ea typeface="黑体" panose="02010609060101010101" pitchFamily="2" charset="-122"/>
              </a:rPr>
              <a:t>→</a:t>
            </a:r>
            <a:r>
              <a:rPr lang="zh-CN" altLang="en-US" sz="2400" b="1" dirty="0">
                <a:solidFill>
                  <a:srgbClr val="0000CC"/>
                </a:solidFill>
                <a:latin typeface="+mn-lt"/>
                <a:ea typeface="黑体" panose="02010609060101010101" pitchFamily="2" charset="-122"/>
              </a:rPr>
              <a:t>经过 </a:t>
            </a:r>
            <a:r>
              <a:rPr lang="en-US" altLang="zh-CN" sz="2400" b="1" dirty="0">
                <a:solidFill>
                  <a:srgbClr val="0000CC"/>
                </a:solidFill>
                <a:latin typeface="+mn-lt"/>
                <a:ea typeface="黑体" panose="02010609060101010101" pitchFamily="2" charset="-122"/>
              </a:rPr>
              <a:t>R</a:t>
            </a:r>
            <a:r>
              <a:rPr lang="en-US" altLang="zh-CN" sz="2400" b="1" baseline="-25000" dirty="0">
                <a:solidFill>
                  <a:srgbClr val="0000CC"/>
                </a:solidFill>
                <a:latin typeface="+mn-lt"/>
                <a:ea typeface="黑体" panose="02010609060101010101" pitchFamily="2" charset="-122"/>
              </a:rPr>
              <a:t>1 </a:t>
            </a:r>
            <a:r>
              <a:rPr lang="zh-CN" altLang="en-US" sz="2400" b="1" dirty="0">
                <a:solidFill>
                  <a:srgbClr val="0000CC"/>
                </a:solidFill>
                <a:latin typeface="+mn-lt"/>
                <a:ea typeface="黑体" panose="02010609060101010101" pitchFamily="2" charset="-122"/>
              </a:rPr>
              <a:t>转发→再经过 </a:t>
            </a:r>
            <a:r>
              <a:rPr lang="en-US" altLang="zh-CN" sz="2400" b="1" dirty="0">
                <a:solidFill>
                  <a:srgbClr val="0000CC"/>
                </a:solidFill>
                <a:latin typeface="+mn-lt"/>
                <a:ea typeface="黑体" panose="02010609060101010101" pitchFamily="2" charset="-122"/>
              </a:rPr>
              <a:t>R</a:t>
            </a:r>
            <a:r>
              <a:rPr lang="en-US" altLang="zh-CN" sz="2400" b="1" baseline="-25000" dirty="0">
                <a:solidFill>
                  <a:srgbClr val="0000CC"/>
                </a:solidFill>
                <a:latin typeface="+mn-lt"/>
                <a:ea typeface="黑体" panose="02010609060101010101" pitchFamily="2" charset="-122"/>
              </a:rPr>
              <a:t>2 </a:t>
            </a:r>
            <a:r>
              <a:rPr lang="zh-CN" altLang="en-US" sz="2400" b="1" dirty="0">
                <a:solidFill>
                  <a:srgbClr val="0000CC"/>
                </a:solidFill>
                <a:latin typeface="+mn-lt"/>
                <a:ea typeface="黑体" panose="02010609060101010101" pitchFamily="2" charset="-122"/>
              </a:rPr>
              <a:t>转发→</a:t>
            </a:r>
            <a:r>
              <a:rPr lang="en-US" altLang="zh-CN" sz="2400" b="1" dirty="0">
                <a:solidFill>
                  <a:srgbClr val="0000CC"/>
                </a:solidFill>
                <a:latin typeface="+mn-lt"/>
                <a:ea typeface="黑体" panose="02010609060101010101" pitchFamily="2" charset="-122"/>
              </a:rPr>
              <a:t>H</a:t>
            </a:r>
            <a:r>
              <a:rPr lang="en-US" altLang="zh-CN" sz="2400" b="1" baseline="-25000" dirty="0">
                <a:solidFill>
                  <a:srgbClr val="0000CC"/>
                </a:solidFill>
                <a:latin typeface="+mn-lt"/>
                <a:ea typeface="黑体" panose="02010609060101010101" pitchFamily="2" charset="-122"/>
              </a:rPr>
              <a:t>2</a:t>
            </a:r>
            <a:endParaRPr lang="en-US" altLang="zh-CN" sz="2400" b="1" dirty="0">
              <a:solidFill>
                <a:srgbClr val="0000CC"/>
              </a:solidFill>
              <a:latin typeface="+mn-lt"/>
              <a:ea typeface="黑体" panose="02010609060101010101" pitchFamily="2" charset="-122"/>
            </a:endParaRPr>
          </a:p>
        </p:txBody>
      </p:sp>
      <p:sp>
        <p:nvSpPr>
          <p:cNvPr id="453741" name="Arc 109"/>
          <p:cNvSpPr/>
          <p:nvPr/>
        </p:nvSpPr>
        <p:spPr bwMode="auto">
          <a:xfrm rot="2655715" flipV="1">
            <a:off x="1007799" y="293689"/>
            <a:ext cx="1716352" cy="1728787"/>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742" name="Arc 110"/>
          <p:cNvSpPr/>
          <p:nvPr/>
        </p:nvSpPr>
        <p:spPr bwMode="auto">
          <a:xfrm rot="2655715" flipV="1">
            <a:off x="4017434" y="260350"/>
            <a:ext cx="1716352" cy="1728788"/>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743" name="Arc 111"/>
          <p:cNvSpPr/>
          <p:nvPr/>
        </p:nvSpPr>
        <p:spPr bwMode="auto">
          <a:xfrm rot="2655715" flipV="1">
            <a:off x="7027069" y="227014"/>
            <a:ext cx="1716352" cy="1728787"/>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53744" name="Text Box 112"/>
          <p:cNvSpPr txBox="1">
            <a:spLocks noChangeArrowheads="1"/>
          </p:cNvSpPr>
          <p:nvPr/>
        </p:nvSpPr>
        <p:spPr bwMode="auto">
          <a:xfrm>
            <a:off x="2552420" y="28601"/>
            <a:ext cx="1475084" cy="448071"/>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30000"/>
              </a:lnSpc>
            </a:pPr>
            <a:r>
              <a:rPr lang="zh-CN" altLang="en-US" sz="2000" b="1" dirty="0">
                <a:solidFill>
                  <a:srgbClr val="0000CC"/>
                </a:solidFill>
                <a:latin typeface="+mn-lt"/>
                <a:ea typeface="黑体" panose="02010609060101010101" pitchFamily="2" charset="-122"/>
              </a:rPr>
              <a:t>查找路由表</a:t>
            </a:r>
          </a:p>
        </p:txBody>
      </p:sp>
      <p:sp>
        <p:nvSpPr>
          <p:cNvPr id="453745" name="Text Box 113"/>
          <p:cNvSpPr txBox="1">
            <a:spLocks noChangeArrowheads="1"/>
          </p:cNvSpPr>
          <p:nvPr/>
        </p:nvSpPr>
        <p:spPr bwMode="auto">
          <a:xfrm>
            <a:off x="5439950" y="28601"/>
            <a:ext cx="1475084" cy="448071"/>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30000"/>
              </a:lnSpc>
            </a:pPr>
            <a:r>
              <a:rPr lang="zh-CN" altLang="en-US" sz="2000" b="1" dirty="0">
                <a:solidFill>
                  <a:srgbClr val="0000CC"/>
                </a:solidFill>
                <a:latin typeface="+mn-lt"/>
                <a:ea typeface="黑体" panose="02010609060101010101" pitchFamily="2" charset="-122"/>
              </a:rPr>
              <a:t>查找路由表</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grpId="0"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p:stCondLst>
                              <p:cond delay="2000"/>
                            </p:stCondLst>
                            <p:childTnLst>
                              <p:par>
                                <p:cTn id="12" presetID="1" presetClass="exit" presetSubtype="0" fill="hold" grpId="1"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p:stCondLst>
                              <p:cond delay="2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p:stCondLst>
                              <p:cond delay="3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p:stCondLst>
                              <p:cond delay="4000"/>
                            </p:stCondLst>
                            <p:childTnLst>
                              <p:par>
                                <p:cTn id="21" presetID="22" presetClass="entr" presetSubtype="8" fill="hold" grpId="0"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p:stCondLst>
                              <p:cond delay="5000"/>
                            </p:stCondLst>
                            <p:childTnLst>
                              <p:par>
                                <p:cTn id="25" presetID="1" presetClass="exit" presetSubtype="0" fill="hold" grpId="1"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p:stCondLst>
                              <p:cond delay="5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p:stCondLst>
                              <p:cond delay="6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p:stCondLst>
                              <p:cond delay="7000"/>
                            </p:stCondLst>
                            <p:childTnLst>
                              <p:par>
                                <p:cTn id="34" presetID="22" presetClass="entr" presetSubtype="8" fill="hold" grpId="0"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p:stCondLst>
                              <p:cond delay="8000"/>
                            </p:stCondLst>
                            <p:childTnLst>
                              <p:par>
                                <p:cTn id="38" presetID="1" presetClass="exit" presetSubtype="0" fill="hold" grpId="1"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1" grpId="0" animBg="1"/>
      <p:bldP spid="453741" grpId="1" animBg="1"/>
      <p:bldP spid="453742" grpId="0" animBg="1"/>
      <p:bldP spid="453742" grpId="1" animBg="1"/>
      <p:bldP spid="453743" grpId="0" animBg="1"/>
      <p:bldP spid="453743" grpId="1" animBg="1"/>
      <p:bldP spid="453744" grpId="0" animBg="1"/>
      <p:bldP spid="453744" grpId="1" animBg="1"/>
      <p:bldP spid="453745" grpId="0" animBg="1"/>
      <p:bldP spid="453745" grpId="1"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9556" y="2035176"/>
            <a:ext cx="9881923" cy="4352369"/>
            <a:chOff x="39556" y="2035176"/>
            <a:chExt cx="9881923" cy="4352369"/>
          </a:xfrm>
        </p:grpSpPr>
        <p:sp>
          <p:nvSpPr>
            <p:cNvPr id="220237"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38"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39" name="Line 79"/>
            <p:cNvSpPr>
              <a:spLocks noChangeShapeType="1"/>
            </p:cNvSpPr>
            <p:nvPr/>
          </p:nvSpPr>
          <p:spPr bwMode="auto">
            <a:xfrm rot="-54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40" name="Line 80"/>
            <p:cNvSpPr>
              <a:spLocks noChangeShapeType="1"/>
            </p:cNvSpPr>
            <p:nvPr/>
          </p:nvSpPr>
          <p:spPr bwMode="auto">
            <a:xfrm rot="-54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41"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42"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43"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44"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220245" name="Group 85"/>
            <p:cNvGrpSpPr/>
            <p:nvPr/>
          </p:nvGrpSpPr>
          <p:grpSpPr bwMode="auto">
            <a:xfrm>
              <a:off x="39556" y="2420938"/>
              <a:ext cx="9881923" cy="2438400"/>
              <a:chOff x="96" y="1056"/>
              <a:chExt cx="5472" cy="1536"/>
            </a:xfrm>
            <a:solidFill>
              <a:srgbClr val="FFFF66"/>
            </a:solidFill>
          </p:grpSpPr>
          <p:sp>
            <p:nvSpPr>
              <p:cNvPr id="220246"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47"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48"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49"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50"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51"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52"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20253"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220254"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220255" name="Group 95"/>
            <p:cNvGrpSpPr/>
            <p:nvPr/>
          </p:nvGrpSpPr>
          <p:grpSpPr bwMode="auto">
            <a:xfrm>
              <a:off x="247650" y="2420938"/>
              <a:ext cx="742950" cy="1447800"/>
              <a:chOff x="672" y="528"/>
              <a:chExt cx="432" cy="912"/>
            </a:xfrm>
          </p:grpSpPr>
          <p:sp>
            <p:nvSpPr>
              <p:cNvPr id="22025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5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5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220259"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220260"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220261"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220262"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220263"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220264"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65"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66"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220267"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220268"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220269"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220270"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220271"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72"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220273"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220274"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220275" name="Group 115"/>
            <p:cNvGrpSpPr/>
            <p:nvPr/>
          </p:nvGrpSpPr>
          <p:grpSpPr bwMode="auto">
            <a:xfrm>
              <a:off x="8832850" y="2420938"/>
              <a:ext cx="742950" cy="1447800"/>
              <a:chOff x="672" y="528"/>
              <a:chExt cx="432" cy="912"/>
            </a:xfrm>
          </p:grpSpPr>
          <p:sp>
            <p:nvSpPr>
              <p:cNvPr id="220276"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77"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78"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22027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22028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22028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220282"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4"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220286"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7"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8"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028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220290" name="Group 130"/>
            <p:cNvGrpSpPr/>
            <p:nvPr/>
          </p:nvGrpSpPr>
          <p:grpSpPr bwMode="auto">
            <a:xfrm>
              <a:off x="1238250" y="3154363"/>
              <a:ext cx="1568450" cy="381000"/>
              <a:chOff x="1632" y="2688"/>
              <a:chExt cx="912" cy="240"/>
            </a:xfrm>
          </p:grpSpPr>
          <p:sp>
            <p:nvSpPr>
              <p:cNvPr id="22029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22029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220293" name="Group 133"/>
            <p:cNvGrpSpPr/>
            <p:nvPr/>
          </p:nvGrpSpPr>
          <p:grpSpPr bwMode="auto">
            <a:xfrm>
              <a:off x="4044950" y="3154363"/>
              <a:ext cx="1568450" cy="381000"/>
              <a:chOff x="1632" y="2688"/>
              <a:chExt cx="912" cy="240"/>
            </a:xfrm>
          </p:grpSpPr>
          <p:sp>
            <p:nvSpPr>
              <p:cNvPr id="220294"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220295"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220296" name="Group 136"/>
            <p:cNvGrpSpPr/>
            <p:nvPr/>
          </p:nvGrpSpPr>
          <p:grpSpPr bwMode="auto">
            <a:xfrm>
              <a:off x="7016750" y="3154363"/>
              <a:ext cx="1568450" cy="381000"/>
              <a:chOff x="1632" y="2688"/>
              <a:chExt cx="912" cy="240"/>
            </a:xfrm>
          </p:grpSpPr>
          <p:sp>
            <p:nvSpPr>
              <p:cNvPr id="2202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2202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220299" name="Group 139"/>
            <p:cNvGrpSpPr/>
            <p:nvPr/>
          </p:nvGrpSpPr>
          <p:grpSpPr bwMode="auto">
            <a:xfrm>
              <a:off x="660400" y="5592763"/>
              <a:ext cx="2146300" cy="381000"/>
              <a:chOff x="480" y="3120"/>
              <a:chExt cx="1248" cy="240"/>
            </a:xfrm>
          </p:grpSpPr>
          <p:sp>
            <p:nvSpPr>
              <p:cNvPr id="220300"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220301"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220302" name="Group 142"/>
            <p:cNvGrpSpPr/>
            <p:nvPr/>
          </p:nvGrpSpPr>
          <p:grpSpPr bwMode="auto">
            <a:xfrm>
              <a:off x="3797300" y="5592763"/>
              <a:ext cx="2146300" cy="381000"/>
              <a:chOff x="480" y="3120"/>
              <a:chExt cx="1248" cy="240"/>
            </a:xfrm>
          </p:grpSpPr>
          <p:sp>
            <p:nvSpPr>
              <p:cNvPr id="22030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22030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220305" name="Group 145"/>
            <p:cNvGrpSpPr/>
            <p:nvPr/>
          </p:nvGrpSpPr>
          <p:grpSpPr bwMode="auto">
            <a:xfrm>
              <a:off x="6934200" y="5592763"/>
              <a:ext cx="2146300" cy="381000"/>
              <a:chOff x="480" y="3120"/>
              <a:chExt cx="1248" cy="240"/>
            </a:xfrm>
          </p:grpSpPr>
          <p:sp>
            <p:nvSpPr>
              <p:cNvPr id="220306"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220307"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220308"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220309"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220310"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220311"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 </a:t>
              </a:r>
              <a:r>
                <a:rPr kumimoji="1" lang="zh-CN" altLang="en-US" sz="1800" b="1">
                  <a:solidFill>
                    <a:srgbClr val="0000CC"/>
                  </a:solidFill>
                  <a:latin typeface="+mn-lt"/>
                  <a:ea typeface="黑体" panose="02010609060101010101" pitchFamily="2" charset="-122"/>
                </a:rPr>
                <a:t>数据报</a:t>
              </a:r>
            </a:p>
          </p:txBody>
        </p:sp>
      </p:grpSp>
      <p:sp>
        <p:nvSpPr>
          <p:cNvPr id="220318" name="Text Box 158"/>
          <p:cNvSpPr txBox="1">
            <a:spLocks noChangeArrowheads="1"/>
          </p:cNvSpPr>
          <p:nvPr/>
        </p:nvSpPr>
        <p:spPr bwMode="auto">
          <a:xfrm>
            <a:off x="2864768" y="44451"/>
            <a:ext cx="5234125" cy="523220"/>
          </a:xfrm>
          <a:prstGeom prst="rect">
            <a:avLst/>
          </a:prstGeom>
          <a:solidFill>
            <a:srgbClr val="FFFF00"/>
          </a:solidFill>
          <a:ln w="9525">
            <a:solidFill>
              <a:srgbClr val="333399"/>
            </a:solidFill>
            <a:miter lim="800000"/>
          </a:ln>
          <a:effectLst/>
        </p:spPr>
        <p:txBody>
          <a:bodyPr wrap="none">
            <a:spAutoFit/>
          </a:bodyPr>
          <a:lstStyle/>
          <a:p>
            <a:r>
              <a:rPr lang="zh-CN" altLang="en-US" sz="2800" b="1">
                <a:solidFill>
                  <a:srgbClr val="000099"/>
                </a:solidFill>
                <a:latin typeface="+mn-lt"/>
                <a:ea typeface="黑体" panose="02010609060101010101" pitchFamily="2" charset="-122"/>
              </a:rPr>
              <a:t>从协议栈的层次上看数据的流动</a:t>
            </a:r>
          </a:p>
        </p:txBody>
      </p:sp>
      <p:sp>
        <p:nvSpPr>
          <p:cNvPr id="220319" name="Line 159"/>
          <p:cNvSpPr>
            <a:spLocks noChangeShapeType="1"/>
          </p:cNvSpPr>
          <p:nvPr/>
        </p:nvSpPr>
        <p:spPr bwMode="auto">
          <a:xfrm>
            <a:off x="507339" y="2708276"/>
            <a:ext cx="0" cy="2665413"/>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1" name="Line 161"/>
          <p:cNvSpPr>
            <a:spLocks noChangeShapeType="1"/>
          </p:cNvSpPr>
          <p:nvPr/>
        </p:nvSpPr>
        <p:spPr bwMode="auto">
          <a:xfrm>
            <a:off x="507339" y="5445125"/>
            <a:ext cx="2027634"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3" name="Line 163"/>
          <p:cNvSpPr>
            <a:spLocks noChangeShapeType="1"/>
          </p:cNvSpPr>
          <p:nvPr/>
        </p:nvSpPr>
        <p:spPr bwMode="auto">
          <a:xfrm flipV="1">
            <a:off x="3080147" y="3500439"/>
            <a:ext cx="0" cy="1800225"/>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4" name="Line 164"/>
          <p:cNvSpPr>
            <a:spLocks noChangeShapeType="1"/>
          </p:cNvSpPr>
          <p:nvPr/>
        </p:nvSpPr>
        <p:spPr bwMode="auto">
          <a:xfrm>
            <a:off x="3314039" y="3500439"/>
            <a:ext cx="0" cy="1800225"/>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5" name="Line 165"/>
          <p:cNvSpPr>
            <a:spLocks noChangeShapeType="1"/>
          </p:cNvSpPr>
          <p:nvPr/>
        </p:nvSpPr>
        <p:spPr bwMode="auto">
          <a:xfrm>
            <a:off x="3706152" y="5445125"/>
            <a:ext cx="2027634"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8" name="Line 168"/>
          <p:cNvSpPr>
            <a:spLocks noChangeShapeType="1"/>
          </p:cNvSpPr>
          <p:nvPr/>
        </p:nvSpPr>
        <p:spPr bwMode="auto">
          <a:xfrm flipV="1">
            <a:off x="5967677" y="3500439"/>
            <a:ext cx="0" cy="1800225"/>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29" name="Line 169"/>
          <p:cNvSpPr>
            <a:spLocks noChangeShapeType="1"/>
          </p:cNvSpPr>
          <p:nvPr/>
        </p:nvSpPr>
        <p:spPr bwMode="auto">
          <a:xfrm>
            <a:off x="6201569" y="3500439"/>
            <a:ext cx="0" cy="1800225"/>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30" name="Line 170"/>
          <p:cNvSpPr>
            <a:spLocks noChangeShapeType="1"/>
          </p:cNvSpPr>
          <p:nvPr/>
        </p:nvSpPr>
        <p:spPr bwMode="auto">
          <a:xfrm>
            <a:off x="6903244" y="5445125"/>
            <a:ext cx="2027635"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20331" name="Line 171"/>
          <p:cNvSpPr>
            <a:spLocks noChangeShapeType="1"/>
          </p:cNvSpPr>
          <p:nvPr/>
        </p:nvSpPr>
        <p:spPr bwMode="auto">
          <a:xfrm flipV="1">
            <a:off x="9087379" y="2779713"/>
            <a:ext cx="0" cy="2665412"/>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2" name="组合 1"/>
          <p:cNvGrpSpPr/>
          <p:nvPr/>
        </p:nvGrpSpPr>
        <p:grpSpPr>
          <a:xfrm>
            <a:off x="104908" y="116632"/>
            <a:ext cx="9663509" cy="1658194"/>
            <a:chOff x="104908" y="116632"/>
            <a:chExt cx="9663509" cy="1658194"/>
          </a:xfrm>
        </p:grpSpPr>
        <p:sp>
          <p:nvSpPr>
            <p:cNvPr id="117" name="Freeform 2"/>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8" name="Freeform 3"/>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9" name="Line 4"/>
            <p:cNvSpPr>
              <a:spLocks noChangeShapeType="1"/>
            </p:cNvSpPr>
            <p:nvPr/>
          </p:nvSpPr>
          <p:spPr bwMode="auto">
            <a:xfrm rot="-5400000">
              <a:off x="907520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0" name="Line 5"/>
            <p:cNvSpPr>
              <a:spLocks noChangeShapeType="1"/>
            </p:cNvSpPr>
            <p:nvPr/>
          </p:nvSpPr>
          <p:spPr bwMode="auto">
            <a:xfrm rot="-5400000">
              <a:off x="24235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1" name="Line 6"/>
            <p:cNvSpPr>
              <a:spLocks noChangeShapeType="1"/>
            </p:cNvSpPr>
            <p:nvPr/>
          </p:nvSpPr>
          <p:spPr bwMode="auto">
            <a:xfrm>
              <a:off x="252811" y="1773238"/>
              <a:ext cx="280326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2"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23"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24"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25"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26" name="Line 11"/>
            <p:cNvSpPr>
              <a:spLocks noChangeShapeType="1"/>
            </p:cNvSpPr>
            <p:nvPr/>
          </p:nvSpPr>
          <p:spPr bwMode="auto">
            <a:xfrm>
              <a:off x="6540368" y="1773238"/>
              <a:ext cx="3143779"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7"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28"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1</a:t>
              </a:r>
              <a:endParaRPr kumimoji="1" lang="en-US" altLang="zh-CN" sz="1800" b="1" dirty="0">
                <a:solidFill>
                  <a:srgbClr val="0000CC"/>
                </a:solidFill>
                <a:latin typeface="+mn-lt"/>
                <a:ea typeface="黑体" panose="02010609060101010101" pitchFamily="2" charset="-122"/>
              </a:endParaRPr>
            </a:p>
          </p:txBody>
        </p:sp>
        <p:sp>
          <p:nvSpPr>
            <p:cNvPr id="129"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2</a:t>
              </a:r>
              <a:endParaRPr kumimoji="1" lang="en-US" altLang="zh-CN" sz="1800" b="1" dirty="0">
                <a:solidFill>
                  <a:srgbClr val="0000CC"/>
                </a:solidFill>
                <a:latin typeface="+mn-lt"/>
                <a:ea typeface="黑体" panose="02010609060101010101" pitchFamily="2" charset="-122"/>
              </a:endParaRPr>
            </a:p>
          </p:txBody>
        </p:sp>
        <p:sp>
          <p:nvSpPr>
            <p:cNvPr id="130" name="Line 15"/>
            <p:cNvSpPr>
              <a:spLocks noChangeShapeType="1"/>
            </p:cNvSpPr>
            <p:nvPr/>
          </p:nvSpPr>
          <p:spPr bwMode="auto">
            <a:xfrm>
              <a:off x="3566848" y="1773238"/>
              <a:ext cx="2462742"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31" name="Freeform 16"/>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32" name="Freeform 17"/>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33"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p>
          </p:txBody>
        </p:sp>
        <p:pic>
          <p:nvPicPr>
            <p:cNvPr id="134"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5"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6"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8"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ln>
            <a:effectLst/>
          </p:spPr>
          <p:txBody>
            <a:bodyPr rot="10800000" wrap="none" anchor="ctr"/>
            <a:lstStyle/>
            <a:p>
              <a:pPr algn="ctr"/>
              <a:r>
                <a:rPr kumimoji="1" lang="en-US" altLang="zh-CN" b="1" dirty="0">
                  <a:solidFill>
                    <a:srgbClr val="0000CC"/>
                  </a:solidFill>
                  <a:ea typeface="黑体" panose="02010609060101010101" pitchFamily="2" charset="-122"/>
                </a:rPr>
                <a:t>HA</a:t>
              </a:r>
              <a:r>
                <a:rPr kumimoji="1" lang="zh-CN" altLang="en-US" b="1" dirty="0">
                  <a:solidFill>
                    <a:srgbClr val="0000CC"/>
                  </a:solidFill>
                  <a:ea typeface="黑体" panose="02010609060101010101" pitchFamily="2" charset="-122"/>
                </a:rPr>
                <a:t>为硬件地址</a:t>
              </a:r>
            </a:p>
          </p:txBody>
        </p:sp>
        <p:sp>
          <p:nvSpPr>
            <p:cNvPr id="139"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路由器 </a:t>
              </a:r>
              <a:r>
                <a:rPr kumimoji="1" lang="en-US" altLang="zh-CN" sz="1800" b="1" dirty="0">
                  <a:solidFill>
                    <a:srgbClr val="0000CC"/>
                  </a:solidFill>
                  <a:latin typeface="+mn-lt"/>
                  <a:ea typeface="黑体" panose="02010609060101010101" pitchFamily="2" charset="-122"/>
                </a:rPr>
                <a:t>R</a:t>
              </a:r>
              <a:r>
                <a:rPr kumimoji="1" lang="en-US" altLang="zh-CN" sz="1800" b="1" baseline="-25000" dirty="0">
                  <a:solidFill>
                    <a:srgbClr val="0000CC"/>
                  </a:solidFill>
                  <a:latin typeface="+mn-lt"/>
                  <a:ea typeface="黑体" panose="02010609060101010101" pitchFamily="2" charset="-122"/>
                </a:rPr>
                <a:t>2</a:t>
              </a:r>
            </a:p>
          </p:txBody>
        </p:sp>
        <p:sp>
          <p:nvSpPr>
            <p:cNvPr id="140"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41"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42"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43"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44"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45"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1" fill="hold" grpId="0"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p:stCondLst>
                              <p:cond delay="3000"/>
                            </p:stCondLst>
                            <p:childTnLst>
                              <p:par>
                                <p:cTn id="16" presetID="22" presetClass="entr" presetSubtype="4" fill="hold" grpId="0"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p:stCondLst>
                              <p:cond delay="4000"/>
                            </p:stCondLst>
                            <p:childTnLst>
                              <p:par>
                                <p:cTn id="20" presetID="22" presetClass="entr" presetSubtype="1" fill="hold" grpId="0"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p:stCondLst>
                              <p:cond delay="5000"/>
                            </p:stCondLst>
                            <p:childTnLst>
                              <p:par>
                                <p:cTn id="24" presetID="22" presetClass="entr" presetSubtype="8" fill="hold" grpId="0"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p:stCondLst>
                              <p:cond delay="6000"/>
                            </p:stCondLst>
                            <p:childTnLst>
                              <p:par>
                                <p:cTn id="28" presetID="22" presetClass="entr" presetSubtype="4" fill="hold" grpId="0"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p:stCondLst>
                              <p:cond delay="7000"/>
                            </p:stCondLst>
                            <p:childTnLst>
                              <p:par>
                                <p:cTn id="32" presetID="22" presetClass="entr" presetSubtype="1" fill="hold" grpId="0"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p:stCondLst>
                              <p:cond delay="8000"/>
                            </p:stCondLst>
                            <p:childTnLst>
                              <p:par>
                                <p:cTn id="36" presetID="22" presetClass="entr" presetSubtype="8" fill="hold" grpId="0"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p:stCondLst>
                              <p:cond delay="9000"/>
                            </p:stCondLst>
                            <p:childTnLst>
                              <p:par>
                                <p:cTn id="40" presetID="22" presetClass="entr" presetSubtype="4" fill="hold" grpId="0"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P spid="220319" grpId="0" animBg="1"/>
      <p:bldP spid="220321" grpId="0" animBg="1"/>
      <p:bldP spid="220323" grpId="0" animBg="1"/>
      <p:bldP spid="220324" grpId="0" animBg="1"/>
      <p:bldP spid="220325" grpId="0" animBg="1"/>
      <p:bldP spid="220328" grpId="0" animBg="1"/>
      <p:bldP spid="220329" grpId="0" animBg="1"/>
      <p:bldP spid="220330" grpId="0" animBg="1"/>
      <p:bldP spid="220331"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787" name="Text Box 107"/>
          <p:cNvSpPr txBox="1">
            <a:spLocks noChangeArrowheads="1"/>
          </p:cNvSpPr>
          <p:nvPr/>
        </p:nvSpPr>
        <p:spPr bwMode="auto">
          <a:xfrm>
            <a:off x="2576736" y="44450"/>
            <a:ext cx="5934510" cy="523220"/>
          </a:xfrm>
          <a:prstGeom prst="rect">
            <a:avLst/>
          </a:prstGeom>
          <a:solidFill>
            <a:srgbClr val="FFFF00"/>
          </a:solidFill>
          <a:ln w="9525">
            <a:solidFill>
              <a:srgbClr val="333399"/>
            </a:solidFill>
            <a:miter lim="800000"/>
          </a:ln>
          <a:effectLst/>
        </p:spPr>
        <p:txBody>
          <a:bodyPr wrap="none">
            <a:spAutoFit/>
          </a:bodyPr>
          <a:lstStyle>
            <a:defPPr>
              <a:defRPr lang="en-US"/>
            </a:defPPr>
            <a:lvl1pPr>
              <a:defRPr sz="2800" b="1">
                <a:solidFill>
                  <a:srgbClr val="000099"/>
                </a:solidFill>
                <a:latin typeface="+mn-lt"/>
                <a:ea typeface="黑体" panose="02010609060101010101" pitchFamily="2" charset="-122"/>
              </a:defRPr>
            </a:lvl1pPr>
          </a:lstStyle>
          <a:p>
            <a:r>
              <a:rPr lang="zh-CN" altLang="en-US"/>
              <a:t>从虚拟的 </a:t>
            </a:r>
            <a:r>
              <a:rPr lang="en-US" altLang="zh-CN"/>
              <a:t>IP </a:t>
            </a:r>
            <a:r>
              <a:rPr lang="zh-CN" altLang="en-US"/>
              <a:t>层上看 </a:t>
            </a:r>
            <a:r>
              <a:rPr lang="en-US" altLang="zh-CN"/>
              <a:t>IP </a:t>
            </a:r>
            <a:r>
              <a:rPr lang="zh-CN" altLang="en-US"/>
              <a:t>数据报的流动</a:t>
            </a:r>
          </a:p>
        </p:txBody>
      </p:sp>
      <p:grpSp>
        <p:nvGrpSpPr>
          <p:cNvPr id="111" name="组合 110"/>
          <p:cNvGrpSpPr/>
          <p:nvPr/>
        </p:nvGrpSpPr>
        <p:grpSpPr>
          <a:xfrm>
            <a:off x="104908" y="116632"/>
            <a:ext cx="9663509" cy="1658194"/>
            <a:chOff x="104908" y="116632"/>
            <a:chExt cx="9663509" cy="1658194"/>
          </a:xfrm>
        </p:grpSpPr>
        <p:sp>
          <p:nvSpPr>
            <p:cNvPr id="112" name="Freeform 2"/>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Freeform 3"/>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4"/>
            <p:cNvSpPr>
              <a:spLocks noChangeShapeType="1"/>
            </p:cNvSpPr>
            <p:nvPr/>
          </p:nvSpPr>
          <p:spPr bwMode="auto">
            <a:xfrm rot="-5400000">
              <a:off x="907520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Line 5"/>
            <p:cNvSpPr>
              <a:spLocks noChangeShapeType="1"/>
            </p:cNvSpPr>
            <p:nvPr/>
          </p:nvSpPr>
          <p:spPr bwMode="auto">
            <a:xfrm rot="-5400000">
              <a:off x="24235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6" name="Line 6"/>
            <p:cNvSpPr>
              <a:spLocks noChangeShapeType="1"/>
            </p:cNvSpPr>
            <p:nvPr/>
          </p:nvSpPr>
          <p:spPr bwMode="auto">
            <a:xfrm>
              <a:off x="252811" y="1773238"/>
              <a:ext cx="280326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18"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9"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20"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21" name="Line 11"/>
            <p:cNvSpPr>
              <a:spLocks noChangeShapeType="1"/>
            </p:cNvSpPr>
            <p:nvPr/>
          </p:nvSpPr>
          <p:spPr bwMode="auto">
            <a:xfrm>
              <a:off x="6540368" y="1773238"/>
              <a:ext cx="3143779"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2"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23"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1</a:t>
              </a:r>
              <a:endParaRPr kumimoji="1" lang="en-US" altLang="zh-CN" sz="1800" b="1" dirty="0">
                <a:solidFill>
                  <a:srgbClr val="0000CC"/>
                </a:solidFill>
                <a:latin typeface="+mn-lt"/>
                <a:ea typeface="黑体" panose="02010609060101010101" pitchFamily="2" charset="-122"/>
              </a:endParaRPr>
            </a:p>
          </p:txBody>
        </p:sp>
        <p:sp>
          <p:nvSpPr>
            <p:cNvPr id="124"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2</a:t>
              </a:r>
              <a:endParaRPr kumimoji="1" lang="en-US" altLang="zh-CN" sz="1800" b="1" dirty="0">
                <a:solidFill>
                  <a:srgbClr val="0000CC"/>
                </a:solidFill>
                <a:latin typeface="+mn-lt"/>
                <a:ea typeface="黑体" panose="02010609060101010101" pitchFamily="2" charset="-122"/>
              </a:endParaRPr>
            </a:p>
          </p:txBody>
        </p:sp>
        <p:sp>
          <p:nvSpPr>
            <p:cNvPr id="125" name="Line 15"/>
            <p:cNvSpPr>
              <a:spLocks noChangeShapeType="1"/>
            </p:cNvSpPr>
            <p:nvPr/>
          </p:nvSpPr>
          <p:spPr bwMode="auto">
            <a:xfrm>
              <a:off x="3566848" y="1773238"/>
              <a:ext cx="2462742"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6" name="Freeform 16"/>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7" name="Freeform 17"/>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8"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p>
          </p:txBody>
        </p:sp>
        <p:pic>
          <p:nvPicPr>
            <p:cNvPr id="129"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0"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ln>
            <a:effectLst/>
          </p:spPr>
          <p:txBody>
            <a:bodyPr rot="10800000" wrap="none" anchor="ctr"/>
            <a:lstStyle/>
            <a:p>
              <a:pPr algn="ctr"/>
              <a:r>
                <a:rPr kumimoji="1" lang="en-US" altLang="zh-CN" b="1" dirty="0">
                  <a:solidFill>
                    <a:srgbClr val="0000CC"/>
                  </a:solidFill>
                  <a:ea typeface="黑体" panose="02010609060101010101" pitchFamily="2" charset="-122"/>
                </a:rPr>
                <a:t>HA</a:t>
              </a:r>
              <a:r>
                <a:rPr kumimoji="1" lang="zh-CN" altLang="en-US" b="1" dirty="0">
                  <a:solidFill>
                    <a:srgbClr val="0000CC"/>
                  </a:solidFill>
                  <a:ea typeface="黑体" panose="02010609060101010101" pitchFamily="2" charset="-122"/>
                </a:rPr>
                <a:t>为硬件地址</a:t>
              </a:r>
            </a:p>
          </p:txBody>
        </p:sp>
        <p:sp>
          <p:nvSpPr>
            <p:cNvPr id="134"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路由器 </a:t>
              </a:r>
              <a:r>
                <a:rPr kumimoji="1" lang="en-US" altLang="zh-CN" sz="1800" b="1" dirty="0">
                  <a:solidFill>
                    <a:srgbClr val="0000CC"/>
                  </a:solidFill>
                  <a:latin typeface="+mn-lt"/>
                  <a:ea typeface="黑体" panose="02010609060101010101" pitchFamily="2" charset="-122"/>
                </a:rPr>
                <a:t>R</a:t>
              </a:r>
              <a:r>
                <a:rPr kumimoji="1" lang="en-US" altLang="zh-CN" sz="1800" b="1" baseline="-25000" dirty="0">
                  <a:solidFill>
                    <a:srgbClr val="0000CC"/>
                  </a:solidFill>
                  <a:latin typeface="+mn-lt"/>
                  <a:ea typeface="黑体" panose="02010609060101010101" pitchFamily="2" charset="-122"/>
                </a:rPr>
                <a:t>2</a:t>
              </a:r>
            </a:p>
          </p:txBody>
        </p:sp>
        <p:sp>
          <p:nvSpPr>
            <p:cNvPr id="135"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36"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37"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38"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39"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40"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grpSp>
      <p:grpSp>
        <p:nvGrpSpPr>
          <p:cNvPr id="141" name="组合 140"/>
          <p:cNvGrpSpPr/>
          <p:nvPr/>
        </p:nvGrpSpPr>
        <p:grpSpPr>
          <a:xfrm>
            <a:off x="39556" y="2035176"/>
            <a:ext cx="9881923" cy="4352369"/>
            <a:chOff x="39556" y="2035176"/>
            <a:chExt cx="9881923" cy="4352369"/>
          </a:xfrm>
        </p:grpSpPr>
        <p:sp>
          <p:nvSpPr>
            <p:cNvPr id="142"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Line 79"/>
            <p:cNvSpPr>
              <a:spLocks noChangeShapeType="1"/>
            </p:cNvSpPr>
            <p:nvPr/>
          </p:nvSpPr>
          <p:spPr bwMode="auto">
            <a:xfrm rot="-54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5" name="Line 80"/>
            <p:cNvSpPr>
              <a:spLocks noChangeShapeType="1"/>
            </p:cNvSpPr>
            <p:nvPr/>
          </p:nvSpPr>
          <p:spPr bwMode="auto">
            <a:xfrm rot="-54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8"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9"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150" name="Group 85"/>
            <p:cNvGrpSpPr/>
            <p:nvPr/>
          </p:nvGrpSpPr>
          <p:grpSpPr bwMode="auto">
            <a:xfrm>
              <a:off x="39556" y="2420938"/>
              <a:ext cx="9881923" cy="2438400"/>
              <a:chOff x="96" y="1056"/>
              <a:chExt cx="5472" cy="1536"/>
            </a:xfrm>
            <a:solidFill>
              <a:srgbClr val="FFFF66"/>
            </a:solidFill>
          </p:grpSpPr>
          <p:sp>
            <p:nvSpPr>
              <p:cNvPr id="209"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0"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1"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2"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3"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4"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5"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6"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151"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152" name="Group 95"/>
            <p:cNvGrpSpPr/>
            <p:nvPr/>
          </p:nvGrpSpPr>
          <p:grpSpPr bwMode="auto">
            <a:xfrm>
              <a:off x="247650" y="2420938"/>
              <a:ext cx="742950" cy="1447800"/>
              <a:chOff x="672" y="528"/>
              <a:chExt cx="432" cy="912"/>
            </a:xfrm>
          </p:grpSpPr>
          <p:sp>
            <p:nvSpPr>
              <p:cNvPr id="20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53"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54"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55"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56"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57"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58"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9"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0"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61"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62"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63"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64"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65"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6"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67"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168"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169" name="Group 115"/>
            <p:cNvGrpSpPr/>
            <p:nvPr/>
          </p:nvGrpSpPr>
          <p:grpSpPr bwMode="auto">
            <a:xfrm>
              <a:off x="8832850" y="2420938"/>
              <a:ext cx="742950" cy="1447800"/>
              <a:chOff x="672" y="528"/>
              <a:chExt cx="432" cy="912"/>
            </a:xfrm>
          </p:grpSpPr>
          <p:sp>
            <p:nvSpPr>
              <p:cNvPr id="203"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4"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5"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70"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71"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72"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73"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4"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5"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6"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77"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8"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9"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0"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181" name="Group 130"/>
            <p:cNvGrpSpPr/>
            <p:nvPr/>
          </p:nvGrpSpPr>
          <p:grpSpPr bwMode="auto">
            <a:xfrm>
              <a:off x="1238250" y="3154363"/>
              <a:ext cx="1568450" cy="381000"/>
              <a:chOff x="1632" y="2688"/>
              <a:chExt cx="912" cy="240"/>
            </a:xfrm>
          </p:grpSpPr>
          <p:sp>
            <p:nvSpPr>
              <p:cNvPr id="20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20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2" name="Group 133"/>
            <p:cNvGrpSpPr/>
            <p:nvPr/>
          </p:nvGrpSpPr>
          <p:grpSpPr bwMode="auto">
            <a:xfrm>
              <a:off x="4044950" y="3154363"/>
              <a:ext cx="1568450" cy="381000"/>
              <a:chOff x="1632" y="2688"/>
              <a:chExt cx="912" cy="240"/>
            </a:xfrm>
          </p:grpSpPr>
          <p:sp>
            <p:nvSpPr>
              <p:cNvPr id="199"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200"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3" name="Group 136"/>
            <p:cNvGrpSpPr/>
            <p:nvPr/>
          </p:nvGrpSpPr>
          <p:grpSpPr bwMode="auto">
            <a:xfrm>
              <a:off x="7016750" y="3154363"/>
              <a:ext cx="1568450" cy="381000"/>
              <a:chOff x="1632" y="2688"/>
              <a:chExt cx="912" cy="240"/>
            </a:xfrm>
          </p:grpSpPr>
          <p:sp>
            <p:nvSpPr>
              <p:cNvPr id="1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4" name="Group 139"/>
            <p:cNvGrpSpPr/>
            <p:nvPr/>
          </p:nvGrpSpPr>
          <p:grpSpPr bwMode="auto">
            <a:xfrm>
              <a:off x="660400" y="5592763"/>
              <a:ext cx="2146300" cy="381000"/>
              <a:chOff x="480" y="3120"/>
              <a:chExt cx="1248" cy="240"/>
            </a:xfrm>
          </p:grpSpPr>
          <p:sp>
            <p:nvSpPr>
              <p:cNvPr id="195"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196"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5" name="Group 142"/>
            <p:cNvGrpSpPr/>
            <p:nvPr/>
          </p:nvGrpSpPr>
          <p:grpSpPr bwMode="auto">
            <a:xfrm>
              <a:off x="3797300" y="5592763"/>
              <a:ext cx="2146300" cy="381000"/>
              <a:chOff x="480" y="3120"/>
              <a:chExt cx="1248" cy="240"/>
            </a:xfrm>
          </p:grpSpPr>
          <p:sp>
            <p:nvSpPr>
              <p:cNvPr id="19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9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6" name="Group 145"/>
            <p:cNvGrpSpPr/>
            <p:nvPr/>
          </p:nvGrpSpPr>
          <p:grpSpPr bwMode="auto">
            <a:xfrm>
              <a:off x="6934200" y="5592763"/>
              <a:ext cx="2146300" cy="381000"/>
              <a:chOff x="480" y="3120"/>
              <a:chExt cx="1248" cy="240"/>
            </a:xfrm>
          </p:grpSpPr>
          <p:sp>
            <p:nvSpPr>
              <p:cNvPr id="191"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92"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87"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88"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89"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90"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 </a:t>
              </a:r>
              <a:r>
                <a:rPr kumimoji="1" lang="zh-CN" altLang="en-US" sz="1800" b="1">
                  <a:solidFill>
                    <a:srgbClr val="0000CC"/>
                  </a:solidFill>
                  <a:latin typeface="+mn-lt"/>
                  <a:ea typeface="黑体" panose="02010609060101010101" pitchFamily="2" charset="-122"/>
                </a:rPr>
                <a:t>数据报</a:t>
              </a:r>
            </a:p>
          </p:txBody>
        </p:sp>
      </p:grpSp>
      <p:sp>
        <p:nvSpPr>
          <p:cNvPr id="455797" name="Line 117"/>
          <p:cNvSpPr>
            <a:spLocks noChangeShapeType="1"/>
          </p:cNvSpPr>
          <p:nvPr/>
        </p:nvSpPr>
        <p:spPr bwMode="auto">
          <a:xfrm>
            <a:off x="662121" y="3500438"/>
            <a:ext cx="2574528"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55798" name="Line 118"/>
          <p:cNvSpPr>
            <a:spLocks noChangeShapeType="1"/>
          </p:cNvSpPr>
          <p:nvPr/>
        </p:nvSpPr>
        <p:spPr bwMode="auto">
          <a:xfrm>
            <a:off x="3470539" y="3500438"/>
            <a:ext cx="2574529"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55799" name="Line 119"/>
          <p:cNvSpPr>
            <a:spLocks noChangeShapeType="1"/>
          </p:cNvSpPr>
          <p:nvPr/>
        </p:nvSpPr>
        <p:spPr bwMode="auto">
          <a:xfrm>
            <a:off x="6435460" y="3500438"/>
            <a:ext cx="2574529"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grpId="0"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p:stCondLst>
                              <p:cond delay="2000"/>
                            </p:stCondLst>
                            <p:childTnLst>
                              <p:par>
                                <p:cTn id="12" presetID="22" presetClass="entr" presetSubtype="8" fill="hold" grpId="0"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p:stCondLst>
                              <p:cond delay="3500"/>
                            </p:stCondLst>
                            <p:childTnLst>
                              <p:par>
                                <p:cTn id="16" presetID="22" presetClass="entr" presetSubtype="8" fill="hold" grpId="0"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P spid="455797" grpId="0" animBg="1"/>
      <p:bldP spid="455798" grpId="0" animBg="1"/>
      <p:bldP spid="455799"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835" name="Text Box 107"/>
          <p:cNvSpPr txBox="1">
            <a:spLocks noChangeArrowheads="1"/>
          </p:cNvSpPr>
          <p:nvPr/>
        </p:nvSpPr>
        <p:spPr bwMode="auto">
          <a:xfrm>
            <a:off x="2952618" y="52389"/>
            <a:ext cx="4448654" cy="523220"/>
          </a:xfrm>
          <a:prstGeom prst="rect">
            <a:avLst/>
          </a:prstGeom>
          <a:solidFill>
            <a:srgbClr val="FFFF00"/>
          </a:solidFill>
          <a:ln w="9525">
            <a:solidFill>
              <a:srgbClr val="333399"/>
            </a:solidFill>
            <a:miter lim="800000"/>
          </a:ln>
          <a:effectLst/>
        </p:spPr>
        <p:txBody>
          <a:bodyPr wrap="none">
            <a:spAutoFit/>
          </a:bodyPr>
          <a:lstStyle>
            <a:defPPr>
              <a:defRPr lang="en-US"/>
            </a:defPPr>
            <a:lvl1pPr>
              <a:defRPr sz="2800" b="1">
                <a:solidFill>
                  <a:srgbClr val="000099"/>
                </a:solidFill>
                <a:latin typeface="+mn-lt"/>
                <a:ea typeface="黑体" panose="02010609060101010101" pitchFamily="2" charset="-122"/>
              </a:defRPr>
            </a:lvl1pPr>
          </a:lstStyle>
          <a:p>
            <a:r>
              <a:rPr lang="zh-CN" altLang="en-US"/>
              <a:t>在链路上看 </a:t>
            </a:r>
            <a:r>
              <a:rPr lang="en-US" altLang="zh-CN"/>
              <a:t>MAC </a:t>
            </a:r>
            <a:r>
              <a:rPr lang="zh-CN" altLang="en-US"/>
              <a:t>帧的流动</a:t>
            </a:r>
          </a:p>
        </p:txBody>
      </p:sp>
      <p:grpSp>
        <p:nvGrpSpPr>
          <p:cNvPr id="111" name="组合 110"/>
          <p:cNvGrpSpPr/>
          <p:nvPr/>
        </p:nvGrpSpPr>
        <p:grpSpPr>
          <a:xfrm>
            <a:off x="104908" y="116632"/>
            <a:ext cx="9663509" cy="1658194"/>
            <a:chOff x="104908" y="116632"/>
            <a:chExt cx="9663509" cy="1658194"/>
          </a:xfrm>
        </p:grpSpPr>
        <p:sp>
          <p:nvSpPr>
            <p:cNvPr id="112" name="Freeform 2"/>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Freeform 3"/>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4"/>
            <p:cNvSpPr>
              <a:spLocks noChangeShapeType="1"/>
            </p:cNvSpPr>
            <p:nvPr/>
          </p:nvSpPr>
          <p:spPr bwMode="auto">
            <a:xfrm rot="-5400000">
              <a:off x="907520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Line 5"/>
            <p:cNvSpPr>
              <a:spLocks noChangeShapeType="1"/>
            </p:cNvSpPr>
            <p:nvPr/>
          </p:nvSpPr>
          <p:spPr bwMode="auto">
            <a:xfrm rot="-5400000">
              <a:off x="242359" y="1504818"/>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6" name="Line 6"/>
            <p:cNvSpPr>
              <a:spLocks noChangeShapeType="1"/>
            </p:cNvSpPr>
            <p:nvPr/>
          </p:nvSpPr>
          <p:spPr bwMode="auto">
            <a:xfrm>
              <a:off x="252811" y="1773238"/>
              <a:ext cx="280326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18"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9"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20"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21" name="Line 11"/>
            <p:cNvSpPr>
              <a:spLocks noChangeShapeType="1"/>
            </p:cNvSpPr>
            <p:nvPr/>
          </p:nvSpPr>
          <p:spPr bwMode="auto">
            <a:xfrm>
              <a:off x="6540368" y="1773238"/>
              <a:ext cx="3143779"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2"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23"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1</a:t>
              </a:r>
              <a:endParaRPr kumimoji="1" lang="en-US" altLang="zh-CN" sz="1800" b="1" dirty="0">
                <a:solidFill>
                  <a:srgbClr val="0000CC"/>
                </a:solidFill>
                <a:latin typeface="+mn-lt"/>
                <a:ea typeface="黑体" panose="02010609060101010101" pitchFamily="2" charset="-122"/>
              </a:endParaRPr>
            </a:p>
          </p:txBody>
        </p:sp>
        <p:sp>
          <p:nvSpPr>
            <p:cNvPr id="124"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主机 </a:t>
              </a:r>
              <a:r>
                <a:rPr kumimoji="1" lang="en-US" altLang="zh-CN" sz="1800" b="1" dirty="0">
                  <a:solidFill>
                    <a:srgbClr val="0000CC"/>
                  </a:solidFill>
                  <a:latin typeface="+mn-lt"/>
                  <a:ea typeface="黑体" panose="02010609060101010101" pitchFamily="2" charset="-122"/>
                </a:rPr>
                <a:t>H</a:t>
              </a:r>
              <a:r>
                <a:rPr kumimoji="1" lang="en-US" altLang="zh-CN" sz="1800" b="1" baseline="-25000" dirty="0">
                  <a:solidFill>
                    <a:srgbClr val="0000CC"/>
                  </a:solidFill>
                  <a:latin typeface="+mn-lt"/>
                  <a:ea typeface="黑体" panose="02010609060101010101" pitchFamily="2" charset="-122"/>
                </a:rPr>
                <a:t>2</a:t>
              </a:r>
              <a:endParaRPr kumimoji="1" lang="en-US" altLang="zh-CN" sz="1800" b="1" dirty="0">
                <a:solidFill>
                  <a:srgbClr val="0000CC"/>
                </a:solidFill>
                <a:latin typeface="+mn-lt"/>
                <a:ea typeface="黑体" panose="02010609060101010101" pitchFamily="2" charset="-122"/>
              </a:endParaRPr>
            </a:p>
          </p:txBody>
        </p:sp>
        <p:sp>
          <p:nvSpPr>
            <p:cNvPr id="125" name="Line 15"/>
            <p:cNvSpPr>
              <a:spLocks noChangeShapeType="1"/>
            </p:cNvSpPr>
            <p:nvPr/>
          </p:nvSpPr>
          <p:spPr bwMode="auto">
            <a:xfrm>
              <a:off x="3566848" y="1773238"/>
              <a:ext cx="2462742"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6" name="Freeform 16"/>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7" name="Freeform 17"/>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28"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p>
          </p:txBody>
        </p:sp>
        <p:pic>
          <p:nvPicPr>
            <p:cNvPr id="129"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0"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ln>
            <a:effectLst/>
          </p:spPr>
          <p:txBody>
            <a:bodyPr rot="10800000" wrap="none" anchor="ctr"/>
            <a:lstStyle/>
            <a:p>
              <a:pPr algn="ctr"/>
              <a:r>
                <a:rPr kumimoji="1" lang="en-US" altLang="zh-CN" b="1" dirty="0">
                  <a:solidFill>
                    <a:srgbClr val="0000CC"/>
                  </a:solidFill>
                  <a:ea typeface="黑体" panose="02010609060101010101" pitchFamily="2" charset="-122"/>
                </a:rPr>
                <a:t>HA</a:t>
              </a:r>
              <a:r>
                <a:rPr kumimoji="1" lang="zh-CN" altLang="en-US" b="1" dirty="0">
                  <a:solidFill>
                    <a:srgbClr val="0000CC"/>
                  </a:solidFill>
                  <a:ea typeface="黑体" panose="02010609060101010101" pitchFamily="2" charset="-122"/>
                </a:rPr>
                <a:t>为硬件地址</a:t>
              </a:r>
            </a:p>
          </p:txBody>
        </p:sp>
        <p:sp>
          <p:nvSpPr>
            <p:cNvPr id="134"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anose="02010609060101010101" pitchFamily="2" charset="-122"/>
                </a:rPr>
                <a:t>路由器 </a:t>
              </a:r>
              <a:r>
                <a:rPr kumimoji="1" lang="en-US" altLang="zh-CN" sz="1800" b="1" dirty="0">
                  <a:solidFill>
                    <a:srgbClr val="0000CC"/>
                  </a:solidFill>
                  <a:latin typeface="+mn-lt"/>
                  <a:ea typeface="黑体" panose="02010609060101010101" pitchFamily="2" charset="-122"/>
                </a:rPr>
                <a:t>R</a:t>
              </a:r>
              <a:r>
                <a:rPr kumimoji="1" lang="en-US" altLang="zh-CN" sz="1800" b="1" baseline="-25000" dirty="0">
                  <a:solidFill>
                    <a:srgbClr val="0000CC"/>
                  </a:solidFill>
                  <a:latin typeface="+mn-lt"/>
                  <a:ea typeface="黑体" panose="02010609060101010101" pitchFamily="2" charset="-122"/>
                </a:rPr>
                <a:t>2</a:t>
              </a:r>
            </a:p>
          </p:txBody>
        </p:sp>
        <p:sp>
          <p:nvSpPr>
            <p:cNvPr id="135"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36"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37"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38"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39"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sp>
          <p:nvSpPr>
            <p:cNvPr id="140"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局域网</a:t>
              </a:r>
              <a:endParaRPr kumimoji="1" lang="zh-CN" altLang="en-US" sz="1800" b="1" baseline="-25000">
                <a:solidFill>
                  <a:srgbClr val="0000CC"/>
                </a:solidFill>
                <a:latin typeface="+mn-lt"/>
                <a:ea typeface="黑体" panose="02010609060101010101" pitchFamily="2" charset="-122"/>
              </a:endParaRPr>
            </a:p>
          </p:txBody>
        </p:sp>
      </p:grpSp>
      <p:grpSp>
        <p:nvGrpSpPr>
          <p:cNvPr id="141" name="组合 140"/>
          <p:cNvGrpSpPr/>
          <p:nvPr/>
        </p:nvGrpSpPr>
        <p:grpSpPr>
          <a:xfrm>
            <a:off x="39556" y="2035176"/>
            <a:ext cx="9881923" cy="4352369"/>
            <a:chOff x="39556" y="2035176"/>
            <a:chExt cx="9881923" cy="4352369"/>
          </a:xfrm>
        </p:grpSpPr>
        <p:sp>
          <p:nvSpPr>
            <p:cNvPr id="142"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Line 79"/>
            <p:cNvSpPr>
              <a:spLocks noChangeShapeType="1"/>
            </p:cNvSpPr>
            <p:nvPr/>
          </p:nvSpPr>
          <p:spPr bwMode="auto">
            <a:xfrm rot="-54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5" name="Line 80"/>
            <p:cNvSpPr>
              <a:spLocks noChangeShapeType="1"/>
            </p:cNvSpPr>
            <p:nvPr/>
          </p:nvSpPr>
          <p:spPr bwMode="auto">
            <a:xfrm rot="-54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8"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9"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150" name="Group 85"/>
            <p:cNvGrpSpPr/>
            <p:nvPr/>
          </p:nvGrpSpPr>
          <p:grpSpPr bwMode="auto">
            <a:xfrm>
              <a:off x="39556" y="2420938"/>
              <a:ext cx="9881923" cy="2438400"/>
              <a:chOff x="96" y="1056"/>
              <a:chExt cx="5472" cy="1536"/>
            </a:xfrm>
            <a:solidFill>
              <a:srgbClr val="FFFF66"/>
            </a:solidFill>
          </p:grpSpPr>
          <p:sp>
            <p:nvSpPr>
              <p:cNvPr id="209"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0"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1"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2"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3"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4"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5"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216"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151"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152" name="Group 95"/>
            <p:cNvGrpSpPr/>
            <p:nvPr/>
          </p:nvGrpSpPr>
          <p:grpSpPr bwMode="auto">
            <a:xfrm>
              <a:off x="247650" y="2420938"/>
              <a:ext cx="742950" cy="1447800"/>
              <a:chOff x="672" y="528"/>
              <a:chExt cx="432" cy="912"/>
            </a:xfrm>
          </p:grpSpPr>
          <p:sp>
            <p:nvSpPr>
              <p:cNvPr id="20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53"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54"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55"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56"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57"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58"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9"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0"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61"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62"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63"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64"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65"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6"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67"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168"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169" name="Group 115"/>
            <p:cNvGrpSpPr/>
            <p:nvPr/>
          </p:nvGrpSpPr>
          <p:grpSpPr bwMode="auto">
            <a:xfrm>
              <a:off x="8832850" y="2420938"/>
              <a:ext cx="742950" cy="1447800"/>
              <a:chOff x="672" y="528"/>
              <a:chExt cx="432" cy="912"/>
            </a:xfrm>
          </p:grpSpPr>
          <p:sp>
            <p:nvSpPr>
              <p:cNvPr id="203"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4"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5"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70"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71"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72"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73"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4"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5"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6"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77"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8"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9"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0"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181" name="Group 130"/>
            <p:cNvGrpSpPr/>
            <p:nvPr/>
          </p:nvGrpSpPr>
          <p:grpSpPr bwMode="auto">
            <a:xfrm>
              <a:off x="1238250" y="3154363"/>
              <a:ext cx="1568450" cy="381000"/>
              <a:chOff x="1632" y="2688"/>
              <a:chExt cx="912" cy="240"/>
            </a:xfrm>
          </p:grpSpPr>
          <p:sp>
            <p:nvSpPr>
              <p:cNvPr id="20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20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2" name="Group 133"/>
            <p:cNvGrpSpPr/>
            <p:nvPr/>
          </p:nvGrpSpPr>
          <p:grpSpPr bwMode="auto">
            <a:xfrm>
              <a:off x="4044950" y="3154363"/>
              <a:ext cx="1568450" cy="381000"/>
              <a:chOff x="1632" y="2688"/>
              <a:chExt cx="912" cy="240"/>
            </a:xfrm>
          </p:grpSpPr>
          <p:sp>
            <p:nvSpPr>
              <p:cNvPr id="199"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200"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3" name="Group 136"/>
            <p:cNvGrpSpPr/>
            <p:nvPr/>
          </p:nvGrpSpPr>
          <p:grpSpPr bwMode="auto">
            <a:xfrm>
              <a:off x="7016750" y="3154363"/>
              <a:ext cx="1568450" cy="381000"/>
              <a:chOff x="1632" y="2688"/>
              <a:chExt cx="912" cy="240"/>
            </a:xfrm>
          </p:grpSpPr>
          <p:sp>
            <p:nvSpPr>
              <p:cNvPr id="1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4" name="Group 139"/>
            <p:cNvGrpSpPr/>
            <p:nvPr/>
          </p:nvGrpSpPr>
          <p:grpSpPr bwMode="auto">
            <a:xfrm>
              <a:off x="660400" y="5592763"/>
              <a:ext cx="2146300" cy="381000"/>
              <a:chOff x="480" y="3120"/>
              <a:chExt cx="1248" cy="240"/>
            </a:xfrm>
          </p:grpSpPr>
          <p:sp>
            <p:nvSpPr>
              <p:cNvPr id="195"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196"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5" name="Group 142"/>
            <p:cNvGrpSpPr/>
            <p:nvPr/>
          </p:nvGrpSpPr>
          <p:grpSpPr bwMode="auto">
            <a:xfrm>
              <a:off x="3797300" y="5592763"/>
              <a:ext cx="2146300" cy="381000"/>
              <a:chOff x="480" y="3120"/>
              <a:chExt cx="1248" cy="240"/>
            </a:xfrm>
          </p:grpSpPr>
          <p:sp>
            <p:nvSpPr>
              <p:cNvPr id="19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9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86" name="Group 145"/>
            <p:cNvGrpSpPr/>
            <p:nvPr/>
          </p:nvGrpSpPr>
          <p:grpSpPr bwMode="auto">
            <a:xfrm>
              <a:off x="6934200" y="5592763"/>
              <a:ext cx="2146300" cy="381000"/>
              <a:chOff x="480" y="3120"/>
              <a:chExt cx="1248" cy="240"/>
            </a:xfrm>
          </p:grpSpPr>
          <p:sp>
            <p:nvSpPr>
              <p:cNvPr id="191"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92"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87"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88"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89"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90"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 </a:t>
              </a:r>
              <a:r>
                <a:rPr kumimoji="1" lang="zh-CN" altLang="en-US" sz="1800" b="1">
                  <a:solidFill>
                    <a:srgbClr val="0000CC"/>
                  </a:solidFill>
                  <a:latin typeface="+mn-lt"/>
                  <a:ea typeface="黑体" panose="02010609060101010101" pitchFamily="2" charset="-122"/>
                </a:rPr>
                <a:t>数据报</a:t>
              </a:r>
            </a:p>
          </p:txBody>
        </p:sp>
      </p:grpSp>
      <p:sp>
        <p:nvSpPr>
          <p:cNvPr id="457836" name="Line 108"/>
          <p:cNvSpPr>
            <a:spLocks noChangeShapeType="1"/>
          </p:cNvSpPr>
          <p:nvPr/>
        </p:nvSpPr>
        <p:spPr bwMode="auto">
          <a:xfrm>
            <a:off x="505619" y="5445125"/>
            <a:ext cx="1951964"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57837" name="Line 109"/>
          <p:cNvSpPr>
            <a:spLocks noChangeShapeType="1"/>
          </p:cNvSpPr>
          <p:nvPr/>
        </p:nvSpPr>
        <p:spPr bwMode="auto">
          <a:xfrm>
            <a:off x="3938323" y="5445125"/>
            <a:ext cx="1405070"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57838" name="Line 110"/>
          <p:cNvSpPr>
            <a:spLocks noChangeShapeType="1"/>
          </p:cNvSpPr>
          <p:nvPr/>
        </p:nvSpPr>
        <p:spPr bwMode="auto">
          <a:xfrm>
            <a:off x="6746744" y="5445125"/>
            <a:ext cx="2340636" cy="0"/>
          </a:xfrm>
          <a:prstGeom prst="line">
            <a:avLst/>
          </a:prstGeom>
          <a:noFill/>
          <a:ln w="7620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grpId="0"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p:stCondLst>
                              <p:cond delay="2000"/>
                            </p:stCondLst>
                            <p:childTnLst>
                              <p:par>
                                <p:cTn id="12" presetID="22" presetClass="entr" presetSubtype="8" fill="hold" grpId="0"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p:stCondLst>
                              <p:cond delay="3500"/>
                            </p:stCondLst>
                            <p:childTnLst>
                              <p:par>
                                <p:cTn id="16" presetID="22" presetClass="entr" presetSubtype="8" fill="hold" grpId="0"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P spid="457836" grpId="0" animBg="1"/>
      <p:bldP spid="457837" grpId="0" animBg="1"/>
      <p:bldP spid="457838"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513988" y="317672"/>
            <a:ext cx="8919301" cy="1473673"/>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800" b="1" dirty="0">
                <a:solidFill>
                  <a:srgbClr val="000099"/>
                </a:solidFill>
                <a:latin typeface="+mn-lt"/>
                <a:ea typeface="黑体" panose="02010609060101010101" pitchFamily="2" charset="-122"/>
              </a:rPr>
              <a:t>在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层抽象的互联网上只能看到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数据报。</a:t>
            </a:r>
          </a:p>
          <a:p>
            <a:pPr algn="ctr">
              <a:lnSpc>
                <a:spcPct val="110000"/>
              </a:lnSpc>
            </a:pPr>
            <a:r>
              <a:rPr lang="zh-CN" altLang="en-US" sz="2800" b="1" dirty="0">
                <a:solidFill>
                  <a:srgbClr val="000099"/>
                </a:solidFill>
                <a:latin typeface="+mn-lt"/>
                <a:ea typeface="黑体" panose="02010609060101010101" pitchFamily="2" charset="-122"/>
              </a:rPr>
              <a:t>图中的  </a:t>
            </a:r>
            <a:r>
              <a:rPr lang="en-US" altLang="zh-CN" sz="2800" b="1" dirty="0">
                <a:solidFill>
                  <a:srgbClr val="000099"/>
                </a:solidFill>
                <a:latin typeface="+mn-lt"/>
                <a:ea typeface="黑体" panose="02010609060101010101" pitchFamily="2" charset="-122"/>
              </a:rPr>
              <a:t>IP</a:t>
            </a:r>
            <a:r>
              <a:rPr lang="en-US" altLang="zh-CN" sz="2800" b="1" baseline="-25000" dirty="0">
                <a:solidFill>
                  <a:srgbClr val="000099"/>
                </a:solidFill>
                <a:latin typeface="+mn-lt"/>
                <a:ea typeface="黑体" panose="02010609060101010101" pitchFamily="2" charset="-122"/>
              </a:rPr>
              <a:t>1</a:t>
            </a:r>
            <a:r>
              <a:rPr lang="en-US" altLang="zh-CN" sz="2800" b="1" dirty="0">
                <a:solidFill>
                  <a:srgbClr val="000099"/>
                </a:solidFill>
                <a:latin typeface="+mn-lt"/>
                <a:ea typeface="黑体" panose="02010609060101010101" pitchFamily="2" charset="-122"/>
              </a:rPr>
              <a:t>→IP</a:t>
            </a:r>
            <a:r>
              <a:rPr lang="en-US" altLang="zh-CN" sz="2800" b="1" baseline="-25000" dirty="0">
                <a:solidFill>
                  <a:srgbClr val="000099"/>
                </a:solidFill>
                <a:latin typeface="+mn-lt"/>
                <a:ea typeface="黑体" panose="02010609060101010101" pitchFamily="2" charset="-122"/>
              </a:rPr>
              <a:t>2</a:t>
            </a:r>
            <a:r>
              <a:rPr lang="en-US" altLang="zh-CN" sz="2800" b="1" dirty="0">
                <a:solidFill>
                  <a:srgbClr val="000099"/>
                </a:solidFill>
                <a:latin typeface="+mn-lt"/>
                <a:ea typeface="黑体" panose="02010609060101010101" pitchFamily="2" charset="-122"/>
              </a:rPr>
              <a:t>  </a:t>
            </a:r>
            <a:r>
              <a:rPr lang="zh-CN" altLang="en-US" sz="2800" b="1" dirty="0">
                <a:solidFill>
                  <a:srgbClr val="000099"/>
                </a:solidFill>
                <a:latin typeface="+mn-lt"/>
                <a:ea typeface="黑体" panose="02010609060101010101" pitchFamily="2" charset="-122"/>
              </a:rPr>
              <a:t>表示从源地址 </a:t>
            </a:r>
            <a:r>
              <a:rPr lang="en-US" altLang="zh-CN" sz="2800" b="1" dirty="0">
                <a:solidFill>
                  <a:srgbClr val="000099"/>
                </a:solidFill>
                <a:latin typeface="+mn-lt"/>
                <a:ea typeface="黑体" panose="02010609060101010101" pitchFamily="2" charset="-122"/>
              </a:rPr>
              <a:t>IP</a:t>
            </a:r>
            <a:r>
              <a:rPr lang="en-US" altLang="zh-CN" sz="2800" b="1" baseline="-25000" dirty="0">
                <a:solidFill>
                  <a:srgbClr val="000099"/>
                </a:solidFill>
                <a:latin typeface="+mn-lt"/>
                <a:ea typeface="黑体" panose="02010609060101010101" pitchFamily="2" charset="-122"/>
              </a:rPr>
              <a:t>1</a:t>
            </a:r>
            <a:r>
              <a:rPr lang="en-US" altLang="zh-CN" sz="2800" b="1" dirty="0">
                <a:solidFill>
                  <a:srgbClr val="000099"/>
                </a:solidFill>
                <a:latin typeface="+mn-lt"/>
                <a:ea typeface="黑体" panose="02010609060101010101" pitchFamily="2" charset="-122"/>
              </a:rPr>
              <a:t> </a:t>
            </a:r>
            <a:r>
              <a:rPr lang="zh-CN" altLang="en-US" sz="2800" b="1" dirty="0">
                <a:solidFill>
                  <a:srgbClr val="000099"/>
                </a:solidFill>
                <a:latin typeface="+mn-lt"/>
                <a:ea typeface="黑体" panose="02010609060101010101" pitchFamily="2" charset="-122"/>
              </a:rPr>
              <a:t>到目的地址 </a:t>
            </a:r>
            <a:r>
              <a:rPr lang="en-US" altLang="zh-CN" sz="2800" b="1" dirty="0">
                <a:solidFill>
                  <a:srgbClr val="000099"/>
                </a:solidFill>
                <a:latin typeface="+mn-lt"/>
                <a:ea typeface="黑体" panose="02010609060101010101" pitchFamily="2" charset="-122"/>
              </a:rPr>
              <a:t>IP</a:t>
            </a:r>
            <a:r>
              <a:rPr lang="en-US" altLang="zh-CN" sz="2800" b="1" baseline="-25000" dirty="0">
                <a:solidFill>
                  <a:srgbClr val="000099"/>
                </a:solidFill>
                <a:latin typeface="+mn-lt"/>
                <a:ea typeface="黑体" panose="02010609060101010101" pitchFamily="2" charset="-122"/>
              </a:rPr>
              <a:t>2</a:t>
            </a:r>
            <a:r>
              <a:rPr lang="en-US" altLang="zh-CN" sz="2800" b="1" dirty="0">
                <a:solidFill>
                  <a:srgbClr val="000099"/>
                </a:solidFill>
                <a:latin typeface="+mn-lt"/>
                <a:ea typeface="黑体" panose="02010609060101010101" pitchFamily="2" charset="-122"/>
              </a:rPr>
              <a:t> </a:t>
            </a:r>
            <a:r>
              <a:rPr lang="zh-CN" altLang="en-US" sz="2800" b="1" dirty="0">
                <a:solidFill>
                  <a:srgbClr val="000099"/>
                </a:solidFill>
                <a:latin typeface="+mn-lt"/>
                <a:ea typeface="黑体" panose="02010609060101010101" pitchFamily="2" charset="-122"/>
              </a:rPr>
              <a:t>。</a:t>
            </a:r>
            <a:endParaRPr lang="en-US" altLang="zh-CN" sz="2800" b="1" dirty="0">
              <a:solidFill>
                <a:srgbClr val="000099"/>
              </a:solidFill>
              <a:latin typeface="+mn-lt"/>
              <a:ea typeface="黑体" panose="02010609060101010101" pitchFamily="2" charset="-122"/>
            </a:endParaRPr>
          </a:p>
          <a:p>
            <a:pPr algn="ctr">
              <a:lnSpc>
                <a:spcPct val="110000"/>
              </a:lnSpc>
            </a:pPr>
            <a:r>
              <a:rPr lang="zh-CN" altLang="en-US" sz="2800" b="1" dirty="0">
                <a:solidFill>
                  <a:srgbClr val="C00000"/>
                </a:solidFill>
                <a:latin typeface="+mn-lt"/>
                <a:ea typeface="黑体" panose="02010609060101010101" pitchFamily="2" charset="-122"/>
              </a:rPr>
              <a:t>两个路由器的 </a:t>
            </a:r>
            <a:r>
              <a:rPr lang="en-US" altLang="zh-CN" sz="2800" b="1" dirty="0">
                <a:solidFill>
                  <a:srgbClr val="C00000"/>
                </a:solidFill>
                <a:latin typeface="+mn-lt"/>
                <a:ea typeface="黑体" panose="02010609060101010101" pitchFamily="2" charset="-122"/>
              </a:rPr>
              <a:t>IP </a:t>
            </a:r>
            <a:r>
              <a:rPr lang="zh-CN" altLang="en-US" sz="2800" b="1" dirty="0">
                <a:solidFill>
                  <a:srgbClr val="C00000"/>
                </a:solidFill>
                <a:latin typeface="+mn-lt"/>
                <a:ea typeface="黑体" panose="02010609060101010101" pitchFamily="2" charset="-122"/>
              </a:rPr>
              <a:t>地址并不出现在 </a:t>
            </a:r>
            <a:r>
              <a:rPr lang="en-US" altLang="zh-CN" sz="2800" b="1" dirty="0">
                <a:solidFill>
                  <a:srgbClr val="C00000"/>
                </a:solidFill>
                <a:latin typeface="+mn-lt"/>
                <a:ea typeface="黑体" panose="02010609060101010101" pitchFamily="2" charset="-122"/>
              </a:rPr>
              <a:t>IP </a:t>
            </a:r>
            <a:r>
              <a:rPr lang="zh-CN" altLang="en-US" sz="2800" b="1" dirty="0">
                <a:solidFill>
                  <a:srgbClr val="C00000"/>
                </a:solidFill>
                <a:latin typeface="+mn-lt"/>
                <a:ea typeface="黑体" panose="02010609060101010101" pitchFamily="2" charset="-122"/>
              </a:rPr>
              <a:t>数据报的首部中。 </a:t>
            </a:r>
          </a:p>
        </p:txBody>
      </p:sp>
      <p:grpSp>
        <p:nvGrpSpPr>
          <p:cNvPr id="3" name="组合 2"/>
          <p:cNvGrpSpPr/>
          <p:nvPr/>
        </p:nvGrpSpPr>
        <p:grpSpPr>
          <a:xfrm>
            <a:off x="39556" y="2035176"/>
            <a:ext cx="9881923" cy="4352369"/>
            <a:chOff x="39556" y="2035176"/>
            <a:chExt cx="9881923" cy="4352369"/>
          </a:xfrm>
        </p:grpSpPr>
        <p:sp>
          <p:nvSpPr>
            <p:cNvPr id="81"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2"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89" name="Group 85"/>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91" name="Group 95"/>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108" name="Group 115"/>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8"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123" name="Group 139"/>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4" name="Group 142"/>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5" name="Group 145"/>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1" name="Group 133"/>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2" name="Group 136"/>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anose="02010609060101010101" pitchFamily="2" charset="-122"/>
                </a:rPr>
                <a:t>IP </a:t>
              </a:r>
              <a:r>
                <a:rPr kumimoji="1" lang="zh-CN" altLang="en-US" sz="1800" b="1" dirty="0">
                  <a:solidFill>
                    <a:srgbClr val="0000CC"/>
                  </a:solidFill>
                  <a:latin typeface="+mn-lt"/>
                  <a:ea typeface="黑体" panose="02010609060101010101" pitchFamily="2" charset="-122"/>
                </a:rPr>
                <a:t>数据报</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438460" y="849287"/>
            <a:ext cx="9110123" cy="558038"/>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20000"/>
              </a:lnSpc>
            </a:pPr>
            <a:r>
              <a:rPr lang="zh-CN" altLang="en-US" sz="2800" b="1" dirty="0">
                <a:solidFill>
                  <a:srgbClr val="000099"/>
                </a:solidFill>
                <a:latin typeface="+mn-lt"/>
                <a:ea typeface="黑体" panose="02010609060101010101" pitchFamily="2" charset="-122"/>
              </a:rPr>
              <a:t>路由器只根据目的站的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地址的网络号进行路由选择。 </a:t>
            </a:r>
          </a:p>
        </p:txBody>
      </p:sp>
      <p:grpSp>
        <p:nvGrpSpPr>
          <p:cNvPr id="3" name="组合 2"/>
          <p:cNvGrpSpPr/>
          <p:nvPr/>
        </p:nvGrpSpPr>
        <p:grpSpPr>
          <a:xfrm>
            <a:off x="39556" y="2035176"/>
            <a:ext cx="9881923" cy="4352369"/>
            <a:chOff x="39556" y="2035176"/>
            <a:chExt cx="9881923" cy="4352369"/>
          </a:xfrm>
        </p:grpSpPr>
        <p:sp>
          <p:nvSpPr>
            <p:cNvPr id="81"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2"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89" name="Group 85"/>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91" name="Group 95"/>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108" name="Group 115"/>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8"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123" name="Group 139"/>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4" name="Group 142"/>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5" name="Group 145"/>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1" name="Group 133"/>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2" name="Group 136"/>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anose="02010609060101010101" pitchFamily="2" charset="-122"/>
                </a:rPr>
                <a:t>IP </a:t>
              </a:r>
              <a:r>
                <a:rPr kumimoji="1" lang="zh-CN" altLang="en-US" sz="1800" b="1" dirty="0">
                  <a:solidFill>
                    <a:srgbClr val="0000CC"/>
                  </a:solidFill>
                  <a:latin typeface="+mn-lt"/>
                  <a:ea typeface="黑体" panose="02010609060101010101" pitchFamily="2" charset="-122"/>
                </a:rPr>
                <a:t>数据报</a:t>
              </a:r>
            </a:p>
          </p:txBody>
        </p: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1863529" y="548680"/>
            <a:ext cx="6259983" cy="1075103"/>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20000"/>
              </a:lnSpc>
            </a:pPr>
            <a:r>
              <a:rPr lang="zh-CN" altLang="en-US" sz="2800" b="1" dirty="0">
                <a:solidFill>
                  <a:srgbClr val="000099"/>
                </a:solidFill>
                <a:latin typeface="+mn-lt"/>
                <a:ea typeface="黑体" panose="02010609060101010101" pitchFamily="2" charset="-122"/>
              </a:rPr>
              <a:t>在具体的物理网络的链路层</a:t>
            </a:r>
          </a:p>
          <a:p>
            <a:pPr algn="ctr">
              <a:lnSpc>
                <a:spcPct val="120000"/>
              </a:lnSpc>
            </a:pPr>
            <a:r>
              <a:rPr lang="zh-CN" altLang="en-US" sz="2800" b="1" dirty="0">
                <a:solidFill>
                  <a:srgbClr val="000099"/>
                </a:solidFill>
                <a:latin typeface="+mn-lt"/>
                <a:ea typeface="黑体" panose="02010609060101010101" pitchFamily="2" charset="-122"/>
              </a:rPr>
              <a:t>只能看见 </a:t>
            </a:r>
            <a:r>
              <a:rPr lang="en-US" altLang="zh-CN" sz="2800" b="1" dirty="0">
                <a:solidFill>
                  <a:srgbClr val="000099"/>
                </a:solidFill>
                <a:latin typeface="+mn-lt"/>
                <a:ea typeface="黑体" panose="02010609060101010101" pitchFamily="2" charset="-122"/>
              </a:rPr>
              <a:t>MAC </a:t>
            </a:r>
            <a:r>
              <a:rPr lang="zh-CN" altLang="en-US" sz="2800" b="1" dirty="0">
                <a:solidFill>
                  <a:srgbClr val="000099"/>
                </a:solidFill>
                <a:latin typeface="+mn-lt"/>
                <a:ea typeface="黑体" panose="02010609060101010101" pitchFamily="2" charset="-122"/>
              </a:rPr>
              <a:t>帧而看不见 </a:t>
            </a:r>
            <a:r>
              <a:rPr lang="en-US" altLang="zh-CN" sz="2800" b="1" dirty="0">
                <a:solidFill>
                  <a:srgbClr val="000099"/>
                </a:solidFill>
                <a:latin typeface="+mn-lt"/>
                <a:ea typeface="黑体" panose="02010609060101010101" pitchFamily="2" charset="-122"/>
              </a:rPr>
              <a:t>IP </a:t>
            </a:r>
            <a:r>
              <a:rPr lang="zh-CN" altLang="en-US" sz="2800" b="1" dirty="0">
                <a:solidFill>
                  <a:srgbClr val="000099"/>
                </a:solidFill>
                <a:latin typeface="+mn-lt"/>
                <a:ea typeface="黑体" panose="02010609060101010101" pitchFamily="2" charset="-122"/>
              </a:rPr>
              <a:t>数据报  </a:t>
            </a:r>
          </a:p>
        </p:txBody>
      </p:sp>
      <p:grpSp>
        <p:nvGrpSpPr>
          <p:cNvPr id="2" name="组合 1"/>
          <p:cNvGrpSpPr/>
          <p:nvPr/>
        </p:nvGrpSpPr>
        <p:grpSpPr>
          <a:xfrm>
            <a:off x="39556" y="2035176"/>
            <a:ext cx="9881923" cy="3406774"/>
            <a:chOff x="39556" y="2035176"/>
            <a:chExt cx="9881923" cy="3406774"/>
          </a:xfrm>
        </p:grpSpPr>
        <p:sp>
          <p:nvSpPr>
            <p:cNvPr id="81"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2"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89" name="Group 85"/>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91" name="Group 95"/>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grpSp>
          <p:nvGrpSpPr>
            <p:cNvPr id="108" name="Group 115"/>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8"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grpSp>
        <p:nvGrpSpPr>
          <p:cNvPr id="6" name="组合 5"/>
          <p:cNvGrpSpPr/>
          <p:nvPr/>
        </p:nvGrpSpPr>
        <p:grpSpPr>
          <a:xfrm>
            <a:off x="660400" y="5592763"/>
            <a:ext cx="8420100" cy="794782"/>
            <a:chOff x="660400" y="5592763"/>
            <a:chExt cx="8420100" cy="794782"/>
          </a:xfrm>
        </p:grpSpPr>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anose="02010609060101010101" pitchFamily="2" charset="-122"/>
                </a:rPr>
                <a:t>MAC </a:t>
              </a:r>
              <a:r>
                <a:rPr kumimoji="1" lang="zh-CN" altLang="en-US" sz="1800" b="1" dirty="0">
                  <a:solidFill>
                    <a:srgbClr val="0000CC"/>
                  </a:solidFill>
                  <a:latin typeface="+mn-lt"/>
                  <a:ea typeface="黑体" panose="02010609060101010101" pitchFamily="2" charset="-122"/>
                </a:rPr>
                <a:t>帧</a:t>
              </a:r>
            </a:p>
          </p:txBody>
        </p:sp>
        <p:grpSp>
          <p:nvGrpSpPr>
            <p:cNvPr id="123" name="Group 139"/>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dirty="0">
                    <a:solidFill>
                      <a:srgbClr val="0000CC"/>
                    </a:solidFill>
                    <a:latin typeface="+mn-lt"/>
                    <a:ea typeface="黑体" panose="02010609060101010101" pitchFamily="2" charset="-122"/>
                  </a:rPr>
                  <a:t>从 </a:t>
                </a:r>
                <a:r>
                  <a:rPr kumimoji="1" lang="en-US" altLang="zh-CN" sz="1800" b="1" dirty="0">
                    <a:solidFill>
                      <a:srgbClr val="0000CC"/>
                    </a:solidFill>
                    <a:latin typeface="+mn-lt"/>
                    <a:ea typeface="黑体" panose="02010609060101010101" pitchFamily="2" charset="-122"/>
                  </a:rPr>
                  <a:t>HA</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a:t>
                </a:r>
                <a:r>
                  <a:rPr kumimoji="1" lang="zh-CN" altLang="en-US" sz="1800" b="1" dirty="0">
                    <a:solidFill>
                      <a:srgbClr val="0000CC"/>
                    </a:solidFill>
                    <a:latin typeface="+mn-lt"/>
                    <a:ea typeface="黑体" panose="02010609060101010101" pitchFamily="2" charset="-122"/>
                  </a:rPr>
                  <a:t>到 </a:t>
                </a:r>
                <a:r>
                  <a:rPr kumimoji="1" lang="en-US" altLang="zh-CN" sz="1800" b="1" dirty="0">
                    <a:solidFill>
                      <a:srgbClr val="0000CC"/>
                    </a:solidFill>
                    <a:latin typeface="+mn-lt"/>
                    <a:ea typeface="黑体" panose="02010609060101010101" pitchFamily="2" charset="-122"/>
                  </a:rPr>
                  <a:t>HA</a:t>
                </a:r>
                <a:r>
                  <a:rPr kumimoji="1" lang="en-US" altLang="zh-CN" sz="1800" b="1" baseline="-25000" dirty="0">
                    <a:solidFill>
                      <a:srgbClr val="0000CC"/>
                    </a:solidFill>
                    <a:latin typeface="+mn-lt"/>
                    <a:ea typeface="黑体" panose="02010609060101010101"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4" name="Group 142"/>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5" name="Group 145"/>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1" name="Group 133"/>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2" name="Group 136"/>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anose="02010609060101010101" pitchFamily="2" charset="-122"/>
                </a:rPr>
                <a:t>IP </a:t>
              </a:r>
              <a:r>
                <a:rPr kumimoji="1" lang="zh-CN" altLang="en-US" sz="1800" b="1" dirty="0">
                  <a:solidFill>
                    <a:srgbClr val="0000CC"/>
                  </a:solidFill>
                  <a:latin typeface="+mn-lt"/>
                  <a:ea typeface="黑体" panose="02010609060101010101" pitchFamily="2" charset="-122"/>
                </a:rPr>
                <a:t>数据报</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1568450" y="116632"/>
            <a:ext cx="7133696" cy="1717393"/>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0000"/>
              </a:lnSpc>
            </a:pPr>
            <a:r>
              <a:rPr lang="en-US" altLang="zh-CN" sz="2400" b="1" dirty="0">
                <a:solidFill>
                  <a:srgbClr val="C00000"/>
                </a:solidFill>
                <a:latin typeface="+mn-lt"/>
                <a:ea typeface="黑体" panose="02010609060101010101" pitchFamily="2" charset="-122"/>
              </a:rPr>
              <a:t>IP </a:t>
            </a:r>
            <a:r>
              <a:rPr lang="zh-CN" altLang="en-US" sz="2400" b="1" dirty="0">
                <a:solidFill>
                  <a:srgbClr val="C00000"/>
                </a:solidFill>
                <a:latin typeface="+mn-lt"/>
                <a:ea typeface="黑体" panose="02010609060101010101" pitchFamily="2" charset="-122"/>
              </a:rPr>
              <a:t>层抽象的互联网屏蔽了下层很复杂的细节。</a:t>
            </a:r>
          </a:p>
          <a:p>
            <a:pPr algn="ctr">
              <a:lnSpc>
                <a:spcPct val="110000"/>
              </a:lnSpc>
            </a:pPr>
            <a:r>
              <a:rPr lang="zh-CN" altLang="en-US" sz="2400" b="1" dirty="0">
                <a:solidFill>
                  <a:srgbClr val="000099"/>
                </a:solidFill>
                <a:latin typeface="+mn-lt"/>
                <a:ea typeface="黑体" panose="02010609060101010101" pitchFamily="2" charset="-122"/>
              </a:rPr>
              <a:t>在抽象的网络层上讨论问题，就能够使用</a:t>
            </a:r>
          </a:p>
          <a:p>
            <a:pPr algn="ctr">
              <a:lnSpc>
                <a:spcPct val="110000"/>
              </a:lnSpc>
            </a:pPr>
            <a:r>
              <a:rPr lang="zh-CN" altLang="en-US" sz="2400" b="1" dirty="0">
                <a:solidFill>
                  <a:srgbClr val="000099"/>
                </a:solidFill>
                <a:latin typeface="+mn-lt"/>
                <a:ea typeface="黑体" panose="02010609060101010101" pitchFamily="2" charset="-122"/>
              </a:rPr>
              <a:t>统一的、抽象的 </a:t>
            </a:r>
            <a:r>
              <a:rPr lang="en-US" altLang="zh-CN" sz="2400" b="1" dirty="0">
                <a:solidFill>
                  <a:srgbClr val="000099"/>
                </a:solidFill>
                <a:latin typeface="+mn-lt"/>
                <a:ea typeface="黑体" panose="02010609060101010101" pitchFamily="2" charset="-122"/>
              </a:rPr>
              <a:t>IP </a:t>
            </a:r>
            <a:r>
              <a:rPr lang="zh-CN" altLang="en-US" sz="2400" b="1" dirty="0">
                <a:solidFill>
                  <a:srgbClr val="000099"/>
                </a:solidFill>
                <a:latin typeface="+mn-lt"/>
                <a:ea typeface="黑体" panose="02010609060101010101" pitchFamily="2" charset="-122"/>
              </a:rPr>
              <a:t>地址</a:t>
            </a:r>
          </a:p>
          <a:p>
            <a:pPr algn="ctr">
              <a:lnSpc>
                <a:spcPct val="110000"/>
              </a:lnSpc>
            </a:pPr>
            <a:r>
              <a:rPr lang="zh-CN" altLang="en-US" sz="2400" b="1" dirty="0">
                <a:solidFill>
                  <a:srgbClr val="000099"/>
                </a:solidFill>
                <a:latin typeface="+mn-lt"/>
                <a:ea typeface="黑体" panose="02010609060101010101" pitchFamily="2" charset="-122"/>
              </a:rPr>
              <a:t>研究主机和主机或主机和路由器之间的通信 。</a:t>
            </a:r>
          </a:p>
        </p:txBody>
      </p:sp>
      <p:grpSp>
        <p:nvGrpSpPr>
          <p:cNvPr id="3" name="组合 2"/>
          <p:cNvGrpSpPr/>
          <p:nvPr/>
        </p:nvGrpSpPr>
        <p:grpSpPr>
          <a:xfrm>
            <a:off x="39556" y="2035176"/>
            <a:ext cx="9881923" cy="4352369"/>
            <a:chOff x="39556" y="2035176"/>
            <a:chExt cx="9881923" cy="4352369"/>
          </a:xfrm>
        </p:grpSpPr>
        <p:sp>
          <p:nvSpPr>
            <p:cNvPr id="81" name="Freeform 77"/>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2" name="Freeform 78"/>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89" name="Group 85"/>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ln>
            </p:spPr>
            <p:txBody>
              <a:bodyPr/>
              <a:lstStyle/>
              <a:p>
                <a:endParaRPr lang="zh-CN" altLang="en-US" b="1">
                  <a:solidFill>
                    <a:srgbClr val="0000CC"/>
                  </a:solidFill>
                  <a:latin typeface="+mn-lt"/>
                  <a:ea typeface="黑体" panose="02010609060101010101"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91" name="Group 95"/>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6</a:t>
              </a:r>
              <a:endParaRPr kumimoji="1" lang="en-US" altLang="zh-CN" sz="1800" b="1">
                <a:solidFill>
                  <a:srgbClr val="0000CC"/>
                </a:solidFill>
                <a:latin typeface="+mn-lt"/>
                <a:ea typeface="黑体" panose="02010609060101010101"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主机 </a:t>
              </a:r>
              <a:r>
                <a:rPr kumimoji="1" lang="en-US" altLang="zh-CN" sz="1800" b="1">
                  <a:solidFill>
                    <a:srgbClr val="0000CC"/>
                  </a:solidFill>
                  <a:latin typeface="+mn-lt"/>
                  <a:ea typeface="黑体" panose="02010609060101010101" pitchFamily="2" charset="-122"/>
                </a:rPr>
                <a:t>H</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1</a:t>
              </a:r>
              <a:endParaRPr kumimoji="1" lang="en-US" altLang="zh-CN" sz="1800" b="1">
                <a:solidFill>
                  <a:srgbClr val="0000CC"/>
                </a:solidFill>
                <a:latin typeface="+mn-lt"/>
                <a:ea typeface="黑体" panose="02010609060101010101"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anose="02010609060101010101" pitchFamily="2" charset="-122"/>
                </a:rPr>
                <a:t>IP </a:t>
              </a:r>
              <a:r>
                <a:rPr kumimoji="1" lang="zh-CN" altLang="en-US" sz="2400" b="1">
                  <a:solidFill>
                    <a:srgbClr val="0000CC"/>
                  </a:solidFill>
                  <a:latin typeface="+mn-lt"/>
                  <a:ea typeface="黑体" panose="02010609060101010101"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nvGrpSpPr>
            <p:cNvPr id="108" name="Group 115"/>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4</a:t>
              </a:r>
              <a:endParaRPr kumimoji="1" lang="en-US" altLang="zh-CN" sz="1800" b="1">
                <a:solidFill>
                  <a:srgbClr val="0000CC"/>
                </a:solidFill>
                <a:latin typeface="+mn-lt"/>
                <a:ea typeface="黑体" panose="02010609060101010101"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3</a:t>
              </a:r>
              <a:endParaRPr kumimoji="1" lang="en-US" altLang="zh-CN" sz="1800" b="1">
                <a:solidFill>
                  <a:srgbClr val="0000CC"/>
                </a:solidFill>
                <a:latin typeface="+mn-lt"/>
                <a:ea typeface="黑体" panose="02010609060101010101"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5</a:t>
              </a:r>
              <a:endParaRPr kumimoji="1" lang="en-US" altLang="zh-CN" sz="1800" b="1">
                <a:solidFill>
                  <a:srgbClr val="0000CC"/>
                </a:solidFill>
                <a:latin typeface="+mn-lt"/>
                <a:ea typeface="黑体" panose="02010609060101010101"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7" name="Freeform 127"/>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8" name="Freeform 128"/>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anose="02010609060101010101" pitchFamily="2" charset="-122"/>
                </a:rPr>
                <a:t>路由器 </a:t>
              </a:r>
              <a:r>
                <a:rPr kumimoji="1" lang="en-US" altLang="zh-CN" sz="1800" b="1">
                  <a:solidFill>
                    <a:srgbClr val="0000CC"/>
                  </a:solidFill>
                  <a:latin typeface="+mn-lt"/>
                  <a:ea typeface="黑体" panose="02010609060101010101" pitchFamily="2" charset="-122"/>
                </a:rPr>
                <a:t>R</a:t>
              </a:r>
              <a:r>
                <a:rPr kumimoji="1" lang="en-US" altLang="zh-CN" sz="1800" b="1" baseline="-25000">
                  <a:solidFill>
                    <a:srgbClr val="0000CC"/>
                  </a:solidFill>
                  <a:latin typeface="+mn-lt"/>
                  <a:ea typeface="黑体" panose="02010609060101010101" pitchFamily="2" charset="-122"/>
                </a:rPr>
                <a:t>2</a:t>
              </a:r>
              <a:endParaRPr kumimoji="1" lang="en-US" altLang="zh-CN" sz="1800" b="1">
                <a:solidFill>
                  <a:srgbClr val="0000CC"/>
                </a:solidFill>
                <a:latin typeface="+mn-lt"/>
                <a:ea typeface="黑体" panose="02010609060101010101" pitchFamily="2" charset="-122"/>
              </a:endParaRPr>
            </a:p>
          </p:txBody>
        </p:sp>
        <p:grpSp>
          <p:nvGrpSpPr>
            <p:cNvPr id="123" name="Group 139"/>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4" name="Group 142"/>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4</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5" name="Group 145"/>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anose="02010609060101010101" pitchFamily="2" charset="-122"/>
                  </a:rPr>
                  <a:t>从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6</a:t>
                </a:r>
                <a:r>
                  <a:rPr kumimoji="1" lang="en-US" altLang="zh-CN" sz="1800" b="1">
                    <a:solidFill>
                      <a:srgbClr val="0000CC"/>
                    </a:solidFill>
                    <a:latin typeface="+mn-lt"/>
                    <a:ea typeface="黑体" panose="02010609060101010101" pitchFamily="2" charset="-122"/>
                  </a:rPr>
                  <a:t> </a:t>
                </a:r>
                <a:r>
                  <a:rPr kumimoji="1" lang="zh-CN" altLang="en-US" sz="1800" b="1">
                    <a:solidFill>
                      <a:srgbClr val="0000CC"/>
                    </a:solidFill>
                    <a:latin typeface="+mn-lt"/>
                    <a:ea typeface="黑体" panose="02010609060101010101" pitchFamily="2" charset="-122"/>
                  </a:rPr>
                  <a:t>到 </a:t>
                </a:r>
                <a:r>
                  <a:rPr kumimoji="1" lang="en-US" altLang="zh-CN" sz="1800" b="1">
                    <a:solidFill>
                      <a:srgbClr val="0000CC"/>
                    </a:solidFill>
                    <a:latin typeface="+mn-lt"/>
                    <a:ea typeface="黑体" panose="02010609060101010101" pitchFamily="2" charset="-122"/>
                  </a:rPr>
                  <a:t>HA</a:t>
                </a:r>
                <a:r>
                  <a:rPr kumimoji="1" lang="en-US" altLang="zh-CN" sz="1800" b="1" baseline="-25000">
                    <a:solidFill>
                      <a:srgbClr val="0000CC"/>
                    </a:solidFill>
                    <a:latin typeface="+mn-lt"/>
                    <a:ea typeface="黑体" panose="02010609060101010101"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anose="02010609060101010101" pitchFamily="2" charset="-122"/>
                </a:rPr>
                <a:t>MAC </a:t>
              </a:r>
              <a:r>
                <a:rPr kumimoji="1" lang="zh-CN" altLang="en-US" sz="1800" b="1">
                  <a:solidFill>
                    <a:srgbClr val="0000CC"/>
                  </a:solidFill>
                  <a:latin typeface="+mn-lt"/>
                  <a:ea typeface="黑体" panose="02010609060101010101"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anose="02010609060101010101" pitchFamily="2" charset="-122"/>
                  </a:rPr>
                  <a:t>  IP</a:t>
                </a:r>
                <a:r>
                  <a:rPr kumimoji="1" lang="en-US" altLang="zh-CN" sz="1800" b="1" baseline="-25000" dirty="0">
                    <a:solidFill>
                      <a:srgbClr val="0000CC"/>
                    </a:solidFill>
                    <a:latin typeface="+mn-lt"/>
                    <a:ea typeface="黑体" panose="02010609060101010101" pitchFamily="2" charset="-122"/>
                  </a:rPr>
                  <a:t>1</a:t>
                </a:r>
                <a:r>
                  <a:rPr kumimoji="1" lang="en-US" altLang="zh-CN" sz="1800" b="1" dirty="0">
                    <a:solidFill>
                      <a:srgbClr val="0000CC"/>
                    </a:solidFill>
                    <a:latin typeface="+mn-lt"/>
                    <a:ea typeface="黑体" panose="02010609060101010101" pitchFamily="2" charset="-122"/>
                  </a:rPr>
                  <a:t> → IP</a:t>
                </a:r>
                <a:r>
                  <a:rPr kumimoji="1" lang="en-US" altLang="zh-CN" sz="1800" b="1" baseline="-25000" dirty="0">
                    <a:solidFill>
                      <a:srgbClr val="0000CC"/>
                    </a:solidFill>
                    <a:latin typeface="+mn-lt"/>
                    <a:ea typeface="黑体" panose="02010609060101010101"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1" name="Group 133"/>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122" name="Group 136"/>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anose="02010609060101010101" pitchFamily="2" charset="-122"/>
                  </a:rPr>
                  <a:t>IP</a:t>
                </a:r>
                <a:r>
                  <a:rPr kumimoji="1" lang="en-US" altLang="zh-CN" sz="1800" b="1" baseline="-25000">
                    <a:solidFill>
                      <a:srgbClr val="0000CC"/>
                    </a:solidFill>
                    <a:latin typeface="+mn-lt"/>
                    <a:ea typeface="黑体" panose="02010609060101010101" pitchFamily="2" charset="-122"/>
                  </a:rPr>
                  <a:t>1</a:t>
                </a:r>
                <a:r>
                  <a:rPr kumimoji="1" lang="en-US" altLang="zh-CN" sz="1800" b="1">
                    <a:solidFill>
                      <a:srgbClr val="0000CC"/>
                    </a:solidFill>
                    <a:latin typeface="+mn-lt"/>
                    <a:ea typeface="黑体" panose="02010609060101010101" pitchFamily="2" charset="-122"/>
                  </a:rPr>
                  <a:t> → IP</a:t>
                </a:r>
                <a:r>
                  <a:rPr kumimoji="1" lang="en-US" altLang="zh-CN" sz="1800" b="1" baseline="-25000">
                    <a:solidFill>
                      <a:srgbClr val="0000CC"/>
                    </a:solidFill>
                    <a:latin typeface="+mn-lt"/>
                    <a:ea typeface="黑体" panose="02010609060101010101"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ln>
            <a:effectLst/>
          </p:spPr>
          <p:txBody>
            <a:bodyPr rot="10800000" wrap="none" anchor="ctr"/>
            <a:lstStyle/>
            <a:p>
              <a:pPr algn="ctr"/>
              <a:endParaRPr kumimoji="1" lang="zh-CN" altLang="zh-CN" sz="1800" b="1">
                <a:solidFill>
                  <a:srgbClr val="0000CC"/>
                </a:solidFill>
                <a:latin typeface="+mn-lt"/>
                <a:ea typeface="黑体" panose="02010609060101010101"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anose="02010609060101010101" pitchFamily="2" charset="-122"/>
                </a:rPr>
                <a:t>IP </a:t>
              </a:r>
              <a:r>
                <a:rPr kumimoji="1" lang="zh-CN" altLang="en-US" sz="1800" b="1" dirty="0">
                  <a:solidFill>
                    <a:srgbClr val="0000CC"/>
                  </a:solidFill>
                  <a:latin typeface="+mn-lt"/>
                  <a:ea typeface="黑体" panose="02010609060101010101" pitchFamily="2" charset="-122"/>
                </a:rPr>
                <a:t>数据报</a:t>
              </a:r>
            </a:p>
          </p:txBody>
        </p: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95300" y="260648"/>
            <a:ext cx="9066212" cy="1512168"/>
          </a:xfrm>
        </p:spPr>
        <p:txBody>
          <a:bodyPr/>
          <a:lstStyle/>
          <a:p>
            <a:pPr algn="ctr"/>
            <a:r>
              <a:rPr lang="zh-CN" altLang="en-US" dirty="0"/>
              <a:t>主机 </a:t>
            </a:r>
            <a:r>
              <a:rPr lang="en-US" altLang="zh-CN" dirty="0"/>
              <a:t>H</a:t>
            </a:r>
            <a:r>
              <a:rPr lang="en-US" altLang="zh-CN" baseline="-25000" dirty="0"/>
              <a:t>1</a:t>
            </a:r>
            <a:r>
              <a:rPr lang="en-US" altLang="zh-CN" dirty="0"/>
              <a:t> </a:t>
            </a:r>
            <a:r>
              <a:rPr lang="zh-CN" altLang="en-US" dirty="0"/>
              <a:t>与 </a:t>
            </a:r>
            <a:r>
              <a:rPr lang="en-US" altLang="zh-CN" dirty="0"/>
              <a:t>H</a:t>
            </a:r>
            <a:r>
              <a:rPr lang="en-US" altLang="zh-CN" baseline="-25000" dirty="0"/>
              <a:t>2</a:t>
            </a:r>
            <a:r>
              <a:rPr lang="en-US" altLang="zh-CN" dirty="0"/>
              <a:t> </a:t>
            </a:r>
            <a:r>
              <a:rPr lang="zh-CN" altLang="en-US" dirty="0"/>
              <a:t>通信中使用的</a:t>
            </a:r>
            <a:br>
              <a:rPr lang="en-US" altLang="zh-CN" dirty="0"/>
            </a:br>
            <a:r>
              <a:rPr lang="en-US" altLang="zh-CN" dirty="0"/>
              <a:t>IP</a:t>
            </a:r>
            <a:r>
              <a:rPr lang="zh-CN" altLang="zh-CN" dirty="0"/>
              <a:t>地址</a:t>
            </a:r>
            <a:r>
              <a:rPr lang="en-US" altLang="zh-CN" dirty="0"/>
              <a:t> </a:t>
            </a:r>
            <a:r>
              <a:rPr lang="zh-CN" altLang="zh-CN" dirty="0"/>
              <a:t>与</a:t>
            </a:r>
            <a:r>
              <a:rPr lang="en-US" altLang="zh-CN" dirty="0"/>
              <a:t> </a:t>
            </a:r>
            <a:r>
              <a:rPr lang="zh-CN" altLang="zh-CN" dirty="0"/>
              <a:t>硬件地址</a:t>
            </a:r>
            <a:r>
              <a:rPr lang="en-US" altLang="zh-CN" dirty="0"/>
              <a:t>HA</a:t>
            </a:r>
            <a:endParaRPr lang="zh-CN" altLang="en-US" dirty="0"/>
          </a:p>
        </p:txBody>
      </p:sp>
      <p:graphicFrame>
        <p:nvGraphicFramePr>
          <p:cNvPr id="4" name="内容占位符 3"/>
          <p:cNvGraphicFramePr>
            <a:graphicFrameLocks noGrp="1"/>
          </p:cNvGraphicFramePr>
          <p:nvPr>
            <p:ph idx="1"/>
            <p:custDataLst>
              <p:tags r:id="rId1"/>
            </p:custDataLst>
          </p:nvPr>
        </p:nvGraphicFramePr>
        <p:xfrm>
          <a:off x="632520" y="2204863"/>
          <a:ext cx="8640960" cy="2952329"/>
        </p:xfrm>
        <a:graphic>
          <a:graphicData uri="http://schemas.openxmlformats.org/drawingml/2006/table">
            <a:tbl>
              <a:tblPr>
                <a:tableStyleId>{5C22544A-7EE6-4342-B048-85BDC9FD1C3A}</a:tableStyleId>
              </a:tblPr>
              <a:tblGrid>
                <a:gridCol w="1659388">
                  <a:extLst>
                    <a:ext uri="{9D8B030D-6E8A-4147-A177-3AD203B41FA5}">
                      <a16:colId xmlns:a16="http://schemas.microsoft.com/office/drawing/2014/main" val="20000"/>
                    </a:ext>
                  </a:extLst>
                </a:gridCol>
                <a:gridCol w="1821280">
                  <a:extLst>
                    <a:ext uri="{9D8B030D-6E8A-4147-A177-3AD203B41FA5}">
                      <a16:colId xmlns:a16="http://schemas.microsoft.com/office/drawing/2014/main" val="20001"/>
                    </a:ext>
                  </a:extLst>
                </a:gridCol>
                <a:gridCol w="1821280">
                  <a:extLst>
                    <a:ext uri="{9D8B030D-6E8A-4147-A177-3AD203B41FA5}">
                      <a16:colId xmlns:a16="http://schemas.microsoft.com/office/drawing/2014/main" val="20002"/>
                    </a:ext>
                  </a:extLst>
                </a:gridCol>
                <a:gridCol w="1669506">
                  <a:extLst>
                    <a:ext uri="{9D8B030D-6E8A-4147-A177-3AD203B41FA5}">
                      <a16:colId xmlns:a16="http://schemas.microsoft.com/office/drawing/2014/main" val="20003"/>
                    </a:ext>
                  </a:extLst>
                </a:gridCol>
                <a:gridCol w="1669506">
                  <a:extLst>
                    <a:ext uri="{9D8B030D-6E8A-4147-A177-3AD203B41FA5}">
                      <a16:colId xmlns:a16="http://schemas.microsoft.com/office/drawing/2014/main" val="20004"/>
                    </a:ext>
                  </a:extLst>
                </a:gridCol>
              </a:tblGrid>
              <a:tr h="984109">
                <a:tc rowSpan="2">
                  <a:txBody>
                    <a:bodyPr/>
                    <a:lstStyle/>
                    <a:p>
                      <a:pPr algn="ctr">
                        <a:lnSpc>
                          <a:spcPct val="100000"/>
                        </a:lnSpc>
                        <a:spcAft>
                          <a:spcPts val="0"/>
                        </a:spcAft>
                      </a:pPr>
                      <a:r>
                        <a:rPr lang="en-US" sz="2400" b="1" dirty="0">
                          <a:solidFill>
                            <a:schemeClr val="tx1"/>
                          </a:solidFill>
                          <a:effectLst/>
                          <a:latin typeface="+mn-lt"/>
                          <a:ea typeface="黑体" panose="02010609060101010101" pitchFamily="2" charset="-122"/>
                        </a:rPr>
                        <a:t> </a:t>
                      </a:r>
                      <a:endParaRPr lang="zh-CN" sz="2400" b="1" dirty="0">
                        <a:solidFill>
                          <a:schemeClr val="tx1"/>
                        </a:solidFill>
                        <a:effectLst/>
                        <a:latin typeface="+mn-lt"/>
                        <a:ea typeface="黑体" panose="02010609060101010101" pitchFamily="2" charset="-122"/>
                      </a:endParaRPr>
                    </a:p>
                  </a:txBody>
                  <a:tcPr marL="68580" marR="68580" marT="0" marB="0" anchor="ctr">
                    <a:lnL w="1905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gridSpan="2">
                  <a:txBody>
                    <a:bodyPr/>
                    <a:lstStyle/>
                    <a:p>
                      <a:pPr algn="ctr">
                        <a:lnSpc>
                          <a:spcPct val="100000"/>
                        </a:lnSpc>
                        <a:spcAft>
                          <a:spcPts val="0"/>
                        </a:spcAft>
                      </a:pPr>
                      <a:r>
                        <a:rPr lang="zh-CN" sz="2400" b="1" dirty="0">
                          <a:solidFill>
                            <a:schemeClr val="tx1"/>
                          </a:solidFill>
                          <a:effectLst/>
                          <a:latin typeface="+mn-lt"/>
                          <a:ea typeface="黑体" panose="02010609060101010101" pitchFamily="2" charset="-122"/>
                        </a:rPr>
                        <a:t>在网络层</a:t>
                      </a:r>
                    </a:p>
                    <a:p>
                      <a:pPr algn="ctr">
                        <a:lnSpc>
                          <a:spcPct val="100000"/>
                        </a:lnSpc>
                        <a:spcAft>
                          <a:spcPts val="0"/>
                        </a:spcAft>
                      </a:pPr>
                      <a:r>
                        <a:rPr lang="zh-CN" sz="2400" b="1" dirty="0">
                          <a:solidFill>
                            <a:schemeClr val="tx1"/>
                          </a:solidFill>
                          <a:effectLst/>
                          <a:latin typeface="+mn-lt"/>
                          <a:ea typeface="黑体" panose="02010609060101010101" pitchFamily="2" charset="-122"/>
                        </a:rPr>
                        <a:t>写入</a:t>
                      </a:r>
                      <a:r>
                        <a:rPr lang="en-US" sz="2400" b="1" dirty="0">
                          <a:solidFill>
                            <a:schemeClr val="tx1"/>
                          </a:solidFill>
                          <a:effectLst/>
                          <a:latin typeface="+mn-lt"/>
                          <a:ea typeface="黑体" panose="02010609060101010101" pitchFamily="2" charset="-122"/>
                        </a:rPr>
                        <a:t>IP</a:t>
                      </a:r>
                      <a:r>
                        <a:rPr lang="zh-CN" sz="2400" b="1" dirty="0">
                          <a:solidFill>
                            <a:schemeClr val="tx1"/>
                          </a:solidFill>
                          <a:effectLst/>
                          <a:latin typeface="+mn-lt"/>
                          <a:ea typeface="黑体" panose="02010609060101010101" pitchFamily="2" charset="-122"/>
                        </a:rPr>
                        <a:t>数据报首部的地址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hMerge="1">
                  <a:txBody>
                    <a:bodyPr/>
                    <a:lstStyle/>
                    <a:p>
                      <a:endParaRPr lang="zh-CN"/>
                    </a:p>
                  </a:txBody>
                  <a:tcPr/>
                </a:tc>
                <a:tc gridSpan="2">
                  <a:txBody>
                    <a:bodyPr/>
                    <a:lstStyle/>
                    <a:p>
                      <a:pPr algn="ctr">
                        <a:lnSpc>
                          <a:spcPct val="100000"/>
                        </a:lnSpc>
                        <a:spcAft>
                          <a:spcPts val="0"/>
                        </a:spcAft>
                      </a:pPr>
                      <a:r>
                        <a:rPr lang="zh-CN" sz="2400" b="1" dirty="0">
                          <a:solidFill>
                            <a:schemeClr val="tx1"/>
                          </a:solidFill>
                          <a:effectLst/>
                          <a:latin typeface="+mn-lt"/>
                          <a:ea typeface="黑体" panose="02010609060101010101" pitchFamily="2" charset="-122"/>
                        </a:rPr>
                        <a:t>在数据链路层</a:t>
                      </a:r>
                    </a:p>
                    <a:p>
                      <a:pPr algn="ctr">
                        <a:lnSpc>
                          <a:spcPct val="100000"/>
                        </a:lnSpc>
                        <a:spcAft>
                          <a:spcPts val="0"/>
                        </a:spcAft>
                      </a:pPr>
                      <a:r>
                        <a:rPr lang="zh-CN" sz="2400" b="1" dirty="0">
                          <a:solidFill>
                            <a:schemeClr val="tx1"/>
                          </a:solidFill>
                          <a:effectLst/>
                          <a:latin typeface="+mn-lt"/>
                          <a:ea typeface="黑体" panose="02010609060101010101" pitchFamily="2" charset="-122"/>
                        </a:rPr>
                        <a:t>写入</a:t>
                      </a:r>
                      <a:r>
                        <a:rPr lang="en-US" sz="2400" b="1" dirty="0">
                          <a:solidFill>
                            <a:schemeClr val="tx1"/>
                          </a:solidFill>
                          <a:effectLst/>
                          <a:latin typeface="+mn-lt"/>
                          <a:ea typeface="黑体" panose="02010609060101010101" pitchFamily="2" charset="-122"/>
                        </a:rPr>
                        <a:t>MAC</a:t>
                      </a:r>
                      <a:r>
                        <a:rPr lang="zh-CN" sz="2400" b="1" dirty="0">
                          <a:solidFill>
                            <a:schemeClr val="tx1"/>
                          </a:solidFill>
                          <a:effectLst/>
                          <a:latin typeface="+mn-lt"/>
                          <a:ea typeface="黑体" panose="02010609060101010101" pitchFamily="2" charset="-122"/>
                        </a:rPr>
                        <a:t>帧首部的地址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hMerge="1">
                  <a:txBody>
                    <a:bodyPr/>
                    <a:lstStyle/>
                    <a:p>
                      <a:endParaRPr lang="zh-CN"/>
                    </a:p>
                  </a:txBody>
                  <a:tcPr/>
                </a:tc>
                <a:extLst>
                  <a:ext uri="{0D108BD9-81ED-4DB2-BD59-A6C34878D82A}">
                    <a16:rowId xmlns:a16="http://schemas.microsoft.com/office/drawing/2014/main" val="10000"/>
                  </a:ext>
                </a:extLst>
              </a:tr>
              <a:tr h="492055">
                <a:tc vMerge="1">
                  <a:txBody>
                    <a:bodyPr/>
                    <a:lstStyle/>
                    <a:p>
                      <a:endParaRPr lang="zh-CN"/>
                    </a:p>
                  </a:txBody>
                  <a:tcPr/>
                </a:tc>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源地址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目的地址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源地址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dirty="0">
                          <a:solidFill>
                            <a:schemeClr val="tx1"/>
                          </a:solidFill>
                          <a:effectLst/>
                          <a:latin typeface="+mn-lt"/>
                          <a:ea typeface="黑体" panose="02010609060101010101" pitchFamily="2" charset="-122"/>
                        </a:rPr>
                        <a:t>目的地址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92055">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从</a:t>
                      </a:r>
                      <a:r>
                        <a:rPr lang="en-US" sz="2400" b="1">
                          <a:solidFill>
                            <a:schemeClr val="tx1"/>
                          </a:solidFill>
                          <a:effectLst/>
                          <a:latin typeface="+mn-lt"/>
                          <a:ea typeface="黑体" panose="02010609060101010101" pitchFamily="2" charset="-122"/>
                        </a:rPr>
                        <a:t>H</a:t>
                      </a:r>
                      <a:r>
                        <a:rPr lang="en-US" sz="2400" b="1" baseline="-25000">
                          <a:solidFill>
                            <a:schemeClr val="tx1"/>
                          </a:solidFill>
                          <a:effectLst/>
                          <a:latin typeface="+mn-lt"/>
                          <a:ea typeface="黑体" panose="02010609060101010101" pitchFamily="2" charset="-122"/>
                        </a:rPr>
                        <a:t>1</a:t>
                      </a:r>
                      <a:r>
                        <a:rPr lang="zh-CN" sz="2400" b="1">
                          <a:solidFill>
                            <a:schemeClr val="tx1"/>
                          </a:solidFill>
                          <a:effectLst/>
                          <a:latin typeface="+mn-lt"/>
                          <a:ea typeface="黑体" panose="02010609060101010101" pitchFamily="2" charset="-122"/>
                        </a:rPr>
                        <a:t>到</a:t>
                      </a:r>
                      <a:r>
                        <a:rPr lang="en-US" sz="2400" b="1">
                          <a:solidFill>
                            <a:schemeClr val="tx1"/>
                          </a:solidFill>
                          <a:effectLst/>
                          <a:latin typeface="+mn-lt"/>
                          <a:ea typeface="黑体" panose="02010609060101010101" pitchFamily="2" charset="-122"/>
                        </a:rPr>
                        <a:t>R</a:t>
                      </a:r>
                      <a:r>
                        <a:rPr lang="en-US" sz="2400" b="1" baseline="-25000">
                          <a:solidFill>
                            <a:schemeClr val="tx1"/>
                          </a:solidFill>
                          <a:effectLst/>
                          <a:latin typeface="+mn-lt"/>
                          <a:ea typeface="黑体" panose="02010609060101010101" pitchFamily="2" charset="-122"/>
                        </a:rPr>
                        <a:t>1</a:t>
                      </a:r>
                      <a:endParaRPr lang="zh-CN" sz="2400" b="1">
                        <a:solidFill>
                          <a:schemeClr val="tx1"/>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IP</a:t>
                      </a:r>
                      <a:r>
                        <a:rPr lang="en-US" sz="2800" b="1" baseline="-25000" dirty="0">
                          <a:solidFill>
                            <a:srgbClr val="000099"/>
                          </a:solidFill>
                          <a:effectLst/>
                          <a:latin typeface="+mn-lt"/>
                          <a:ea typeface="黑体" panose="02010609060101010101" pitchFamily="2" charset="-122"/>
                        </a:rPr>
                        <a:t>1</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IP</a:t>
                      </a:r>
                      <a:r>
                        <a:rPr lang="en-US" sz="2800" b="1" baseline="-25000" dirty="0">
                          <a:solidFill>
                            <a:srgbClr val="000099"/>
                          </a:solidFill>
                          <a:effectLst/>
                          <a:latin typeface="+mn-lt"/>
                          <a:ea typeface="黑体" panose="02010609060101010101" pitchFamily="2" charset="-122"/>
                        </a:rPr>
                        <a:t>2</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HA</a:t>
                      </a:r>
                      <a:r>
                        <a:rPr lang="en-US" sz="2800" b="1" baseline="-25000" dirty="0">
                          <a:solidFill>
                            <a:srgbClr val="000099"/>
                          </a:solidFill>
                          <a:effectLst/>
                          <a:latin typeface="+mn-lt"/>
                          <a:ea typeface="黑体" panose="02010609060101010101" pitchFamily="2" charset="-122"/>
                        </a:rPr>
                        <a:t>1</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HA</a:t>
                      </a:r>
                      <a:r>
                        <a:rPr lang="en-US" sz="2800" b="1" baseline="-25000" dirty="0">
                          <a:solidFill>
                            <a:srgbClr val="000099"/>
                          </a:solidFill>
                          <a:effectLst/>
                          <a:latin typeface="+mn-lt"/>
                          <a:ea typeface="黑体" panose="02010609060101010101" pitchFamily="2" charset="-122"/>
                        </a:rPr>
                        <a:t>3</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492055">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从</a:t>
                      </a:r>
                      <a:r>
                        <a:rPr lang="en-US" sz="2400" b="1">
                          <a:solidFill>
                            <a:schemeClr val="tx1"/>
                          </a:solidFill>
                          <a:effectLst/>
                          <a:latin typeface="+mn-lt"/>
                          <a:ea typeface="黑体" panose="02010609060101010101" pitchFamily="2" charset="-122"/>
                        </a:rPr>
                        <a:t>R</a:t>
                      </a:r>
                      <a:r>
                        <a:rPr lang="en-US" sz="2400" b="1" baseline="-25000">
                          <a:solidFill>
                            <a:schemeClr val="tx1"/>
                          </a:solidFill>
                          <a:effectLst/>
                          <a:latin typeface="+mn-lt"/>
                          <a:ea typeface="黑体" panose="02010609060101010101" pitchFamily="2" charset="-122"/>
                        </a:rPr>
                        <a:t>1</a:t>
                      </a:r>
                      <a:r>
                        <a:rPr lang="zh-CN" sz="2400" b="1">
                          <a:solidFill>
                            <a:schemeClr val="tx1"/>
                          </a:solidFill>
                          <a:effectLst/>
                          <a:latin typeface="+mn-lt"/>
                          <a:ea typeface="黑体" panose="02010609060101010101" pitchFamily="2" charset="-122"/>
                        </a:rPr>
                        <a:t>到</a:t>
                      </a:r>
                      <a:r>
                        <a:rPr lang="en-US" sz="2400" b="1">
                          <a:solidFill>
                            <a:schemeClr val="tx1"/>
                          </a:solidFill>
                          <a:effectLst/>
                          <a:latin typeface="+mn-lt"/>
                          <a:ea typeface="黑体" panose="02010609060101010101" pitchFamily="2" charset="-122"/>
                        </a:rPr>
                        <a:t>R</a:t>
                      </a:r>
                      <a:r>
                        <a:rPr lang="en-US" sz="2400" b="1" baseline="-25000">
                          <a:solidFill>
                            <a:schemeClr val="tx1"/>
                          </a:solidFill>
                          <a:effectLst/>
                          <a:latin typeface="+mn-lt"/>
                          <a:ea typeface="黑体" panose="02010609060101010101" pitchFamily="2" charset="-122"/>
                        </a:rPr>
                        <a:t>2</a:t>
                      </a:r>
                      <a:endParaRPr lang="zh-CN" sz="2400" b="1">
                        <a:solidFill>
                          <a:schemeClr val="tx1"/>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anose="02010609060101010101" pitchFamily="2" charset="-122"/>
                        </a:rPr>
                        <a:t>IP</a:t>
                      </a:r>
                      <a:r>
                        <a:rPr lang="en-US" sz="2800" b="1" baseline="-25000">
                          <a:solidFill>
                            <a:srgbClr val="000099"/>
                          </a:solidFill>
                          <a:effectLst/>
                          <a:latin typeface="+mn-lt"/>
                          <a:ea typeface="黑体" panose="02010609060101010101" pitchFamily="2" charset="-122"/>
                        </a:rPr>
                        <a:t>1</a:t>
                      </a:r>
                      <a:endParaRPr lang="zh-CN" sz="2800" b="1">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anose="02010609060101010101" pitchFamily="2" charset="-122"/>
                        </a:rPr>
                        <a:t>IP</a:t>
                      </a:r>
                      <a:r>
                        <a:rPr lang="en-US" sz="2800" b="1" baseline="-25000">
                          <a:solidFill>
                            <a:srgbClr val="000099"/>
                          </a:solidFill>
                          <a:effectLst/>
                          <a:latin typeface="+mn-lt"/>
                          <a:ea typeface="黑体" panose="02010609060101010101" pitchFamily="2" charset="-122"/>
                        </a:rPr>
                        <a:t>2</a:t>
                      </a:r>
                      <a:endParaRPr lang="zh-CN" sz="2800" b="1">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HA</a:t>
                      </a:r>
                      <a:r>
                        <a:rPr lang="en-US" sz="2800" b="1" baseline="-25000" dirty="0">
                          <a:solidFill>
                            <a:srgbClr val="000099"/>
                          </a:solidFill>
                          <a:effectLst/>
                          <a:latin typeface="+mn-lt"/>
                          <a:ea typeface="黑体" panose="02010609060101010101" pitchFamily="2" charset="-122"/>
                        </a:rPr>
                        <a:t>4</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HA</a:t>
                      </a:r>
                      <a:r>
                        <a:rPr lang="en-US" sz="2800" b="1" baseline="-25000" dirty="0">
                          <a:solidFill>
                            <a:srgbClr val="000099"/>
                          </a:solidFill>
                          <a:effectLst/>
                          <a:latin typeface="+mn-lt"/>
                          <a:ea typeface="黑体" panose="02010609060101010101" pitchFamily="2" charset="-122"/>
                        </a:rPr>
                        <a:t>5</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492055">
                <a:tc>
                  <a:txBody>
                    <a:bodyPr/>
                    <a:lstStyle/>
                    <a:p>
                      <a:pPr algn="ctr">
                        <a:lnSpc>
                          <a:spcPct val="100000"/>
                        </a:lnSpc>
                        <a:spcAft>
                          <a:spcPts val="0"/>
                        </a:spcAft>
                      </a:pPr>
                      <a:r>
                        <a:rPr lang="zh-CN" sz="2400" b="1">
                          <a:solidFill>
                            <a:schemeClr val="tx1"/>
                          </a:solidFill>
                          <a:effectLst/>
                          <a:latin typeface="+mn-lt"/>
                          <a:ea typeface="黑体" panose="02010609060101010101" pitchFamily="2" charset="-122"/>
                        </a:rPr>
                        <a:t>从</a:t>
                      </a:r>
                      <a:r>
                        <a:rPr lang="en-US" sz="2400" b="1">
                          <a:solidFill>
                            <a:schemeClr val="tx1"/>
                          </a:solidFill>
                          <a:effectLst/>
                          <a:latin typeface="+mn-lt"/>
                          <a:ea typeface="黑体" panose="02010609060101010101" pitchFamily="2" charset="-122"/>
                        </a:rPr>
                        <a:t>R</a:t>
                      </a:r>
                      <a:r>
                        <a:rPr lang="en-US" sz="2400" b="1" baseline="-25000">
                          <a:solidFill>
                            <a:schemeClr val="tx1"/>
                          </a:solidFill>
                          <a:effectLst/>
                          <a:latin typeface="+mn-lt"/>
                          <a:ea typeface="黑体" panose="02010609060101010101" pitchFamily="2" charset="-122"/>
                        </a:rPr>
                        <a:t>2</a:t>
                      </a:r>
                      <a:r>
                        <a:rPr lang="zh-CN" sz="2400" b="1">
                          <a:solidFill>
                            <a:schemeClr val="tx1"/>
                          </a:solidFill>
                          <a:effectLst/>
                          <a:latin typeface="+mn-lt"/>
                          <a:ea typeface="黑体" panose="02010609060101010101" pitchFamily="2" charset="-122"/>
                        </a:rPr>
                        <a:t>到</a:t>
                      </a:r>
                      <a:r>
                        <a:rPr lang="en-US" sz="2400" b="1">
                          <a:solidFill>
                            <a:schemeClr val="tx1"/>
                          </a:solidFill>
                          <a:effectLst/>
                          <a:latin typeface="+mn-lt"/>
                          <a:ea typeface="黑体" panose="02010609060101010101" pitchFamily="2" charset="-122"/>
                        </a:rPr>
                        <a:t>H</a:t>
                      </a:r>
                      <a:r>
                        <a:rPr lang="en-US" sz="2400" b="1" baseline="-25000">
                          <a:solidFill>
                            <a:schemeClr val="tx1"/>
                          </a:solidFill>
                          <a:effectLst/>
                          <a:latin typeface="+mn-lt"/>
                          <a:ea typeface="黑体" panose="02010609060101010101" pitchFamily="2" charset="-122"/>
                        </a:rPr>
                        <a:t>2</a:t>
                      </a:r>
                      <a:endParaRPr lang="zh-CN" sz="2400" b="1">
                        <a:solidFill>
                          <a:schemeClr val="tx1"/>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anose="02010609060101010101" pitchFamily="2" charset="-122"/>
                        </a:rPr>
                        <a:t>IP</a:t>
                      </a:r>
                      <a:r>
                        <a:rPr lang="en-US" sz="2800" b="1" baseline="-25000">
                          <a:solidFill>
                            <a:srgbClr val="000099"/>
                          </a:solidFill>
                          <a:effectLst/>
                          <a:latin typeface="+mn-lt"/>
                          <a:ea typeface="黑体" panose="02010609060101010101" pitchFamily="2" charset="-122"/>
                        </a:rPr>
                        <a:t>1</a:t>
                      </a:r>
                      <a:endParaRPr lang="zh-CN" sz="2800" b="1">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IP</a:t>
                      </a:r>
                      <a:r>
                        <a:rPr lang="en-US" sz="2800" b="1" baseline="-25000" dirty="0">
                          <a:solidFill>
                            <a:srgbClr val="000099"/>
                          </a:solidFill>
                          <a:effectLst/>
                          <a:latin typeface="+mn-lt"/>
                          <a:ea typeface="黑体" panose="02010609060101010101" pitchFamily="2" charset="-122"/>
                        </a:rPr>
                        <a:t>2</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anose="02010609060101010101" pitchFamily="2" charset="-122"/>
                        </a:rPr>
                        <a:t>HA</a:t>
                      </a:r>
                      <a:r>
                        <a:rPr lang="en-US" sz="2800" b="1" baseline="-25000">
                          <a:solidFill>
                            <a:srgbClr val="000099"/>
                          </a:solidFill>
                          <a:effectLst/>
                          <a:latin typeface="+mn-lt"/>
                          <a:ea typeface="黑体" panose="02010609060101010101" pitchFamily="2" charset="-122"/>
                        </a:rPr>
                        <a:t>6</a:t>
                      </a:r>
                      <a:endParaRPr lang="zh-CN" sz="2800" b="1">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anose="02010609060101010101" pitchFamily="2" charset="-122"/>
                        </a:rPr>
                        <a:t>HA</a:t>
                      </a:r>
                      <a:r>
                        <a:rPr lang="en-US" sz="2800" b="1" baseline="-25000" dirty="0">
                          <a:solidFill>
                            <a:srgbClr val="000099"/>
                          </a:solidFill>
                          <a:effectLst/>
                          <a:latin typeface="+mn-lt"/>
                          <a:ea typeface="黑体" panose="02010609060101010101" pitchFamily="2" charset="-122"/>
                        </a:rPr>
                        <a:t>2</a:t>
                      </a:r>
                      <a:endParaRPr lang="zh-CN" sz="2800" b="1" dirty="0">
                        <a:solidFill>
                          <a:srgbClr val="000099"/>
                        </a:solidFill>
                        <a:effectLst/>
                        <a:latin typeface="+mn-lt"/>
                        <a:ea typeface="黑体" panose="02010609060101010101"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p:txBody>
          <a:bodyPr/>
          <a:lstStyle/>
          <a:p>
            <a:r>
              <a:rPr lang="en-US" altLang="zh-CN" dirty="0"/>
              <a:t>4.2.4  </a:t>
            </a:r>
            <a:r>
              <a:rPr lang="zh-CN" altLang="zh-CN" dirty="0"/>
              <a:t>地址解析协议</a:t>
            </a:r>
            <a:r>
              <a:rPr lang="en-US" altLang="zh-CN" dirty="0"/>
              <a:t> ARP</a:t>
            </a:r>
          </a:p>
        </p:txBody>
      </p:sp>
      <p:sp>
        <p:nvSpPr>
          <p:cNvPr id="2" name="内容占位符 1"/>
          <p:cNvSpPr>
            <a:spLocks noGrp="1"/>
          </p:cNvSpPr>
          <p:nvPr>
            <p:ph idx="1"/>
          </p:nvPr>
        </p:nvSpPr>
        <p:spPr/>
        <p:txBody>
          <a:bodyPr/>
          <a:lstStyle/>
          <a:p>
            <a:pPr>
              <a:spcBef>
                <a:spcPct val="10000"/>
              </a:spcBef>
            </a:pPr>
            <a:r>
              <a:rPr lang="zh-CN" altLang="en-US" sz="2800" dirty="0">
                <a:latin typeface="Tahoma" panose="020B0604030504040204" pitchFamily="34" charset="0"/>
              </a:rPr>
              <a:t>通信时使用了两个地址：</a:t>
            </a:r>
            <a:endParaRPr lang="en-US" altLang="zh-CN" sz="2800" dirty="0">
              <a:latin typeface="Tahoma" panose="020B0604030504040204" pitchFamily="34" charset="0"/>
            </a:endParaRPr>
          </a:p>
          <a:p>
            <a:pPr lvl="1">
              <a:spcBef>
                <a:spcPct val="10000"/>
              </a:spcBef>
            </a:pPr>
            <a:r>
              <a:rPr lang="en-US" altLang="zh-CN" sz="2400" dirty="0">
                <a:solidFill>
                  <a:srgbClr val="FF0000"/>
                </a:solidFill>
                <a:latin typeface="Tahoma" panose="020B0604030504040204" pitchFamily="34" charset="0"/>
              </a:rPr>
              <a:t>IP </a:t>
            </a:r>
            <a:r>
              <a:rPr lang="zh-CN" altLang="en-US" sz="2400" dirty="0">
                <a:solidFill>
                  <a:srgbClr val="FF0000"/>
                </a:solidFill>
                <a:latin typeface="Tahoma" panose="020B0604030504040204" pitchFamily="34" charset="0"/>
              </a:rPr>
              <a:t>地址</a:t>
            </a:r>
            <a:r>
              <a:rPr lang="zh-CN" altLang="en-US" sz="2400" dirty="0">
                <a:latin typeface="Tahoma" panose="020B0604030504040204" pitchFamily="34" charset="0"/>
              </a:rPr>
              <a:t>（网络层地址）</a:t>
            </a:r>
            <a:endParaRPr lang="en-US" altLang="zh-CN" sz="2400" dirty="0">
              <a:latin typeface="Tahoma" panose="020B0604030504040204" pitchFamily="34" charset="0"/>
            </a:endParaRPr>
          </a:p>
          <a:p>
            <a:pPr lvl="1">
              <a:spcBef>
                <a:spcPct val="10000"/>
              </a:spcBef>
            </a:pPr>
            <a:r>
              <a:rPr lang="en-US" altLang="zh-CN" sz="2400" dirty="0">
                <a:solidFill>
                  <a:srgbClr val="FF0000"/>
                </a:solidFill>
                <a:latin typeface="Tahoma" panose="020B0604030504040204" pitchFamily="34" charset="0"/>
              </a:rPr>
              <a:t>MAC </a:t>
            </a:r>
            <a:r>
              <a:rPr lang="zh-CN" altLang="en-US" sz="2400" dirty="0">
                <a:solidFill>
                  <a:srgbClr val="FF0000"/>
                </a:solidFill>
                <a:latin typeface="Tahoma" panose="020B0604030504040204" pitchFamily="34" charset="0"/>
              </a:rPr>
              <a:t>地址</a:t>
            </a:r>
            <a:r>
              <a:rPr lang="zh-CN" altLang="en-US" sz="2400" dirty="0">
                <a:latin typeface="Tahoma" panose="020B0604030504040204" pitchFamily="34" charset="0"/>
              </a:rPr>
              <a:t>（数据链路层地址）</a:t>
            </a:r>
            <a:endParaRPr lang="en-US" altLang="zh-CN" sz="2400" dirty="0">
              <a:solidFill>
                <a:srgbClr val="FF0000"/>
              </a:solidFill>
            </a:endParaRPr>
          </a:p>
        </p:txBody>
      </p:sp>
      <p:grpSp>
        <p:nvGrpSpPr>
          <p:cNvPr id="58" name="组合 57"/>
          <p:cNvGrpSpPr/>
          <p:nvPr/>
        </p:nvGrpSpPr>
        <p:grpSpPr>
          <a:xfrm>
            <a:off x="1217719" y="2420888"/>
            <a:ext cx="7551705" cy="3960440"/>
            <a:chOff x="1301914" y="2348880"/>
            <a:chExt cx="7551705" cy="3960440"/>
          </a:xfrm>
        </p:grpSpPr>
        <p:sp>
          <p:nvSpPr>
            <p:cNvPr id="53" name="矩形 52"/>
            <p:cNvSpPr/>
            <p:nvPr/>
          </p:nvSpPr>
          <p:spPr>
            <a:xfrm>
              <a:off x="2981245" y="5847655"/>
              <a:ext cx="4131995" cy="461665"/>
            </a:xfrm>
            <a:prstGeom prst="rect">
              <a:avLst/>
            </a:prstGeom>
          </p:spPr>
          <p:txBody>
            <a:bodyPr wrap="square">
              <a:spAutoFit/>
            </a:bodyPr>
            <a:lstStyle/>
            <a:p>
              <a:pPr algn="ctr"/>
              <a:r>
                <a:rPr lang="zh-CN" altLang="en-US" sz="2400" b="1" dirty="0">
                  <a:latin typeface="+mn-lt"/>
                  <a:ea typeface="黑体" panose="02010609060101010101" pitchFamily="2" charset="-122"/>
                </a:rPr>
                <a:t>每个接口都有两个地址</a:t>
              </a:r>
            </a:p>
          </p:txBody>
        </p:sp>
        <p:pic>
          <p:nvPicPr>
            <p:cNvPr id="11314" name="Picture 5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9510" y="4252719"/>
              <a:ext cx="853704" cy="760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15" name="Picture 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034" y="2799780"/>
              <a:ext cx="720081" cy="917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16" name="Picture 5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1699" y="4252719"/>
              <a:ext cx="1024445" cy="760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矩形 2"/>
            <p:cNvSpPr/>
            <p:nvPr/>
          </p:nvSpPr>
          <p:spPr>
            <a:xfrm>
              <a:off x="5427146" y="2875581"/>
              <a:ext cx="1822935" cy="400110"/>
            </a:xfrm>
            <a:prstGeom prst="rect">
              <a:avLst/>
            </a:prstGeom>
          </p:spPr>
          <p:txBody>
            <a:bodyPr wrap="none">
              <a:spAutoFit/>
            </a:bodyPr>
            <a:lstStyle/>
            <a:p>
              <a:r>
                <a:rPr lang="en-US" altLang="zh-CN" sz="2000" b="1" dirty="0">
                  <a:solidFill>
                    <a:srgbClr val="FF0000"/>
                  </a:solidFill>
                </a:rPr>
                <a:t>220.168.10.10</a:t>
              </a:r>
              <a:endParaRPr lang="zh-CN" altLang="en-US" sz="2000" b="1" dirty="0">
                <a:solidFill>
                  <a:srgbClr val="FF0000"/>
                </a:solidFill>
              </a:endParaRPr>
            </a:p>
          </p:txBody>
        </p:sp>
        <p:sp>
          <p:nvSpPr>
            <p:cNvPr id="4" name="矩形 3"/>
            <p:cNvSpPr/>
            <p:nvPr/>
          </p:nvSpPr>
          <p:spPr>
            <a:xfrm>
              <a:off x="5427146" y="3244914"/>
              <a:ext cx="2494594" cy="400110"/>
            </a:xfrm>
            <a:prstGeom prst="rect">
              <a:avLst/>
            </a:prstGeom>
          </p:spPr>
          <p:txBody>
            <a:bodyPr wrap="none">
              <a:spAutoFit/>
            </a:bodyPr>
            <a:lstStyle/>
            <a:p>
              <a:r>
                <a:rPr lang="en-US" altLang="zh-CN" sz="2000" b="1" dirty="0">
                  <a:solidFill>
                    <a:srgbClr val="0000FF"/>
                  </a:solidFill>
                </a:rPr>
                <a:t>00-15-C5-C6-CC-07</a:t>
              </a:r>
              <a:endParaRPr lang="zh-CN" altLang="en-US" sz="2000" b="1" dirty="0">
                <a:solidFill>
                  <a:srgbClr val="0000FF"/>
                </a:solidFill>
              </a:endParaRPr>
            </a:p>
          </p:txBody>
        </p:sp>
        <p:sp>
          <p:nvSpPr>
            <p:cNvPr id="50" name="矩形 49"/>
            <p:cNvSpPr/>
            <p:nvPr/>
          </p:nvSpPr>
          <p:spPr>
            <a:xfrm>
              <a:off x="6435258" y="3923764"/>
              <a:ext cx="1659429" cy="369332"/>
            </a:xfrm>
            <a:prstGeom prst="rect">
              <a:avLst/>
            </a:prstGeom>
          </p:spPr>
          <p:txBody>
            <a:bodyPr wrap="none">
              <a:spAutoFit/>
            </a:bodyPr>
            <a:lstStyle/>
            <a:p>
              <a:pPr algn="ctr"/>
              <a:r>
                <a:rPr lang="en-US" altLang="zh-CN" b="1" dirty="0"/>
                <a:t>220.168.10.20</a:t>
              </a:r>
              <a:endParaRPr lang="zh-CN" altLang="en-US" b="1" dirty="0"/>
            </a:p>
          </p:txBody>
        </p:sp>
        <p:sp>
          <p:nvSpPr>
            <p:cNvPr id="52" name="矩形 51"/>
            <p:cNvSpPr/>
            <p:nvPr/>
          </p:nvSpPr>
          <p:spPr>
            <a:xfrm>
              <a:off x="6166462" y="5003884"/>
              <a:ext cx="2223686" cy="369332"/>
            </a:xfrm>
            <a:prstGeom prst="rect">
              <a:avLst/>
            </a:prstGeom>
          </p:spPr>
          <p:txBody>
            <a:bodyPr wrap="none">
              <a:spAutoFit/>
            </a:bodyPr>
            <a:lstStyle/>
            <a:p>
              <a:pPr algn="ctr"/>
              <a:r>
                <a:rPr lang="en-US" altLang="zh-CN" b="1" dirty="0"/>
                <a:t>00-15-C5-C8-C4-95</a:t>
              </a:r>
              <a:endParaRPr lang="zh-CN" altLang="en-US" b="1" dirty="0"/>
            </a:p>
          </p:txBody>
        </p:sp>
        <p:sp>
          <p:nvSpPr>
            <p:cNvPr id="54" name="矩形 53"/>
            <p:cNvSpPr/>
            <p:nvPr/>
          </p:nvSpPr>
          <p:spPr>
            <a:xfrm>
              <a:off x="1705673" y="3923764"/>
              <a:ext cx="1659429" cy="369332"/>
            </a:xfrm>
            <a:prstGeom prst="rect">
              <a:avLst/>
            </a:prstGeom>
          </p:spPr>
          <p:txBody>
            <a:bodyPr wrap="none">
              <a:spAutoFit/>
            </a:bodyPr>
            <a:lstStyle/>
            <a:p>
              <a:pPr algn="ctr"/>
              <a:r>
                <a:rPr lang="en-US" altLang="zh-CN" b="1" dirty="0"/>
                <a:t>220.168.10.16</a:t>
              </a:r>
              <a:endParaRPr lang="zh-CN" altLang="en-US" b="1" dirty="0"/>
            </a:p>
          </p:txBody>
        </p:sp>
        <p:sp>
          <p:nvSpPr>
            <p:cNvPr id="55" name="矩形 54"/>
            <p:cNvSpPr/>
            <p:nvPr/>
          </p:nvSpPr>
          <p:spPr>
            <a:xfrm>
              <a:off x="1301914" y="5003884"/>
              <a:ext cx="2210926" cy="369332"/>
            </a:xfrm>
            <a:prstGeom prst="rect">
              <a:avLst/>
            </a:prstGeom>
          </p:spPr>
          <p:txBody>
            <a:bodyPr wrap="none">
              <a:spAutoFit/>
            </a:bodyPr>
            <a:lstStyle/>
            <a:p>
              <a:pPr algn="ctr"/>
              <a:r>
                <a:rPr lang="en-US" altLang="zh-CN" b="1" dirty="0"/>
                <a:t>00-15-C5-C6-C8-11</a:t>
              </a:r>
              <a:endParaRPr lang="zh-CN" altLang="en-US" b="1" dirty="0"/>
            </a:p>
          </p:txBody>
        </p:sp>
        <p:sp>
          <p:nvSpPr>
            <p:cNvPr id="5" name="矩形标注 4"/>
            <p:cNvSpPr/>
            <p:nvPr/>
          </p:nvSpPr>
          <p:spPr bwMode="auto">
            <a:xfrm>
              <a:off x="6249144" y="2348880"/>
              <a:ext cx="1081319" cy="378892"/>
            </a:xfrm>
            <a:prstGeom prst="wedgeRectCallout">
              <a:avLst>
                <a:gd name="adj1" fmla="val -47726"/>
                <a:gd name="adj2" fmla="val 100032"/>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en-US" altLang="zh-CN" sz="1800" b="1" i="0" u="none" strike="noStrike" cap="none" normalizeH="0" baseline="0" dirty="0">
                  <a:ln>
                    <a:noFill/>
                  </a:ln>
                  <a:solidFill>
                    <a:schemeClr val="tx1"/>
                  </a:solidFill>
                  <a:effectLst/>
                  <a:latin typeface="Arial" panose="020B0604020202020204" pitchFamily="34" charset="0"/>
                </a:rPr>
                <a:t>IP </a:t>
              </a:r>
              <a:r>
                <a:rPr kumimoji="0" lang="zh-CN" altLang="en-US" sz="1800" b="1" i="0" u="none" strike="noStrike" cap="none" normalizeH="0" baseline="0" dirty="0">
                  <a:ln>
                    <a:noFill/>
                  </a:ln>
                  <a:solidFill>
                    <a:schemeClr val="tx1"/>
                  </a:solidFill>
                  <a:effectLst/>
                  <a:latin typeface="Arial" panose="020B0604020202020204" pitchFamily="34" charset="0"/>
                </a:rPr>
                <a:t>地址</a:t>
              </a:r>
            </a:p>
          </p:txBody>
        </p:sp>
        <p:sp>
          <p:nvSpPr>
            <p:cNvPr id="56" name="矩形标注 55"/>
            <p:cNvSpPr/>
            <p:nvPr/>
          </p:nvSpPr>
          <p:spPr bwMode="auto">
            <a:xfrm>
              <a:off x="7545288" y="2618060"/>
              <a:ext cx="1308331" cy="378892"/>
            </a:xfrm>
            <a:prstGeom prst="wedgeRectCallout">
              <a:avLst>
                <a:gd name="adj1" fmla="val -64020"/>
                <a:gd name="adj2" fmla="val 132276"/>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lang="en-US" altLang="zh-CN" b="1" dirty="0"/>
                <a:t>MAC</a:t>
              </a:r>
              <a:r>
                <a:rPr kumimoji="0" lang="en-US" altLang="zh-CN" sz="1800" b="1" i="0" u="none" strike="noStrike" cap="none" normalizeH="0" baseline="0" dirty="0">
                  <a:ln>
                    <a:noFill/>
                  </a:ln>
                  <a:solidFill>
                    <a:schemeClr val="tx1"/>
                  </a:solidFill>
                  <a:effectLst/>
                  <a:latin typeface="Arial" panose="020B0604020202020204" pitchFamily="34" charset="0"/>
                </a:rPr>
                <a:t> </a:t>
              </a:r>
              <a:r>
                <a:rPr kumimoji="0" lang="zh-CN" altLang="en-US" sz="1800" b="1" i="0" u="none" strike="noStrike" cap="none" normalizeH="0" baseline="0" dirty="0">
                  <a:ln>
                    <a:noFill/>
                  </a:ln>
                  <a:solidFill>
                    <a:schemeClr val="tx1"/>
                  </a:solidFill>
                  <a:effectLst/>
                  <a:latin typeface="Arial" panose="020B0604020202020204" pitchFamily="34" charset="0"/>
                </a:rPr>
                <a:t>地址</a:t>
              </a:r>
            </a:p>
          </p:txBody>
        </p:sp>
        <p:cxnSp>
          <p:nvCxnSpPr>
            <p:cNvPr id="9" name="直接箭头连接符 8"/>
            <p:cNvCxnSpPr/>
            <p:nvPr/>
          </p:nvCxnSpPr>
          <p:spPr bwMode="auto">
            <a:xfrm flipH="1">
              <a:off x="5090594" y="3068960"/>
              <a:ext cx="381534"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箭头连接符 56"/>
            <p:cNvCxnSpPr/>
            <p:nvPr/>
          </p:nvCxnSpPr>
          <p:spPr bwMode="auto">
            <a:xfrm flipH="1">
              <a:off x="5090594" y="3460358"/>
              <a:ext cx="381534"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 name="椭圆 11"/>
            <p:cNvSpPr/>
            <p:nvPr/>
          </p:nvSpPr>
          <p:spPr bwMode="auto">
            <a:xfrm>
              <a:off x="4088904" y="4092887"/>
              <a:ext cx="1800200" cy="1080120"/>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en-US" altLang="zh-CN" sz="2400" b="1" i="0" u="none" strike="noStrike" cap="none" normalizeH="0" baseline="0" dirty="0">
                  <a:ln>
                    <a:noFill/>
                  </a:ln>
                  <a:solidFill>
                    <a:schemeClr val="tx1"/>
                  </a:solidFill>
                  <a:effectLst/>
                  <a:latin typeface="Arial" panose="020B0604020202020204" pitchFamily="34" charset="0"/>
                </a:rPr>
                <a:t>LAN</a:t>
              </a:r>
              <a:endParaRPr kumimoji="0" lang="zh-CN" altLang="en-US" sz="2400" b="1" i="0" u="none" strike="noStrike" cap="none" normalizeH="0" baseline="0" dirty="0">
                <a:ln>
                  <a:noFill/>
                </a:ln>
                <a:solidFill>
                  <a:schemeClr val="tx1"/>
                </a:solidFill>
                <a:effectLst/>
                <a:latin typeface="Arial" panose="020B0604020202020204" pitchFamily="34" charset="0"/>
              </a:endParaRPr>
            </a:p>
          </p:txBody>
        </p:sp>
        <p:cxnSp>
          <p:nvCxnSpPr>
            <p:cNvPr id="14" name="直接连接符 13"/>
            <p:cNvCxnSpPr>
              <a:stCxn id="11316" idx="3"/>
              <a:endCxn id="12" idx="2"/>
            </p:cNvCxnSpPr>
            <p:nvPr/>
          </p:nvCxnSpPr>
          <p:spPr bwMode="auto">
            <a:xfrm flipV="1">
              <a:off x="3156144" y="4632947"/>
              <a:ext cx="932760"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15"/>
            <p:cNvCxnSpPr>
              <a:stCxn id="11314" idx="1"/>
              <a:endCxn id="12" idx="6"/>
            </p:cNvCxnSpPr>
            <p:nvPr/>
          </p:nvCxnSpPr>
          <p:spPr bwMode="auto">
            <a:xfrm flipH="1" flipV="1">
              <a:off x="5889104" y="4632947"/>
              <a:ext cx="690406"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endCxn id="12" idx="0"/>
            </p:cNvCxnSpPr>
            <p:nvPr/>
          </p:nvCxnSpPr>
          <p:spPr bwMode="auto">
            <a:xfrm>
              <a:off x="4989004" y="3717032"/>
              <a:ext cx="0" cy="375855"/>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p:txBody>
          <a:bodyPr/>
          <a:lstStyle/>
          <a:p>
            <a:pPr algn="ctr"/>
            <a:r>
              <a:rPr lang="zh-CN" altLang="zh-CN" dirty="0"/>
              <a:t>地址解析协议</a:t>
            </a:r>
            <a:r>
              <a:rPr lang="en-US" altLang="zh-CN" dirty="0"/>
              <a:t> ARP </a:t>
            </a:r>
            <a:r>
              <a:rPr lang="zh-CN" altLang="en-US" dirty="0"/>
              <a:t>的作用</a:t>
            </a:r>
            <a:endParaRPr lang="en-US" altLang="zh-CN" dirty="0"/>
          </a:p>
        </p:txBody>
      </p:sp>
      <p:sp>
        <p:nvSpPr>
          <p:cNvPr id="2" name="内容占位符 1"/>
          <p:cNvSpPr>
            <a:spLocks noGrp="1"/>
          </p:cNvSpPr>
          <p:nvPr>
            <p:ph idx="1"/>
          </p:nvPr>
        </p:nvSpPr>
        <p:spPr/>
        <p:txBody>
          <a:bodyPr/>
          <a:lstStyle/>
          <a:p>
            <a:r>
              <a:rPr lang="zh-CN" altLang="zh-CN" dirty="0">
                <a:solidFill>
                  <a:srgbClr val="FF0000"/>
                </a:solidFill>
              </a:rPr>
              <a:t>已经知道了一个机器（主机或路由器）的</a:t>
            </a:r>
            <a:r>
              <a:rPr lang="en-US" altLang="zh-CN" dirty="0">
                <a:solidFill>
                  <a:srgbClr val="FF0000"/>
                </a:solidFill>
              </a:rPr>
              <a:t>IP</a:t>
            </a:r>
            <a:r>
              <a:rPr lang="zh-CN" altLang="zh-CN" dirty="0">
                <a:solidFill>
                  <a:srgbClr val="FF0000"/>
                </a:solidFill>
              </a:rPr>
              <a:t>地址，</a:t>
            </a:r>
            <a:r>
              <a:rPr lang="zh-CN" altLang="en-US" dirty="0">
                <a:solidFill>
                  <a:srgbClr val="FF0000"/>
                </a:solidFill>
              </a:rPr>
              <a:t>如何</a:t>
            </a:r>
            <a:r>
              <a:rPr lang="zh-CN" altLang="zh-CN" dirty="0">
                <a:solidFill>
                  <a:srgbClr val="FF0000"/>
                </a:solidFill>
              </a:rPr>
              <a:t>找出其相应的硬件地址</a:t>
            </a:r>
            <a:r>
              <a:rPr lang="zh-CN" altLang="en-US" dirty="0">
                <a:solidFill>
                  <a:srgbClr val="FF0000"/>
                </a:solidFill>
              </a:rPr>
              <a:t>？</a:t>
            </a:r>
            <a:endParaRPr lang="en-US" altLang="zh-CN" dirty="0">
              <a:solidFill>
                <a:srgbClr val="FF0000"/>
              </a:solidFill>
            </a:endParaRPr>
          </a:p>
          <a:p>
            <a:r>
              <a:rPr lang="zh-CN" altLang="zh-CN" dirty="0"/>
              <a:t>地址解析协议</a:t>
            </a:r>
            <a:r>
              <a:rPr lang="en-US" altLang="zh-CN" dirty="0"/>
              <a:t> ARP </a:t>
            </a:r>
            <a:r>
              <a:rPr lang="zh-CN" altLang="zh-CN" dirty="0"/>
              <a:t>就是用来解决这样的问题的。</a:t>
            </a:r>
            <a:endParaRPr lang="zh-CN" altLang="en-US" dirty="0"/>
          </a:p>
        </p:txBody>
      </p:sp>
      <p:grpSp>
        <p:nvGrpSpPr>
          <p:cNvPr id="3" name="组合 2"/>
          <p:cNvGrpSpPr/>
          <p:nvPr/>
        </p:nvGrpSpPr>
        <p:grpSpPr>
          <a:xfrm>
            <a:off x="632520" y="3100898"/>
            <a:ext cx="6801437" cy="2704366"/>
            <a:chOff x="887867" y="3068960"/>
            <a:chExt cx="6801437" cy="2704366"/>
          </a:xfrm>
        </p:grpSpPr>
        <p:sp>
          <p:nvSpPr>
            <p:cNvPr id="377872" name="Line 16"/>
            <p:cNvSpPr>
              <a:spLocks noChangeShapeType="1"/>
            </p:cNvSpPr>
            <p:nvPr/>
          </p:nvSpPr>
          <p:spPr bwMode="auto">
            <a:xfrm>
              <a:off x="1442906" y="3068960"/>
              <a:ext cx="0" cy="2088233"/>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77873" name="Text Box 17"/>
            <p:cNvSpPr txBox="1">
              <a:spLocks noChangeArrowheads="1"/>
            </p:cNvSpPr>
            <p:nvPr/>
          </p:nvSpPr>
          <p:spPr bwMode="auto">
            <a:xfrm>
              <a:off x="887867" y="3872235"/>
              <a:ext cx="1112805"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anose="02010609060101010101" pitchFamily="2" charset="-122"/>
                </a:rPr>
                <a:t>网络层</a:t>
              </a:r>
            </a:p>
          </p:txBody>
        </p:sp>
        <p:sp>
          <p:nvSpPr>
            <p:cNvPr id="377874" name="Rectangle 18"/>
            <p:cNvSpPr>
              <a:spLocks noChangeArrowheads="1"/>
            </p:cNvSpPr>
            <p:nvPr/>
          </p:nvSpPr>
          <p:spPr bwMode="auto">
            <a:xfrm>
              <a:off x="2067190" y="3068961"/>
              <a:ext cx="5622114" cy="1980219"/>
            </a:xfrm>
            <a:prstGeom prst="rect">
              <a:avLst/>
            </a:prstGeom>
            <a:solidFill>
              <a:srgbClr val="FFFF66"/>
            </a:solidFill>
            <a:ln w="9525">
              <a:solidFill>
                <a:schemeClr val="tx1"/>
              </a:solidFill>
              <a:miter lim="800000"/>
            </a:ln>
            <a:effectLst/>
          </p:spPr>
          <p:txBody>
            <a:bodyPr wrap="none" anchor="ctr"/>
            <a:lstStyle/>
            <a:p>
              <a:pPr algn="ctr"/>
              <a:r>
                <a:rPr lang="en-US" altLang="zh-CN" b="1">
                  <a:solidFill>
                    <a:srgbClr val="000099"/>
                  </a:solidFill>
                  <a:latin typeface="+mn-lt"/>
                  <a:ea typeface="黑体" panose="02010609060101010101" pitchFamily="2" charset="-122"/>
                </a:rPr>
                <a:t>ARP</a:t>
              </a:r>
            </a:p>
            <a:p>
              <a:pPr algn="ctr"/>
              <a:endParaRPr lang="en-US" altLang="zh-CN" b="1">
                <a:solidFill>
                  <a:srgbClr val="000099"/>
                </a:solidFill>
                <a:latin typeface="+mn-lt"/>
                <a:ea typeface="黑体" panose="02010609060101010101" pitchFamily="2" charset="-122"/>
              </a:endParaRPr>
            </a:p>
          </p:txBody>
        </p:sp>
        <p:sp>
          <p:nvSpPr>
            <p:cNvPr id="377875" name="Text Box 19"/>
            <p:cNvSpPr txBox="1">
              <a:spLocks noChangeArrowheads="1"/>
            </p:cNvSpPr>
            <p:nvPr/>
          </p:nvSpPr>
          <p:spPr bwMode="auto">
            <a:xfrm>
              <a:off x="6351166" y="3645024"/>
              <a:ext cx="942887" cy="400110"/>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anose="02010609060101010101" pitchFamily="2" charset="-122"/>
                </a:defRPr>
              </a:lvl1pPr>
            </a:lstStyle>
            <a:p>
              <a:r>
                <a:rPr lang="en-US" altLang="zh-CN" dirty="0">
                  <a:solidFill>
                    <a:srgbClr val="000099"/>
                  </a:solidFill>
                </a:rPr>
                <a:t>IP</a:t>
              </a:r>
              <a:r>
                <a:rPr lang="zh-CN" altLang="en-US" dirty="0">
                  <a:solidFill>
                    <a:srgbClr val="000099"/>
                  </a:solidFill>
                </a:rPr>
                <a:t>地址</a:t>
              </a:r>
            </a:p>
          </p:txBody>
        </p:sp>
        <p:sp>
          <p:nvSpPr>
            <p:cNvPr id="377876" name="Text Box 20"/>
            <p:cNvSpPr txBox="1">
              <a:spLocks noChangeArrowheads="1"/>
            </p:cNvSpPr>
            <p:nvPr/>
          </p:nvSpPr>
          <p:spPr bwMode="auto">
            <a:xfrm>
              <a:off x="6321152" y="5373216"/>
              <a:ext cx="1217000" cy="40011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a:solidFill>
                    <a:srgbClr val="000099"/>
                  </a:solidFill>
                  <a:latin typeface="+mn-lt"/>
                  <a:ea typeface="黑体" panose="02010609060101010101" pitchFamily="2" charset="-122"/>
                </a:rPr>
                <a:t>硬件地址</a:t>
              </a:r>
            </a:p>
          </p:txBody>
        </p:sp>
        <p:sp>
          <p:nvSpPr>
            <p:cNvPr id="377878" name="Rectangle 22"/>
            <p:cNvSpPr>
              <a:spLocks noChangeArrowheads="1"/>
            </p:cNvSpPr>
            <p:nvPr/>
          </p:nvSpPr>
          <p:spPr bwMode="auto">
            <a:xfrm>
              <a:off x="3296816" y="3651385"/>
              <a:ext cx="2651919" cy="785728"/>
            </a:xfrm>
            <a:prstGeom prst="rect">
              <a:avLst/>
            </a:prstGeom>
            <a:solidFill>
              <a:srgbClr val="CCECFF"/>
            </a:solidFill>
            <a:ln w="9525">
              <a:solidFill>
                <a:schemeClr val="tx1"/>
              </a:solidFill>
              <a:miter lim="800000"/>
            </a:ln>
            <a:effectLst>
              <a:outerShdw dist="35921" dir="2700000" algn="ctr" rotWithShape="0">
                <a:schemeClr val="bg2"/>
              </a:outerShdw>
            </a:effectLst>
          </p:spPr>
          <p:txBody>
            <a:bodyPr wrap="none" anchor="ctr"/>
            <a:lstStyle/>
            <a:p>
              <a:pPr algn="ctr"/>
              <a:r>
                <a:rPr lang="en-US" altLang="zh-CN" sz="2400" b="1" dirty="0">
                  <a:solidFill>
                    <a:srgbClr val="000099"/>
                  </a:solidFill>
                  <a:latin typeface="+mn-lt"/>
                  <a:ea typeface="黑体" panose="02010609060101010101" pitchFamily="2" charset="-122"/>
                </a:rPr>
                <a:t>IP</a:t>
              </a:r>
            </a:p>
          </p:txBody>
        </p:sp>
        <p:sp>
          <p:nvSpPr>
            <p:cNvPr id="377880" name="Rectangle 24"/>
            <p:cNvSpPr>
              <a:spLocks noChangeArrowheads="1"/>
            </p:cNvSpPr>
            <p:nvPr/>
          </p:nvSpPr>
          <p:spPr bwMode="auto">
            <a:xfrm>
              <a:off x="3160977" y="3141985"/>
              <a:ext cx="779066" cy="309563"/>
            </a:xfrm>
            <a:prstGeom prst="rect">
              <a:avLst/>
            </a:prstGeom>
            <a:solidFill>
              <a:srgbClr val="CCECFF"/>
            </a:solidFill>
            <a:ln w="9525">
              <a:solidFill>
                <a:schemeClr val="tx1"/>
              </a:solidFill>
              <a:miter lim="800000"/>
            </a:ln>
            <a:effectLst>
              <a:outerShdw dist="35921" dir="2700000" algn="ctr" rotWithShape="0">
                <a:schemeClr val="bg2"/>
              </a:outerShdw>
            </a:effectLst>
          </p:spPr>
          <p:txBody>
            <a:bodyPr wrap="none" anchor="ctr"/>
            <a:lstStyle/>
            <a:p>
              <a:pPr algn="ctr"/>
              <a:r>
                <a:rPr lang="en-US" altLang="zh-CN" sz="1800" b="1">
                  <a:solidFill>
                    <a:srgbClr val="000099"/>
                  </a:solidFill>
                  <a:latin typeface="+mn-lt"/>
                  <a:ea typeface="黑体" panose="02010609060101010101" pitchFamily="2" charset="-122"/>
                </a:rPr>
                <a:t>IGMP</a:t>
              </a:r>
            </a:p>
          </p:txBody>
        </p:sp>
        <p:sp>
          <p:nvSpPr>
            <p:cNvPr id="377881" name="Freeform 25"/>
            <p:cNvSpPr/>
            <p:nvPr/>
          </p:nvSpPr>
          <p:spPr bwMode="auto">
            <a:xfrm>
              <a:off x="5950453" y="4077072"/>
              <a:ext cx="1012958" cy="360041"/>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57150" cmpd="sng">
              <a:solidFill>
                <a:srgbClr val="0000FF"/>
              </a:solidFill>
              <a:round/>
              <a:headEnd type="none" w="med" len="med"/>
              <a:tailEnd type="triangle" w="med" len="med"/>
            </a:ln>
            <a:effectLst/>
          </p:spPr>
          <p:txBody>
            <a:bodyPr/>
            <a:lstStyle/>
            <a:p>
              <a:endParaRPr lang="zh-CN" altLang="en-US" b="1">
                <a:solidFill>
                  <a:srgbClr val="000099"/>
                </a:solidFill>
                <a:latin typeface="+mn-lt"/>
                <a:ea typeface="黑体" panose="02010609060101010101" pitchFamily="2" charset="-122"/>
              </a:endParaRPr>
            </a:p>
          </p:txBody>
        </p:sp>
        <p:sp>
          <p:nvSpPr>
            <p:cNvPr id="377882" name="Line 26"/>
            <p:cNvSpPr>
              <a:spLocks noChangeShapeType="1"/>
            </p:cNvSpPr>
            <p:nvPr/>
          </p:nvSpPr>
          <p:spPr bwMode="auto">
            <a:xfrm>
              <a:off x="6969224" y="4725144"/>
              <a:ext cx="0" cy="648072"/>
            </a:xfrm>
            <a:prstGeom prst="line">
              <a:avLst/>
            </a:prstGeom>
            <a:noFill/>
            <a:ln w="57150">
              <a:solidFill>
                <a:srgbClr val="00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77885" name="Rectangle 29"/>
            <p:cNvSpPr>
              <a:spLocks noChangeArrowheads="1"/>
            </p:cNvSpPr>
            <p:nvPr/>
          </p:nvSpPr>
          <p:spPr bwMode="auto">
            <a:xfrm>
              <a:off x="2301081" y="3141985"/>
              <a:ext cx="779066" cy="309563"/>
            </a:xfrm>
            <a:prstGeom prst="rect">
              <a:avLst/>
            </a:prstGeom>
            <a:solidFill>
              <a:srgbClr val="CCECFF"/>
            </a:solidFill>
            <a:ln w="9525">
              <a:solidFill>
                <a:schemeClr val="tx1"/>
              </a:solidFill>
              <a:miter lim="800000"/>
            </a:ln>
            <a:effectLst>
              <a:outerShdw dist="35921" dir="2700000" algn="ctr" rotWithShape="0">
                <a:schemeClr val="bg2"/>
              </a:outerShdw>
            </a:effectLst>
          </p:spPr>
          <p:txBody>
            <a:bodyPr wrap="none" anchor="ctr"/>
            <a:lstStyle/>
            <a:p>
              <a:pPr algn="ctr"/>
              <a:r>
                <a:rPr lang="en-US" altLang="zh-CN" sz="1800" b="1">
                  <a:solidFill>
                    <a:srgbClr val="000099"/>
                  </a:solidFill>
                  <a:latin typeface="+mn-lt"/>
                  <a:ea typeface="黑体" panose="02010609060101010101" pitchFamily="2" charset="-122"/>
                </a:rPr>
                <a:t>ICMP</a:t>
              </a:r>
            </a:p>
          </p:txBody>
        </p:sp>
        <p:sp>
          <p:nvSpPr>
            <p:cNvPr id="377886" name="Rectangle 30"/>
            <p:cNvSpPr>
              <a:spLocks noChangeArrowheads="1"/>
            </p:cNvSpPr>
            <p:nvPr/>
          </p:nvSpPr>
          <p:spPr bwMode="auto">
            <a:xfrm>
              <a:off x="6506120" y="4437112"/>
              <a:ext cx="895152" cy="432048"/>
            </a:xfrm>
            <a:prstGeom prst="rect">
              <a:avLst/>
            </a:prstGeom>
            <a:solidFill>
              <a:srgbClr val="FFC000"/>
            </a:solidFill>
            <a:ln w="9525">
              <a:solidFill>
                <a:schemeClr val="tx1"/>
              </a:solidFill>
              <a:miter lim="800000"/>
            </a:ln>
            <a:effectLst>
              <a:outerShdw dist="35921" dir="2700000" algn="ctr" rotWithShape="0">
                <a:schemeClr val="bg2"/>
              </a:outerShdw>
            </a:effectLst>
          </p:spPr>
          <p:txBody>
            <a:bodyPr wrap="none" anchor="ctr"/>
            <a:lstStyle/>
            <a:p>
              <a:pPr algn="ctr"/>
              <a:r>
                <a:rPr lang="en-US" altLang="zh-CN" sz="2000" b="1" dirty="0">
                  <a:solidFill>
                    <a:srgbClr val="000099"/>
                  </a:solidFill>
                  <a:latin typeface="+mn-lt"/>
                  <a:ea typeface="黑体" panose="02010609060101010101" pitchFamily="2" charset="-122"/>
                </a:rPr>
                <a:t>ARP</a:t>
              </a:r>
            </a:p>
          </p:txBody>
        </p:sp>
      </p:grpSp>
      <p:sp>
        <p:nvSpPr>
          <p:cNvPr id="4" name="矩形 3"/>
          <p:cNvSpPr/>
          <p:nvPr/>
        </p:nvSpPr>
        <p:spPr>
          <a:xfrm>
            <a:off x="2333173" y="5805264"/>
            <a:ext cx="4131995" cy="461665"/>
          </a:xfrm>
          <a:prstGeom prst="rect">
            <a:avLst/>
          </a:prstGeom>
        </p:spPr>
        <p:txBody>
          <a:bodyPr wrap="square">
            <a:spAutoFit/>
          </a:bodyPr>
          <a:lstStyle/>
          <a:p>
            <a:pPr algn="ctr"/>
            <a:r>
              <a:rPr lang="en-US" altLang="zh-CN" sz="2400" b="1" dirty="0">
                <a:latin typeface="+mn-lt"/>
                <a:ea typeface="黑体" panose="02010609060101010101" pitchFamily="2" charset="-122"/>
              </a:rPr>
              <a:t>ARP </a:t>
            </a:r>
            <a:r>
              <a:rPr lang="zh-CN" altLang="zh-CN" sz="2400" b="1" dirty="0">
                <a:latin typeface="+mn-lt"/>
                <a:ea typeface="黑体" panose="02010609060101010101" pitchFamily="2" charset="-122"/>
              </a:rPr>
              <a:t>协议的作用</a:t>
            </a:r>
            <a:endParaRPr lang="zh-CN" altLang="en-US" sz="2400" b="1" dirty="0">
              <a:latin typeface="+mn-lt"/>
              <a:ea typeface="黑体" panose="02010609060101010101" pitchFamily="2" charset="-122"/>
            </a:endParaRPr>
          </a:p>
        </p:txBody>
      </p:sp>
      <p:sp>
        <p:nvSpPr>
          <p:cNvPr id="5" name="矩形 4"/>
          <p:cNvSpPr/>
          <p:nvPr/>
        </p:nvSpPr>
        <p:spPr>
          <a:xfrm>
            <a:off x="7617296" y="3068960"/>
            <a:ext cx="2144688" cy="2529923"/>
          </a:xfrm>
          <a:prstGeom prst="rect">
            <a:avLst/>
          </a:prstGeom>
          <a:solidFill>
            <a:srgbClr val="66FF66"/>
          </a:solidFill>
        </p:spPr>
        <p:txBody>
          <a:bodyPr wrap="square">
            <a:spAutoFit/>
          </a:bodyPr>
          <a:lstStyle/>
          <a:p>
            <a:pPr>
              <a:lnSpc>
                <a:spcPct val="110000"/>
              </a:lnSpc>
            </a:pPr>
            <a:r>
              <a:rPr lang="en-US" altLang="zh-CN" sz="2400" b="1" dirty="0">
                <a:solidFill>
                  <a:srgbClr val="C00000"/>
                </a:solidFill>
                <a:latin typeface="+mn-lt"/>
                <a:ea typeface="黑体" panose="02010609060101010101" pitchFamily="2" charset="-122"/>
              </a:rPr>
              <a:t>ARP </a:t>
            </a:r>
            <a:r>
              <a:rPr lang="zh-CN" altLang="en-US" sz="2400" b="1" dirty="0">
                <a:solidFill>
                  <a:srgbClr val="C00000"/>
                </a:solidFill>
                <a:latin typeface="+mn-lt"/>
                <a:ea typeface="黑体" panose="02010609060101010101" pitchFamily="2" charset="-122"/>
              </a:rPr>
              <a:t>作用：</a:t>
            </a:r>
            <a:endParaRPr lang="en-US" altLang="zh-CN" sz="2400" b="1" dirty="0">
              <a:solidFill>
                <a:srgbClr val="C00000"/>
              </a:solidFill>
              <a:latin typeface="+mn-lt"/>
              <a:ea typeface="黑体" panose="02010609060101010101" pitchFamily="2" charset="-122"/>
            </a:endParaRPr>
          </a:p>
          <a:p>
            <a:pPr>
              <a:lnSpc>
                <a:spcPct val="110000"/>
              </a:lnSpc>
            </a:pPr>
            <a:r>
              <a:rPr lang="zh-CN" altLang="zh-CN" sz="2400" b="1" dirty="0">
                <a:solidFill>
                  <a:srgbClr val="000099"/>
                </a:solidFill>
                <a:latin typeface="+mn-lt"/>
                <a:ea typeface="黑体" panose="02010609060101010101" pitchFamily="2" charset="-122"/>
              </a:rPr>
              <a:t>从网络层使用的</a:t>
            </a:r>
            <a:r>
              <a:rPr lang="en-US" altLang="zh-CN" sz="2400" b="1" dirty="0">
                <a:solidFill>
                  <a:srgbClr val="000099"/>
                </a:solidFill>
                <a:latin typeface="+mn-lt"/>
                <a:ea typeface="黑体" panose="02010609060101010101" pitchFamily="2" charset="-122"/>
              </a:rPr>
              <a:t> IP </a:t>
            </a:r>
            <a:r>
              <a:rPr lang="zh-CN" altLang="zh-CN" sz="2400" b="1" dirty="0">
                <a:solidFill>
                  <a:srgbClr val="000099"/>
                </a:solidFill>
                <a:latin typeface="+mn-lt"/>
                <a:ea typeface="黑体" panose="02010609060101010101" pitchFamily="2" charset="-122"/>
              </a:rPr>
              <a:t>地址，解析出在数据链路层使用的硬件地址</a:t>
            </a:r>
            <a:r>
              <a:rPr lang="zh-CN" altLang="en-US" sz="2400" b="1" dirty="0">
                <a:solidFill>
                  <a:srgbClr val="000099"/>
                </a:solidFill>
                <a:latin typeface="+mn-lt"/>
                <a:ea typeface="黑体" panose="02010609060101010101" pitchFamily="2" charset="-122"/>
              </a:rPr>
              <a:t>。</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992560" y="1052736"/>
            <a:ext cx="8568952" cy="3539430"/>
          </a:xfrm>
          <a:prstGeom prst="rect">
            <a:avLst/>
          </a:prstGeom>
        </p:spPr>
        <p:txBody>
          <a:bodyPr wrap="square">
            <a:spAutoFit/>
          </a:bodyPr>
          <a:lstStyle/>
          <a:p>
            <a:pPr eaLnBrk="1" hangingPunct="1"/>
            <a:r>
              <a:rPr lang="zh-CN" altLang="en-US" sz="3200" b="1" dirty="0">
                <a:solidFill>
                  <a:srgbClr val="C00000"/>
                </a:solidFill>
                <a:latin typeface="+mn-lt"/>
                <a:ea typeface="黑体" panose="02010609060101010101" pitchFamily="2" charset="-122"/>
              </a:rPr>
              <a:t>静态映射：</a:t>
            </a:r>
            <a:r>
              <a:rPr lang="zh-CN" altLang="en-US" sz="3200" b="1" dirty="0">
                <a:latin typeface="+mn-lt"/>
                <a:ea typeface="黑体" panose="02010609060101010101" pitchFamily="2" charset="-122"/>
              </a:rPr>
              <a:t>创建一个表，存储逻辑地址和物理地址的关联关系。然后将网络上的每个主机都存储这个表。缺点是映射表必须周期的更新，增加了网络的开销</a:t>
            </a:r>
            <a:endParaRPr lang="en-US" altLang="zh-CN" sz="3200" b="1" dirty="0">
              <a:latin typeface="+mn-lt"/>
              <a:ea typeface="黑体" panose="02010609060101010101" pitchFamily="2" charset="-122"/>
            </a:endParaRPr>
          </a:p>
          <a:p>
            <a:pPr eaLnBrk="1" hangingPunct="1"/>
            <a:endParaRPr lang="en-US" altLang="zh-CN" sz="3200" b="1" dirty="0">
              <a:latin typeface="+mn-lt"/>
              <a:ea typeface="黑体" panose="02010609060101010101" pitchFamily="2" charset="-122"/>
            </a:endParaRPr>
          </a:p>
          <a:p>
            <a:pPr eaLnBrk="1" hangingPunct="1"/>
            <a:r>
              <a:rPr lang="zh-CN" altLang="en-US" sz="3200" b="1" dirty="0">
                <a:solidFill>
                  <a:srgbClr val="C00000"/>
                </a:solidFill>
                <a:latin typeface="+mn-lt"/>
                <a:ea typeface="黑体" panose="02010609060101010101" pitchFamily="2" charset="-122"/>
              </a:rPr>
              <a:t>动态映射：</a:t>
            </a:r>
            <a:r>
              <a:rPr lang="zh-CN" altLang="en-US" sz="3200" b="1" dirty="0">
                <a:latin typeface="+mn-lt"/>
                <a:ea typeface="黑体" panose="02010609060101010101" pitchFamily="2" charset="-122"/>
              </a:rPr>
              <a:t>地址解析协议</a:t>
            </a:r>
            <a:r>
              <a:rPr lang="en-US" altLang="zh-CN" sz="3200" b="1" dirty="0">
                <a:latin typeface="+mn-lt"/>
                <a:ea typeface="黑体" panose="02010609060101010101" pitchFamily="2" charset="-122"/>
              </a:rPr>
              <a:t>ARP</a:t>
            </a:r>
            <a:r>
              <a:rPr lang="zh-CN" altLang="en-US" sz="3200" b="1" dirty="0">
                <a:latin typeface="+mn-lt"/>
                <a:ea typeface="黑体" panose="02010609060101010101" pitchFamily="2" charset="-122"/>
              </a:rPr>
              <a:t>和逆地址解析协议</a:t>
            </a:r>
            <a:r>
              <a:rPr lang="en-US" altLang="zh-CN" sz="3200" b="1" dirty="0">
                <a:latin typeface="+mn-lt"/>
                <a:ea typeface="黑体" panose="02010609060101010101" pitchFamily="2" charset="-122"/>
              </a:rPr>
              <a:t>RARP</a:t>
            </a:r>
          </a:p>
        </p:txBody>
      </p:sp>
      <p:grpSp>
        <p:nvGrpSpPr>
          <p:cNvPr id="6" name="Group 4"/>
          <p:cNvGrpSpPr/>
          <p:nvPr/>
        </p:nvGrpSpPr>
        <p:grpSpPr bwMode="auto">
          <a:xfrm>
            <a:off x="2373368" y="4658360"/>
            <a:ext cx="5315935" cy="1938992"/>
            <a:chOff x="1692" y="883"/>
            <a:chExt cx="1705" cy="1342"/>
          </a:xfrm>
        </p:grpSpPr>
        <p:sp>
          <p:nvSpPr>
            <p:cNvPr id="7" name="Text Box 5"/>
            <p:cNvSpPr txBox="1">
              <a:spLocks noChangeArrowheads="1"/>
            </p:cNvSpPr>
            <p:nvPr/>
          </p:nvSpPr>
          <p:spPr bwMode="auto">
            <a:xfrm>
              <a:off x="1692" y="1525"/>
              <a:ext cx="635"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algn="ctr">
                <a:spcBef>
                  <a:spcPct val="50000"/>
                </a:spcBef>
              </a:pPr>
              <a:r>
                <a:rPr lang="en-GB" altLang="zh-CN" sz="2400" b="1" dirty="0">
                  <a:solidFill>
                    <a:srgbClr val="FF0000"/>
                  </a:solidFill>
                  <a:latin typeface="Times New Roman" panose="02020603050405020304" pitchFamily="18" charset="0"/>
                </a:rPr>
                <a:t>ARP</a:t>
              </a:r>
              <a:endParaRPr lang="en-US" altLang="zh-CN" sz="2400" b="1" dirty="0">
                <a:solidFill>
                  <a:srgbClr val="FF0000"/>
                </a:solidFill>
                <a:latin typeface="Times New Roman" panose="02020603050405020304" pitchFamily="18" charset="0"/>
              </a:endParaRPr>
            </a:p>
          </p:txBody>
        </p:sp>
        <p:sp>
          <p:nvSpPr>
            <p:cNvPr id="8" name="Text Box 6"/>
            <p:cNvSpPr txBox="1">
              <a:spLocks noChangeArrowheads="1"/>
            </p:cNvSpPr>
            <p:nvPr/>
          </p:nvSpPr>
          <p:spPr bwMode="auto">
            <a:xfrm>
              <a:off x="1750" y="1975"/>
              <a:ext cx="157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algn="ctr">
                <a:spcBef>
                  <a:spcPct val="50000"/>
                </a:spcBef>
              </a:pPr>
              <a:r>
                <a:rPr lang="en-GB" altLang="zh-CN" sz="2400" b="1" dirty="0">
                  <a:latin typeface="Times New Roman" panose="02020603050405020304" pitchFamily="18" charset="0"/>
                </a:rPr>
                <a:t>48bit  MAC</a:t>
              </a:r>
              <a:r>
                <a:rPr lang="zh-CN" altLang="en-GB" sz="2400" b="1" dirty="0">
                  <a:latin typeface="Times New Roman" panose="02020603050405020304" pitchFamily="18" charset="0"/>
                </a:rPr>
                <a:t>地址</a:t>
              </a:r>
              <a:endParaRPr lang="zh-CN" altLang="en-US" sz="2400" b="1" dirty="0">
                <a:latin typeface="Times New Roman" panose="02020603050405020304" pitchFamily="18" charset="0"/>
              </a:endParaRPr>
            </a:p>
          </p:txBody>
        </p:sp>
        <p:sp>
          <p:nvSpPr>
            <p:cNvPr id="9" name="Text Box 7"/>
            <p:cNvSpPr txBox="1">
              <a:spLocks noChangeArrowheads="1"/>
            </p:cNvSpPr>
            <p:nvPr/>
          </p:nvSpPr>
          <p:spPr bwMode="auto">
            <a:xfrm>
              <a:off x="1713" y="883"/>
              <a:ext cx="157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algn="ctr">
                <a:spcBef>
                  <a:spcPct val="50000"/>
                </a:spcBef>
              </a:pPr>
              <a:r>
                <a:rPr lang="en-GB" altLang="zh-CN" sz="2400" b="1" dirty="0">
                  <a:latin typeface="Times New Roman" panose="02020603050405020304" pitchFamily="18" charset="0"/>
                </a:rPr>
                <a:t>32bit  IP</a:t>
              </a:r>
              <a:r>
                <a:rPr lang="zh-CN" altLang="en-GB" sz="2400" b="1" dirty="0">
                  <a:latin typeface="Times New Roman" panose="02020603050405020304" pitchFamily="18" charset="0"/>
                </a:rPr>
                <a:t>地址</a:t>
              </a:r>
              <a:endParaRPr lang="zh-CN" altLang="en-US" sz="2400" b="1" dirty="0">
                <a:latin typeface="Times New Roman" panose="02020603050405020304" pitchFamily="18" charset="0"/>
              </a:endParaRPr>
            </a:p>
          </p:txBody>
        </p:sp>
        <p:sp>
          <p:nvSpPr>
            <p:cNvPr id="10" name="Text Box 8"/>
            <p:cNvSpPr txBox="1">
              <a:spLocks noChangeArrowheads="1"/>
            </p:cNvSpPr>
            <p:nvPr/>
          </p:nvSpPr>
          <p:spPr bwMode="auto">
            <a:xfrm>
              <a:off x="2762" y="1498"/>
              <a:ext cx="635"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algn="ctr">
                <a:spcBef>
                  <a:spcPct val="50000"/>
                </a:spcBef>
              </a:pPr>
              <a:r>
                <a:rPr lang="en-GB" altLang="zh-CN" sz="2400" b="1" dirty="0">
                  <a:solidFill>
                    <a:srgbClr val="FF0000"/>
                  </a:solidFill>
                  <a:latin typeface="Times New Roman" panose="02020603050405020304" pitchFamily="18" charset="0"/>
                </a:rPr>
                <a:t>RARP</a:t>
              </a:r>
              <a:endParaRPr lang="en-US" altLang="zh-CN" sz="2400" b="1" dirty="0">
                <a:solidFill>
                  <a:srgbClr val="FF0000"/>
                </a:solidFill>
                <a:latin typeface="Times New Roman" panose="02020603050405020304" pitchFamily="18" charset="0"/>
              </a:endParaRPr>
            </a:p>
          </p:txBody>
        </p:sp>
        <p:sp>
          <p:nvSpPr>
            <p:cNvPr id="11" name="Line 9"/>
            <p:cNvSpPr>
              <a:spLocks noChangeShapeType="1"/>
            </p:cNvSpPr>
            <p:nvPr/>
          </p:nvSpPr>
          <p:spPr bwMode="auto">
            <a:xfrm>
              <a:off x="2302" y="1232"/>
              <a:ext cx="0" cy="769"/>
            </a:xfrm>
            <a:prstGeom prst="line">
              <a:avLst/>
            </a:prstGeom>
            <a:noFill/>
            <a:ln w="19050">
              <a:solidFill>
                <a:schemeClr val="tx2">
                  <a:lumMod val="60000"/>
                  <a:lumOff val="40000"/>
                </a:schemeClr>
              </a:solidFill>
              <a:round/>
              <a:tailEnd type="triangle" w="lg" len="lg"/>
            </a:ln>
          </p:spPr>
          <p:txBody>
            <a:bodyPr anchor="ctr"/>
            <a:lstStyle/>
            <a:p>
              <a:pPr>
                <a:defRPr/>
              </a:pPr>
              <a:endParaRPr lang="zh-CN" altLang="en-US">
                <a:latin typeface="Arial" panose="020B0604020202020204" pitchFamily="34" charset="0"/>
              </a:endParaRPr>
            </a:p>
          </p:txBody>
        </p:sp>
        <p:sp>
          <p:nvSpPr>
            <p:cNvPr id="12" name="Line 10"/>
            <p:cNvSpPr>
              <a:spLocks noChangeShapeType="1"/>
            </p:cNvSpPr>
            <p:nvPr/>
          </p:nvSpPr>
          <p:spPr bwMode="auto">
            <a:xfrm flipV="1">
              <a:off x="2704" y="1222"/>
              <a:ext cx="0" cy="779"/>
            </a:xfrm>
            <a:prstGeom prst="line">
              <a:avLst/>
            </a:prstGeom>
            <a:noFill/>
            <a:ln w="19050">
              <a:solidFill>
                <a:schemeClr val="tx2">
                  <a:lumMod val="60000"/>
                  <a:lumOff val="40000"/>
                </a:schemeClr>
              </a:solidFill>
              <a:round/>
              <a:tailEnd type="triangle" w="lg" len="lg"/>
            </a:ln>
          </p:spPr>
          <p:txBody>
            <a:bodyPr anchor="ctr"/>
            <a:lstStyle/>
            <a:p>
              <a:pPr>
                <a:defRPr/>
              </a:pPr>
              <a:endParaRPr lang="zh-CN" altLang="en-US">
                <a:latin typeface="Arial" panose="020B0604020202020204" pitchFamily="34" charset="0"/>
              </a:endParaRPr>
            </a:p>
          </p:txBody>
        </p:sp>
      </p:grpSp>
      <p:sp>
        <p:nvSpPr>
          <p:cNvPr id="13" name="Rectangle 2"/>
          <p:cNvSpPr>
            <a:spLocks noGrp="1" noChangeArrowheads="1"/>
          </p:cNvSpPr>
          <p:nvPr>
            <p:ph type="title"/>
          </p:nvPr>
        </p:nvSpPr>
        <p:spPr>
          <a:xfrm>
            <a:off x="495300" y="188640"/>
            <a:ext cx="9066212" cy="792088"/>
          </a:xfrm>
        </p:spPr>
        <p:txBody>
          <a:bodyPr/>
          <a:lstStyle/>
          <a:p>
            <a:pPr algn="ctr"/>
            <a:r>
              <a:rPr lang="zh-CN" altLang="en-US" dirty="0"/>
              <a:t>地址映射方式</a:t>
            </a:r>
            <a:endParaRPr lang="en-US" altLang="zh-CN"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amond(in)">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850"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endParaRPr lang="en-US" altLang="zh-CN" dirty="0"/>
          </a:p>
        </p:txBody>
      </p:sp>
      <p:sp>
        <p:nvSpPr>
          <p:cNvPr id="974851" name="Rectangle 3"/>
          <p:cNvSpPr>
            <a:spLocks noGrp="1" noChangeArrowheads="1"/>
          </p:cNvSpPr>
          <p:nvPr>
            <p:ph idx="1"/>
          </p:nvPr>
        </p:nvSpPr>
        <p:spPr/>
        <p:txBody>
          <a:bodyPr/>
          <a:lstStyle/>
          <a:p>
            <a:r>
              <a:rPr lang="zh-CN" altLang="en-US" dirty="0"/>
              <a:t>不管网络层使用的是什么协议，在实际网络的链路上传送数据帧时，最终还是必须使用硬件地址。 </a:t>
            </a:r>
          </a:p>
          <a:p>
            <a:r>
              <a:rPr lang="zh-CN" altLang="en-US" dirty="0"/>
              <a:t>每一个主机都设有一个 </a:t>
            </a:r>
            <a:r>
              <a:rPr lang="en-US" altLang="zh-CN" dirty="0">
                <a:solidFill>
                  <a:srgbClr val="FF0000"/>
                </a:solidFill>
              </a:rPr>
              <a:t>ARP </a:t>
            </a:r>
            <a:r>
              <a:rPr lang="zh-CN" altLang="en-US" dirty="0">
                <a:solidFill>
                  <a:srgbClr val="FF0000"/>
                </a:solidFill>
              </a:rPr>
              <a:t>高速缓存 </a:t>
            </a:r>
            <a:r>
              <a:rPr lang="en-US" altLang="zh-CN" dirty="0"/>
              <a:t>(ARP cache)</a:t>
            </a:r>
            <a:r>
              <a:rPr lang="zh-CN" altLang="en-US" dirty="0"/>
              <a:t>，里面有所在的局域网上的各主机和路由器的 </a:t>
            </a:r>
            <a:r>
              <a:rPr lang="en-US" altLang="zh-CN" dirty="0"/>
              <a:t>IP </a:t>
            </a:r>
            <a:r>
              <a:rPr lang="zh-CN" altLang="en-US" dirty="0"/>
              <a:t>地址到硬件地址的映射表。</a:t>
            </a:r>
          </a:p>
        </p:txBody>
      </p:sp>
      <p:grpSp>
        <p:nvGrpSpPr>
          <p:cNvPr id="2" name="组合 1"/>
          <p:cNvGrpSpPr/>
          <p:nvPr/>
        </p:nvGrpSpPr>
        <p:grpSpPr>
          <a:xfrm>
            <a:off x="1336749" y="4581128"/>
            <a:ext cx="7432675" cy="1185462"/>
            <a:chOff x="1192732" y="4009802"/>
            <a:chExt cx="7432675" cy="1185462"/>
          </a:xfrm>
        </p:grpSpPr>
        <p:sp>
          <p:nvSpPr>
            <p:cNvPr id="6" name="Rectangle 4"/>
            <p:cNvSpPr>
              <a:spLocks noChangeArrowheads="1"/>
            </p:cNvSpPr>
            <p:nvPr/>
          </p:nvSpPr>
          <p:spPr bwMode="auto">
            <a:xfrm>
              <a:off x="1192732" y="4009802"/>
              <a:ext cx="7432675" cy="584775"/>
            </a:xfrm>
            <a:prstGeom prst="rect">
              <a:avLst/>
            </a:prstGeom>
            <a:solidFill>
              <a:srgbClr val="FFFF00"/>
            </a:solidFill>
            <a:ln w="12700">
              <a:solidFill>
                <a:schemeClr val="tx1"/>
              </a:solidFill>
            </a:ln>
            <a:effectLst/>
          </p:spPr>
          <p:txBody>
            <a:bodyPr wrap="square">
              <a:spAutoFit/>
            </a:bodyPr>
            <a:lstStyle/>
            <a:p>
              <a:pPr algn="ctr"/>
              <a:r>
                <a:rPr kumimoji="0" lang="en-US" altLang="zh-CN" sz="3200" b="1" dirty="0">
                  <a:solidFill>
                    <a:srgbClr val="0000CC"/>
                  </a:solidFill>
                </a:rPr>
                <a:t>&lt; IP address</a:t>
              </a:r>
              <a:r>
                <a:rPr kumimoji="0" lang="zh-CN" altLang="en-US" sz="3200" b="1" dirty="0">
                  <a:solidFill>
                    <a:srgbClr val="0000CC"/>
                  </a:solidFill>
                </a:rPr>
                <a:t>；</a:t>
              </a:r>
              <a:r>
                <a:rPr kumimoji="0" lang="en-US" altLang="zh-CN" sz="3200" b="1" dirty="0">
                  <a:solidFill>
                    <a:srgbClr val="0000CC"/>
                  </a:solidFill>
                </a:rPr>
                <a:t>MAC address</a:t>
              </a:r>
              <a:r>
                <a:rPr kumimoji="0" lang="zh-CN" altLang="en-US" sz="3200" b="1" dirty="0">
                  <a:solidFill>
                    <a:srgbClr val="0000CC"/>
                  </a:solidFill>
                </a:rPr>
                <a:t>；</a:t>
              </a:r>
              <a:r>
                <a:rPr kumimoji="0" lang="en-US" altLang="zh-CN" sz="3200" b="1" dirty="0">
                  <a:solidFill>
                    <a:srgbClr val="0000CC"/>
                  </a:solidFill>
                </a:rPr>
                <a:t>TTL &gt;</a:t>
              </a:r>
            </a:p>
          </p:txBody>
        </p:sp>
        <p:sp>
          <p:nvSpPr>
            <p:cNvPr id="7" name="Rectangle 5"/>
            <p:cNvSpPr>
              <a:spLocks noChangeArrowheads="1"/>
            </p:cNvSpPr>
            <p:nvPr/>
          </p:nvSpPr>
          <p:spPr bwMode="auto">
            <a:xfrm>
              <a:off x="1421333" y="4585866"/>
              <a:ext cx="7204074" cy="609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spcBef>
                  <a:spcPct val="20000"/>
                </a:spcBef>
              </a:pPr>
              <a:r>
                <a:rPr kumimoji="0" lang="en-US" altLang="zh-CN" sz="2800" b="1" dirty="0">
                  <a:ea typeface="黑体" panose="02010609060101010101" pitchFamily="2" charset="-122"/>
                </a:rPr>
                <a:t>TTL (Time To Live)</a:t>
              </a:r>
              <a:r>
                <a:rPr kumimoji="0" lang="zh-CN" altLang="en-US" sz="2800" b="1" dirty="0">
                  <a:ea typeface="黑体" panose="02010609060101010101" pitchFamily="2" charset="-122"/>
                </a:rPr>
                <a:t>：地址映射有效时间 。</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74851">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850"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endParaRPr lang="en-US" altLang="zh-CN" dirty="0"/>
          </a:p>
        </p:txBody>
      </p:sp>
      <p:sp>
        <p:nvSpPr>
          <p:cNvPr id="974851" name="Rectangle 3"/>
          <p:cNvSpPr>
            <a:spLocks noGrp="1" noChangeArrowheads="1"/>
          </p:cNvSpPr>
          <p:nvPr>
            <p:ph idx="1"/>
          </p:nvPr>
        </p:nvSpPr>
        <p:spPr/>
        <p:txBody>
          <a:bodyPr/>
          <a:lstStyle/>
          <a:p>
            <a:r>
              <a:rPr lang="zh-CN" altLang="en-US" dirty="0"/>
              <a:t>当主机 </a:t>
            </a:r>
            <a:r>
              <a:rPr lang="en-US" altLang="zh-CN" dirty="0"/>
              <a:t>A </a:t>
            </a:r>
            <a:r>
              <a:rPr lang="zh-CN" altLang="en-US" dirty="0"/>
              <a:t>欲向本局域网上的某个主机 </a:t>
            </a:r>
            <a:r>
              <a:rPr lang="en-US" altLang="zh-CN" dirty="0"/>
              <a:t>B </a:t>
            </a:r>
            <a:r>
              <a:rPr lang="zh-CN" altLang="en-US" dirty="0"/>
              <a:t>发送 </a:t>
            </a:r>
            <a:r>
              <a:rPr lang="en-US" altLang="zh-CN" dirty="0"/>
              <a:t>IP </a:t>
            </a:r>
            <a:r>
              <a:rPr lang="zh-CN" altLang="en-US" dirty="0"/>
              <a:t>数据报时，就先在其 </a:t>
            </a:r>
            <a:r>
              <a:rPr lang="en-US" altLang="zh-CN" dirty="0"/>
              <a:t>ARP </a:t>
            </a:r>
            <a:r>
              <a:rPr lang="zh-CN" altLang="en-US" dirty="0"/>
              <a:t>高速缓存中查看有无主机 </a:t>
            </a:r>
            <a:r>
              <a:rPr lang="en-US" altLang="zh-CN" dirty="0"/>
              <a:t>B </a:t>
            </a:r>
            <a:r>
              <a:rPr lang="zh-CN" altLang="en-US" dirty="0"/>
              <a:t>的 </a:t>
            </a:r>
            <a:r>
              <a:rPr lang="en-US" altLang="zh-CN" dirty="0"/>
              <a:t>IP </a:t>
            </a:r>
            <a:r>
              <a:rPr lang="zh-CN" altLang="en-US" dirty="0"/>
              <a:t>地址。</a:t>
            </a:r>
            <a:endParaRPr lang="en-US" altLang="zh-CN" dirty="0"/>
          </a:p>
          <a:p>
            <a:pPr lvl="1"/>
            <a:r>
              <a:rPr lang="zh-CN" altLang="en-US" dirty="0">
                <a:solidFill>
                  <a:srgbClr val="FF0000"/>
                </a:solidFill>
              </a:rPr>
              <a:t>如有，</a:t>
            </a:r>
            <a:r>
              <a:rPr lang="zh-CN" altLang="en-US" dirty="0"/>
              <a:t>就可查出其对应的硬件地址，再将此硬件地址写入 </a:t>
            </a:r>
            <a:r>
              <a:rPr lang="en-US" altLang="zh-CN" dirty="0"/>
              <a:t>MAC </a:t>
            </a:r>
            <a:r>
              <a:rPr lang="zh-CN" altLang="en-US" dirty="0"/>
              <a:t>帧，然后通过局域网将该 </a:t>
            </a:r>
            <a:r>
              <a:rPr lang="en-US" altLang="zh-CN" dirty="0"/>
              <a:t>MAC </a:t>
            </a:r>
            <a:r>
              <a:rPr lang="zh-CN" altLang="en-US" dirty="0"/>
              <a:t>帧发往此硬件地址。</a:t>
            </a:r>
            <a:endParaRPr lang="en-US" altLang="zh-CN" dirty="0"/>
          </a:p>
          <a:p>
            <a:pPr lvl="1"/>
            <a:r>
              <a:rPr lang="zh-CN" altLang="en-US" dirty="0">
                <a:solidFill>
                  <a:srgbClr val="FF0000"/>
                </a:solidFill>
              </a:rPr>
              <a:t>如没有，</a:t>
            </a:r>
            <a:r>
              <a:rPr lang="en-US" altLang="zh-CN" dirty="0">
                <a:solidFill>
                  <a:srgbClr val="FF0000"/>
                </a:solidFill>
              </a:rPr>
              <a:t> </a:t>
            </a:r>
            <a:r>
              <a:rPr lang="zh-CN" altLang="zh-CN" dirty="0">
                <a:solidFill>
                  <a:srgbClr val="0000FF"/>
                </a:solidFill>
              </a:rPr>
              <a:t>分组</a:t>
            </a:r>
            <a:r>
              <a:rPr lang="zh-CN" altLang="zh-CN" dirty="0"/>
              <a:t>后，</a:t>
            </a:r>
            <a:r>
              <a:rPr lang="zh-CN" altLang="en-US" dirty="0"/>
              <a:t>将得到的 </a:t>
            </a:r>
            <a:r>
              <a:rPr lang="en-US" altLang="zh-CN" dirty="0"/>
              <a:t>IP </a:t>
            </a:r>
            <a:r>
              <a:rPr lang="zh-CN" altLang="zh-CN" dirty="0"/>
              <a:t>地址到硬件地址</a:t>
            </a:r>
            <a:r>
              <a:rPr lang="en-US" altLang="zh-CN" dirty="0"/>
              <a:t>ARP </a:t>
            </a:r>
            <a:r>
              <a:rPr lang="zh-CN" altLang="zh-CN" dirty="0"/>
              <a:t>进程在本局域网上</a:t>
            </a:r>
            <a:r>
              <a:rPr lang="zh-CN" altLang="zh-CN" dirty="0">
                <a:solidFill>
                  <a:srgbClr val="0000FF"/>
                </a:solidFill>
              </a:rPr>
              <a:t>广播发送</a:t>
            </a:r>
            <a:r>
              <a:rPr lang="zh-CN" altLang="zh-CN" dirty="0"/>
              <a:t>一个</a:t>
            </a:r>
            <a:r>
              <a:rPr lang="en-US" altLang="zh-CN" dirty="0"/>
              <a:t> </a:t>
            </a:r>
            <a:r>
              <a:rPr lang="en-US" altLang="zh-CN" dirty="0">
                <a:solidFill>
                  <a:srgbClr val="0000FF"/>
                </a:solidFill>
              </a:rPr>
              <a:t>ARP </a:t>
            </a:r>
            <a:r>
              <a:rPr lang="zh-CN" altLang="zh-CN" dirty="0">
                <a:solidFill>
                  <a:srgbClr val="0000FF"/>
                </a:solidFill>
              </a:rPr>
              <a:t>请求分组</a:t>
            </a:r>
            <a:r>
              <a:rPr lang="zh-CN" altLang="en-US" dirty="0">
                <a:solidFill>
                  <a:srgbClr val="0000FF"/>
                </a:solidFill>
              </a:rPr>
              <a:t>。</a:t>
            </a:r>
            <a:r>
              <a:rPr lang="zh-CN" altLang="zh-CN" dirty="0"/>
              <a:t>收到</a:t>
            </a:r>
            <a:r>
              <a:rPr lang="en-US" altLang="zh-CN" dirty="0"/>
              <a:t> </a:t>
            </a:r>
            <a:r>
              <a:rPr lang="en-US" altLang="zh-CN" dirty="0">
                <a:solidFill>
                  <a:srgbClr val="0000FF"/>
                </a:solidFill>
              </a:rPr>
              <a:t>ARP </a:t>
            </a:r>
            <a:r>
              <a:rPr lang="zh-CN" altLang="zh-CN" dirty="0">
                <a:solidFill>
                  <a:srgbClr val="0000FF"/>
                </a:solidFill>
              </a:rPr>
              <a:t>响应</a:t>
            </a:r>
            <a:r>
              <a:rPr lang="zh-CN" altLang="zh-CN" dirty="0"/>
              <a:t>的映射</a:t>
            </a:r>
            <a:r>
              <a:rPr lang="zh-CN" altLang="en-US" dirty="0"/>
              <a:t>写入 </a:t>
            </a:r>
            <a:r>
              <a:rPr lang="en-US" altLang="zh-CN" dirty="0"/>
              <a:t>ARP </a:t>
            </a:r>
            <a:r>
              <a:rPr lang="zh-CN" altLang="zh-CN" dirty="0"/>
              <a:t>高速缓存</a:t>
            </a:r>
            <a:r>
              <a:rPr lang="zh-CN" altLang="en-US" dirty="0"/>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74851">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1954"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p>
        </p:txBody>
      </p:sp>
      <p:sp>
        <p:nvSpPr>
          <p:cNvPr id="1661955" name="Rectangle 3"/>
          <p:cNvSpPr>
            <a:spLocks noGrp="1" noChangeArrowheads="1"/>
          </p:cNvSpPr>
          <p:nvPr>
            <p:ph idx="1"/>
          </p:nvPr>
        </p:nvSpPr>
        <p:spPr/>
        <p:txBody>
          <a:bodyPr/>
          <a:lstStyle/>
          <a:p>
            <a:pPr>
              <a:spcBef>
                <a:spcPts val="1200"/>
              </a:spcBef>
            </a:pPr>
            <a:r>
              <a:rPr lang="en-US" altLang="zh-CN" dirty="0">
                <a:solidFill>
                  <a:srgbClr val="FF0000"/>
                </a:solidFill>
              </a:rPr>
              <a:t>ARP</a:t>
            </a:r>
            <a:r>
              <a:rPr lang="zh-CN" altLang="en-US" dirty="0">
                <a:solidFill>
                  <a:srgbClr val="FF0000"/>
                </a:solidFill>
              </a:rPr>
              <a:t>请求分组：</a:t>
            </a:r>
            <a:r>
              <a:rPr lang="zh-CN" altLang="en-US" dirty="0"/>
              <a:t>包含发送方硬件地址 </a:t>
            </a:r>
            <a:r>
              <a:rPr lang="en-US" altLang="zh-CN" dirty="0"/>
              <a:t>/ </a:t>
            </a:r>
            <a:r>
              <a:rPr lang="zh-CN" altLang="en-US" dirty="0"/>
              <a:t>发送方 </a:t>
            </a:r>
            <a:r>
              <a:rPr lang="en-US" altLang="zh-CN" dirty="0"/>
              <a:t>IP </a:t>
            </a:r>
            <a:r>
              <a:rPr lang="zh-CN" altLang="en-US" dirty="0"/>
              <a:t>地址 </a:t>
            </a:r>
            <a:r>
              <a:rPr lang="en-US" altLang="zh-CN" dirty="0"/>
              <a:t>/ </a:t>
            </a:r>
            <a:r>
              <a:rPr lang="zh-CN" altLang="en-US" dirty="0">
                <a:solidFill>
                  <a:srgbClr val="0000FF"/>
                </a:solidFill>
              </a:rPr>
              <a:t>目标方硬件地址</a:t>
            </a:r>
            <a:r>
              <a:rPr lang="en-US" altLang="zh-CN" dirty="0">
                <a:solidFill>
                  <a:srgbClr val="0000FF"/>
                </a:solidFill>
              </a:rPr>
              <a:t>(</a:t>
            </a:r>
            <a:r>
              <a:rPr lang="zh-CN" altLang="en-US" dirty="0">
                <a:solidFill>
                  <a:srgbClr val="0000FF"/>
                </a:solidFill>
              </a:rPr>
              <a:t>未知时填 </a:t>
            </a:r>
            <a:r>
              <a:rPr lang="en-US" altLang="zh-CN" dirty="0">
                <a:solidFill>
                  <a:srgbClr val="0000FF"/>
                </a:solidFill>
              </a:rPr>
              <a:t>0) </a:t>
            </a:r>
            <a:r>
              <a:rPr lang="en-US" altLang="zh-CN" dirty="0"/>
              <a:t>/ </a:t>
            </a:r>
            <a:r>
              <a:rPr lang="zh-CN" altLang="en-US" dirty="0"/>
              <a:t>目标方 </a:t>
            </a:r>
            <a:r>
              <a:rPr lang="en-US" altLang="zh-CN" dirty="0"/>
              <a:t>IP </a:t>
            </a:r>
            <a:r>
              <a:rPr lang="zh-CN" altLang="en-US" dirty="0"/>
              <a:t>地址。</a:t>
            </a:r>
          </a:p>
          <a:p>
            <a:pPr>
              <a:spcBef>
                <a:spcPts val="1200"/>
              </a:spcBef>
            </a:pPr>
            <a:r>
              <a:rPr lang="zh-CN" altLang="en-US" dirty="0">
                <a:solidFill>
                  <a:srgbClr val="FF0000"/>
                </a:solidFill>
              </a:rPr>
              <a:t>本地广播 </a:t>
            </a:r>
            <a:r>
              <a:rPr lang="en-US" altLang="zh-CN" dirty="0">
                <a:solidFill>
                  <a:srgbClr val="FF0000"/>
                </a:solidFill>
              </a:rPr>
              <a:t>ARP </a:t>
            </a:r>
            <a:r>
              <a:rPr lang="zh-CN" altLang="en-US" dirty="0">
                <a:solidFill>
                  <a:srgbClr val="FF0000"/>
                </a:solidFill>
              </a:rPr>
              <a:t>请求</a:t>
            </a:r>
            <a:r>
              <a:rPr lang="zh-CN" altLang="en-US" dirty="0"/>
              <a:t>（路由器不转发</a:t>
            </a:r>
            <a:r>
              <a:rPr lang="en-US" altLang="zh-CN" dirty="0"/>
              <a:t>ARP</a:t>
            </a:r>
            <a:r>
              <a:rPr lang="zh-CN" altLang="en-US" dirty="0"/>
              <a:t>请求）。</a:t>
            </a:r>
          </a:p>
          <a:p>
            <a:pPr>
              <a:spcBef>
                <a:spcPts val="1200"/>
              </a:spcBef>
            </a:pPr>
            <a:r>
              <a:rPr lang="en-US" altLang="zh-CN" dirty="0">
                <a:solidFill>
                  <a:srgbClr val="FF0000"/>
                </a:solidFill>
              </a:rPr>
              <a:t>ARP </a:t>
            </a:r>
            <a:r>
              <a:rPr lang="zh-CN" altLang="en-US" dirty="0">
                <a:solidFill>
                  <a:srgbClr val="FF0000"/>
                </a:solidFill>
              </a:rPr>
              <a:t>响应分组：</a:t>
            </a:r>
            <a:r>
              <a:rPr lang="zh-CN" altLang="en-US" dirty="0"/>
              <a:t>包含发送方硬件地址 </a:t>
            </a:r>
            <a:r>
              <a:rPr lang="en-US" altLang="zh-CN" dirty="0"/>
              <a:t>/ </a:t>
            </a:r>
            <a:r>
              <a:rPr lang="zh-CN" altLang="en-US" dirty="0"/>
              <a:t>发送方 </a:t>
            </a:r>
            <a:r>
              <a:rPr lang="en-US" altLang="zh-CN" dirty="0"/>
              <a:t>IP</a:t>
            </a:r>
            <a:r>
              <a:rPr lang="zh-CN" altLang="en-US" dirty="0"/>
              <a:t>地址 </a:t>
            </a:r>
            <a:r>
              <a:rPr lang="en-US" altLang="zh-CN" dirty="0"/>
              <a:t>/ </a:t>
            </a:r>
            <a:r>
              <a:rPr lang="zh-CN" altLang="en-US" dirty="0"/>
              <a:t>目标方硬件地址 </a:t>
            </a:r>
            <a:r>
              <a:rPr lang="en-US" altLang="zh-CN" dirty="0"/>
              <a:t>/ </a:t>
            </a:r>
            <a:r>
              <a:rPr lang="zh-CN" altLang="en-US" dirty="0"/>
              <a:t>目标方 </a:t>
            </a:r>
            <a:r>
              <a:rPr lang="en-US" altLang="zh-CN" dirty="0"/>
              <a:t>IP </a:t>
            </a:r>
            <a:r>
              <a:rPr lang="zh-CN" altLang="en-US" dirty="0"/>
              <a:t>地址。</a:t>
            </a:r>
            <a:endParaRPr lang="zh-CN" altLang="en-US" dirty="0">
              <a:solidFill>
                <a:srgbClr val="0000FF"/>
              </a:solidFill>
            </a:endParaRPr>
          </a:p>
          <a:p>
            <a:pPr>
              <a:spcBef>
                <a:spcPts val="1200"/>
              </a:spcBef>
            </a:pPr>
            <a:r>
              <a:rPr lang="en-US" altLang="zh-CN" dirty="0">
                <a:solidFill>
                  <a:srgbClr val="FF0000"/>
                </a:solidFill>
              </a:rPr>
              <a:t>ARP </a:t>
            </a:r>
            <a:r>
              <a:rPr lang="zh-CN" altLang="en-US" dirty="0">
                <a:solidFill>
                  <a:srgbClr val="FF0000"/>
                </a:solidFill>
              </a:rPr>
              <a:t>分组封装在物理网络的帧中传输。</a:t>
            </a:r>
            <a:endParaRPr lang="zh-CN" altLang="en-US" sz="3200" dirty="0">
              <a:solidFill>
                <a:srgbClr val="FF0000"/>
              </a:solidFill>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241" name="Rectangle 105"/>
          <p:cNvSpPr>
            <a:spLocks noChangeArrowheads="1"/>
          </p:cNvSpPr>
          <p:nvPr/>
        </p:nvSpPr>
        <p:spPr bwMode="auto">
          <a:xfrm>
            <a:off x="-15552" y="0"/>
            <a:ext cx="9921552" cy="350043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219230" name="Group 94"/>
          <p:cNvGrpSpPr/>
          <p:nvPr/>
        </p:nvGrpSpPr>
        <p:grpSpPr bwMode="auto">
          <a:xfrm>
            <a:off x="3996723" y="4794251"/>
            <a:ext cx="1723231" cy="409575"/>
            <a:chOff x="249" y="663"/>
            <a:chExt cx="1002" cy="258"/>
          </a:xfrm>
          <a:solidFill>
            <a:srgbClr val="FF99FF"/>
          </a:solidFill>
        </p:grpSpPr>
        <p:sp>
          <p:nvSpPr>
            <p:cNvPr id="219231"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9232" name="Text Box 96"/>
            <p:cNvSpPr txBox="1">
              <a:spLocks noChangeArrowheads="1"/>
            </p:cNvSpPr>
            <p:nvPr/>
          </p:nvSpPr>
          <p:spPr bwMode="auto">
            <a:xfrm flipH="1">
              <a:off x="386" y="663"/>
              <a:ext cx="865" cy="258"/>
            </a:xfrm>
            <a:prstGeom prst="rect">
              <a:avLst/>
            </a:prstGeom>
            <a:grpFill/>
            <a:ln w="12700">
              <a:solidFill>
                <a:schemeClr val="tx1"/>
              </a:solidFill>
              <a:miter lim="800000"/>
            </a:ln>
            <a:effectLst>
              <a:outerShdw dist="35921" dir="2700000" algn="ctr" rotWithShape="0">
                <a:schemeClr val="bg2"/>
              </a:outerShdw>
            </a:effectLst>
          </p:spPr>
          <p:txBody>
            <a:bodyPr>
              <a:spAutoFit/>
            </a:bodyPr>
            <a:lstStyle/>
            <a:p>
              <a:r>
                <a:rPr kumimoji="1" lang="en-US" altLang="zh-CN" sz="2000" b="1">
                  <a:solidFill>
                    <a:srgbClr val="0000CC"/>
                  </a:solidFill>
                  <a:latin typeface="+mn-lt"/>
                  <a:ea typeface="黑体" panose="02010609060101010101" pitchFamily="2" charset="-122"/>
                </a:rPr>
                <a:t>ARP </a:t>
              </a:r>
              <a:r>
                <a:rPr kumimoji="1" lang="zh-CN" altLang="en-US" sz="2000" b="1">
                  <a:solidFill>
                    <a:srgbClr val="0000CC"/>
                  </a:solidFill>
                  <a:latin typeface="+mn-lt"/>
                  <a:ea typeface="黑体" panose="02010609060101010101" pitchFamily="2" charset="-122"/>
                </a:rPr>
                <a:t>响应</a:t>
              </a:r>
            </a:p>
          </p:txBody>
        </p:sp>
      </p:grpSp>
      <p:sp>
        <p:nvSpPr>
          <p:cNvPr id="219143" name="Line 7"/>
          <p:cNvSpPr>
            <a:spLocks noChangeShapeType="1"/>
          </p:cNvSpPr>
          <p:nvPr/>
        </p:nvSpPr>
        <p:spPr bwMode="auto">
          <a:xfrm rot="5400000">
            <a:off x="2079921" y="2311401"/>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144" name="Line 8"/>
          <p:cNvSpPr>
            <a:spLocks noChangeShapeType="1"/>
          </p:cNvSpPr>
          <p:nvPr/>
        </p:nvSpPr>
        <p:spPr bwMode="auto">
          <a:xfrm rot="5400000">
            <a:off x="4263263" y="2302669"/>
            <a:ext cx="588962"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145" name="Line 9"/>
          <p:cNvSpPr>
            <a:spLocks noChangeShapeType="1"/>
          </p:cNvSpPr>
          <p:nvPr/>
        </p:nvSpPr>
        <p:spPr bwMode="auto">
          <a:xfrm rot="5400000">
            <a:off x="6140350" y="2311401"/>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146" name="Line 10"/>
          <p:cNvSpPr>
            <a:spLocks noChangeShapeType="1"/>
          </p:cNvSpPr>
          <p:nvPr/>
        </p:nvSpPr>
        <p:spPr bwMode="auto">
          <a:xfrm rot="5400000">
            <a:off x="8353721" y="2311401"/>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147" name="Line 11"/>
          <p:cNvSpPr>
            <a:spLocks noChangeShapeType="1"/>
          </p:cNvSpPr>
          <p:nvPr/>
        </p:nvSpPr>
        <p:spPr bwMode="auto">
          <a:xfrm rot="5400000">
            <a:off x="662813" y="2311401"/>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219148" name="Picture 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333" y="2459038"/>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49"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96336" y="2459038"/>
            <a:ext cx="5434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50"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58871"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51"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87721"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152" name="Line 16"/>
          <p:cNvSpPr>
            <a:spLocks noChangeShapeType="1"/>
          </p:cNvSpPr>
          <p:nvPr/>
        </p:nvSpPr>
        <p:spPr bwMode="auto">
          <a:xfrm>
            <a:off x="131001" y="2017714"/>
            <a:ext cx="9298914" cy="20637"/>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153" name="Text Box 17"/>
          <p:cNvSpPr txBox="1">
            <a:spLocks noChangeArrowheads="1"/>
          </p:cNvSpPr>
          <p:nvPr/>
        </p:nvSpPr>
        <p:spPr bwMode="auto">
          <a:xfrm>
            <a:off x="2588583" y="2528889"/>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a:t>
            </a:r>
          </a:p>
        </p:txBody>
      </p:sp>
      <p:sp>
        <p:nvSpPr>
          <p:cNvPr id="219154" name="Text Box 18"/>
          <p:cNvSpPr txBox="1">
            <a:spLocks noChangeArrowheads="1"/>
          </p:cNvSpPr>
          <p:nvPr/>
        </p:nvSpPr>
        <p:spPr bwMode="auto">
          <a:xfrm>
            <a:off x="4743482" y="2405064"/>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Y</a:t>
            </a:r>
          </a:p>
        </p:txBody>
      </p:sp>
      <p:sp>
        <p:nvSpPr>
          <p:cNvPr id="219155" name="Text Box 19"/>
          <p:cNvSpPr txBox="1">
            <a:spLocks noChangeArrowheads="1"/>
          </p:cNvSpPr>
          <p:nvPr/>
        </p:nvSpPr>
        <p:spPr bwMode="auto">
          <a:xfrm>
            <a:off x="1150837" y="2405064"/>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X</a:t>
            </a:r>
          </a:p>
        </p:txBody>
      </p:sp>
      <p:sp>
        <p:nvSpPr>
          <p:cNvPr id="219156" name="Text Box 20"/>
          <p:cNvSpPr txBox="1">
            <a:spLocks noChangeArrowheads="1"/>
          </p:cNvSpPr>
          <p:nvPr/>
        </p:nvSpPr>
        <p:spPr bwMode="auto">
          <a:xfrm>
            <a:off x="6628374" y="2528889"/>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B</a:t>
            </a:r>
          </a:p>
        </p:txBody>
      </p:sp>
      <p:sp>
        <p:nvSpPr>
          <p:cNvPr id="219157" name="Text Box 21"/>
          <p:cNvSpPr txBox="1">
            <a:spLocks noChangeArrowheads="1"/>
          </p:cNvSpPr>
          <p:nvPr/>
        </p:nvSpPr>
        <p:spPr bwMode="auto">
          <a:xfrm>
            <a:off x="8848624" y="2405064"/>
            <a:ext cx="3417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Z</a:t>
            </a:r>
          </a:p>
        </p:txBody>
      </p:sp>
      <p:sp>
        <p:nvSpPr>
          <p:cNvPr id="219181" name="Text Box 45"/>
          <p:cNvSpPr txBox="1">
            <a:spLocks noChangeArrowheads="1"/>
          </p:cNvSpPr>
          <p:nvPr/>
        </p:nvSpPr>
        <p:spPr bwMode="auto">
          <a:xfrm>
            <a:off x="961035" y="3789364"/>
            <a:ext cx="2494209" cy="757130"/>
          </a:xfrm>
          <a:prstGeom prst="rect">
            <a:avLst/>
          </a:prstGeom>
          <a:solidFill>
            <a:srgbClr val="66FFFF"/>
          </a:solidFill>
          <a:ln w="9525">
            <a:solidFill>
              <a:schemeClr val="tx2"/>
            </a:solidFill>
            <a:miter lim="800000"/>
          </a:ln>
          <a:effectLst/>
        </p:spPr>
        <p:txBody>
          <a:bodyPr wrap="none">
            <a:spAutoFit/>
          </a:bodyPr>
          <a:lstStyle/>
          <a:p>
            <a:pPr algn="ctr">
              <a:lnSpc>
                <a:spcPct val="90000"/>
              </a:lnSpc>
            </a:pPr>
            <a:r>
              <a:rPr kumimoji="1" lang="zh-CN" altLang="en-US" sz="2400" b="1" dirty="0">
                <a:solidFill>
                  <a:srgbClr val="0000CC"/>
                </a:solidFill>
                <a:latin typeface="+mn-lt"/>
                <a:ea typeface="黑体" panose="02010609060101010101" pitchFamily="2" charset="-122"/>
              </a:rPr>
              <a:t>主机 </a:t>
            </a:r>
            <a:r>
              <a:rPr kumimoji="1" lang="en-US" altLang="zh-CN" sz="2400" b="1" dirty="0">
                <a:solidFill>
                  <a:srgbClr val="0000CC"/>
                </a:solidFill>
                <a:latin typeface="+mn-lt"/>
                <a:ea typeface="黑体" panose="02010609060101010101" pitchFamily="2" charset="-122"/>
              </a:rPr>
              <a:t>B </a:t>
            </a:r>
            <a:r>
              <a:rPr kumimoji="1" lang="zh-CN" altLang="en-US" sz="2400" b="1" dirty="0">
                <a:solidFill>
                  <a:srgbClr val="0000CC"/>
                </a:solidFill>
                <a:latin typeface="+mn-lt"/>
                <a:ea typeface="黑体" panose="02010609060101010101" pitchFamily="2" charset="-122"/>
              </a:rPr>
              <a:t>向 </a:t>
            </a:r>
            <a:r>
              <a:rPr kumimoji="1" lang="en-US" altLang="zh-CN" sz="2400" b="1" dirty="0">
                <a:solidFill>
                  <a:srgbClr val="0000CC"/>
                </a:solidFill>
                <a:latin typeface="+mn-lt"/>
                <a:ea typeface="黑体" panose="02010609060101010101" pitchFamily="2" charset="-122"/>
              </a:rPr>
              <a:t>A </a:t>
            </a:r>
            <a:r>
              <a:rPr kumimoji="1" lang="zh-CN" altLang="en-US" sz="2400" b="1" dirty="0">
                <a:solidFill>
                  <a:srgbClr val="C00000"/>
                </a:solidFill>
                <a:latin typeface="+mn-lt"/>
                <a:ea typeface="黑体" panose="02010609060101010101" pitchFamily="2" charset="-122"/>
              </a:rPr>
              <a:t>发送</a:t>
            </a:r>
          </a:p>
          <a:p>
            <a:pPr algn="ctr">
              <a:lnSpc>
                <a:spcPct val="90000"/>
              </a:lnSpc>
            </a:pPr>
            <a:r>
              <a:rPr kumimoji="1" lang="en-US" altLang="zh-CN" sz="2400" b="1" dirty="0">
                <a:solidFill>
                  <a:srgbClr val="C00000"/>
                </a:solidFill>
                <a:latin typeface="+mn-lt"/>
                <a:ea typeface="黑体" panose="02010609060101010101" pitchFamily="2" charset="-122"/>
              </a:rPr>
              <a:t>ARP </a:t>
            </a:r>
            <a:r>
              <a:rPr kumimoji="1" lang="zh-CN" altLang="en-US" sz="2400" b="1" dirty="0">
                <a:solidFill>
                  <a:srgbClr val="C00000"/>
                </a:solidFill>
                <a:latin typeface="+mn-lt"/>
                <a:ea typeface="黑体" panose="02010609060101010101" pitchFamily="2" charset="-122"/>
              </a:rPr>
              <a:t>响应分组 </a:t>
            </a:r>
          </a:p>
        </p:txBody>
      </p:sp>
      <p:sp>
        <p:nvSpPr>
          <p:cNvPr id="219182" name="Text Box 46"/>
          <p:cNvSpPr txBox="1">
            <a:spLocks noChangeArrowheads="1"/>
          </p:cNvSpPr>
          <p:nvPr/>
        </p:nvSpPr>
        <p:spPr bwMode="auto">
          <a:xfrm>
            <a:off x="468228" y="219076"/>
            <a:ext cx="2410853" cy="757130"/>
          </a:xfrm>
          <a:prstGeom prst="rect">
            <a:avLst/>
          </a:prstGeom>
          <a:solidFill>
            <a:srgbClr val="66FFFF"/>
          </a:solidFill>
          <a:ln w="9525">
            <a:solidFill>
              <a:schemeClr val="tx2"/>
            </a:solidFill>
            <a:miter lim="800000"/>
          </a:ln>
          <a:effectLst/>
        </p:spPr>
        <p:txBody>
          <a:bodyPr wrap="none">
            <a:spAutoFit/>
          </a:bodyPr>
          <a:lstStyle/>
          <a:p>
            <a:pPr algn="ctr">
              <a:lnSpc>
                <a:spcPct val="90000"/>
              </a:lnSpc>
            </a:pPr>
            <a:r>
              <a:rPr kumimoji="1" lang="zh-CN" altLang="en-US" sz="2400" b="1" dirty="0">
                <a:solidFill>
                  <a:srgbClr val="0000CC"/>
                </a:solidFill>
                <a:latin typeface="+mn-lt"/>
                <a:ea typeface="黑体" panose="02010609060101010101" pitchFamily="2" charset="-122"/>
              </a:rPr>
              <a:t>主机 </a:t>
            </a:r>
            <a:r>
              <a:rPr kumimoji="1" lang="en-US" altLang="zh-CN" sz="2400" b="1" dirty="0">
                <a:solidFill>
                  <a:srgbClr val="0000CC"/>
                </a:solidFill>
                <a:latin typeface="+mn-lt"/>
                <a:ea typeface="黑体" panose="02010609060101010101" pitchFamily="2" charset="-122"/>
              </a:rPr>
              <a:t>A </a:t>
            </a:r>
            <a:r>
              <a:rPr kumimoji="1" lang="zh-CN" altLang="en-US" sz="2400" b="1" dirty="0">
                <a:solidFill>
                  <a:srgbClr val="C00000"/>
                </a:solidFill>
                <a:latin typeface="+mn-lt"/>
                <a:ea typeface="黑体" panose="02010609060101010101" pitchFamily="2" charset="-122"/>
              </a:rPr>
              <a:t>广播发送</a:t>
            </a:r>
          </a:p>
          <a:p>
            <a:pPr algn="ctr">
              <a:lnSpc>
                <a:spcPct val="90000"/>
              </a:lnSpc>
            </a:pPr>
            <a:r>
              <a:rPr kumimoji="1" lang="en-US" altLang="zh-CN" sz="2400" b="1" dirty="0">
                <a:solidFill>
                  <a:srgbClr val="C00000"/>
                </a:solidFill>
                <a:latin typeface="+mn-lt"/>
                <a:ea typeface="黑体" panose="02010609060101010101" pitchFamily="2" charset="-122"/>
              </a:rPr>
              <a:t>ARP </a:t>
            </a:r>
            <a:r>
              <a:rPr kumimoji="1" lang="zh-CN" altLang="en-US" sz="2400" b="1" dirty="0">
                <a:solidFill>
                  <a:srgbClr val="C00000"/>
                </a:solidFill>
                <a:latin typeface="+mn-lt"/>
                <a:ea typeface="黑体" panose="02010609060101010101" pitchFamily="2" charset="-122"/>
              </a:rPr>
              <a:t>请求分组 </a:t>
            </a:r>
          </a:p>
        </p:txBody>
      </p:sp>
      <p:sp>
        <p:nvSpPr>
          <p:cNvPr id="219184" name="Text Box 48"/>
          <p:cNvSpPr txBox="1">
            <a:spLocks noChangeArrowheads="1"/>
          </p:cNvSpPr>
          <p:nvPr/>
        </p:nvSpPr>
        <p:spPr bwMode="auto">
          <a:xfrm>
            <a:off x="2882667" y="1473201"/>
            <a:ext cx="1310167" cy="400110"/>
          </a:xfrm>
          <a:prstGeom prst="rect">
            <a:avLst/>
          </a:prstGeom>
          <a:solidFill>
            <a:srgbClr val="FF99FF"/>
          </a:solidFill>
          <a:ln w="12700">
            <a:solidFill>
              <a:schemeClr val="tx1"/>
            </a:solidFill>
            <a:miter lim="800000"/>
          </a:ln>
          <a:effectLst>
            <a:outerShdw dist="35921" dir="2700000" algn="ctr" rotWithShape="0">
              <a:schemeClr val="bg2"/>
            </a:outerShdw>
          </a:effectLst>
        </p:spPr>
        <p:txBody>
          <a:bodyPr wrap="none">
            <a:spAutoFit/>
          </a:bodyPr>
          <a:lstStyle/>
          <a:p>
            <a:r>
              <a:rPr kumimoji="1" lang="en-US" altLang="zh-CN" sz="2000" b="1">
                <a:solidFill>
                  <a:srgbClr val="0000CC"/>
                </a:solidFill>
                <a:latin typeface="+mn-lt"/>
                <a:ea typeface="黑体" panose="02010609060101010101" pitchFamily="2" charset="-122"/>
              </a:rPr>
              <a:t>ARP </a:t>
            </a:r>
            <a:r>
              <a:rPr kumimoji="1" lang="zh-CN" altLang="en-US" sz="2000" b="1">
                <a:solidFill>
                  <a:srgbClr val="0000CC"/>
                </a:solidFill>
                <a:latin typeface="+mn-lt"/>
                <a:ea typeface="黑体" panose="02010609060101010101" pitchFamily="2" charset="-122"/>
              </a:rPr>
              <a:t>请求</a:t>
            </a:r>
          </a:p>
        </p:txBody>
      </p:sp>
      <p:sp>
        <p:nvSpPr>
          <p:cNvPr id="219185" name="AutoShape 49"/>
          <p:cNvSpPr>
            <a:spLocks noChangeArrowheads="1"/>
          </p:cNvSpPr>
          <p:nvPr/>
        </p:nvSpPr>
        <p:spPr bwMode="auto">
          <a:xfrm>
            <a:off x="4301496" y="1570039"/>
            <a:ext cx="235611" cy="204787"/>
          </a:xfrm>
          <a:prstGeom prst="rightArrow">
            <a:avLst>
              <a:gd name="adj1" fmla="val 50000"/>
              <a:gd name="adj2" fmla="val 26550"/>
            </a:avLst>
          </a:prstGeom>
          <a:solidFill>
            <a:srgbClr val="FF99FF"/>
          </a:solidFill>
          <a:ln w="9525">
            <a:solidFill>
              <a:schemeClr val="tx1"/>
            </a:solidFill>
            <a:miter lim="800000"/>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219186" name="Text Box 50"/>
          <p:cNvSpPr txBox="1">
            <a:spLocks noChangeArrowheads="1"/>
          </p:cNvSpPr>
          <p:nvPr/>
        </p:nvSpPr>
        <p:spPr bwMode="auto">
          <a:xfrm>
            <a:off x="4967055" y="1473201"/>
            <a:ext cx="1310167" cy="400110"/>
          </a:xfrm>
          <a:prstGeom prst="rect">
            <a:avLst/>
          </a:prstGeom>
          <a:solidFill>
            <a:srgbClr val="FF99FF"/>
          </a:solidFill>
          <a:ln w="12700">
            <a:solidFill>
              <a:schemeClr val="tx1"/>
            </a:solidFill>
            <a:miter lim="800000"/>
          </a:ln>
          <a:effectLst>
            <a:outerShdw dist="35921" dir="2700000" algn="ctr" rotWithShape="0">
              <a:schemeClr val="bg2"/>
            </a:outerShdw>
          </a:effectLst>
        </p:spPr>
        <p:txBody>
          <a:bodyPr wrap="none">
            <a:spAutoFit/>
          </a:bodyPr>
          <a:lstStyle/>
          <a:p>
            <a:r>
              <a:rPr kumimoji="1" lang="en-US" altLang="zh-CN" sz="2000" b="1">
                <a:solidFill>
                  <a:srgbClr val="0000CC"/>
                </a:solidFill>
                <a:latin typeface="+mn-lt"/>
                <a:ea typeface="黑体" panose="02010609060101010101" pitchFamily="2" charset="-122"/>
              </a:rPr>
              <a:t>ARP </a:t>
            </a:r>
            <a:r>
              <a:rPr kumimoji="1" lang="zh-CN" altLang="en-US" sz="2000" b="1">
                <a:solidFill>
                  <a:srgbClr val="0000CC"/>
                </a:solidFill>
                <a:latin typeface="+mn-lt"/>
                <a:ea typeface="黑体" panose="02010609060101010101" pitchFamily="2" charset="-122"/>
              </a:rPr>
              <a:t>请求</a:t>
            </a:r>
          </a:p>
        </p:txBody>
      </p:sp>
      <p:sp>
        <p:nvSpPr>
          <p:cNvPr id="219187" name="AutoShape 51"/>
          <p:cNvSpPr>
            <a:spLocks noChangeArrowheads="1"/>
          </p:cNvSpPr>
          <p:nvPr/>
        </p:nvSpPr>
        <p:spPr bwMode="auto">
          <a:xfrm>
            <a:off x="6353206" y="1595438"/>
            <a:ext cx="235612" cy="220662"/>
          </a:xfrm>
          <a:prstGeom prst="rightArrow">
            <a:avLst>
              <a:gd name="adj1" fmla="val 50000"/>
              <a:gd name="adj2" fmla="val 25000"/>
            </a:avLst>
          </a:prstGeom>
          <a:solidFill>
            <a:srgbClr val="FF99FF"/>
          </a:solidFill>
          <a:ln w="9525">
            <a:solidFill>
              <a:schemeClr val="tx1"/>
            </a:solidFill>
            <a:miter lim="800000"/>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219188" name="Text Box 52"/>
          <p:cNvSpPr txBox="1">
            <a:spLocks noChangeArrowheads="1"/>
          </p:cNvSpPr>
          <p:nvPr/>
        </p:nvSpPr>
        <p:spPr bwMode="auto">
          <a:xfrm>
            <a:off x="7010167" y="1473201"/>
            <a:ext cx="1310167" cy="400110"/>
          </a:xfrm>
          <a:prstGeom prst="rect">
            <a:avLst/>
          </a:prstGeom>
          <a:solidFill>
            <a:srgbClr val="FF99FF"/>
          </a:solidFill>
          <a:ln w="12700">
            <a:solidFill>
              <a:schemeClr val="tx1"/>
            </a:solidFill>
            <a:miter lim="800000"/>
          </a:ln>
          <a:effectLst/>
        </p:spPr>
        <p:txBody>
          <a:bodyPr wrap="none">
            <a:spAutoFit/>
          </a:bodyPr>
          <a:lstStyle/>
          <a:p>
            <a:r>
              <a:rPr kumimoji="1" lang="en-US" altLang="zh-CN" sz="2000" b="1" dirty="0">
                <a:solidFill>
                  <a:srgbClr val="0000CC"/>
                </a:solidFill>
                <a:latin typeface="+mn-lt"/>
                <a:ea typeface="黑体" panose="02010609060101010101" pitchFamily="2" charset="-122"/>
              </a:rPr>
              <a:t>ARP </a:t>
            </a:r>
            <a:r>
              <a:rPr kumimoji="1" lang="zh-CN" altLang="en-US" sz="2000" b="1" dirty="0">
                <a:solidFill>
                  <a:srgbClr val="0000CC"/>
                </a:solidFill>
                <a:latin typeface="+mn-lt"/>
                <a:ea typeface="黑体" panose="02010609060101010101" pitchFamily="2" charset="-122"/>
              </a:rPr>
              <a:t>请求</a:t>
            </a:r>
          </a:p>
        </p:txBody>
      </p:sp>
      <p:sp>
        <p:nvSpPr>
          <p:cNvPr id="219189" name="AutoShape 53"/>
          <p:cNvSpPr>
            <a:spLocks noChangeArrowheads="1"/>
          </p:cNvSpPr>
          <p:nvPr/>
        </p:nvSpPr>
        <p:spPr bwMode="auto">
          <a:xfrm>
            <a:off x="8418677" y="1558926"/>
            <a:ext cx="235611" cy="220663"/>
          </a:xfrm>
          <a:prstGeom prst="rightArrow">
            <a:avLst>
              <a:gd name="adj1" fmla="val 50000"/>
              <a:gd name="adj2" fmla="val 25000"/>
            </a:avLst>
          </a:prstGeom>
          <a:solidFill>
            <a:srgbClr val="FF99FF"/>
          </a:solidFill>
          <a:ln w="9525">
            <a:solidFill>
              <a:schemeClr val="tx1"/>
            </a:solidFill>
            <a:miter lim="800000"/>
          </a:ln>
          <a:effec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219229" name="Group 93"/>
          <p:cNvGrpSpPr/>
          <p:nvPr/>
        </p:nvGrpSpPr>
        <p:grpSpPr bwMode="auto">
          <a:xfrm>
            <a:off x="559229" y="1485901"/>
            <a:ext cx="1723231" cy="409575"/>
            <a:chOff x="249" y="663"/>
            <a:chExt cx="1002" cy="258"/>
          </a:xfrm>
          <a:solidFill>
            <a:srgbClr val="FF99FF"/>
          </a:solidFill>
        </p:grpSpPr>
        <p:sp>
          <p:nvSpPr>
            <p:cNvPr id="219141"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9190" name="Text Box 54"/>
            <p:cNvSpPr txBox="1">
              <a:spLocks noChangeArrowheads="1"/>
            </p:cNvSpPr>
            <p:nvPr/>
          </p:nvSpPr>
          <p:spPr bwMode="auto">
            <a:xfrm flipH="1">
              <a:off x="386" y="663"/>
              <a:ext cx="865" cy="258"/>
            </a:xfrm>
            <a:prstGeom prst="rect">
              <a:avLst/>
            </a:prstGeom>
            <a:grp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2000" b="1">
                  <a:solidFill>
                    <a:srgbClr val="0000CC"/>
                  </a:solidFill>
                  <a:latin typeface="+mn-lt"/>
                  <a:ea typeface="黑体" panose="02010609060101010101" pitchFamily="2" charset="-122"/>
                </a:rPr>
                <a:t>ARP </a:t>
              </a:r>
              <a:r>
                <a:rPr kumimoji="1" lang="zh-CN" altLang="en-US" sz="2000" b="1">
                  <a:solidFill>
                    <a:srgbClr val="0000CC"/>
                  </a:solidFill>
                  <a:latin typeface="+mn-lt"/>
                  <a:ea typeface="黑体" panose="02010609060101010101" pitchFamily="2" charset="-122"/>
                </a:rPr>
                <a:t>请求</a:t>
              </a:r>
            </a:p>
          </p:txBody>
        </p:sp>
      </p:grpSp>
      <p:sp>
        <p:nvSpPr>
          <p:cNvPr id="219191" name="Text Box 55"/>
          <p:cNvSpPr txBox="1">
            <a:spLocks noChangeArrowheads="1"/>
          </p:cNvSpPr>
          <p:nvPr/>
        </p:nvSpPr>
        <p:spPr bwMode="auto">
          <a:xfrm>
            <a:off x="2413165" y="2241551"/>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209.0.0.5</a:t>
            </a:r>
          </a:p>
        </p:txBody>
      </p:sp>
      <p:sp>
        <p:nvSpPr>
          <p:cNvPr id="219192" name="Text Box 56"/>
          <p:cNvSpPr txBox="1">
            <a:spLocks noChangeArrowheads="1"/>
          </p:cNvSpPr>
          <p:nvPr/>
        </p:nvSpPr>
        <p:spPr bwMode="auto">
          <a:xfrm>
            <a:off x="6391042" y="2135189"/>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209.0.0.6</a:t>
            </a:r>
          </a:p>
        </p:txBody>
      </p:sp>
      <p:sp>
        <p:nvSpPr>
          <p:cNvPr id="219193" name="Text Box 57"/>
          <p:cNvSpPr txBox="1">
            <a:spLocks noChangeArrowheads="1"/>
          </p:cNvSpPr>
          <p:nvPr/>
        </p:nvSpPr>
        <p:spPr bwMode="auto">
          <a:xfrm>
            <a:off x="1183512" y="2960689"/>
            <a:ext cx="24368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00-00-C0-15-AD-18</a:t>
            </a:r>
          </a:p>
        </p:txBody>
      </p:sp>
      <p:sp>
        <p:nvSpPr>
          <p:cNvPr id="219194" name="Text Box 58"/>
          <p:cNvSpPr txBox="1">
            <a:spLocks noChangeArrowheads="1"/>
          </p:cNvSpPr>
          <p:nvPr/>
        </p:nvSpPr>
        <p:spPr bwMode="auto">
          <a:xfrm>
            <a:off x="5093950" y="6237289"/>
            <a:ext cx="24657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08-00-2B-00-EE-0A</a:t>
            </a:r>
          </a:p>
        </p:txBody>
      </p:sp>
      <p:sp>
        <p:nvSpPr>
          <p:cNvPr id="219195" name="AutoShape 59"/>
          <p:cNvSpPr>
            <a:spLocks noChangeArrowheads="1"/>
          </p:cNvSpPr>
          <p:nvPr/>
        </p:nvSpPr>
        <p:spPr bwMode="auto">
          <a:xfrm>
            <a:off x="3434722" y="592139"/>
            <a:ext cx="6104890" cy="661987"/>
          </a:xfrm>
          <a:prstGeom prst="wedgeRoundRectCallout">
            <a:avLst>
              <a:gd name="adj1" fmla="val -51181"/>
              <a:gd name="adj2" fmla="val 85972"/>
              <a:gd name="adj3" fmla="val 16667"/>
            </a:avLst>
          </a:prstGeom>
          <a:solidFill>
            <a:srgbClr val="FF99FF"/>
          </a:solidFill>
          <a:ln w="9525">
            <a:solidFill>
              <a:schemeClr val="tx1"/>
            </a:solidFill>
            <a:miter lim="800000"/>
          </a:ln>
          <a:effectLst/>
        </p:spPr>
        <p:txBody>
          <a:bodyPr/>
          <a:lstStyle/>
          <a:p>
            <a:pPr algn="ctr"/>
            <a:endParaRPr kumimoji="1" lang="zh-CN" altLang="zh-CN" sz="2000" b="1">
              <a:solidFill>
                <a:srgbClr val="0000CC"/>
              </a:solidFill>
              <a:latin typeface="+mn-lt"/>
              <a:ea typeface="黑体" panose="02010609060101010101" pitchFamily="2" charset="-122"/>
            </a:endParaRPr>
          </a:p>
        </p:txBody>
      </p:sp>
      <p:sp>
        <p:nvSpPr>
          <p:cNvPr id="219196" name="Text Box 60"/>
          <p:cNvSpPr txBox="1">
            <a:spLocks noChangeArrowheads="1"/>
          </p:cNvSpPr>
          <p:nvPr/>
        </p:nvSpPr>
        <p:spPr bwMode="auto">
          <a:xfrm>
            <a:off x="3512111" y="558801"/>
            <a:ext cx="588494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我是 </a:t>
            </a:r>
            <a:r>
              <a:rPr kumimoji="1" lang="en-US" altLang="zh-CN" sz="2000" b="1" dirty="0">
                <a:solidFill>
                  <a:srgbClr val="0000CC"/>
                </a:solidFill>
                <a:latin typeface="+mn-lt"/>
                <a:ea typeface="黑体" panose="02010609060101010101" pitchFamily="2" charset="-122"/>
              </a:rPr>
              <a:t>209.0.0.5</a:t>
            </a:r>
            <a:r>
              <a:rPr kumimoji="1" lang="zh-CN" altLang="en-US" sz="2000" b="1" dirty="0">
                <a:solidFill>
                  <a:srgbClr val="0000CC"/>
                </a:solidFill>
                <a:latin typeface="+mn-lt"/>
                <a:ea typeface="黑体" panose="02010609060101010101" pitchFamily="2" charset="-122"/>
              </a:rPr>
              <a:t>，硬件地址是 </a:t>
            </a:r>
            <a:r>
              <a:rPr kumimoji="1" lang="en-US" altLang="zh-CN" sz="2000" b="1" dirty="0">
                <a:solidFill>
                  <a:srgbClr val="0000CC"/>
                </a:solidFill>
                <a:latin typeface="+mn-lt"/>
                <a:ea typeface="黑体" panose="02010609060101010101" pitchFamily="2" charset="-122"/>
              </a:rPr>
              <a:t>00-00-C0-15-AD-18</a:t>
            </a:r>
          </a:p>
          <a:p>
            <a:r>
              <a:rPr kumimoji="1" lang="zh-CN" altLang="en-US" sz="2000" b="1" dirty="0">
                <a:solidFill>
                  <a:srgbClr val="0000CC"/>
                </a:solidFill>
                <a:latin typeface="+mn-lt"/>
                <a:ea typeface="黑体" panose="02010609060101010101" pitchFamily="2" charset="-122"/>
              </a:rPr>
              <a:t>我想知道主机 </a:t>
            </a:r>
            <a:r>
              <a:rPr kumimoji="1" lang="en-US" altLang="zh-CN" sz="2000" b="1" dirty="0">
                <a:solidFill>
                  <a:srgbClr val="0000CC"/>
                </a:solidFill>
                <a:latin typeface="+mn-lt"/>
                <a:ea typeface="黑体" panose="02010609060101010101" pitchFamily="2" charset="-122"/>
              </a:rPr>
              <a:t>209.0.0.6 </a:t>
            </a:r>
            <a:r>
              <a:rPr kumimoji="1" lang="zh-CN" altLang="en-US" sz="2000" b="1" dirty="0">
                <a:solidFill>
                  <a:srgbClr val="0000CC"/>
                </a:solidFill>
                <a:latin typeface="+mn-lt"/>
                <a:ea typeface="黑体" panose="02010609060101010101" pitchFamily="2" charset="-122"/>
              </a:rPr>
              <a:t>的硬件地址</a:t>
            </a:r>
          </a:p>
        </p:txBody>
      </p:sp>
      <p:sp>
        <p:nvSpPr>
          <p:cNvPr id="219197" name="AutoShape 61"/>
          <p:cNvSpPr>
            <a:spLocks noChangeArrowheads="1"/>
          </p:cNvSpPr>
          <p:nvPr/>
        </p:nvSpPr>
        <p:spPr bwMode="auto">
          <a:xfrm>
            <a:off x="5248731" y="3933826"/>
            <a:ext cx="4216929" cy="727075"/>
          </a:xfrm>
          <a:prstGeom prst="wedgeRoundRectCallout">
            <a:avLst>
              <a:gd name="adj1" fmla="val -44574"/>
              <a:gd name="adj2" fmla="val 81657"/>
              <a:gd name="adj3" fmla="val 16667"/>
            </a:avLst>
          </a:prstGeom>
          <a:solidFill>
            <a:srgbClr val="FF99FF"/>
          </a:solidFill>
          <a:ln w="9525">
            <a:solidFill>
              <a:schemeClr val="tx1"/>
            </a:solidFill>
            <a:miter lim="800000"/>
          </a:ln>
          <a:effectLst/>
        </p:spPr>
        <p:txBody>
          <a:bodyPr/>
          <a:lstStyle/>
          <a:p>
            <a:pPr algn="ctr"/>
            <a:endParaRPr kumimoji="1" lang="zh-CN" altLang="zh-CN" sz="2000" b="1">
              <a:solidFill>
                <a:srgbClr val="0000CC"/>
              </a:solidFill>
              <a:latin typeface="+mn-lt"/>
              <a:ea typeface="黑体" panose="02010609060101010101" pitchFamily="2" charset="-122"/>
            </a:endParaRPr>
          </a:p>
        </p:txBody>
      </p:sp>
      <p:sp>
        <p:nvSpPr>
          <p:cNvPr id="219198" name="Text Box 62"/>
          <p:cNvSpPr txBox="1">
            <a:spLocks noChangeArrowheads="1"/>
          </p:cNvSpPr>
          <p:nvPr/>
        </p:nvSpPr>
        <p:spPr bwMode="auto">
          <a:xfrm>
            <a:off x="5317523" y="3933826"/>
            <a:ext cx="42220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dirty="0">
                <a:solidFill>
                  <a:srgbClr val="0000CC"/>
                </a:solidFill>
                <a:latin typeface="+mn-lt"/>
                <a:ea typeface="黑体" panose="02010609060101010101" pitchFamily="2" charset="-122"/>
              </a:rPr>
              <a:t>我是 </a:t>
            </a:r>
            <a:r>
              <a:rPr kumimoji="1" lang="en-US" altLang="zh-CN" sz="2000" b="1" dirty="0">
                <a:solidFill>
                  <a:srgbClr val="0000CC"/>
                </a:solidFill>
                <a:latin typeface="+mn-lt"/>
                <a:ea typeface="黑体" panose="02010609060101010101" pitchFamily="2" charset="-122"/>
              </a:rPr>
              <a:t>209.0.0.6</a:t>
            </a:r>
          </a:p>
          <a:p>
            <a:r>
              <a:rPr kumimoji="1" lang="zh-CN" altLang="en-US" sz="2000" b="1" dirty="0">
                <a:solidFill>
                  <a:srgbClr val="0000CC"/>
                </a:solidFill>
                <a:latin typeface="+mn-lt"/>
                <a:ea typeface="黑体" panose="02010609060101010101" pitchFamily="2" charset="-122"/>
              </a:rPr>
              <a:t>硬件地址是 </a:t>
            </a:r>
            <a:r>
              <a:rPr kumimoji="1" lang="en-US" altLang="zh-CN" sz="2000" b="1" dirty="0">
                <a:solidFill>
                  <a:srgbClr val="0000CC"/>
                </a:solidFill>
                <a:latin typeface="+mn-lt"/>
                <a:ea typeface="黑体" panose="02010609060101010101" pitchFamily="2" charset="-122"/>
              </a:rPr>
              <a:t>08-00-2B-00-EE-0A</a:t>
            </a:r>
          </a:p>
        </p:txBody>
      </p:sp>
      <p:pic>
        <p:nvPicPr>
          <p:cNvPr id="219199"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3602"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10" name="Line 74"/>
          <p:cNvSpPr>
            <a:spLocks noChangeShapeType="1"/>
          </p:cNvSpPr>
          <p:nvPr/>
        </p:nvSpPr>
        <p:spPr bwMode="auto">
          <a:xfrm rot="5400000">
            <a:off x="1955727" y="5621338"/>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11" name="Line 75"/>
          <p:cNvSpPr>
            <a:spLocks noChangeShapeType="1"/>
          </p:cNvSpPr>
          <p:nvPr/>
        </p:nvSpPr>
        <p:spPr bwMode="auto">
          <a:xfrm rot="5400000">
            <a:off x="4139068" y="5612607"/>
            <a:ext cx="588963"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12" name="Line 76"/>
          <p:cNvSpPr>
            <a:spLocks noChangeShapeType="1"/>
          </p:cNvSpPr>
          <p:nvPr/>
        </p:nvSpPr>
        <p:spPr bwMode="auto">
          <a:xfrm rot="5400000">
            <a:off x="6016154" y="5621338"/>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13" name="Line 77"/>
          <p:cNvSpPr>
            <a:spLocks noChangeShapeType="1"/>
          </p:cNvSpPr>
          <p:nvPr/>
        </p:nvSpPr>
        <p:spPr bwMode="auto">
          <a:xfrm rot="5400000">
            <a:off x="8229527" y="5621338"/>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14" name="Line 78"/>
          <p:cNvSpPr>
            <a:spLocks noChangeShapeType="1"/>
          </p:cNvSpPr>
          <p:nvPr/>
        </p:nvSpPr>
        <p:spPr bwMode="auto">
          <a:xfrm rot="5400000">
            <a:off x="538618" y="5621338"/>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219215" name="Picture 7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140" y="5768975"/>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6" name="Picture 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72141" y="5768975"/>
            <a:ext cx="5434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7"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34675"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8" name="Picture 8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63525"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19" name="Line 83"/>
          <p:cNvSpPr>
            <a:spLocks noChangeShapeType="1"/>
          </p:cNvSpPr>
          <p:nvPr/>
        </p:nvSpPr>
        <p:spPr bwMode="auto">
          <a:xfrm>
            <a:off x="6806" y="5327650"/>
            <a:ext cx="9298913" cy="20638"/>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20" name="Text Box 84"/>
          <p:cNvSpPr txBox="1">
            <a:spLocks noChangeArrowheads="1"/>
          </p:cNvSpPr>
          <p:nvPr/>
        </p:nvSpPr>
        <p:spPr bwMode="auto">
          <a:xfrm>
            <a:off x="2464388" y="583882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a:t>
            </a:r>
          </a:p>
        </p:txBody>
      </p:sp>
      <p:sp>
        <p:nvSpPr>
          <p:cNvPr id="219221" name="Text Box 85"/>
          <p:cNvSpPr txBox="1">
            <a:spLocks noChangeArrowheads="1"/>
          </p:cNvSpPr>
          <p:nvPr/>
        </p:nvSpPr>
        <p:spPr bwMode="auto">
          <a:xfrm>
            <a:off x="4619287" y="5715001"/>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Y</a:t>
            </a:r>
          </a:p>
        </p:txBody>
      </p:sp>
      <p:sp>
        <p:nvSpPr>
          <p:cNvPr id="219222" name="Text Box 86"/>
          <p:cNvSpPr txBox="1">
            <a:spLocks noChangeArrowheads="1"/>
          </p:cNvSpPr>
          <p:nvPr/>
        </p:nvSpPr>
        <p:spPr bwMode="auto">
          <a:xfrm>
            <a:off x="1026642" y="5715001"/>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X</a:t>
            </a:r>
          </a:p>
        </p:txBody>
      </p:sp>
      <p:sp>
        <p:nvSpPr>
          <p:cNvPr id="219223" name="Text Box 87"/>
          <p:cNvSpPr txBox="1">
            <a:spLocks noChangeArrowheads="1"/>
          </p:cNvSpPr>
          <p:nvPr/>
        </p:nvSpPr>
        <p:spPr bwMode="auto">
          <a:xfrm>
            <a:off x="6504179" y="583882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B</a:t>
            </a:r>
          </a:p>
        </p:txBody>
      </p:sp>
      <p:sp>
        <p:nvSpPr>
          <p:cNvPr id="219224" name="Text Box 88"/>
          <p:cNvSpPr txBox="1">
            <a:spLocks noChangeArrowheads="1"/>
          </p:cNvSpPr>
          <p:nvPr/>
        </p:nvSpPr>
        <p:spPr bwMode="auto">
          <a:xfrm>
            <a:off x="8724430" y="5715001"/>
            <a:ext cx="3417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Z</a:t>
            </a:r>
          </a:p>
        </p:txBody>
      </p:sp>
      <p:sp>
        <p:nvSpPr>
          <p:cNvPr id="219225" name="Text Box 89"/>
          <p:cNvSpPr txBox="1">
            <a:spLocks noChangeArrowheads="1"/>
          </p:cNvSpPr>
          <p:nvPr/>
        </p:nvSpPr>
        <p:spPr bwMode="auto">
          <a:xfrm>
            <a:off x="2288969" y="5551489"/>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209.0.0.5</a:t>
            </a:r>
          </a:p>
        </p:txBody>
      </p:sp>
      <p:sp>
        <p:nvSpPr>
          <p:cNvPr id="219226" name="Text Box 90"/>
          <p:cNvSpPr txBox="1">
            <a:spLocks noChangeArrowheads="1"/>
          </p:cNvSpPr>
          <p:nvPr/>
        </p:nvSpPr>
        <p:spPr bwMode="auto">
          <a:xfrm>
            <a:off x="6266848" y="5445126"/>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209.0.0.6</a:t>
            </a:r>
          </a:p>
        </p:txBody>
      </p:sp>
      <p:sp>
        <p:nvSpPr>
          <p:cNvPr id="219227" name="Text Box 91"/>
          <p:cNvSpPr txBox="1">
            <a:spLocks noChangeArrowheads="1"/>
          </p:cNvSpPr>
          <p:nvPr/>
        </p:nvSpPr>
        <p:spPr bwMode="auto">
          <a:xfrm>
            <a:off x="1265694" y="6270626"/>
            <a:ext cx="24368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00-00-C0-15-AD-18</a:t>
            </a:r>
          </a:p>
        </p:txBody>
      </p:sp>
      <p:pic>
        <p:nvPicPr>
          <p:cNvPr id="219228" name="Picture 9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79406"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33" name="Freeform 97"/>
          <p:cNvSpPr/>
          <p:nvPr/>
        </p:nvSpPr>
        <p:spPr bwMode="auto">
          <a:xfrm>
            <a:off x="2354691" y="2095500"/>
            <a:ext cx="210502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34" name="Freeform 98"/>
          <p:cNvSpPr/>
          <p:nvPr/>
        </p:nvSpPr>
        <p:spPr bwMode="auto">
          <a:xfrm>
            <a:off x="2352971" y="2095500"/>
            <a:ext cx="3979598"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37" name="Freeform 101"/>
          <p:cNvSpPr/>
          <p:nvPr/>
        </p:nvSpPr>
        <p:spPr bwMode="auto">
          <a:xfrm>
            <a:off x="2352971" y="2095500"/>
            <a:ext cx="632023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38" name="Freeform 102"/>
          <p:cNvSpPr/>
          <p:nvPr/>
        </p:nvSpPr>
        <p:spPr bwMode="auto">
          <a:xfrm flipH="1">
            <a:off x="872231" y="2095500"/>
            <a:ext cx="1480740"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19239" name="Freeform 103"/>
          <p:cNvSpPr/>
          <p:nvPr/>
        </p:nvSpPr>
        <p:spPr bwMode="auto">
          <a:xfrm flipH="1">
            <a:off x="2206419" y="5407025"/>
            <a:ext cx="3979598"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grpId="0"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p:stCondLst>
                              <p:cond delay="2000"/>
                            </p:stCondLst>
                            <p:childTnLst>
                              <p:par>
                                <p:cTn id="21" presetID="35" presetClass="emph" presetSubtype="0" repeatCount="4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p:stCondLst>
                              <p:cond delay="3500"/>
                            </p:stCondLst>
                            <p:childTnLst>
                              <p:par>
                                <p:cTn id="24" presetID="22" presetClass="entr" presetSubtype="2" fill="hold" grpId="0"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p:stCondLst>
                              <p:cond delay="4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P spid="219233" grpId="0" animBg="1"/>
      <p:bldP spid="219234" grpId="0" animBg="1"/>
      <p:bldP spid="219237" grpId="0" animBg="1"/>
      <p:bldP spid="219238" grpId="0" animBg="1"/>
      <p:bldP spid="21923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noChangeArrowheads="1"/>
          </p:cNvSpPr>
          <p:nvPr>
            <p:ph type="title"/>
          </p:nvPr>
        </p:nvSpPr>
        <p:spPr/>
        <p:txBody>
          <a:bodyPr/>
          <a:lstStyle/>
          <a:p>
            <a:pPr algn="ctr"/>
            <a:r>
              <a:rPr lang="en-US" altLang="zh-CN"/>
              <a:t>ARP </a:t>
            </a:r>
            <a:r>
              <a:rPr lang="zh-CN" altLang="en-US"/>
              <a:t>高速缓存的作用</a:t>
            </a:r>
          </a:p>
        </p:txBody>
      </p:sp>
      <p:sp>
        <p:nvSpPr>
          <p:cNvPr id="221187" name="Rectangle 3"/>
          <p:cNvSpPr>
            <a:spLocks noGrp="1" noChangeArrowheads="1"/>
          </p:cNvSpPr>
          <p:nvPr>
            <p:ph idx="1"/>
          </p:nvPr>
        </p:nvSpPr>
        <p:spPr/>
        <p:txBody>
          <a:bodyPr/>
          <a:lstStyle/>
          <a:p>
            <a:pPr marL="342900" lvl="1" indent="-342900">
              <a:buClr>
                <a:srgbClr val="333399"/>
              </a:buClr>
              <a:buSzPct val="75000"/>
            </a:pPr>
            <a:r>
              <a:rPr lang="zh-CN" altLang="en-US" sz="3200" dirty="0">
                <a:solidFill>
                  <a:srgbClr val="FF0000"/>
                </a:solidFill>
              </a:rPr>
              <a:t>存放最近获得的 </a:t>
            </a:r>
            <a:r>
              <a:rPr lang="en-US" altLang="zh-CN" sz="3200" dirty="0">
                <a:solidFill>
                  <a:srgbClr val="FF0000"/>
                </a:solidFill>
              </a:rPr>
              <a:t>IP </a:t>
            </a:r>
            <a:r>
              <a:rPr lang="zh-CN" altLang="en-US" sz="3200" dirty="0">
                <a:solidFill>
                  <a:srgbClr val="FF0000"/>
                </a:solidFill>
              </a:rPr>
              <a:t>地址到 </a:t>
            </a:r>
            <a:r>
              <a:rPr lang="en-US" altLang="zh-CN" sz="3200" dirty="0">
                <a:solidFill>
                  <a:srgbClr val="FF0000"/>
                </a:solidFill>
              </a:rPr>
              <a:t>MAC </a:t>
            </a:r>
            <a:r>
              <a:rPr lang="zh-CN" altLang="en-US" sz="3200" dirty="0">
                <a:solidFill>
                  <a:srgbClr val="FF0000"/>
                </a:solidFill>
              </a:rPr>
              <a:t>地址的绑定，以减少 </a:t>
            </a:r>
            <a:r>
              <a:rPr lang="en-US" altLang="zh-CN" sz="3200" dirty="0">
                <a:solidFill>
                  <a:srgbClr val="FF0000"/>
                </a:solidFill>
              </a:rPr>
              <a:t>ARP </a:t>
            </a:r>
            <a:r>
              <a:rPr lang="zh-CN" altLang="en-US" sz="3200" dirty="0">
                <a:solidFill>
                  <a:srgbClr val="FF0000"/>
                </a:solidFill>
              </a:rPr>
              <a:t>广播的数量。</a:t>
            </a:r>
          </a:p>
          <a:p>
            <a:r>
              <a:rPr lang="zh-CN" altLang="en-US" dirty="0"/>
              <a:t>为了减少网络上的通信量，主机 </a:t>
            </a:r>
            <a:r>
              <a:rPr lang="en-US" altLang="zh-CN" dirty="0"/>
              <a:t>A </a:t>
            </a:r>
            <a:r>
              <a:rPr lang="zh-CN" altLang="en-US" dirty="0"/>
              <a:t>在发送其 </a:t>
            </a:r>
            <a:r>
              <a:rPr lang="en-US" altLang="zh-CN" dirty="0"/>
              <a:t>ARP </a:t>
            </a:r>
            <a:r>
              <a:rPr lang="zh-CN" altLang="en-US" dirty="0"/>
              <a:t>请求分组时，就将自己的 </a:t>
            </a:r>
            <a:r>
              <a:rPr lang="en-US" altLang="zh-CN" dirty="0"/>
              <a:t>IP </a:t>
            </a:r>
            <a:r>
              <a:rPr lang="zh-CN" altLang="en-US" dirty="0"/>
              <a:t>地址到硬件地址的映射写入 </a:t>
            </a:r>
            <a:r>
              <a:rPr lang="en-US" altLang="zh-CN" dirty="0"/>
              <a:t>ARP </a:t>
            </a:r>
            <a:r>
              <a:rPr lang="zh-CN" altLang="en-US" dirty="0"/>
              <a:t>请求分组。</a:t>
            </a:r>
          </a:p>
          <a:p>
            <a:r>
              <a:rPr lang="zh-CN" altLang="en-US" dirty="0"/>
              <a:t>当主机 </a:t>
            </a:r>
            <a:r>
              <a:rPr lang="en-US" altLang="zh-CN" dirty="0"/>
              <a:t>B </a:t>
            </a:r>
            <a:r>
              <a:rPr lang="zh-CN" altLang="en-US" dirty="0"/>
              <a:t>收到 </a:t>
            </a:r>
            <a:r>
              <a:rPr lang="en-US" altLang="zh-CN" dirty="0"/>
              <a:t>A </a:t>
            </a:r>
            <a:r>
              <a:rPr lang="zh-CN" altLang="en-US" dirty="0"/>
              <a:t>的 </a:t>
            </a:r>
            <a:r>
              <a:rPr lang="en-US" altLang="zh-CN" dirty="0"/>
              <a:t>ARP </a:t>
            </a:r>
            <a:r>
              <a:rPr lang="zh-CN" altLang="en-US" dirty="0"/>
              <a:t>请求分组时，就将主机 </a:t>
            </a:r>
            <a:r>
              <a:rPr lang="en-US" altLang="zh-CN" dirty="0"/>
              <a:t>A </a:t>
            </a:r>
            <a:r>
              <a:rPr lang="zh-CN" altLang="en-US" dirty="0"/>
              <a:t>的这一地址映射写入主机 </a:t>
            </a:r>
            <a:r>
              <a:rPr lang="en-US" altLang="zh-CN" dirty="0"/>
              <a:t>B </a:t>
            </a:r>
            <a:r>
              <a:rPr lang="zh-CN" altLang="en-US" dirty="0"/>
              <a:t>自己的 </a:t>
            </a:r>
            <a:r>
              <a:rPr lang="en-US" altLang="zh-CN" dirty="0"/>
              <a:t>ARP </a:t>
            </a:r>
            <a:r>
              <a:rPr lang="zh-CN" altLang="en-US" dirty="0"/>
              <a:t>高速缓存中。这对主机 </a:t>
            </a:r>
            <a:r>
              <a:rPr lang="en-US" altLang="zh-CN" dirty="0"/>
              <a:t>B </a:t>
            </a:r>
            <a:r>
              <a:rPr lang="zh-CN" altLang="en-US" dirty="0"/>
              <a:t>以后向 </a:t>
            </a:r>
            <a:r>
              <a:rPr lang="en-US" altLang="zh-CN" dirty="0"/>
              <a:t>A </a:t>
            </a:r>
            <a:r>
              <a:rPr lang="zh-CN" altLang="en-US" dirty="0"/>
              <a:t>发送数据报时就更方便了。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noChangeArrowheads="1"/>
          </p:cNvSpPr>
          <p:nvPr>
            <p:ph type="title"/>
          </p:nvPr>
        </p:nvSpPr>
        <p:spPr/>
        <p:txBody>
          <a:bodyPr/>
          <a:lstStyle/>
          <a:p>
            <a:pPr algn="ctr"/>
            <a:r>
              <a:rPr lang="zh-CN" altLang="en-US"/>
              <a:t>应当注意的问题</a:t>
            </a:r>
            <a:endParaRPr lang="zh-CN" altLang="en-US" sz="3600"/>
          </a:p>
        </p:txBody>
      </p:sp>
      <p:sp>
        <p:nvSpPr>
          <p:cNvPr id="224259" name="Rectangle 3"/>
          <p:cNvSpPr>
            <a:spLocks noGrp="1" noChangeArrowheads="1"/>
          </p:cNvSpPr>
          <p:nvPr>
            <p:ph idx="1"/>
          </p:nvPr>
        </p:nvSpPr>
        <p:spPr/>
        <p:txBody>
          <a:bodyPr/>
          <a:lstStyle/>
          <a:p>
            <a:r>
              <a:rPr lang="en-US" altLang="zh-CN" dirty="0">
                <a:solidFill>
                  <a:srgbClr val="0000FF"/>
                </a:solidFill>
              </a:rPr>
              <a:t>ARP </a:t>
            </a:r>
            <a:r>
              <a:rPr lang="zh-CN" altLang="en-US" dirty="0">
                <a:solidFill>
                  <a:srgbClr val="0000FF"/>
                </a:solidFill>
              </a:rPr>
              <a:t>是解决</a:t>
            </a:r>
            <a:r>
              <a:rPr lang="zh-CN" altLang="en-US" dirty="0">
                <a:solidFill>
                  <a:srgbClr val="FF0000"/>
                </a:solidFill>
              </a:rPr>
              <a:t>同一个局域网</a:t>
            </a:r>
            <a:r>
              <a:rPr lang="zh-CN" altLang="en-US" dirty="0">
                <a:solidFill>
                  <a:srgbClr val="0000FF"/>
                </a:solidFill>
              </a:rPr>
              <a:t>上的主机或路由器的 </a:t>
            </a:r>
            <a:r>
              <a:rPr lang="en-US" altLang="zh-CN" dirty="0">
                <a:solidFill>
                  <a:srgbClr val="0000FF"/>
                </a:solidFill>
              </a:rPr>
              <a:t>IP </a:t>
            </a:r>
            <a:r>
              <a:rPr lang="zh-CN" altLang="en-US" dirty="0">
                <a:solidFill>
                  <a:srgbClr val="0000FF"/>
                </a:solidFill>
              </a:rPr>
              <a:t>地址和硬件地址的映射问题。</a:t>
            </a:r>
          </a:p>
          <a:p>
            <a:r>
              <a:rPr lang="zh-CN" altLang="en-US" dirty="0"/>
              <a:t>如果所要找的主机和源主机不在同一个局域网上，那么</a:t>
            </a:r>
            <a:r>
              <a:rPr lang="zh-CN" altLang="en-US" dirty="0">
                <a:solidFill>
                  <a:srgbClr val="FF0000"/>
                </a:solidFill>
              </a:rPr>
              <a:t>就要通过 </a:t>
            </a:r>
            <a:r>
              <a:rPr lang="en-US" altLang="zh-CN" dirty="0">
                <a:solidFill>
                  <a:srgbClr val="FF0000"/>
                </a:solidFill>
              </a:rPr>
              <a:t>ARP </a:t>
            </a:r>
            <a:r>
              <a:rPr lang="zh-CN" altLang="en-US" dirty="0">
                <a:solidFill>
                  <a:srgbClr val="FF0000"/>
                </a:solidFill>
              </a:rPr>
              <a:t>找到一个位于本局域网上的某个路由器的硬件地址，</a:t>
            </a:r>
            <a:r>
              <a:rPr lang="zh-CN" altLang="en-US" dirty="0"/>
              <a:t>然后把分组发送给这个路由器，让这个路由器把分组转发给下一个网络。剩下的工作就由下一个网络来做。</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2"/>
          <p:cNvSpPr>
            <a:spLocks noGrp="1" noChangeArrowheads="1"/>
          </p:cNvSpPr>
          <p:nvPr>
            <p:ph type="title"/>
          </p:nvPr>
        </p:nvSpPr>
        <p:spPr/>
        <p:txBody>
          <a:bodyPr/>
          <a:lstStyle/>
          <a:p>
            <a:pPr algn="ctr"/>
            <a:r>
              <a:rPr lang="zh-CN" altLang="en-US"/>
              <a:t>应当注意的问题（续）</a:t>
            </a:r>
            <a:endParaRPr lang="zh-CN" altLang="en-US" sz="3600"/>
          </a:p>
        </p:txBody>
      </p:sp>
      <p:sp>
        <p:nvSpPr>
          <p:cNvPr id="463875" name="Rectangle 3"/>
          <p:cNvSpPr>
            <a:spLocks noGrp="1" noChangeArrowheads="1"/>
          </p:cNvSpPr>
          <p:nvPr>
            <p:ph idx="1"/>
          </p:nvPr>
        </p:nvSpPr>
        <p:spPr/>
        <p:txBody>
          <a:bodyPr/>
          <a:lstStyle/>
          <a:p>
            <a:r>
              <a:rPr lang="zh-CN" altLang="en-US" dirty="0"/>
              <a:t>从 </a:t>
            </a:r>
            <a:r>
              <a:rPr lang="en-US" altLang="zh-CN" dirty="0"/>
              <a:t>IP </a:t>
            </a:r>
            <a:r>
              <a:rPr lang="zh-CN" altLang="en-US" dirty="0"/>
              <a:t>地址到硬件地址的</a:t>
            </a:r>
            <a:r>
              <a:rPr lang="zh-CN" altLang="en-US" dirty="0">
                <a:solidFill>
                  <a:srgbClr val="FF0000"/>
                </a:solidFill>
              </a:rPr>
              <a:t>解析是自动进行</a:t>
            </a:r>
            <a:r>
              <a:rPr lang="zh-CN" altLang="en-US" dirty="0"/>
              <a:t>的，主机的用户对这种地址解析过程是不知道的。</a:t>
            </a:r>
          </a:p>
          <a:p>
            <a:r>
              <a:rPr lang="zh-CN" altLang="en-US" dirty="0"/>
              <a:t>只要主机或路由器要和本网络上的另一个已知 </a:t>
            </a:r>
            <a:r>
              <a:rPr lang="en-US" altLang="zh-CN" dirty="0"/>
              <a:t>IP </a:t>
            </a:r>
            <a:r>
              <a:rPr lang="zh-CN" altLang="en-US" dirty="0"/>
              <a:t>地址的主机或路由器进行通信，</a:t>
            </a:r>
            <a:r>
              <a:rPr lang="en-US" altLang="zh-CN" dirty="0"/>
              <a:t>ARP </a:t>
            </a:r>
            <a:r>
              <a:rPr lang="zh-CN" altLang="en-US" dirty="0"/>
              <a:t>协议就会自动地将该 </a:t>
            </a:r>
            <a:r>
              <a:rPr lang="en-US" altLang="zh-CN" dirty="0"/>
              <a:t>IP </a:t>
            </a:r>
            <a:r>
              <a:rPr lang="zh-CN" altLang="en-US" dirty="0"/>
              <a:t>地址解析为链路层所需要的硬件地址。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algn="ctr"/>
            <a:r>
              <a:rPr lang="zh-CN" altLang="en-US" sz="4000"/>
              <a:t>使用 </a:t>
            </a:r>
            <a:r>
              <a:rPr lang="en-US" altLang="zh-CN" sz="4000"/>
              <a:t>ARP </a:t>
            </a:r>
            <a:r>
              <a:rPr lang="zh-CN" altLang="en-US" sz="4000"/>
              <a:t>的四种典型情况 </a:t>
            </a:r>
          </a:p>
        </p:txBody>
      </p:sp>
      <p:grpSp>
        <p:nvGrpSpPr>
          <p:cNvPr id="3" name="组合 2"/>
          <p:cNvGrpSpPr/>
          <p:nvPr/>
        </p:nvGrpSpPr>
        <p:grpSpPr>
          <a:xfrm>
            <a:off x="704528" y="1700808"/>
            <a:ext cx="8640960" cy="2037147"/>
            <a:chOff x="1356026" y="1812432"/>
            <a:chExt cx="6915630" cy="1472875"/>
          </a:xfrm>
        </p:grpSpPr>
        <p:grpSp>
          <p:nvGrpSpPr>
            <p:cNvPr id="6" name="Group 244"/>
            <p:cNvGrpSpPr/>
            <p:nvPr/>
          </p:nvGrpSpPr>
          <p:grpSpPr bwMode="auto">
            <a:xfrm>
              <a:off x="1812118" y="2193107"/>
              <a:ext cx="1231900" cy="863600"/>
              <a:chOff x="912" y="768"/>
              <a:chExt cx="2400" cy="1584"/>
            </a:xfrm>
          </p:grpSpPr>
          <p:sp>
            <p:nvSpPr>
              <p:cNvPr id="7" name="Oval 24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8" name="Oval 24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9" name="Oval 24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0" name="Oval 24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1" name="Oval 24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2" name="Oval 25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3" name="Oval 25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4" name="Oval 25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5" name="Oval 25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nvGrpSpPr>
              <p:cNvPr id="16" name="Group 254"/>
              <p:cNvGrpSpPr/>
              <p:nvPr/>
            </p:nvGrpSpPr>
            <p:grpSpPr bwMode="auto">
              <a:xfrm>
                <a:off x="912" y="768"/>
                <a:ext cx="2386" cy="1553"/>
                <a:chOff x="912" y="768"/>
                <a:chExt cx="2386" cy="1553"/>
              </a:xfrm>
            </p:grpSpPr>
            <p:sp>
              <p:nvSpPr>
                <p:cNvPr id="17" name="Oval 25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8" name="Oval 25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19" name="Oval 25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0" name="Oval 25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1" name="Oval 25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2" name="Oval 26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3" name="Oval 26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4" name="Oval 26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5" name="Oval 26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grpSp>
        <p:sp>
          <p:nvSpPr>
            <p:cNvPr id="26" name="Line 95"/>
            <p:cNvSpPr>
              <a:spLocks noChangeShapeType="1"/>
            </p:cNvSpPr>
            <p:nvPr/>
          </p:nvSpPr>
          <p:spPr bwMode="auto">
            <a:xfrm flipV="1">
              <a:off x="3044018" y="2588394"/>
              <a:ext cx="4810125" cy="111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anose="02010609060101010101" pitchFamily="2" charset="-122"/>
              </a:endParaRPr>
            </a:p>
          </p:txBody>
        </p:sp>
        <p:grpSp>
          <p:nvGrpSpPr>
            <p:cNvPr id="27" name="Group 284"/>
            <p:cNvGrpSpPr/>
            <p:nvPr/>
          </p:nvGrpSpPr>
          <p:grpSpPr bwMode="auto">
            <a:xfrm>
              <a:off x="6917518" y="2218507"/>
              <a:ext cx="1231900" cy="863600"/>
              <a:chOff x="912" y="768"/>
              <a:chExt cx="2400" cy="1584"/>
            </a:xfrm>
          </p:grpSpPr>
          <p:sp>
            <p:nvSpPr>
              <p:cNvPr id="28" name="Oval 28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29" name="Oval 28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0" name="Oval 28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1" name="Oval 28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2" name="Oval 28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3" name="Oval 29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4" name="Oval 29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5" name="Oval 29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6" name="Oval 29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nvGrpSpPr>
              <p:cNvPr id="37" name="Group 294"/>
              <p:cNvGrpSpPr/>
              <p:nvPr/>
            </p:nvGrpSpPr>
            <p:grpSpPr bwMode="auto">
              <a:xfrm>
                <a:off x="912" y="768"/>
                <a:ext cx="2386" cy="1553"/>
                <a:chOff x="912" y="768"/>
                <a:chExt cx="2386" cy="1553"/>
              </a:xfrm>
            </p:grpSpPr>
            <p:sp>
              <p:nvSpPr>
                <p:cNvPr id="38" name="Oval 29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39" name="Oval 29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0" name="Oval 29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1" name="Oval 29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2" name="Oval 29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3" name="Oval 30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4" name="Oval 30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5" name="Oval 30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6" name="Oval 30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grpSp>
        <p:grpSp>
          <p:nvGrpSpPr>
            <p:cNvPr id="47" name="Group 264"/>
            <p:cNvGrpSpPr/>
            <p:nvPr/>
          </p:nvGrpSpPr>
          <p:grpSpPr bwMode="auto">
            <a:xfrm>
              <a:off x="4402918" y="2193107"/>
              <a:ext cx="1231900" cy="863600"/>
              <a:chOff x="912" y="768"/>
              <a:chExt cx="2400" cy="1584"/>
            </a:xfrm>
          </p:grpSpPr>
          <p:sp>
            <p:nvSpPr>
              <p:cNvPr id="48" name="Oval 26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49" name="Oval 26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0" name="Oval 26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1" name="Oval 26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2" name="Oval 26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3" name="Oval 27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4" name="Oval 27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5" name="Oval 27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6" name="Oval 27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nvGrpSpPr>
              <p:cNvPr id="57" name="Group 274"/>
              <p:cNvGrpSpPr/>
              <p:nvPr/>
            </p:nvGrpSpPr>
            <p:grpSpPr bwMode="auto">
              <a:xfrm>
                <a:off x="912" y="768"/>
                <a:ext cx="2386" cy="1553"/>
                <a:chOff x="912" y="768"/>
                <a:chExt cx="2386" cy="1553"/>
              </a:xfrm>
            </p:grpSpPr>
            <p:sp>
              <p:nvSpPr>
                <p:cNvPr id="58" name="Oval 27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59" name="Oval 27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0" name="Oval 27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1" name="Oval 27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2" name="Oval 27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3" name="Oval 28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4" name="Oval 28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5" name="Oval 28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sp>
              <p:nvSpPr>
                <p:cNvPr id="66" name="Oval 28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2800" b="1">
                    <a:solidFill>
                      <a:srgbClr val="000099"/>
                    </a:solidFill>
                    <a:latin typeface="+mn-lt"/>
                    <a:ea typeface="黑体" panose="02010609060101010101" pitchFamily="2" charset="-122"/>
                  </a:endParaRPr>
                </a:p>
              </p:txBody>
            </p:sp>
          </p:grpSp>
        </p:grpSp>
        <p:sp>
          <p:nvSpPr>
            <p:cNvPr id="67" name="Text Box 96"/>
            <p:cNvSpPr txBox="1">
              <a:spLocks noChangeArrowheads="1"/>
            </p:cNvSpPr>
            <p:nvPr/>
          </p:nvSpPr>
          <p:spPr bwMode="auto">
            <a:xfrm>
              <a:off x="2118699" y="2512334"/>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99"/>
                  </a:solidFill>
                  <a:latin typeface="+mn-lt"/>
                  <a:ea typeface="黑体" panose="02010609060101010101" pitchFamily="2" charset="-122"/>
                </a:rPr>
                <a:t>网 </a:t>
              </a:r>
              <a:r>
                <a:rPr lang="en-US" altLang="zh-CN" sz="2400" b="1" dirty="0">
                  <a:solidFill>
                    <a:srgbClr val="000099"/>
                  </a:solidFill>
                  <a:latin typeface="+mn-lt"/>
                  <a:ea typeface="黑体" panose="02010609060101010101" pitchFamily="2" charset="-122"/>
                </a:rPr>
                <a:t>1</a:t>
              </a:r>
            </a:p>
          </p:txBody>
        </p:sp>
        <p:sp>
          <p:nvSpPr>
            <p:cNvPr id="68" name="Text Box 98"/>
            <p:cNvSpPr txBox="1">
              <a:spLocks noChangeArrowheads="1"/>
            </p:cNvSpPr>
            <p:nvPr/>
          </p:nvSpPr>
          <p:spPr bwMode="auto">
            <a:xfrm>
              <a:off x="7285638" y="2489243"/>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anose="02010609060101010101" pitchFamily="2" charset="-122"/>
                </a:rPr>
                <a:t>网 </a:t>
              </a:r>
              <a:r>
                <a:rPr lang="en-US" altLang="zh-CN" sz="2400" b="1" dirty="0">
                  <a:solidFill>
                    <a:srgbClr val="000099"/>
                  </a:solidFill>
                  <a:latin typeface="+mn-lt"/>
                  <a:ea typeface="黑体" panose="02010609060101010101" pitchFamily="2" charset="-122"/>
                </a:rPr>
                <a:t>3</a:t>
              </a:r>
            </a:p>
          </p:txBody>
        </p:sp>
        <p:sp>
          <p:nvSpPr>
            <p:cNvPr id="69" name="Text Box 99"/>
            <p:cNvSpPr txBox="1">
              <a:spLocks noChangeArrowheads="1"/>
            </p:cNvSpPr>
            <p:nvPr/>
          </p:nvSpPr>
          <p:spPr bwMode="auto">
            <a:xfrm>
              <a:off x="4764687" y="2489243"/>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anose="02010609060101010101" pitchFamily="2" charset="-122"/>
                </a:rPr>
                <a:t>网 </a:t>
              </a:r>
              <a:r>
                <a:rPr lang="en-US" altLang="zh-CN" sz="2400" b="1" dirty="0">
                  <a:solidFill>
                    <a:srgbClr val="000099"/>
                  </a:solidFill>
                  <a:latin typeface="+mn-lt"/>
                  <a:ea typeface="黑体" panose="02010609060101010101" pitchFamily="2" charset="-122"/>
                </a:rPr>
                <a:t>2</a:t>
              </a:r>
            </a:p>
          </p:txBody>
        </p:sp>
        <p:pic>
          <p:nvPicPr>
            <p:cNvPr id="70" name="Picture 2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25018" y="2428057"/>
              <a:ext cx="69532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235"/>
            <p:cNvSpPr txBox="1">
              <a:spLocks noChangeArrowheads="1"/>
            </p:cNvSpPr>
            <p:nvPr/>
          </p:nvSpPr>
          <p:spPr bwMode="auto">
            <a:xfrm>
              <a:off x="6176156" y="2080394"/>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C00000"/>
                  </a:solidFill>
                  <a:latin typeface="+mn-lt"/>
                  <a:ea typeface="黑体" panose="02010609060101010101" pitchFamily="2" charset="-122"/>
                </a:rPr>
                <a:t>R</a:t>
              </a:r>
              <a:r>
                <a:rPr lang="en-US" altLang="zh-CN" sz="2400" b="1" baseline="-25000">
                  <a:solidFill>
                    <a:srgbClr val="C00000"/>
                  </a:solidFill>
                  <a:latin typeface="+mn-lt"/>
                  <a:ea typeface="黑体" panose="02010609060101010101" pitchFamily="2" charset="-122"/>
                </a:rPr>
                <a:t>2</a:t>
              </a:r>
              <a:endParaRPr lang="en-US" altLang="zh-CN" sz="2400" b="1">
                <a:solidFill>
                  <a:srgbClr val="C00000"/>
                </a:solidFill>
                <a:latin typeface="+mn-lt"/>
                <a:ea typeface="黑体" panose="02010609060101010101" pitchFamily="2" charset="-122"/>
              </a:endParaRPr>
            </a:p>
          </p:txBody>
        </p:sp>
        <p:sp>
          <p:nvSpPr>
            <p:cNvPr id="72" name="Text Box 237"/>
            <p:cNvSpPr txBox="1">
              <a:spLocks noChangeArrowheads="1"/>
            </p:cNvSpPr>
            <p:nvPr/>
          </p:nvSpPr>
          <p:spPr bwMode="auto">
            <a:xfrm>
              <a:off x="3526618" y="2089919"/>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C00000"/>
                  </a:solidFill>
                  <a:latin typeface="+mn-lt"/>
                  <a:ea typeface="黑体" panose="02010609060101010101" pitchFamily="2" charset="-122"/>
                </a:rPr>
                <a:t>R</a:t>
              </a:r>
              <a:r>
                <a:rPr lang="en-US" altLang="zh-CN" sz="2400" b="1" baseline="-25000" dirty="0">
                  <a:solidFill>
                    <a:srgbClr val="C00000"/>
                  </a:solidFill>
                  <a:latin typeface="+mn-lt"/>
                  <a:ea typeface="黑体" panose="02010609060101010101" pitchFamily="2" charset="-122"/>
                </a:rPr>
                <a:t>1</a:t>
              </a:r>
              <a:endParaRPr lang="en-US" altLang="zh-CN" sz="2400" b="1" dirty="0">
                <a:solidFill>
                  <a:srgbClr val="C00000"/>
                </a:solidFill>
                <a:latin typeface="+mn-lt"/>
                <a:ea typeface="黑体" panose="02010609060101010101" pitchFamily="2" charset="-122"/>
              </a:endParaRPr>
            </a:p>
          </p:txBody>
        </p:sp>
        <p:sp>
          <p:nvSpPr>
            <p:cNvPr id="73" name="Text Box 325"/>
            <p:cNvSpPr txBox="1">
              <a:spLocks noChangeArrowheads="1"/>
            </p:cNvSpPr>
            <p:nvPr/>
          </p:nvSpPr>
          <p:spPr bwMode="auto">
            <a:xfrm>
              <a:off x="1356026" y="1886719"/>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anose="02010609060101010101" pitchFamily="2" charset="-122"/>
                </a:rPr>
                <a:t>H</a:t>
              </a:r>
              <a:r>
                <a:rPr lang="en-US" altLang="zh-CN" sz="2400" b="1" baseline="-25000">
                  <a:solidFill>
                    <a:srgbClr val="000099"/>
                  </a:solidFill>
                  <a:latin typeface="+mn-lt"/>
                  <a:ea typeface="黑体" panose="02010609060101010101" pitchFamily="2" charset="-122"/>
                </a:rPr>
                <a:t>1</a:t>
              </a:r>
            </a:p>
          </p:txBody>
        </p:sp>
        <p:pic>
          <p:nvPicPr>
            <p:cNvPr id="74" name="Picture 32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72956" y="2405832"/>
              <a:ext cx="69532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5" name="Oval 333"/>
            <p:cNvSpPr>
              <a:spLocks noChangeArrowheads="1"/>
            </p:cNvSpPr>
            <p:nvPr/>
          </p:nvSpPr>
          <p:spPr bwMode="auto">
            <a:xfrm>
              <a:off x="4225118" y="2559819"/>
              <a:ext cx="71438" cy="71438"/>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anose="02010609060101010101" pitchFamily="2" charset="-122"/>
              </a:endParaRPr>
            </a:p>
          </p:txBody>
        </p:sp>
        <p:sp>
          <p:nvSpPr>
            <p:cNvPr id="76" name="Oval 335"/>
            <p:cNvSpPr>
              <a:spLocks noChangeArrowheads="1"/>
            </p:cNvSpPr>
            <p:nvPr/>
          </p:nvSpPr>
          <p:spPr bwMode="auto">
            <a:xfrm>
              <a:off x="3156731" y="2567757"/>
              <a:ext cx="71437" cy="7143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anose="02010609060101010101" pitchFamily="2" charset="-122"/>
              </a:endParaRPr>
            </a:p>
          </p:txBody>
        </p:sp>
        <p:sp>
          <p:nvSpPr>
            <p:cNvPr id="77" name="Oval 337"/>
            <p:cNvSpPr>
              <a:spLocks noChangeArrowheads="1"/>
            </p:cNvSpPr>
            <p:nvPr/>
          </p:nvSpPr>
          <p:spPr bwMode="auto">
            <a:xfrm>
              <a:off x="6817506" y="2570932"/>
              <a:ext cx="71437" cy="7143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anose="02010609060101010101" pitchFamily="2" charset="-122"/>
              </a:endParaRPr>
            </a:p>
          </p:txBody>
        </p:sp>
        <p:sp>
          <p:nvSpPr>
            <p:cNvPr id="78" name="Oval 338"/>
            <p:cNvSpPr>
              <a:spLocks noChangeArrowheads="1"/>
            </p:cNvSpPr>
            <p:nvPr/>
          </p:nvSpPr>
          <p:spPr bwMode="auto">
            <a:xfrm>
              <a:off x="5823731" y="2567757"/>
              <a:ext cx="71437" cy="7143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anose="02010609060101010101" pitchFamily="2" charset="-122"/>
              </a:endParaRPr>
            </a:p>
          </p:txBody>
        </p:sp>
        <p:pic>
          <p:nvPicPr>
            <p:cNvPr id="79" name="Picture 3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468" y="2026419"/>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0" name="Picture 3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56581" y="2872557"/>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3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198256" y="1935932"/>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2" name="Picture 3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62081" y="2007369"/>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 Box 351"/>
            <p:cNvSpPr txBox="1">
              <a:spLocks noChangeArrowheads="1"/>
            </p:cNvSpPr>
            <p:nvPr/>
          </p:nvSpPr>
          <p:spPr bwMode="auto">
            <a:xfrm>
              <a:off x="1643363" y="2799532"/>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anose="02010609060101010101" pitchFamily="2" charset="-122"/>
                </a:rPr>
                <a:t>H</a:t>
              </a:r>
              <a:r>
                <a:rPr lang="en-US" altLang="zh-CN" sz="2400" b="1" baseline="-25000" dirty="0">
                  <a:solidFill>
                    <a:srgbClr val="000099"/>
                  </a:solidFill>
                  <a:latin typeface="+mn-lt"/>
                  <a:ea typeface="黑体" panose="02010609060101010101" pitchFamily="2" charset="-122"/>
                </a:rPr>
                <a:t>2</a:t>
              </a:r>
            </a:p>
          </p:txBody>
        </p:sp>
        <p:sp>
          <p:nvSpPr>
            <p:cNvPr id="84" name="Text Box 352"/>
            <p:cNvSpPr txBox="1">
              <a:spLocks noChangeArrowheads="1"/>
            </p:cNvSpPr>
            <p:nvPr/>
          </p:nvSpPr>
          <p:spPr bwMode="auto">
            <a:xfrm>
              <a:off x="4871471" y="1812432"/>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anose="02010609060101010101" pitchFamily="2" charset="-122"/>
                </a:rPr>
                <a:t>H</a:t>
              </a:r>
              <a:r>
                <a:rPr lang="en-US" altLang="zh-CN" sz="2400" b="1" baseline="-25000" dirty="0">
                  <a:solidFill>
                    <a:srgbClr val="000099"/>
                  </a:solidFill>
                  <a:latin typeface="+mn-lt"/>
                  <a:ea typeface="黑体" panose="02010609060101010101" pitchFamily="2" charset="-122"/>
                </a:rPr>
                <a:t>3</a:t>
              </a:r>
            </a:p>
          </p:txBody>
        </p:sp>
        <p:sp>
          <p:nvSpPr>
            <p:cNvPr id="85" name="Text Box 353"/>
            <p:cNvSpPr txBox="1">
              <a:spLocks noChangeArrowheads="1"/>
            </p:cNvSpPr>
            <p:nvPr/>
          </p:nvSpPr>
          <p:spPr bwMode="auto">
            <a:xfrm>
              <a:off x="7522463" y="1916557"/>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anose="02010609060101010101" pitchFamily="2" charset="-122"/>
                </a:rPr>
                <a:t>H</a:t>
              </a:r>
              <a:r>
                <a:rPr lang="en-US" altLang="zh-CN" sz="2400" b="1" baseline="-25000" dirty="0">
                  <a:solidFill>
                    <a:srgbClr val="000099"/>
                  </a:solidFill>
                  <a:latin typeface="+mn-lt"/>
                  <a:ea typeface="黑体" panose="02010609060101010101" pitchFamily="2" charset="-122"/>
                </a:rPr>
                <a:t>4</a:t>
              </a:r>
            </a:p>
          </p:txBody>
        </p:sp>
      </p:gr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algn="ctr"/>
            <a:r>
              <a:rPr lang="zh-CN" altLang="en-US" sz="4000" dirty="0"/>
              <a:t>使用 </a:t>
            </a:r>
            <a:r>
              <a:rPr lang="en-US" altLang="zh-CN" sz="4000" dirty="0"/>
              <a:t>ARP </a:t>
            </a:r>
            <a:r>
              <a:rPr lang="zh-CN" altLang="en-US" sz="4000" dirty="0"/>
              <a:t>的四种典型情况 </a:t>
            </a:r>
          </a:p>
        </p:txBody>
      </p:sp>
      <p:sp>
        <p:nvSpPr>
          <p:cNvPr id="976899" name="Rectangle 3"/>
          <p:cNvSpPr>
            <a:spLocks noGrp="1" noChangeArrowheads="1"/>
          </p:cNvSpPr>
          <p:nvPr>
            <p:ph idx="1"/>
          </p:nvPr>
        </p:nvSpPr>
        <p:spPr/>
        <p:txBody>
          <a:bodyPr/>
          <a:lstStyle/>
          <a:p>
            <a:r>
              <a:rPr lang="zh-CN" altLang="en-US" sz="2600" dirty="0"/>
              <a:t>发送方是主机，要把 </a:t>
            </a:r>
            <a:r>
              <a:rPr lang="en-US" altLang="zh-CN" sz="2600" dirty="0"/>
              <a:t>IP </a:t>
            </a:r>
            <a:r>
              <a:rPr lang="zh-CN" altLang="en-US" sz="2600" dirty="0"/>
              <a:t>数据报发送到本网络上的另一个主机。这时用 </a:t>
            </a:r>
            <a:r>
              <a:rPr lang="en-US" altLang="zh-CN" sz="2600" dirty="0"/>
              <a:t>ARP </a:t>
            </a:r>
            <a:r>
              <a:rPr lang="zh-CN" altLang="en-US" sz="2600" dirty="0"/>
              <a:t>找到目的主机的硬件地址。 </a:t>
            </a:r>
          </a:p>
          <a:p>
            <a:r>
              <a:rPr lang="zh-CN" altLang="en-US" sz="2600" dirty="0"/>
              <a:t>发送方是主机，要把 </a:t>
            </a:r>
            <a:r>
              <a:rPr lang="en-US" altLang="zh-CN" sz="2600" dirty="0"/>
              <a:t>IP </a:t>
            </a:r>
            <a:r>
              <a:rPr lang="zh-CN" altLang="en-US" sz="2600" dirty="0"/>
              <a:t>数据报发送到另一个网络上的一个主机。这时用 </a:t>
            </a:r>
            <a:r>
              <a:rPr lang="en-US" altLang="zh-CN" sz="2600" dirty="0"/>
              <a:t>ARP </a:t>
            </a:r>
            <a:r>
              <a:rPr lang="zh-CN" altLang="en-US" sz="2600" dirty="0"/>
              <a:t>找到本网络上的一个路由器的硬件地址。剩下的工作由这个路由器来完成。 </a:t>
            </a:r>
          </a:p>
          <a:p>
            <a:r>
              <a:rPr lang="zh-CN" altLang="en-US" sz="2600" dirty="0"/>
              <a:t>发送方是路由器，要把 </a:t>
            </a:r>
            <a:r>
              <a:rPr lang="en-US" altLang="zh-CN" sz="2600" dirty="0"/>
              <a:t>IP </a:t>
            </a:r>
            <a:r>
              <a:rPr lang="zh-CN" altLang="en-US" sz="2600" dirty="0"/>
              <a:t>数据报转发到本网络上的一个主机。这时用 </a:t>
            </a:r>
            <a:r>
              <a:rPr lang="en-US" altLang="zh-CN" sz="2600" dirty="0"/>
              <a:t>ARP </a:t>
            </a:r>
            <a:r>
              <a:rPr lang="zh-CN" altLang="en-US" sz="2600" dirty="0"/>
              <a:t>找到目的主机的硬件地址。 </a:t>
            </a:r>
          </a:p>
          <a:p>
            <a:r>
              <a:rPr lang="zh-CN" altLang="en-US" sz="2600" dirty="0"/>
              <a:t>发送方是路由器，要把 </a:t>
            </a:r>
            <a:r>
              <a:rPr lang="en-US" altLang="zh-CN" sz="2600" dirty="0"/>
              <a:t>IP </a:t>
            </a:r>
            <a:r>
              <a:rPr lang="zh-CN" altLang="en-US" sz="2600" dirty="0"/>
              <a:t>数据报转发到另一个网络上的一个主机。这时用 </a:t>
            </a:r>
            <a:r>
              <a:rPr lang="en-US" altLang="zh-CN" sz="2600" dirty="0"/>
              <a:t>ARP </a:t>
            </a:r>
            <a:r>
              <a:rPr lang="zh-CN" altLang="en-US" sz="2600" dirty="0"/>
              <a:t>找到本网络上另一个路由器的硬件地址。剩下的工作由这个路由器来完成。 </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Rectangle 2"/>
          <p:cNvSpPr>
            <a:spLocks noGrp="1" noChangeArrowheads="1"/>
          </p:cNvSpPr>
          <p:nvPr>
            <p:ph type="title" idx="4294967295"/>
          </p:nvPr>
        </p:nvSpPr>
        <p:spPr>
          <a:xfrm>
            <a:off x="914400" y="152400"/>
            <a:ext cx="7672388" cy="1081088"/>
          </a:xfrm>
        </p:spPr>
        <p:txBody>
          <a:bodyPr anchor="ctr"/>
          <a:lstStyle/>
          <a:p>
            <a:pPr eaLnBrk="1" hangingPunct="1"/>
            <a:r>
              <a:rPr lang="en-US" altLang="zh-CN" sz="3200"/>
              <a:t>ARP</a:t>
            </a:r>
            <a:r>
              <a:rPr lang="zh-CN" altLang="en-US" sz="3200"/>
              <a:t>高速缓存</a:t>
            </a:r>
            <a:r>
              <a:rPr lang="en-US" altLang="zh-CN" sz="3200">
                <a:latin typeface="Arial" panose="020B0604020202020204" pitchFamily="34" charset="0"/>
              </a:rPr>
              <a:t>——</a:t>
            </a:r>
            <a:r>
              <a:rPr lang="zh-CN" altLang="en-US" sz="3200"/>
              <a:t>解析实例（</a:t>
            </a:r>
            <a:r>
              <a:rPr lang="zh-CN" altLang="en-US" sz="3200">
                <a:solidFill>
                  <a:srgbClr val="FF0000"/>
                </a:solidFill>
              </a:rPr>
              <a:t>同一网络</a:t>
            </a:r>
            <a:r>
              <a:rPr lang="zh-CN" altLang="en-US" sz="3200"/>
              <a:t>）</a:t>
            </a:r>
          </a:p>
        </p:txBody>
      </p:sp>
      <p:graphicFrame>
        <p:nvGraphicFramePr>
          <p:cNvPr id="6146" name="Object 2"/>
          <p:cNvGraphicFramePr>
            <a:graphicFrameLocks noChangeAspect="1"/>
          </p:cNvGraphicFramePr>
          <p:nvPr/>
        </p:nvGraphicFramePr>
        <p:xfrm>
          <a:off x="1066800" y="1143001"/>
          <a:ext cx="7678738" cy="2709863"/>
        </p:xfrm>
        <a:graphic>
          <a:graphicData uri="http://schemas.openxmlformats.org/presentationml/2006/ole">
            <mc:AlternateContent xmlns:mc="http://schemas.openxmlformats.org/markup-compatibility/2006">
              <mc:Choice xmlns:v="urn:schemas-microsoft-com:vml" Requires="v">
                <p:oleObj spid="_x0000_s2052" name="Picture" r:id="rId3" imgW="4885055" imgH="1871345" progId="Word.Picture.8">
                  <p:embed/>
                </p:oleObj>
              </mc:Choice>
              <mc:Fallback>
                <p:oleObj name="Picture" r:id="rId3" imgW="4885055" imgH="1871345" progId="Word.Picture.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1143001"/>
                        <a:ext cx="7678738" cy="2709863"/>
                      </a:xfrm>
                      <a:prstGeom prst="rect">
                        <a:avLst/>
                      </a:prstGeom>
                      <a:solidFill>
                        <a:schemeClr val="bg1"/>
                      </a:solidFill>
                    </p:spPr>
                  </p:pic>
                </p:oleObj>
              </mc:Fallback>
            </mc:AlternateContent>
          </a:graphicData>
        </a:graphic>
      </p:graphicFrame>
      <p:graphicFrame>
        <p:nvGraphicFramePr>
          <p:cNvPr id="6147" name="Object 3"/>
          <p:cNvGraphicFramePr>
            <a:graphicFrameLocks noChangeAspect="1"/>
          </p:cNvGraphicFramePr>
          <p:nvPr/>
        </p:nvGraphicFramePr>
        <p:xfrm>
          <a:off x="1066801" y="3886201"/>
          <a:ext cx="7883525" cy="2708275"/>
        </p:xfrm>
        <a:graphic>
          <a:graphicData uri="http://schemas.openxmlformats.org/presentationml/2006/ole">
            <mc:AlternateContent xmlns:mc="http://schemas.openxmlformats.org/markup-compatibility/2006">
              <mc:Choice xmlns:v="urn:schemas-microsoft-com:vml" Requires="v">
                <p:oleObj spid="_x0000_s2053" name="Picture" r:id="rId5" imgW="5020945" imgH="1879600" progId="Word.Picture.8">
                  <p:embed/>
                </p:oleObj>
              </mc:Choice>
              <mc:Fallback>
                <p:oleObj name="Picture" r:id="rId5" imgW="5020945" imgH="1879600" progId="Word.Picture.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1" y="3886201"/>
                        <a:ext cx="7883525" cy="2708275"/>
                      </a:xfrm>
                      <a:prstGeom prst="rect">
                        <a:avLst/>
                      </a:prstGeom>
                      <a:solidFill>
                        <a:schemeClr val="bg1"/>
                      </a:solidFill>
                    </p:spPr>
                  </p:pic>
                </p:oleObj>
              </mc:Fallback>
            </mc:AlternateContent>
          </a:graphicData>
        </a:graphic>
      </p:graphicFrame>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2"/>
          <p:cNvSpPr>
            <a:spLocks noGrp="1" noChangeArrowheads="1"/>
          </p:cNvSpPr>
          <p:nvPr>
            <p:ph type="title" idx="4294967295"/>
          </p:nvPr>
        </p:nvSpPr>
        <p:spPr>
          <a:xfrm>
            <a:off x="955675" y="439739"/>
            <a:ext cx="7672388" cy="1081087"/>
          </a:xfrm>
        </p:spPr>
        <p:txBody>
          <a:bodyPr anchor="ctr"/>
          <a:lstStyle/>
          <a:p>
            <a:pPr eaLnBrk="1" hangingPunct="1"/>
            <a:r>
              <a:rPr lang="en-US" altLang="zh-CN" sz="3200"/>
              <a:t>ARP</a:t>
            </a:r>
            <a:r>
              <a:rPr lang="zh-CN" altLang="en-US" sz="3200"/>
              <a:t>高速缓存</a:t>
            </a:r>
            <a:r>
              <a:rPr lang="en-US" altLang="zh-CN" sz="3200">
                <a:latin typeface="Arial" panose="020B0604020202020204" pitchFamily="34" charset="0"/>
              </a:rPr>
              <a:t>——</a:t>
            </a:r>
            <a:r>
              <a:rPr lang="zh-CN" altLang="en-US" sz="3200"/>
              <a:t>解析实例（</a:t>
            </a:r>
            <a:r>
              <a:rPr lang="zh-CN" altLang="en-US" sz="3200">
                <a:solidFill>
                  <a:srgbClr val="FF0000"/>
                </a:solidFill>
              </a:rPr>
              <a:t>不同网络</a:t>
            </a:r>
            <a:r>
              <a:rPr lang="zh-CN" altLang="en-US" sz="3200"/>
              <a:t>）</a:t>
            </a:r>
          </a:p>
        </p:txBody>
      </p:sp>
      <p:graphicFrame>
        <p:nvGraphicFramePr>
          <p:cNvPr id="7170" name="Object 3"/>
          <p:cNvGraphicFramePr>
            <a:graphicFrameLocks noChangeAspect="1"/>
          </p:cNvGraphicFramePr>
          <p:nvPr/>
        </p:nvGraphicFramePr>
        <p:xfrm>
          <a:off x="1066800" y="3048001"/>
          <a:ext cx="7920038" cy="3660775"/>
        </p:xfrm>
        <a:graphic>
          <a:graphicData uri="http://schemas.openxmlformats.org/presentationml/2006/ole">
            <mc:AlternateContent xmlns:mc="http://schemas.openxmlformats.org/markup-compatibility/2006">
              <mc:Choice xmlns:v="urn:schemas-microsoft-com:vml" Requires="v">
                <p:oleObj spid="_x0000_s3075" name="Picture" r:id="rId3" imgW="5071745" imgH="1989455" progId="Word.Picture.8">
                  <p:embed/>
                </p:oleObj>
              </mc:Choice>
              <mc:Fallback>
                <p:oleObj name="Picture" r:id="rId3" imgW="5071745" imgH="1989455" progId="Word.Picture.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3048001"/>
                        <a:ext cx="7920038" cy="3660775"/>
                      </a:xfrm>
                      <a:prstGeom prst="rect">
                        <a:avLst/>
                      </a:prstGeom>
                      <a:solidFill>
                        <a:schemeClr val="bg1"/>
                      </a:solidFill>
                    </p:spPr>
                  </p:pic>
                </p:oleObj>
              </mc:Fallback>
            </mc:AlternateContent>
          </a:graphicData>
        </a:graphic>
      </p:graphicFrame>
      <p:sp>
        <p:nvSpPr>
          <p:cNvPr id="7172" name="矩形 9"/>
          <p:cNvSpPr>
            <a:spLocks noChangeArrowheads="1"/>
          </p:cNvSpPr>
          <p:nvPr/>
        </p:nvSpPr>
        <p:spPr bwMode="auto">
          <a:xfrm>
            <a:off x="990600" y="1752601"/>
            <a:ext cx="7564438" cy="1300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eaLnBrk="1" hangingPunct="1">
              <a:lnSpc>
                <a:spcPct val="110000"/>
              </a:lnSpc>
              <a:spcBef>
                <a:spcPct val="20000"/>
              </a:spcBef>
            </a:pPr>
            <a:r>
              <a:rPr lang="zh-CN" altLang="en-US" b="1" dirty="0">
                <a:solidFill>
                  <a:srgbClr val="0070C0"/>
                </a:solidFill>
                <a:latin typeface="Arial" panose="020B0604020202020204" pitchFamily="34" charset="0"/>
              </a:rPr>
              <a:t>假设一台</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a:t>
            </a:r>
            <a:r>
              <a:rPr lang="en-US" altLang="zh-CN" b="1" dirty="0">
                <a:solidFill>
                  <a:srgbClr val="0070C0"/>
                </a:solidFill>
                <a:latin typeface="Arial" panose="020B0604020202020204" pitchFamily="34" charset="0"/>
              </a:rPr>
              <a:t>172.16.1.9</a:t>
            </a:r>
            <a:r>
              <a:rPr lang="zh-CN" altLang="en-US" b="1" dirty="0">
                <a:solidFill>
                  <a:srgbClr val="0070C0"/>
                </a:solidFill>
                <a:latin typeface="Arial" panose="020B0604020202020204" pitchFamily="34" charset="0"/>
              </a:rPr>
              <a:t>的客户机希望向</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 </a:t>
            </a:r>
            <a:r>
              <a:rPr lang="en-US" altLang="zh-CN" b="1" dirty="0">
                <a:solidFill>
                  <a:srgbClr val="0070C0"/>
                </a:solidFill>
                <a:latin typeface="Arial" panose="020B0604020202020204" pitchFamily="34" charset="0"/>
              </a:rPr>
              <a:t>172.16.2.5</a:t>
            </a:r>
            <a:r>
              <a:rPr lang="zh-CN" altLang="en-US" b="1" dirty="0">
                <a:solidFill>
                  <a:srgbClr val="0070C0"/>
                </a:solidFill>
                <a:latin typeface="Arial" panose="020B0604020202020204" pitchFamily="34" charset="0"/>
              </a:rPr>
              <a:t>的主机发送</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数据报。</a:t>
            </a:r>
          </a:p>
          <a:p>
            <a:pPr eaLnBrk="1" hangingPunct="1">
              <a:spcBef>
                <a:spcPct val="20000"/>
              </a:spcBef>
            </a:pPr>
            <a:r>
              <a:rPr lang="zh-CN" altLang="en-US" b="1" dirty="0">
                <a:solidFill>
                  <a:srgbClr val="0070C0"/>
                </a:solidFill>
                <a:latin typeface="Times New Roman" panose="02020603050405020304" pitchFamily="18" charset="0"/>
              </a:rPr>
              <a:t>当主机</a:t>
            </a:r>
            <a:r>
              <a:rPr lang="en-US" altLang="zh-CN" b="1" dirty="0">
                <a:solidFill>
                  <a:srgbClr val="0070C0"/>
                </a:solidFill>
                <a:latin typeface="Times New Roman" panose="02020603050405020304" pitchFamily="18" charset="0"/>
              </a:rPr>
              <a:t>A</a:t>
            </a:r>
            <a:r>
              <a:rPr lang="zh-CN" altLang="en-US" b="1" dirty="0">
                <a:solidFill>
                  <a:srgbClr val="0070C0"/>
                </a:solidFill>
                <a:latin typeface="Times New Roman" panose="02020603050405020304" pitchFamily="18" charset="0"/>
              </a:rPr>
              <a:t>要向主机</a:t>
            </a:r>
            <a:r>
              <a:rPr lang="en-US" altLang="zh-CN" b="1" dirty="0">
                <a:solidFill>
                  <a:srgbClr val="0070C0"/>
                </a:solidFill>
                <a:latin typeface="Times New Roman" panose="02020603050405020304" pitchFamily="18" charset="0"/>
              </a:rPr>
              <a:t>B</a:t>
            </a:r>
            <a:r>
              <a:rPr lang="zh-CN" altLang="en-US" b="1" dirty="0">
                <a:solidFill>
                  <a:srgbClr val="0070C0"/>
                </a:solidFill>
                <a:latin typeface="Times New Roman" panose="02020603050405020304" pitchFamily="18" charset="0"/>
              </a:rPr>
              <a:t>传输数据报时，</a:t>
            </a:r>
            <a:r>
              <a:rPr lang="en-US" altLang="zh-CN" b="1" dirty="0">
                <a:solidFill>
                  <a:srgbClr val="0070C0"/>
                </a:solidFill>
                <a:latin typeface="Times New Roman" panose="02020603050405020304" pitchFamily="18" charset="0"/>
              </a:rPr>
              <a:t>TCP/IP</a:t>
            </a:r>
            <a:r>
              <a:rPr lang="zh-CN" altLang="en-US" b="1" dirty="0">
                <a:solidFill>
                  <a:srgbClr val="0070C0"/>
                </a:solidFill>
                <a:latin typeface="Times New Roman" panose="02020603050405020304" pitchFamily="18" charset="0"/>
              </a:rPr>
              <a:t>软件会先确定主机</a:t>
            </a:r>
            <a:r>
              <a:rPr lang="en-US" altLang="zh-CN" b="1" dirty="0">
                <a:solidFill>
                  <a:srgbClr val="0070C0"/>
                </a:solidFill>
                <a:latin typeface="Times New Roman" panose="02020603050405020304" pitchFamily="18" charset="0"/>
              </a:rPr>
              <a:t>B</a:t>
            </a:r>
            <a:r>
              <a:rPr lang="zh-CN" altLang="en-US" b="1" dirty="0">
                <a:solidFill>
                  <a:srgbClr val="0070C0"/>
                </a:solidFill>
                <a:latin typeface="Times New Roman" panose="02020603050405020304" pitchFamily="18" charset="0"/>
              </a:rPr>
              <a:t>位于</a:t>
            </a:r>
            <a:r>
              <a:rPr lang="zh-CN" altLang="en-US" b="1" dirty="0">
                <a:solidFill>
                  <a:srgbClr val="FF0000"/>
                </a:solidFill>
                <a:latin typeface="Times New Roman" panose="02020603050405020304" pitchFamily="18" charset="0"/>
              </a:rPr>
              <a:t>远程子网</a:t>
            </a:r>
            <a:r>
              <a:rPr lang="zh-CN" altLang="en-US" b="1" dirty="0">
                <a:solidFill>
                  <a:srgbClr val="0070C0"/>
                </a:solidFill>
                <a:latin typeface="Times New Roman" panose="02020603050405020304" pitchFamily="18" charset="0"/>
              </a:rPr>
              <a:t>上。</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5" name="Rectangle 2"/>
          <p:cNvSpPr>
            <a:spLocks noGrp="1" noChangeArrowheads="1"/>
          </p:cNvSpPr>
          <p:nvPr>
            <p:ph type="title" idx="4294967295"/>
          </p:nvPr>
        </p:nvSpPr>
        <p:spPr>
          <a:xfrm>
            <a:off x="955675" y="439739"/>
            <a:ext cx="7672388" cy="1081087"/>
          </a:xfrm>
        </p:spPr>
        <p:txBody>
          <a:bodyPr anchor="ctr"/>
          <a:lstStyle/>
          <a:p>
            <a:pPr eaLnBrk="1" hangingPunct="1"/>
            <a:r>
              <a:rPr lang="en-US" altLang="zh-CN" sz="3200"/>
              <a:t>ARP</a:t>
            </a:r>
            <a:r>
              <a:rPr lang="zh-CN" altLang="en-US" sz="3200"/>
              <a:t>高速缓存</a:t>
            </a:r>
            <a:r>
              <a:rPr lang="en-US" altLang="zh-CN" sz="3200">
                <a:latin typeface="Arial" panose="020B0604020202020204" pitchFamily="34" charset="0"/>
              </a:rPr>
              <a:t>——</a:t>
            </a:r>
            <a:r>
              <a:rPr lang="zh-CN" altLang="en-US" sz="3200"/>
              <a:t>解析实例（</a:t>
            </a:r>
            <a:r>
              <a:rPr lang="zh-CN" altLang="en-US" sz="3200">
                <a:solidFill>
                  <a:srgbClr val="FF0000"/>
                </a:solidFill>
              </a:rPr>
              <a:t>不同网络</a:t>
            </a:r>
            <a:r>
              <a:rPr lang="zh-CN" altLang="en-US" sz="3200"/>
              <a:t>）</a:t>
            </a:r>
          </a:p>
        </p:txBody>
      </p:sp>
      <p:sp>
        <p:nvSpPr>
          <p:cNvPr id="8196" name="矩形 9"/>
          <p:cNvSpPr>
            <a:spLocks noChangeArrowheads="1"/>
          </p:cNvSpPr>
          <p:nvPr/>
        </p:nvSpPr>
        <p:spPr bwMode="auto">
          <a:xfrm>
            <a:off x="1066800" y="1752601"/>
            <a:ext cx="7564438" cy="69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eaLnBrk="1" hangingPunct="1">
              <a:lnSpc>
                <a:spcPct val="110000"/>
              </a:lnSpc>
              <a:spcBef>
                <a:spcPct val="20000"/>
              </a:spcBef>
            </a:pPr>
            <a:r>
              <a:rPr lang="zh-CN" altLang="en-US" b="1" dirty="0">
                <a:solidFill>
                  <a:srgbClr val="0070C0"/>
                </a:solidFill>
                <a:latin typeface="Arial" panose="020B0604020202020204" pitchFamily="34" charset="0"/>
              </a:rPr>
              <a:t>假设一台</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a:t>
            </a:r>
            <a:r>
              <a:rPr lang="en-US" altLang="zh-CN" b="1" dirty="0">
                <a:solidFill>
                  <a:srgbClr val="0070C0"/>
                </a:solidFill>
                <a:latin typeface="Arial" panose="020B0604020202020204" pitchFamily="34" charset="0"/>
              </a:rPr>
              <a:t>172.16.1.9</a:t>
            </a:r>
            <a:r>
              <a:rPr lang="zh-CN" altLang="en-US" b="1" dirty="0">
                <a:solidFill>
                  <a:srgbClr val="0070C0"/>
                </a:solidFill>
                <a:latin typeface="Arial" panose="020B0604020202020204" pitchFamily="34" charset="0"/>
              </a:rPr>
              <a:t>的客户机希望向</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 </a:t>
            </a:r>
            <a:r>
              <a:rPr lang="en-US" altLang="zh-CN" b="1" dirty="0">
                <a:solidFill>
                  <a:srgbClr val="0070C0"/>
                </a:solidFill>
                <a:latin typeface="Arial" panose="020B0604020202020204" pitchFamily="34" charset="0"/>
              </a:rPr>
              <a:t>172.16.2.5</a:t>
            </a:r>
            <a:r>
              <a:rPr lang="zh-CN" altLang="en-US" b="1" dirty="0">
                <a:solidFill>
                  <a:srgbClr val="0070C0"/>
                </a:solidFill>
                <a:latin typeface="Arial" panose="020B0604020202020204" pitchFamily="34" charset="0"/>
              </a:rPr>
              <a:t>的主机发送</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数据报。</a:t>
            </a:r>
            <a:endParaRPr lang="zh-CN" altLang="en-US" b="1" dirty="0">
              <a:solidFill>
                <a:srgbClr val="0070C0"/>
              </a:solidFill>
              <a:latin typeface="Times New Roman" panose="02020603050405020304" pitchFamily="18" charset="0"/>
            </a:endParaRPr>
          </a:p>
        </p:txBody>
      </p:sp>
      <p:graphicFrame>
        <p:nvGraphicFramePr>
          <p:cNvPr id="8194" name="Object 3"/>
          <p:cNvGraphicFramePr>
            <a:graphicFrameLocks noChangeAspect="1"/>
          </p:cNvGraphicFramePr>
          <p:nvPr/>
        </p:nvGraphicFramePr>
        <p:xfrm>
          <a:off x="1143000" y="2590800"/>
          <a:ext cx="7970838" cy="3608388"/>
        </p:xfrm>
        <a:graphic>
          <a:graphicData uri="http://schemas.openxmlformats.org/presentationml/2006/ole">
            <mc:AlternateContent xmlns:mc="http://schemas.openxmlformats.org/markup-compatibility/2006">
              <mc:Choice xmlns:v="urn:schemas-microsoft-com:vml" Requires="v">
                <p:oleObj spid="_x0000_s4099" name="Picture" r:id="rId3" imgW="5012055" imgH="1955800" progId="Word.Picture.8">
                  <p:embed/>
                </p:oleObj>
              </mc:Choice>
              <mc:Fallback>
                <p:oleObj name="Picture" r:id="rId3" imgW="5012055" imgH="1955800" progId="Word.Picture.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2590800"/>
                        <a:ext cx="7970838" cy="3608388"/>
                      </a:xfrm>
                      <a:prstGeom prst="rect">
                        <a:avLst/>
                      </a:prstGeom>
                      <a:solidFill>
                        <a:schemeClr val="bg1"/>
                      </a:solidFill>
                    </p:spPr>
                  </p:pic>
                </p:oleObj>
              </mc:Fallback>
            </mc:AlternateContent>
          </a:graphicData>
        </a:graphic>
      </p:graphicFrame>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idx="4294967295"/>
          </p:nvPr>
        </p:nvSpPr>
        <p:spPr>
          <a:xfrm>
            <a:off x="955675" y="439739"/>
            <a:ext cx="7672388" cy="1081087"/>
          </a:xfrm>
        </p:spPr>
        <p:txBody>
          <a:bodyPr anchor="ctr"/>
          <a:lstStyle/>
          <a:p>
            <a:pPr eaLnBrk="1" hangingPunct="1"/>
            <a:r>
              <a:rPr lang="en-US" altLang="zh-CN" sz="3200"/>
              <a:t>ARP</a:t>
            </a:r>
            <a:r>
              <a:rPr lang="zh-CN" altLang="en-US" sz="3200"/>
              <a:t>高速缓存</a:t>
            </a:r>
            <a:r>
              <a:rPr lang="en-US" altLang="zh-CN" sz="3200">
                <a:latin typeface="Arial" panose="020B0604020202020204" pitchFamily="34" charset="0"/>
              </a:rPr>
              <a:t>——</a:t>
            </a:r>
            <a:r>
              <a:rPr lang="zh-CN" altLang="en-US" sz="3200"/>
              <a:t>解析实例（</a:t>
            </a:r>
            <a:r>
              <a:rPr lang="zh-CN" altLang="en-US" sz="3200">
                <a:solidFill>
                  <a:srgbClr val="FF0000"/>
                </a:solidFill>
              </a:rPr>
              <a:t>不同网络</a:t>
            </a:r>
            <a:r>
              <a:rPr lang="zh-CN" altLang="en-US" sz="3200"/>
              <a:t>）</a:t>
            </a:r>
          </a:p>
        </p:txBody>
      </p:sp>
      <p:sp>
        <p:nvSpPr>
          <p:cNvPr id="30723" name="矩形 9"/>
          <p:cNvSpPr>
            <a:spLocks noChangeArrowheads="1"/>
          </p:cNvSpPr>
          <p:nvPr/>
        </p:nvSpPr>
        <p:spPr bwMode="auto">
          <a:xfrm>
            <a:off x="1066800" y="1752601"/>
            <a:ext cx="7564438" cy="69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eaLnBrk="1" hangingPunct="1">
              <a:lnSpc>
                <a:spcPct val="110000"/>
              </a:lnSpc>
              <a:spcBef>
                <a:spcPct val="20000"/>
              </a:spcBef>
            </a:pPr>
            <a:r>
              <a:rPr lang="zh-CN" altLang="en-US" b="1" dirty="0">
                <a:solidFill>
                  <a:srgbClr val="0070C0"/>
                </a:solidFill>
                <a:latin typeface="Arial" panose="020B0604020202020204" pitchFamily="34" charset="0"/>
              </a:rPr>
              <a:t>假设一台</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a:t>
            </a:r>
            <a:r>
              <a:rPr lang="en-US" altLang="zh-CN" b="1" dirty="0">
                <a:solidFill>
                  <a:srgbClr val="0070C0"/>
                </a:solidFill>
                <a:latin typeface="Arial" panose="020B0604020202020204" pitchFamily="34" charset="0"/>
              </a:rPr>
              <a:t>172.16.1.9</a:t>
            </a:r>
            <a:r>
              <a:rPr lang="zh-CN" altLang="en-US" b="1" dirty="0">
                <a:solidFill>
                  <a:srgbClr val="0070C0"/>
                </a:solidFill>
                <a:latin typeface="Arial" panose="020B0604020202020204" pitchFamily="34" charset="0"/>
              </a:rPr>
              <a:t>的客户机希望向</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地址为 </a:t>
            </a:r>
            <a:r>
              <a:rPr lang="en-US" altLang="zh-CN" b="1" dirty="0">
                <a:solidFill>
                  <a:srgbClr val="0070C0"/>
                </a:solidFill>
                <a:latin typeface="Arial" panose="020B0604020202020204" pitchFamily="34" charset="0"/>
              </a:rPr>
              <a:t>172.16.2.5</a:t>
            </a:r>
            <a:r>
              <a:rPr lang="zh-CN" altLang="en-US" b="1" dirty="0">
                <a:solidFill>
                  <a:srgbClr val="0070C0"/>
                </a:solidFill>
                <a:latin typeface="Arial" panose="020B0604020202020204" pitchFamily="34" charset="0"/>
              </a:rPr>
              <a:t>的主机发送</a:t>
            </a:r>
            <a:r>
              <a:rPr lang="en-US" altLang="zh-CN" b="1" dirty="0">
                <a:solidFill>
                  <a:srgbClr val="0070C0"/>
                </a:solidFill>
                <a:latin typeface="Arial" panose="020B0604020202020204" pitchFamily="34" charset="0"/>
              </a:rPr>
              <a:t>IP</a:t>
            </a:r>
            <a:r>
              <a:rPr lang="zh-CN" altLang="en-US" b="1" dirty="0">
                <a:solidFill>
                  <a:srgbClr val="0070C0"/>
                </a:solidFill>
                <a:latin typeface="Arial" panose="020B0604020202020204" pitchFamily="34" charset="0"/>
              </a:rPr>
              <a:t>数据报。</a:t>
            </a:r>
            <a:endParaRPr lang="zh-CN" altLang="en-US" b="1" dirty="0">
              <a:solidFill>
                <a:srgbClr val="0070C0"/>
              </a:solidFill>
              <a:latin typeface="Times New Roman" panose="02020603050405020304" pitchFamily="18" charset="0"/>
            </a:endParaRPr>
          </a:p>
        </p:txBody>
      </p:sp>
      <p:pic>
        <p:nvPicPr>
          <p:cNvPr id="30724" name="Picture 7" descr="C:\Users\zhouNB\Desktop\图片1_副本.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43001" y="2514601"/>
            <a:ext cx="7618413" cy="3629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idx="4294967295"/>
          </p:nvPr>
        </p:nvSpPr>
        <p:spPr>
          <a:xfrm>
            <a:off x="955675" y="116632"/>
            <a:ext cx="7672388" cy="1081087"/>
          </a:xfrm>
        </p:spPr>
        <p:txBody>
          <a:bodyPr anchor="ctr"/>
          <a:lstStyle/>
          <a:p>
            <a:pPr eaLnBrk="1" hangingPunct="1"/>
            <a:r>
              <a:rPr lang="en-US" altLang="zh-CN" b="1" dirty="0"/>
              <a:t>ARP</a:t>
            </a:r>
            <a:r>
              <a:rPr lang="zh-CN" altLang="en-US" b="1" dirty="0"/>
              <a:t>实用命令</a:t>
            </a:r>
          </a:p>
        </p:txBody>
      </p:sp>
      <p:sp>
        <p:nvSpPr>
          <p:cNvPr id="29699" name="Rectangle 50"/>
          <p:cNvSpPr>
            <a:spLocks noChangeArrowheads="1"/>
          </p:cNvSpPr>
          <p:nvPr/>
        </p:nvSpPr>
        <p:spPr bwMode="auto">
          <a:xfrm>
            <a:off x="1066801" y="1351061"/>
            <a:ext cx="7743825"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tabLst>
                <a:tab pos="450850" algn="l"/>
              </a:tabLst>
              <a:defRPr>
                <a:solidFill>
                  <a:schemeClr val="tx1"/>
                </a:solidFill>
                <a:latin typeface="Verdana" panose="020B0604030504040204" pitchFamily="34" charset="0"/>
                <a:ea typeface="宋体" panose="02010600030101010101" pitchFamily="2" charset="-122"/>
              </a:defRPr>
            </a:lvl1pPr>
            <a:lvl2pPr marL="742950" indent="-285750" eaLnBrk="0" hangingPunct="0">
              <a:tabLst>
                <a:tab pos="450850" algn="l"/>
              </a:tabLst>
              <a:defRPr>
                <a:solidFill>
                  <a:schemeClr val="tx1"/>
                </a:solidFill>
                <a:latin typeface="Verdana" panose="020B0604030504040204" pitchFamily="34" charset="0"/>
                <a:ea typeface="宋体" panose="02010600030101010101" pitchFamily="2" charset="-122"/>
              </a:defRPr>
            </a:lvl2pPr>
            <a:lvl3pPr marL="1143000" indent="-228600" eaLnBrk="0" hangingPunct="0">
              <a:tabLst>
                <a:tab pos="450850" algn="l"/>
              </a:tabLst>
              <a:defRPr>
                <a:solidFill>
                  <a:schemeClr val="tx1"/>
                </a:solidFill>
                <a:latin typeface="Verdana" panose="020B0604030504040204" pitchFamily="34" charset="0"/>
                <a:ea typeface="宋体" panose="02010600030101010101" pitchFamily="2" charset="-122"/>
              </a:defRPr>
            </a:lvl3pPr>
            <a:lvl4pPr marL="1600200" indent="-228600" eaLnBrk="0" hangingPunct="0">
              <a:tabLst>
                <a:tab pos="450850" algn="l"/>
              </a:tabLst>
              <a:defRPr>
                <a:solidFill>
                  <a:schemeClr val="tx1"/>
                </a:solidFill>
                <a:latin typeface="Verdana" panose="020B0604030504040204" pitchFamily="34" charset="0"/>
                <a:ea typeface="宋体" panose="02010600030101010101" pitchFamily="2" charset="-122"/>
              </a:defRPr>
            </a:lvl4pPr>
            <a:lvl5pPr marL="2057400" indent="-228600" eaLnBrk="0" hangingPunct="0">
              <a:tabLst>
                <a:tab pos="450850" algn="l"/>
              </a:tabLst>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tabLst>
                <a:tab pos="450850" algn="l"/>
              </a:tabLs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tabLst>
                <a:tab pos="450850" algn="l"/>
              </a:tabLs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tabLst>
                <a:tab pos="450850" algn="l"/>
              </a:tabLs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tabLst>
                <a:tab pos="450850" algn="l"/>
              </a:tabLst>
              <a:defRPr>
                <a:solidFill>
                  <a:schemeClr val="tx1"/>
                </a:solidFill>
                <a:latin typeface="Verdana" panose="020B0604030504040204" pitchFamily="34" charset="0"/>
                <a:ea typeface="宋体" panose="02010600030101010101" pitchFamily="2" charset="-122"/>
              </a:defRPr>
            </a:lvl9pPr>
          </a:lstStyle>
          <a:p>
            <a:pPr>
              <a:buClr>
                <a:schemeClr val="hlink"/>
              </a:buClr>
              <a:buFont typeface="Wingdings" panose="05000000000000000000" pitchFamily="2" charset="2"/>
              <a:buChar char="u"/>
            </a:pPr>
            <a:r>
              <a:rPr lang="en-US" altLang="zh-CN" sz="2000" b="1" dirty="0">
                <a:latin typeface="黑体" panose="02010609060101010101" pitchFamily="2" charset="-122"/>
              </a:rPr>
              <a:t> </a:t>
            </a:r>
            <a:r>
              <a:rPr lang="zh-CN" altLang="en-US" sz="2000" b="1" dirty="0">
                <a:latin typeface="黑体" panose="02010609060101010101" pitchFamily="2" charset="-122"/>
              </a:rPr>
              <a:t>可以通过</a:t>
            </a:r>
            <a:r>
              <a:rPr lang="en-US" altLang="zh-CN" sz="2000" b="1" dirty="0" err="1">
                <a:solidFill>
                  <a:srgbClr val="FF0000"/>
                </a:solidFill>
                <a:latin typeface="黑体" panose="02010609060101010101" pitchFamily="2" charset="-122"/>
              </a:rPr>
              <a:t>arp</a:t>
            </a:r>
            <a:r>
              <a:rPr lang="zh-CN" altLang="en-US" sz="2000" b="1" dirty="0">
                <a:solidFill>
                  <a:srgbClr val="FF0000"/>
                </a:solidFill>
                <a:latin typeface="黑体" panose="02010609060101010101" pitchFamily="2" charset="-122"/>
              </a:rPr>
              <a:t>命令查看、添加和删除</a:t>
            </a:r>
            <a:r>
              <a:rPr lang="zh-CN" altLang="en-US" sz="2000" b="1" dirty="0">
                <a:latin typeface="黑体" panose="02010609060101010101" pitchFamily="2" charset="-122"/>
              </a:rPr>
              <a:t>高速缓存中的内容。 </a:t>
            </a:r>
            <a:endParaRPr lang="zh-CN" altLang="en-US" sz="2000" b="1" dirty="0">
              <a:solidFill>
                <a:srgbClr val="CC3300"/>
              </a:solidFill>
              <a:latin typeface="黑体" panose="02010609060101010101" pitchFamily="2" charset="-122"/>
            </a:endParaRPr>
          </a:p>
          <a:p>
            <a:pPr>
              <a:buClr>
                <a:schemeClr val="hlink"/>
              </a:buClr>
              <a:buFont typeface="Wingdings" panose="05000000000000000000" pitchFamily="2" charset="2"/>
              <a:buChar char="u"/>
            </a:pPr>
            <a:r>
              <a:rPr lang="zh-CN" altLang="en-US" sz="2000" b="1" dirty="0">
                <a:solidFill>
                  <a:srgbClr val="FF0000"/>
                </a:solidFill>
                <a:latin typeface="黑体" panose="02010609060101010101" pitchFamily="2" charset="-122"/>
              </a:rPr>
              <a:t> </a:t>
            </a:r>
            <a:r>
              <a:rPr lang="en-US" altLang="zh-CN" sz="2000" b="1" dirty="0">
                <a:solidFill>
                  <a:srgbClr val="FF0000"/>
                </a:solidFill>
                <a:latin typeface="黑体" panose="02010609060101010101" pitchFamily="2" charset="-122"/>
              </a:rPr>
              <a:t>ARP</a:t>
            </a:r>
            <a:r>
              <a:rPr lang="zh-CN" altLang="en-US" sz="2000" b="1" dirty="0">
                <a:solidFill>
                  <a:srgbClr val="FF0000"/>
                </a:solidFill>
                <a:latin typeface="黑体" panose="02010609060101010101" pitchFamily="2" charset="-122"/>
              </a:rPr>
              <a:t>命令</a:t>
            </a:r>
          </a:p>
          <a:p>
            <a:pPr>
              <a:lnSpc>
                <a:spcPct val="120000"/>
              </a:lnSpc>
              <a:spcBef>
                <a:spcPct val="20000"/>
              </a:spcBef>
              <a:spcAft>
                <a:spcPct val="20000"/>
              </a:spcAft>
            </a:pPr>
            <a:r>
              <a:rPr lang="en-US" altLang="zh-CN" sz="2000" b="1" dirty="0" err="1">
                <a:latin typeface="黑体" panose="02010609060101010101" pitchFamily="2" charset="-122"/>
              </a:rPr>
              <a:t>arp</a:t>
            </a:r>
            <a:r>
              <a:rPr lang="zh-CN" altLang="en-US" sz="2000" b="1" dirty="0">
                <a:latin typeface="黑体" panose="02010609060101010101" pitchFamily="2" charset="-122"/>
              </a:rPr>
              <a:t>命令可以显示、添加和删除</a:t>
            </a:r>
            <a:r>
              <a:rPr lang="en-US" altLang="zh-CN" sz="2000" b="1" dirty="0" err="1">
                <a:latin typeface="黑体" panose="02010609060101010101" pitchFamily="2" charset="-122"/>
              </a:rPr>
              <a:t>arp</a:t>
            </a:r>
            <a:r>
              <a:rPr lang="zh-CN" altLang="en-US" sz="2000" b="1" dirty="0">
                <a:latin typeface="黑体" panose="02010609060101010101" pitchFamily="2" charset="-122"/>
              </a:rPr>
              <a:t>内容。在</a:t>
            </a:r>
            <a:r>
              <a:rPr lang="en-US" altLang="zh-CN" sz="2000" b="1" dirty="0">
                <a:latin typeface="黑体" panose="02010609060101010101" pitchFamily="2" charset="-122"/>
              </a:rPr>
              <a:t>windows</a:t>
            </a:r>
            <a:r>
              <a:rPr lang="zh-CN" altLang="en-US" sz="2000" b="1" dirty="0">
                <a:latin typeface="黑体" panose="02010609060101010101" pitchFamily="2" charset="-122"/>
              </a:rPr>
              <a:t>和</a:t>
            </a:r>
            <a:r>
              <a:rPr lang="en-US" altLang="zh-CN" sz="2000" b="1" dirty="0" err="1">
                <a:latin typeface="黑体" panose="02010609060101010101" pitchFamily="2" charset="-122"/>
              </a:rPr>
              <a:t>unix</a:t>
            </a:r>
            <a:r>
              <a:rPr lang="zh-CN" altLang="en-US" sz="2000" b="1" dirty="0">
                <a:latin typeface="黑体" panose="02010609060101010101" pitchFamily="2" charset="-122"/>
              </a:rPr>
              <a:t>系统中都有这个命令。</a:t>
            </a:r>
          </a:p>
          <a:p>
            <a:pPr eaLnBrk="1" hangingPunct="1"/>
            <a:r>
              <a:rPr lang="zh-CN" altLang="en-US"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-a [</a:t>
            </a:r>
            <a:r>
              <a:rPr lang="en-US" altLang="zh-CN" sz="2000" b="1" dirty="0" err="1">
                <a:solidFill>
                  <a:srgbClr val="FF0000"/>
                </a:solidFill>
                <a:latin typeface="黑体" panose="02010609060101010101" pitchFamily="2" charset="-122"/>
              </a:rPr>
              <a:t>inet_addr</a:t>
            </a:r>
            <a:r>
              <a:rPr lang="en-US" altLang="zh-CN" sz="2000" b="1" dirty="0">
                <a:solidFill>
                  <a:srgbClr val="FF0000"/>
                </a:solidFill>
                <a:latin typeface="黑体" panose="02010609060101010101" pitchFamily="2" charset="-122"/>
              </a:rPr>
              <a:t>]  </a:t>
            </a:r>
            <a:r>
              <a:rPr lang="zh-CN" altLang="en-US" sz="2000" b="1" dirty="0">
                <a:latin typeface="黑体" panose="02010609060101010101" pitchFamily="2" charset="-122"/>
              </a:rPr>
              <a:t>显示地址映射表项，</a:t>
            </a:r>
            <a:r>
              <a:rPr lang="en-US" altLang="zh-CN" sz="2000" b="1" dirty="0">
                <a:latin typeface="黑体" panose="02010609060101010101" pitchFamily="2" charset="-122"/>
              </a:rPr>
              <a:t>[ ]</a:t>
            </a:r>
            <a:r>
              <a:rPr lang="zh-CN" altLang="en-US" sz="2000" b="1" dirty="0">
                <a:latin typeface="黑体" panose="02010609060101010101" pitchFamily="2" charset="-122"/>
              </a:rPr>
              <a:t>为可选项。</a:t>
            </a:r>
          </a:p>
          <a:p>
            <a:pPr eaLnBrk="1" hangingPunct="1"/>
            <a:r>
              <a:rPr lang="zh-CN" altLang="en-US"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-g [</a:t>
            </a:r>
            <a:r>
              <a:rPr lang="en-US" altLang="zh-CN" sz="2000" b="1" dirty="0" err="1">
                <a:solidFill>
                  <a:srgbClr val="FF0000"/>
                </a:solidFill>
                <a:latin typeface="黑体" panose="02010609060101010101" pitchFamily="2" charset="-122"/>
              </a:rPr>
              <a:t>inet_addr</a:t>
            </a:r>
            <a:r>
              <a:rPr lang="en-US" altLang="zh-CN" sz="2000" b="1" dirty="0">
                <a:solidFill>
                  <a:srgbClr val="FF0000"/>
                </a:solidFill>
                <a:latin typeface="黑体" panose="02010609060101010101" pitchFamily="2" charset="-122"/>
              </a:rPr>
              <a:t>]  </a:t>
            </a:r>
            <a:r>
              <a:rPr lang="zh-CN" altLang="en-US" sz="2000" b="1" dirty="0">
                <a:latin typeface="黑体" panose="02010609060101010101" pitchFamily="2" charset="-122"/>
              </a:rPr>
              <a:t>功能与</a:t>
            </a:r>
            <a:r>
              <a:rPr lang="en-US" altLang="zh-CN" sz="2000" b="1" dirty="0" err="1">
                <a:latin typeface="黑体" panose="02010609060101010101" pitchFamily="2" charset="-122"/>
              </a:rPr>
              <a:t>arp</a:t>
            </a:r>
            <a:r>
              <a:rPr lang="en-US" altLang="zh-CN" sz="2000" b="1" dirty="0">
                <a:latin typeface="黑体" panose="02010609060101010101" pitchFamily="2" charset="-122"/>
              </a:rPr>
              <a:t> -a [</a:t>
            </a:r>
            <a:r>
              <a:rPr lang="en-US" altLang="zh-CN" sz="2000" b="1" dirty="0" err="1">
                <a:latin typeface="黑体" panose="02010609060101010101" pitchFamily="2" charset="-122"/>
              </a:rPr>
              <a:t>inet_addr</a:t>
            </a:r>
            <a:r>
              <a:rPr lang="en-US" altLang="zh-CN" sz="2000" b="1" dirty="0">
                <a:latin typeface="黑体" panose="02010609060101010101" pitchFamily="2" charset="-122"/>
              </a:rPr>
              <a:t>]</a:t>
            </a:r>
            <a:r>
              <a:rPr lang="zh-CN" altLang="en-US" sz="2000" b="1" dirty="0">
                <a:latin typeface="黑体" panose="02010609060101010101" pitchFamily="2" charset="-122"/>
              </a:rPr>
              <a:t>相同。</a:t>
            </a:r>
          </a:p>
          <a:p>
            <a:pPr eaLnBrk="1" hangingPunct="1"/>
            <a:r>
              <a:rPr lang="zh-CN" altLang="en-US"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-d </a:t>
            </a:r>
            <a:r>
              <a:rPr lang="en-US" altLang="zh-CN" sz="2000" b="1" dirty="0" err="1">
                <a:solidFill>
                  <a:srgbClr val="FF0000"/>
                </a:solidFill>
                <a:latin typeface="黑体" panose="02010609060101010101" pitchFamily="2" charset="-122"/>
              </a:rPr>
              <a:t>inet_addr</a:t>
            </a:r>
            <a:r>
              <a:rPr lang="en-US" altLang="zh-CN" sz="2000" b="1" dirty="0">
                <a:solidFill>
                  <a:srgbClr val="FF0000"/>
                </a:solidFill>
                <a:latin typeface="黑体" panose="02010609060101010101" pitchFamily="2" charset="-122"/>
              </a:rPr>
              <a:t>    </a:t>
            </a:r>
            <a:r>
              <a:rPr lang="zh-CN" altLang="en-US" sz="2000" b="1" dirty="0">
                <a:latin typeface="黑体" panose="02010609060101010101" pitchFamily="2" charset="-122"/>
              </a:rPr>
              <a:t>删除由</a:t>
            </a:r>
            <a:r>
              <a:rPr lang="en-US" altLang="zh-CN" sz="2000" b="1" dirty="0" err="1">
                <a:latin typeface="黑体" panose="02010609060101010101" pitchFamily="2" charset="-122"/>
              </a:rPr>
              <a:t>inet_addr</a:t>
            </a:r>
            <a:r>
              <a:rPr lang="zh-CN" altLang="en-US" sz="2000" b="1" dirty="0">
                <a:latin typeface="黑体" panose="02010609060101010101" pitchFamily="2" charset="-122"/>
              </a:rPr>
              <a:t>所指定的表项。</a:t>
            </a:r>
            <a:endParaRPr lang="en-US" altLang="zh-CN" sz="2000" b="1" dirty="0">
              <a:latin typeface="黑体" panose="02010609060101010101" pitchFamily="2" charset="-122"/>
            </a:endParaRPr>
          </a:p>
          <a:p>
            <a:pPr eaLnBrk="1" hangingPunct="1"/>
            <a:r>
              <a:rPr lang="en-US" altLang="zh-CN"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-d  *		  </a:t>
            </a:r>
            <a:r>
              <a:rPr lang="zh-CN" altLang="en-US" sz="2000" b="1" dirty="0">
                <a:latin typeface="黑体" panose="02010609060101010101" pitchFamily="2" charset="-122"/>
              </a:rPr>
              <a:t>删除所有表项</a:t>
            </a:r>
          </a:p>
          <a:p>
            <a:pPr eaLnBrk="1" hangingPunct="1"/>
            <a:r>
              <a:rPr lang="zh-CN" altLang="en-US"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-s </a:t>
            </a:r>
            <a:r>
              <a:rPr lang="en-US" altLang="zh-CN" sz="2000" b="1" dirty="0" err="1">
                <a:solidFill>
                  <a:srgbClr val="FF0000"/>
                </a:solidFill>
                <a:latin typeface="黑体" panose="02010609060101010101" pitchFamily="2" charset="-122"/>
              </a:rPr>
              <a:t>inet_addr</a:t>
            </a:r>
            <a:r>
              <a:rPr lang="en-US" altLang="zh-CN" sz="2000" b="1" dirty="0">
                <a:solidFill>
                  <a:srgbClr val="FF0000"/>
                </a:solidFill>
                <a:latin typeface="黑体" panose="02010609060101010101" pitchFamily="2" charset="-122"/>
              </a:rPr>
              <a:t>  </a:t>
            </a:r>
            <a:r>
              <a:rPr lang="en-US" altLang="zh-CN" sz="2000" b="1" dirty="0" err="1">
                <a:solidFill>
                  <a:srgbClr val="FF0000"/>
                </a:solidFill>
                <a:latin typeface="黑体" panose="02010609060101010101" pitchFamily="2" charset="-122"/>
              </a:rPr>
              <a:t>phys_addr</a:t>
            </a:r>
            <a:r>
              <a:rPr lang="en-US" altLang="zh-CN" sz="2000" b="1" dirty="0">
                <a:solidFill>
                  <a:srgbClr val="FF0000"/>
                </a:solidFill>
                <a:latin typeface="黑体" panose="02010609060101010101" pitchFamily="2" charset="-122"/>
              </a:rPr>
              <a:t>  </a:t>
            </a:r>
            <a:r>
              <a:rPr lang="zh-CN" altLang="en-US" sz="2000" b="1" dirty="0">
                <a:latin typeface="黑体" panose="02010609060101010101" pitchFamily="2" charset="-122"/>
              </a:rPr>
              <a:t>增加由</a:t>
            </a:r>
            <a:r>
              <a:rPr lang="en-US" altLang="zh-CN" sz="2000" b="1" dirty="0" err="1">
                <a:latin typeface="黑体" panose="02010609060101010101" pitchFamily="2" charset="-122"/>
              </a:rPr>
              <a:t>inet_addr</a:t>
            </a:r>
            <a:r>
              <a:rPr lang="zh-CN" altLang="en-US" sz="2000" b="1" dirty="0">
                <a:latin typeface="黑体" panose="02010609060101010101" pitchFamily="2" charset="-122"/>
              </a:rPr>
              <a:t>和</a:t>
            </a:r>
            <a:r>
              <a:rPr lang="en-US" altLang="zh-CN" sz="2000" b="1" dirty="0" err="1">
                <a:latin typeface="黑体" panose="02010609060101010101" pitchFamily="2" charset="-122"/>
              </a:rPr>
              <a:t>phys_addr</a:t>
            </a:r>
            <a:r>
              <a:rPr lang="en-US" altLang="zh-CN" sz="2000" b="1" dirty="0">
                <a:latin typeface="黑体" panose="02010609060101010101" pitchFamily="2" charset="-122"/>
              </a:rPr>
              <a:t> </a:t>
            </a:r>
            <a:br>
              <a:rPr lang="en-US" altLang="zh-CN" sz="2000" b="1" dirty="0">
                <a:latin typeface="黑体" panose="02010609060101010101" pitchFamily="2" charset="-122"/>
              </a:rPr>
            </a:br>
            <a:r>
              <a:rPr lang="en-US" altLang="zh-CN" sz="2000" b="1" dirty="0">
                <a:latin typeface="黑体" panose="02010609060101010101" pitchFamily="2" charset="-122"/>
              </a:rPr>
              <a:t>                                </a:t>
            </a:r>
            <a:r>
              <a:rPr lang="zh-CN" altLang="en-US" sz="2000" b="1" dirty="0">
                <a:latin typeface="黑体" panose="02010609060101010101" pitchFamily="2" charset="-122"/>
              </a:rPr>
              <a:t>指定的静态表项。</a:t>
            </a:r>
          </a:p>
          <a:p>
            <a:pPr eaLnBrk="1" hangingPunct="1"/>
            <a:r>
              <a:rPr lang="zh-CN" altLang="en-US" sz="2000" b="1" dirty="0">
                <a:latin typeface="黑体" panose="02010609060101010101" pitchFamily="2" charset="-122"/>
              </a:rPr>
              <a:t>   </a:t>
            </a:r>
            <a:r>
              <a:rPr lang="en-US" altLang="zh-CN" sz="2000" b="1" dirty="0" err="1">
                <a:solidFill>
                  <a:srgbClr val="FF0000"/>
                </a:solidFill>
                <a:latin typeface="黑体" panose="02010609060101010101" pitchFamily="2" charset="-122"/>
              </a:rPr>
              <a:t>arp</a:t>
            </a:r>
            <a:r>
              <a:rPr lang="en-US" altLang="zh-CN" sz="2000" b="1" dirty="0">
                <a:solidFill>
                  <a:srgbClr val="FF0000"/>
                </a:solidFill>
                <a:latin typeface="黑体" panose="02010609060101010101" pitchFamily="2" charset="-122"/>
              </a:rPr>
              <a:t>  /?             </a:t>
            </a:r>
            <a:r>
              <a:rPr lang="zh-CN" altLang="en-US" sz="2000" b="1" dirty="0">
                <a:latin typeface="黑体" panose="02010609060101010101" pitchFamily="2" charset="-122"/>
              </a:rPr>
              <a:t>显示帮助</a:t>
            </a:r>
          </a:p>
          <a:p>
            <a:endParaRPr lang="en-US" altLang="zh-CN" sz="2400" b="1" dirty="0">
              <a:latin typeface="Times New Roman" panose="02020603050405020304" pitchFamily="18" charset="0"/>
            </a:endParaRPr>
          </a:p>
        </p:txBody>
      </p:sp>
      <p:sp>
        <p:nvSpPr>
          <p:cNvPr id="21508" name="Text Box 52"/>
          <p:cNvSpPr txBox="1">
            <a:spLocks noChangeArrowheads="1"/>
          </p:cNvSpPr>
          <p:nvPr/>
        </p:nvSpPr>
        <p:spPr bwMode="auto">
          <a:xfrm>
            <a:off x="1127020" y="5373216"/>
            <a:ext cx="8170863" cy="1323439"/>
          </a:xfrm>
          <a:prstGeom prst="rect">
            <a:avLst/>
          </a:prstGeom>
          <a:noFill/>
          <a:ln w="9525" algn="ctr">
            <a:noFill/>
            <a:miter lim="800000"/>
          </a:ln>
        </p:spPr>
        <p:txBody>
          <a:bodyPr>
            <a:spAutoFit/>
          </a:bodyPr>
          <a:lstStyle/>
          <a:p>
            <a:pPr>
              <a:spcBef>
                <a:spcPct val="50000"/>
              </a:spcBef>
              <a:defRPr/>
            </a:pPr>
            <a:r>
              <a:rPr lang="zh-CN" altLang="en-US" sz="2000" b="1" dirty="0">
                <a:solidFill>
                  <a:schemeClr val="bg2">
                    <a:lumMod val="10000"/>
                  </a:schemeClr>
                </a:solidFill>
                <a:latin typeface="Arial" panose="020B0604020202020204" pitchFamily="34" charset="0"/>
              </a:rPr>
              <a:t>说明：</a:t>
            </a:r>
            <a:endParaRPr lang="en-US" altLang="zh-CN" sz="2000" b="1" dirty="0">
              <a:solidFill>
                <a:schemeClr val="bg2">
                  <a:lumMod val="10000"/>
                </a:schemeClr>
              </a:solidFill>
              <a:latin typeface="Arial" panose="020B0604020202020204" pitchFamily="34" charset="0"/>
            </a:endParaRPr>
          </a:p>
          <a:p>
            <a:pPr>
              <a:spcBef>
                <a:spcPct val="50000"/>
              </a:spcBef>
              <a:defRPr/>
            </a:pPr>
            <a:r>
              <a:rPr lang="en-US" altLang="zh-CN" sz="2000" b="1" dirty="0">
                <a:latin typeface="Times New Roman" panose="02020603050405020304" pitchFamily="18" charset="0"/>
              </a:rPr>
              <a:t>1</a:t>
            </a:r>
            <a:r>
              <a:rPr lang="zh-CN" altLang="en-US" sz="2000" b="1" dirty="0">
                <a:latin typeface="Times New Roman" panose="02020603050405020304" pitchFamily="18" charset="0"/>
              </a:rPr>
              <a:t>、使用</a:t>
            </a:r>
            <a:r>
              <a:rPr lang="en-US" altLang="zh-CN" sz="2000" b="1" dirty="0">
                <a:latin typeface="Times New Roman" panose="02020603050405020304" pitchFamily="18" charset="0"/>
              </a:rPr>
              <a:t>ARP</a:t>
            </a:r>
            <a:r>
              <a:rPr lang="zh-CN" altLang="en-US" sz="2000" b="1" dirty="0">
                <a:latin typeface="Times New Roman" panose="02020603050405020304" pitchFamily="18" charset="0"/>
              </a:rPr>
              <a:t>命令查看高速缓存内容前最好先</a:t>
            </a:r>
            <a:r>
              <a:rPr lang="en-US" altLang="zh-CN" sz="2000" b="1" dirty="0">
                <a:latin typeface="Times New Roman" panose="02020603050405020304" pitchFamily="18" charset="0"/>
              </a:rPr>
              <a:t>ping </a:t>
            </a:r>
            <a:r>
              <a:rPr lang="zh-CN" altLang="en-US" sz="2000" b="1" dirty="0">
                <a:latin typeface="Times New Roman" panose="02020603050405020304" pitchFamily="18" charset="0"/>
              </a:rPr>
              <a:t>此台主机或路由器。</a:t>
            </a:r>
            <a:endParaRPr lang="en-US" altLang="zh-CN" sz="2000" b="1" dirty="0">
              <a:latin typeface="Times New Roman" panose="02020603050405020304" pitchFamily="18" charset="0"/>
            </a:endParaRPr>
          </a:p>
          <a:p>
            <a:pPr>
              <a:spcBef>
                <a:spcPct val="50000"/>
              </a:spcBef>
              <a:defRPr/>
            </a:pPr>
            <a:r>
              <a:rPr lang="en-US" altLang="zh-CN" sz="2000" b="1" dirty="0">
                <a:latin typeface="Arial" panose="020B0604020202020204" pitchFamily="34" charset="0"/>
              </a:rPr>
              <a:t>2</a:t>
            </a:r>
            <a:r>
              <a:rPr lang="zh-CN" altLang="en-US" sz="2000" b="1" dirty="0">
                <a:latin typeface="Arial" panose="020B0604020202020204" pitchFamily="34" charset="0"/>
              </a:rPr>
              <a:t>、</a:t>
            </a:r>
            <a:r>
              <a:rPr lang="zh-CN" altLang="en-US" sz="2000" b="1" dirty="0">
                <a:latin typeface="Times New Roman" panose="02020603050405020304" pitchFamily="18" charset="0"/>
              </a:rPr>
              <a:t>为了能抓到</a:t>
            </a:r>
            <a:r>
              <a:rPr lang="en-US" altLang="zh-CN" sz="2000" b="1" dirty="0">
                <a:latin typeface="Times New Roman" panose="02020603050405020304" pitchFamily="18" charset="0"/>
              </a:rPr>
              <a:t>ARP</a:t>
            </a:r>
            <a:r>
              <a:rPr lang="zh-CN" altLang="en-US" sz="2000" b="1" dirty="0">
                <a:latin typeface="Times New Roman" panose="02020603050405020304" pitchFamily="18" charset="0"/>
              </a:rPr>
              <a:t>协议包，最好在命令行中运行</a:t>
            </a:r>
            <a:r>
              <a:rPr lang="en-US" altLang="zh-CN" sz="2000" b="1" dirty="0" err="1">
                <a:latin typeface="Times New Roman" panose="02020603050405020304" pitchFamily="18" charset="0"/>
              </a:rPr>
              <a:t>arp</a:t>
            </a:r>
            <a:r>
              <a:rPr lang="en-US" altLang="zh-CN" sz="2000" b="1" dirty="0">
                <a:latin typeface="Times New Roman" panose="02020603050405020304" pitchFamily="18" charset="0"/>
              </a:rPr>
              <a:t> –d </a:t>
            </a:r>
            <a:r>
              <a:rPr lang="zh-CN" altLang="en-US" sz="2000" b="1" dirty="0">
                <a:latin typeface="Times New Roman" panose="02020603050405020304" pitchFamily="18" charset="0"/>
              </a:rPr>
              <a:t>清除</a:t>
            </a:r>
            <a:r>
              <a:rPr lang="en-US" altLang="zh-CN" sz="2000" b="1" dirty="0" err="1">
                <a:latin typeface="Times New Roman" panose="02020603050405020304" pitchFamily="18" charset="0"/>
              </a:rPr>
              <a:t>arp</a:t>
            </a:r>
            <a:r>
              <a:rPr lang="zh-CN" altLang="en-US" sz="2000" b="1" dirty="0">
                <a:latin typeface="Times New Roman" panose="02020603050405020304" pitchFamily="18" charset="0"/>
              </a:rPr>
              <a:t>缓存。  </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sz="3600" dirty="0"/>
              <a:t>我们为什么不直接使用硬件地址进行通信？ </a:t>
            </a:r>
          </a:p>
        </p:txBody>
      </p:sp>
      <p:sp>
        <p:nvSpPr>
          <p:cNvPr id="376835" name="Rectangle 3"/>
          <p:cNvSpPr>
            <a:spLocks noGrp="1" noChangeArrowheads="1"/>
          </p:cNvSpPr>
          <p:nvPr>
            <p:ph idx="1"/>
          </p:nvPr>
        </p:nvSpPr>
        <p:spPr/>
        <p:txBody>
          <a:bodyPr/>
          <a:lstStyle/>
          <a:p>
            <a:r>
              <a:rPr lang="zh-CN" altLang="en-US" sz="2600" dirty="0"/>
              <a:t>由于全世界存在着各式各样的网络，它们使用不同的硬件地址。要使这些异构网络能够互相通信就必须进行非常复杂的硬件地址转换工作，因此几乎是不可能的事。</a:t>
            </a:r>
          </a:p>
          <a:p>
            <a:r>
              <a:rPr lang="en-US" altLang="zh-CN" sz="2600" dirty="0">
                <a:solidFill>
                  <a:srgbClr val="FF0000"/>
                </a:solidFill>
              </a:rPr>
              <a:t>IP </a:t>
            </a:r>
            <a:r>
              <a:rPr lang="zh-CN" altLang="zh-CN" sz="2600" dirty="0">
                <a:solidFill>
                  <a:srgbClr val="FF0000"/>
                </a:solidFill>
              </a:rPr>
              <a:t>编址把这个复杂问题解决了</a:t>
            </a:r>
            <a:r>
              <a:rPr lang="zh-CN" altLang="en-US" sz="2600" dirty="0">
                <a:solidFill>
                  <a:srgbClr val="FF0000"/>
                </a:solidFill>
              </a:rPr>
              <a:t>。</a:t>
            </a:r>
            <a:r>
              <a:rPr lang="zh-CN" altLang="zh-CN" sz="2600" dirty="0"/>
              <a:t>连接到互联网的主机只需各自拥有一个唯一的</a:t>
            </a:r>
            <a:r>
              <a:rPr lang="en-US" altLang="zh-CN" sz="2600" dirty="0"/>
              <a:t> IP </a:t>
            </a:r>
            <a:r>
              <a:rPr lang="zh-CN" altLang="zh-CN" sz="2600" dirty="0"/>
              <a:t>地址，它们之间的通信就像连接在同一个网络上那样简单方便，因为上述的调用</a:t>
            </a:r>
            <a:r>
              <a:rPr lang="en-US" altLang="zh-CN" sz="2600" dirty="0"/>
              <a:t> ARP </a:t>
            </a:r>
            <a:r>
              <a:rPr lang="zh-CN" altLang="zh-CN" sz="2600" dirty="0"/>
              <a:t>的复杂过程都是由计算机软件自动进行的，对用户来说是看不见这种调用过程的</a:t>
            </a:r>
            <a:r>
              <a:rPr lang="zh-CN" altLang="en-US" sz="2600" dirty="0"/>
              <a:t>。</a:t>
            </a:r>
            <a:endParaRPr lang="en-US" altLang="zh-CN" sz="2600" dirty="0"/>
          </a:p>
          <a:p>
            <a:r>
              <a:rPr lang="zh-CN" altLang="zh-CN" sz="2600" dirty="0">
                <a:solidFill>
                  <a:srgbClr val="FF0000"/>
                </a:solidFill>
              </a:rPr>
              <a:t>因此，在虚拟的</a:t>
            </a:r>
            <a:r>
              <a:rPr lang="en-US" altLang="zh-CN" sz="2600" dirty="0">
                <a:solidFill>
                  <a:srgbClr val="FF0000"/>
                </a:solidFill>
              </a:rPr>
              <a:t> IP </a:t>
            </a:r>
            <a:r>
              <a:rPr lang="zh-CN" altLang="zh-CN" sz="2600" dirty="0">
                <a:solidFill>
                  <a:srgbClr val="FF0000"/>
                </a:solidFill>
              </a:rPr>
              <a:t>网络上用</a:t>
            </a:r>
            <a:r>
              <a:rPr lang="en-US" altLang="zh-CN" sz="2600" dirty="0">
                <a:solidFill>
                  <a:srgbClr val="FF0000"/>
                </a:solidFill>
              </a:rPr>
              <a:t> IP </a:t>
            </a:r>
            <a:r>
              <a:rPr lang="zh-CN" altLang="zh-CN" sz="2600" dirty="0">
                <a:solidFill>
                  <a:srgbClr val="FF0000"/>
                </a:solidFill>
              </a:rPr>
              <a:t>地址进行通信给广大的计算机用户带来</a:t>
            </a:r>
            <a:r>
              <a:rPr lang="zh-CN" altLang="en-US" sz="2600" dirty="0">
                <a:solidFill>
                  <a:srgbClr val="FF0000"/>
                </a:solidFill>
              </a:rPr>
              <a:t>了</a:t>
            </a:r>
            <a:r>
              <a:rPr lang="zh-CN" altLang="zh-CN" sz="2600" dirty="0">
                <a:solidFill>
                  <a:srgbClr val="FF0000"/>
                </a:solidFill>
              </a:rPr>
              <a:t>很大的方便</a:t>
            </a:r>
            <a:r>
              <a:rPr lang="zh-CN" altLang="en-US" sz="2600" dirty="0">
                <a:solidFill>
                  <a:srgbClr val="FF0000"/>
                </a:solidFill>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7683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3"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71149" y="1700808"/>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71138" y="1700808"/>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19410" y="1700808"/>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Rectangle 2"/>
          <p:cNvSpPr>
            <a:spLocks noGrp="1" noChangeArrowheads="1"/>
          </p:cNvSpPr>
          <p:nvPr>
            <p:ph type="title"/>
          </p:nvPr>
        </p:nvSpPr>
        <p:spPr>
          <a:xfrm>
            <a:off x="495300" y="188640"/>
            <a:ext cx="5249788" cy="792088"/>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en-US" altLang="zh-CN" sz="3600" dirty="0"/>
              <a:t>ARP</a:t>
            </a:r>
            <a:r>
              <a:rPr lang="zh-CN" altLang="en-US" sz="3600" dirty="0"/>
              <a:t>病毒（</a:t>
            </a:r>
            <a:r>
              <a:rPr lang="zh-CN" altLang="en-US" sz="3600" dirty="0">
                <a:solidFill>
                  <a:srgbClr val="FF0000"/>
                </a:solidFill>
              </a:rPr>
              <a:t>绝对信任</a:t>
            </a:r>
            <a:r>
              <a:rPr lang="zh-CN" altLang="en-US" sz="3600" dirty="0"/>
              <a:t>）</a:t>
            </a:r>
          </a:p>
        </p:txBody>
      </p:sp>
      <p:sp>
        <p:nvSpPr>
          <p:cNvPr id="20" name="Text Box 57"/>
          <p:cNvSpPr txBox="1">
            <a:spLocks noChangeArrowheads="1"/>
          </p:cNvSpPr>
          <p:nvPr/>
        </p:nvSpPr>
        <p:spPr bwMode="auto">
          <a:xfrm>
            <a:off x="1208584" y="2812866"/>
            <a:ext cx="24368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00-00-C0-15-AD-18</a:t>
            </a:r>
          </a:p>
        </p:txBody>
      </p:sp>
      <p:sp>
        <p:nvSpPr>
          <p:cNvPr id="21" name="Text Box 55"/>
          <p:cNvSpPr txBox="1">
            <a:spLocks noChangeArrowheads="1"/>
          </p:cNvSpPr>
          <p:nvPr/>
        </p:nvSpPr>
        <p:spPr bwMode="auto">
          <a:xfrm>
            <a:off x="1800894" y="243595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209.0.0.5</a:t>
            </a:r>
          </a:p>
        </p:txBody>
      </p:sp>
      <p:sp>
        <p:nvSpPr>
          <p:cNvPr id="22" name="Text Box 57"/>
          <p:cNvSpPr txBox="1">
            <a:spLocks noChangeArrowheads="1"/>
          </p:cNvSpPr>
          <p:nvPr/>
        </p:nvSpPr>
        <p:spPr bwMode="auto">
          <a:xfrm>
            <a:off x="3835034" y="2812866"/>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00-00-C0-15-AD-19</a:t>
            </a:r>
          </a:p>
        </p:txBody>
      </p:sp>
      <p:sp>
        <p:nvSpPr>
          <p:cNvPr id="23" name="Text Box 55"/>
          <p:cNvSpPr txBox="1">
            <a:spLocks noChangeArrowheads="1"/>
          </p:cNvSpPr>
          <p:nvPr/>
        </p:nvSpPr>
        <p:spPr bwMode="auto">
          <a:xfrm>
            <a:off x="4427344" y="243595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209.0.0.6</a:t>
            </a:r>
          </a:p>
        </p:txBody>
      </p:sp>
      <p:sp>
        <p:nvSpPr>
          <p:cNvPr id="24" name="Text Box 57"/>
          <p:cNvSpPr txBox="1">
            <a:spLocks noChangeArrowheads="1"/>
          </p:cNvSpPr>
          <p:nvPr/>
        </p:nvSpPr>
        <p:spPr bwMode="auto">
          <a:xfrm>
            <a:off x="6269293" y="2812866"/>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00-00-C0-15-AD-20</a:t>
            </a:r>
          </a:p>
        </p:txBody>
      </p:sp>
      <p:sp>
        <p:nvSpPr>
          <p:cNvPr id="25" name="Text Box 55"/>
          <p:cNvSpPr txBox="1">
            <a:spLocks noChangeArrowheads="1"/>
          </p:cNvSpPr>
          <p:nvPr/>
        </p:nvSpPr>
        <p:spPr bwMode="auto">
          <a:xfrm>
            <a:off x="6861603" y="243595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anose="02010609060101010101" pitchFamily="2" charset="-122"/>
              </a:rPr>
              <a:t>209.0.0.7</a:t>
            </a:r>
          </a:p>
        </p:txBody>
      </p:sp>
      <p:sp>
        <p:nvSpPr>
          <p:cNvPr id="26" name="Line 16"/>
          <p:cNvSpPr>
            <a:spLocks noChangeShapeType="1"/>
          </p:cNvSpPr>
          <p:nvPr/>
        </p:nvSpPr>
        <p:spPr bwMode="auto">
          <a:xfrm flipV="1">
            <a:off x="978815" y="1085927"/>
            <a:ext cx="8149323" cy="22497"/>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7" name="Line 7"/>
          <p:cNvSpPr>
            <a:spLocks noChangeShapeType="1"/>
          </p:cNvSpPr>
          <p:nvPr/>
        </p:nvSpPr>
        <p:spPr bwMode="auto">
          <a:xfrm rot="5400000">
            <a:off x="2139032" y="1402112"/>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8" name="Line 7"/>
          <p:cNvSpPr>
            <a:spLocks noChangeShapeType="1"/>
          </p:cNvSpPr>
          <p:nvPr/>
        </p:nvSpPr>
        <p:spPr bwMode="auto">
          <a:xfrm rot="5400000">
            <a:off x="4731321" y="1402113"/>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29" name="Line 7"/>
          <p:cNvSpPr>
            <a:spLocks noChangeShapeType="1"/>
          </p:cNvSpPr>
          <p:nvPr/>
        </p:nvSpPr>
        <p:spPr bwMode="auto">
          <a:xfrm rot="5400000">
            <a:off x="7179594" y="1402113"/>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8" name="文本框 7"/>
          <p:cNvSpPr txBox="1"/>
          <p:nvPr/>
        </p:nvSpPr>
        <p:spPr>
          <a:xfrm>
            <a:off x="920552" y="3212976"/>
            <a:ext cx="8149322" cy="1477328"/>
          </a:xfrm>
          <a:prstGeom prst="rect">
            <a:avLst/>
          </a:prstGeom>
          <a:noFill/>
        </p:spPr>
        <p:txBody>
          <a:bodyPr wrap="square" rtlCol="0">
            <a:spAutoFit/>
          </a:bodyPr>
          <a:lstStyle/>
          <a:p>
            <a:r>
              <a:rPr lang="zh-CN" altLang="en-US" b="1" dirty="0"/>
              <a:t>正常情况：</a:t>
            </a:r>
            <a:r>
              <a:rPr lang="en-US" altLang="zh-CN" b="1" dirty="0"/>
              <a:t>A</a:t>
            </a:r>
            <a:r>
              <a:rPr lang="zh-CN" altLang="en-US" b="1" dirty="0"/>
              <a:t>想通过</a:t>
            </a:r>
            <a:r>
              <a:rPr lang="en-US" altLang="zh-CN" b="1" dirty="0"/>
              <a:t>IP</a:t>
            </a:r>
            <a:r>
              <a:rPr lang="zh-CN" altLang="en-US" b="1" dirty="0"/>
              <a:t>找到</a:t>
            </a:r>
            <a:r>
              <a:rPr lang="en-US" altLang="zh-CN" b="1" dirty="0"/>
              <a:t>C</a:t>
            </a:r>
            <a:r>
              <a:rPr lang="zh-CN" altLang="en-US" b="1" dirty="0"/>
              <a:t>的</a:t>
            </a:r>
            <a:r>
              <a:rPr lang="en-US" altLang="zh-CN" b="1" dirty="0"/>
              <a:t>MAC</a:t>
            </a:r>
            <a:r>
              <a:rPr lang="zh-CN" altLang="en-US" b="1" dirty="0"/>
              <a:t>地址，</a:t>
            </a:r>
            <a:r>
              <a:rPr lang="en-US" altLang="zh-CN" b="1" dirty="0"/>
              <a:t>A</a:t>
            </a:r>
            <a:r>
              <a:rPr lang="zh-CN" altLang="en-US" b="1" dirty="0"/>
              <a:t>开始发送广播，</a:t>
            </a:r>
            <a:r>
              <a:rPr lang="en-US" altLang="zh-CN" b="1" dirty="0"/>
              <a:t>B</a:t>
            </a:r>
            <a:r>
              <a:rPr lang="zh-CN" altLang="en-US" b="1" dirty="0"/>
              <a:t>会丢弃，</a:t>
            </a:r>
            <a:r>
              <a:rPr lang="en-US" altLang="zh-CN" b="1" dirty="0"/>
              <a:t>C</a:t>
            </a:r>
            <a:r>
              <a:rPr lang="zh-CN" altLang="en-US" b="1" dirty="0"/>
              <a:t>会发回应广播。</a:t>
            </a:r>
            <a:r>
              <a:rPr lang="en-US" altLang="zh-CN" b="1" dirty="0"/>
              <a:t>A</a:t>
            </a:r>
            <a:r>
              <a:rPr lang="zh-CN" altLang="en-US" b="1" dirty="0"/>
              <a:t>最终找到</a:t>
            </a:r>
            <a:r>
              <a:rPr lang="en-US" altLang="zh-CN" b="1" dirty="0"/>
              <a:t>C</a:t>
            </a:r>
            <a:r>
              <a:rPr lang="zh-CN" altLang="en-US" b="1" dirty="0"/>
              <a:t>，并给</a:t>
            </a:r>
            <a:r>
              <a:rPr lang="en-US" altLang="zh-CN" b="1" dirty="0"/>
              <a:t>C</a:t>
            </a:r>
            <a:r>
              <a:rPr lang="zh-CN" altLang="en-US" b="1" dirty="0"/>
              <a:t>发送数据。</a:t>
            </a:r>
            <a:endParaRPr lang="en-US" altLang="zh-CN" b="1" dirty="0"/>
          </a:p>
          <a:p>
            <a:endParaRPr lang="en-US" altLang="zh-CN" b="1" dirty="0"/>
          </a:p>
          <a:p>
            <a:r>
              <a:rPr lang="zh-CN" altLang="en-US" b="1" dirty="0"/>
              <a:t>异常情况：</a:t>
            </a:r>
            <a:r>
              <a:rPr lang="en-US" altLang="zh-CN" b="1" dirty="0"/>
              <a:t>A</a:t>
            </a:r>
            <a:r>
              <a:rPr lang="zh-CN" altLang="en-US" b="1" dirty="0"/>
              <a:t>在发送广播找</a:t>
            </a:r>
            <a:r>
              <a:rPr lang="en-US" altLang="zh-CN" b="1" dirty="0"/>
              <a:t>C</a:t>
            </a:r>
            <a:r>
              <a:rPr lang="zh-CN" altLang="en-US" b="1" dirty="0"/>
              <a:t>的过程中，如果</a:t>
            </a:r>
            <a:r>
              <a:rPr lang="en-US" altLang="zh-CN" b="1" dirty="0"/>
              <a:t>B</a:t>
            </a:r>
            <a:r>
              <a:rPr lang="zh-CN" altLang="en-US" b="1" dirty="0"/>
              <a:t>是一个恶意攻击电脑，那么</a:t>
            </a:r>
            <a:r>
              <a:rPr lang="en-US" altLang="zh-CN" b="1" dirty="0"/>
              <a:t>B</a:t>
            </a:r>
            <a:r>
              <a:rPr lang="zh-CN" altLang="en-US" b="1" dirty="0"/>
              <a:t>也会发回响应去故意伪造自己是</a:t>
            </a:r>
            <a:r>
              <a:rPr lang="en-US" altLang="zh-CN" b="1" dirty="0"/>
              <a:t>C</a:t>
            </a:r>
            <a:r>
              <a:rPr lang="zh-CN" altLang="en-US" b="1" dirty="0"/>
              <a:t>的假象来迷惑</a:t>
            </a:r>
            <a:r>
              <a:rPr lang="en-US" altLang="zh-CN" b="1" dirty="0"/>
              <a:t>A</a:t>
            </a:r>
            <a:r>
              <a:rPr lang="zh-CN" altLang="en-US" b="1" dirty="0"/>
              <a:t>，最终使</a:t>
            </a:r>
            <a:r>
              <a:rPr lang="en-US" altLang="zh-CN" b="1" dirty="0"/>
              <a:t>A</a:t>
            </a:r>
            <a:r>
              <a:rPr lang="zh-CN" altLang="en-US" b="1" dirty="0"/>
              <a:t>以为</a:t>
            </a:r>
            <a:r>
              <a:rPr lang="en-US" altLang="zh-CN" b="1" dirty="0"/>
              <a:t>B</a:t>
            </a:r>
            <a:r>
              <a:rPr lang="zh-CN" altLang="en-US" b="1" dirty="0"/>
              <a:t>就是</a:t>
            </a:r>
            <a:r>
              <a:rPr lang="en-US" altLang="zh-CN" b="1" dirty="0"/>
              <a:t>C</a:t>
            </a:r>
            <a:r>
              <a:rPr lang="zh-CN" altLang="en-US" b="1" dirty="0"/>
              <a:t>。</a:t>
            </a:r>
          </a:p>
        </p:txBody>
      </p:sp>
      <p:sp>
        <p:nvSpPr>
          <p:cNvPr id="9" name="文本框 8"/>
          <p:cNvSpPr txBox="1"/>
          <p:nvPr/>
        </p:nvSpPr>
        <p:spPr>
          <a:xfrm>
            <a:off x="1913263" y="1393359"/>
            <a:ext cx="360040" cy="400110"/>
          </a:xfrm>
          <a:prstGeom prst="rect">
            <a:avLst/>
          </a:prstGeom>
          <a:noFill/>
        </p:spPr>
        <p:txBody>
          <a:bodyPr wrap="square" rtlCol="0">
            <a:spAutoFit/>
          </a:bodyPr>
          <a:lstStyle/>
          <a:p>
            <a:r>
              <a:rPr lang="en-US" altLang="zh-CN" sz="2000" b="1" dirty="0"/>
              <a:t>A</a:t>
            </a:r>
            <a:endParaRPr lang="zh-CN" altLang="en-US" sz="2000" b="1" dirty="0"/>
          </a:p>
        </p:txBody>
      </p:sp>
      <p:sp>
        <p:nvSpPr>
          <p:cNvPr id="30" name="文本框 29"/>
          <p:cNvSpPr txBox="1"/>
          <p:nvPr/>
        </p:nvSpPr>
        <p:spPr>
          <a:xfrm>
            <a:off x="4486628" y="1402112"/>
            <a:ext cx="360040" cy="400110"/>
          </a:xfrm>
          <a:prstGeom prst="rect">
            <a:avLst/>
          </a:prstGeom>
          <a:noFill/>
        </p:spPr>
        <p:txBody>
          <a:bodyPr wrap="square" rtlCol="0">
            <a:spAutoFit/>
          </a:bodyPr>
          <a:lstStyle/>
          <a:p>
            <a:r>
              <a:rPr lang="en-US" altLang="zh-CN" sz="2000" b="1" dirty="0"/>
              <a:t>B</a:t>
            </a:r>
            <a:endParaRPr lang="zh-CN" altLang="en-US" sz="2000" b="1" dirty="0"/>
          </a:p>
        </p:txBody>
      </p:sp>
      <p:sp>
        <p:nvSpPr>
          <p:cNvPr id="31" name="文本框 30"/>
          <p:cNvSpPr txBox="1"/>
          <p:nvPr/>
        </p:nvSpPr>
        <p:spPr>
          <a:xfrm>
            <a:off x="6900576" y="1401566"/>
            <a:ext cx="360040" cy="400110"/>
          </a:xfrm>
          <a:prstGeom prst="rect">
            <a:avLst/>
          </a:prstGeom>
          <a:noFill/>
        </p:spPr>
        <p:txBody>
          <a:bodyPr wrap="square" rtlCol="0">
            <a:spAutoFit/>
          </a:bodyPr>
          <a:lstStyle/>
          <a:p>
            <a:r>
              <a:rPr lang="en-US" altLang="zh-CN" sz="2000" b="1" dirty="0"/>
              <a:t>C</a:t>
            </a:r>
            <a:endParaRPr lang="zh-CN" altLang="en-US" sz="2000" b="1" dirty="0"/>
          </a:p>
        </p:txBody>
      </p:sp>
      <p:pic>
        <p:nvPicPr>
          <p:cNvPr id="3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05213" y="4762806"/>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Line 16"/>
          <p:cNvSpPr>
            <a:spLocks noChangeShapeType="1"/>
          </p:cNvSpPr>
          <p:nvPr/>
        </p:nvSpPr>
        <p:spPr bwMode="auto">
          <a:xfrm flipV="1">
            <a:off x="1953572" y="5554894"/>
            <a:ext cx="5786191"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solidFill>
                <a:srgbClr val="0000CC"/>
              </a:solidFill>
              <a:latin typeface="+mn-lt"/>
              <a:ea typeface="黑体" panose="02010609060101010101" pitchFamily="2" charset="-122"/>
            </a:endParaRPr>
          </a:p>
        </p:txBody>
      </p:sp>
      <p:sp>
        <p:nvSpPr>
          <p:cNvPr id="36" name="Line 7"/>
          <p:cNvSpPr>
            <a:spLocks noChangeShapeType="1"/>
          </p:cNvSpPr>
          <p:nvPr/>
        </p:nvSpPr>
        <p:spPr bwMode="auto">
          <a:xfrm rot="5400000">
            <a:off x="1706984" y="5848582"/>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solidFill>
                <a:srgbClr val="0000CC"/>
              </a:solidFill>
              <a:latin typeface="+mn-lt"/>
              <a:ea typeface="黑体" panose="02010609060101010101" pitchFamily="2" charset="-122"/>
            </a:endParaRPr>
          </a:p>
        </p:txBody>
      </p:sp>
      <p:sp>
        <p:nvSpPr>
          <p:cNvPr id="37" name="Line 7"/>
          <p:cNvSpPr>
            <a:spLocks noChangeShapeType="1"/>
          </p:cNvSpPr>
          <p:nvPr/>
        </p:nvSpPr>
        <p:spPr bwMode="auto">
          <a:xfrm rot="5400000">
            <a:off x="4518656" y="5848583"/>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 name="Line 7"/>
          <p:cNvSpPr>
            <a:spLocks noChangeShapeType="1"/>
          </p:cNvSpPr>
          <p:nvPr/>
        </p:nvSpPr>
        <p:spPr bwMode="auto">
          <a:xfrm rot="5400000">
            <a:off x="7436419" y="5851386"/>
            <a:ext cx="587375"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39"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44792" y="6170490"/>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57960" y="6166931"/>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3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73281" y="6166931"/>
            <a:ext cx="511757" cy="5708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Line 7"/>
          <p:cNvSpPr>
            <a:spLocks noChangeShapeType="1"/>
          </p:cNvSpPr>
          <p:nvPr/>
        </p:nvSpPr>
        <p:spPr bwMode="auto">
          <a:xfrm rot="5400000">
            <a:off x="4636400" y="5378951"/>
            <a:ext cx="351886"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3" name="文本框 42"/>
          <p:cNvSpPr txBox="1"/>
          <p:nvPr/>
        </p:nvSpPr>
        <p:spPr>
          <a:xfrm>
            <a:off x="1465440" y="5772073"/>
            <a:ext cx="360040" cy="400110"/>
          </a:xfrm>
          <a:prstGeom prst="rect">
            <a:avLst/>
          </a:prstGeom>
          <a:noFill/>
        </p:spPr>
        <p:txBody>
          <a:bodyPr wrap="square" rtlCol="0">
            <a:spAutoFit/>
          </a:bodyPr>
          <a:lstStyle/>
          <a:p>
            <a:r>
              <a:rPr lang="en-US" altLang="zh-CN" sz="2000" b="1" dirty="0"/>
              <a:t>A</a:t>
            </a:r>
            <a:endParaRPr lang="zh-CN" altLang="en-US" sz="2000" b="1" dirty="0"/>
          </a:p>
        </p:txBody>
      </p:sp>
      <p:sp>
        <p:nvSpPr>
          <p:cNvPr id="44" name="文本框 43"/>
          <p:cNvSpPr txBox="1"/>
          <p:nvPr/>
        </p:nvSpPr>
        <p:spPr>
          <a:xfrm>
            <a:off x="4298104" y="5772073"/>
            <a:ext cx="360040" cy="400110"/>
          </a:xfrm>
          <a:prstGeom prst="rect">
            <a:avLst/>
          </a:prstGeom>
          <a:noFill/>
        </p:spPr>
        <p:txBody>
          <a:bodyPr wrap="square" rtlCol="0">
            <a:spAutoFit/>
          </a:bodyPr>
          <a:lstStyle/>
          <a:p>
            <a:r>
              <a:rPr lang="en-US" altLang="zh-CN" sz="2000" b="1" dirty="0"/>
              <a:t>B</a:t>
            </a:r>
            <a:endParaRPr lang="zh-CN" altLang="en-US" sz="2000" b="1" dirty="0"/>
          </a:p>
        </p:txBody>
      </p:sp>
      <p:sp>
        <p:nvSpPr>
          <p:cNvPr id="45" name="文本框 44"/>
          <p:cNvSpPr txBox="1"/>
          <p:nvPr/>
        </p:nvSpPr>
        <p:spPr>
          <a:xfrm>
            <a:off x="7191108" y="5766821"/>
            <a:ext cx="360040" cy="400110"/>
          </a:xfrm>
          <a:prstGeom prst="rect">
            <a:avLst/>
          </a:prstGeom>
          <a:noFill/>
        </p:spPr>
        <p:txBody>
          <a:bodyPr wrap="square" rtlCol="0">
            <a:spAutoFit/>
          </a:bodyPr>
          <a:lstStyle/>
          <a:p>
            <a:r>
              <a:rPr lang="en-US" altLang="zh-CN" sz="2000" b="1" dirty="0"/>
              <a:t>C</a:t>
            </a:r>
            <a:endParaRPr lang="zh-CN" altLang="en-US" sz="2000" b="1" dirty="0"/>
          </a:p>
        </p:txBody>
      </p:sp>
      <p:cxnSp>
        <p:nvCxnSpPr>
          <p:cNvPr id="11" name="直接箭头连接符 10"/>
          <p:cNvCxnSpPr>
            <a:stCxn id="40" idx="3"/>
            <a:endCxn id="47" idx="1"/>
          </p:cNvCxnSpPr>
          <p:nvPr/>
        </p:nvCxnSpPr>
        <p:spPr bwMode="auto">
          <a:xfrm flipV="1">
            <a:off x="5069717" y="5317991"/>
            <a:ext cx="3044151" cy="1134379"/>
          </a:xfrm>
          <a:prstGeom prst="straightConnector1">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 name="矩形: 圆角 46"/>
          <p:cNvSpPr/>
          <p:nvPr/>
        </p:nvSpPr>
        <p:spPr bwMode="auto">
          <a:xfrm>
            <a:off x="8113868" y="4869160"/>
            <a:ext cx="1667449" cy="897661"/>
          </a:xfrm>
          <a:prstGeom prst="roundRect">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r>
              <a:rPr kumimoji="0" lang="zh-CN" altLang="en-US" sz="1800" b="0" i="0" u="none" strike="noStrike" cap="none" normalizeH="0" baseline="0" dirty="0">
                <a:ln>
                  <a:noFill/>
                </a:ln>
                <a:solidFill>
                  <a:schemeClr val="tx1"/>
                </a:solidFill>
                <a:effectLst/>
                <a:latin typeface="Arial" panose="020B0604020202020204" pitchFamily="34" charset="0"/>
              </a:rPr>
              <a:t>代替路由器，监听全网信息</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4508" y="1196752"/>
            <a:ext cx="8856984" cy="2308324"/>
          </a:xfrm>
          <a:prstGeom prst="rect">
            <a:avLst/>
          </a:prstGeom>
        </p:spPr>
        <p:txBody>
          <a:bodyPr wrap="square">
            <a:spAutoFit/>
          </a:bodyPr>
          <a:lstStyle/>
          <a:p>
            <a:r>
              <a:rPr lang="en-US" altLang="zh-CN" sz="2400" b="1" dirty="0"/>
              <a:t>ARP</a:t>
            </a:r>
            <a:r>
              <a:rPr lang="zh-CN" altLang="en-US" sz="2400" b="1" dirty="0"/>
              <a:t>地址欺骗类病毒：</a:t>
            </a:r>
            <a:endParaRPr lang="en-US" altLang="zh-CN" sz="2400" b="1" dirty="0"/>
          </a:p>
          <a:p>
            <a:r>
              <a:rPr lang="zh-CN" altLang="en-US" sz="2000" dirty="0"/>
              <a:t>传奇木马，该木马通过传奇外挂、网页木马等方式使局域网中的某台电脑中毒，这样中毒电脑便可嗅探到整个局域网发送的所有数据包，该木马破解了</a:t>
            </a:r>
            <a:r>
              <a:rPr lang="en-US" altLang="zh-CN" sz="2000" dirty="0"/>
              <a:t>《</a:t>
            </a:r>
            <a:r>
              <a:rPr lang="zh-CN" altLang="en-US" sz="2000" dirty="0"/>
              <a:t>传奇</a:t>
            </a:r>
            <a:r>
              <a:rPr lang="en-US" altLang="zh-CN" sz="2000" dirty="0"/>
              <a:t>》</a:t>
            </a:r>
            <a:r>
              <a:rPr lang="zh-CN" altLang="en-US" sz="2000" dirty="0"/>
              <a:t>游戏的数据包加密算法，通过截获局域网中的数据包，分析数据包中的用户隐私信息，盗取用户的游戏帐号和密码。在解析这些封包之后，再将它们发送到真正的网关。这样的病毒有一个令网吧游戏玩家闻之色变的名字：“传奇网吧杀手”。</a:t>
            </a:r>
          </a:p>
        </p:txBody>
      </p:sp>
      <p:sp>
        <p:nvSpPr>
          <p:cNvPr id="5" name="矩形 4"/>
          <p:cNvSpPr/>
          <p:nvPr/>
        </p:nvSpPr>
        <p:spPr>
          <a:xfrm>
            <a:off x="511324" y="4063712"/>
            <a:ext cx="9217024" cy="2677656"/>
          </a:xfrm>
          <a:prstGeom prst="rect">
            <a:avLst/>
          </a:prstGeom>
        </p:spPr>
        <p:txBody>
          <a:bodyPr wrap="square">
            <a:spAutoFit/>
          </a:bodyPr>
          <a:lstStyle/>
          <a:p>
            <a:r>
              <a:rPr lang="zh-CN" altLang="en-US" sz="2400" b="1" dirty="0"/>
              <a:t>现象：</a:t>
            </a:r>
            <a:endParaRPr lang="en-US" altLang="zh-CN" sz="2400" b="1" dirty="0"/>
          </a:p>
          <a:p>
            <a:r>
              <a:rPr lang="en-US" altLang="zh-CN" dirty="0"/>
              <a:t>1. </a:t>
            </a:r>
            <a:r>
              <a:rPr lang="zh-CN" altLang="en-US" dirty="0"/>
              <a:t>用户频繁断网、上网时感觉网络经常掉线，重新开机或修复本地连接（或先停用再启用）后网络恢复正常但几分钟后网络再次中断，甚至客户端无法登陆，但是在某一闲时或半夜某一人上网时自己可以上！</a:t>
            </a:r>
            <a:endParaRPr lang="en-US" altLang="zh-CN" dirty="0"/>
          </a:p>
          <a:p>
            <a:endParaRPr lang="zh-CN" altLang="en-US" dirty="0"/>
          </a:p>
          <a:p>
            <a:r>
              <a:rPr lang="en-US" altLang="zh-CN" dirty="0"/>
              <a:t>2. IE</a:t>
            </a:r>
            <a:r>
              <a:rPr lang="zh-CN" altLang="en-US" dirty="0"/>
              <a:t>浏览器在使用过程中频繁出错或自动关闭网页。甚至只有发送没有接收的数据包！</a:t>
            </a:r>
          </a:p>
          <a:p>
            <a:endParaRPr lang="zh-CN" altLang="en-US" dirty="0"/>
          </a:p>
          <a:p>
            <a:r>
              <a:rPr lang="en-US" altLang="zh-CN" dirty="0"/>
              <a:t>3. </a:t>
            </a:r>
            <a:r>
              <a:rPr lang="zh-CN" altLang="en-US" dirty="0"/>
              <a:t>一些常用软件经常出现故障或非正常自动关闭，但是在上网人数较少或某一时段正常的！</a:t>
            </a:r>
          </a:p>
        </p:txBody>
      </p:sp>
      <p:sp>
        <p:nvSpPr>
          <p:cNvPr id="6" name="Rectangle 2"/>
          <p:cNvSpPr>
            <a:spLocks noGrp="1" noChangeArrowheads="1"/>
          </p:cNvSpPr>
          <p:nvPr>
            <p:ph type="title"/>
          </p:nvPr>
        </p:nvSpPr>
        <p:spPr>
          <a:xfrm>
            <a:off x="495300" y="188640"/>
            <a:ext cx="2153444" cy="792088"/>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en-US" altLang="zh-CN" sz="3600" dirty="0"/>
              <a:t>ARP</a:t>
            </a:r>
            <a:r>
              <a:rPr lang="zh-CN" altLang="en-US" sz="3600" dirty="0"/>
              <a:t>病毒</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110052508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ChangeArrowheads="1"/>
          </p:cNvSpPr>
          <p:nvPr>
            <p:ph type="title"/>
          </p:nvPr>
        </p:nvSpPr>
        <p:spPr/>
        <p:txBody>
          <a:bodyPr/>
          <a:lstStyle/>
          <a:p>
            <a:r>
              <a:rPr lang="en-US" altLang="zh-CN" dirty="0"/>
              <a:t>4.2.5  IP </a:t>
            </a:r>
            <a:r>
              <a:rPr lang="zh-CN" altLang="en-US" dirty="0"/>
              <a:t>数据报的格式 </a:t>
            </a:r>
          </a:p>
        </p:txBody>
      </p:sp>
      <p:sp>
        <p:nvSpPr>
          <p:cNvPr id="238596" name="Rectangle 4"/>
          <p:cNvSpPr>
            <a:spLocks noGrp="1" noChangeArrowheads="1"/>
          </p:cNvSpPr>
          <p:nvPr>
            <p:ph idx="1"/>
          </p:nvPr>
        </p:nvSpPr>
        <p:spPr/>
        <p:txBody>
          <a:bodyPr/>
          <a:lstStyle/>
          <a:p>
            <a:r>
              <a:rPr lang="zh-CN" altLang="en-US" dirty="0"/>
              <a:t>一个 </a:t>
            </a:r>
            <a:r>
              <a:rPr lang="en-US" altLang="zh-CN" dirty="0"/>
              <a:t>IP </a:t>
            </a:r>
            <a:r>
              <a:rPr lang="zh-CN" altLang="en-US" dirty="0"/>
              <a:t>数据报由</a:t>
            </a:r>
            <a:r>
              <a:rPr lang="zh-CN" altLang="en-US" dirty="0">
                <a:solidFill>
                  <a:srgbClr val="FF0000"/>
                </a:solidFill>
              </a:rPr>
              <a:t>首部</a:t>
            </a:r>
            <a:r>
              <a:rPr lang="zh-CN" altLang="en-US" dirty="0"/>
              <a:t>和</a:t>
            </a:r>
            <a:r>
              <a:rPr lang="zh-CN" altLang="en-US" dirty="0">
                <a:solidFill>
                  <a:srgbClr val="FF0000"/>
                </a:solidFill>
              </a:rPr>
              <a:t>数据</a:t>
            </a:r>
            <a:r>
              <a:rPr lang="zh-CN" altLang="en-US" dirty="0"/>
              <a:t>两部分组成。</a:t>
            </a:r>
          </a:p>
          <a:p>
            <a:r>
              <a:rPr lang="zh-CN" altLang="en-US" dirty="0">
                <a:solidFill>
                  <a:srgbClr val="0000FF"/>
                </a:solidFill>
              </a:rPr>
              <a:t>首部的前一部分是固定长度，共 </a:t>
            </a:r>
            <a:r>
              <a:rPr lang="en-US" altLang="zh-CN" dirty="0">
                <a:solidFill>
                  <a:srgbClr val="0000FF"/>
                </a:solidFill>
              </a:rPr>
              <a:t>20 </a:t>
            </a:r>
            <a:r>
              <a:rPr lang="zh-CN" altLang="en-US" dirty="0">
                <a:solidFill>
                  <a:srgbClr val="0000FF"/>
                </a:solidFill>
              </a:rPr>
              <a:t>字节，是所有 </a:t>
            </a:r>
            <a:r>
              <a:rPr lang="en-US" altLang="zh-CN" dirty="0">
                <a:solidFill>
                  <a:srgbClr val="0000FF"/>
                </a:solidFill>
              </a:rPr>
              <a:t>IP </a:t>
            </a:r>
            <a:r>
              <a:rPr lang="zh-CN" altLang="en-US" dirty="0">
                <a:solidFill>
                  <a:srgbClr val="0000FF"/>
                </a:solidFill>
              </a:rPr>
              <a:t>数据报必须具有的。</a:t>
            </a:r>
          </a:p>
          <a:p>
            <a:r>
              <a:rPr lang="zh-CN" altLang="en-US" dirty="0"/>
              <a:t>在首部的固定部分的后面是一些可选字段，其长度是可变的。 </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1998364"/>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54126"/>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0" name="Line 6"/>
          <p:cNvSpPr>
            <a:spLocks noChangeShapeType="1"/>
          </p:cNvSpPr>
          <p:nvPr/>
        </p:nvSpPr>
        <p:spPr bwMode="auto">
          <a:xfrm>
            <a:off x="2490259" y="5911551"/>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12" name="Rectangle 8"/>
          <p:cNvSpPr>
            <a:spLocks noChangeArrowheads="1"/>
          </p:cNvSpPr>
          <p:nvPr/>
        </p:nvSpPr>
        <p:spPr bwMode="auto">
          <a:xfrm>
            <a:off x="3351875" y="1596727"/>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4" name="Rectangle 90"/>
          <p:cNvSpPr>
            <a:spLocks noChangeArrowheads="1"/>
          </p:cNvSpPr>
          <p:nvPr/>
        </p:nvSpPr>
        <p:spPr bwMode="auto">
          <a:xfrm>
            <a:off x="2457583" y="5220989"/>
            <a:ext cx="1559851" cy="449262"/>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587201"/>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41501"/>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3805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809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254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636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081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490489"/>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595139"/>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03351"/>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47576"/>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22126"/>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09837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0318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03189"/>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09837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2212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2212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0983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3192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03189"/>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619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03301"/>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31926"/>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193501"/>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03076"/>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73214"/>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82740"/>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74851"/>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4" name="Rectangle 80"/>
          <p:cNvSpPr>
            <a:spLocks noChangeArrowheads="1"/>
          </p:cNvSpPr>
          <p:nvPr/>
        </p:nvSpPr>
        <p:spPr bwMode="auto">
          <a:xfrm>
            <a:off x="4017433" y="5220989"/>
            <a:ext cx="4314958" cy="449262"/>
          </a:xfrm>
          <a:prstGeom prst="rect">
            <a:avLst/>
          </a:prstGeom>
          <a:solidFill>
            <a:srgbClr val="FFFF99"/>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86" name="Rectangle 82"/>
          <p:cNvSpPr>
            <a:spLocks noChangeArrowheads="1"/>
          </p:cNvSpPr>
          <p:nvPr/>
        </p:nvSpPr>
        <p:spPr bwMode="auto">
          <a:xfrm>
            <a:off x="4634839" y="5238451"/>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7" name="Rectangle 83"/>
          <p:cNvSpPr>
            <a:spLocks noChangeArrowheads="1"/>
          </p:cNvSpPr>
          <p:nvPr/>
        </p:nvSpPr>
        <p:spPr bwMode="auto">
          <a:xfrm>
            <a:off x="2691475" y="5238451"/>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a:t>
            </a:r>
          </a:p>
        </p:txBody>
      </p:sp>
      <p:sp>
        <p:nvSpPr>
          <p:cNvPr id="379989" name="Rectangle 85"/>
          <p:cNvSpPr>
            <a:spLocks noChangeArrowheads="1"/>
          </p:cNvSpPr>
          <p:nvPr/>
        </p:nvSpPr>
        <p:spPr bwMode="auto">
          <a:xfrm>
            <a:off x="4636558" y="5706764"/>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grpSp>
        <p:nvGrpSpPr>
          <p:cNvPr id="379998" name="Group 94"/>
          <p:cNvGrpSpPr/>
          <p:nvPr/>
        </p:nvGrpSpPr>
        <p:grpSpPr bwMode="auto">
          <a:xfrm>
            <a:off x="265981" y="1566565"/>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grpSp>
        <p:nvGrpSpPr>
          <p:cNvPr id="379997" name="Group 93"/>
          <p:cNvGrpSpPr/>
          <p:nvPr/>
        </p:nvGrpSpPr>
        <p:grpSpPr bwMode="auto">
          <a:xfrm>
            <a:off x="1209015" y="1566564"/>
            <a:ext cx="8554244" cy="4102100"/>
            <a:chOff x="703" y="845"/>
            <a:chExt cx="4974" cy="2584"/>
          </a:xfrm>
        </p:grpSpPr>
        <p:sp>
          <p:nvSpPr>
            <p:cNvPr id="379995" name="Rectangle 91"/>
            <p:cNvSpPr>
              <a:spLocks noChangeArrowheads="1"/>
            </p:cNvSpPr>
            <p:nvPr/>
          </p:nvSpPr>
          <p:spPr bwMode="auto">
            <a:xfrm>
              <a:off x="703" y="845"/>
              <a:ext cx="4974" cy="1678"/>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80001" name="AutoShape 97"/>
          <p:cNvSpPr/>
          <p:nvPr/>
        </p:nvSpPr>
        <p:spPr bwMode="auto">
          <a:xfrm>
            <a:off x="998834" y="1638001"/>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380004" name="Group 100"/>
          <p:cNvGrpSpPr/>
          <p:nvPr/>
        </p:nvGrpSpPr>
        <p:grpSpPr bwMode="auto">
          <a:xfrm>
            <a:off x="1783426" y="5741690"/>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发送在前</a:t>
              </a:r>
            </a:p>
          </p:txBody>
        </p:sp>
      </p:grpSp>
      <p:sp>
        <p:nvSpPr>
          <p:cNvPr id="2" name="矩形 1"/>
          <p:cNvSpPr/>
          <p:nvPr/>
        </p:nvSpPr>
        <p:spPr>
          <a:xfrm>
            <a:off x="1890803" y="251937"/>
            <a:ext cx="6446573" cy="584775"/>
          </a:xfrm>
          <a:prstGeom prst="rect">
            <a:avLst/>
          </a:prstGeom>
          <a:solidFill>
            <a:srgbClr val="FFFFCC"/>
          </a:solidFill>
          <a:ln w="9525">
            <a:solidFill>
              <a:schemeClr val="folHlink"/>
            </a:solidFill>
            <a:miter lim="800000"/>
          </a:ln>
          <a:effectLst>
            <a:outerShdw dist="35921" dir="2700000" algn="ctr" rotWithShape="0">
              <a:schemeClr val="bg2"/>
            </a:outerShdw>
          </a:effectLst>
        </p:spPr>
        <p:txBody>
          <a:bodyPr wrap="none">
            <a:spAutoFit/>
          </a:bodyPr>
          <a:lstStyle/>
          <a:p>
            <a:r>
              <a:rPr lang="en-US" altLang="zh-CN" sz="3200" b="1" dirty="0">
                <a:solidFill>
                  <a:srgbClr val="0000CC"/>
                </a:solidFill>
                <a:latin typeface="Arial" panose="020B0604020202020204" pitchFamily="34" charset="0"/>
                <a:ea typeface="黑体" panose="02010609060101010101" pitchFamily="2" charset="-122"/>
              </a:rPr>
              <a:t>IP </a:t>
            </a:r>
            <a:r>
              <a:rPr lang="zh-CN" altLang="en-US" sz="3200" b="1" dirty="0">
                <a:solidFill>
                  <a:srgbClr val="0000CC"/>
                </a:solidFill>
                <a:latin typeface="Arial" panose="020B0604020202020204" pitchFamily="34" charset="0"/>
                <a:ea typeface="黑体" panose="02010609060101010101" pitchFamily="2" charset="-122"/>
              </a:rPr>
              <a:t>数据报由首部和数据两部分组成</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1998364"/>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54126"/>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0" name="Line 6"/>
          <p:cNvSpPr>
            <a:spLocks noChangeShapeType="1"/>
          </p:cNvSpPr>
          <p:nvPr/>
        </p:nvSpPr>
        <p:spPr bwMode="auto">
          <a:xfrm>
            <a:off x="2490259" y="5911551"/>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12" name="Rectangle 8"/>
          <p:cNvSpPr>
            <a:spLocks noChangeArrowheads="1"/>
          </p:cNvSpPr>
          <p:nvPr/>
        </p:nvSpPr>
        <p:spPr bwMode="auto">
          <a:xfrm>
            <a:off x="3351875" y="1596727"/>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4" name="Rectangle 90"/>
          <p:cNvSpPr>
            <a:spLocks noChangeArrowheads="1"/>
          </p:cNvSpPr>
          <p:nvPr/>
        </p:nvSpPr>
        <p:spPr bwMode="auto">
          <a:xfrm>
            <a:off x="2457583" y="5220989"/>
            <a:ext cx="1559851" cy="449262"/>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587201"/>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41501"/>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3805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809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254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636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081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490489"/>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595139"/>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03351"/>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47576"/>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22126"/>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09837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0318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03189"/>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09837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2212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2212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0983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3192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03189"/>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619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03301"/>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31926"/>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193501"/>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03076"/>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73214"/>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82740"/>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74851"/>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4" name="Rectangle 80"/>
          <p:cNvSpPr>
            <a:spLocks noChangeArrowheads="1"/>
          </p:cNvSpPr>
          <p:nvPr/>
        </p:nvSpPr>
        <p:spPr bwMode="auto">
          <a:xfrm>
            <a:off x="4017433" y="5220989"/>
            <a:ext cx="4314958" cy="449262"/>
          </a:xfrm>
          <a:prstGeom prst="rect">
            <a:avLst/>
          </a:prstGeom>
          <a:solidFill>
            <a:srgbClr val="FFFF99"/>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86" name="Rectangle 82"/>
          <p:cNvSpPr>
            <a:spLocks noChangeArrowheads="1"/>
          </p:cNvSpPr>
          <p:nvPr/>
        </p:nvSpPr>
        <p:spPr bwMode="auto">
          <a:xfrm>
            <a:off x="4634839" y="5238451"/>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7" name="Rectangle 83"/>
          <p:cNvSpPr>
            <a:spLocks noChangeArrowheads="1"/>
          </p:cNvSpPr>
          <p:nvPr/>
        </p:nvSpPr>
        <p:spPr bwMode="auto">
          <a:xfrm>
            <a:off x="2691475" y="5238451"/>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a:t>
            </a:r>
          </a:p>
        </p:txBody>
      </p:sp>
      <p:sp>
        <p:nvSpPr>
          <p:cNvPr id="379989" name="Rectangle 85"/>
          <p:cNvSpPr>
            <a:spLocks noChangeArrowheads="1"/>
          </p:cNvSpPr>
          <p:nvPr/>
        </p:nvSpPr>
        <p:spPr bwMode="auto">
          <a:xfrm>
            <a:off x="4636558" y="5706764"/>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grpSp>
        <p:nvGrpSpPr>
          <p:cNvPr id="379998" name="Group 94"/>
          <p:cNvGrpSpPr/>
          <p:nvPr/>
        </p:nvGrpSpPr>
        <p:grpSpPr bwMode="auto">
          <a:xfrm>
            <a:off x="265981" y="1566565"/>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grpSp>
        <p:nvGrpSpPr>
          <p:cNvPr id="379997" name="Group 93"/>
          <p:cNvGrpSpPr/>
          <p:nvPr/>
        </p:nvGrpSpPr>
        <p:grpSpPr bwMode="auto">
          <a:xfrm>
            <a:off x="1209015" y="1566564"/>
            <a:ext cx="8554244" cy="4102100"/>
            <a:chOff x="703" y="845"/>
            <a:chExt cx="4974" cy="2584"/>
          </a:xfrm>
        </p:grpSpPr>
        <p:sp>
          <p:nvSpPr>
            <p:cNvPr id="379995" name="Rectangle 91"/>
            <p:cNvSpPr>
              <a:spLocks noChangeArrowheads="1"/>
            </p:cNvSpPr>
            <p:nvPr/>
          </p:nvSpPr>
          <p:spPr bwMode="auto">
            <a:xfrm>
              <a:off x="703" y="845"/>
              <a:ext cx="4974" cy="1427"/>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80001" name="AutoShape 97"/>
          <p:cNvSpPr/>
          <p:nvPr/>
        </p:nvSpPr>
        <p:spPr bwMode="auto">
          <a:xfrm>
            <a:off x="998834" y="1638001"/>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380004" name="Group 100"/>
          <p:cNvGrpSpPr/>
          <p:nvPr/>
        </p:nvGrpSpPr>
        <p:grpSpPr bwMode="auto">
          <a:xfrm>
            <a:off x="1783426" y="5741690"/>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发送在前</a:t>
              </a:r>
            </a:p>
          </p:txBody>
        </p:sp>
      </p:grpSp>
      <p:sp>
        <p:nvSpPr>
          <p:cNvPr id="2" name="矩形 1"/>
          <p:cNvSpPr/>
          <p:nvPr/>
        </p:nvSpPr>
        <p:spPr>
          <a:xfrm>
            <a:off x="1715841" y="232192"/>
            <a:ext cx="6902414" cy="954107"/>
          </a:xfrm>
          <a:prstGeom prst="rect">
            <a:avLst/>
          </a:prstGeom>
          <a:solidFill>
            <a:srgbClr val="FFFFCC"/>
          </a:solidFill>
          <a:ln w="9525">
            <a:solidFill>
              <a:schemeClr val="folHlink"/>
            </a:solidFill>
            <a:miter lim="800000"/>
          </a:ln>
          <a:effectLst>
            <a:outerShdw dist="35921" dir="2700000" algn="ctr" rotWithShape="0">
              <a:schemeClr val="bg2"/>
            </a:outerShdw>
          </a:effectLst>
        </p:spPr>
        <p:txBody>
          <a:bodyPr wrap="square">
            <a:spAutoFit/>
          </a:bodyPr>
          <a:lstStyle/>
          <a:p>
            <a:r>
              <a:rPr lang="zh-CN" altLang="en-US" sz="2800" b="1" dirty="0">
                <a:solidFill>
                  <a:srgbClr val="0000CC"/>
                </a:solidFill>
                <a:latin typeface="Arial" panose="020B0604020202020204" pitchFamily="34" charset="0"/>
                <a:ea typeface="黑体" panose="02010609060101010101" pitchFamily="2" charset="-122"/>
              </a:rPr>
              <a:t>首部的前一部分是固定长度，共 </a:t>
            </a:r>
            <a:r>
              <a:rPr lang="en-US" altLang="zh-CN" sz="2800" b="1" dirty="0">
                <a:solidFill>
                  <a:srgbClr val="0000CC"/>
                </a:solidFill>
                <a:latin typeface="Arial" panose="020B0604020202020204" pitchFamily="34" charset="0"/>
                <a:ea typeface="黑体" panose="02010609060101010101" pitchFamily="2" charset="-122"/>
              </a:rPr>
              <a:t>20 </a:t>
            </a:r>
            <a:r>
              <a:rPr lang="zh-CN" altLang="en-US" sz="2800" b="1" dirty="0">
                <a:solidFill>
                  <a:srgbClr val="0000CC"/>
                </a:solidFill>
                <a:latin typeface="Arial" panose="020B0604020202020204" pitchFamily="34" charset="0"/>
                <a:ea typeface="黑体" panose="02010609060101010101" pitchFamily="2" charset="-122"/>
              </a:rPr>
              <a:t>字节，是所有 </a:t>
            </a:r>
            <a:r>
              <a:rPr lang="en-US" altLang="zh-CN" sz="2800" b="1" dirty="0">
                <a:solidFill>
                  <a:srgbClr val="0000CC"/>
                </a:solidFill>
                <a:latin typeface="Arial" panose="020B0604020202020204" pitchFamily="34" charset="0"/>
                <a:ea typeface="黑体" panose="02010609060101010101" pitchFamily="2" charset="-122"/>
              </a:rPr>
              <a:t>IP </a:t>
            </a:r>
            <a:r>
              <a:rPr lang="zh-CN" altLang="en-US" sz="2800" b="1" dirty="0">
                <a:solidFill>
                  <a:srgbClr val="0000CC"/>
                </a:solidFill>
                <a:latin typeface="Arial" panose="020B0604020202020204" pitchFamily="34" charset="0"/>
                <a:ea typeface="黑体" panose="02010609060101010101" pitchFamily="2" charset="-122"/>
              </a:rPr>
              <a:t>数据报必须具有的。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0161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5737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0" name="Line 6"/>
          <p:cNvSpPr>
            <a:spLocks noChangeShapeType="1"/>
          </p:cNvSpPr>
          <p:nvPr/>
        </p:nvSpPr>
        <p:spPr bwMode="auto">
          <a:xfrm>
            <a:off x="2490259" y="5914802"/>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12" name="Rectangle 8"/>
          <p:cNvSpPr>
            <a:spLocks noChangeArrowheads="1"/>
          </p:cNvSpPr>
          <p:nvPr/>
        </p:nvSpPr>
        <p:spPr bwMode="auto">
          <a:xfrm>
            <a:off x="3351875" y="159997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4" name="Rectangle 90"/>
          <p:cNvSpPr>
            <a:spLocks noChangeArrowheads="1"/>
          </p:cNvSpPr>
          <p:nvPr/>
        </p:nvSpPr>
        <p:spPr bwMode="auto">
          <a:xfrm>
            <a:off x="2457583" y="5224240"/>
            <a:ext cx="1559851" cy="449262"/>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59045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4475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4130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8421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2871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6686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1136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59839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59839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49374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59839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0660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5082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2537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0162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0644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0644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0162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2537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2537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016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3517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0644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652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0655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3517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19675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063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7646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8599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7810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4" name="Rectangle 80"/>
          <p:cNvSpPr>
            <a:spLocks noChangeArrowheads="1"/>
          </p:cNvSpPr>
          <p:nvPr/>
        </p:nvSpPr>
        <p:spPr bwMode="auto">
          <a:xfrm>
            <a:off x="4017433" y="5224240"/>
            <a:ext cx="4314958" cy="449262"/>
          </a:xfrm>
          <a:prstGeom prst="rect">
            <a:avLst/>
          </a:prstGeom>
          <a:solidFill>
            <a:srgbClr val="FFFF99"/>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86" name="Rectangle 82"/>
          <p:cNvSpPr>
            <a:spLocks noChangeArrowheads="1"/>
          </p:cNvSpPr>
          <p:nvPr/>
        </p:nvSpPr>
        <p:spPr bwMode="auto">
          <a:xfrm>
            <a:off x="4634839" y="5241702"/>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7" name="Rectangle 83"/>
          <p:cNvSpPr>
            <a:spLocks noChangeArrowheads="1"/>
          </p:cNvSpPr>
          <p:nvPr/>
        </p:nvSpPr>
        <p:spPr bwMode="auto">
          <a:xfrm>
            <a:off x="2691475" y="5241702"/>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a:t>
            </a:r>
          </a:p>
        </p:txBody>
      </p:sp>
      <p:sp>
        <p:nvSpPr>
          <p:cNvPr id="379989" name="Rectangle 85"/>
          <p:cNvSpPr>
            <a:spLocks noChangeArrowheads="1"/>
          </p:cNvSpPr>
          <p:nvPr/>
        </p:nvSpPr>
        <p:spPr bwMode="auto">
          <a:xfrm>
            <a:off x="4636558" y="5710015"/>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grpSp>
        <p:nvGrpSpPr>
          <p:cNvPr id="379998" name="Group 94"/>
          <p:cNvGrpSpPr/>
          <p:nvPr/>
        </p:nvGrpSpPr>
        <p:grpSpPr bwMode="auto">
          <a:xfrm>
            <a:off x="265981" y="156981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grpSp>
        <p:nvGrpSpPr>
          <p:cNvPr id="379997" name="Group 93"/>
          <p:cNvGrpSpPr/>
          <p:nvPr/>
        </p:nvGrpSpPr>
        <p:grpSpPr bwMode="auto">
          <a:xfrm>
            <a:off x="1209015" y="3811365"/>
            <a:ext cx="8554244" cy="1860550"/>
            <a:chOff x="703" y="2257"/>
            <a:chExt cx="4974" cy="1172"/>
          </a:xfrm>
        </p:grpSpPr>
        <p:sp>
          <p:nvSpPr>
            <p:cNvPr id="379995" name="Rectangle 91"/>
            <p:cNvSpPr>
              <a:spLocks noChangeArrowheads="1"/>
            </p:cNvSpPr>
            <p:nvPr/>
          </p:nvSpPr>
          <p:spPr bwMode="auto">
            <a:xfrm>
              <a:off x="703" y="2257"/>
              <a:ext cx="4974" cy="265"/>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80001" name="AutoShape 97"/>
          <p:cNvSpPr/>
          <p:nvPr/>
        </p:nvSpPr>
        <p:spPr bwMode="auto">
          <a:xfrm>
            <a:off x="998834" y="164125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380004" name="Group 100"/>
          <p:cNvGrpSpPr/>
          <p:nvPr/>
        </p:nvGrpSpPr>
        <p:grpSpPr bwMode="auto">
          <a:xfrm>
            <a:off x="1783426" y="5744941"/>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发送在前</a:t>
              </a:r>
            </a:p>
          </p:txBody>
        </p:sp>
      </p:grpSp>
      <p:sp>
        <p:nvSpPr>
          <p:cNvPr id="2" name="矩形 1"/>
          <p:cNvSpPr/>
          <p:nvPr/>
        </p:nvSpPr>
        <p:spPr>
          <a:xfrm>
            <a:off x="2275285" y="251937"/>
            <a:ext cx="5852451" cy="584775"/>
          </a:xfrm>
          <a:prstGeom prst="rect">
            <a:avLst/>
          </a:prstGeom>
          <a:solidFill>
            <a:srgbClr val="FFFFCC"/>
          </a:solidFill>
          <a:ln w="9525">
            <a:solidFill>
              <a:schemeClr val="folHlink"/>
            </a:solidFill>
            <a:miter lim="800000"/>
          </a:ln>
          <a:effectLst>
            <a:outerShdw dist="35921" dir="2700000" algn="ctr" rotWithShape="0">
              <a:schemeClr val="bg2"/>
            </a:outerShdw>
          </a:effectLst>
        </p:spPr>
        <p:txBody>
          <a:bodyPr wrap="square">
            <a:spAutoFit/>
          </a:bodyPr>
          <a:lstStyle/>
          <a:p>
            <a:r>
              <a:rPr lang="zh-CN" altLang="en-US" sz="3200" b="1" dirty="0">
                <a:solidFill>
                  <a:srgbClr val="0000CC"/>
                </a:solidFill>
                <a:latin typeface="Arial" panose="020B0604020202020204" pitchFamily="34" charset="0"/>
                <a:ea typeface="黑体" panose="02010609060101010101" pitchFamily="2" charset="-122"/>
              </a:rPr>
              <a:t>可选字段，其长度是可变的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373"/>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78135"/>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20736"/>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11210"/>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65510"/>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62060"/>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0497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947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8762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3212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9148"/>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9148"/>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14498"/>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9148"/>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27360"/>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71585"/>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46135"/>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22385"/>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2719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2719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22385"/>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46135"/>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4613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2238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55935"/>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27198"/>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8598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27310"/>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55935"/>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17510"/>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27085"/>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97223"/>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06749"/>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8860"/>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90574"/>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62010"/>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7" name="Group 90"/>
          <p:cNvGrpSpPr/>
          <p:nvPr/>
        </p:nvGrpSpPr>
        <p:grpSpPr bwMode="auto">
          <a:xfrm>
            <a:off x="1209015" y="1590574"/>
            <a:ext cx="5620278" cy="4430714"/>
            <a:chOff x="703" y="845"/>
            <a:chExt cx="3268" cy="2791"/>
          </a:xfrm>
        </p:grpSpPr>
        <p:sp>
          <p:nvSpPr>
            <p:cNvPr id="68" name="Text Box 85"/>
            <p:cNvSpPr txBox="1">
              <a:spLocks noChangeArrowheads="1"/>
            </p:cNvSpPr>
            <p:nvPr/>
          </p:nvSpPr>
          <p:spPr bwMode="auto">
            <a:xfrm>
              <a:off x="884" y="3113"/>
              <a:ext cx="30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CC"/>
                  </a:solidFill>
                  <a:latin typeface="+mn-lt"/>
                  <a:ea typeface="黑体" panose="02010609060101010101" pitchFamily="2" charset="-122"/>
                </a:rPr>
                <a:t>版本</a:t>
              </a:r>
              <a:r>
                <a:rPr lang="en-US" altLang="zh-CN" sz="2400" b="1" dirty="0">
                  <a:solidFill>
                    <a:srgbClr val="0000CC"/>
                  </a:solidFill>
                  <a:latin typeface="+mn-lt"/>
                  <a:ea typeface="黑体" panose="02010609060101010101" pitchFamily="2" charset="-122"/>
                </a:rPr>
                <a:t>——</a:t>
              </a:r>
              <a:r>
                <a:rPr lang="zh-CN" altLang="en-US" sz="2400" b="1" dirty="0">
                  <a:solidFill>
                    <a:srgbClr val="0000CC"/>
                  </a:solidFill>
                  <a:latin typeface="+mn-lt"/>
                  <a:ea typeface="黑体" panose="02010609060101010101" pitchFamily="2" charset="-122"/>
                </a:rPr>
                <a:t>占 </a:t>
              </a:r>
              <a:r>
                <a:rPr lang="en-US" altLang="zh-CN" sz="2400" b="1" dirty="0">
                  <a:solidFill>
                    <a:srgbClr val="0000CC"/>
                  </a:solidFill>
                  <a:latin typeface="+mn-lt"/>
                  <a:ea typeface="黑体" panose="02010609060101010101" pitchFamily="2" charset="-122"/>
                </a:rPr>
                <a:t>4 </a:t>
              </a:r>
              <a:r>
                <a:rPr lang="zh-CN" altLang="en-US" sz="2400" b="1" dirty="0">
                  <a:solidFill>
                    <a:srgbClr val="0000CC"/>
                  </a:solidFill>
                  <a:latin typeface="+mn-lt"/>
                  <a:ea typeface="黑体" panose="02010609060101010101" pitchFamily="2" charset="-122"/>
                </a:rPr>
                <a:t>位，指 </a:t>
              </a:r>
              <a:r>
                <a:rPr lang="en-US" altLang="zh-CN" sz="2400" b="1" dirty="0">
                  <a:solidFill>
                    <a:srgbClr val="0000CC"/>
                  </a:solidFill>
                  <a:latin typeface="+mn-lt"/>
                  <a:ea typeface="黑体" panose="02010609060101010101" pitchFamily="2" charset="-122"/>
                </a:rPr>
                <a:t>IP </a:t>
              </a:r>
              <a:r>
                <a:rPr lang="zh-CN" altLang="en-US" sz="2400" b="1" dirty="0">
                  <a:solidFill>
                    <a:srgbClr val="0000CC"/>
                  </a:solidFill>
                  <a:latin typeface="+mn-lt"/>
                  <a:ea typeface="黑体" panose="02010609060101010101" pitchFamily="2" charset="-122"/>
                </a:rPr>
                <a:t>协议的版本。</a:t>
              </a:r>
            </a:p>
            <a:p>
              <a:r>
                <a:rPr lang="zh-CN" altLang="en-US" sz="2400" b="1" dirty="0">
                  <a:solidFill>
                    <a:srgbClr val="0000CC"/>
                  </a:solidFill>
                  <a:latin typeface="+mn-lt"/>
                  <a:ea typeface="黑体" panose="02010609060101010101" pitchFamily="2" charset="-122"/>
                </a:rPr>
                <a:t>目前的 </a:t>
              </a:r>
              <a:r>
                <a:rPr lang="en-US" altLang="zh-CN" sz="2400" b="1" dirty="0">
                  <a:solidFill>
                    <a:srgbClr val="0000CC"/>
                  </a:solidFill>
                  <a:latin typeface="+mn-lt"/>
                  <a:ea typeface="黑体" panose="02010609060101010101" pitchFamily="2" charset="-122"/>
                </a:rPr>
                <a:t>IP </a:t>
              </a:r>
              <a:r>
                <a:rPr lang="zh-CN" altLang="en-US" sz="2400" b="1" dirty="0">
                  <a:solidFill>
                    <a:srgbClr val="0000CC"/>
                  </a:solidFill>
                  <a:latin typeface="+mn-lt"/>
                  <a:ea typeface="黑体" panose="02010609060101010101" pitchFamily="2" charset="-122"/>
                </a:rPr>
                <a:t>协议版本号为 </a:t>
              </a:r>
              <a:r>
                <a:rPr lang="en-US" altLang="zh-CN" sz="2400" b="1" dirty="0">
                  <a:solidFill>
                    <a:srgbClr val="0000CC"/>
                  </a:solidFill>
                  <a:latin typeface="+mn-lt"/>
                  <a:ea typeface="黑体" panose="02010609060101010101" pitchFamily="2" charset="-122"/>
                </a:rPr>
                <a:t>4 (</a:t>
              </a:r>
              <a:r>
                <a:rPr lang="zh-CN" altLang="en-US" sz="2400" b="1" dirty="0">
                  <a:solidFill>
                    <a:srgbClr val="0000CC"/>
                  </a:solidFill>
                  <a:latin typeface="+mn-lt"/>
                  <a:ea typeface="黑体" panose="02010609060101010101" pitchFamily="2" charset="-122"/>
                </a:rPr>
                <a:t>即 </a:t>
              </a:r>
              <a:r>
                <a:rPr lang="en-US" altLang="zh-CN" sz="2400" b="1" dirty="0">
                  <a:solidFill>
                    <a:srgbClr val="0000CC"/>
                  </a:solidFill>
                  <a:latin typeface="+mn-lt"/>
                  <a:ea typeface="黑体" panose="02010609060101010101" pitchFamily="2" charset="-122"/>
                </a:rPr>
                <a:t>IPv4)</a:t>
              </a:r>
              <a:r>
                <a:rPr lang="zh-CN" altLang="en-US" sz="2400" b="1" dirty="0">
                  <a:solidFill>
                    <a:srgbClr val="0000CC"/>
                  </a:solidFill>
                  <a:latin typeface="+mn-lt"/>
                  <a:ea typeface="黑体" panose="02010609060101010101" pitchFamily="2" charset="-122"/>
                </a:rPr>
                <a:t>。</a:t>
              </a:r>
              <a:endParaRPr lang="en-US" altLang="zh-CN" sz="2400" b="1" dirty="0">
                <a:solidFill>
                  <a:srgbClr val="0000CC"/>
                </a:solidFill>
                <a:latin typeface="+mn-lt"/>
                <a:ea typeface="黑体" panose="02010609060101010101" pitchFamily="2" charset="-122"/>
              </a:endParaRPr>
            </a:p>
          </p:txBody>
        </p:sp>
        <p:sp>
          <p:nvSpPr>
            <p:cNvPr id="69" name="Rectangle 89"/>
            <p:cNvSpPr>
              <a:spLocks noChangeArrowheads="1"/>
            </p:cNvSpPr>
            <p:nvPr/>
          </p:nvSpPr>
          <p:spPr bwMode="auto">
            <a:xfrm>
              <a:off x="703" y="845"/>
              <a:ext cx="635" cy="31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 name="标题 5"/>
          <p:cNvSpPr>
            <a:spLocks noGrp="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60721"/>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716483"/>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59084"/>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49558"/>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303858"/>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100408"/>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4332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8782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42597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7047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57496"/>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57496"/>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52846"/>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57496"/>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65708"/>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109933"/>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84483"/>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607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6554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6554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6073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84483"/>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8448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6073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9428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65546"/>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302433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65658"/>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94283"/>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55858"/>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6543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4035571"/>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45097"/>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437208"/>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628922"/>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700358"/>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7" name="Group 79"/>
          <p:cNvGrpSpPr/>
          <p:nvPr/>
        </p:nvGrpSpPr>
        <p:grpSpPr bwMode="auto">
          <a:xfrm>
            <a:off x="1664758" y="1628922"/>
            <a:ext cx="5792263" cy="4824414"/>
            <a:chOff x="968" y="845"/>
            <a:chExt cx="3368" cy="3039"/>
          </a:xfrm>
        </p:grpSpPr>
        <p:sp>
          <p:nvSpPr>
            <p:cNvPr id="58" name="Text Box 74"/>
            <p:cNvSpPr txBox="1">
              <a:spLocks noChangeArrowheads="1"/>
            </p:cNvSpPr>
            <p:nvPr/>
          </p:nvSpPr>
          <p:spPr bwMode="auto">
            <a:xfrm>
              <a:off x="968" y="3128"/>
              <a:ext cx="3368"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CC"/>
                  </a:solidFill>
                  <a:latin typeface="+mn-lt"/>
                  <a:ea typeface="黑体" panose="02010609060101010101" pitchFamily="2" charset="-122"/>
                </a:rPr>
                <a:t>首部长度</a:t>
              </a:r>
              <a:r>
                <a:rPr lang="en-US" altLang="zh-CN" sz="2400" b="1" dirty="0">
                  <a:solidFill>
                    <a:srgbClr val="0000CC"/>
                  </a:solidFill>
                  <a:latin typeface="+mn-lt"/>
                  <a:ea typeface="黑体" panose="02010609060101010101" pitchFamily="2" charset="-122"/>
                </a:rPr>
                <a:t>——</a:t>
              </a:r>
              <a:r>
                <a:rPr lang="zh-CN" altLang="en-US" sz="2400" b="1" dirty="0">
                  <a:solidFill>
                    <a:srgbClr val="0000CC"/>
                  </a:solidFill>
                  <a:latin typeface="+mn-lt"/>
                  <a:ea typeface="黑体" panose="02010609060101010101" pitchFamily="2" charset="-122"/>
                </a:rPr>
                <a:t>占 </a:t>
              </a:r>
              <a:r>
                <a:rPr lang="en-US" altLang="zh-CN" sz="2400" b="1" dirty="0">
                  <a:solidFill>
                    <a:srgbClr val="0000CC"/>
                  </a:solidFill>
                  <a:latin typeface="+mn-lt"/>
                  <a:ea typeface="黑体" panose="02010609060101010101" pitchFamily="2" charset="-122"/>
                </a:rPr>
                <a:t>4 </a:t>
              </a:r>
              <a:r>
                <a:rPr lang="zh-CN" altLang="en-US" sz="2400" b="1" dirty="0">
                  <a:solidFill>
                    <a:srgbClr val="0000CC"/>
                  </a:solidFill>
                  <a:latin typeface="+mn-lt"/>
                  <a:ea typeface="黑体" panose="02010609060101010101" pitchFamily="2" charset="-122"/>
                </a:rPr>
                <a:t>位，可表示的最大数值</a:t>
              </a:r>
            </a:p>
            <a:p>
              <a:pPr algn="ctr"/>
              <a:r>
                <a:rPr lang="zh-CN" altLang="en-US" sz="2400" b="1" dirty="0">
                  <a:solidFill>
                    <a:srgbClr val="0000CC"/>
                  </a:solidFill>
                  <a:latin typeface="+mn-lt"/>
                  <a:ea typeface="黑体" panose="02010609060101010101" pitchFamily="2" charset="-122"/>
                </a:rPr>
                <a:t>是 </a:t>
              </a:r>
              <a:r>
                <a:rPr lang="en-US" altLang="zh-CN" sz="2400" b="1" dirty="0">
                  <a:solidFill>
                    <a:srgbClr val="0000CC"/>
                  </a:solidFill>
                  <a:latin typeface="+mn-lt"/>
                  <a:ea typeface="黑体" panose="02010609060101010101" pitchFamily="2" charset="-122"/>
                </a:rPr>
                <a:t>15 </a:t>
              </a:r>
              <a:r>
                <a:rPr lang="zh-CN" altLang="en-US" sz="2400" b="1" dirty="0">
                  <a:solidFill>
                    <a:srgbClr val="0000CC"/>
                  </a:solidFill>
                  <a:latin typeface="+mn-lt"/>
                  <a:ea typeface="黑体" panose="02010609060101010101" pitchFamily="2" charset="-122"/>
                </a:rPr>
                <a:t>个单位</a:t>
              </a:r>
              <a:r>
                <a:rPr lang="en-US" altLang="zh-CN" sz="2400" b="1" dirty="0">
                  <a:solidFill>
                    <a:srgbClr val="0000CC"/>
                  </a:solidFill>
                  <a:latin typeface="+mn-lt"/>
                  <a:ea typeface="黑体" panose="02010609060101010101" pitchFamily="2" charset="-122"/>
                </a:rPr>
                <a:t>(</a:t>
              </a:r>
              <a:r>
                <a:rPr lang="zh-CN" altLang="en-US" sz="2400" b="1" dirty="0">
                  <a:solidFill>
                    <a:srgbClr val="0000CC"/>
                  </a:solidFill>
                  <a:latin typeface="+mn-lt"/>
                  <a:ea typeface="黑体" panose="02010609060101010101" pitchFamily="2" charset="-122"/>
                </a:rPr>
                <a:t>一个单位为 </a:t>
              </a:r>
              <a:r>
                <a:rPr lang="en-US" altLang="zh-CN" sz="2400" b="1" dirty="0">
                  <a:solidFill>
                    <a:srgbClr val="0000CC"/>
                  </a:solidFill>
                  <a:latin typeface="+mn-lt"/>
                  <a:ea typeface="黑体" panose="02010609060101010101" pitchFamily="2" charset="-122"/>
                </a:rPr>
                <a:t>4 </a:t>
              </a:r>
              <a:r>
                <a:rPr lang="zh-CN" altLang="en-US" sz="2400" b="1" dirty="0">
                  <a:solidFill>
                    <a:srgbClr val="0000CC"/>
                  </a:solidFill>
                  <a:latin typeface="+mn-lt"/>
                  <a:ea typeface="黑体" panose="02010609060101010101" pitchFamily="2" charset="-122"/>
                </a:rPr>
                <a:t>字节</a:t>
              </a:r>
              <a:r>
                <a:rPr lang="en-US" altLang="zh-CN" sz="2400" b="1" dirty="0">
                  <a:solidFill>
                    <a:srgbClr val="0000CC"/>
                  </a:solidFill>
                  <a:latin typeface="+mn-lt"/>
                  <a:ea typeface="黑体" panose="02010609060101010101" pitchFamily="2" charset="-122"/>
                </a:rPr>
                <a:t>)</a:t>
              </a:r>
              <a:r>
                <a:rPr lang="zh-CN" altLang="en-US" sz="2400" b="1" dirty="0">
                  <a:solidFill>
                    <a:srgbClr val="0000CC"/>
                  </a:solidFill>
                  <a:latin typeface="+mn-lt"/>
                  <a:ea typeface="黑体" panose="02010609060101010101" pitchFamily="2" charset="-122"/>
                </a:rPr>
                <a:t>，</a:t>
              </a:r>
              <a:endParaRPr lang="en-US" altLang="zh-CN" sz="2400" b="1" dirty="0">
                <a:solidFill>
                  <a:srgbClr val="0000CC"/>
                </a:solidFill>
                <a:latin typeface="+mn-lt"/>
                <a:ea typeface="黑体" panose="02010609060101010101" pitchFamily="2" charset="-122"/>
              </a:endParaRPr>
            </a:p>
            <a:p>
              <a:pPr algn="ctr"/>
              <a:r>
                <a:rPr lang="zh-CN" altLang="en-US" sz="2400" b="1" dirty="0">
                  <a:solidFill>
                    <a:srgbClr val="0000CC"/>
                  </a:solidFill>
                  <a:latin typeface="+mn-lt"/>
                  <a:ea typeface="黑体" panose="02010609060101010101" pitchFamily="2" charset="-122"/>
                </a:rPr>
                <a:t>因此 </a:t>
              </a:r>
              <a:r>
                <a:rPr lang="en-US" altLang="zh-CN" sz="2400" b="1" dirty="0">
                  <a:solidFill>
                    <a:srgbClr val="0000CC"/>
                  </a:solidFill>
                  <a:latin typeface="+mn-lt"/>
                  <a:ea typeface="黑体" panose="02010609060101010101" pitchFamily="2" charset="-122"/>
                </a:rPr>
                <a:t>IP </a:t>
              </a:r>
              <a:r>
                <a:rPr lang="zh-CN" altLang="en-US" sz="2400" b="1" dirty="0">
                  <a:solidFill>
                    <a:srgbClr val="0000CC"/>
                  </a:solidFill>
                  <a:latin typeface="+mn-lt"/>
                  <a:ea typeface="黑体" panose="02010609060101010101" pitchFamily="2" charset="-122"/>
                </a:rPr>
                <a:t>的首部长度的最大值是 </a:t>
              </a:r>
              <a:r>
                <a:rPr lang="en-US" altLang="zh-CN" sz="2400" b="1" dirty="0">
                  <a:solidFill>
                    <a:srgbClr val="0000CC"/>
                  </a:solidFill>
                  <a:latin typeface="+mn-lt"/>
                  <a:ea typeface="黑体" panose="02010609060101010101" pitchFamily="2" charset="-122"/>
                </a:rPr>
                <a:t>60 </a:t>
              </a:r>
              <a:r>
                <a:rPr lang="zh-CN" altLang="en-US" sz="2400" b="1" dirty="0">
                  <a:solidFill>
                    <a:srgbClr val="0000CC"/>
                  </a:solidFill>
                  <a:latin typeface="+mn-lt"/>
                  <a:ea typeface="黑体" panose="02010609060101010101" pitchFamily="2" charset="-122"/>
                </a:rPr>
                <a:t>字节。</a:t>
              </a:r>
            </a:p>
          </p:txBody>
        </p:sp>
        <p:sp>
          <p:nvSpPr>
            <p:cNvPr id="59" name="Rectangle 78"/>
            <p:cNvSpPr>
              <a:spLocks noChangeArrowheads="1"/>
            </p:cNvSpPr>
            <p:nvPr/>
          </p:nvSpPr>
          <p:spPr bwMode="auto">
            <a:xfrm>
              <a:off x="1303" y="845"/>
              <a:ext cx="658" cy="31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35448"/>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91210"/>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33811"/>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24285"/>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78585"/>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7513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18048"/>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62548"/>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400698"/>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45198"/>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32223"/>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32223"/>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27573"/>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32223"/>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40435"/>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84660"/>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59210"/>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35460"/>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40273"/>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4027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3546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5921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5921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3546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6901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40273"/>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9906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40385"/>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69010"/>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30585"/>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40160"/>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4010298"/>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19824"/>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411935"/>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603649"/>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75085"/>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0" name="Group 80"/>
          <p:cNvGrpSpPr/>
          <p:nvPr/>
        </p:nvGrpSpPr>
        <p:grpSpPr bwMode="auto">
          <a:xfrm>
            <a:off x="1716354" y="1603648"/>
            <a:ext cx="7064905" cy="5065712"/>
            <a:chOff x="998" y="845"/>
            <a:chExt cx="4108" cy="3191"/>
          </a:xfrm>
        </p:grpSpPr>
        <p:sp>
          <p:nvSpPr>
            <p:cNvPr id="61" name="Text Box 74"/>
            <p:cNvSpPr txBox="1">
              <a:spLocks noChangeArrowheads="1"/>
            </p:cNvSpPr>
            <p:nvPr/>
          </p:nvSpPr>
          <p:spPr bwMode="auto">
            <a:xfrm>
              <a:off x="998" y="3008"/>
              <a:ext cx="4108"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rgbClr val="0000CC"/>
                  </a:solidFill>
                  <a:latin typeface="+mn-lt"/>
                  <a:ea typeface="黑体" panose="02010609060101010101" pitchFamily="2" charset="-122"/>
                </a:rPr>
                <a:t>区分服务</a:t>
              </a:r>
              <a:r>
                <a:rPr lang="en-US" altLang="zh-CN" sz="2000" b="1" dirty="0">
                  <a:solidFill>
                    <a:srgbClr val="0000CC"/>
                  </a:solidFill>
                  <a:latin typeface="+mn-lt"/>
                  <a:ea typeface="黑体" panose="02010609060101010101" pitchFamily="2" charset="-122"/>
                </a:rPr>
                <a:t>——</a:t>
              </a:r>
              <a:r>
                <a:rPr lang="zh-CN" altLang="en-US" sz="2000" b="1" dirty="0">
                  <a:solidFill>
                    <a:srgbClr val="0000CC"/>
                  </a:solidFill>
                  <a:latin typeface="+mn-lt"/>
                  <a:ea typeface="黑体" panose="02010609060101010101" pitchFamily="2" charset="-122"/>
                </a:rPr>
                <a:t>占 </a:t>
              </a:r>
              <a:r>
                <a:rPr lang="en-US" altLang="zh-CN" sz="2000" b="1" dirty="0">
                  <a:solidFill>
                    <a:srgbClr val="0000CC"/>
                  </a:solidFill>
                  <a:latin typeface="+mn-lt"/>
                  <a:ea typeface="黑体" panose="02010609060101010101" pitchFamily="2" charset="-122"/>
                </a:rPr>
                <a:t>8 </a:t>
              </a:r>
              <a:r>
                <a:rPr lang="zh-CN" altLang="en-US" sz="2000" b="1" dirty="0">
                  <a:solidFill>
                    <a:srgbClr val="0000CC"/>
                  </a:solidFill>
                  <a:latin typeface="+mn-lt"/>
                  <a:ea typeface="黑体" panose="02010609060101010101" pitchFamily="2" charset="-122"/>
                </a:rPr>
                <a:t>位，用来获得更好的服务。</a:t>
              </a:r>
            </a:p>
            <a:p>
              <a:pPr algn="ctr"/>
              <a:r>
                <a:rPr lang="zh-CN" altLang="en-US" sz="2000" b="1" dirty="0">
                  <a:solidFill>
                    <a:srgbClr val="0000CC"/>
                  </a:solidFill>
                  <a:latin typeface="+mn-lt"/>
                  <a:ea typeface="黑体" panose="02010609060101010101" pitchFamily="2" charset="-122"/>
                </a:rPr>
                <a:t>在旧标准中叫做服务类型，但实际上一直未被使用过。</a:t>
              </a:r>
            </a:p>
            <a:p>
              <a:pPr algn="ctr"/>
              <a:r>
                <a:rPr lang="en-US" altLang="zh-CN" sz="2000" b="1" dirty="0">
                  <a:solidFill>
                    <a:srgbClr val="0000CC"/>
                  </a:solidFill>
                  <a:latin typeface="+mn-lt"/>
                  <a:ea typeface="黑体" panose="02010609060101010101" pitchFamily="2" charset="-122"/>
                </a:rPr>
                <a:t>1998 </a:t>
              </a:r>
              <a:r>
                <a:rPr lang="zh-CN" altLang="en-US" sz="2000" b="1" dirty="0">
                  <a:solidFill>
                    <a:srgbClr val="0000CC"/>
                  </a:solidFill>
                  <a:latin typeface="+mn-lt"/>
                  <a:ea typeface="黑体" panose="02010609060101010101" pitchFamily="2" charset="-122"/>
                </a:rPr>
                <a:t>年这个字段改名为区分服务。</a:t>
              </a:r>
            </a:p>
            <a:p>
              <a:pPr algn="ctr"/>
              <a:r>
                <a:rPr lang="zh-CN" altLang="en-US" sz="2000" b="1" dirty="0">
                  <a:solidFill>
                    <a:srgbClr val="0000CC"/>
                  </a:solidFill>
                  <a:latin typeface="+mn-lt"/>
                  <a:ea typeface="黑体" panose="02010609060101010101" pitchFamily="2" charset="-122"/>
                </a:rPr>
                <a:t>只有在使用区分服务（</a:t>
              </a:r>
              <a:r>
                <a:rPr lang="en-US" altLang="zh-CN" sz="2000" b="1" dirty="0" err="1">
                  <a:solidFill>
                    <a:srgbClr val="0000CC"/>
                  </a:solidFill>
                  <a:latin typeface="+mn-lt"/>
                  <a:ea typeface="黑体" panose="02010609060101010101" pitchFamily="2" charset="-122"/>
                </a:rPr>
                <a:t>DiffServ</a:t>
              </a:r>
              <a:r>
                <a:rPr lang="zh-CN" altLang="en-US" sz="2000" b="1" dirty="0">
                  <a:solidFill>
                    <a:srgbClr val="0000CC"/>
                  </a:solidFill>
                  <a:latin typeface="+mn-lt"/>
                  <a:ea typeface="黑体" panose="02010609060101010101" pitchFamily="2" charset="-122"/>
                </a:rPr>
                <a:t>）时，这个字段才起作用。</a:t>
              </a:r>
            </a:p>
            <a:p>
              <a:pPr algn="ctr"/>
              <a:r>
                <a:rPr lang="zh-CN" altLang="en-US" sz="2000" b="1" dirty="0">
                  <a:solidFill>
                    <a:srgbClr val="0000CC"/>
                  </a:solidFill>
                  <a:latin typeface="+mn-lt"/>
                  <a:ea typeface="黑体" panose="02010609060101010101" pitchFamily="2" charset="-122"/>
                </a:rPr>
                <a:t>在一般的情况下都不使用这个字段 </a:t>
              </a:r>
            </a:p>
          </p:txBody>
        </p:sp>
        <p:sp>
          <p:nvSpPr>
            <p:cNvPr id="62" name="Rectangle 76"/>
            <p:cNvSpPr>
              <a:spLocks noChangeArrowheads="1"/>
            </p:cNvSpPr>
            <p:nvPr/>
          </p:nvSpPr>
          <p:spPr bwMode="auto">
            <a:xfrm>
              <a:off x="1950" y="845"/>
              <a:ext cx="1248" cy="31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252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6828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1088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01363"/>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55663"/>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5221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9512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3962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7777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2227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0930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0930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04651"/>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09301"/>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17513"/>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61738"/>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3628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1253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1735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1735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1253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3628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3628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1253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4608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1735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7613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1746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4608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0766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1723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8737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9690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8901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8072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52163"/>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7" name="Group 80"/>
          <p:cNvGrpSpPr/>
          <p:nvPr/>
        </p:nvGrpSpPr>
        <p:grpSpPr bwMode="auto">
          <a:xfrm>
            <a:off x="2017315" y="1580727"/>
            <a:ext cx="7771742" cy="4800601"/>
            <a:chOff x="1173" y="845"/>
            <a:chExt cx="4519" cy="3024"/>
          </a:xfrm>
        </p:grpSpPr>
        <p:sp>
          <p:nvSpPr>
            <p:cNvPr id="58" name="Text Box 74"/>
            <p:cNvSpPr txBox="1">
              <a:spLocks noChangeArrowheads="1"/>
            </p:cNvSpPr>
            <p:nvPr/>
          </p:nvSpPr>
          <p:spPr bwMode="auto">
            <a:xfrm>
              <a:off x="1173" y="3113"/>
              <a:ext cx="4303"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000" b="1">
                  <a:solidFill>
                    <a:srgbClr val="0000CC"/>
                  </a:solidFill>
                  <a:latin typeface="+mn-lt"/>
                  <a:ea typeface="黑体" panose="02010609060101010101" pitchFamily="2" charset="-122"/>
                </a:defRPr>
              </a:lvl1pPr>
            </a:lstStyle>
            <a:p>
              <a:r>
                <a:rPr lang="zh-CN" altLang="en-US" sz="2400" dirty="0"/>
                <a:t>总长度</a:t>
              </a:r>
              <a:r>
                <a:rPr lang="en-US" altLang="zh-CN" sz="2400" dirty="0"/>
                <a:t>——</a:t>
              </a:r>
              <a:r>
                <a:rPr lang="zh-CN" altLang="en-US" sz="2400" dirty="0"/>
                <a:t>占 </a:t>
              </a:r>
              <a:r>
                <a:rPr lang="en-US" altLang="zh-CN" sz="2400" dirty="0"/>
                <a:t>16 </a:t>
              </a:r>
              <a:r>
                <a:rPr lang="zh-CN" altLang="en-US" sz="2400" dirty="0"/>
                <a:t>位，指首部和数据之和的长度，</a:t>
              </a:r>
            </a:p>
            <a:p>
              <a:r>
                <a:rPr lang="zh-CN" altLang="en-US" sz="2400" dirty="0"/>
                <a:t>单位为字节，因此数据报的最大长度为 </a:t>
              </a:r>
              <a:r>
                <a:rPr lang="en-US" altLang="zh-CN" sz="2400" dirty="0"/>
                <a:t>65535 </a:t>
              </a:r>
              <a:r>
                <a:rPr lang="zh-CN" altLang="en-US" sz="2400" dirty="0"/>
                <a:t>字节。</a:t>
              </a:r>
            </a:p>
            <a:p>
              <a:r>
                <a:rPr lang="zh-CN" altLang="en-US" sz="2400" dirty="0">
                  <a:solidFill>
                    <a:srgbClr val="C00000"/>
                  </a:solidFill>
                </a:rPr>
                <a:t>总长度必须不超过最大传送单元 </a:t>
              </a:r>
              <a:r>
                <a:rPr lang="en-US" altLang="zh-CN" sz="2400" dirty="0">
                  <a:solidFill>
                    <a:srgbClr val="C00000"/>
                  </a:solidFill>
                </a:rPr>
                <a:t>MTU</a:t>
              </a:r>
              <a:r>
                <a:rPr lang="zh-CN" altLang="en-US" sz="2400" dirty="0">
                  <a:solidFill>
                    <a:srgbClr val="C00000"/>
                  </a:solidFill>
                </a:rPr>
                <a:t>。 </a:t>
              </a:r>
            </a:p>
          </p:txBody>
        </p:sp>
        <p:sp>
          <p:nvSpPr>
            <p:cNvPr id="59" name="Rectangle 79"/>
            <p:cNvSpPr>
              <a:spLocks noChangeArrowheads="1"/>
            </p:cNvSpPr>
            <p:nvPr/>
          </p:nvSpPr>
          <p:spPr bwMode="auto">
            <a:xfrm>
              <a:off x="3208" y="845"/>
              <a:ext cx="2484" cy="30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37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7813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2073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1121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6551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6206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0497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947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8762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3212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915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915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1450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915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2736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7158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4613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2238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2720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2720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2238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4613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4613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2238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5593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2720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8598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2731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5593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1751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2708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9722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0675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886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9057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6201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0" name="Group 77"/>
          <p:cNvGrpSpPr/>
          <p:nvPr/>
        </p:nvGrpSpPr>
        <p:grpSpPr bwMode="auto">
          <a:xfrm>
            <a:off x="1209015" y="2038250"/>
            <a:ext cx="6769101" cy="3979863"/>
            <a:chOff x="703" y="1127"/>
            <a:chExt cx="3936" cy="2507"/>
          </a:xfrm>
        </p:grpSpPr>
        <p:sp>
          <p:nvSpPr>
            <p:cNvPr id="61" name="Text Box 74"/>
            <p:cNvSpPr txBox="1">
              <a:spLocks noChangeArrowheads="1"/>
            </p:cNvSpPr>
            <p:nvPr/>
          </p:nvSpPr>
          <p:spPr bwMode="auto">
            <a:xfrm>
              <a:off x="800" y="3111"/>
              <a:ext cx="3839"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标识</a:t>
              </a:r>
              <a:r>
                <a:rPr lang="en-US" altLang="zh-CN" dirty="0"/>
                <a:t>(identification) ——</a:t>
              </a:r>
              <a:r>
                <a:rPr lang="zh-CN" altLang="en-US" dirty="0"/>
                <a:t>占 </a:t>
              </a:r>
              <a:r>
                <a:rPr lang="en-US" altLang="zh-CN" dirty="0"/>
                <a:t>16 </a:t>
              </a:r>
              <a:r>
                <a:rPr lang="zh-CN" altLang="en-US" dirty="0"/>
                <a:t>位，</a:t>
              </a:r>
            </a:p>
            <a:p>
              <a:r>
                <a:rPr lang="zh-CN" altLang="en-US" dirty="0"/>
                <a:t>它是一个计数器，用来产生 </a:t>
              </a:r>
              <a:r>
                <a:rPr lang="en-US" altLang="zh-CN" dirty="0">
                  <a:solidFill>
                    <a:srgbClr val="C00000"/>
                  </a:solidFill>
                </a:rPr>
                <a:t>IP </a:t>
              </a:r>
              <a:r>
                <a:rPr lang="zh-CN" altLang="en-US" dirty="0">
                  <a:solidFill>
                    <a:srgbClr val="C00000"/>
                  </a:solidFill>
                </a:rPr>
                <a:t>数据报的标识。</a:t>
              </a:r>
              <a:r>
                <a:rPr lang="zh-CN" altLang="en-US" dirty="0"/>
                <a:t> </a:t>
              </a:r>
            </a:p>
          </p:txBody>
        </p:sp>
        <p:sp>
          <p:nvSpPr>
            <p:cNvPr id="62" name="Rectangle 76"/>
            <p:cNvSpPr>
              <a:spLocks noChangeArrowheads="1"/>
            </p:cNvSpPr>
            <p:nvPr/>
          </p:nvSpPr>
          <p:spPr bwMode="auto">
            <a:xfrm>
              <a:off x="703" y="1127"/>
              <a:ext cx="2484" cy="30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04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7780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2040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10883"/>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65183"/>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6173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0464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914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8729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3179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882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882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14171"/>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8821"/>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27033"/>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71258"/>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4580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2205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2687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2687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22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4580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458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220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5560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2687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856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2698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5560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1718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2675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9689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0642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853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9024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61683"/>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7" name="组合 56"/>
          <p:cNvGrpSpPr/>
          <p:nvPr/>
        </p:nvGrpSpPr>
        <p:grpSpPr>
          <a:xfrm>
            <a:off x="1706970" y="2056971"/>
            <a:ext cx="7077579" cy="4669407"/>
            <a:chOff x="1706970" y="1808163"/>
            <a:chExt cx="7077579" cy="4669407"/>
          </a:xfrm>
        </p:grpSpPr>
        <p:sp>
          <p:nvSpPr>
            <p:cNvPr id="58" name="Text Box 73"/>
            <p:cNvSpPr txBox="1">
              <a:spLocks noChangeArrowheads="1"/>
            </p:cNvSpPr>
            <p:nvPr/>
          </p:nvSpPr>
          <p:spPr bwMode="auto">
            <a:xfrm>
              <a:off x="1706970" y="4784799"/>
              <a:ext cx="7077579" cy="16927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sz="2000" dirty="0"/>
                <a:t>标志</a:t>
              </a:r>
              <a:r>
                <a:rPr lang="en-US" altLang="zh-CN" sz="2000" dirty="0"/>
                <a:t>(flag) ——</a:t>
              </a:r>
              <a:r>
                <a:rPr lang="zh-CN" altLang="en-US" sz="2000" dirty="0"/>
                <a:t>占 </a:t>
              </a:r>
              <a:r>
                <a:rPr lang="en-US" altLang="zh-CN" sz="2000" dirty="0"/>
                <a:t>3 </a:t>
              </a:r>
              <a:r>
                <a:rPr lang="zh-CN" altLang="en-US" sz="2000" dirty="0"/>
                <a:t>位，目前只有前两位有意义。</a:t>
              </a:r>
            </a:p>
            <a:p>
              <a:r>
                <a:rPr lang="zh-CN" altLang="en-US" sz="2000" dirty="0">
                  <a:solidFill>
                    <a:srgbClr val="C00000"/>
                  </a:solidFill>
                </a:rPr>
                <a:t>标志字段的最低位是 </a:t>
              </a:r>
              <a:r>
                <a:rPr lang="en-US" altLang="zh-CN" sz="2000" dirty="0">
                  <a:solidFill>
                    <a:srgbClr val="C00000"/>
                  </a:solidFill>
                </a:rPr>
                <a:t>MF (More Fragment)</a:t>
              </a:r>
              <a:r>
                <a:rPr lang="zh-CN" altLang="en-US" sz="2000" dirty="0">
                  <a:solidFill>
                    <a:srgbClr val="C00000"/>
                  </a:solidFill>
                </a:rPr>
                <a:t>。</a:t>
              </a:r>
            </a:p>
            <a:p>
              <a:r>
                <a:rPr lang="en-US" altLang="zh-CN" sz="2000" dirty="0"/>
                <a:t>MF </a:t>
              </a:r>
              <a:r>
                <a:rPr lang="en-US" altLang="zh-CN" sz="2000" dirty="0">
                  <a:sym typeface="Symbol" panose="05050102010706020507" pitchFamily="18" charset="2"/>
                </a:rPr>
                <a:t></a:t>
              </a:r>
              <a:r>
                <a:rPr lang="en-US" altLang="zh-CN" sz="2000" dirty="0"/>
                <a:t> 1 </a:t>
              </a:r>
              <a:r>
                <a:rPr lang="zh-CN" altLang="en-US" sz="2000" dirty="0"/>
                <a:t>表示后面“还有分片”。</a:t>
              </a:r>
              <a:r>
                <a:rPr lang="en-US" altLang="zh-CN" sz="2000" dirty="0"/>
                <a:t>MF </a:t>
              </a:r>
              <a:r>
                <a:rPr lang="en-US" altLang="zh-CN" sz="2000" dirty="0">
                  <a:sym typeface="Symbol" panose="05050102010706020507" pitchFamily="18" charset="2"/>
                </a:rPr>
                <a:t></a:t>
              </a:r>
              <a:r>
                <a:rPr lang="en-US" altLang="zh-CN" sz="2000" dirty="0"/>
                <a:t> 0 </a:t>
              </a:r>
              <a:r>
                <a:rPr lang="zh-CN" altLang="en-US" sz="2000" dirty="0"/>
                <a:t>表示最后一个分片。</a:t>
              </a:r>
            </a:p>
            <a:p>
              <a:r>
                <a:rPr lang="zh-CN" altLang="en-US" sz="2000" dirty="0">
                  <a:solidFill>
                    <a:srgbClr val="C00000"/>
                  </a:solidFill>
                </a:rPr>
                <a:t>标志字段中间的一位是 </a:t>
              </a:r>
              <a:r>
                <a:rPr lang="en-US" altLang="zh-CN" sz="2000" dirty="0">
                  <a:solidFill>
                    <a:srgbClr val="C00000"/>
                  </a:solidFill>
                </a:rPr>
                <a:t>DF (Don't Fragment) </a:t>
              </a:r>
              <a:r>
                <a:rPr lang="zh-CN" altLang="en-US" sz="2000" dirty="0">
                  <a:solidFill>
                    <a:srgbClr val="C00000"/>
                  </a:solidFill>
                </a:rPr>
                <a:t>。</a:t>
              </a:r>
            </a:p>
            <a:p>
              <a:r>
                <a:rPr lang="zh-CN" altLang="en-US" sz="2000" dirty="0"/>
                <a:t>只有当 </a:t>
              </a:r>
              <a:r>
                <a:rPr lang="en-US" altLang="zh-CN" sz="2000" dirty="0"/>
                <a:t>DF </a:t>
              </a:r>
              <a:r>
                <a:rPr lang="en-US" altLang="zh-CN" sz="2000" dirty="0">
                  <a:sym typeface="Symbol" panose="05050102010706020507" pitchFamily="18" charset="2"/>
                </a:rPr>
                <a:t></a:t>
              </a:r>
              <a:r>
                <a:rPr lang="en-US" altLang="zh-CN" sz="2000" dirty="0"/>
                <a:t> 0 </a:t>
              </a:r>
              <a:r>
                <a:rPr lang="zh-CN" altLang="en-US" sz="2000" dirty="0"/>
                <a:t>时才允许分片。 </a:t>
              </a:r>
            </a:p>
          </p:txBody>
        </p:sp>
        <p:sp>
          <p:nvSpPr>
            <p:cNvPr id="59" name="Rectangle 74"/>
            <p:cNvSpPr>
              <a:spLocks noChangeArrowheads="1"/>
            </p:cNvSpPr>
            <p:nvPr/>
          </p:nvSpPr>
          <p:spPr bwMode="auto">
            <a:xfrm>
              <a:off x="5499894" y="1808163"/>
              <a:ext cx="856456" cy="487362"/>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5318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0" name="Group 78"/>
          <p:cNvGrpSpPr/>
          <p:nvPr/>
        </p:nvGrpSpPr>
        <p:grpSpPr bwMode="auto">
          <a:xfrm>
            <a:off x="2660514" y="2013545"/>
            <a:ext cx="7068350" cy="4295775"/>
            <a:chOff x="1547" y="1117"/>
            <a:chExt cx="4110" cy="2706"/>
          </a:xfrm>
        </p:grpSpPr>
        <p:sp>
          <p:nvSpPr>
            <p:cNvPr id="61" name="Text Box 74"/>
            <p:cNvSpPr txBox="1">
              <a:spLocks noChangeArrowheads="1"/>
            </p:cNvSpPr>
            <p:nvPr/>
          </p:nvSpPr>
          <p:spPr bwMode="auto">
            <a:xfrm>
              <a:off x="1547" y="3067"/>
              <a:ext cx="4002"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片偏移</a:t>
              </a:r>
              <a:r>
                <a:rPr lang="en-US" altLang="zh-CN" dirty="0"/>
                <a:t>—— </a:t>
              </a:r>
              <a:r>
                <a:rPr lang="zh-CN" altLang="en-US" dirty="0"/>
                <a:t>占</a:t>
              </a:r>
              <a:r>
                <a:rPr lang="en-US" altLang="zh-CN" dirty="0"/>
                <a:t>13 </a:t>
              </a:r>
              <a:r>
                <a:rPr lang="zh-CN" altLang="en-US" dirty="0"/>
                <a:t>位，指出：较长的分组在分片后</a:t>
              </a:r>
            </a:p>
            <a:p>
              <a:r>
                <a:rPr lang="zh-CN" altLang="en-US" dirty="0"/>
                <a:t>某片在原分组中的相对位置。</a:t>
              </a:r>
            </a:p>
            <a:p>
              <a:r>
                <a:rPr lang="zh-CN" altLang="en-US" dirty="0">
                  <a:solidFill>
                    <a:srgbClr val="C00000"/>
                  </a:solidFill>
                </a:rPr>
                <a:t>片偏移以 </a:t>
              </a:r>
              <a:r>
                <a:rPr lang="en-US" altLang="zh-CN" dirty="0">
                  <a:solidFill>
                    <a:srgbClr val="C00000"/>
                  </a:solidFill>
                </a:rPr>
                <a:t>8 </a:t>
              </a:r>
              <a:r>
                <a:rPr lang="zh-CN" altLang="en-US" dirty="0">
                  <a:solidFill>
                    <a:srgbClr val="C00000"/>
                  </a:solidFill>
                </a:rPr>
                <a:t>个字节为偏移单位。</a:t>
              </a:r>
            </a:p>
          </p:txBody>
        </p:sp>
        <p:sp>
          <p:nvSpPr>
            <p:cNvPr id="62" name="Rectangle 75"/>
            <p:cNvSpPr>
              <a:spLocks noChangeArrowheads="1"/>
            </p:cNvSpPr>
            <p:nvPr/>
          </p:nvSpPr>
          <p:spPr bwMode="auto">
            <a:xfrm>
              <a:off x="3696" y="1117"/>
              <a:ext cx="1961" cy="30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【例</a:t>
            </a:r>
            <a:r>
              <a:rPr lang="en-US" altLang="zh-CN" dirty="0"/>
              <a:t>4-1</a:t>
            </a:r>
            <a:r>
              <a:rPr lang="zh-CN" altLang="zh-CN" dirty="0"/>
              <a:t>】</a:t>
            </a:r>
            <a:r>
              <a:rPr lang="en-US" altLang="zh-CN" dirty="0"/>
              <a:t> IP </a:t>
            </a:r>
            <a:r>
              <a:rPr lang="zh-CN" altLang="en-US" dirty="0"/>
              <a:t>数据报分片</a:t>
            </a:r>
          </a:p>
        </p:txBody>
      </p:sp>
      <p:sp>
        <p:nvSpPr>
          <p:cNvPr id="3" name="内容占位符 2"/>
          <p:cNvSpPr>
            <a:spLocks noGrp="1"/>
          </p:cNvSpPr>
          <p:nvPr>
            <p:ph idx="1"/>
          </p:nvPr>
        </p:nvSpPr>
        <p:spPr/>
        <p:txBody>
          <a:bodyPr/>
          <a:lstStyle/>
          <a:p>
            <a:pPr>
              <a:lnSpc>
                <a:spcPct val="100000"/>
              </a:lnSpc>
            </a:pPr>
            <a:r>
              <a:rPr lang="zh-CN" altLang="zh-CN" dirty="0"/>
              <a:t>一数据报的总长度为</a:t>
            </a:r>
            <a:r>
              <a:rPr lang="en-US" altLang="zh-CN" dirty="0"/>
              <a:t> 3820 </a:t>
            </a:r>
            <a:r>
              <a:rPr lang="zh-CN" altLang="zh-CN" dirty="0"/>
              <a:t>字节，其数据部分</a:t>
            </a:r>
            <a:r>
              <a:rPr lang="zh-CN" altLang="en-US" dirty="0"/>
              <a:t>的</a:t>
            </a:r>
            <a:r>
              <a:rPr lang="zh-CN" altLang="zh-CN" dirty="0"/>
              <a:t>长度为</a:t>
            </a:r>
            <a:r>
              <a:rPr lang="en-US" altLang="zh-CN" dirty="0"/>
              <a:t> 3800 </a:t>
            </a:r>
            <a:r>
              <a:rPr lang="zh-CN" altLang="zh-CN" dirty="0"/>
              <a:t>字节（使用固定首部），需要分片为长度不超过</a:t>
            </a:r>
            <a:r>
              <a:rPr lang="en-US" altLang="zh-CN" dirty="0"/>
              <a:t> 1420 </a:t>
            </a:r>
            <a:r>
              <a:rPr lang="zh-CN" altLang="zh-CN" dirty="0"/>
              <a:t>字节的数据报片。</a:t>
            </a:r>
            <a:endParaRPr lang="en-US" altLang="zh-CN" dirty="0"/>
          </a:p>
          <a:p>
            <a:pPr>
              <a:lnSpc>
                <a:spcPct val="100000"/>
              </a:lnSpc>
            </a:pPr>
            <a:r>
              <a:rPr lang="zh-CN" altLang="zh-CN" dirty="0"/>
              <a:t>因固定首部长度为</a:t>
            </a:r>
            <a:r>
              <a:rPr lang="en-US" altLang="zh-CN" dirty="0"/>
              <a:t> 20 </a:t>
            </a:r>
            <a:r>
              <a:rPr lang="zh-CN" altLang="zh-CN" dirty="0"/>
              <a:t>字节，因此每个数据报片的数据部分长度不能超过</a:t>
            </a:r>
            <a:r>
              <a:rPr lang="en-US" altLang="zh-CN" dirty="0"/>
              <a:t> 1400 </a:t>
            </a:r>
            <a:r>
              <a:rPr lang="zh-CN" altLang="zh-CN" dirty="0"/>
              <a:t>字节。</a:t>
            </a:r>
            <a:endParaRPr lang="en-US" altLang="zh-CN" dirty="0"/>
          </a:p>
          <a:p>
            <a:pPr>
              <a:lnSpc>
                <a:spcPct val="100000"/>
              </a:lnSpc>
            </a:pPr>
            <a:r>
              <a:rPr lang="zh-CN" altLang="zh-CN" dirty="0"/>
              <a:t>于是分为</a:t>
            </a:r>
            <a:r>
              <a:rPr lang="en-US" altLang="zh-CN" dirty="0"/>
              <a:t> 3 </a:t>
            </a:r>
            <a:r>
              <a:rPr lang="zh-CN" altLang="zh-CN" dirty="0"/>
              <a:t>个数据报片，其数据部分的长度分别为</a:t>
            </a:r>
            <a:r>
              <a:rPr lang="en-US" altLang="zh-CN" dirty="0"/>
              <a:t> 1400</a:t>
            </a:r>
            <a:r>
              <a:rPr lang="zh-CN" altLang="en-US" dirty="0"/>
              <a:t>、</a:t>
            </a:r>
            <a:r>
              <a:rPr lang="en-US" altLang="zh-CN" dirty="0"/>
              <a:t>1400 </a:t>
            </a:r>
            <a:r>
              <a:rPr lang="zh-CN" altLang="zh-CN" dirty="0"/>
              <a:t>和</a:t>
            </a:r>
            <a:r>
              <a:rPr lang="en-US" altLang="zh-CN" dirty="0"/>
              <a:t> 1000 </a:t>
            </a:r>
            <a:r>
              <a:rPr lang="zh-CN" altLang="zh-CN" dirty="0"/>
              <a:t>字节。</a:t>
            </a:r>
            <a:endParaRPr lang="en-US" altLang="zh-CN" dirty="0"/>
          </a:p>
          <a:p>
            <a:pPr>
              <a:lnSpc>
                <a:spcPct val="100000"/>
              </a:lnSpc>
            </a:pPr>
            <a:r>
              <a:rPr lang="zh-CN" altLang="zh-CN" dirty="0">
                <a:solidFill>
                  <a:srgbClr val="0000FF"/>
                </a:solidFill>
              </a:rPr>
              <a:t>原始数据报首部被复制为各数据报片的首部，但</a:t>
            </a:r>
            <a:r>
              <a:rPr lang="zh-CN" altLang="zh-CN" dirty="0">
                <a:solidFill>
                  <a:srgbClr val="FF0000"/>
                </a:solidFill>
              </a:rPr>
              <a:t>必须修改有关字段的值。</a:t>
            </a:r>
            <a:endParaRPr lang="zh-CN" altLang="en-US" dirty="0">
              <a:solidFill>
                <a:srgbClr val="FF0000"/>
              </a:solidFill>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344488" y="2380134"/>
            <a:ext cx="4755225" cy="3526755"/>
            <a:chOff x="344488" y="2380134"/>
            <a:chExt cx="4755225" cy="3526755"/>
          </a:xfrm>
        </p:grpSpPr>
        <p:sp>
          <p:nvSpPr>
            <p:cNvPr id="474117" name="Text Box 5"/>
            <p:cNvSpPr txBox="1">
              <a:spLocks noChangeArrowheads="1"/>
            </p:cNvSpPr>
            <p:nvPr/>
          </p:nvSpPr>
          <p:spPr bwMode="auto">
            <a:xfrm>
              <a:off x="704528" y="5445224"/>
              <a:ext cx="2101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偏移 </a:t>
              </a:r>
              <a:r>
                <a:rPr kumimoji="1" lang="en-US" altLang="zh-CN" sz="2400" b="1" dirty="0">
                  <a:solidFill>
                    <a:srgbClr val="0000CC"/>
                  </a:solidFill>
                  <a:latin typeface="+mn-lt"/>
                  <a:ea typeface="黑体" panose="02010609060101010101" pitchFamily="2" charset="-122"/>
                </a:rPr>
                <a:t>= 0/8 = 0</a:t>
              </a:r>
            </a:p>
          </p:txBody>
        </p:sp>
        <p:sp>
          <p:nvSpPr>
            <p:cNvPr id="474123" name="Rectangle 11"/>
            <p:cNvSpPr>
              <a:spLocks noChangeArrowheads="1"/>
            </p:cNvSpPr>
            <p:nvPr/>
          </p:nvSpPr>
          <p:spPr bwMode="auto">
            <a:xfrm>
              <a:off x="1295534" y="3869208"/>
              <a:ext cx="1900369" cy="46355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24" name="Line 12"/>
            <p:cNvSpPr>
              <a:spLocks noChangeShapeType="1"/>
            </p:cNvSpPr>
            <p:nvPr/>
          </p:nvSpPr>
          <p:spPr bwMode="auto">
            <a:xfrm>
              <a:off x="1484710"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5" name="Line 13"/>
            <p:cNvSpPr>
              <a:spLocks noChangeShapeType="1"/>
            </p:cNvSpPr>
            <p:nvPr/>
          </p:nvSpPr>
          <p:spPr bwMode="auto">
            <a:xfrm>
              <a:off x="1675606"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6" name="Line 14"/>
            <p:cNvSpPr>
              <a:spLocks noChangeShapeType="1"/>
            </p:cNvSpPr>
            <p:nvPr/>
          </p:nvSpPr>
          <p:spPr bwMode="auto">
            <a:xfrm>
              <a:off x="1866504"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7" name="Line 15"/>
            <p:cNvSpPr>
              <a:spLocks noChangeShapeType="1"/>
            </p:cNvSpPr>
            <p:nvPr/>
          </p:nvSpPr>
          <p:spPr bwMode="auto">
            <a:xfrm>
              <a:off x="3005006"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3" name="Line 21"/>
            <p:cNvSpPr>
              <a:spLocks noChangeShapeType="1"/>
            </p:cNvSpPr>
            <p:nvPr/>
          </p:nvSpPr>
          <p:spPr bwMode="auto">
            <a:xfrm flipV="1">
              <a:off x="3101314"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42" name="Text Box 30"/>
            <p:cNvSpPr txBox="1">
              <a:spLocks noChangeArrowheads="1"/>
            </p:cNvSpPr>
            <p:nvPr/>
          </p:nvSpPr>
          <p:spPr bwMode="auto">
            <a:xfrm>
              <a:off x="2681685"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1399</a:t>
              </a:r>
            </a:p>
          </p:txBody>
        </p:sp>
        <p:sp>
          <p:nvSpPr>
            <p:cNvPr id="474145" name="Text Box 33"/>
            <p:cNvSpPr txBox="1">
              <a:spLocks noChangeArrowheads="1"/>
            </p:cNvSpPr>
            <p:nvPr/>
          </p:nvSpPr>
          <p:spPr bwMode="auto">
            <a:xfrm>
              <a:off x="990013" y="5072534"/>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数据报片 </a:t>
              </a:r>
              <a:r>
                <a:rPr kumimoji="1" lang="en-US" altLang="zh-CN" sz="2400" b="1" dirty="0">
                  <a:solidFill>
                    <a:srgbClr val="C00000"/>
                  </a:solidFill>
                  <a:latin typeface="+mn-lt"/>
                  <a:ea typeface="黑体" panose="02010609060101010101" pitchFamily="2" charset="-122"/>
                </a:rPr>
                <a:t>1</a:t>
              </a:r>
            </a:p>
          </p:txBody>
        </p:sp>
        <p:sp>
          <p:nvSpPr>
            <p:cNvPr id="474148" name="Rectangle 36"/>
            <p:cNvSpPr>
              <a:spLocks noChangeArrowheads="1"/>
            </p:cNvSpPr>
            <p:nvPr/>
          </p:nvSpPr>
          <p:spPr bwMode="auto">
            <a:xfrm>
              <a:off x="344488" y="3869208"/>
              <a:ext cx="951045" cy="463550"/>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51"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2"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1" name="Text Box 59"/>
            <p:cNvSpPr txBox="1">
              <a:spLocks noChangeArrowheads="1"/>
            </p:cNvSpPr>
            <p:nvPr/>
          </p:nvSpPr>
          <p:spPr bwMode="auto">
            <a:xfrm>
              <a:off x="344488"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首部 </a:t>
              </a:r>
              <a:r>
                <a:rPr kumimoji="1" lang="en-US" altLang="zh-CN" sz="2000" b="1">
                  <a:solidFill>
                    <a:srgbClr val="0000CC"/>
                  </a:solidFill>
                  <a:latin typeface="+mn-lt"/>
                  <a:ea typeface="黑体" panose="02010609060101010101" pitchFamily="2" charset="-122"/>
                </a:rPr>
                <a:t>1</a:t>
              </a:r>
            </a:p>
          </p:txBody>
        </p:sp>
        <p:sp>
          <p:nvSpPr>
            <p:cNvPr id="474174" name="Line 62"/>
            <p:cNvSpPr>
              <a:spLocks noChangeShapeType="1"/>
            </p:cNvSpPr>
            <p:nvPr/>
          </p:nvSpPr>
          <p:spPr bwMode="auto">
            <a:xfrm flipV="1">
              <a:off x="1384962"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5" name="Text Box 63"/>
            <p:cNvSpPr txBox="1">
              <a:spLocks noChangeArrowheads="1"/>
            </p:cNvSpPr>
            <p:nvPr/>
          </p:nvSpPr>
          <p:spPr bwMode="auto">
            <a:xfrm>
              <a:off x="564621" y="4626446"/>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字节 </a:t>
              </a:r>
              <a:r>
                <a:rPr kumimoji="1" lang="en-US" altLang="zh-CN" sz="2000" b="1">
                  <a:solidFill>
                    <a:srgbClr val="0000CC"/>
                  </a:solidFill>
                  <a:latin typeface="+mn-lt"/>
                  <a:ea typeface="黑体" panose="02010609060101010101" pitchFamily="2" charset="-122"/>
                </a:rPr>
                <a:t>0</a:t>
              </a:r>
            </a:p>
          </p:txBody>
        </p:sp>
      </p:grpSp>
      <p:grpSp>
        <p:nvGrpSpPr>
          <p:cNvPr id="5" name="组合 4"/>
          <p:cNvGrpSpPr/>
          <p:nvPr/>
        </p:nvGrpSpPr>
        <p:grpSpPr>
          <a:xfrm>
            <a:off x="3641329" y="2380134"/>
            <a:ext cx="3360473" cy="3526755"/>
            <a:chOff x="3641329" y="2380134"/>
            <a:chExt cx="3360473" cy="3526755"/>
          </a:xfrm>
        </p:grpSpPr>
        <p:sp>
          <p:nvSpPr>
            <p:cNvPr id="474129" name="Text Box 17"/>
            <p:cNvSpPr txBox="1">
              <a:spLocks noChangeArrowheads="1"/>
            </p:cNvSpPr>
            <p:nvPr/>
          </p:nvSpPr>
          <p:spPr bwMode="auto">
            <a:xfrm>
              <a:off x="3653972" y="5445224"/>
              <a:ext cx="29594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偏移 </a:t>
              </a:r>
              <a:r>
                <a:rPr kumimoji="1" lang="en-US" altLang="zh-CN" sz="2400" b="1">
                  <a:solidFill>
                    <a:srgbClr val="0000CC"/>
                  </a:solidFill>
                  <a:latin typeface="+mn-lt"/>
                  <a:ea typeface="黑体" panose="02010609060101010101" pitchFamily="2" charset="-122"/>
                </a:rPr>
                <a:t>= 1400/8 = 175</a:t>
              </a:r>
            </a:p>
          </p:txBody>
        </p:sp>
        <p:sp>
          <p:nvSpPr>
            <p:cNvPr id="474134" name="Line 22"/>
            <p:cNvSpPr>
              <a:spLocks noChangeShapeType="1"/>
            </p:cNvSpPr>
            <p:nvPr/>
          </p:nvSpPr>
          <p:spPr bwMode="auto">
            <a:xfrm flipV="1">
              <a:off x="4717918"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5" name="Line 23"/>
            <p:cNvSpPr>
              <a:spLocks noChangeShapeType="1"/>
            </p:cNvSpPr>
            <p:nvPr/>
          </p:nvSpPr>
          <p:spPr bwMode="auto">
            <a:xfrm flipV="1">
              <a:off x="6430831"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8" name="Text Box 26"/>
            <p:cNvSpPr txBox="1">
              <a:spLocks noChangeArrowheads="1"/>
            </p:cNvSpPr>
            <p:nvPr/>
          </p:nvSpPr>
          <p:spPr bwMode="auto">
            <a:xfrm>
              <a:off x="4298289" y="4608984"/>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1400</a:t>
              </a:r>
            </a:p>
          </p:txBody>
        </p:sp>
        <p:sp>
          <p:nvSpPr>
            <p:cNvPr id="474141" name="Text Box 29"/>
            <p:cNvSpPr txBox="1">
              <a:spLocks noChangeArrowheads="1"/>
            </p:cNvSpPr>
            <p:nvPr/>
          </p:nvSpPr>
          <p:spPr bwMode="auto">
            <a:xfrm>
              <a:off x="6007763"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2799</a:t>
              </a:r>
            </a:p>
          </p:txBody>
        </p:sp>
        <p:sp>
          <p:nvSpPr>
            <p:cNvPr id="474153" name="Rectangle 41"/>
            <p:cNvSpPr>
              <a:spLocks noChangeArrowheads="1"/>
            </p:cNvSpPr>
            <p:nvPr/>
          </p:nvSpPr>
          <p:spPr bwMode="auto">
            <a:xfrm>
              <a:off x="4625050" y="3869208"/>
              <a:ext cx="1900369" cy="46355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54" name="Line 42"/>
            <p:cNvSpPr>
              <a:spLocks noChangeShapeType="1"/>
            </p:cNvSpPr>
            <p:nvPr/>
          </p:nvSpPr>
          <p:spPr bwMode="auto">
            <a:xfrm>
              <a:off x="4814227"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5" name="Line 43"/>
            <p:cNvSpPr>
              <a:spLocks noChangeShapeType="1"/>
            </p:cNvSpPr>
            <p:nvPr/>
          </p:nvSpPr>
          <p:spPr bwMode="auto">
            <a:xfrm>
              <a:off x="5003404"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6" name="Line 44"/>
            <p:cNvSpPr>
              <a:spLocks noChangeShapeType="1"/>
            </p:cNvSpPr>
            <p:nvPr/>
          </p:nvSpPr>
          <p:spPr bwMode="auto">
            <a:xfrm>
              <a:off x="5194300"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7" name="Line 45"/>
            <p:cNvSpPr>
              <a:spLocks noChangeShapeType="1"/>
            </p:cNvSpPr>
            <p:nvPr/>
          </p:nvSpPr>
          <p:spPr bwMode="auto">
            <a:xfrm>
              <a:off x="6334522"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8" name="Rectangle 46"/>
            <p:cNvSpPr>
              <a:spLocks noChangeArrowheads="1"/>
            </p:cNvSpPr>
            <p:nvPr/>
          </p:nvSpPr>
          <p:spPr bwMode="auto">
            <a:xfrm>
              <a:off x="3674004" y="3869208"/>
              <a:ext cx="951045" cy="463550"/>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59"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0"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2" name="Text Box 60"/>
            <p:cNvSpPr txBox="1">
              <a:spLocks noChangeArrowheads="1"/>
            </p:cNvSpPr>
            <p:nvPr/>
          </p:nvSpPr>
          <p:spPr bwMode="auto">
            <a:xfrm>
              <a:off x="3641329"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首部 </a:t>
              </a:r>
              <a:r>
                <a:rPr kumimoji="1" lang="en-US" altLang="zh-CN" sz="2000" b="1">
                  <a:solidFill>
                    <a:srgbClr val="0000CC"/>
                  </a:solidFill>
                  <a:latin typeface="+mn-lt"/>
                  <a:ea typeface="黑体" panose="02010609060101010101" pitchFamily="2" charset="-122"/>
                </a:rPr>
                <a:t>2</a:t>
              </a:r>
            </a:p>
          </p:txBody>
        </p:sp>
        <p:sp>
          <p:nvSpPr>
            <p:cNvPr id="474176" name="Text Box 64"/>
            <p:cNvSpPr txBox="1">
              <a:spLocks noChangeArrowheads="1"/>
            </p:cNvSpPr>
            <p:nvPr/>
          </p:nvSpPr>
          <p:spPr bwMode="auto">
            <a:xfrm>
              <a:off x="4254178" y="5067770"/>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数据报片 </a:t>
              </a:r>
              <a:r>
                <a:rPr kumimoji="1" lang="en-US" altLang="zh-CN" sz="2400" b="1">
                  <a:solidFill>
                    <a:srgbClr val="C00000"/>
                  </a:solidFill>
                  <a:latin typeface="+mn-lt"/>
                  <a:ea typeface="黑体" panose="02010609060101010101" pitchFamily="2" charset="-122"/>
                </a:rPr>
                <a:t>2</a:t>
              </a:r>
            </a:p>
          </p:txBody>
        </p:sp>
      </p:grpSp>
      <p:grpSp>
        <p:nvGrpSpPr>
          <p:cNvPr id="6" name="组合 5"/>
          <p:cNvGrpSpPr/>
          <p:nvPr/>
        </p:nvGrpSpPr>
        <p:grpSpPr>
          <a:xfrm>
            <a:off x="6897216" y="2380134"/>
            <a:ext cx="2959465" cy="3526755"/>
            <a:chOff x="6897216" y="2380134"/>
            <a:chExt cx="2959465" cy="3526755"/>
          </a:xfrm>
        </p:grpSpPr>
        <p:sp>
          <p:nvSpPr>
            <p:cNvPr id="474130" name="Text Box 18"/>
            <p:cNvSpPr txBox="1">
              <a:spLocks noChangeArrowheads="1"/>
            </p:cNvSpPr>
            <p:nvPr/>
          </p:nvSpPr>
          <p:spPr bwMode="auto">
            <a:xfrm>
              <a:off x="6897216" y="5445224"/>
              <a:ext cx="29594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偏移 </a:t>
              </a:r>
              <a:r>
                <a:rPr kumimoji="1" lang="en-US" altLang="zh-CN" sz="2400" b="1" dirty="0">
                  <a:solidFill>
                    <a:srgbClr val="0000CC"/>
                  </a:solidFill>
                  <a:latin typeface="+mn-lt"/>
                  <a:ea typeface="黑体" panose="02010609060101010101" pitchFamily="2" charset="-122"/>
                </a:rPr>
                <a:t>= 2800/8 = 350</a:t>
              </a:r>
            </a:p>
          </p:txBody>
        </p:sp>
        <p:sp>
          <p:nvSpPr>
            <p:cNvPr id="474136" name="Line 24"/>
            <p:cNvSpPr>
              <a:spLocks noChangeShapeType="1"/>
            </p:cNvSpPr>
            <p:nvPr/>
          </p:nvSpPr>
          <p:spPr bwMode="auto">
            <a:xfrm flipV="1">
              <a:off x="8126545"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7" name="Line 25"/>
            <p:cNvSpPr>
              <a:spLocks noChangeShapeType="1"/>
            </p:cNvSpPr>
            <p:nvPr/>
          </p:nvSpPr>
          <p:spPr bwMode="auto">
            <a:xfrm flipV="1">
              <a:off x="9380273" y="4332759"/>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9" name="Text Box 27"/>
            <p:cNvSpPr txBox="1">
              <a:spLocks noChangeArrowheads="1"/>
            </p:cNvSpPr>
            <p:nvPr/>
          </p:nvSpPr>
          <p:spPr bwMode="auto">
            <a:xfrm>
              <a:off x="7722394" y="4608984"/>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2800</a:t>
              </a:r>
            </a:p>
          </p:txBody>
        </p:sp>
        <p:sp>
          <p:nvSpPr>
            <p:cNvPr id="474140" name="Text Box 28"/>
            <p:cNvSpPr txBox="1">
              <a:spLocks noChangeArrowheads="1"/>
            </p:cNvSpPr>
            <p:nvPr/>
          </p:nvSpPr>
          <p:spPr bwMode="auto">
            <a:xfrm>
              <a:off x="8960644"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3799</a:t>
              </a:r>
            </a:p>
          </p:txBody>
        </p:sp>
        <p:sp>
          <p:nvSpPr>
            <p:cNvPr id="474161" name="Rectangle 49"/>
            <p:cNvSpPr>
              <a:spLocks noChangeArrowheads="1"/>
            </p:cNvSpPr>
            <p:nvPr/>
          </p:nvSpPr>
          <p:spPr bwMode="auto">
            <a:xfrm>
              <a:off x="8047436" y="3869208"/>
              <a:ext cx="1427427" cy="46355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62" name="Line 50"/>
            <p:cNvSpPr>
              <a:spLocks noChangeShapeType="1"/>
            </p:cNvSpPr>
            <p:nvPr/>
          </p:nvSpPr>
          <p:spPr bwMode="auto">
            <a:xfrm>
              <a:off x="8238331"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3" name="Line 51"/>
            <p:cNvSpPr>
              <a:spLocks noChangeShapeType="1"/>
            </p:cNvSpPr>
            <p:nvPr/>
          </p:nvSpPr>
          <p:spPr bwMode="auto">
            <a:xfrm>
              <a:off x="8429229"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4" name="Line 52"/>
            <p:cNvSpPr>
              <a:spLocks noChangeShapeType="1"/>
            </p:cNvSpPr>
            <p:nvPr/>
          </p:nvSpPr>
          <p:spPr bwMode="auto">
            <a:xfrm>
              <a:off x="8620125"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5" name="Line 53"/>
            <p:cNvSpPr>
              <a:spLocks noChangeShapeType="1"/>
            </p:cNvSpPr>
            <p:nvPr/>
          </p:nvSpPr>
          <p:spPr bwMode="auto">
            <a:xfrm>
              <a:off x="9285685" y="3869208"/>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6" name="Rectangle 54"/>
            <p:cNvSpPr>
              <a:spLocks noChangeArrowheads="1"/>
            </p:cNvSpPr>
            <p:nvPr/>
          </p:nvSpPr>
          <p:spPr bwMode="auto">
            <a:xfrm>
              <a:off x="7098110" y="3869208"/>
              <a:ext cx="949325" cy="463550"/>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67"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8"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3" name="Text Box 61"/>
            <p:cNvSpPr txBox="1">
              <a:spLocks noChangeArrowheads="1"/>
            </p:cNvSpPr>
            <p:nvPr/>
          </p:nvSpPr>
          <p:spPr bwMode="auto">
            <a:xfrm>
              <a:off x="7065433"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首部 </a:t>
              </a:r>
              <a:r>
                <a:rPr kumimoji="1" lang="en-US" altLang="zh-CN" sz="2000" b="1">
                  <a:solidFill>
                    <a:srgbClr val="0000CC"/>
                  </a:solidFill>
                  <a:latin typeface="+mn-lt"/>
                  <a:ea typeface="黑体" panose="02010609060101010101" pitchFamily="2" charset="-122"/>
                </a:rPr>
                <a:t>3</a:t>
              </a:r>
            </a:p>
          </p:txBody>
        </p:sp>
        <p:sp>
          <p:nvSpPr>
            <p:cNvPr id="474177" name="Text Box 65"/>
            <p:cNvSpPr txBox="1">
              <a:spLocks noChangeArrowheads="1"/>
            </p:cNvSpPr>
            <p:nvPr/>
          </p:nvSpPr>
          <p:spPr bwMode="auto">
            <a:xfrm>
              <a:off x="7450799" y="5067770"/>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数据报片 </a:t>
              </a:r>
              <a:r>
                <a:rPr kumimoji="1" lang="en-US" altLang="zh-CN" sz="2400" b="1" dirty="0">
                  <a:solidFill>
                    <a:srgbClr val="C00000"/>
                  </a:solidFill>
                  <a:latin typeface="+mn-lt"/>
                  <a:ea typeface="黑体" panose="02010609060101010101" pitchFamily="2" charset="-122"/>
                </a:rPr>
                <a:t>3</a:t>
              </a:r>
            </a:p>
          </p:txBody>
        </p:sp>
      </p:grpSp>
      <p:grpSp>
        <p:nvGrpSpPr>
          <p:cNvPr id="3" name="组合 2"/>
          <p:cNvGrpSpPr/>
          <p:nvPr/>
        </p:nvGrpSpPr>
        <p:grpSpPr>
          <a:xfrm>
            <a:off x="855338" y="1484784"/>
            <a:ext cx="8946531" cy="1589147"/>
            <a:chOff x="855338" y="1484784"/>
            <a:chExt cx="8946531" cy="1589147"/>
          </a:xfrm>
        </p:grpSpPr>
        <p:sp>
          <p:nvSpPr>
            <p:cNvPr id="474116" name="Rectangle 4"/>
            <p:cNvSpPr>
              <a:spLocks noChangeArrowheads="1"/>
            </p:cNvSpPr>
            <p:nvPr/>
          </p:nvSpPr>
          <p:spPr bwMode="auto">
            <a:xfrm>
              <a:off x="3195902" y="1916583"/>
              <a:ext cx="5233327" cy="463550"/>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18" name="Rectangle 6"/>
            <p:cNvSpPr>
              <a:spLocks noChangeArrowheads="1"/>
            </p:cNvSpPr>
            <p:nvPr/>
          </p:nvSpPr>
          <p:spPr bwMode="auto">
            <a:xfrm>
              <a:off x="2244858" y="1916583"/>
              <a:ext cx="6184371" cy="463550"/>
            </a:xfrm>
            <a:prstGeom prst="rect">
              <a:avLst/>
            </a:prstGeom>
            <a:solidFill>
              <a:srgbClr val="CCECFF"/>
            </a:solidFill>
            <a:ln w="19050">
              <a:solidFill>
                <a:schemeClr val="tx1"/>
              </a:solidFill>
              <a:miter lim="800000"/>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4119" name="Line 7"/>
            <p:cNvSpPr>
              <a:spLocks noChangeShapeType="1"/>
            </p:cNvSpPr>
            <p:nvPr/>
          </p:nvSpPr>
          <p:spPr bwMode="auto">
            <a:xfrm>
              <a:off x="3386800"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0" name="Line 8"/>
            <p:cNvSpPr>
              <a:spLocks noChangeShapeType="1"/>
            </p:cNvSpPr>
            <p:nvPr/>
          </p:nvSpPr>
          <p:spPr bwMode="auto">
            <a:xfrm>
              <a:off x="3577696"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1" name="Line 9"/>
            <p:cNvSpPr>
              <a:spLocks noChangeShapeType="1"/>
            </p:cNvSpPr>
            <p:nvPr/>
          </p:nvSpPr>
          <p:spPr bwMode="auto">
            <a:xfrm>
              <a:off x="3768593"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2" name="Line 10"/>
            <p:cNvSpPr>
              <a:spLocks noChangeShapeType="1"/>
            </p:cNvSpPr>
            <p:nvPr/>
          </p:nvSpPr>
          <p:spPr bwMode="auto">
            <a:xfrm>
              <a:off x="8238331"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28" name="Text Box 16"/>
            <p:cNvSpPr txBox="1">
              <a:spLocks noChangeArrowheads="1"/>
            </p:cNvSpPr>
            <p:nvPr/>
          </p:nvSpPr>
          <p:spPr bwMode="auto">
            <a:xfrm>
              <a:off x="8455025" y="1810221"/>
              <a:ext cx="1346844"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偏移 </a:t>
              </a:r>
              <a:r>
                <a:rPr kumimoji="1" lang="en-US" altLang="zh-CN" sz="2000" b="1">
                  <a:solidFill>
                    <a:srgbClr val="0000CC"/>
                  </a:solidFill>
                  <a:latin typeface="+mn-lt"/>
                  <a:ea typeface="黑体" panose="02010609060101010101" pitchFamily="2" charset="-122"/>
                </a:rPr>
                <a:t>= 0/8</a:t>
              </a:r>
            </a:p>
            <a:p>
              <a:pPr>
                <a:lnSpc>
                  <a:spcPct val="90000"/>
                </a:lnSpc>
              </a:pPr>
              <a:r>
                <a:rPr kumimoji="1" lang="en-US" altLang="zh-CN" sz="2000" b="1">
                  <a:solidFill>
                    <a:srgbClr val="0000CC"/>
                  </a:solidFill>
                  <a:latin typeface="+mn-lt"/>
                  <a:ea typeface="黑体" panose="02010609060101010101" pitchFamily="2" charset="-122"/>
                </a:rPr>
                <a:t>= 0</a:t>
              </a:r>
            </a:p>
          </p:txBody>
        </p:sp>
        <p:sp>
          <p:nvSpPr>
            <p:cNvPr id="474131" name="Line 19"/>
            <p:cNvSpPr>
              <a:spLocks noChangeShapeType="1"/>
            </p:cNvSpPr>
            <p:nvPr/>
          </p:nvSpPr>
          <p:spPr bwMode="auto">
            <a:xfrm flipV="1">
              <a:off x="8317442" y="2380134"/>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32" name="Line 20"/>
            <p:cNvSpPr>
              <a:spLocks noChangeShapeType="1"/>
            </p:cNvSpPr>
            <p:nvPr/>
          </p:nvSpPr>
          <p:spPr bwMode="auto">
            <a:xfrm flipV="1">
              <a:off x="3287052" y="2380134"/>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43" name="Text Box 31"/>
            <p:cNvSpPr txBox="1">
              <a:spLocks noChangeArrowheads="1"/>
            </p:cNvSpPr>
            <p:nvPr/>
          </p:nvSpPr>
          <p:spPr bwMode="auto">
            <a:xfrm>
              <a:off x="7913291" y="263413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3799</a:t>
              </a:r>
            </a:p>
          </p:txBody>
        </p:sp>
        <p:sp>
          <p:nvSpPr>
            <p:cNvPr id="474144" name="Text Box 32"/>
            <p:cNvSpPr txBox="1">
              <a:spLocks noChangeArrowheads="1"/>
            </p:cNvSpPr>
            <p:nvPr/>
          </p:nvSpPr>
          <p:spPr bwMode="auto">
            <a:xfrm>
              <a:off x="855338" y="1737196"/>
              <a:ext cx="121058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anose="02010609060101010101" pitchFamily="2" charset="-122"/>
                </a:rPr>
                <a:t>需分片的</a:t>
              </a:r>
            </a:p>
            <a:p>
              <a:pPr algn="ctr"/>
              <a:r>
                <a:rPr kumimoji="1" lang="zh-CN" altLang="en-US" sz="2000" b="1" dirty="0">
                  <a:solidFill>
                    <a:srgbClr val="C00000"/>
                  </a:solidFill>
                  <a:latin typeface="+mn-lt"/>
                  <a:ea typeface="黑体" panose="02010609060101010101" pitchFamily="2" charset="-122"/>
                </a:rPr>
                <a:t>数据报</a:t>
              </a:r>
            </a:p>
          </p:txBody>
        </p:sp>
        <p:sp>
          <p:nvSpPr>
            <p:cNvPr id="474188" name="Rectangle 76"/>
            <p:cNvSpPr>
              <a:spLocks noChangeArrowheads="1"/>
            </p:cNvSpPr>
            <p:nvPr/>
          </p:nvSpPr>
          <p:spPr bwMode="auto">
            <a:xfrm>
              <a:off x="2267215" y="1934045"/>
              <a:ext cx="925248" cy="414835"/>
            </a:xfrm>
            <a:prstGeom prst="rect">
              <a:avLst/>
            </a:prstGeom>
            <a:solidFill>
              <a:srgbClr val="FF99FF"/>
            </a:solidFill>
            <a:ln>
              <a:noFill/>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474146" name="Text Box 34"/>
            <p:cNvSpPr txBox="1">
              <a:spLocks noChangeArrowheads="1"/>
            </p:cNvSpPr>
            <p:nvPr/>
          </p:nvSpPr>
          <p:spPr bwMode="auto">
            <a:xfrm>
              <a:off x="2344606" y="1948770"/>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首部</a:t>
              </a:r>
            </a:p>
          </p:txBody>
        </p:sp>
        <p:sp>
          <p:nvSpPr>
            <p:cNvPr id="474147" name="Line 35"/>
            <p:cNvSpPr>
              <a:spLocks noChangeShapeType="1"/>
            </p:cNvSpPr>
            <p:nvPr/>
          </p:nvSpPr>
          <p:spPr bwMode="auto">
            <a:xfrm>
              <a:off x="3195902"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49" name="Line 37"/>
            <p:cNvSpPr>
              <a:spLocks noChangeShapeType="1"/>
            </p:cNvSpPr>
            <p:nvPr/>
          </p:nvSpPr>
          <p:spPr bwMode="auto">
            <a:xfrm>
              <a:off x="5099712"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50" name="Line 38"/>
            <p:cNvSpPr>
              <a:spLocks noChangeShapeType="1"/>
            </p:cNvSpPr>
            <p:nvPr/>
          </p:nvSpPr>
          <p:spPr bwMode="auto">
            <a:xfrm>
              <a:off x="7001802"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69" name="Line 57"/>
            <p:cNvSpPr>
              <a:spLocks noChangeShapeType="1"/>
            </p:cNvSpPr>
            <p:nvPr/>
          </p:nvSpPr>
          <p:spPr bwMode="auto">
            <a:xfrm>
              <a:off x="3178705" y="1691158"/>
              <a:ext cx="523160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0" name="Text Box 58"/>
            <p:cNvSpPr txBox="1">
              <a:spLocks noChangeArrowheads="1"/>
            </p:cNvSpPr>
            <p:nvPr/>
          </p:nvSpPr>
          <p:spPr bwMode="auto">
            <a:xfrm>
              <a:off x="4150387" y="1484784"/>
              <a:ext cx="2770310"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数据部分共 </a:t>
              </a:r>
              <a:r>
                <a:rPr kumimoji="1" lang="en-US" altLang="zh-CN" sz="2000" b="1">
                  <a:solidFill>
                    <a:srgbClr val="0000CC"/>
                  </a:solidFill>
                  <a:latin typeface="+mn-lt"/>
                  <a:ea typeface="黑体" panose="02010609060101010101" pitchFamily="2" charset="-122"/>
                </a:rPr>
                <a:t>3800 </a:t>
              </a:r>
              <a:r>
                <a:rPr kumimoji="1" lang="zh-CN" altLang="en-US" sz="2000" b="1">
                  <a:solidFill>
                    <a:srgbClr val="0000CC"/>
                  </a:solidFill>
                  <a:latin typeface="+mn-lt"/>
                  <a:ea typeface="黑体" panose="02010609060101010101" pitchFamily="2" charset="-122"/>
                </a:rPr>
                <a:t>字节</a:t>
              </a:r>
            </a:p>
          </p:txBody>
        </p:sp>
        <p:sp>
          <p:nvSpPr>
            <p:cNvPr id="474178" name="Line 66"/>
            <p:cNvSpPr>
              <a:spLocks noChangeShapeType="1"/>
            </p:cNvSpPr>
            <p:nvPr/>
          </p:nvSpPr>
          <p:spPr bwMode="auto">
            <a:xfrm flipV="1">
              <a:off x="5177102" y="2380134"/>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79" name="Text Box 67"/>
            <p:cNvSpPr txBox="1">
              <a:spLocks noChangeArrowheads="1"/>
            </p:cNvSpPr>
            <p:nvPr/>
          </p:nvSpPr>
          <p:spPr bwMode="auto">
            <a:xfrm>
              <a:off x="4757474" y="265318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1400</a:t>
              </a:r>
            </a:p>
          </p:txBody>
        </p:sp>
        <p:sp>
          <p:nvSpPr>
            <p:cNvPr id="474180" name="Line 68"/>
            <p:cNvSpPr>
              <a:spLocks noChangeShapeType="1"/>
            </p:cNvSpPr>
            <p:nvPr/>
          </p:nvSpPr>
          <p:spPr bwMode="auto">
            <a:xfrm flipV="1">
              <a:off x="7080912" y="2380134"/>
              <a:ext cx="0" cy="369887"/>
            </a:xfrm>
            <a:prstGeom prst="line">
              <a:avLst/>
            </a:prstGeom>
            <a:noFill/>
            <a:ln w="1905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81" name="Text Box 69"/>
            <p:cNvSpPr txBox="1">
              <a:spLocks noChangeArrowheads="1"/>
            </p:cNvSpPr>
            <p:nvPr/>
          </p:nvSpPr>
          <p:spPr bwMode="auto">
            <a:xfrm>
              <a:off x="6676761" y="265318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2800</a:t>
              </a:r>
            </a:p>
          </p:txBody>
        </p:sp>
        <p:sp>
          <p:nvSpPr>
            <p:cNvPr id="474182" name="Line 70"/>
            <p:cNvSpPr>
              <a:spLocks noChangeShapeType="1"/>
            </p:cNvSpPr>
            <p:nvPr/>
          </p:nvSpPr>
          <p:spPr bwMode="auto">
            <a:xfrm>
              <a:off x="7190979"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83" name="Line 71"/>
            <p:cNvSpPr>
              <a:spLocks noChangeShapeType="1"/>
            </p:cNvSpPr>
            <p:nvPr/>
          </p:nvSpPr>
          <p:spPr bwMode="auto">
            <a:xfrm>
              <a:off x="5290608" y="1916583"/>
              <a:ext cx="0" cy="463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74184" name="Text Box 72"/>
            <p:cNvSpPr txBox="1">
              <a:spLocks noChangeArrowheads="1"/>
            </p:cNvSpPr>
            <p:nvPr/>
          </p:nvSpPr>
          <p:spPr bwMode="auto">
            <a:xfrm>
              <a:off x="2468431" y="2673821"/>
              <a:ext cx="914033"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字节 </a:t>
              </a:r>
              <a:r>
                <a:rPr kumimoji="1" lang="en-US" altLang="zh-CN" sz="2000" b="1">
                  <a:solidFill>
                    <a:srgbClr val="0000CC"/>
                  </a:solidFill>
                  <a:latin typeface="+mn-lt"/>
                  <a:ea typeface="黑体" panose="02010609060101010101" pitchFamily="2" charset="-122"/>
                </a:rPr>
                <a:t>0</a:t>
              </a:r>
            </a:p>
          </p:txBody>
        </p:sp>
      </p:grpSp>
      <p:sp>
        <p:nvSpPr>
          <p:cNvPr id="474186" name="Rectangle 74"/>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en-US" altLang="zh-CN" dirty="0"/>
              <a:t>【</a:t>
            </a:r>
            <a:r>
              <a:rPr lang="zh-CN" altLang="en-US" dirty="0"/>
              <a:t>例</a:t>
            </a:r>
            <a:r>
              <a:rPr lang="en-US" altLang="zh-CN" dirty="0"/>
              <a:t>4-1】 IP </a:t>
            </a:r>
            <a:r>
              <a:rPr lang="zh-CN" altLang="en-US" dirty="0"/>
              <a:t>数据报分片</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2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【例</a:t>
            </a:r>
            <a:r>
              <a:rPr lang="en-US" altLang="zh-CN" dirty="0"/>
              <a:t>4-1</a:t>
            </a:r>
            <a:r>
              <a:rPr lang="zh-CN" altLang="zh-CN" dirty="0"/>
              <a:t>】</a:t>
            </a:r>
            <a:r>
              <a:rPr lang="en-US" altLang="zh-CN" dirty="0"/>
              <a:t> IP </a:t>
            </a:r>
            <a:r>
              <a:rPr lang="zh-CN" altLang="en-US" dirty="0"/>
              <a:t>数据报分片</a:t>
            </a:r>
          </a:p>
        </p:txBody>
      </p:sp>
      <p:graphicFrame>
        <p:nvGraphicFramePr>
          <p:cNvPr id="3" name="表格 2"/>
          <p:cNvGraphicFramePr>
            <a:graphicFrameLocks noGrp="1"/>
          </p:cNvGraphicFramePr>
          <p:nvPr>
            <p:custDataLst>
              <p:tags r:id="rId1"/>
            </p:custDataLst>
          </p:nvPr>
        </p:nvGraphicFramePr>
        <p:xfrm>
          <a:off x="488504" y="1988840"/>
          <a:ext cx="9217022" cy="3168350"/>
        </p:xfrm>
        <a:graphic>
          <a:graphicData uri="http://schemas.openxmlformats.org/drawingml/2006/table">
            <a:tbl>
              <a:tblPr>
                <a:tableStyleId>{5C22544A-7EE6-4342-B048-85BDC9FD1C3A}</a:tableStyleId>
              </a:tblPr>
              <a:tblGrid>
                <a:gridCol w="1944072">
                  <a:extLst>
                    <a:ext uri="{9D8B030D-6E8A-4147-A177-3AD203B41FA5}">
                      <a16:colId xmlns:a16="http://schemas.microsoft.com/office/drawing/2014/main" val="20000"/>
                    </a:ext>
                  </a:extLst>
                </a:gridCol>
                <a:gridCol w="1454590">
                  <a:extLst>
                    <a:ext uri="{9D8B030D-6E8A-4147-A177-3AD203B41FA5}">
                      <a16:colId xmlns:a16="http://schemas.microsoft.com/office/drawing/2014/main" val="20001"/>
                    </a:ext>
                  </a:extLst>
                </a:gridCol>
                <a:gridCol w="1454590">
                  <a:extLst>
                    <a:ext uri="{9D8B030D-6E8A-4147-A177-3AD203B41FA5}">
                      <a16:colId xmlns:a16="http://schemas.microsoft.com/office/drawing/2014/main" val="20002"/>
                    </a:ext>
                  </a:extLst>
                </a:gridCol>
                <a:gridCol w="1454590">
                  <a:extLst>
                    <a:ext uri="{9D8B030D-6E8A-4147-A177-3AD203B41FA5}">
                      <a16:colId xmlns:a16="http://schemas.microsoft.com/office/drawing/2014/main" val="20003"/>
                    </a:ext>
                  </a:extLst>
                </a:gridCol>
                <a:gridCol w="1454590">
                  <a:extLst>
                    <a:ext uri="{9D8B030D-6E8A-4147-A177-3AD203B41FA5}">
                      <a16:colId xmlns:a16="http://schemas.microsoft.com/office/drawing/2014/main" val="20004"/>
                    </a:ext>
                  </a:extLst>
                </a:gridCol>
                <a:gridCol w="1454590">
                  <a:extLst>
                    <a:ext uri="{9D8B030D-6E8A-4147-A177-3AD203B41FA5}">
                      <a16:colId xmlns:a16="http://schemas.microsoft.com/office/drawing/2014/main" val="20005"/>
                    </a:ext>
                  </a:extLst>
                </a:gridCol>
              </a:tblGrid>
              <a:tr h="633670">
                <a:tc>
                  <a:txBody>
                    <a:bodyPr/>
                    <a:lstStyle/>
                    <a:p>
                      <a:pPr algn="just">
                        <a:lnSpc>
                          <a:spcPct val="100000"/>
                        </a:lnSpc>
                        <a:spcAft>
                          <a:spcPts val="0"/>
                        </a:spcAft>
                      </a:pPr>
                      <a:r>
                        <a:rPr lang="en-US" sz="2800" b="1" dirty="0">
                          <a:solidFill>
                            <a:schemeClr val="tx1"/>
                          </a:solidFill>
                          <a:effectLst/>
                          <a:latin typeface="+mn-lt"/>
                          <a:ea typeface="黑体" panose="02010609060101010101" pitchFamily="2" charset="-122"/>
                        </a:rPr>
                        <a:t> </a:t>
                      </a:r>
                      <a:endParaRPr lang="zh-CN" sz="2800" b="1" dirty="0">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anose="02010609060101010101" pitchFamily="2" charset="-122"/>
                        </a:rPr>
                        <a:t>总长度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anose="02010609060101010101" pitchFamily="2" charset="-122"/>
                        </a:rPr>
                        <a:t>标识</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MF</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DF</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anose="02010609060101010101" pitchFamily="2" charset="-122"/>
                        </a:rPr>
                        <a:t>片偏移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633670">
                <a:tc>
                  <a:txBody>
                    <a:bodyPr/>
                    <a:lstStyle/>
                    <a:p>
                      <a:pPr algn="just">
                        <a:lnSpc>
                          <a:spcPct val="100000"/>
                        </a:lnSpc>
                        <a:spcAft>
                          <a:spcPts val="0"/>
                        </a:spcAft>
                      </a:pPr>
                      <a:r>
                        <a:rPr lang="zh-CN" sz="2800" b="1" dirty="0">
                          <a:solidFill>
                            <a:srgbClr val="C00000"/>
                          </a:solidFill>
                          <a:effectLst/>
                          <a:latin typeface="+mn-lt"/>
                          <a:ea typeface="黑体" panose="02010609060101010101" pitchFamily="2" charset="-122"/>
                        </a:rPr>
                        <a:t>原始数据报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2800" b="1" dirty="0">
                          <a:solidFill>
                            <a:schemeClr val="tx1"/>
                          </a:solidFill>
                          <a:effectLst/>
                          <a:latin typeface="+mn-lt"/>
                          <a:ea typeface="黑体" panose="02010609060101010101" pitchFamily="2" charset="-122"/>
                        </a:rPr>
                        <a:t>3820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12345</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633670">
                <a:tc>
                  <a:txBody>
                    <a:bodyPr/>
                    <a:lstStyle/>
                    <a:p>
                      <a:pPr algn="just">
                        <a:lnSpc>
                          <a:spcPct val="100000"/>
                        </a:lnSpc>
                        <a:spcAft>
                          <a:spcPts val="0"/>
                        </a:spcAft>
                      </a:pPr>
                      <a:r>
                        <a:rPr lang="zh-CN" sz="2800" b="1">
                          <a:solidFill>
                            <a:srgbClr val="C00000"/>
                          </a:solidFill>
                          <a:effectLst/>
                          <a:latin typeface="+mn-lt"/>
                          <a:ea typeface="黑体" panose="02010609060101010101" pitchFamily="2" charset="-122"/>
                        </a:rPr>
                        <a:t>数据报片</a:t>
                      </a:r>
                      <a:r>
                        <a:rPr lang="en-US" sz="2800" b="1">
                          <a:solidFill>
                            <a:srgbClr val="C00000"/>
                          </a:solidFill>
                          <a:effectLst/>
                          <a:latin typeface="+mn-lt"/>
                          <a:ea typeface="黑体" panose="02010609060101010101" pitchFamily="2" charset="-122"/>
                        </a:rPr>
                        <a:t>1</a:t>
                      </a:r>
                      <a:endParaRPr lang="zh-CN" sz="2800" b="1">
                        <a:solidFill>
                          <a:srgbClr val="C00000"/>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1420</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12345</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1</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33670">
                <a:tc>
                  <a:txBody>
                    <a:bodyPr/>
                    <a:lstStyle/>
                    <a:p>
                      <a:pPr algn="just">
                        <a:lnSpc>
                          <a:spcPct val="100000"/>
                        </a:lnSpc>
                        <a:spcAft>
                          <a:spcPts val="0"/>
                        </a:spcAft>
                      </a:pPr>
                      <a:r>
                        <a:rPr lang="zh-CN" sz="2800" b="1" dirty="0">
                          <a:solidFill>
                            <a:srgbClr val="C00000"/>
                          </a:solidFill>
                          <a:effectLst/>
                          <a:latin typeface="+mn-lt"/>
                          <a:ea typeface="黑体" panose="02010609060101010101" pitchFamily="2" charset="-122"/>
                        </a:rPr>
                        <a:t>数据报片</a:t>
                      </a:r>
                      <a:r>
                        <a:rPr lang="en-US" sz="2800" b="1" dirty="0">
                          <a:solidFill>
                            <a:srgbClr val="C00000"/>
                          </a:solidFill>
                          <a:effectLst/>
                          <a:latin typeface="+mn-lt"/>
                          <a:ea typeface="黑体" panose="02010609060101010101" pitchFamily="2" charset="-122"/>
                        </a:rPr>
                        <a:t>2</a:t>
                      </a:r>
                      <a:endParaRPr lang="zh-CN" sz="2800" b="1" dirty="0">
                        <a:solidFill>
                          <a:srgbClr val="C00000"/>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1420</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12345</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1</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175</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33670">
                <a:tc>
                  <a:txBody>
                    <a:bodyPr/>
                    <a:lstStyle/>
                    <a:p>
                      <a:pPr algn="just">
                        <a:lnSpc>
                          <a:spcPct val="100000"/>
                        </a:lnSpc>
                        <a:spcAft>
                          <a:spcPts val="0"/>
                        </a:spcAft>
                      </a:pPr>
                      <a:r>
                        <a:rPr lang="zh-CN" sz="2800" b="1" dirty="0">
                          <a:solidFill>
                            <a:srgbClr val="C00000"/>
                          </a:solidFill>
                          <a:effectLst/>
                          <a:latin typeface="+mn-lt"/>
                          <a:ea typeface="黑体" panose="02010609060101010101" pitchFamily="2" charset="-122"/>
                        </a:rPr>
                        <a:t>数据报片</a:t>
                      </a:r>
                      <a:r>
                        <a:rPr lang="en-US" sz="2800" b="1" dirty="0">
                          <a:solidFill>
                            <a:srgbClr val="C00000"/>
                          </a:solidFill>
                          <a:effectLst/>
                          <a:latin typeface="+mn-lt"/>
                          <a:ea typeface="黑体" panose="02010609060101010101" pitchFamily="2" charset="-122"/>
                        </a:rPr>
                        <a:t>3</a:t>
                      </a:r>
                      <a:endParaRPr lang="zh-CN" sz="2800" b="1" dirty="0">
                        <a:solidFill>
                          <a:srgbClr val="C00000"/>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kern="1200" dirty="0">
                          <a:solidFill>
                            <a:schemeClr val="tx1"/>
                          </a:solidFill>
                          <a:effectLst/>
                          <a:latin typeface="+mn-lt"/>
                          <a:ea typeface="黑体" panose="02010609060101010101" pitchFamily="2" charset="-122"/>
                          <a:cs typeface="+mn-cs"/>
                        </a:rPr>
                        <a:t>1020</a:t>
                      </a:r>
                      <a:endParaRPr lang="zh-CN" sz="2800" b="1" kern="1200" dirty="0">
                        <a:solidFill>
                          <a:schemeClr val="tx1"/>
                        </a:solidFill>
                        <a:effectLst/>
                        <a:latin typeface="+mn-lt"/>
                        <a:ea typeface="黑体" panose="02010609060101010101"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12345</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anose="02010609060101010101" pitchFamily="2" charset="-122"/>
                        </a:rPr>
                        <a:t>0</a:t>
                      </a:r>
                      <a:endParaRPr lang="zh-CN" sz="28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anose="02010609060101010101" pitchFamily="2" charset="-122"/>
                        </a:rPr>
                        <a:t>350</a:t>
                      </a:r>
                      <a:endParaRPr lang="zh-CN" sz="28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4" name="Rectangle 1"/>
          <p:cNvSpPr>
            <a:spLocks noChangeArrowheads="1"/>
          </p:cNvSpPr>
          <p:nvPr/>
        </p:nvSpPr>
        <p:spPr bwMode="auto">
          <a:xfrm>
            <a:off x="1354065" y="1455167"/>
            <a:ext cx="7560840" cy="461665"/>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pPr algn="ctr"/>
            <a:r>
              <a:rPr lang="en-US" altLang="zh-CN" sz="2400" b="1" dirty="0">
                <a:latin typeface="+mn-lt"/>
                <a:ea typeface="黑体" panose="02010609060101010101" pitchFamily="2" charset="-122"/>
              </a:rPr>
              <a:t>IP </a:t>
            </a:r>
            <a:r>
              <a:rPr lang="zh-CN" altLang="en-US" sz="2400" b="1" dirty="0">
                <a:latin typeface="+mn-lt"/>
                <a:ea typeface="黑体" panose="02010609060101010101" pitchFamily="2" charset="-122"/>
              </a:rPr>
              <a:t>数据报首部中与分片有关的字段中的数值</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0161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5737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59997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59045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4475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4130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8421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2871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6686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1136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59839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59839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49374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59839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0660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5082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2537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0162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0644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0644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0162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2537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2537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016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3517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0644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652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0655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3517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19675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063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7646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8599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7810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6981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4125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7" name="组合 56"/>
          <p:cNvGrpSpPr/>
          <p:nvPr/>
        </p:nvGrpSpPr>
        <p:grpSpPr>
          <a:xfrm>
            <a:off x="1144243" y="2466753"/>
            <a:ext cx="6932988" cy="3494880"/>
            <a:chOff x="1144243" y="2238376"/>
            <a:chExt cx="6932988" cy="3494880"/>
          </a:xfrm>
        </p:grpSpPr>
        <p:sp>
          <p:nvSpPr>
            <p:cNvPr id="58" name="Text Box 74"/>
            <p:cNvSpPr txBox="1">
              <a:spLocks noChangeArrowheads="1"/>
            </p:cNvSpPr>
            <p:nvPr/>
          </p:nvSpPr>
          <p:spPr bwMode="auto">
            <a:xfrm>
              <a:off x="1144243" y="4902259"/>
              <a:ext cx="693298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生存时间</a:t>
              </a:r>
              <a:r>
                <a:rPr lang="en-US" altLang="zh-CN" dirty="0"/>
                <a:t>——</a:t>
              </a:r>
              <a:r>
                <a:rPr lang="zh-CN" altLang="en-US" dirty="0"/>
                <a:t>占</a:t>
              </a:r>
              <a:r>
                <a:rPr lang="en-US" altLang="zh-CN" dirty="0"/>
                <a:t>8 </a:t>
              </a:r>
              <a:r>
                <a:rPr lang="zh-CN" altLang="en-US" dirty="0"/>
                <a:t>位，记为 </a:t>
              </a:r>
              <a:r>
                <a:rPr lang="en-US" altLang="zh-CN" dirty="0"/>
                <a:t>TTL (Time To Live)</a:t>
              </a:r>
              <a:r>
                <a:rPr lang="zh-CN" altLang="en-US" dirty="0"/>
                <a:t>，</a:t>
              </a:r>
              <a:endParaRPr lang="en-US" altLang="zh-CN" dirty="0"/>
            </a:p>
            <a:p>
              <a:r>
                <a:rPr lang="zh-CN" altLang="en-US" dirty="0"/>
                <a:t>指示数据报在网络中可通过的路由器数的最大值。</a:t>
              </a:r>
            </a:p>
          </p:txBody>
        </p:sp>
        <p:sp>
          <p:nvSpPr>
            <p:cNvPr id="59" name="Rectangle 75"/>
            <p:cNvSpPr>
              <a:spLocks noChangeArrowheads="1"/>
            </p:cNvSpPr>
            <p:nvPr/>
          </p:nvSpPr>
          <p:spPr bwMode="auto">
            <a:xfrm>
              <a:off x="1209014" y="2238376"/>
              <a:ext cx="2117063" cy="481013"/>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5" name="标题 4"/>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5318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0" name="Group 77"/>
          <p:cNvGrpSpPr/>
          <p:nvPr/>
        </p:nvGrpSpPr>
        <p:grpSpPr bwMode="auto">
          <a:xfrm>
            <a:off x="1332839" y="2478682"/>
            <a:ext cx="8267039" cy="3830638"/>
            <a:chOff x="775" y="1410"/>
            <a:chExt cx="4807" cy="2413"/>
          </a:xfrm>
        </p:grpSpPr>
        <p:sp>
          <p:nvSpPr>
            <p:cNvPr id="61" name="Text Box 74"/>
            <p:cNvSpPr txBox="1">
              <a:spLocks noChangeArrowheads="1"/>
            </p:cNvSpPr>
            <p:nvPr/>
          </p:nvSpPr>
          <p:spPr bwMode="auto">
            <a:xfrm>
              <a:off x="775" y="3067"/>
              <a:ext cx="4807"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协议</a:t>
              </a:r>
              <a:r>
                <a:rPr lang="en-US" altLang="zh-CN" dirty="0"/>
                <a:t>——</a:t>
              </a:r>
              <a:r>
                <a:rPr lang="zh-CN" altLang="en-US" dirty="0"/>
                <a:t>占</a:t>
              </a:r>
              <a:r>
                <a:rPr lang="en-US" altLang="zh-CN" dirty="0"/>
                <a:t>8</a:t>
              </a:r>
              <a:r>
                <a:rPr lang="zh-CN" altLang="en-US" dirty="0"/>
                <a:t>位，指出此数据报携带的数据使用何种协议，</a:t>
              </a:r>
              <a:endParaRPr lang="en-US" altLang="zh-CN" dirty="0"/>
            </a:p>
            <a:p>
              <a:r>
                <a:rPr lang="zh-CN" altLang="en-US" dirty="0"/>
                <a:t>以便目的主机的 </a:t>
              </a:r>
              <a:r>
                <a:rPr lang="en-US" altLang="zh-CN" dirty="0"/>
                <a:t>IP </a:t>
              </a:r>
              <a:r>
                <a:rPr lang="zh-CN" altLang="en-US" dirty="0"/>
                <a:t>层将数据部分</a:t>
              </a:r>
              <a:endParaRPr lang="en-US" altLang="zh-CN" dirty="0"/>
            </a:p>
            <a:p>
              <a:r>
                <a:rPr lang="zh-CN" altLang="en-US" dirty="0"/>
                <a:t>上交给那个处理过程</a:t>
              </a:r>
            </a:p>
          </p:txBody>
        </p:sp>
        <p:sp>
          <p:nvSpPr>
            <p:cNvPr id="62" name="Rectangle 75"/>
            <p:cNvSpPr>
              <a:spLocks noChangeArrowheads="1"/>
            </p:cNvSpPr>
            <p:nvPr/>
          </p:nvSpPr>
          <p:spPr bwMode="auto">
            <a:xfrm>
              <a:off x="1971" y="1410"/>
              <a:ext cx="1227" cy="30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2" name="Rectangle 4"/>
          <p:cNvSpPr>
            <a:spLocks noChangeArrowheads="1"/>
          </p:cNvSpPr>
          <p:nvPr/>
        </p:nvSpPr>
        <p:spPr bwMode="auto">
          <a:xfrm>
            <a:off x="342982" y="2133600"/>
            <a:ext cx="9362546" cy="628650"/>
          </a:xfrm>
          <a:prstGeom prst="rect">
            <a:avLst/>
          </a:prstGeom>
          <a:solidFill>
            <a:srgbClr val="FFFF99"/>
          </a:solidFill>
          <a:ln w="28575">
            <a:solidFill>
              <a:schemeClr val="tx1"/>
            </a:solidFill>
            <a:miter lim="800000"/>
          </a:ln>
          <a:effectLst>
            <a:outerShdw dist="35921" dir="2700000" algn="ctr" rotWithShape="0">
              <a:schemeClr val="bg2"/>
            </a:outerShdw>
          </a:effectLst>
        </p:spPr>
        <p:txBody>
          <a:bodyPr wrap="none" anchor="ctr"/>
          <a:lstStyle/>
          <a:p>
            <a:pPr algn="ctr"/>
            <a:endParaRPr kumimoji="1" lang="zh-CN" altLang="zh-CN" sz="3200" b="1">
              <a:solidFill>
                <a:srgbClr val="000099"/>
              </a:solidFill>
              <a:latin typeface="+mn-lt"/>
              <a:ea typeface="黑体" panose="02010609060101010101" pitchFamily="2" charset="-122"/>
            </a:endParaRPr>
          </a:p>
        </p:txBody>
      </p:sp>
      <p:sp>
        <p:nvSpPr>
          <p:cNvPr id="478213" name="Rectangle 5"/>
          <p:cNvSpPr>
            <a:spLocks noChangeArrowheads="1"/>
          </p:cNvSpPr>
          <p:nvPr/>
        </p:nvSpPr>
        <p:spPr bwMode="auto">
          <a:xfrm>
            <a:off x="342982" y="2762251"/>
            <a:ext cx="9362546" cy="1743075"/>
          </a:xfrm>
          <a:prstGeom prst="rect">
            <a:avLst/>
          </a:prstGeom>
          <a:solidFill>
            <a:srgbClr val="CCECFF"/>
          </a:solidFill>
          <a:ln w="2857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478219" name="Rectangle 11"/>
          <p:cNvSpPr>
            <a:spLocks noChangeArrowheads="1"/>
          </p:cNvSpPr>
          <p:nvPr/>
        </p:nvSpPr>
        <p:spPr bwMode="auto">
          <a:xfrm>
            <a:off x="1920032" y="3390901"/>
            <a:ext cx="6208448" cy="487363"/>
          </a:xfrm>
          <a:prstGeom prst="rect">
            <a:avLst/>
          </a:prstGeom>
          <a:solidFill>
            <a:srgbClr val="FFCCFF"/>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14" name="Rectangle 6"/>
          <p:cNvSpPr>
            <a:spLocks noChangeArrowheads="1"/>
          </p:cNvSpPr>
          <p:nvPr/>
        </p:nvSpPr>
        <p:spPr bwMode="auto">
          <a:xfrm>
            <a:off x="1959586" y="3425825"/>
            <a:ext cx="1350037" cy="446088"/>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15" name="Text Box 7"/>
          <p:cNvSpPr txBox="1">
            <a:spLocks noChangeArrowheads="1"/>
          </p:cNvSpPr>
          <p:nvPr/>
        </p:nvSpPr>
        <p:spPr bwMode="auto">
          <a:xfrm>
            <a:off x="560512" y="2215555"/>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99"/>
                </a:solidFill>
                <a:latin typeface="+mn-lt"/>
                <a:ea typeface="黑体" panose="02010609060101010101" pitchFamily="2" charset="-122"/>
              </a:rPr>
              <a:t>运输层</a:t>
            </a:r>
          </a:p>
        </p:txBody>
      </p:sp>
      <p:sp>
        <p:nvSpPr>
          <p:cNvPr id="478216" name="Text Box 8"/>
          <p:cNvSpPr txBox="1">
            <a:spLocks noChangeArrowheads="1"/>
          </p:cNvSpPr>
          <p:nvPr/>
        </p:nvSpPr>
        <p:spPr bwMode="auto">
          <a:xfrm>
            <a:off x="560512" y="3255367"/>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99"/>
                </a:solidFill>
                <a:latin typeface="+mn-lt"/>
                <a:ea typeface="黑体" panose="02010609060101010101" pitchFamily="2" charset="-122"/>
              </a:rPr>
              <a:t>网络层</a:t>
            </a:r>
          </a:p>
        </p:txBody>
      </p:sp>
      <p:sp>
        <p:nvSpPr>
          <p:cNvPr id="478217" name="Line 9"/>
          <p:cNvSpPr>
            <a:spLocks noChangeShapeType="1"/>
          </p:cNvSpPr>
          <p:nvPr/>
        </p:nvSpPr>
        <p:spPr bwMode="auto">
          <a:xfrm>
            <a:off x="3309623" y="3390901"/>
            <a:ext cx="0" cy="48736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18" name="Text Box 10"/>
          <p:cNvSpPr txBox="1">
            <a:spLocks noChangeArrowheads="1"/>
          </p:cNvSpPr>
          <p:nvPr/>
        </p:nvSpPr>
        <p:spPr bwMode="auto">
          <a:xfrm>
            <a:off x="2195198" y="338296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首部</a:t>
            </a:r>
          </a:p>
        </p:txBody>
      </p:sp>
      <p:sp>
        <p:nvSpPr>
          <p:cNvPr id="478221" name="Rectangle 13"/>
          <p:cNvSpPr>
            <a:spLocks noChangeArrowheads="1"/>
          </p:cNvSpPr>
          <p:nvPr/>
        </p:nvSpPr>
        <p:spPr bwMode="auto">
          <a:xfrm>
            <a:off x="4608066" y="2273300"/>
            <a:ext cx="1110985" cy="349250"/>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22" name="Text Box 14"/>
          <p:cNvSpPr txBox="1">
            <a:spLocks noChangeArrowheads="1"/>
          </p:cNvSpPr>
          <p:nvPr/>
        </p:nvSpPr>
        <p:spPr bwMode="auto">
          <a:xfrm>
            <a:off x="4778326" y="2239963"/>
            <a:ext cx="699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TCP</a:t>
            </a:r>
          </a:p>
        </p:txBody>
      </p:sp>
      <p:sp>
        <p:nvSpPr>
          <p:cNvPr id="478223" name="Rectangle 15"/>
          <p:cNvSpPr>
            <a:spLocks noChangeArrowheads="1"/>
          </p:cNvSpPr>
          <p:nvPr/>
        </p:nvSpPr>
        <p:spPr bwMode="auto">
          <a:xfrm>
            <a:off x="5997657" y="2273300"/>
            <a:ext cx="1112706" cy="349250"/>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24" name="Text Box 16"/>
          <p:cNvSpPr txBox="1">
            <a:spLocks noChangeArrowheads="1"/>
          </p:cNvSpPr>
          <p:nvPr/>
        </p:nvSpPr>
        <p:spPr bwMode="auto">
          <a:xfrm>
            <a:off x="6143840" y="22733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UDP</a:t>
            </a:r>
          </a:p>
        </p:txBody>
      </p:sp>
      <p:sp>
        <p:nvSpPr>
          <p:cNvPr id="478225" name="Rectangle 17"/>
          <p:cNvSpPr>
            <a:spLocks noChangeArrowheads="1"/>
          </p:cNvSpPr>
          <p:nvPr/>
        </p:nvSpPr>
        <p:spPr bwMode="auto">
          <a:xfrm>
            <a:off x="2289787" y="2892425"/>
            <a:ext cx="1112706" cy="349250"/>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26" name="Text Box 18"/>
          <p:cNvSpPr txBox="1">
            <a:spLocks noChangeArrowheads="1"/>
          </p:cNvSpPr>
          <p:nvPr/>
        </p:nvSpPr>
        <p:spPr bwMode="auto">
          <a:xfrm>
            <a:off x="2382655" y="2857501"/>
            <a:ext cx="82586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ICMP</a:t>
            </a:r>
          </a:p>
        </p:txBody>
      </p:sp>
      <p:sp>
        <p:nvSpPr>
          <p:cNvPr id="478227" name="Rectangle 19"/>
          <p:cNvSpPr>
            <a:spLocks noChangeArrowheads="1"/>
          </p:cNvSpPr>
          <p:nvPr/>
        </p:nvSpPr>
        <p:spPr bwMode="auto">
          <a:xfrm>
            <a:off x="3588230" y="2892425"/>
            <a:ext cx="1110985" cy="349250"/>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28" name="Text Box 20"/>
          <p:cNvSpPr txBox="1">
            <a:spLocks noChangeArrowheads="1"/>
          </p:cNvSpPr>
          <p:nvPr/>
        </p:nvSpPr>
        <p:spPr bwMode="auto">
          <a:xfrm>
            <a:off x="3682817" y="2857501"/>
            <a:ext cx="8386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IGMP</a:t>
            </a:r>
          </a:p>
        </p:txBody>
      </p:sp>
      <p:sp>
        <p:nvSpPr>
          <p:cNvPr id="478229" name="Rectangle 21"/>
          <p:cNvSpPr>
            <a:spLocks noChangeArrowheads="1"/>
          </p:cNvSpPr>
          <p:nvPr/>
        </p:nvSpPr>
        <p:spPr bwMode="auto">
          <a:xfrm>
            <a:off x="7442283" y="2892425"/>
            <a:ext cx="1110985" cy="349250"/>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30" name="Text Box 22"/>
          <p:cNvSpPr txBox="1">
            <a:spLocks noChangeArrowheads="1"/>
          </p:cNvSpPr>
          <p:nvPr/>
        </p:nvSpPr>
        <p:spPr bwMode="auto">
          <a:xfrm>
            <a:off x="7536871" y="2857501"/>
            <a:ext cx="883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OSPF</a:t>
            </a:r>
          </a:p>
        </p:txBody>
      </p:sp>
      <p:sp>
        <p:nvSpPr>
          <p:cNvPr id="478233" name="Line 25"/>
          <p:cNvSpPr>
            <a:spLocks noChangeShapeType="1"/>
          </p:cNvSpPr>
          <p:nvPr/>
        </p:nvSpPr>
        <p:spPr bwMode="auto">
          <a:xfrm flipV="1">
            <a:off x="6090526" y="2622551"/>
            <a:ext cx="464344" cy="976313"/>
          </a:xfrm>
          <a:prstGeom prst="line">
            <a:avLst/>
          </a:prstGeom>
          <a:noFill/>
          <a:ln w="76200">
            <a:solidFill>
              <a:srgbClr val="C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35" name="Line 27"/>
          <p:cNvSpPr>
            <a:spLocks noChangeShapeType="1"/>
          </p:cNvSpPr>
          <p:nvPr/>
        </p:nvSpPr>
        <p:spPr bwMode="auto">
          <a:xfrm flipH="1" flipV="1">
            <a:off x="5161839" y="2622550"/>
            <a:ext cx="940727" cy="996950"/>
          </a:xfrm>
          <a:prstGeom prst="line">
            <a:avLst/>
          </a:prstGeom>
          <a:noFill/>
          <a:ln w="76200">
            <a:solidFill>
              <a:srgbClr val="C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36" name="Line 28"/>
          <p:cNvSpPr>
            <a:spLocks noChangeShapeType="1"/>
          </p:cNvSpPr>
          <p:nvPr/>
        </p:nvSpPr>
        <p:spPr bwMode="auto">
          <a:xfrm flipH="1" flipV="1">
            <a:off x="4723293" y="3175000"/>
            <a:ext cx="1411948" cy="463550"/>
          </a:xfrm>
          <a:prstGeom prst="line">
            <a:avLst/>
          </a:prstGeom>
          <a:noFill/>
          <a:ln w="76200">
            <a:solidFill>
              <a:srgbClr val="C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37" name="Line 29"/>
          <p:cNvSpPr>
            <a:spLocks noChangeShapeType="1"/>
          </p:cNvSpPr>
          <p:nvPr/>
        </p:nvSpPr>
        <p:spPr bwMode="auto">
          <a:xfrm flipH="1" flipV="1">
            <a:off x="3117007" y="3255963"/>
            <a:ext cx="3014794" cy="373062"/>
          </a:xfrm>
          <a:prstGeom prst="line">
            <a:avLst/>
          </a:prstGeom>
          <a:noFill/>
          <a:ln w="76200">
            <a:solidFill>
              <a:srgbClr val="C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38" name="Line 30"/>
          <p:cNvSpPr>
            <a:spLocks noChangeShapeType="1"/>
          </p:cNvSpPr>
          <p:nvPr/>
        </p:nvSpPr>
        <p:spPr bwMode="auto">
          <a:xfrm flipV="1">
            <a:off x="6118042" y="3173414"/>
            <a:ext cx="1295004" cy="447675"/>
          </a:xfrm>
          <a:prstGeom prst="line">
            <a:avLst/>
          </a:prstGeom>
          <a:noFill/>
          <a:ln w="76200">
            <a:solidFill>
              <a:srgbClr val="C0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39" name="Text Box 31"/>
          <p:cNvSpPr txBox="1">
            <a:spLocks noChangeArrowheads="1"/>
          </p:cNvSpPr>
          <p:nvPr/>
        </p:nvSpPr>
        <p:spPr bwMode="auto">
          <a:xfrm>
            <a:off x="3464405" y="3463926"/>
            <a:ext cx="14285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数 据 部 分</a:t>
            </a:r>
          </a:p>
        </p:txBody>
      </p:sp>
      <p:sp>
        <p:nvSpPr>
          <p:cNvPr id="478240" name="Line 32"/>
          <p:cNvSpPr>
            <a:spLocks noChangeShapeType="1"/>
          </p:cNvSpPr>
          <p:nvPr/>
        </p:nvSpPr>
        <p:spPr bwMode="auto">
          <a:xfrm>
            <a:off x="1920032" y="4156075"/>
            <a:ext cx="620844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478241" name="Text Box 33"/>
          <p:cNvSpPr txBox="1">
            <a:spLocks noChangeArrowheads="1"/>
          </p:cNvSpPr>
          <p:nvPr/>
        </p:nvSpPr>
        <p:spPr bwMode="auto">
          <a:xfrm>
            <a:off x="4327740" y="3927476"/>
            <a:ext cx="1266885" cy="40011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IP </a:t>
            </a:r>
            <a:r>
              <a:rPr kumimoji="1" lang="zh-CN" altLang="en-US" sz="2000" b="1">
                <a:solidFill>
                  <a:srgbClr val="000099"/>
                </a:solidFill>
                <a:latin typeface="+mn-lt"/>
                <a:ea typeface="黑体" panose="02010609060101010101" pitchFamily="2" charset="-122"/>
              </a:rPr>
              <a:t>数据报</a:t>
            </a:r>
          </a:p>
        </p:txBody>
      </p:sp>
      <p:grpSp>
        <p:nvGrpSpPr>
          <p:cNvPr id="478246" name="Group 38"/>
          <p:cNvGrpSpPr/>
          <p:nvPr/>
        </p:nvGrpSpPr>
        <p:grpSpPr bwMode="auto">
          <a:xfrm>
            <a:off x="2877955" y="3644902"/>
            <a:ext cx="4954721" cy="2016126"/>
            <a:chOff x="1632" y="2296"/>
            <a:chExt cx="2881" cy="1270"/>
          </a:xfrm>
        </p:grpSpPr>
        <p:sp>
          <p:nvSpPr>
            <p:cNvPr id="478242" name="Rectangle 34"/>
            <p:cNvSpPr>
              <a:spLocks noChangeArrowheads="1"/>
            </p:cNvSpPr>
            <p:nvPr/>
          </p:nvSpPr>
          <p:spPr bwMode="auto">
            <a:xfrm>
              <a:off x="1632" y="2296"/>
              <a:ext cx="227" cy="106"/>
            </a:xfrm>
            <a:prstGeom prst="rect">
              <a:avLst/>
            </a:prstGeom>
            <a:solidFill>
              <a:srgbClr val="66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478243" name="AutoShape 35"/>
            <p:cNvSpPr>
              <a:spLocks noChangeArrowheads="1"/>
            </p:cNvSpPr>
            <p:nvPr/>
          </p:nvSpPr>
          <p:spPr bwMode="auto">
            <a:xfrm>
              <a:off x="2344" y="3033"/>
              <a:ext cx="2169" cy="506"/>
            </a:xfrm>
            <a:prstGeom prst="wedgeRoundRectCallout">
              <a:avLst>
                <a:gd name="adj1" fmla="val -78317"/>
                <a:gd name="adj2" fmla="val -177774"/>
                <a:gd name="adj3" fmla="val 16667"/>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3200" b="1">
                <a:solidFill>
                  <a:srgbClr val="000099"/>
                </a:solidFill>
                <a:latin typeface="+mn-lt"/>
                <a:ea typeface="黑体" panose="02010609060101010101" pitchFamily="2" charset="-122"/>
              </a:endParaRPr>
            </a:p>
          </p:txBody>
        </p:sp>
        <p:sp>
          <p:nvSpPr>
            <p:cNvPr id="478244" name="Text Box 36"/>
            <p:cNvSpPr txBox="1">
              <a:spLocks noChangeArrowheads="1"/>
            </p:cNvSpPr>
            <p:nvPr/>
          </p:nvSpPr>
          <p:spPr bwMode="auto">
            <a:xfrm>
              <a:off x="2426" y="3043"/>
              <a:ext cx="2004"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400" b="1" dirty="0">
                  <a:solidFill>
                    <a:srgbClr val="000099"/>
                  </a:solidFill>
                  <a:latin typeface="+mn-lt"/>
                  <a:ea typeface="黑体" panose="02010609060101010101" pitchFamily="2" charset="-122"/>
                </a:rPr>
                <a:t>协议字段指出应将数据</a:t>
              </a:r>
            </a:p>
            <a:p>
              <a:pPr algn="ctr"/>
              <a:r>
                <a:rPr kumimoji="1" lang="zh-CN" altLang="en-US" sz="2400" b="1" dirty="0">
                  <a:solidFill>
                    <a:srgbClr val="000099"/>
                  </a:solidFill>
                  <a:latin typeface="+mn-lt"/>
                  <a:ea typeface="黑体" panose="02010609060101010101" pitchFamily="2" charset="-122"/>
                </a:rPr>
                <a:t>部分交给哪一个进程</a:t>
              </a:r>
            </a:p>
          </p:txBody>
        </p:sp>
      </p:grpSp>
      <p:sp>
        <p:nvSpPr>
          <p:cNvPr id="32" name="矩形 31"/>
          <p:cNvSpPr/>
          <p:nvPr/>
        </p:nvSpPr>
        <p:spPr>
          <a:xfrm>
            <a:off x="1127678" y="476672"/>
            <a:ext cx="7497730" cy="1077218"/>
          </a:xfrm>
          <a:prstGeom prst="rect">
            <a:avLst/>
          </a:prstGeom>
          <a:solidFill>
            <a:srgbClr val="66FF66"/>
          </a:solidFill>
          <a:ln w="9525">
            <a:solidFill>
              <a:schemeClr val="folHlink"/>
            </a:solidFill>
            <a:miter lim="800000"/>
          </a:ln>
          <a:effectLst>
            <a:outerShdw dist="35921" dir="2700000" algn="ctr" rotWithShape="0">
              <a:schemeClr val="bg2"/>
            </a:outerShdw>
          </a:effectLst>
        </p:spPr>
        <p:txBody>
          <a:bodyPr wrap="square">
            <a:spAutoFit/>
          </a:bodyPr>
          <a:lstStyle/>
          <a:p>
            <a:pPr algn="ctr"/>
            <a:r>
              <a:rPr lang="en-US" altLang="zh-CN" sz="3200" b="1" dirty="0">
                <a:solidFill>
                  <a:srgbClr val="000066"/>
                </a:solidFill>
                <a:latin typeface="Arial" panose="020B0604020202020204" pitchFamily="34" charset="0"/>
                <a:ea typeface="黑体" panose="02010609060101010101" pitchFamily="2" charset="-122"/>
              </a:rPr>
              <a:t>IP </a:t>
            </a:r>
            <a:r>
              <a:rPr lang="zh-CN" altLang="en-US" sz="3200" b="1" dirty="0">
                <a:solidFill>
                  <a:srgbClr val="000066"/>
                </a:solidFill>
                <a:latin typeface="Arial" panose="020B0604020202020204" pitchFamily="34" charset="0"/>
                <a:ea typeface="黑体" panose="02010609060101010101" pitchFamily="2" charset="-122"/>
              </a:rPr>
              <a:t>协议支持多种协议，</a:t>
            </a:r>
            <a:endParaRPr lang="en-US" altLang="zh-CN" sz="3200" b="1" dirty="0">
              <a:solidFill>
                <a:srgbClr val="000066"/>
              </a:solidFill>
              <a:latin typeface="Arial" panose="020B0604020202020204" pitchFamily="34" charset="0"/>
              <a:ea typeface="黑体" panose="02010609060101010101" pitchFamily="2" charset="-122"/>
            </a:endParaRPr>
          </a:p>
          <a:p>
            <a:pPr algn="ctr"/>
            <a:r>
              <a:rPr lang="en-US" altLang="zh-CN" sz="3200" b="1" dirty="0">
                <a:solidFill>
                  <a:srgbClr val="000066"/>
                </a:solidFill>
                <a:latin typeface="Arial" panose="020B0604020202020204" pitchFamily="34" charset="0"/>
                <a:ea typeface="黑体" panose="02010609060101010101" pitchFamily="2" charset="-122"/>
              </a:rPr>
              <a:t>IP </a:t>
            </a:r>
            <a:r>
              <a:rPr lang="zh-CN" altLang="en-US" sz="3200" b="1" dirty="0">
                <a:solidFill>
                  <a:srgbClr val="000066"/>
                </a:solidFill>
                <a:latin typeface="Arial" panose="020B0604020202020204" pitchFamily="34" charset="0"/>
                <a:ea typeface="黑体" panose="02010609060101010101" pitchFamily="2" charset="-122"/>
              </a:rPr>
              <a:t>数据报可以封装多种协议 </a:t>
            </a:r>
            <a:r>
              <a:rPr lang="en-US" altLang="zh-CN" sz="3200" b="1" dirty="0">
                <a:solidFill>
                  <a:srgbClr val="000066"/>
                </a:solidFill>
                <a:latin typeface="Arial" panose="020B0604020202020204" pitchFamily="34" charset="0"/>
                <a:ea typeface="黑体" panose="02010609060101010101" pitchFamily="2" charset="-122"/>
              </a:rPr>
              <a:t>PDU</a:t>
            </a:r>
            <a:r>
              <a:rPr lang="zh-CN" altLang="en-US" sz="3200" b="1" dirty="0">
                <a:solidFill>
                  <a:srgbClr val="000066"/>
                </a:solidFill>
                <a:latin typeface="Arial" panose="020B0604020202020204" pitchFamily="34" charset="0"/>
                <a:ea typeface="黑体" panose="02010609060101010101" pitchFamily="2" charset="-122"/>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22" presetClass="entr" presetSubtype="2" fill="hold" grpId="0"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p:stCondLst>
                              <p:cond delay="2000"/>
                            </p:stCondLst>
                            <p:childTnLst>
                              <p:par>
                                <p:cTn id="12" presetID="22" presetClass="entr" presetSubtype="2" fill="hold" grpId="0"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p:stCondLst>
                              <p:cond delay="2500"/>
                            </p:stCondLst>
                            <p:childTnLst>
                              <p:par>
                                <p:cTn id="16" presetID="22" presetClass="entr" presetSubtype="4" fill="hold" grpId="0"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p:stCondLst>
                              <p:cond delay="3000"/>
                            </p:stCondLst>
                            <p:childTnLst>
                              <p:par>
                                <p:cTn id="20" presetID="22" presetClass="entr" presetSubtype="4" fill="hold" grpId="0"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p:stCondLst>
                              <p:cond delay="3500"/>
                            </p:stCondLst>
                            <p:childTnLst>
                              <p:par>
                                <p:cTn id="24" presetID="22" presetClass="entr" presetSubtype="8" fill="hold" grpId="0"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233" grpId="0" animBg="1"/>
      <p:bldP spid="478235" grpId="0" animBg="1"/>
      <p:bldP spid="478236" grpId="0" animBg="1"/>
      <p:bldP spid="478237" grpId="0" animBg="1"/>
      <p:bldP spid="478238"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653182"/>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7" name="Group 77"/>
          <p:cNvGrpSpPr/>
          <p:nvPr/>
        </p:nvGrpSpPr>
        <p:grpSpPr bwMode="auto">
          <a:xfrm>
            <a:off x="2466180" y="2478682"/>
            <a:ext cx="7264404" cy="3830638"/>
            <a:chOff x="1434" y="1410"/>
            <a:chExt cx="4224" cy="2413"/>
          </a:xfrm>
        </p:grpSpPr>
        <p:sp>
          <p:nvSpPr>
            <p:cNvPr id="58" name="Text Box 74"/>
            <p:cNvSpPr txBox="1">
              <a:spLocks noChangeArrowheads="1"/>
            </p:cNvSpPr>
            <p:nvPr/>
          </p:nvSpPr>
          <p:spPr bwMode="auto">
            <a:xfrm>
              <a:off x="1434" y="3067"/>
              <a:ext cx="4042"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首部检验和</a:t>
              </a:r>
              <a:r>
                <a:rPr lang="en-US" altLang="zh-CN" dirty="0"/>
                <a:t>——</a:t>
              </a:r>
              <a:r>
                <a:rPr lang="zh-CN" altLang="en-US" dirty="0"/>
                <a:t>占</a:t>
              </a:r>
              <a:r>
                <a:rPr lang="en-US" altLang="zh-CN" dirty="0"/>
                <a:t>16 </a:t>
              </a:r>
              <a:r>
                <a:rPr lang="zh-CN" altLang="en-US" dirty="0"/>
                <a:t>位，</a:t>
              </a:r>
              <a:r>
                <a:rPr lang="zh-CN" altLang="en-US" dirty="0">
                  <a:solidFill>
                    <a:srgbClr val="C00000"/>
                  </a:solidFill>
                </a:rPr>
                <a:t>只检验数据报的首部，</a:t>
              </a:r>
            </a:p>
            <a:p>
              <a:pPr algn="l"/>
              <a:r>
                <a:rPr lang="zh-CN" altLang="en-US" dirty="0"/>
                <a:t>不检验数据部分。这里不采用 </a:t>
              </a:r>
              <a:r>
                <a:rPr lang="en-US" altLang="zh-CN" dirty="0"/>
                <a:t>CRC </a:t>
              </a:r>
              <a:r>
                <a:rPr lang="zh-CN" altLang="en-US" dirty="0"/>
                <a:t>检验码而采用简单的计算方法。 </a:t>
              </a:r>
            </a:p>
          </p:txBody>
        </p:sp>
        <p:sp>
          <p:nvSpPr>
            <p:cNvPr id="59" name="Rectangle 75"/>
            <p:cNvSpPr>
              <a:spLocks noChangeArrowheads="1"/>
            </p:cNvSpPr>
            <p:nvPr/>
          </p:nvSpPr>
          <p:spPr bwMode="auto">
            <a:xfrm>
              <a:off x="3195" y="1410"/>
              <a:ext cx="2463" cy="307"/>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46" name="Rectangle 66"/>
          <p:cNvSpPr>
            <a:spLocks noChangeArrowheads="1"/>
          </p:cNvSpPr>
          <p:nvPr/>
        </p:nvSpPr>
        <p:spPr bwMode="auto">
          <a:xfrm>
            <a:off x="4083083" y="5263283"/>
            <a:ext cx="1902090" cy="871537"/>
          </a:xfrm>
          <a:prstGeom prst="rect">
            <a:avLst/>
          </a:prstGeom>
          <a:solidFill>
            <a:srgbClr val="FFCC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284" name="Text Box 4"/>
          <p:cNvSpPr txBox="1">
            <a:spLocks noChangeArrowheads="1"/>
          </p:cNvSpPr>
          <p:nvPr/>
        </p:nvSpPr>
        <p:spPr bwMode="auto">
          <a:xfrm>
            <a:off x="722610" y="764307"/>
            <a:ext cx="2495417" cy="406400"/>
          </a:xfrm>
          <a:prstGeom prst="rect">
            <a:avLst/>
          </a:prstGeom>
          <a:solidFill>
            <a:srgbClr val="99FF33"/>
          </a:solidFill>
          <a:ln w="9525">
            <a:solidFill>
              <a:schemeClr val="folHlink"/>
            </a:solidFill>
            <a:miter lim="800000"/>
          </a:ln>
          <a:effectLst>
            <a:outerShdw dist="35921" dir="2700000" algn="ctr" rotWithShape="0">
              <a:schemeClr val="bg2"/>
            </a:outerShdw>
          </a:effectLst>
        </p:spPr>
        <p:txBody>
          <a:bodyPr>
            <a:spAutoFit/>
          </a:bodyPr>
          <a:lstStyle/>
          <a:p>
            <a:pPr algn="ctr"/>
            <a:r>
              <a:rPr kumimoji="1" lang="zh-CN" altLang="en-US" sz="2000" b="1">
                <a:solidFill>
                  <a:srgbClr val="0000CC"/>
                </a:solidFill>
                <a:latin typeface="+mn-lt"/>
                <a:ea typeface="黑体" panose="02010609060101010101" pitchFamily="2" charset="-122"/>
              </a:rPr>
              <a:t>发送端</a:t>
            </a:r>
          </a:p>
        </p:txBody>
      </p:sp>
      <p:sp>
        <p:nvSpPr>
          <p:cNvPr id="481285" name="Text Box 5"/>
          <p:cNvSpPr txBox="1">
            <a:spLocks noChangeArrowheads="1"/>
          </p:cNvSpPr>
          <p:nvPr/>
        </p:nvSpPr>
        <p:spPr bwMode="auto">
          <a:xfrm>
            <a:off x="6728123" y="764307"/>
            <a:ext cx="2418027" cy="406400"/>
          </a:xfrm>
          <a:prstGeom prst="rect">
            <a:avLst/>
          </a:prstGeom>
          <a:solidFill>
            <a:srgbClr val="CCCCFF"/>
          </a:solidFill>
          <a:ln w="9525">
            <a:solidFill>
              <a:schemeClr val="folHlink"/>
            </a:solidFill>
            <a:miter lim="800000"/>
          </a:ln>
          <a:effectLst>
            <a:outerShdw dist="35921" dir="2700000" algn="ctr" rotWithShape="0">
              <a:schemeClr val="bg2"/>
            </a:outerShdw>
          </a:effectLst>
        </p:spPr>
        <p:txBody>
          <a:bodyPr>
            <a:spAutoFit/>
          </a:bodyPr>
          <a:lstStyle/>
          <a:p>
            <a:pPr algn="ctr"/>
            <a:r>
              <a:rPr kumimoji="1" lang="zh-CN" altLang="en-US" sz="2000" b="1">
                <a:solidFill>
                  <a:srgbClr val="0000CC"/>
                </a:solidFill>
                <a:latin typeface="+mn-lt"/>
                <a:ea typeface="黑体" panose="02010609060101010101" pitchFamily="2" charset="-122"/>
              </a:rPr>
              <a:t>接收端</a:t>
            </a:r>
          </a:p>
        </p:txBody>
      </p:sp>
      <p:sp>
        <p:nvSpPr>
          <p:cNvPr id="481286" name="Rectangle 6"/>
          <p:cNvSpPr>
            <a:spLocks noChangeArrowheads="1"/>
          </p:cNvSpPr>
          <p:nvPr/>
        </p:nvSpPr>
        <p:spPr bwMode="auto">
          <a:xfrm>
            <a:off x="1749326" y="1388195"/>
            <a:ext cx="1463543" cy="296863"/>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287" name="Text Box 7"/>
          <p:cNvSpPr txBox="1">
            <a:spLocks noChangeArrowheads="1"/>
          </p:cNvSpPr>
          <p:nvPr/>
        </p:nvSpPr>
        <p:spPr bwMode="auto">
          <a:xfrm>
            <a:off x="1002936" y="1327870"/>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1</a:t>
            </a:r>
          </a:p>
        </p:txBody>
      </p:sp>
      <p:sp>
        <p:nvSpPr>
          <p:cNvPr id="481288" name="Rectangle 8"/>
          <p:cNvSpPr>
            <a:spLocks noChangeArrowheads="1"/>
          </p:cNvSpPr>
          <p:nvPr/>
        </p:nvSpPr>
        <p:spPr bwMode="auto">
          <a:xfrm>
            <a:off x="1749326" y="1805708"/>
            <a:ext cx="1463543" cy="295275"/>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289" name="Text Box 9"/>
          <p:cNvSpPr txBox="1">
            <a:spLocks noChangeArrowheads="1"/>
          </p:cNvSpPr>
          <p:nvPr/>
        </p:nvSpPr>
        <p:spPr bwMode="auto">
          <a:xfrm>
            <a:off x="1002936" y="1743795"/>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2</a:t>
            </a:r>
          </a:p>
        </p:txBody>
      </p:sp>
      <p:grpSp>
        <p:nvGrpSpPr>
          <p:cNvPr id="481347" name="Group 67"/>
          <p:cNvGrpSpPr/>
          <p:nvPr/>
        </p:nvGrpSpPr>
        <p:grpSpPr bwMode="auto">
          <a:xfrm>
            <a:off x="722610" y="2339105"/>
            <a:ext cx="2490258" cy="400049"/>
            <a:chOff x="295" y="1111"/>
            <a:chExt cx="1448" cy="252"/>
          </a:xfrm>
        </p:grpSpPr>
        <p:sp>
          <p:nvSpPr>
            <p:cNvPr id="481290" name="Rectangle 10"/>
            <p:cNvSpPr>
              <a:spLocks noChangeArrowheads="1"/>
            </p:cNvSpPr>
            <p:nvPr/>
          </p:nvSpPr>
          <p:spPr bwMode="auto">
            <a:xfrm>
              <a:off x="892" y="1158"/>
              <a:ext cx="851" cy="186"/>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000" b="1">
                  <a:solidFill>
                    <a:srgbClr val="0000CC"/>
                  </a:solidFill>
                  <a:latin typeface="+mn-lt"/>
                  <a:ea typeface="黑体" panose="02010609060101010101" pitchFamily="2" charset="-122"/>
                </a:rPr>
                <a:t>置为全 </a:t>
              </a:r>
              <a:r>
                <a:rPr kumimoji="1" lang="en-US" altLang="zh-CN" sz="2000" b="1">
                  <a:solidFill>
                    <a:srgbClr val="0000CC"/>
                  </a:solidFill>
                  <a:latin typeface="+mn-lt"/>
                  <a:ea typeface="黑体" panose="02010609060101010101" pitchFamily="2" charset="-122"/>
                </a:rPr>
                <a:t>0</a:t>
              </a:r>
            </a:p>
          </p:txBody>
        </p:sp>
        <p:sp>
          <p:nvSpPr>
            <p:cNvPr id="481291" name="Text Box 11"/>
            <p:cNvSpPr txBox="1">
              <a:spLocks noChangeArrowheads="1"/>
            </p:cNvSpPr>
            <p:nvPr/>
          </p:nvSpPr>
          <p:spPr bwMode="auto">
            <a:xfrm>
              <a:off x="295" y="1111"/>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检验和</a:t>
              </a:r>
            </a:p>
          </p:txBody>
        </p:sp>
      </p:grpSp>
      <p:sp>
        <p:nvSpPr>
          <p:cNvPr id="481292" name="Rectangle 12"/>
          <p:cNvSpPr>
            <a:spLocks noChangeArrowheads="1"/>
          </p:cNvSpPr>
          <p:nvPr/>
        </p:nvSpPr>
        <p:spPr bwMode="auto">
          <a:xfrm>
            <a:off x="1749326" y="3021732"/>
            <a:ext cx="1463543" cy="296862"/>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293" name="Text Box 13"/>
          <p:cNvSpPr txBox="1">
            <a:spLocks noChangeArrowheads="1"/>
          </p:cNvSpPr>
          <p:nvPr/>
        </p:nvSpPr>
        <p:spPr bwMode="auto">
          <a:xfrm>
            <a:off x="1002936" y="2961408"/>
            <a:ext cx="670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n</a:t>
            </a:r>
          </a:p>
        </p:txBody>
      </p:sp>
      <p:grpSp>
        <p:nvGrpSpPr>
          <p:cNvPr id="481348" name="Group 68"/>
          <p:cNvGrpSpPr/>
          <p:nvPr/>
        </p:nvGrpSpPr>
        <p:grpSpPr bwMode="auto">
          <a:xfrm>
            <a:off x="500756" y="3551956"/>
            <a:ext cx="2712112" cy="708024"/>
            <a:chOff x="166" y="1875"/>
            <a:chExt cx="1577" cy="446"/>
          </a:xfrm>
        </p:grpSpPr>
        <p:sp>
          <p:nvSpPr>
            <p:cNvPr id="481294" name="Rectangle 14"/>
            <p:cNvSpPr>
              <a:spLocks noChangeArrowheads="1"/>
            </p:cNvSpPr>
            <p:nvPr/>
          </p:nvSpPr>
          <p:spPr bwMode="auto">
            <a:xfrm>
              <a:off x="892" y="2000"/>
              <a:ext cx="851" cy="188"/>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295" name="Text Box 15"/>
            <p:cNvSpPr txBox="1">
              <a:spLocks noChangeArrowheads="1"/>
            </p:cNvSpPr>
            <p:nvPr/>
          </p:nvSpPr>
          <p:spPr bwMode="auto">
            <a:xfrm>
              <a:off x="166" y="1875"/>
              <a:ext cx="704"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反码算术</a:t>
              </a:r>
            </a:p>
            <a:p>
              <a:r>
                <a:rPr kumimoji="1" lang="zh-CN" altLang="en-US" sz="2000" b="1">
                  <a:solidFill>
                    <a:srgbClr val="0000CC"/>
                  </a:solidFill>
                  <a:latin typeface="+mn-lt"/>
                  <a:ea typeface="黑体" panose="02010609060101010101" pitchFamily="2" charset="-122"/>
                </a:rPr>
                <a:t>运算求和</a:t>
              </a:r>
            </a:p>
          </p:txBody>
        </p:sp>
      </p:grpSp>
      <p:sp>
        <p:nvSpPr>
          <p:cNvPr id="481299" name="Text Box 19"/>
          <p:cNvSpPr txBox="1">
            <a:spLocks noChangeArrowheads="1"/>
          </p:cNvSpPr>
          <p:nvPr/>
        </p:nvSpPr>
        <p:spPr bwMode="auto">
          <a:xfrm>
            <a:off x="2132839" y="202002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481300" name="Text Box 20"/>
          <p:cNvSpPr txBox="1">
            <a:spLocks noChangeArrowheads="1"/>
          </p:cNvSpPr>
          <p:nvPr/>
        </p:nvSpPr>
        <p:spPr bwMode="auto">
          <a:xfrm>
            <a:off x="2115641" y="261057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481301" name="Line 21"/>
          <p:cNvSpPr>
            <a:spLocks noChangeShapeType="1"/>
          </p:cNvSpPr>
          <p:nvPr/>
        </p:nvSpPr>
        <p:spPr bwMode="auto">
          <a:xfrm>
            <a:off x="818918" y="3455119"/>
            <a:ext cx="2928805"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481349" name="Group 69"/>
          <p:cNvGrpSpPr/>
          <p:nvPr/>
        </p:nvGrpSpPr>
        <p:grpSpPr bwMode="auto">
          <a:xfrm>
            <a:off x="1530913" y="4152032"/>
            <a:ext cx="1081748" cy="501650"/>
            <a:chOff x="765" y="2253"/>
            <a:chExt cx="629" cy="316"/>
          </a:xfrm>
        </p:grpSpPr>
        <p:sp>
          <p:nvSpPr>
            <p:cNvPr id="481298" name="AutoShape 18"/>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02" name="Text Box 22"/>
            <p:cNvSpPr txBox="1">
              <a:spLocks noChangeArrowheads="1"/>
            </p:cNvSpPr>
            <p:nvPr/>
          </p:nvSpPr>
          <p:spPr bwMode="auto">
            <a:xfrm>
              <a:off x="765" y="226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取反码</a:t>
              </a:r>
            </a:p>
          </p:txBody>
        </p:sp>
      </p:grpSp>
      <p:sp>
        <p:nvSpPr>
          <p:cNvPr id="481303" name="AutoShape 23"/>
          <p:cNvSpPr/>
          <p:nvPr/>
        </p:nvSpPr>
        <p:spPr bwMode="auto">
          <a:xfrm>
            <a:off x="645219" y="1402483"/>
            <a:ext cx="173700" cy="1931987"/>
          </a:xfrm>
          <a:prstGeom prst="leftBrace">
            <a:avLst>
              <a:gd name="adj1" fmla="val 100412"/>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04" name="Text Box 24"/>
          <p:cNvSpPr txBox="1">
            <a:spLocks noChangeArrowheads="1"/>
          </p:cNvSpPr>
          <p:nvPr/>
        </p:nvSpPr>
        <p:spPr bwMode="auto">
          <a:xfrm>
            <a:off x="215271" y="1597745"/>
            <a:ext cx="441146"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a:t>
            </a:r>
          </a:p>
          <a:p>
            <a:r>
              <a:rPr kumimoji="1" lang="zh-CN" altLang="en-US" sz="2000" b="1">
                <a:solidFill>
                  <a:srgbClr val="0000CC"/>
                </a:solidFill>
                <a:latin typeface="+mn-lt"/>
                <a:ea typeface="黑体" panose="02010609060101010101" pitchFamily="2" charset="-122"/>
              </a:rPr>
              <a:t>据</a:t>
            </a:r>
          </a:p>
          <a:p>
            <a:r>
              <a:rPr kumimoji="1" lang="zh-CN" altLang="en-US" sz="2000" b="1">
                <a:solidFill>
                  <a:srgbClr val="0000CC"/>
                </a:solidFill>
                <a:latin typeface="+mn-lt"/>
                <a:ea typeface="黑体" panose="02010609060101010101" pitchFamily="2" charset="-122"/>
              </a:rPr>
              <a:t>报</a:t>
            </a:r>
          </a:p>
          <a:p>
            <a:r>
              <a:rPr kumimoji="1" lang="zh-CN" altLang="en-US" sz="2000" b="1">
                <a:solidFill>
                  <a:srgbClr val="0000CC"/>
                </a:solidFill>
                <a:latin typeface="+mn-lt"/>
                <a:ea typeface="黑体" panose="02010609060101010101" pitchFamily="2" charset="-122"/>
              </a:rPr>
              <a:t>首</a:t>
            </a:r>
          </a:p>
          <a:p>
            <a:r>
              <a:rPr kumimoji="1" lang="zh-CN" altLang="en-US" sz="2000" b="1">
                <a:solidFill>
                  <a:srgbClr val="0000CC"/>
                </a:solidFill>
                <a:latin typeface="+mn-lt"/>
                <a:ea typeface="黑体" panose="02010609060101010101" pitchFamily="2" charset="-122"/>
              </a:rPr>
              <a:t>部</a:t>
            </a:r>
          </a:p>
        </p:txBody>
      </p:sp>
      <p:sp>
        <p:nvSpPr>
          <p:cNvPr id="481305" name="Rectangle 25"/>
          <p:cNvSpPr>
            <a:spLocks noChangeArrowheads="1"/>
          </p:cNvSpPr>
          <p:nvPr/>
        </p:nvSpPr>
        <p:spPr bwMode="auto">
          <a:xfrm>
            <a:off x="4091682" y="4509219"/>
            <a:ext cx="1893491" cy="742950"/>
          </a:xfrm>
          <a:prstGeom prst="rect">
            <a:avLst/>
          </a:prstGeom>
          <a:solidFill>
            <a:srgbClr val="CCECFF"/>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06" name="Rectangle 26"/>
          <p:cNvSpPr>
            <a:spLocks noChangeArrowheads="1"/>
          </p:cNvSpPr>
          <p:nvPr/>
        </p:nvSpPr>
        <p:spPr bwMode="auto">
          <a:xfrm>
            <a:off x="5049606" y="4815608"/>
            <a:ext cx="926967" cy="1349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07" name="Text Box 27"/>
          <p:cNvSpPr txBox="1">
            <a:spLocks noChangeArrowheads="1"/>
          </p:cNvSpPr>
          <p:nvPr/>
        </p:nvSpPr>
        <p:spPr bwMode="auto">
          <a:xfrm>
            <a:off x="4449399" y="4123458"/>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sp>
        <p:nvSpPr>
          <p:cNvPr id="481308" name="Line 28"/>
          <p:cNvSpPr>
            <a:spLocks noChangeShapeType="1"/>
          </p:cNvSpPr>
          <p:nvPr/>
        </p:nvSpPr>
        <p:spPr bwMode="auto">
          <a:xfrm>
            <a:off x="4091682" y="4656857"/>
            <a:ext cx="18934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09" name="Line 29"/>
          <p:cNvSpPr>
            <a:spLocks noChangeShapeType="1"/>
          </p:cNvSpPr>
          <p:nvPr/>
        </p:nvSpPr>
        <p:spPr bwMode="auto">
          <a:xfrm>
            <a:off x="4091682" y="4807669"/>
            <a:ext cx="18934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0" name="Line 30"/>
          <p:cNvSpPr>
            <a:spLocks noChangeShapeType="1"/>
          </p:cNvSpPr>
          <p:nvPr/>
        </p:nvSpPr>
        <p:spPr bwMode="auto">
          <a:xfrm>
            <a:off x="4091682" y="4955307"/>
            <a:ext cx="18934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1" name="Line 31"/>
          <p:cNvSpPr>
            <a:spLocks noChangeShapeType="1"/>
          </p:cNvSpPr>
          <p:nvPr/>
        </p:nvSpPr>
        <p:spPr bwMode="auto">
          <a:xfrm>
            <a:off x="4091682" y="5102944"/>
            <a:ext cx="18934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2" name="Line 32"/>
          <p:cNvSpPr>
            <a:spLocks noChangeShapeType="1"/>
          </p:cNvSpPr>
          <p:nvPr/>
        </p:nvSpPr>
        <p:spPr bwMode="auto">
          <a:xfrm>
            <a:off x="4091682" y="5252169"/>
            <a:ext cx="18934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3" name="Line 33"/>
          <p:cNvSpPr>
            <a:spLocks noChangeShapeType="1"/>
          </p:cNvSpPr>
          <p:nvPr/>
        </p:nvSpPr>
        <p:spPr bwMode="auto">
          <a:xfrm>
            <a:off x="5039287" y="4509219"/>
            <a:ext cx="0" cy="44608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4" name="Line 34"/>
          <p:cNvSpPr>
            <a:spLocks noChangeShapeType="1"/>
          </p:cNvSpPr>
          <p:nvPr/>
        </p:nvSpPr>
        <p:spPr bwMode="auto">
          <a:xfrm>
            <a:off x="4607619" y="4807669"/>
            <a:ext cx="0" cy="1476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5" name="Line 35"/>
          <p:cNvSpPr>
            <a:spLocks noChangeShapeType="1"/>
          </p:cNvSpPr>
          <p:nvPr/>
        </p:nvSpPr>
        <p:spPr bwMode="auto">
          <a:xfrm>
            <a:off x="4607619" y="4509219"/>
            <a:ext cx="0" cy="1476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6" name="Line 36"/>
          <p:cNvSpPr>
            <a:spLocks noChangeShapeType="1"/>
          </p:cNvSpPr>
          <p:nvPr/>
        </p:nvSpPr>
        <p:spPr bwMode="auto">
          <a:xfrm>
            <a:off x="4351371" y="4509219"/>
            <a:ext cx="0" cy="1476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7" name="Line 37"/>
          <p:cNvSpPr>
            <a:spLocks noChangeShapeType="1"/>
          </p:cNvSpPr>
          <p:nvPr/>
        </p:nvSpPr>
        <p:spPr bwMode="auto">
          <a:xfrm>
            <a:off x="5183750" y="4656857"/>
            <a:ext cx="0" cy="150812"/>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18" name="Line 38"/>
          <p:cNvSpPr>
            <a:spLocks noChangeShapeType="1"/>
          </p:cNvSpPr>
          <p:nvPr/>
        </p:nvSpPr>
        <p:spPr bwMode="auto">
          <a:xfrm>
            <a:off x="5469235" y="5102945"/>
            <a:ext cx="0" cy="1492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481351" name="Group 71"/>
          <p:cNvGrpSpPr/>
          <p:nvPr/>
        </p:nvGrpSpPr>
        <p:grpSpPr bwMode="auto">
          <a:xfrm>
            <a:off x="765605" y="4661624"/>
            <a:ext cx="2447264" cy="400051"/>
            <a:chOff x="320" y="2574"/>
            <a:chExt cx="1423" cy="252"/>
          </a:xfrm>
        </p:grpSpPr>
        <p:sp>
          <p:nvSpPr>
            <p:cNvPr id="481296" name="Rectangle 16"/>
            <p:cNvSpPr>
              <a:spLocks noChangeArrowheads="1"/>
            </p:cNvSpPr>
            <p:nvPr/>
          </p:nvSpPr>
          <p:spPr bwMode="auto">
            <a:xfrm>
              <a:off x="892" y="2619"/>
              <a:ext cx="851" cy="186"/>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dirty="0">
                  <a:solidFill>
                    <a:srgbClr val="0000CC"/>
                  </a:solidFill>
                  <a:latin typeface="+mn-lt"/>
                  <a:ea typeface="黑体" panose="02010609060101010101" pitchFamily="2" charset="-122"/>
                </a:rPr>
                <a:t>16 </a:t>
              </a:r>
              <a:r>
                <a:rPr kumimoji="1" lang="zh-CN" altLang="en-US" sz="2000" b="1" dirty="0">
                  <a:solidFill>
                    <a:srgbClr val="0000CC"/>
                  </a:solidFill>
                  <a:latin typeface="+mn-lt"/>
                  <a:ea typeface="黑体" panose="02010609060101010101" pitchFamily="2" charset="-122"/>
                </a:rPr>
                <a:t>位</a:t>
              </a:r>
            </a:p>
          </p:txBody>
        </p:sp>
        <p:sp>
          <p:nvSpPr>
            <p:cNvPr id="481297" name="Text Box 17"/>
            <p:cNvSpPr txBox="1">
              <a:spLocks noChangeArrowheads="1"/>
            </p:cNvSpPr>
            <p:nvPr/>
          </p:nvSpPr>
          <p:spPr bwMode="auto">
            <a:xfrm>
              <a:off x="320" y="257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检验和</a:t>
              </a:r>
            </a:p>
          </p:txBody>
        </p:sp>
      </p:grpSp>
      <p:sp>
        <p:nvSpPr>
          <p:cNvPr id="481319" name="Line 39"/>
          <p:cNvSpPr>
            <a:spLocks noChangeShapeType="1"/>
          </p:cNvSpPr>
          <p:nvPr/>
        </p:nvSpPr>
        <p:spPr bwMode="auto">
          <a:xfrm>
            <a:off x="3231786" y="4893394"/>
            <a:ext cx="2323439" cy="0"/>
          </a:xfrm>
          <a:prstGeom prst="line">
            <a:avLst/>
          </a:prstGeom>
          <a:noFill/>
          <a:ln w="28575">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81320" name="Rectangle 40"/>
          <p:cNvSpPr>
            <a:spLocks noChangeArrowheads="1"/>
          </p:cNvSpPr>
          <p:nvPr/>
        </p:nvSpPr>
        <p:spPr bwMode="auto">
          <a:xfrm>
            <a:off x="7667129" y="1388195"/>
            <a:ext cx="1463542" cy="296863"/>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321" name="Text Box 41"/>
          <p:cNvSpPr txBox="1">
            <a:spLocks noChangeArrowheads="1"/>
          </p:cNvSpPr>
          <p:nvPr/>
        </p:nvSpPr>
        <p:spPr bwMode="auto">
          <a:xfrm>
            <a:off x="6919019" y="1327870"/>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1</a:t>
            </a:r>
          </a:p>
        </p:txBody>
      </p:sp>
      <p:sp>
        <p:nvSpPr>
          <p:cNvPr id="481322" name="Rectangle 42"/>
          <p:cNvSpPr>
            <a:spLocks noChangeArrowheads="1"/>
          </p:cNvSpPr>
          <p:nvPr/>
        </p:nvSpPr>
        <p:spPr bwMode="auto">
          <a:xfrm>
            <a:off x="7667129" y="1805708"/>
            <a:ext cx="1463542" cy="295275"/>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323" name="Text Box 43"/>
          <p:cNvSpPr txBox="1">
            <a:spLocks noChangeArrowheads="1"/>
          </p:cNvSpPr>
          <p:nvPr/>
        </p:nvSpPr>
        <p:spPr bwMode="auto">
          <a:xfrm>
            <a:off x="6919019" y="1743795"/>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2</a:t>
            </a:r>
          </a:p>
        </p:txBody>
      </p:sp>
      <p:grpSp>
        <p:nvGrpSpPr>
          <p:cNvPr id="481353" name="Group 73"/>
          <p:cNvGrpSpPr/>
          <p:nvPr/>
        </p:nvGrpSpPr>
        <p:grpSpPr bwMode="auto">
          <a:xfrm>
            <a:off x="6671370" y="2324822"/>
            <a:ext cx="2459302" cy="400051"/>
            <a:chOff x="3754" y="1102"/>
            <a:chExt cx="1430" cy="252"/>
          </a:xfrm>
        </p:grpSpPr>
        <p:sp>
          <p:nvSpPr>
            <p:cNvPr id="481324" name="Rectangle 44"/>
            <p:cNvSpPr>
              <a:spLocks noChangeArrowheads="1"/>
            </p:cNvSpPr>
            <p:nvPr/>
          </p:nvSpPr>
          <p:spPr bwMode="auto">
            <a:xfrm>
              <a:off x="4333" y="1158"/>
              <a:ext cx="851" cy="186"/>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dirty="0">
                  <a:solidFill>
                    <a:srgbClr val="0000CC"/>
                  </a:solidFill>
                  <a:latin typeface="+mn-lt"/>
                  <a:ea typeface="黑体" panose="02010609060101010101" pitchFamily="2" charset="-122"/>
                </a:rPr>
                <a:t>16 </a:t>
              </a:r>
              <a:r>
                <a:rPr kumimoji="1" lang="zh-CN" altLang="en-US" sz="2000" b="1" dirty="0">
                  <a:solidFill>
                    <a:srgbClr val="0000CC"/>
                  </a:solidFill>
                  <a:latin typeface="+mn-lt"/>
                  <a:ea typeface="黑体" panose="02010609060101010101" pitchFamily="2" charset="-122"/>
                </a:rPr>
                <a:t>位</a:t>
              </a:r>
            </a:p>
          </p:txBody>
        </p:sp>
        <p:sp>
          <p:nvSpPr>
            <p:cNvPr id="481325" name="Text Box 45"/>
            <p:cNvSpPr txBox="1">
              <a:spLocks noChangeArrowheads="1"/>
            </p:cNvSpPr>
            <p:nvPr/>
          </p:nvSpPr>
          <p:spPr bwMode="auto">
            <a:xfrm>
              <a:off x="3754" y="1102"/>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检验和</a:t>
              </a:r>
            </a:p>
          </p:txBody>
        </p:sp>
      </p:grpSp>
      <p:sp>
        <p:nvSpPr>
          <p:cNvPr id="481326" name="Rectangle 46"/>
          <p:cNvSpPr>
            <a:spLocks noChangeArrowheads="1"/>
          </p:cNvSpPr>
          <p:nvPr/>
        </p:nvSpPr>
        <p:spPr bwMode="auto">
          <a:xfrm>
            <a:off x="7667129" y="3021732"/>
            <a:ext cx="1463542" cy="296862"/>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327" name="Text Box 47"/>
          <p:cNvSpPr txBox="1">
            <a:spLocks noChangeArrowheads="1"/>
          </p:cNvSpPr>
          <p:nvPr/>
        </p:nvSpPr>
        <p:spPr bwMode="auto">
          <a:xfrm>
            <a:off x="6919019" y="2961408"/>
            <a:ext cx="670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字 </a:t>
            </a:r>
            <a:r>
              <a:rPr kumimoji="1" lang="en-US" altLang="zh-CN" sz="2000" b="1">
                <a:solidFill>
                  <a:srgbClr val="0000CC"/>
                </a:solidFill>
                <a:latin typeface="+mn-lt"/>
                <a:ea typeface="黑体" panose="02010609060101010101" pitchFamily="2" charset="-122"/>
              </a:rPr>
              <a:t>n</a:t>
            </a:r>
          </a:p>
        </p:txBody>
      </p:sp>
      <p:grpSp>
        <p:nvGrpSpPr>
          <p:cNvPr id="481354" name="Group 74"/>
          <p:cNvGrpSpPr/>
          <p:nvPr/>
        </p:nvGrpSpPr>
        <p:grpSpPr bwMode="auto">
          <a:xfrm>
            <a:off x="6416840" y="3551956"/>
            <a:ext cx="2713831" cy="708024"/>
            <a:chOff x="3606" y="1875"/>
            <a:chExt cx="1578" cy="446"/>
          </a:xfrm>
        </p:grpSpPr>
        <p:sp>
          <p:nvSpPr>
            <p:cNvPr id="481328" name="Rectangle 48"/>
            <p:cNvSpPr>
              <a:spLocks noChangeArrowheads="1"/>
            </p:cNvSpPr>
            <p:nvPr/>
          </p:nvSpPr>
          <p:spPr bwMode="auto">
            <a:xfrm>
              <a:off x="4333" y="2000"/>
              <a:ext cx="851" cy="188"/>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329" name="Text Box 49"/>
            <p:cNvSpPr txBox="1">
              <a:spLocks noChangeArrowheads="1"/>
            </p:cNvSpPr>
            <p:nvPr/>
          </p:nvSpPr>
          <p:spPr bwMode="auto">
            <a:xfrm>
              <a:off x="3606" y="1875"/>
              <a:ext cx="704"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反码算术</a:t>
              </a:r>
            </a:p>
            <a:p>
              <a:r>
                <a:rPr kumimoji="1" lang="zh-CN" altLang="en-US" sz="2000" b="1">
                  <a:solidFill>
                    <a:srgbClr val="0000CC"/>
                  </a:solidFill>
                  <a:latin typeface="+mn-lt"/>
                  <a:ea typeface="黑体" panose="02010609060101010101" pitchFamily="2" charset="-122"/>
                </a:rPr>
                <a:t>运算求和</a:t>
              </a:r>
            </a:p>
          </p:txBody>
        </p:sp>
      </p:grpSp>
      <p:grpSp>
        <p:nvGrpSpPr>
          <p:cNvPr id="481356" name="Group 76"/>
          <p:cNvGrpSpPr/>
          <p:nvPr/>
        </p:nvGrpSpPr>
        <p:grpSpPr bwMode="auto">
          <a:xfrm>
            <a:off x="6958575" y="4661624"/>
            <a:ext cx="2172096" cy="400051"/>
            <a:chOff x="3921" y="2574"/>
            <a:chExt cx="1263" cy="252"/>
          </a:xfrm>
        </p:grpSpPr>
        <p:sp>
          <p:nvSpPr>
            <p:cNvPr id="481330" name="Rectangle 50"/>
            <p:cNvSpPr>
              <a:spLocks noChangeArrowheads="1"/>
            </p:cNvSpPr>
            <p:nvPr/>
          </p:nvSpPr>
          <p:spPr bwMode="auto">
            <a:xfrm>
              <a:off x="4333" y="2619"/>
              <a:ext cx="851" cy="186"/>
            </a:xfrm>
            <a:prstGeom prst="rect">
              <a:avLst/>
            </a:prstGeom>
            <a:solidFill>
              <a:srgbClr val="FFC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anose="02010609060101010101" pitchFamily="2" charset="-122"/>
                </a:rPr>
                <a:t>16 </a:t>
              </a:r>
              <a:r>
                <a:rPr kumimoji="1" lang="zh-CN" altLang="en-US" sz="2000" b="1">
                  <a:solidFill>
                    <a:srgbClr val="0000CC"/>
                  </a:solidFill>
                  <a:latin typeface="+mn-lt"/>
                  <a:ea typeface="黑体" panose="02010609060101010101" pitchFamily="2" charset="-122"/>
                </a:rPr>
                <a:t>位</a:t>
              </a:r>
            </a:p>
          </p:txBody>
        </p:sp>
        <p:sp>
          <p:nvSpPr>
            <p:cNvPr id="481331" name="Text Box 51"/>
            <p:cNvSpPr txBox="1">
              <a:spLocks noChangeArrowheads="1"/>
            </p:cNvSpPr>
            <p:nvPr/>
          </p:nvSpPr>
          <p:spPr bwMode="auto">
            <a:xfrm>
              <a:off x="3921" y="2574"/>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结果</a:t>
              </a:r>
            </a:p>
          </p:txBody>
        </p:sp>
      </p:grpSp>
      <p:sp>
        <p:nvSpPr>
          <p:cNvPr id="481333" name="Text Box 53"/>
          <p:cNvSpPr txBox="1">
            <a:spLocks noChangeArrowheads="1"/>
          </p:cNvSpPr>
          <p:nvPr/>
        </p:nvSpPr>
        <p:spPr bwMode="auto">
          <a:xfrm>
            <a:off x="8050642" y="202002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481334" name="Text Box 54"/>
          <p:cNvSpPr txBox="1">
            <a:spLocks noChangeArrowheads="1"/>
          </p:cNvSpPr>
          <p:nvPr/>
        </p:nvSpPr>
        <p:spPr bwMode="auto">
          <a:xfrm>
            <a:off x="8033444" y="261057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t>
            </a:r>
          </a:p>
        </p:txBody>
      </p:sp>
      <p:sp>
        <p:nvSpPr>
          <p:cNvPr id="481335" name="Line 55"/>
          <p:cNvSpPr>
            <a:spLocks noChangeShapeType="1"/>
          </p:cNvSpPr>
          <p:nvPr/>
        </p:nvSpPr>
        <p:spPr bwMode="auto">
          <a:xfrm>
            <a:off x="6863986" y="3455119"/>
            <a:ext cx="2799821"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481355" name="Group 75"/>
          <p:cNvGrpSpPr/>
          <p:nvPr/>
        </p:nvGrpSpPr>
        <p:grpSpPr bwMode="auto">
          <a:xfrm>
            <a:off x="7352407" y="4152032"/>
            <a:ext cx="1174618" cy="501650"/>
            <a:chOff x="4150" y="2253"/>
            <a:chExt cx="683" cy="316"/>
          </a:xfrm>
        </p:grpSpPr>
        <p:sp>
          <p:nvSpPr>
            <p:cNvPr id="481332" name="AutoShape 52"/>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36" name="Text Box 56"/>
            <p:cNvSpPr txBox="1">
              <a:spLocks noChangeArrowheads="1"/>
            </p:cNvSpPr>
            <p:nvPr/>
          </p:nvSpPr>
          <p:spPr bwMode="auto">
            <a:xfrm>
              <a:off x="4150" y="226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取反码</a:t>
              </a:r>
            </a:p>
          </p:txBody>
        </p:sp>
      </p:grpSp>
      <p:sp>
        <p:nvSpPr>
          <p:cNvPr id="481337" name="AutoShape 57"/>
          <p:cNvSpPr/>
          <p:nvPr/>
        </p:nvSpPr>
        <p:spPr bwMode="auto">
          <a:xfrm>
            <a:off x="6649012" y="1402483"/>
            <a:ext cx="171979" cy="1931987"/>
          </a:xfrm>
          <a:prstGeom prst="leftBrace">
            <a:avLst>
              <a:gd name="adj1" fmla="val 101417"/>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b="1">
              <a:solidFill>
                <a:srgbClr val="0000CC"/>
              </a:solidFill>
              <a:latin typeface="+mn-lt"/>
              <a:ea typeface="黑体" panose="02010609060101010101" pitchFamily="2" charset="-122"/>
            </a:endParaRPr>
          </a:p>
        </p:txBody>
      </p:sp>
      <p:sp>
        <p:nvSpPr>
          <p:cNvPr id="481338" name="Text Box 58"/>
          <p:cNvSpPr txBox="1">
            <a:spLocks noChangeArrowheads="1"/>
          </p:cNvSpPr>
          <p:nvPr/>
        </p:nvSpPr>
        <p:spPr bwMode="auto">
          <a:xfrm>
            <a:off x="4435640" y="547759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数据部分</a:t>
            </a:r>
          </a:p>
        </p:txBody>
      </p:sp>
      <p:sp>
        <p:nvSpPr>
          <p:cNvPr id="481339" name="AutoShape 59"/>
          <p:cNvSpPr/>
          <p:nvPr/>
        </p:nvSpPr>
        <p:spPr bwMode="auto">
          <a:xfrm>
            <a:off x="5985173" y="4523507"/>
            <a:ext cx="173698" cy="742950"/>
          </a:xfrm>
          <a:prstGeom prst="rightBrace">
            <a:avLst>
              <a:gd name="adj1" fmla="val 38614"/>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40" name="Freeform 60"/>
          <p:cNvSpPr/>
          <p:nvPr/>
        </p:nvSpPr>
        <p:spPr bwMode="auto">
          <a:xfrm>
            <a:off x="6158872" y="2367682"/>
            <a:ext cx="491860" cy="2525712"/>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28575"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481357" name="Group 77"/>
          <p:cNvGrpSpPr/>
          <p:nvPr/>
        </p:nvGrpSpPr>
        <p:grpSpPr bwMode="auto">
          <a:xfrm>
            <a:off x="7166669" y="5136282"/>
            <a:ext cx="2682875" cy="1389062"/>
            <a:chOff x="4042" y="2873"/>
            <a:chExt cx="1560" cy="875"/>
          </a:xfrm>
        </p:grpSpPr>
        <p:sp>
          <p:nvSpPr>
            <p:cNvPr id="481341" name="AutoShape 61"/>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81342" name="Rectangle 62"/>
            <p:cNvSpPr>
              <a:spLocks noChangeArrowheads="1"/>
            </p:cNvSpPr>
            <p:nvPr/>
          </p:nvSpPr>
          <p:spPr bwMode="auto">
            <a:xfrm>
              <a:off x="4042" y="3235"/>
              <a:ext cx="1560" cy="513"/>
            </a:xfrm>
            <a:prstGeom prst="rect">
              <a:avLst/>
            </a:prstGeom>
            <a:solidFill>
              <a:srgbClr val="CCECFF"/>
            </a:solidFill>
            <a:ln w="12700">
              <a:solidFill>
                <a:srgbClr val="333399"/>
              </a:solidFill>
              <a:miter lim="800000"/>
            </a:ln>
            <a:effectLst>
              <a:outerShdw dist="35921" dir="2700000" algn="ctr" rotWithShape="0">
                <a:schemeClr val="bg2"/>
              </a:outerShdw>
            </a:effectLst>
          </p:spPr>
          <p:txBody>
            <a:bodyPr wrap="none" anchor="ctr"/>
            <a:lstStyle/>
            <a:p>
              <a:r>
                <a:rPr kumimoji="1" lang="zh-CN" altLang="en-US" sz="2000" b="1">
                  <a:solidFill>
                    <a:srgbClr val="0000CC"/>
                  </a:solidFill>
                  <a:latin typeface="+mn-lt"/>
                  <a:ea typeface="黑体" panose="02010609060101010101" pitchFamily="2" charset="-122"/>
                </a:rPr>
                <a:t>若结果为 </a:t>
              </a:r>
              <a:r>
                <a:rPr kumimoji="1" lang="en-US" altLang="zh-CN" sz="2000" b="1">
                  <a:solidFill>
                    <a:srgbClr val="0000CC"/>
                  </a:solidFill>
                  <a:latin typeface="+mn-lt"/>
                  <a:ea typeface="黑体" panose="02010609060101010101" pitchFamily="2" charset="-122"/>
                </a:rPr>
                <a:t>0, </a:t>
              </a:r>
              <a:r>
                <a:rPr kumimoji="1" lang="zh-CN" altLang="en-US" sz="2000" b="1">
                  <a:solidFill>
                    <a:srgbClr val="0000CC"/>
                  </a:solidFill>
                  <a:latin typeface="+mn-lt"/>
                  <a:ea typeface="黑体" panose="02010609060101010101" pitchFamily="2" charset="-122"/>
                </a:rPr>
                <a:t>则保留；</a:t>
              </a:r>
            </a:p>
            <a:p>
              <a:r>
                <a:rPr kumimoji="1" lang="zh-CN" altLang="en-US" sz="2000" b="1">
                  <a:solidFill>
                    <a:srgbClr val="0000CC"/>
                  </a:solidFill>
                  <a:latin typeface="+mn-lt"/>
                  <a:ea typeface="黑体" panose="02010609060101010101" pitchFamily="2" charset="-122"/>
                </a:rPr>
                <a:t>否则，丢弃该数据报</a:t>
              </a:r>
            </a:p>
          </p:txBody>
        </p:sp>
      </p:grpSp>
      <p:grpSp>
        <p:nvGrpSpPr>
          <p:cNvPr id="481352" name="Group 72"/>
          <p:cNvGrpSpPr/>
          <p:nvPr/>
        </p:nvGrpSpPr>
        <p:grpSpPr bwMode="auto">
          <a:xfrm>
            <a:off x="1202433" y="5463308"/>
            <a:ext cx="3124861" cy="708025"/>
            <a:chOff x="574" y="3079"/>
            <a:chExt cx="1817" cy="446"/>
          </a:xfrm>
        </p:grpSpPr>
        <p:sp>
          <p:nvSpPr>
            <p:cNvPr id="481343" name="Text Box 63"/>
            <p:cNvSpPr txBox="1">
              <a:spLocks noChangeArrowheads="1"/>
            </p:cNvSpPr>
            <p:nvPr/>
          </p:nvSpPr>
          <p:spPr bwMode="auto">
            <a:xfrm>
              <a:off x="574" y="3079"/>
              <a:ext cx="145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数据部分</a:t>
              </a:r>
            </a:p>
            <a:p>
              <a:pPr algn="ctr"/>
              <a:r>
                <a:rPr kumimoji="1" lang="zh-CN" altLang="en-US" sz="2000" b="1">
                  <a:solidFill>
                    <a:srgbClr val="0000CC"/>
                  </a:solidFill>
                  <a:latin typeface="+mn-lt"/>
                  <a:ea typeface="黑体" panose="02010609060101010101" pitchFamily="2" charset="-122"/>
                </a:rPr>
                <a:t>不参与检验和的计算</a:t>
              </a:r>
            </a:p>
          </p:txBody>
        </p:sp>
        <p:sp>
          <p:nvSpPr>
            <p:cNvPr id="481344" name="Line 64"/>
            <p:cNvSpPr>
              <a:spLocks noChangeShapeType="1"/>
            </p:cNvSpPr>
            <p:nvPr/>
          </p:nvSpPr>
          <p:spPr bwMode="auto">
            <a:xfrm>
              <a:off x="2020" y="3266"/>
              <a:ext cx="371" cy="0"/>
            </a:xfrm>
            <a:prstGeom prst="line">
              <a:avLst/>
            </a:prstGeom>
            <a:noFill/>
            <a:ln w="952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74" name="矩形 73"/>
          <p:cNvSpPr/>
          <p:nvPr/>
        </p:nvSpPr>
        <p:spPr>
          <a:xfrm>
            <a:off x="317174" y="97468"/>
            <a:ext cx="8380242" cy="461665"/>
          </a:xfrm>
          <a:prstGeom prst="rect">
            <a:avLst/>
          </a:prstGeom>
          <a:solidFill>
            <a:srgbClr val="FFFFCC"/>
          </a:solidFill>
          <a:ln w="9525">
            <a:solidFill>
              <a:schemeClr val="folHlink"/>
            </a:solidFill>
            <a:miter lim="800000"/>
          </a:ln>
          <a:effectLst>
            <a:outerShdw dist="35921" dir="2700000" algn="ctr" rotWithShape="0">
              <a:schemeClr val="bg2"/>
            </a:outerShdw>
          </a:effectLst>
        </p:spPr>
        <p:txBody>
          <a:bodyPr wrap="square">
            <a:spAutoFit/>
          </a:bodyPr>
          <a:lstStyle/>
          <a:p>
            <a:pPr algn="ctr"/>
            <a:r>
              <a:rPr lang="en-US" altLang="zh-CN" sz="2400" b="1" dirty="0">
                <a:solidFill>
                  <a:srgbClr val="0000CC"/>
                </a:solidFill>
                <a:latin typeface="Arial" panose="020B0604020202020204" pitchFamily="34" charset="0"/>
                <a:ea typeface="黑体" panose="02010609060101010101" pitchFamily="2" charset="-122"/>
              </a:rPr>
              <a:t>IP </a:t>
            </a:r>
            <a:r>
              <a:rPr lang="zh-CN" altLang="en-US" sz="2400" b="1" dirty="0">
                <a:solidFill>
                  <a:srgbClr val="0000CC"/>
                </a:solidFill>
                <a:latin typeface="Arial" panose="020B0604020202020204" pitchFamily="34" charset="0"/>
                <a:ea typeface="黑体" panose="02010609060101010101" pitchFamily="2" charset="-122"/>
              </a:rPr>
              <a:t>数据报</a:t>
            </a:r>
            <a:r>
              <a:rPr lang="zh-CN" altLang="zh-CN" sz="2400" b="1" dirty="0">
                <a:solidFill>
                  <a:srgbClr val="0000CC"/>
                </a:solidFill>
                <a:latin typeface="Arial" panose="020B0604020202020204" pitchFamily="34" charset="0"/>
                <a:ea typeface="黑体" panose="02010609060101010101" pitchFamily="2" charset="-122"/>
              </a:rPr>
              <a:t>首部检验和的计算</a:t>
            </a:r>
            <a:r>
              <a:rPr lang="zh-CN" altLang="en-US" sz="2400" b="1" dirty="0">
                <a:solidFill>
                  <a:srgbClr val="0000CC"/>
                </a:solidFill>
                <a:latin typeface="Arial" panose="020B0604020202020204" pitchFamily="34" charset="0"/>
                <a:ea typeface="黑体" panose="02010609060101010101" pitchFamily="2" charset="-122"/>
              </a:rPr>
              <a:t>采用 </a:t>
            </a:r>
            <a:r>
              <a:rPr lang="en-US" altLang="zh-CN" sz="2400" b="1" dirty="0">
                <a:solidFill>
                  <a:srgbClr val="0000CC"/>
                </a:solidFill>
                <a:latin typeface="Arial" panose="020B0604020202020204" pitchFamily="34" charset="0"/>
                <a:ea typeface="黑体" panose="02010609060101010101" pitchFamily="2" charset="-122"/>
              </a:rPr>
              <a:t>16 </a:t>
            </a:r>
            <a:r>
              <a:rPr lang="zh-CN" altLang="en-US" sz="2400" b="1" dirty="0">
                <a:solidFill>
                  <a:srgbClr val="0000CC"/>
                </a:solidFill>
                <a:latin typeface="Arial" panose="020B0604020202020204" pitchFamily="34" charset="0"/>
                <a:ea typeface="黑体" panose="02010609060101010101" pitchFamily="2" charset="-122"/>
              </a:rPr>
              <a:t>位</a:t>
            </a:r>
            <a:r>
              <a:rPr lang="zh-CN" altLang="zh-CN" sz="2400" b="1" dirty="0">
                <a:solidFill>
                  <a:srgbClr val="C00000"/>
                </a:solidFill>
                <a:latin typeface="Arial" panose="020B0604020202020204" pitchFamily="34" charset="0"/>
                <a:ea typeface="黑体" panose="02010609060101010101" pitchFamily="2" charset="-122"/>
              </a:rPr>
              <a:t>二进制反码求和</a:t>
            </a:r>
            <a:r>
              <a:rPr lang="zh-CN" altLang="en-US" sz="2400" b="1" dirty="0">
                <a:solidFill>
                  <a:srgbClr val="C00000"/>
                </a:solidFill>
                <a:latin typeface="Arial" panose="020B0604020202020204" pitchFamily="34" charset="0"/>
                <a:ea typeface="黑体" panose="02010609060101010101" pitchFamily="2" charset="-122"/>
              </a:rPr>
              <a:t>算法</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p:stCondLst>
                        <p:cond delay="indefinite"/>
                      </p:stCondLst>
                      <p:childTnLst>
                        <p:par>
                          <p:cTn id="29" fill="hold">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p:stCondLst>
                        <p:cond delay="indefinite"/>
                      </p:stCondLst>
                      <p:childTnLst>
                        <p:par>
                          <p:cTn id="33" fill="hold">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p:stCondLst>
                        <p:cond delay="indefinite"/>
                      </p:stCondLst>
                      <p:childTnLst>
                        <p:par>
                          <p:cTn id="37" fill="hold">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p:stCondLst>
                        <p:cond delay="indefinite"/>
                      </p:stCondLst>
                      <p:childTnLst>
                        <p:par>
                          <p:cTn id="41" fill="hold">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p:stCondLst>
                        <p:cond delay="indefinite"/>
                      </p:stCondLst>
                      <p:childTnLst>
                        <p:par>
                          <p:cTn id="45" fill="hold">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9"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6079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71655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2" name="Rectangle 8"/>
          <p:cNvSpPr>
            <a:spLocks noChangeArrowheads="1"/>
          </p:cNvSpPr>
          <p:nvPr/>
        </p:nvSpPr>
        <p:spPr bwMode="auto">
          <a:xfrm>
            <a:off x="3351875" y="165915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649633"/>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303933"/>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100483"/>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54339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8789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42604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70546"/>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65757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657571"/>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552921"/>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657571"/>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65783"/>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110008"/>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8455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16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6562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6562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16080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8455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845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1608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943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6562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30244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6573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9435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25593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6550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403564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404517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43728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grpSp>
        <p:nvGrpSpPr>
          <p:cNvPr id="379998" name="Group 94"/>
          <p:cNvGrpSpPr/>
          <p:nvPr/>
        </p:nvGrpSpPr>
        <p:grpSpPr bwMode="auto">
          <a:xfrm>
            <a:off x="265981" y="162899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sp>
        <p:nvSpPr>
          <p:cNvPr id="380001" name="AutoShape 97"/>
          <p:cNvSpPr/>
          <p:nvPr/>
        </p:nvSpPr>
        <p:spPr bwMode="auto">
          <a:xfrm>
            <a:off x="998834" y="1700433"/>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0" name="Group 77"/>
          <p:cNvGrpSpPr/>
          <p:nvPr/>
        </p:nvGrpSpPr>
        <p:grpSpPr bwMode="auto">
          <a:xfrm>
            <a:off x="1209014" y="2995835"/>
            <a:ext cx="8521567" cy="2665413"/>
            <a:chOff x="703" y="1706"/>
            <a:chExt cx="4955" cy="1679"/>
          </a:xfrm>
        </p:grpSpPr>
        <p:sp>
          <p:nvSpPr>
            <p:cNvPr id="61" name="Text Box 74"/>
            <p:cNvSpPr txBox="1">
              <a:spLocks noChangeArrowheads="1"/>
            </p:cNvSpPr>
            <p:nvPr/>
          </p:nvSpPr>
          <p:spPr bwMode="auto">
            <a:xfrm>
              <a:off x="1175" y="3094"/>
              <a:ext cx="2645"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anose="02010609060101010101" pitchFamily="2" charset="-122"/>
                </a:defRPr>
              </a:lvl1pPr>
            </a:lstStyle>
            <a:p>
              <a:r>
                <a:rPr lang="zh-CN" altLang="en-US" dirty="0"/>
                <a:t>源地址和目的地址都各占 </a:t>
              </a:r>
              <a:r>
                <a:rPr lang="en-US" altLang="zh-CN" dirty="0"/>
                <a:t>4 </a:t>
              </a:r>
              <a:r>
                <a:rPr lang="zh-CN" altLang="en-US" dirty="0"/>
                <a:t>字节</a:t>
              </a:r>
            </a:p>
          </p:txBody>
        </p:sp>
        <p:sp>
          <p:nvSpPr>
            <p:cNvPr id="62" name="Rectangle 75"/>
            <p:cNvSpPr>
              <a:spLocks noChangeArrowheads="1"/>
            </p:cNvSpPr>
            <p:nvPr/>
          </p:nvSpPr>
          <p:spPr bwMode="auto">
            <a:xfrm>
              <a:off x="703" y="1706"/>
              <a:ext cx="4955" cy="545"/>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092" name="Rectangle 212"/>
          <p:cNvSpPr>
            <a:spLocks noGrp="1" noChangeArrowheads="1"/>
          </p:cNvSpPr>
          <p:nvPr>
            <p:ph type="title"/>
          </p:nvPr>
        </p:nvSpPr>
        <p:spPr/>
        <p:txBody>
          <a:bodyPr/>
          <a:lstStyle/>
          <a:p>
            <a:r>
              <a:rPr lang="en-US" altLang="zh-CN" dirty="0"/>
              <a:t>2.  IP </a:t>
            </a:r>
            <a:r>
              <a:rPr lang="zh-CN" altLang="en-US" dirty="0"/>
              <a:t>数据报首部的可变部分 </a:t>
            </a:r>
          </a:p>
        </p:txBody>
      </p:sp>
      <p:sp>
        <p:nvSpPr>
          <p:cNvPr id="251093" name="Rectangle 213"/>
          <p:cNvSpPr>
            <a:spLocks noGrp="1" noChangeArrowheads="1"/>
          </p:cNvSpPr>
          <p:nvPr>
            <p:ph idx="1"/>
          </p:nvPr>
        </p:nvSpPr>
        <p:spPr/>
        <p:txBody>
          <a:bodyPr/>
          <a:lstStyle/>
          <a:p>
            <a:pPr algn="just">
              <a:lnSpc>
                <a:spcPct val="100000"/>
              </a:lnSpc>
            </a:pPr>
            <a:r>
              <a:rPr lang="en-US" altLang="zh-CN" dirty="0"/>
              <a:t>IP </a:t>
            </a:r>
            <a:r>
              <a:rPr lang="zh-CN" altLang="en-US" dirty="0"/>
              <a:t>首部的可变部分就是一个选项字段，用来支持排错、测量以及安全等措施，内容很丰富。</a:t>
            </a:r>
          </a:p>
          <a:p>
            <a:pPr algn="just">
              <a:lnSpc>
                <a:spcPct val="100000"/>
              </a:lnSpc>
            </a:pPr>
            <a:r>
              <a:rPr lang="zh-CN" altLang="en-US" dirty="0"/>
              <a:t>选项字段的长度可变，</a:t>
            </a:r>
            <a:r>
              <a:rPr lang="zh-CN" altLang="en-US" dirty="0">
                <a:solidFill>
                  <a:srgbClr val="FF0000"/>
                </a:solidFill>
              </a:rPr>
              <a:t>从 </a:t>
            </a:r>
            <a:r>
              <a:rPr lang="en-US" altLang="zh-CN" dirty="0">
                <a:solidFill>
                  <a:srgbClr val="FF0000"/>
                </a:solidFill>
              </a:rPr>
              <a:t>1 </a:t>
            </a:r>
            <a:r>
              <a:rPr lang="zh-CN" altLang="en-US" dirty="0">
                <a:solidFill>
                  <a:srgbClr val="FF0000"/>
                </a:solidFill>
              </a:rPr>
              <a:t>个字节到 </a:t>
            </a:r>
            <a:r>
              <a:rPr lang="en-US" altLang="zh-CN" dirty="0">
                <a:solidFill>
                  <a:srgbClr val="FF0000"/>
                </a:solidFill>
              </a:rPr>
              <a:t>40 </a:t>
            </a:r>
            <a:r>
              <a:rPr lang="zh-CN" altLang="en-US" dirty="0">
                <a:solidFill>
                  <a:srgbClr val="FF0000"/>
                </a:solidFill>
              </a:rPr>
              <a:t>个字节不等，</a:t>
            </a:r>
            <a:r>
              <a:rPr lang="zh-CN" altLang="en-US" dirty="0"/>
              <a:t>取决于所选择的项目。</a:t>
            </a:r>
          </a:p>
          <a:p>
            <a:pPr algn="just">
              <a:lnSpc>
                <a:spcPct val="100000"/>
              </a:lnSpc>
            </a:pPr>
            <a:r>
              <a:rPr lang="zh-CN" altLang="en-US" dirty="0"/>
              <a:t>增加首部的可变部分是为了增加 </a:t>
            </a:r>
            <a:r>
              <a:rPr lang="en-US" altLang="zh-CN" dirty="0"/>
              <a:t>IP </a:t>
            </a:r>
            <a:r>
              <a:rPr lang="zh-CN" altLang="en-US" dirty="0"/>
              <a:t>数据报的功能，但这同时也使得 </a:t>
            </a:r>
            <a:r>
              <a:rPr lang="en-US" altLang="zh-CN" dirty="0"/>
              <a:t>IP </a:t>
            </a:r>
            <a:r>
              <a:rPr lang="zh-CN" altLang="en-US" dirty="0"/>
              <a:t>数据报的首部长度成为可变的。这就增加了每一个路由器处理数据报的开销。</a:t>
            </a:r>
          </a:p>
          <a:p>
            <a:pPr algn="just">
              <a:lnSpc>
                <a:spcPct val="100000"/>
              </a:lnSpc>
            </a:pPr>
            <a:r>
              <a:rPr lang="zh-CN" altLang="en-US" dirty="0">
                <a:solidFill>
                  <a:srgbClr val="0000FF"/>
                </a:solidFill>
              </a:rPr>
              <a:t>实际上这些选项很少被使用。</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274944995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4.4  </a:t>
            </a:r>
            <a:r>
              <a:rPr lang="zh-CN" altLang="zh-CN" dirty="0"/>
              <a:t>网际控制报文协议</a:t>
            </a:r>
            <a:r>
              <a:rPr lang="en-US" altLang="zh-CN" dirty="0"/>
              <a:t> ICMP</a:t>
            </a:r>
            <a:endParaRPr lang="zh-CN" altLang="en-US" dirty="0"/>
          </a:p>
        </p:txBody>
      </p:sp>
      <p:sp>
        <p:nvSpPr>
          <p:cNvPr id="931843" name="Rectangle 3"/>
          <p:cNvSpPr>
            <a:spLocks noGrp="1" noChangeArrowheads="1"/>
          </p:cNvSpPr>
          <p:nvPr>
            <p:ph idx="1"/>
          </p:nvPr>
        </p:nvSpPr>
        <p:spPr/>
        <p:txBody>
          <a:bodyPr/>
          <a:lstStyle/>
          <a:p>
            <a:r>
              <a:rPr lang="en-US" altLang="zh-CN" dirty="0"/>
              <a:t>4.4.1  ICMP </a:t>
            </a:r>
            <a:r>
              <a:rPr lang="zh-CN" altLang="zh-CN" dirty="0"/>
              <a:t>报文的种类</a:t>
            </a:r>
          </a:p>
          <a:p>
            <a:r>
              <a:rPr lang="en-US" altLang="zh-CN" dirty="0"/>
              <a:t>4.4.2  ICMP </a:t>
            </a:r>
            <a:r>
              <a:rPr lang="zh-CN" altLang="zh-CN" dirty="0"/>
              <a:t>的应用举例</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4.4  </a:t>
            </a:r>
            <a:r>
              <a:rPr lang="zh-CN" altLang="zh-CN" dirty="0"/>
              <a:t>网际控制报文协议</a:t>
            </a:r>
            <a:r>
              <a:rPr lang="en-US" altLang="zh-CN" dirty="0"/>
              <a:t>ICMP</a:t>
            </a:r>
            <a:endParaRPr lang="zh-CN" altLang="en-US" dirty="0"/>
          </a:p>
        </p:txBody>
      </p:sp>
      <p:sp>
        <p:nvSpPr>
          <p:cNvPr id="931843" name="Rectangle 3"/>
          <p:cNvSpPr>
            <a:spLocks noGrp="1" noChangeArrowheads="1"/>
          </p:cNvSpPr>
          <p:nvPr>
            <p:ph idx="1"/>
          </p:nvPr>
        </p:nvSpPr>
        <p:spPr/>
        <p:txBody>
          <a:bodyPr/>
          <a:lstStyle/>
          <a:p>
            <a:r>
              <a:rPr lang="zh-CN" altLang="zh-CN" sz="2800" dirty="0"/>
              <a:t>为了更有效地转发</a:t>
            </a:r>
            <a:r>
              <a:rPr lang="en-US" altLang="zh-CN" sz="2800" dirty="0"/>
              <a:t> IP </a:t>
            </a:r>
            <a:r>
              <a:rPr lang="zh-CN" altLang="zh-CN" sz="2800" dirty="0"/>
              <a:t>数据报和提高交付成功的机会，在网际层使用了网际控制报文协议</a:t>
            </a:r>
            <a:r>
              <a:rPr lang="en-US" altLang="zh-CN" sz="2800" dirty="0"/>
              <a:t> ICMP (Internet Control Message Protocol)</a:t>
            </a:r>
            <a:r>
              <a:rPr lang="zh-CN" altLang="zh-CN" sz="2800" dirty="0"/>
              <a:t>。</a:t>
            </a:r>
            <a:endParaRPr lang="en-US" altLang="zh-CN" sz="2800" dirty="0"/>
          </a:p>
          <a:p>
            <a:r>
              <a:rPr lang="en-US" altLang="zh-CN" sz="2800" dirty="0"/>
              <a:t>ICMP </a:t>
            </a:r>
            <a:r>
              <a:rPr lang="zh-CN" altLang="zh-CN" sz="2800" dirty="0"/>
              <a:t>是互联网的标准协议。</a:t>
            </a:r>
            <a:endParaRPr lang="en-US" altLang="zh-CN" sz="2800" dirty="0"/>
          </a:p>
          <a:p>
            <a:r>
              <a:rPr lang="en-US" altLang="zh-CN" sz="2800" dirty="0">
                <a:solidFill>
                  <a:srgbClr val="C00000"/>
                </a:solidFill>
              </a:rPr>
              <a:t>ICMP </a:t>
            </a:r>
            <a:r>
              <a:rPr lang="zh-CN" altLang="zh-CN" sz="2800" dirty="0">
                <a:solidFill>
                  <a:srgbClr val="C00000"/>
                </a:solidFill>
              </a:rPr>
              <a:t>允许主机或路由器报告差错情况和提供有关异常情况的报告。</a:t>
            </a:r>
            <a:endParaRPr lang="en-US" altLang="zh-CN" sz="2800" dirty="0"/>
          </a:p>
          <a:p>
            <a:r>
              <a:rPr lang="zh-CN" altLang="zh-CN" sz="2800" dirty="0"/>
              <a:t>但</a:t>
            </a:r>
            <a:r>
              <a:rPr lang="en-US" altLang="zh-CN" sz="2800" dirty="0"/>
              <a:t> ICMP </a:t>
            </a:r>
            <a:r>
              <a:rPr lang="zh-CN" altLang="zh-CN" sz="2800" dirty="0"/>
              <a:t>不是高层协议（看起来好像是高层协议，因为</a:t>
            </a:r>
            <a:r>
              <a:rPr lang="en-US" altLang="zh-CN" sz="2800" dirty="0"/>
              <a:t> ICMP </a:t>
            </a:r>
            <a:r>
              <a:rPr lang="zh-CN" altLang="zh-CN" sz="2800" dirty="0"/>
              <a:t>报文是装在</a:t>
            </a:r>
            <a:r>
              <a:rPr lang="en-US" altLang="zh-CN" sz="2800" dirty="0"/>
              <a:t> IP </a:t>
            </a:r>
            <a:r>
              <a:rPr lang="zh-CN" altLang="zh-CN" sz="2800" dirty="0"/>
              <a:t>数据报中，作为其中的数据部分），而是</a:t>
            </a:r>
            <a:r>
              <a:rPr lang="en-US" altLang="zh-CN" sz="2800" dirty="0"/>
              <a:t> IP </a:t>
            </a:r>
            <a:r>
              <a:rPr lang="zh-CN" altLang="zh-CN" sz="2800" dirty="0"/>
              <a:t>层的协议。</a:t>
            </a:r>
            <a:endParaRPr lang="zh-CN" altLang="en-US" sz="2800" dirty="0">
              <a:solidFill>
                <a:srgbClr val="0000CC"/>
              </a:solidFill>
            </a:endParaRP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7" name="Rectangle 3"/>
          <p:cNvSpPr>
            <a:spLocks noGrp="1" noChangeArrowheads="1"/>
          </p:cNvSpPr>
          <p:nvPr>
            <p:ph type="title"/>
          </p:nvPr>
        </p:nvSpPr>
        <p:spPr/>
        <p:txBody>
          <a:bodyPr/>
          <a:lstStyle/>
          <a:p>
            <a:pPr algn="ctr"/>
            <a:r>
              <a:rPr lang="en-US" altLang="zh-CN" dirty="0"/>
              <a:t>ICMP </a:t>
            </a:r>
            <a:r>
              <a:rPr lang="zh-CN" altLang="en-US" dirty="0"/>
              <a:t>报文的格式 </a:t>
            </a:r>
          </a:p>
        </p:txBody>
      </p:sp>
      <p:sp>
        <p:nvSpPr>
          <p:cNvPr id="538655" name="AutoShape 31"/>
          <p:cNvSpPr>
            <a:spLocks noChangeArrowheads="1"/>
          </p:cNvSpPr>
          <p:nvPr/>
        </p:nvSpPr>
        <p:spPr bwMode="auto">
          <a:xfrm rot="5400000">
            <a:off x="2246455" y="4542640"/>
            <a:ext cx="288925" cy="507338"/>
          </a:xfrm>
          <a:prstGeom prst="downArrow">
            <a:avLst>
              <a:gd name="adj1" fmla="val 47222"/>
              <a:gd name="adj2" fmla="val 83745"/>
            </a:avLst>
          </a:prstGeom>
          <a:solidFill>
            <a:srgbClr val="C00000"/>
          </a:solidFill>
          <a:ln w="9525">
            <a:solidFill>
              <a:schemeClr val="tx1"/>
            </a:solidFill>
            <a:miter lim="800000"/>
          </a:ln>
          <a:effec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38626" name="Rectangle 2"/>
          <p:cNvSpPr>
            <a:spLocks noChangeArrowheads="1"/>
          </p:cNvSpPr>
          <p:nvPr/>
        </p:nvSpPr>
        <p:spPr bwMode="auto">
          <a:xfrm>
            <a:off x="2615350" y="4618509"/>
            <a:ext cx="4602163" cy="390525"/>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28" name="Rectangle 4"/>
          <p:cNvSpPr>
            <a:spLocks noChangeArrowheads="1"/>
          </p:cNvSpPr>
          <p:nvPr/>
        </p:nvSpPr>
        <p:spPr bwMode="auto">
          <a:xfrm>
            <a:off x="3870799" y="4642321"/>
            <a:ext cx="3326077" cy="36671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29" name="Freeform 5"/>
          <p:cNvSpPr/>
          <p:nvPr/>
        </p:nvSpPr>
        <p:spPr bwMode="auto">
          <a:xfrm>
            <a:off x="2641147" y="3397721"/>
            <a:ext cx="6081183" cy="468312"/>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chemeClr val="bg1">
                  <a:lumMod val="65000"/>
                </a:schemeClr>
              </a:gs>
              <a:gs pos="100000">
                <a:srgbClr val="FFFF00"/>
              </a:gs>
            </a:gsLst>
            <a:lin ang="16200000" scaled="1"/>
            <a:tileRect/>
          </a:gradFill>
          <a:ln>
            <a:noFill/>
          </a:ln>
          <a:effectLst/>
        </p:spPr>
        <p:txBody>
          <a:bodyPr/>
          <a:lstStyle/>
          <a:p>
            <a:endParaRPr lang="zh-CN" altLang="en-US" b="1">
              <a:solidFill>
                <a:srgbClr val="0000CC"/>
              </a:solidFill>
              <a:latin typeface="+mn-lt"/>
              <a:ea typeface="黑体" panose="02010609060101010101" pitchFamily="2" charset="-122"/>
            </a:endParaRPr>
          </a:p>
        </p:txBody>
      </p:sp>
      <p:sp>
        <p:nvSpPr>
          <p:cNvPr id="538630" name="Line 6"/>
          <p:cNvSpPr>
            <a:spLocks noChangeShapeType="1"/>
          </p:cNvSpPr>
          <p:nvPr/>
        </p:nvSpPr>
        <p:spPr bwMode="auto">
          <a:xfrm>
            <a:off x="2615350" y="5242396"/>
            <a:ext cx="4602163"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31" name="Text Box 7"/>
          <p:cNvSpPr txBox="1">
            <a:spLocks noChangeArrowheads="1"/>
          </p:cNvSpPr>
          <p:nvPr/>
        </p:nvSpPr>
        <p:spPr bwMode="auto">
          <a:xfrm>
            <a:off x="2721977" y="4615334"/>
            <a:ext cx="8418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首  部</a:t>
            </a:r>
          </a:p>
        </p:txBody>
      </p:sp>
      <p:sp>
        <p:nvSpPr>
          <p:cNvPr id="538632" name="Rectangle 8"/>
          <p:cNvSpPr>
            <a:spLocks noChangeArrowheads="1"/>
          </p:cNvSpPr>
          <p:nvPr/>
        </p:nvSpPr>
        <p:spPr bwMode="auto">
          <a:xfrm>
            <a:off x="3870798" y="3842221"/>
            <a:ext cx="3346715" cy="392112"/>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anose="02010609060101010101" pitchFamily="2" charset="-122"/>
              </a:rPr>
              <a:t>ICMP </a:t>
            </a:r>
            <a:r>
              <a:rPr kumimoji="1" lang="zh-CN" altLang="en-US" sz="2000" b="1">
                <a:solidFill>
                  <a:srgbClr val="0000CC"/>
                </a:solidFill>
                <a:latin typeface="+mn-lt"/>
                <a:ea typeface="黑体" panose="02010609060101010101" pitchFamily="2" charset="-122"/>
              </a:rPr>
              <a:t>报文</a:t>
            </a:r>
          </a:p>
        </p:txBody>
      </p:sp>
      <p:sp>
        <p:nvSpPr>
          <p:cNvPr id="538633" name="Text Box 9"/>
          <p:cNvSpPr txBox="1">
            <a:spLocks noChangeArrowheads="1"/>
          </p:cNvSpPr>
          <p:nvPr/>
        </p:nvSpPr>
        <p:spPr bwMode="auto">
          <a:xfrm>
            <a:off x="2519042" y="148478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0</a:t>
            </a:r>
          </a:p>
        </p:txBody>
      </p:sp>
      <p:sp>
        <p:nvSpPr>
          <p:cNvPr id="538634" name="Line 10"/>
          <p:cNvSpPr>
            <a:spLocks noChangeShapeType="1"/>
          </p:cNvSpPr>
          <p:nvPr/>
        </p:nvSpPr>
        <p:spPr bwMode="auto">
          <a:xfrm>
            <a:off x="3870798" y="4618509"/>
            <a:ext cx="0" cy="3905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35" name="Text Box 11"/>
          <p:cNvSpPr txBox="1">
            <a:spLocks noChangeArrowheads="1"/>
          </p:cNvSpPr>
          <p:nvPr/>
        </p:nvSpPr>
        <p:spPr bwMode="auto">
          <a:xfrm>
            <a:off x="4553556" y="4615334"/>
            <a:ext cx="16401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  据  部  分</a:t>
            </a:r>
          </a:p>
        </p:txBody>
      </p:sp>
      <p:sp>
        <p:nvSpPr>
          <p:cNvPr id="538636" name="AutoShape 12"/>
          <p:cNvSpPr>
            <a:spLocks noChangeArrowheads="1"/>
          </p:cNvSpPr>
          <p:nvPr/>
        </p:nvSpPr>
        <p:spPr bwMode="auto">
          <a:xfrm>
            <a:off x="5334341" y="4234334"/>
            <a:ext cx="313002" cy="468313"/>
          </a:xfrm>
          <a:prstGeom prst="downArrow">
            <a:avLst>
              <a:gd name="adj1" fmla="val 47222"/>
              <a:gd name="adj2" fmla="val 83746"/>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38637" name="Rectangle 13"/>
          <p:cNvSpPr>
            <a:spLocks noChangeArrowheads="1"/>
          </p:cNvSpPr>
          <p:nvPr/>
        </p:nvSpPr>
        <p:spPr bwMode="auto">
          <a:xfrm>
            <a:off x="2615350" y="1864197"/>
            <a:ext cx="6067425" cy="1563687"/>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38638" name="Line 14"/>
          <p:cNvSpPr>
            <a:spLocks noChangeShapeType="1"/>
          </p:cNvSpPr>
          <p:nvPr/>
        </p:nvSpPr>
        <p:spPr bwMode="auto">
          <a:xfrm rot="5400000" flipV="1">
            <a:off x="5649063" y="-809155"/>
            <a:ext cx="0" cy="60674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39" name="Line 15"/>
          <p:cNvSpPr>
            <a:spLocks noChangeShapeType="1"/>
          </p:cNvSpPr>
          <p:nvPr/>
        </p:nvSpPr>
        <p:spPr bwMode="auto">
          <a:xfrm flipV="1">
            <a:off x="4130486" y="1834034"/>
            <a:ext cx="0" cy="3905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40" name="Line 16"/>
          <p:cNvSpPr>
            <a:spLocks noChangeShapeType="1"/>
          </p:cNvSpPr>
          <p:nvPr/>
        </p:nvSpPr>
        <p:spPr bwMode="auto">
          <a:xfrm flipV="1">
            <a:off x="5647342" y="1834034"/>
            <a:ext cx="0" cy="3905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41" name="Line 17"/>
          <p:cNvSpPr>
            <a:spLocks noChangeShapeType="1"/>
          </p:cNvSpPr>
          <p:nvPr/>
        </p:nvSpPr>
        <p:spPr bwMode="auto">
          <a:xfrm flipV="1">
            <a:off x="5647342" y="1834034"/>
            <a:ext cx="0" cy="3905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42" name="Text Box 18"/>
          <p:cNvSpPr txBox="1">
            <a:spLocks noChangeArrowheads="1"/>
          </p:cNvSpPr>
          <p:nvPr/>
        </p:nvSpPr>
        <p:spPr bwMode="auto">
          <a:xfrm>
            <a:off x="6589788" y="1807047"/>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检验和</a:t>
            </a:r>
          </a:p>
        </p:txBody>
      </p:sp>
      <p:sp>
        <p:nvSpPr>
          <p:cNvPr id="538643" name="Text Box 19"/>
          <p:cNvSpPr txBox="1">
            <a:spLocks noChangeArrowheads="1"/>
          </p:cNvSpPr>
          <p:nvPr/>
        </p:nvSpPr>
        <p:spPr bwMode="auto">
          <a:xfrm>
            <a:off x="2928352" y="180704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类型</a:t>
            </a:r>
          </a:p>
        </p:txBody>
      </p:sp>
      <p:sp>
        <p:nvSpPr>
          <p:cNvPr id="538644" name="Text Box 20"/>
          <p:cNvSpPr txBox="1">
            <a:spLocks noChangeArrowheads="1"/>
          </p:cNvSpPr>
          <p:nvPr/>
        </p:nvSpPr>
        <p:spPr bwMode="auto">
          <a:xfrm>
            <a:off x="4539453" y="181466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代码</a:t>
            </a:r>
          </a:p>
        </p:txBody>
      </p:sp>
      <p:sp>
        <p:nvSpPr>
          <p:cNvPr id="538645" name="Text Box 21"/>
          <p:cNvSpPr txBox="1">
            <a:spLocks noChangeArrowheads="1"/>
          </p:cNvSpPr>
          <p:nvPr/>
        </p:nvSpPr>
        <p:spPr bwMode="auto">
          <a:xfrm>
            <a:off x="2868160" y="2203922"/>
            <a:ext cx="496642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（这 </a:t>
            </a:r>
            <a:r>
              <a:rPr kumimoji="1" lang="en-US" altLang="zh-CN" sz="2000" b="1">
                <a:solidFill>
                  <a:srgbClr val="0000CC"/>
                </a:solidFill>
                <a:latin typeface="+mn-lt"/>
                <a:ea typeface="黑体" panose="02010609060101010101" pitchFamily="2" charset="-122"/>
              </a:rPr>
              <a:t>4 </a:t>
            </a:r>
            <a:r>
              <a:rPr kumimoji="1" lang="zh-CN" altLang="en-US" sz="2000" b="1">
                <a:solidFill>
                  <a:srgbClr val="0000CC"/>
                </a:solidFill>
                <a:latin typeface="+mn-lt"/>
                <a:ea typeface="黑体" panose="02010609060101010101" pitchFamily="2" charset="-122"/>
              </a:rPr>
              <a:t>个字节取决于 </a:t>
            </a:r>
            <a:r>
              <a:rPr kumimoji="1" lang="en-US" altLang="zh-CN" sz="2000" b="1">
                <a:solidFill>
                  <a:srgbClr val="0000CC"/>
                </a:solidFill>
                <a:latin typeface="+mn-lt"/>
                <a:ea typeface="黑体" panose="02010609060101010101" pitchFamily="2" charset="-122"/>
              </a:rPr>
              <a:t>ICMP </a:t>
            </a:r>
            <a:r>
              <a:rPr kumimoji="1" lang="zh-CN" altLang="en-US" sz="2000" b="1">
                <a:solidFill>
                  <a:srgbClr val="0000CC"/>
                </a:solidFill>
                <a:latin typeface="+mn-lt"/>
                <a:ea typeface="黑体" panose="02010609060101010101" pitchFamily="2" charset="-122"/>
              </a:rPr>
              <a:t>报文的类型）</a:t>
            </a:r>
          </a:p>
        </p:txBody>
      </p:sp>
      <p:sp>
        <p:nvSpPr>
          <p:cNvPr id="538646" name="Text Box 22"/>
          <p:cNvSpPr txBox="1">
            <a:spLocks noChangeArrowheads="1"/>
          </p:cNvSpPr>
          <p:nvPr/>
        </p:nvSpPr>
        <p:spPr bwMode="auto">
          <a:xfrm>
            <a:off x="4015261" y="148478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8</a:t>
            </a:r>
          </a:p>
        </p:txBody>
      </p:sp>
      <p:sp>
        <p:nvSpPr>
          <p:cNvPr id="538647" name="Text Box 23"/>
          <p:cNvSpPr txBox="1">
            <a:spLocks noChangeArrowheads="1"/>
          </p:cNvSpPr>
          <p:nvPr/>
        </p:nvSpPr>
        <p:spPr bwMode="auto">
          <a:xfrm>
            <a:off x="5454726" y="1484784"/>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16</a:t>
            </a:r>
          </a:p>
        </p:txBody>
      </p:sp>
      <p:sp>
        <p:nvSpPr>
          <p:cNvPr id="538648" name="Rectangle 24"/>
          <p:cNvSpPr>
            <a:spLocks noChangeArrowheads="1"/>
          </p:cNvSpPr>
          <p:nvPr/>
        </p:nvSpPr>
        <p:spPr bwMode="auto">
          <a:xfrm>
            <a:off x="4164882" y="5086821"/>
            <a:ext cx="137927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49" name="Text Box 25"/>
          <p:cNvSpPr txBox="1">
            <a:spLocks noChangeArrowheads="1"/>
          </p:cNvSpPr>
          <p:nvPr/>
        </p:nvSpPr>
        <p:spPr bwMode="auto">
          <a:xfrm>
            <a:off x="8325059" y="1484784"/>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31</a:t>
            </a:r>
          </a:p>
        </p:txBody>
      </p:sp>
      <p:sp>
        <p:nvSpPr>
          <p:cNvPr id="538650" name="Text Box 26"/>
          <p:cNvSpPr txBox="1">
            <a:spLocks noChangeArrowheads="1"/>
          </p:cNvSpPr>
          <p:nvPr/>
        </p:nvSpPr>
        <p:spPr bwMode="auto">
          <a:xfrm>
            <a:off x="4128767" y="5048722"/>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sp>
        <p:nvSpPr>
          <p:cNvPr id="538651" name="Line 27"/>
          <p:cNvSpPr>
            <a:spLocks noChangeShapeType="1"/>
          </p:cNvSpPr>
          <p:nvPr/>
        </p:nvSpPr>
        <p:spPr bwMode="auto">
          <a:xfrm rot="-5400000">
            <a:off x="5649063" y="-417041"/>
            <a:ext cx="0" cy="60674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38652" name="Text Box 28"/>
          <p:cNvSpPr txBox="1">
            <a:spLocks noChangeArrowheads="1"/>
          </p:cNvSpPr>
          <p:nvPr/>
        </p:nvSpPr>
        <p:spPr bwMode="auto">
          <a:xfrm>
            <a:off x="629314" y="1627658"/>
            <a:ext cx="1500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2000" b="1">
                <a:solidFill>
                  <a:srgbClr val="0000CC"/>
                </a:solidFill>
                <a:latin typeface="+mn-lt"/>
                <a:ea typeface="黑体" panose="02010609060101010101" pitchFamily="2" charset="-122"/>
              </a:rPr>
              <a:t>前 </a:t>
            </a:r>
            <a:r>
              <a:rPr kumimoji="1" lang="en-US" altLang="zh-CN" sz="2000" b="1">
                <a:solidFill>
                  <a:srgbClr val="0000CC"/>
                </a:solidFill>
                <a:latin typeface="+mn-lt"/>
                <a:ea typeface="黑体" panose="02010609060101010101" pitchFamily="2" charset="-122"/>
              </a:rPr>
              <a:t>4 </a:t>
            </a:r>
            <a:r>
              <a:rPr kumimoji="1" lang="zh-CN" altLang="en-US" sz="2000" b="1">
                <a:solidFill>
                  <a:srgbClr val="0000CC"/>
                </a:solidFill>
                <a:latin typeface="+mn-lt"/>
                <a:ea typeface="黑体" panose="02010609060101010101" pitchFamily="2" charset="-122"/>
              </a:rPr>
              <a:t>个字节</a:t>
            </a:r>
          </a:p>
          <a:p>
            <a:pPr algn="ctr">
              <a:lnSpc>
                <a:spcPct val="90000"/>
              </a:lnSpc>
            </a:pPr>
            <a:r>
              <a:rPr kumimoji="1" lang="zh-CN" altLang="en-US" sz="2000" b="1">
                <a:solidFill>
                  <a:srgbClr val="0000CC"/>
                </a:solidFill>
                <a:latin typeface="+mn-lt"/>
                <a:ea typeface="黑体" panose="02010609060101010101" pitchFamily="2" charset="-122"/>
              </a:rPr>
              <a:t>都是一样的</a:t>
            </a:r>
          </a:p>
        </p:txBody>
      </p:sp>
      <p:sp>
        <p:nvSpPr>
          <p:cNvPr id="538653" name="Text Box 29"/>
          <p:cNvSpPr txBox="1">
            <a:spLocks noChangeArrowheads="1"/>
          </p:cNvSpPr>
          <p:nvPr/>
        </p:nvSpPr>
        <p:spPr bwMode="auto">
          <a:xfrm>
            <a:off x="3249953" y="2815109"/>
            <a:ext cx="44825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ICMP </a:t>
            </a:r>
            <a:r>
              <a:rPr kumimoji="1" lang="zh-CN" altLang="en-US" sz="2000" b="1">
                <a:solidFill>
                  <a:srgbClr val="0000CC"/>
                </a:solidFill>
                <a:latin typeface="+mn-lt"/>
                <a:ea typeface="黑体" panose="02010609060101010101" pitchFamily="2" charset="-122"/>
              </a:rPr>
              <a:t>的数据部分（长度取决于类型）</a:t>
            </a:r>
          </a:p>
        </p:txBody>
      </p:sp>
      <p:sp>
        <p:nvSpPr>
          <p:cNvPr id="538654" name="Line 30"/>
          <p:cNvSpPr>
            <a:spLocks noChangeShapeType="1"/>
          </p:cNvSpPr>
          <p:nvPr/>
        </p:nvSpPr>
        <p:spPr bwMode="auto">
          <a:xfrm>
            <a:off x="2090813" y="1989608"/>
            <a:ext cx="524537" cy="0"/>
          </a:xfrm>
          <a:prstGeom prst="line">
            <a:avLst/>
          </a:prstGeom>
          <a:noFill/>
          <a:ln w="28575">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bldLvl="0" animBg="1"/>
      <p:bldP spid="538652" grpId="0"/>
      <p:bldP spid="538654"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2"/>
          <p:cNvSpPr>
            <a:spLocks noGrp="1" noChangeArrowheads="1"/>
          </p:cNvSpPr>
          <p:nvPr>
            <p:ph type="title"/>
          </p:nvPr>
        </p:nvSpPr>
        <p:spPr/>
        <p:txBody>
          <a:bodyPr/>
          <a:lstStyle/>
          <a:p>
            <a:r>
              <a:rPr lang="en-US" altLang="zh-CN" dirty="0"/>
              <a:t>4.4.1  ICMP </a:t>
            </a:r>
            <a:r>
              <a:rPr lang="zh-CN" altLang="en-US" dirty="0"/>
              <a:t>报文的种类</a:t>
            </a:r>
          </a:p>
        </p:txBody>
      </p:sp>
      <p:sp>
        <p:nvSpPr>
          <p:cNvPr id="539651" name="Rectangle 3"/>
          <p:cNvSpPr>
            <a:spLocks noGrp="1" noChangeArrowheads="1"/>
          </p:cNvSpPr>
          <p:nvPr>
            <p:ph idx="1"/>
          </p:nvPr>
        </p:nvSpPr>
        <p:spPr/>
        <p:txBody>
          <a:bodyPr/>
          <a:lstStyle/>
          <a:p>
            <a:pPr algn="just"/>
            <a:r>
              <a:rPr lang="en-US" altLang="zh-CN" dirty="0"/>
              <a:t>ICMP </a:t>
            </a:r>
            <a:r>
              <a:rPr lang="zh-CN" altLang="en-US" dirty="0"/>
              <a:t>报文的种类有两种，即 </a:t>
            </a:r>
            <a:r>
              <a:rPr lang="en-US" altLang="zh-CN" dirty="0"/>
              <a:t>ICMP </a:t>
            </a:r>
            <a:r>
              <a:rPr lang="zh-CN" altLang="en-US" dirty="0">
                <a:solidFill>
                  <a:srgbClr val="FF0000"/>
                </a:solidFill>
              </a:rPr>
              <a:t>差错报告报文</a:t>
            </a:r>
            <a:r>
              <a:rPr lang="zh-CN" altLang="en-US" dirty="0"/>
              <a:t>和 </a:t>
            </a:r>
            <a:r>
              <a:rPr lang="en-US" altLang="zh-CN" dirty="0"/>
              <a:t>ICMP </a:t>
            </a:r>
            <a:r>
              <a:rPr lang="zh-CN" altLang="en-US" dirty="0">
                <a:solidFill>
                  <a:srgbClr val="FF0000"/>
                </a:solidFill>
              </a:rPr>
              <a:t>询问报文。</a:t>
            </a:r>
            <a:r>
              <a:rPr lang="zh-CN" altLang="en-US" dirty="0"/>
              <a:t> </a:t>
            </a:r>
          </a:p>
          <a:p>
            <a:pPr algn="just"/>
            <a:r>
              <a:rPr lang="en-US" altLang="zh-CN" dirty="0"/>
              <a:t>ICMP </a:t>
            </a:r>
            <a:r>
              <a:rPr lang="zh-CN" altLang="en-US" dirty="0"/>
              <a:t>报文的前 </a:t>
            </a:r>
            <a:r>
              <a:rPr lang="en-US" altLang="zh-CN" dirty="0"/>
              <a:t>4 </a:t>
            </a:r>
            <a:r>
              <a:rPr lang="zh-CN" altLang="en-US" dirty="0"/>
              <a:t>个字节是统一的格式，共有三个字段：即</a:t>
            </a:r>
            <a:r>
              <a:rPr lang="zh-CN" altLang="en-US" dirty="0">
                <a:solidFill>
                  <a:srgbClr val="FF0000"/>
                </a:solidFill>
              </a:rPr>
              <a:t>类型、代码</a:t>
            </a:r>
            <a:r>
              <a:rPr lang="zh-CN" altLang="en-US" dirty="0"/>
              <a:t>和</a:t>
            </a:r>
            <a:r>
              <a:rPr lang="zh-CN" altLang="en-US" dirty="0">
                <a:solidFill>
                  <a:srgbClr val="FF0000"/>
                </a:solidFill>
              </a:rPr>
              <a:t>检验和。</a:t>
            </a:r>
            <a:r>
              <a:rPr lang="zh-CN" altLang="en-US" dirty="0"/>
              <a:t>接着的 </a:t>
            </a:r>
            <a:r>
              <a:rPr lang="en-US" altLang="zh-CN" dirty="0"/>
              <a:t>4 </a:t>
            </a:r>
            <a:r>
              <a:rPr lang="zh-CN" altLang="en-US" dirty="0"/>
              <a:t>个字节的内容与 </a:t>
            </a:r>
            <a:r>
              <a:rPr lang="en-US" altLang="zh-CN" dirty="0"/>
              <a:t>ICMP </a:t>
            </a:r>
            <a:r>
              <a:rPr lang="zh-CN" altLang="en-US" dirty="0"/>
              <a:t>的类型有关。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p:txBody>
          <a:bodyPr/>
          <a:lstStyle/>
          <a:p>
            <a:pPr algn="ctr"/>
            <a:r>
              <a:rPr lang="en-US" altLang="zh-CN" dirty="0"/>
              <a:t>ICMP </a:t>
            </a:r>
            <a:r>
              <a:rPr lang="zh-CN" altLang="en-US" dirty="0"/>
              <a:t>差错报告报文共有 </a:t>
            </a:r>
            <a:r>
              <a:rPr lang="en-US" altLang="zh-CN" dirty="0"/>
              <a:t>4 </a:t>
            </a:r>
            <a:r>
              <a:rPr lang="zh-CN" altLang="en-US" dirty="0"/>
              <a:t>种 </a:t>
            </a:r>
          </a:p>
        </p:txBody>
      </p:sp>
      <p:sp>
        <p:nvSpPr>
          <p:cNvPr id="540675" name="Rectangle 3"/>
          <p:cNvSpPr>
            <a:spLocks noGrp="1" noChangeArrowheads="1"/>
          </p:cNvSpPr>
          <p:nvPr>
            <p:ph idx="1"/>
          </p:nvPr>
        </p:nvSpPr>
        <p:spPr/>
        <p:txBody>
          <a:bodyPr/>
          <a:lstStyle/>
          <a:p>
            <a:pPr algn="just"/>
            <a:r>
              <a:rPr lang="zh-CN" altLang="en-US" dirty="0"/>
              <a:t>终点不可达 （网络，主机，端口）</a:t>
            </a:r>
          </a:p>
          <a:p>
            <a:pPr algn="just"/>
            <a:r>
              <a:rPr lang="zh-CN" altLang="en-US" dirty="0"/>
              <a:t>时间超过 （生存时间为零）</a:t>
            </a:r>
          </a:p>
          <a:p>
            <a:pPr algn="just"/>
            <a:r>
              <a:rPr lang="zh-CN" altLang="en-US" dirty="0"/>
              <a:t>参数问题 </a:t>
            </a:r>
          </a:p>
          <a:p>
            <a:pPr algn="just"/>
            <a:r>
              <a:rPr lang="zh-CN" altLang="en-US" dirty="0"/>
              <a:t>改变路由（重定向）</a:t>
            </a:r>
            <a:r>
              <a:rPr lang="en-US" altLang="zh-CN" dirty="0"/>
              <a:t>(Redirect) </a:t>
            </a:r>
            <a:r>
              <a:rPr lang="zh-CN" altLang="en-US" dirty="0"/>
              <a:t>：改变路由器报文</a:t>
            </a:r>
            <a:r>
              <a:rPr lang="en-US" altLang="zh-CN"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9" name="Rectangle 3"/>
          <p:cNvSpPr>
            <a:spLocks noGrp="1" noChangeArrowheads="1"/>
          </p:cNvSpPr>
          <p:nvPr>
            <p:ph type="title"/>
          </p:nvPr>
        </p:nvSpPr>
        <p:spPr>
          <a:xfrm>
            <a:off x="495300" y="188640"/>
            <a:ext cx="8634164" cy="792088"/>
          </a:xfrm>
        </p:spPr>
        <p:txBody>
          <a:bodyPr/>
          <a:lstStyle/>
          <a:p>
            <a:pPr algn="ctr"/>
            <a:r>
              <a:rPr lang="en-US" altLang="zh-CN" sz="3600" dirty="0"/>
              <a:t>ICMP </a:t>
            </a:r>
            <a:r>
              <a:rPr lang="zh-CN" altLang="en-US" sz="3600" dirty="0"/>
              <a:t>差错报告报文的数据字段的内容 </a:t>
            </a:r>
          </a:p>
        </p:txBody>
      </p:sp>
      <p:sp>
        <p:nvSpPr>
          <p:cNvPr id="541698" name="Rectangle 2"/>
          <p:cNvSpPr>
            <a:spLocks noChangeArrowheads="1"/>
          </p:cNvSpPr>
          <p:nvPr/>
        </p:nvSpPr>
        <p:spPr bwMode="auto">
          <a:xfrm>
            <a:off x="662260" y="4195216"/>
            <a:ext cx="4531651" cy="596900"/>
          </a:xfrm>
          <a:prstGeom prst="rect">
            <a:avLst/>
          </a:prstGeom>
          <a:solidFill>
            <a:srgbClr val="FFFF99"/>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0" name="Rectangle 4"/>
          <p:cNvSpPr>
            <a:spLocks noChangeArrowheads="1"/>
          </p:cNvSpPr>
          <p:nvPr/>
        </p:nvSpPr>
        <p:spPr bwMode="auto">
          <a:xfrm>
            <a:off x="209954" y="2610375"/>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b="1">
              <a:solidFill>
                <a:srgbClr val="0000CC"/>
              </a:solidFill>
              <a:latin typeface="+mn-lt"/>
              <a:ea typeface="黑体" panose="02010609060101010101" pitchFamily="2" charset="-122"/>
            </a:endParaRPr>
          </a:p>
        </p:txBody>
      </p:sp>
      <p:sp>
        <p:nvSpPr>
          <p:cNvPr id="541701" name="Rectangle 5"/>
          <p:cNvSpPr>
            <a:spLocks noChangeArrowheads="1"/>
          </p:cNvSpPr>
          <p:nvPr/>
        </p:nvSpPr>
        <p:spPr bwMode="auto">
          <a:xfrm>
            <a:off x="1412089" y="4195216"/>
            <a:ext cx="3781821" cy="596900"/>
          </a:xfrm>
          <a:prstGeom prst="rect">
            <a:avLst/>
          </a:prstGeom>
          <a:solidFill>
            <a:srgbClr val="CCECFF"/>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2" name="Line 6"/>
          <p:cNvSpPr>
            <a:spLocks noChangeShapeType="1"/>
          </p:cNvSpPr>
          <p:nvPr/>
        </p:nvSpPr>
        <p:spPr bwMode="auto">
          <a:xfrm>
            <a:off x="662260" y="5001667"/>
            <a:ext cx="4531651" cy="20637"/>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3" name="Text Box 7"/>
          <p:cNvSpPr txBox="1">
            <a:spLocks noChangeArrowheads="1"/>
          </p:cNvSpPr>
          <p:nvPr/>
        </p:nvSpPr>
        <p:spPr bwMode="auto">
          <a:xfrm>
            <a:off x="691800" y="4323803"/>
            <a:ext cx="69762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2000" b="1">
                <a:solidFill>
                  <a:srgbClr val="0000CC"/>
                </a:solidFill>
                <a:latin typeface="+mn-lt"/>
                <a:ea typeface="黑体" panose="02010609060101010101" pitchFamily="2" charset="-122"/>
              </a:rPr>
              <a:t>首部</a:t>
            </a:r>
          </a:p>
        </p:txBody>
      </p:sp>
      <p:sp>
        <p:nvSpPr>
          <p:cNvPr id="541704" name="Line 8"/>
          <p:cNvSpPr>
            <a:spLocks noChangeShapeType="1"/>
          </p:cNvSpPr>
          <p:nvPr/>
        </p:nvSpPr>
        <p:spPr bwMode="auto">
          <a:xfrm>
            <a:off x="1412089" y="4195216"/>
            <a:ext cx="0" cy="5969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6" name="Text Box 10"/>
          <p:cNvSpPr txBox="1">
            <a:spLocks noChangeArrowheads="1"/>
          </p:cNvSpPr>
          <p:nvPr/>
        </p:nvSpPr>
        <p:spPr bwMode="auto">
          <a:xfrm>
            <a:off x="2285743" y="4773067"/>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sp>
        <p:nvSpPr>
          <p:cNvPr id="54170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8" name="Rectangle 12"/>
          <p:cNvSpPr>
            <a:spLocks noChangeArrowheads="1"/>
          </p:cNvSpPr>
          <p:nvPr/>
        </p:nvSpPr>
        <p:spPr bwMode="auto">
          <a:xfrm>
            <a:off x="1412089" y="3174454"/>
            <a:ext cx="3781821" cy="595313"/>
          </a:xfrm>
          <a:prstGeom prst="rect">
            <a:avLst/>
          </a:prstGeom>
          <a:solidFill>
            <a:srgbClr val="CCECFF"/>
          </a:solidFill>
          <a:ln w="12700">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09" name="Text Box 13"/>
          <p:cNvSpPr txBox="1">
            <a:spLocks noChangeArrowheads="1"/>
          </p:cNvSpPr>
          <p:nvPr/>
        </p:nvSpPr>
        <p:spPr bwMode="auto">
          <a:xfrm>
            <a:off x="1495018" y="3196679"/>
            <a:ext cx="124264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ICMP </a:t>
            </a:r>
            <a:r>
              <a:rPr kumimoji="1" lang="zh-CN" altLang="en-US" sz="2000" b="1">
                <a:solidFill>
                  <a:srgbClr val="0000CC"/>
                </a:solidFill>
                <a:latin typeface="+mn-lt"/>
                <a:ea typeface="黑体" panose="02010609060101010101" pitchFamily="2" charset="-122"/>
              </a:rPr>
              <a:t>的</a:t>
            </a:r>
          </a:p>
          <a:p>
            <a:pPr algn="ctr">
              <a:lnSpc>
                <a:spcPct val="80000"/>
              </a:lnSpc>
            </a:pPr>
            <a:r>
              <a:rPr kumimoji="1" lang="zh-CN" altLang="en-US" sz="2000" b="1">
                <a:solidFill>
                  <a:srgbClr val="0000CC"/>
                </a:solidFill>
                <a:latin typeface="+mn-lt"/>
                <a:ea typeface="黑体" panose="02010609060101010101" pitchFamily="2" charset="-122"/>
              </a:rPr>
              <a:t>前 </a:t>
            </a:r>
            <a:r>
              <a:rPr kumimoji="1" lang="en-US" altLang="zh-CN" sz="2000" b="1">
                <a:solidFill>
                  <a:srgbClr val="0000CC"/>
                </a:solidFill>
                <a:latin typeface="+mn-lt"/>
                <a:ea typeface="黑体" panose="02010609060101010101" pitchFamily="2" charset="-122"/>
              </a:rPr>
              <a:t>8 </a:t>
            </a:r>
            <a:r>
              <a:rPr kumimoji="1" lang="zh-CN" altLang="en-US" sz="2000" b="1">
                <a:solidFill>
                  <a:srgbClr val="0000CC"/>
                </a:solidFill>
                <a:latin typeface="+mn-lt"/>
                <a:ea typeface="黑体" panose="02010609060101010101" pitchFamily="2" charset="-122"/>
              </a:rPr>
              <a:t>字节</a:t>
            </a:r>
          </a:p>
        </p:txBody>
      </p:sp>
      <p:sp>
        <p:nvSpPr>
          <p:cNvPr id="541710" name="Line 14"/>
          <p:cNvSpPr>
            <a:spLocks noChangeShapeType="1"/>
          </p:cNvSpPr>
          <p:nvPr/>
        </p:nvSpPr>
        <p:spPr bwMode="auto">
          <a:xfrm>
            <a:off x="2794801" y="3174454"/>
            <a:ext cx="0" cy="5953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11" name="Text Box 15"/>
          <p:cNvSpPr txBox="1">
            <a:spLocks noChangeArrowheads="1"/>
          </p:cNvSpPr>
          <p:nvPr/>
        </p:nvSpPr>
        <p:spPr bwMode="auto">
          <a:xfrm>
            <a:off x="5297520" y="4293642"/>
            <a:ext cx="40479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装入 </a:t>
            </a:r>
            <a:r>
              <a:rPr kumimoji="1" lang="en-US" altLang="zh-CN" sz="2400" b="1">
                <a:solidFill>
                  <a:srgbClr val="C00000"/>
                </a:solidFill>
                <a:latin typeface="+mn-lt"/>
                <a:ea typeface="黑体" panose="02010609060101010101" pitchFamily="2" charset="-122"/>
              </a:rPr>
              <a:t>ICMP </a:t>
            </a:r>
            <a:r>
              <a:rPr kumimoji="1" lang="zh-CN" altLang="en-US" sz="2400" b="1">
                <a:solidFill>
                  <a:srgbClr val="C00000"/>
                </a:solidFill>
                <a:latin typeface="+mn-lt"/>
                <a:ea typeface="黑体" panose="02010609060101010101" pitchFamily="2" charset="-122"/>
              </a:rPr>
              <a:t>报文的 </a:t>
            </a:r>
            <a:r>
              <a:rPr kumimoji="1" lang="en-US" altLang="zh-CN" sz="2400" b="1">
                <a:solidFill>
                  <a:srgbClr val="C00000"/>
                </a:solidFill>
                <a:latin typeface="+mn-lt"/>
                <a:ea typeface="黑体" panose="02010609060101010101" pitchFamily="2" charset="-122"/>
              </a:rPr>
              <a:t>IP </a:t>
            </a:r>
            <a:r>
              <a:rPr kumimoji="1" lang="zh-CN" altLang="en-US" sz="2400" b="1">
                <a:solidFill>
                  <a:srgbClr val="C00000"/>
                </a:solidFill>
                <a:latin typeface="+mn-lt"/>
                <a:ea typeface="黑体" panose="02010609060101010101" pitchFamily="2" charset="-122"/>
              </a:rPr>
              <a:t>数据报</a:t>
            </a:r>
          </a:p>
        </p:txBody>
      </p:sp>
      <p:sp>
        <p:nvSpPr>
          <p:cNvPr id="541712" name="Rectangle 16"/>
          <p:cNvSpPr>
            <a:spLocks noChangeArrowheads="1"/>
          </p:cNvSpPr>
          <p:nvPr/>
        </p:nvSpPr>
        <p:spPr bwMode="auto">
          <a:xfrm>
            <a:off x="2794802" y="2152103"/>
            <a:ext cx="6550686" cy="596900"/>
          </a:xfrm>
          <a:prstGeom prst="rect">
            <a:avLst/>
          </a:prstGeom>
          <a:solidFill>
            <a:srgbClr val="FFFF99"/>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13" name="Text Box 17"/>
          <p:cNvSpPr txBox="1">
            <a:spLocks noChangeArrowheads="1"/>
          </p:cNvSpPr>
          <p:nvPr/>
        </p:nvSpPr>
        <p:spPr bwMode="auto">
          <a:xfrm>
            <a:off x="2973961" y="2164804"/>
            <a:ext cx="126688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a:p>
            <a:pPr algn="ctr">
              <a:lnSpc>
                <a:spcPct val="80000"/>
              </a:lnSpc>
            </a:pPr>
            <a:r>
              <a:rPr kumimoji="1" lang="zh-CN" altLang="en-US" sz="2000" b="1">
                <a:solidFill>
                  <a:srgbClr val="0000CC"/>
                </a:solidFill>
                <a:latin typeface="+mn-lt"/>
                <a:ea typeface="黑体" panose="02010609060101010101" pitchFamily="2" charset="-122"/>
              </a:rPr>
              <a:t>首部</a:t>
            </a:r>
          </a:p>
        </p:txBody>
      </p:sp>
      <p:sp>
        <p:nvSpPr>
          <p:cNvPr id="541714" name="Line 18"/>
          <p:cNvSpPr>
            <a:spLocks noChangeShapeType="1"/>
          </p:cNvSpPr>
          <p:nvPr/>
        </p:nvSpPr>
        <p:spPr bwMode="auto">
          <a:xfrm>
            <a:off x="4547269" y="2152103"/>
            <a:ext cx="0" cy="5969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15" name="Text Box 19"/>
          <p:cNvSpPr txBox="1">
            <a:spLocks noChangeArrowheads="1"/>
          </p:cNvSpPr>
          <p:nvPr/>
        </p:nvSpPr>
        <p:spPr bwMode="auto">
          <a:xfrm>
            <a:off x="5393828" y="3285579"/>
            <a:ext cx="28897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anose="02010609060101010101" pitchFamily="2" charset="-122"/>
              </a:rPr>
              <a:t>ICMP </a:t>
            </a:r>
            <a:r>
              <a:rPr kumimoji="1" lang="zh-CN" altLang="en-US" sz="2400" b="1" dirty="0">
                <a:solidFill>
                  <a:srgbClr val="C00000"/>
                </a:solidFill>
                <a:latin typeface="+mn-lt"/>
                <a:ea typeface="黑体" panose="02010609060101010101" pitchFamily="2" charset="-122"/>
              </a:rPr>
              <a:t>差错报告报文</a:t>
            </a:r>
          </a:p>
        </p:txBody>
      </p:sp>
      <p:sp>
        <p:nvSpPr>
          <p:cNvPr id="541716" name="Text Box 20"/>
          <p:cNvSpPr txBox="1">
            <a:spLocks noChangeArrowheads="1"/>
          </p:cNvSpPr>
          <p:nvPr/>
        </p:nvSpPr>
        <p:spPr bwMode="auto">
          <a:xfrm>
            <a:off x="4540694" y="2156867"/>
            <a:ext cx="69762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8</a:t>
            </a:r>
          </a:p>
          <a:p>
            <a:pPr algn="ctr">
              <a:lnSpc>
                <a:spcPct val="80000"/>
              </a:lnSpc>
            </a:pPr>
            <a:r>
              <a:rPr kumimoji="1" lang="zh-CN" altLang="en-US" sz="2000" b="1">
                <a:solidFill>
                  <a:srgbClr val="0000CC"/>
                </a:solidFill>
                <a:latin typeface="+mn-lt"/>
                <a:ea typeface="黑体" panose="02010609060101010101" pitchFamily="2" charset="-122"/>
              </a:rPr>
              <a:t>字节</a:t>
            </a:r>
          </a:p>
        </p:txBody>
      </p:sp>
      <p:sp>
        <p:nvSpPr>
          <p:cNvPr id="541717" name="Line 21"/>
          <p:cNvSpPr>
            <a:spLocks noChangeShapeType="1"/>
          </p:cNvSpPr>
          <p:nvPr/>
        </p:nvSpPr>
        <p:spPr bwMode="auto">
          <a:xfrm>
            <a:off x="5193910" y="2152103"/>
            <a:ext cx="0" cy="59690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18" name="Text Box 22"/>
          <p:cNvSpPr txBox="1">
            <a:spLocks noChangeArrowheads="1"/>
          </p:cNvSpPr>
          <p:nvPr/>
        </p:nvSpPr>
        <p:spPr bwMode="auto">
          <a:xfrm>
            <a:off x="560792" y="2204492"/>
            <a:ext cx="21116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收到的 </a:t>
            </a: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sp>
        <p:nvSpPr>
          <p:cNvPr id="541719" name="Line 23"/>
          <p:cNvSpPr>
            <a:spLocks noChangeShapeType="1"/>
          </p:cNvSpPr>
          <p:nvPr/>
        </p:nvSpPr>
        <p:spPr bwMode="auto">
          <a:xfrm>
            <a:off x="5193910" y="2749003"/>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41720" name="Line 24"/>
          <p:cNvSpPr>
            <a:spLocks noChangeShapeType="1"/>
          </p:cNvSpPr>
          <p:nvPr/>
        </p:nvSpPr>
        <p:spPr bwMode="auto">
          <a:xfrm>
            <a:off x="4547269" y="3174454"/>
            <a:ext cx="0" cy="595313"/>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21" name="Text Box 25"/>
          <p:cNvSpPr txBox="1">
            <a:spLocks noChangeArrowheads="1"/>
          </p:cNvSpPr>
          <p:nvPr/>
        </p:nvSpPr>
        <p:spPr bwMode="auto">
          <a:xfrm>
            <a:off x="2973961" y="3196679"/>
            <a:ext cx="126688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a:p>
            <a:pPr algn="ctr">
              <a:lnSpc>
                <a:spcPct val="80000"/>
              </a:lnSpc>
            </a:pPr>
            <a:r>
              <a:rPr kumimoji="1" lang="zh-CN" altLang="en-US" sz="2000" b="1">
                <a:solidFill>
                  <a:srgbClr val="0000CC"/>
                </a:solidFill>
                <a:latin typeface="+mn-lt"/>
                <a:ea typeface="黑体" panose="02010609060101010101" pitchFamily="2" charset="-122"/>
              </a:rPr>
              <a:t>首部</a:t>
            </a:r>
          </a:p>
        </p:txBody>
      </p:sp>
      <p:sp>
        <p:nvSpPr>
          <p:cNvPr id="541722" name="Text Box 26"/>
          <p:cNvSpPr txBox="1">
            <a:spLocks noChangeArrowheads="1"/>
          </p:cNvSpPr>
          <p:nvPr/>
        </p:nvSpPr>
        <p:spPr bwMode="auto">
          <a:xfrm>
            <a:off x="4549293" y="3196679"/>
            <a:ext cx="69762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8</a:t>
            </a:r>
          </a:p>
          <a:p>
            <a:pPr algn="ctr">
              <a:lnSpc>
                <a:spcPct val="80000"/>
              </a:lnSpc>
            </a:pPr>
            <a:r>
              <a:rPr kumimoji="1" lang="zh-CN" altLang="en-US" sz="2000" b="1">
                <a:solidFill>
                  <a:srgbClr val="0000CC"/>
                </a:solidFill>
                <a:latin typeface="+mn-lt"/>
                <a:ea typeface="黑体" panose="02010609060101010101" pitchFamily="2" charset="-122"/>
              </a:rPr>
              <a:t>字节</a:t>
            </a:r>
          </a:p>
        </p:txBody>
      </p:sp>
      <p:sp>
        <p:nvSpPr>
          <p:cNvPr id="54172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4172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41725" name="Text Box 29"/>
          <p:cNvSpPr txBox="1">
            <a:spLocks noChangeArrowheads="1"/>
          </p:cNvSpPr>
          <p:nvPr/>
        </p:nvSpPr>
        <p:spPr bwMode="auto">
          <a:xfrm>
            <a:off x="2109165" y="4323803"/>
            <a:ext cx="243066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anose="02010609060101010101" pitchFamily="2" charset="-122"/>
              </a:rPr>
              <a:t>ICMP </a:t>
            </a:r>
            <a:r>
              <a:rPr kumimoji="1" lang="zh-CN" altLang="en-US" sz="2000" b="1">
                <a:solidFill>
                  <a:srgbClr val="0000CC"/>
                </a:solidFill>
                <a:latin typeface="+mn-lt"/>
                <a:ea typeface="黑体" panose="02010609060101010101" pitchFamily="2" charset="-122"/>
              </a:rPr>
              <a:t>差错报告报文</a:t>
            </a:r>
          </a:p>
        </p:txBody>
      </p:sp>
      <p:sp>
        <p:nvSpPr>
          <p:cNvPr id="541726" name="Text Box 30"/>
          <p:cNvSpPr txBox="1">
            <a:spLocks noChangeArrowheads="1"/>
          </p:cNvSpPr>
          <p:nvPr/>
        </p:nvSpPr>
        <p:spPr bwMode="auto">
          <a:xfrm>
            <a:off x="5611820" y="1556792"/>
            <a:ext cx="26388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数据报的数据字段</a:t>
            </a:r>
          </a:p>
        </p:txBody>
      </p:sp>
      <p:sp>
        <p:nvSpPr>
          <p:cNvPr id="541727" name="AutoShape 31"/>
          <p:cNvSpPr/>
          <p:nvPr/>
        </p:nvSpPr>
        <p:spPr bwMode="auto">
          <a:xfrm rot="5400000">
            <a:off x="6815013" y="-371228"/>
            <a:ext cx="169862" cy="4705350"/>
          </a:xfrm>
          <a:prstGeom prst="leftBrace">
            <a:avLst>
              <a:gd name="adj1" fmla="val 213085"/>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41728" name="Line 32"/>
          <p:cNvSpPr>
            <a:spLocks noChangeShapeType="1"/>
          </p:cNvSpPr>
          <p:nvPr/>
        </p:nvSpPr>
        <p:spPr bwMode="auto">
          <a:xfrm>
            <a:off x="2794801" y="2749003"/>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41729" name="Line 33"/>
          <p:cNvSpPr>
            <a:spLocks noChangeShapeType="1"/>
          </p:cNvSpPr>
          <p:nvPr/>
        </p:nvSpPr>
        <p:spPr bwMode="auto">
          <a:xfrm>
            <a:off x="1412089" y="3769766"/>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41730" name="Line 34"/>
          <p:cNvSpPr>
            <a:spLocks noChangeShapeType="1"/>
          </p:cNvSpPr>
          <p:nvPr/>
        </p:nvSpPr>
        <p:spPr bwMode="auto">
          <a:xfrm>
            <a:off x="5193910" y="3769766"/>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4173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2"/>
          <p:cNvSpPr>
            <a:spLocks noGrp="1" noChangeArrowheads="1"/>
          </p:cNvSpPr>
          <p:nvPr>
            <p:ph type="title"/>
          </p:nvPr>
        </p:nvSpPr>
        <p:spPr>
          <a:xfrm>
            <a:off x="495300" y="188640"/>
            <a:ext cx="8562156" cy="792088"/>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sz="3600" dirty="0"/>
              <a:t>不应发送 </a:t>
            </a:r>
            <a:r>
              <a:rPr lang="en-US" altLang="zh-CN" sz="3600" dirty="0"/>
              <a:t>ICMP </a:t>
            </a:r>
            <a:r>
              <a:rPr lang="zh-CN" altLang="en-US" sz="3600" dirty="0"/>
              <a:t>差错报告报文的几种情况 </a:t>
            </a:r>
          </a:p>
        </p:txBody>
      </p:sp>
      <p:sp>
        <p:nvSpPr>
          <p:cNvPr id="542723" name="Rectangle 3"/>
          <p:cNvSpPr>
            <a:spLocks noGrp="1" noChangeArrowheads="1"/>
          </p:cNvSpPr>
          <p:nvPr>
            <p:ph idx="1"/>
          </p:nvPr>
        </p:nvSpPr>
        <p:spPr/>
        <p:txBody>
          <a:bodyPr/>
          <a:lstStyle/>
          <a:p>
            <a:pPr algn="just"/>
            <a:r>
              <a:rPr lang="zh-CN" altLang="en-US" dirty="0"/>
              <a:t>对 </a:t>
            </a:r>
            <a:r>
              <a:rPr lang="en-US" altLang="zh-CN" dirty="0"/>
              <a:t>ICMP </a:t>
            </a:r>
            <a:r>
              <a:rPr lang="zh-CN" altLang="en-US" dirty="0"/>
              <a:t>差错报告报文不再发送 </a:t>
            </a:r>
            <a:r>
              <a:rPr lang="en-US" altLang="zh-CN" dirty="0"/>
              <a:t>ICMP </a:t>
            </a:r>
            <a:r>
              <a:rPr lang="zh-CN" altLang="en-US" dirty="0"/>
              <a:t>差错报告报文。</a:t>
            </a:r>
          </a:p>
          <a:p>
            <a:pPr algn="just"/>
            <a:r>
              <a:rPr lang="zh-CN" altLang="en-US" dirty="0"/>
              <a:t>对第一个分片的数据报片的所有后续数据报片都不发送 </a:t>
            </a:r>
            <a:r>
              <a:rPr lang="en-US" altLang="zh-CN" dirty="0"/>
              <a:t>ICMP </a:t>
            </a:r>
            <a:r>
              <a:rPr lang="zh-CN" altLang="en-US" dirty="0"/>
              <a:t>差错报告报文。</a:t>
            </a:r>
          </a:p>
          <a:p>
            <a:pPr algn="just"/>
            <a:r>
              <a:rPr lang="zh-CN" altLang="en-US" dirty="0"/>
              <a:t>对具有多播地址的数据报都不发送 </a:t>
            </a:r>
            <a:r>
              <a:rPr lang="en-US" altLang="zh-CN" dirty="0"/>
              <a:t>ICMP </a:t>
            </a:r>
            <a:r>
              <a:rPr lang="zh-CN" altLang="en-US" dirty="0"/>
              <a:t>差错报告报文。</a:t>
            </a:r>
          </a:p>
          <a:p>
            <a:pPr algn="just"/>
            <a:r>
              <a:rPr lang="zh-CN" altLang="en-US" dirty="0"/>
              <a:t>对具有特殊地址（如</a:t>
            </a:r>
            <a:r>
              <a:rPr lang="en-US" altLang="zh-CN" dirty="0"/>
              <a:t>127.0.0.0 </a:t>
            </a:r>
            <a:r>
              <a:rPr lang="zh-CN" altLang="en-US" dirty="0"/>
              <a:t>或 </a:t>
            </a:r>
            <a:r>
              <a:rPr lang="en-US" altLang="zh-CN" dirty="0"/>
              <a:t>0.0.0.0</a:t>
            </a:r>
            <a:r>
              <a:rPr lang="zh-CN" altLang="en-US" dirty="0"/>
              <a:t>）的数据报不发送 </a:t>
            </a:r>
            <a:r>
              <a:rPr lang="en-US" altLang="zh-CN" dirty="0"/>
              <a:t>ICMP </a:t>
            </a:r>
            <a:r>
              <a:rPr lang="zh-CN" altLang="en-US" dirty="0"/>
              <a:t>差错报告报文。</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272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272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272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272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23"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Grp="1" noChangeArrowheads="1"/>
          </p:cNvSpPr>
          <p:nvPr>
            <p:ph type="title"/>
          </p:nvPr>
        </p:nvSpPr>
        <p:spPr/>
        <p:txBody>
          <a:bodyPr/>
          <a:lstStyle/>
          <a:p>
            <a:pPr algn="ctr"/>
            <a:r>
              <a:rPr lang="en-US" altLang="zh-CN" dirty="0"/>
              <a:t>ICMP </a:t>
            </a:r>
            <a:r>
              <a:rPr lang="zh-CN" altLang="en-US" dirty="0"/>
              <a:t>询问报文有两种 </a:t>
            </a:r>
          </a:p>
        </p:txBody>
      </p:sp>
      <p:sp>
        <p:nvSpPr>
          <p:cNvPr id="543747" name="Rectangle 3"/>
          <p:cNvSpPr>
            <a:spLocks noGrp="1" noChangeArrowheads="1"/>
          </p:cNvSpPr>
          <p:nvPr>
            <p:ph idx="1"/>
          </p:nvPr>
        </p:nvSpPr>
        <p:spPr>
          <a:xfrm>
            <a:off x="419894" y="1268760"/>
            <a:ext cx="9066212" cy="4934173"/>
          </a:xfrm>
        </p:spPr>
        <p:txBody>
          <a:bodyPr/>
          <a:lstStyle/>
          <a:p>
            <a:pPr algn="just"/>
            <a:r>
              <a:rPr lang="zh-CN" altLang="en-US" dirty="0"/>
              <a:t>回送请求和回答报文</a:t>
            </a:r>
          </a:p>
          <a:p>
            <a:pPr algn="just"/>
            <a:r>
              <a:rPr lang="zh-CN" altLang="en-US" dirty="0"/>
              <a:t>时间戳请求和回答报文</a:t>
            </a:r>
            <a:endParaRPr lang="en-US" altLang="zh-CN" sz="1600" dirty="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4374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374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3747"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Rectangle 2"/>
          <p:cNvSpPr>
            <a:spLocks noGrp="1" noChangeArrowheads="1"/>
          </p:cNvSpPr>
          <p:nvPr>
            <p:ph type="title"/>
          </p:nvPr>
        </p:nvSpPr>
        <p:spPr/>
        <p:txBody>
          <a:bodyPr/>
          <a:lstStyle/>
          <a:p>
            <a:r>
              <a:rPr lang="en-US" altLang="zh-CN" dirty="0"/>
              <a:t>4.4.2  ICMP</a:t>
            </a:r>
            <a:r>
              <a:rPr lang="zh-CN" altLang="en-US" dirty="0"/>
              <a:t>的应用举例</a:t>
            </a:r>
            <a:endParaRPr lang="en-US" altLang="zh-CN" dirty="0"/>
          </a:p>
        </p:txBody>
      </p:sp>
      <p:sp>
        <p:nvSpPr>
          <p:cNvPr id="544771" name="Rectangle 3"/>
          <p:cNvSpPr>
            <a:spLocks noGrp="1" noChangeArrowheads="1"/>
          </p:cNvSpPr>
          <p:nvPr>
            <p:ph idx="1"/>
          </p:nvPr>
        </p:nvSpPr>
        <p:spPr/>
        <p:txBody>
          <a:bodyPr/>
          <a:lstStyle/>
          <a:p>
            <a:pPr marL="0" indent="0" algn="ctr">
              <a:buNone/>
            </a:pPr>
            <a:r>
              <a:rPr lang="en-US" altLang="zh-CN" sz="3600" dirty="0">
                <a:solidFill>
                  <a:srgbClr val="FF0000"/>
                </a:solidFill>
              </a:rPr>
              <a:t>PING (Packet </a:t>
            </a:r>
            <a:r>
              <a:rPr lang="en-US" altLang="zh-CN" sz="3600" dirty="0" err="1">
                <a:solidFill>
                  <a:srgbClr val="FF0000"/>
                </a:solidFill>
              </a:rPr>
              <a:t>InterNet</a:t>
            </a:r>
            <a:r>
              <a:rPr lang="en-US" altLang="zh-CN" sz="3600" dirty="0">
                <a:solidFill>
                  <a:srgbClr val="FF0000"/>
                </a:solidFill>
              </a:rPr>
              <a:t> Groper) </a:t>
            </a:r>
          </a:p>
          <a:p>
            <a:r>
              <a:rPr lang="en-US" altLang="zh-CN" dirty="0">
                <a:solidFill>
                  <a:srgbClr val="0000FF"/>
                </a:solidFill>
              </a:rPr>
              <a:t>PING </a:t>
            </a:r>
            <a:r>
              <a:rPr lang="zh-CN" altLang="en-US" dirty="0">
                <a:solidFill>
                  <a:srgbClr val="0000FF"/>
                </a:solidFill>
              </a:rPr>
              <a:t>用来测试两个主机之间的连通性。</a:t>
            </a:r>
          </a:p>
          <a:p>
            <a:r>
              <a:rPr lang="en-US" altLang="zh-CN" dirty="0"/>
              <a:t>PING </a:t>
            </a:r>
            <a:r>
              <a:rPr lang="zh-CN" altLang="en-US" dirty="0"/>
              <a:t>使用了 </a:t>
            </a:r>
            <a:r>
              <a:rPr lang="en-US" altLang="zh-CN" dirty="0"/>
              <a:t>ICMP </a:t>
            </a:r>
            <a:r>
              <a:rPr lang="zh-CN" altLang="en-US" dirty="0"/>
              <a:t>回送请求与回送回答报文。</a:t>
            </a:r>
          </a:p>
          <a:p>
            <a:r>
              <a:rPr lang="en-US" altLang="zh-CN" dirty="0"/>
              <a:t>PING </a:t>
            </a:r>
            <a:r>
              <a:rPr lang="zh-CN" altLang="en-US" dirty="0"/>
              <a:t>是应用层直接使用网络层 </a:t>
            </a:r>
            <a:r>
              <a:rPr lang="en-US" altLang="zh-CN" dirty="0"/>
              <a:t>ICMP </a:t>
            </a:r>
            <a:r>
              <a:rPr lang="zh-CN" altLang="en-US" dirty="0"/>
              <a:t>的例子，它没有通过运输层的 </a:t>
            </a:r>
            <a:r>
              <a:rPr lang="en-US" altLang="zh-CN" dirty="0"/>
              <a:t>TCP </a:t>
            </a:r>
            <a:r>
              <a:rPr lang="zh-CN" altLang="en-US" dirty="0"/>
              <a:t>或</a:t>
            </a:r>
            <a:r>
              <a:rPr lang="en-US" altLang="zh-CN" dirty="0"/>
              <a:t>UDP</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477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4771">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477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477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771"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82" name="Rectangle 2"/>
          <p:cNvSpPr>
            <a:spLocks noGrp="1" noChangeArrowheads="1"/>
          </p:cNvSpPr>
          <p:nvPr>
            <p:ph type="title"/>
          </p:nvPr>
        </p:nvSpPr>
        <p:spPr/>
        <p:txBody>
          <a:bodyPr/>
          <a:lstStyle/>
          <a:p>
            <a:pPr algn="ctr"/>
            <a:r>
              <a:rPr lang="en-US" altLang="zh-CN" sz="4000"/>
              <a:t>PING </a:t>
            </a:r>
            <a:r>
              <a:rPr lang="zh-CN" altLang="en-US" sz="4000"/>
              <a:t>的应用举例</a:t>
            </a:r>
          </a:p>
        </p:txBody>
      </p:sp>
      <p:pic>
        <p:nvPicPr>
          <p:cNvPr id="993284" name="Picture 4" descr="2006-2-19-ping"/>
          <p:cNvPicPr>
            <a:picLocks noChangeAspect="1" noChangeArrowheads="1"/>
          </p:cNvPicPr>
          <p:nvPr/>
        </p:nvPicPr>
        <p:blipFill>
          <a:blip r:embed="rId3" cstate="print">
            <a:extLst>
              <a:ext uri="{28A0092B-C50C-407E-A947-70E740481C1C}">
                <a14:useLocalDpi xmlns:a14="http://schemas.microsoft.com/office/drawing/2010/main" val="0"/>
              </a:ext>
            </a:extLst>
          </a:blip>
          <a:srcRect r="2795"/>
          <a:stretch>
            <a:fillRect/>
          </a:stretch>
        </p:blipFill>
        <p:spPr bwMode="auto">
          <a:xfrm>
            <a:off x="488504" y="1412776"/>
            <a:ext cx="9217024" cy="364102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2648744" y="5157192"/>
            <a:ext cx="5298024" cy="461665"/>
          </a:xfrm>
          <a:prstGeom prst="rect">
            <a:avLst/>
          </a:prstGeom>
        </p:spPr>
        <p:txBody>
          <a:bodyPr wrap="square">
            <a:spAutoFit/>
          </a:bodyPr>
          <a:lstStyle/>
          <a:p>
            <a:pPr algn="ctr"/>
            <a:r>
              <a:rPr lang="zh-CN" altLang="zh-CN" sz="2400" b="1" dirty="0">
                <a:latin typeface="+mn-lt"/>
                <a:ea typeface="黑体" panose="02010609060101010101" pitchFamily="2" charset="-122"/>
              </a:rPr>
              <a:t>用</a:t>
            </a:r>
            <a:r>
              <a:rPr lang="en-US" altLang="zh-CN" sz="2400" b="1" dirty="0">
                <a:latin typeface="+mn-lt"/>
                <a:ea typeface="黑体" panose="02010609060101010101" pitchFamily="2" charset="-122"/>
              </a:rPr>
              <a:t> PING </a:t>
            </a:r>
            <a:r>
              <a:rPr lang="zh-CN" altLang="zh-CN" sz="2400" b="1" dirty="0">
                <a:latin typeface="+mn-lt"/>
                <a:ea typeface="黑体" panose="02010609060101010101" pitchFamily="2" charset="-122"/>
              </a:rPr>
              <a:t>测试主机的连通性</a:t>
            </a:r>
            <a:endParaRPr lang="zh-CN" altLang="en-US" sz="2400" b="1" dirty="0">
              <a:latin typeface="+mn-lt"/>
              <a:ea typeface="黑体" panose="02010609060101010101" pitchFamily="2" charset="-122"/>
            </a:endParaRP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r>
              <a:rPr lang="en-US" altLang="zh-CN" dirty="0"/>
              <a:t>4.4.2  ICMP</a:t>
            </a:r>
            <a:r>
              <a:rPr lang="zh-CN" altLang="en-US" dirty="0"/>
              <a:t>的应用举例</a:t>
            </a:r>
          </a:p>
        </p:txBody>
      </p:sp>
      <p:sp>
        <p:nvSpPr>
          <p:cNvPr id="2" name="内容占位符 1"/>
          <p:cNvSpPr>
            <a:spLocks noGrp="1"/>
          </p:cNvSpPr>
          <p:nvPr>
            <p:ph idx="1"/>
          </p:nvPr>
        </p:nvSpPr>
        <p:spPr/>
        <p:txBody>
          <a:bodyPr/>
          <a:lstStyle/>
          <a:p>
            <a:pPr marL="0" indent="0" algn="ctr">
              <a:buNone/>
            </a:pPr>
            <a:r>
              <a:rPr lang="en-US" altLang="zh-CN" sz="3600" dirty="0" err="1">
                <a:solidFill>
                  <a:srgbClr val="FF0000"/>
                </a:solidFill>
              </a:rPr>
              <a:t>Traceroute</a:t>
            </a:r>
            <a:r>
              <a:rPr lang="en-US" altLang="zh-CN" sz="3600" dirty="0">
                <a:solidFill>
                  <a:srgbClr val="FF0000"/>
                </a:solidFill>
              </a:rPr>
              <a:t> </a:t>
            </a:r>
            <a:r>
              <a:rPr lang="zh-CN" altLang="en-US" sz="3600" dirty="0">
                <a:solidFill>
                  <a:srgbClr val="FF0000"/>
                </a:solidFill>
              </a:rPr>
              <a:t>的应用举例</a:t>
            </a:r>
            <a:endParaRPr lang="en-US" altLang="zh-CN" sz="3600" dirty="0">
              <a:solidFill>
                <a:srgbClr val="FF0000"/>
              </a:solidFill>
            </a:endParaRPr>
          </a:p>
          <a:p>
            <a:r>
              <a:rPr lang="zh-CN" altLang="zh-CN" dirty="0"/>
              <a:t>在</a:t>
            </a:r>
            <a:r>
              <a:rPr lang="en-US" altLang="zh-CN" dirty="0"/>
              <a:t> Windows </a:t>
            </a:r>
            <a:r>
              <a:rPr lang="zh-CN" altLang="zh-CN" dirty="0"/>
              <a:t>操作系统中这个命令是</a:t>
            </a:r>
            <a:r>
              <a:rPr lang="en-US" altLang="zh-CN" dirty="0"/>
              <a:t> </a:t>
            </a:r>
            <a:r>
              <a:rPr lang="en-US" altLang="zh-CN" dirty="0" err="1"/>
              <a:t>tracert</a:t>
            </a:r>
            <a:r>
              <a:rPr lang="zh-CN" altLang="en-US" dirty="0"/>
              <a:t>。</a:t>
            </a:r>
            <a:endParaRPr lang="en-US" altLang="zh-CN" dirty="0"/>
          </a:p>
          <a:p>
            <a:r>
              <a:rPr lang="zh-CN" altLang="zh-CN" dirty="0">
                <a:solidFill>
                  <a:srgbClr val="0000FF"/>
                </a:solidFill>
              </a:rPr>
              <a:t>用来跟踪一个分组从源点到终点的路径。</a:t>
            </a:r>
            <a:endParaRPr lang="en-US" altLang="zh-CN" dirty="0">
              <a:solidFill>
                <a:srgbClr val="0000FF"/>
              </a:solidFill>
            </a:endParaRPr>
          </a:p>
          <a:p>
            <a:r>
              <a:rPr lang="zh-CN" altLang="en-US" dirty="0"/>
              <a:t>它利用 </a:t>
            </a:r>
            <a:r>
              <a:rPr lang="en-US" altLang="zh-CN" dirty="0"/>
              <a:t>IP </a:t>
            </a:r>
            <a:r>
              <a:rPr lang="zh-CN" altLang="en-US" dirty="0"/>
              <a:t>数据报中的 </a:t>
            </a:r>
            <a:r>
              <a:rPr lang="en-US" altLang="zh-CN" dirty="0"/>
              <a:t>TTL </a:t>
            </a:r>
            <a:r>
              <a:rPr lang="zh-CN" altLang="en-US" dirty="0"/>
              <a:t>字段和 </a:t>
            </a:r>
            <a:r>
              <a:rPr lang="en-US" altLang="zh-CN" dirty="0"/>
              <a:t>ICMP </a:t>
            </a:r>
            <a:r>
              <a:rPr lang="zh-CN" altLang="zh-CN" dirty="0"/>
              <a:t>时间超过差错报告报文</a:t>
            </a:r>
            <a:r>
              <a:rPr lang="zh-CN" altLang="en-US" dirty="0"/>
              <a:t>实现对从</a:t>
            </a:r>
            <a:r>
              <a:rPr lang="zh-CN" altLang="zh-CN" dirty="0"/>
              <a:t>源点到终点的路径</a:t>
            </a:r>
            <a:r>
              <a:rPr lang="zh-CN" altLang="en-US" dirty="0"/>
              <a:t>的跟踪。</a:t>
            </a:r>
            <a:endParaRPr lang="en-US" altLang="zh-CN" dirty="0"/>
          </a:p>
          <a:p>
            <a:endParaRPr lang="zh-CN" altLang="en-US" dirty="0"/>
          </a:p>
        </p:txBody>
      </p:sp>
      <p:sp>
        <p:nvSpPr>
          <p:cNvPr id="995333" name="Rectangle 5"/>
          <p:cNvSpPr>
            <a:spLocks noChangeArrowheads="1"/>
          </p:cNvSpPr>
          <p:nvPr/>
        </p:nvSpPr>
        <p:spPr bwMode="auto">
          <a:xfrm>
            <a:off x="0" y="20632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r>
              <a:rPr lang="en-US" altLang="zh-CN" dirty="0"/>
              <a:t>4.4.2  ICMP</a:t>
            </a:r>
            <a:r>
              <a:rPr lang="zh-CN" altLang="en-US" dirty="0"/>
              <a:t>的应用举例</a:t>
            </a:r>
          </a:p>
        </p:txBody>
      </p:sp>
      <p:sp>
        <p:nvSpPr>
          <p:cNvPr id="995333" name="Rectangle 5"/>
          <p:cNvSpPr>
            <a:spLocks noChangeArrowheads="1"/>
          </p:cNvSpPr>
          <p:nvPr/>
        </p:nvSpPr>
        <p:spPr bwMode="auto">
          <a:xfrm>
            <a:off x="0" y="20632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pic>
        <p:nvPicPr>
          <p:cNvPr id="995334" name="Picture 6" descr="Printscreen-2006-2-19-tr"/>
          <p:cNvPicPr>
            <a:picLocks noChangeAspect="1" noChangeArrowheads="1"/>
          </p:cNvPicPr>
          <p:nvPr/>
        </p:nvPicPr>
        <p:blipFill>
          <a:blip r:embed="rId3" cstate="print">
            <a:extLst>
              <a:ext uri="{28A0092B-C50C-407E-A947-70E740481C1C}">
                <a14:useLocalDpi xmlns:a14="http://schemas.microsoft.com/office/drawing/2010/main" val="0"/>
              </a:ext>
            </a:extLst>
          </a:blip>
          <a:srcRect t="1367" r="4201" b="1933"/>
          <a:stretch>
            <a:fillRect/>
          </a:stretch>
        </p:blipFill>
        <p:spPr bwMode="auto">
          <a:xfrm>
            <a:off x="488504" y="1268760"/>
            <a:ext cx="9217024" cy="4472620"/>
          </a:xfrm>
          <a:prstGeom prst="rect">
            <a:avLst/>
          </a:prstGeom>
          <a:noFill/>
          <a:extLst>
            <a:ext uri="{909E8E84-426E-40DD-AFC4-6F175D3DCCD1}">
              <a14:hiddenFill xmlns:a14="http://schemas.microsoft.com/office/drawing/2010/main">
                <a:solidFill>
                  <a:srgbClr val="FFFFFF"/>
                </a:solidFill>
              </a14:hiddenFill>
            </a:ext>
          </a:extLst>
        </p:spPr>
      </p:pic>
      <p:sp>
        <p:nvSpPr>
          <p:cNvPr id="4" name="矩形 3"/>
          <p:cNvSpPr/>
          <p:nvPr/>
        </p:nvSpPr>
        <p:spPr>
          <a:xfrm>
            <a:off x="1712640" y="5775647"/>
            <a:ext cx="7416824" cy="461665"/>
          </a:xfrm>
          <a:prstGeom prst="rect">
            <a:avLst/>
          </a:prstGeom>
        </p:spPr>
        <p:txBody>
          <a:bodyPr wrap="square">
            <a:spAutoFit/>
          </a:bodyPr>
          <a:lstStyle/>
          <a:p>
            <a:pPr algn="ctr"/>
            <a:r>
              <a:rPr lang="zh-CN" altLang="zh-CN" sz="2400" b="1" dirty="0">
                <a:latin typeface="+mn-lt"/>
                <a:ea typeface="黑体" panose="02010609060101010101" pitchFamily="2" charset="-122"/>
              </a:rPr>
              <a:t>用</a:t>
            </a:r>
            <a:r>
              <a:rPr lang="en-US" altLang="zh-CN" sz="2400" b="1" dirty="0">
                <a:latin typeface="+mn-lt"/>
                <a:ea typeface="黑体" panose="02010609060101010101" pitchFamily="2" charset="-122"/>
              </a:rPr>
              <a:t> </a:t>
            </a:r>
            <a:r>
              <a:rPr lang="en-US" altLang="zh-CN" sz="2400" b="1" dirty="0" err="1">
                <a:latin typeface="+mn-lt"/>
                <a:ea typeface="黑体" panose="02010609060101010101" pitchFamily="2" charset="-122"/>
              </a:rPr>
              <a:t>tracert</a:t>
            </a:r>
            <a:r>
              <a:rPr lang="en-US" altLang="zh-CN" sz="2400" b="1" dirty="0">
                <a:latin typeface="+mn-lt"/>
                <a:ea typeface="黑体" panose="02010609060101010101" pitchFamily="2" charset="-122"/>
              </a:rPr>
              <a:t> </a:t>
            </a:r>
            <a:r>
              <a:rPr lang="zh-CN" altLang="zh-CN" sz="2400" b="1" dirty="0">
                <a:latin typeface="+mn-lt"/>
                <a:ea typeface="黑体" panose="02010609060101010101" pitchFamily="2" charset="-122"/>
              </a:rPr>
              <a:t>命令获得到目的主机的路由信息</a:t>
            </a:r>
            <a:endParaRPr lang="zh-CN" altLang="en-US" sz="2400" b="1" dirty="0">
              <a:latin typeface="+mn-lt"/>
              <a:ea typeface="黑体" panose="02010609060101010101" pitchFamily="2" charset="-122"/>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椭圆 2"/>
          <p:cNvSpPr/>
          <p:nvPr/>
        </p:nvSpPr>
        <p:spPr bwMode="auto">
          <a:xfrm>
            <a:off x="416496" y="2492896"/>
            <a:ext cx="2664296" cy="2088232"/>
          </a:xfrm>
          <a:prstGeom prst="ellipse">
            <a:avLst/>
          </a:prstGeom>
          <a:solidFill>
            <a:schemeClr val="bg1"/>
          </a:solidFill>
          <a:ln w="1270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5" name="椭圆 4"/>
          <p:cNvSpPr/>
          <p:nvPr/>
        </p:nvSpPr>
        <p:spPr bwMode="auto">
          <a:xfrm>
            <a:off x="7113240" y="2492896"/>
            <a:ext cx="2792760" cy="2088232"/>
          </a:xfrm>
          <a:prstGeom prst="ellipse">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6" name="矩形 5"/>
          <p:cNvSpPr/>
          <p:nvPr/>
        </p:nvSpPr>
        <p:spPr bwMode="auto">
          <a:xfrm>
            <a:off x="1280592" y="2852936"/>
            <a:ext cx="936104"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7" name="矩形 6"/>
          <p:cNvSpPr/>
          <p:nvPr/>
        </p:nvSpPr>
        <p:spPr bwMode="auto">
          <a:xfrm>
            <a:off x="920552" y="3804045"/>
            <a:ext cx="468052"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sp>
        <p:nvSpPr>
          <p:cNvPr id="9" name="矩形 8"/>
          <p:cNvSpPr/>
          <p:nvPr/>
        </p:nvSpPr>
        <p:spPr bwMode="auto">
          <a:xfrm>
            <a:off x="2072680" y="3804045"/>
            <a:ext cx="468052"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11" name="直接连接符 10"/>
          <p:cNvCxnSpPr>
            <a:endCxn id="7" idx="0"/>
          </p:cNvCxnSpPr>
          <p:nvPr/>
        </p:nvCxnSpPr>
        <p:spPr bwMode="auto">
          <a:xfrm>
            <a:off x="1154578" y="3804045"/>
            <a:ext cx="0" cy="0"/>
          </a:xfrm>
          <a:prstGeom prst="line">
            <a:avLst/>
          </a:prstGeom>
          <a:ln w="19050">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3" name="直接连接符 12"/>
          <p:cNvCxnSpPr>
            <a:stCxn id="7" idx="0"/>
          </p:cNvCxnSpPr>
          <p:nvPr/>
        </p:nvCxnSpPr>
        <p:spPr bwMode="auto">
          <a:xfrm flipV="1">
            <a:off x="1154578" y="3284984"/>
            <a:ext cx="594066" cy="519061"/>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15" name="直接连接符 14"/>
          <p:cNvCxnSpPr>
            <a:endCxn id="9" idx="0"/>
          </p:cNvCxnSpPr>
          <p:nvPr/>
        </p:nvCxnSpPr>
        <p:spPr bwMode="auto">
          <a:xfrm>
            <a:off x="1748644" y="3284984"/>
            <a:ext cx="558062" cy="519061"/>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16" name="流程图: 接点 15"/>
          <p:cNvSpPr/>
          <p:nvPr/>
        </p:nvSpPr>
        <p:spPr bwMode="auto">
          <a:xfrm>
            <a:off x="2630742" y="2684512"/>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18" name="直接连接符 17"/>
          <p:cNvCxnSpPr>
            <a:stCxn id="16" idx="1"/>
            <a:endCxn id="16" idx="5"/>
          </p:cNvCxnSpPr>
          <p:nvPr/>
        </p:nvCxnSpPr>
        <p:spPr bwMode="auto">
          <a:xfrm>
            <a:off x="2696650" y="2747784"/>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0" name="直接连接符 19"/>
          <p:cNvCxnSpPr>
            <a:stCxn id="16" idx="3"/>
            <a:endCxn id="16" idx="7"/>
          </p:cNvCxnSpPr>
          <p:nvPr/>
        </p:nvCxnSpPr>
        <p:spPr bwMode="auto">
          <a:xfrm flipV="1">
            <a:off x="2696650" y="2747784"/>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21" name="流程图: 接点 20"/>
          <p:cNvSpPr/>
          <p:nvPr/>
        </p:nvSpPr>
        <p:spPr bwMode="auto">
          <a:xfrm>
            <a:off x="3878980" y="2747784"/>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22" name="直接连接符 21"/>
          <p:cNvCxnSpPr>
            <a:stCxn id="21" idx="1"/>
            <a:endCxn id="21" idx="5"/>
          </p:cNvCxnSpPr>
          <p:nvPr/>
        </p:nvCxnSpPr>
        <p:spPr bwMode="auto">
          <a:xfrm>
            <a:off x="3944888" y="2811056"/>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3" name="直接连接符 22"/>
          <p:cNvCxnSpPr>
            <a:stCxn id="21" idx="3"/>
            <a:endCxn id="21" idx="7"/>
          </p:cNvCxnSpPr>
          <p:nvPr/>
        </p:nvCxnSpPr>
        <p:spPr bwMode="auto">
          <a:xfrm flipV="1">
            <a:off x="3944888" y="2811056"/>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24" name="流程图: 接点 23"/>
          <p:cNvSpPr/>
          <p:nvPr/>
        </p:nvSpPr>
        <p:spPr bwMode="auto">
          <a:xfrm>
            <a:off x="4727975" y="2124120"/>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25" name="直接连接符 24"/>
          <p:cNvCxnSpPr>
            <a:stCxn id="24" idx="1"/>
            <a:endCxn id="24" idx="5"/>
          </p:cNvCxnSpPr>
          <p:nvPr/>
        </p:nvCxnSpPr>
        <p:spPr bwMode="auto">
          <a:xfrm>
            <a:off x="4793883" y="2187392"/>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6" name="直接连接符 25"/>
          <p:cNvCxnSpPr>
            <a:stCxn id="24" idx="3"/>
            <a:endCxn id="24" idx="7"/>
          </p:cNvCxnSpPr>
          <p:nvPr/>
        </p:nvCxnSpPr>
        <p:spPr bwMode="auto">
          <a:xfrm flipV="1">
            <a:off x="4793883" y="2187392"/>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27" name="流程图: 接点 26"/>
          <p:cNvSpPr/>
          <p:nvPr/>
        </p:nvSpPr>
        <p:spPr bwMode="auto">
          <a:xfrm>
            <a:off x="5481467" y="2743836"/>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28" name="直接连接符 27"/>
          <p:cNvCxnSpPr>
            <a:stCxn id="27" idx="1"/>
            <a:endCxn id="27" idx="5"/>
          </p:cNvCxnSpPr>
          <p:nvPr/>
        </p:nvCxnSpPr>
        <p:spPr bwMode="auto">
          <a:xfrm>
            <a:off x="5547375" y="2807108"/>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9" name="直接连接符 28"/>
          <p:cNvCxnSpPr>
            <a:stCxn id="27" idx="3"/>
            <a:endCxn id="27" idx="7"/>
          </p:cNvCxnSpPr>
          <p:nvPr/>
        </p:nvCxnSpPr>
        <p:spPr bwMode="auto">
          <a:xfrm flipV="1">
            <a:off x="5547375" y="2807108"/>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30" name="流程图: 接点 29"/>
          <p:cNvSpPr/>
          <p:nvPr/>
        </p:nvSpPr>
        <p:spPr bwMode="auto">
          <a:xfrm>
            <a:off x="5935346" y="3406579"/>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31" name="直接连接符 30"/>
          <p:cNvCxnSpPr>
            <a:stCxn id="30" idx="1"/>
            <a:endCxn id="30" idx="5"/>
          </p:cNvCxnSpPr>
          <p:nvPr/>
        </p:nvCxnSpPr>
        <p:spPr bwMode="auto">
          <a:xfrm>
            <a:off x="6001254" y="3469851"/>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32" name="直接连接符 31"/>
          <p:cNvCxnSpPr>
            <a:stCxn id="30" idx="3"/>
            <a:endCxn id="30" idx="7"/>
          </p:cNvCxnSpPr>
          <p:nvPr/>
        </p:nvCxnSpPr>
        <p:spPr bwMode="auto">
          <a:xfrm flipV="1">
            <a:off x="6001254" y="3469851"/>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33" name="流程图: 接点 32"/>
          <p:cNvSpPr/>
          <p:nvPr/>
        </p:nvSpPr>
        <p:spPr bwMode="auto">
          <a:xfrm>
            <a:off x="5119228" y="4085809"/>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34" name="直接连接符 33"/>
          <p:cNvCxnSpPr>
            <a:stCxn id="33" idx="1"/>
            <a:endCxn id="33" idx="5"/>
          </p:cNvCxnSpPr>
          <p:nvPr/>
        </p:nvCxnSpPr>
        <p:spPr bwMode="auto">
          <a:xfrm>
            <a:off x="5185136" y="4149081"/>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35" name="直接连接符 34"/>
          <p:cNvCxnSpPr>
            <a:stCxn id="33" idx="3"/>
            <a:endCxn id="33" idx="7"/>
          </p:cNvCxnSpPr>
          <p:nvPr/>
        </p:nvCxnSpPr>
        <p:spPr bwMode="auto">
          <a:xfrm flipV="1">
            <a:off x="5185136" y="4149081"/>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36" name="流程图: 接点 35"/>
          <p:cNvSpPr/>
          <p:nvPr/>
        </p:nvSpPr>
        <p:spPr bwMode="auto">
          <a:xfrm>
            <a:off x="4240612" y="3780305"/>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37" name="直接连接符 36"/>
          <p:cNvCxnSpPr>
            <a:stCxn id="36" idx="1"/>
            <a:endCxn id="36" idx="5"/>
          </p:cNvCxnSpPr>
          <p:nvPr/>
        </p:nvCxnSpPr>
        <p:spPr bwMode="auto">
          <a:xfrm>
            <a:off x="4306520" y="3843577"/>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38" name="直接连接符 37"/>
          <p:cNvCxnSpPr>
            <a:stCxn id="36" idx="3"/>
            <a:endCxn id="36" idx="7"/>
          </p:cNvCxnSpPr>
          <p:nvPr/>
        </p:nvCxnSpPr>
        <p:spPr bwMode="auto">
          <a:xfrm flipV="1">
            <a:off x="4306520" y="3843577"/>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39" name="流程图: 接点 38"/>
          <p:cNvSpPr/>
          <p:nvPr/>
        </p:nvSpPr>
        <p:spPr bwMode="auto">
          <a:xfrm>
            <a:off x="3327337" y="3588021"/>
            <a:ext cx="450050" cy="432048"/>
          </a:xfrm>
          <a:prstGeom prst="flowChartConnector">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40" name="直接连接符 39"/>
          <p:cNvCxnSpPr>
            <a:stCxn id="39" idx="1"/>
            <a:endCxn id="39" idx="5"/>
          </p:cNvCxnSpPr>
          <p:nvPr/>
        </p:nvCxnSpPr>
        <p:spPr bwMode="auto">
          <a:xfrm>
            <a:off x="3393245" y="3651293"/>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41" name="直接连接符 40"/>
          <p:cNvCxnSpPr>
            <a:stCxn id="39" idx="3"/>
            <a:endCxn id="39" idx="7"/>
          </p:cNvCxnSpPr>
          <p:nvPr/>
        </p:nvCxnSpPr>
        <p:spPr bwMode="auto">
          <a:xfrm flipV="1">
            <a:off x="3393245" y="3651293"/>
            <a:ext cx="318234" cy="30550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43" name="直接连接符 42"/>
          <p:cNvCxnSpPr>
            <a:stCxn id="16" idx="6"/>
            <a:endCxn id="21" idx="2"/>
          </p:cNvCxnSpPr>
          <p:nvPr/>
        </p:nvCxnSpPr>
        <p:spPr bwMode="auto">
          <a:xfrm>
            <a:off x="3080792" y="2900536"/>
            <a:ext cx="798188" cy="63272"/>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44" name="直接连接符 43"/>
          <p:cNvCxnSpPr>
            <a:stCxn id="39" idx="7"/>
            <a:endCxn id="21" idx="4"/>
          </p:cNvCxnSpPr>
          <p:nvPr/>
        </p:nvCxnSpPr>
        <p:spPr bwMode="auto">
          <a:xfrm flipV="1">
            <a:off x="3711479" y="3179832"/>
            <a:ext cx="392526" cy="471461"/>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47" name="直接连接符 46"/>
          <p:cNvCxnSpPr>
            <a:endCxn id="24" idx="3"/>
          </p:cNvCxnSpPr>
          <p:nvPr/>
        </p:nvCxnSpPr>
        <p:spPr bwMode="auto">
          <a:xfrm flipV="1">
            <a:off x="4262515" y="2492896"/>
            <a:ext cx="531368" cy="32259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49" name="直接连接符 48"/>
          <p:cNvCxnSpPr>
            <a:stCxn id="39" idx="5"/>
            <a:endCxn id="36" idx="2"/>
          </p:cNvCxnSpPr>
          <p:nvPr/>
        </p:nvCxnSpPr>
        <p:spPr bwMode="auto">
          <a:xfrm>
            <a:off x="3711479" y="3956797"/>
            <a:ext cx="529133" cy="39532"/>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52" name="直接连接符 51"/>
          <p:cNvCxnSpPr>
            <a:stCxn id="21" idx="6"/>
            <a:endCxn id="27" idx="2"/>
          </p:cNvCxnSpPr>
          <p:nvPr/>
        </p:nvCxnSpPr>
        <p:spPr bwMode="auto">
          <a:xfrm flipV="1">
            <a:off x="4329030" y="2959860"/>
            <a:ext cx="1152437" cy="3948"/>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55" name="直接连接符 54"/>
          <p:cNvCxnSpPr>
            <a:stCxn id="24" idx="6"/>
            <a:endCxn id="27" idx="1"/>
          </p:cNvCxnSpPr>
          <p:nvPr/>
        </p:nvCxnSpPr>
        <p:spPr bwMode="auto">
          <a:xfrm>
            <a:off x="5178025" y="2340144"/>
            <a:ext cx="369350" cy="466964"/>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58" name="直接连接符 57"/>
          <p:cNvCxnSpPr>
            <a:stCxn id="27" idx="5"/>
            <a:endCxn id="30" idx="1"/>
          </p:cNvCxnSpPr>
          <p:nvPr/>
        </p:nvCxnSpPr>
        <p:spPr bwMode="auto">
          <a:xfrm>
            <a:off x="5865609" y="3112612"/>
            <a:ext cx="135645" cy="357239"/>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61" name="直接连接符 60"/>
          <p:cNvCxnSpPr>
            <a:stCxn id="36" idx="7"/>
            <a:endCxn id="27" idx="3"/>
          </p:cNvCxnSpPr>
          <p:nvPr/>
        </p:nvCxnSpPr>
        <p:spPr bwMode="auto">
          <a:xfrm flipV="1">
            <a:off x="4624754" y="3112612"/>
            <a:ext cx="922621" cy="730965"/>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64" name="直接连接符 63"/>
          <p:cNvCxnSpPr>
            <a:stCxn id="36" idx="5"/>
            <a:endCxn id="33" idx="2"/>
          </p:cNvCxnSpPr>
          <p:nvPr/>
        </p:nvCxnSpPr>
        <p:spPr bwMode="auto">
          <a:xfrm>
            <a:off x="4624754" y="4149081"/>
            <a:ext cx="494474" cy="152752"/>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67" name="直接连接符 66"/>
          <p:cNvCxnSpPr>
            <a:stCxn id="33" idx="6"/>
            <a:endCxn id="30" idx="3"/>
          </p:cNvCxnSpPr>
          <p:nvPr/>
        </p:nvCxnSpPr>
        <p:spPr bwMode="auto">
          <a:xfrm flipV="1">
            <a:off x="5569278" y="3775355"/>
            <a:ext cx="431976" cy="526478"/>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70" name="直接连接符 69"/>
          <p:cNvCxnSpPr/>
          <p:nvPr/>
        </p:nvCxnSpPr>
        <p:spPr bwMode="auto">
          <a:xfrm flipV="1">
            <a:off x="6374273" y="3175884"/>
            <a:ext cx="1783083" cy="476681"/>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72" name="矩形 71"/>
          <p:cNvSpPr/>
          <p:nvPr/>
        </p:nvSpPr>
        <p:spPr bwMode="auto">
          <a:xfrm>
            <a:off x="8156287" y="2932172"/>
            <a:ext cx="936104"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73" name="直接连接符 72"/>
          <p:cNvCxnSpPr/>
          <p:nvPr/>
        </p:nvCxnSpPr>
        <p:spPr bwMode="auto">
          <a:xfrm flipV="1">
            <a:off x="8063136" y="3363072"/>
            <a:ext cx="594066" cy="519061"/>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74" name="直接连接符 73"/>
          <p:cNvCxnSpPr/>
          <p:nvPr/>
        </p:nvCxnSpPr>
        <p:spPr bwMode="auto">
          <a:xfrm>
            <a:off x="8655135" y="3363072"/>
            <a:ext cx="558062" cy="519061"/>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75" name="矩形 74"/>
          <p:cNvSpPr/>
          <p:nvPr/>
        </p:nvSpPr>
        <p:spPr bwMode="auto">
          <a:xfrm>
            <a:off x="7833320" y="3861048"/>
            <a:ext cx="468052"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sp>
        <p:nvSpPr>
          <p:cNvPr id="76" name="矩形 75"/>
          <p:cNvSpPr/>
          <p:nvPr/>
        </p:nvSpPr>
        <p:spPr bwMode="auto">
          <a:xfrm>
            <a:off x="8934166" y="3882133"/>
            <a:ext cx="468052" cy="432048"/>
          </a:xfrm>
          <a:prstGeom prst="rec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noAutofit/>
          </a:bodyPr>
          <a:lstStyle/>
          <a:p>
            <a:pPr lvl="0" algn="l" defTabSz="914400">
              <a:buClrTx/>
              <a:buSzTx/>
              <a:buFontTx/>
            </a:pPr>
            <a:endParaRPr lang="zh-CN" altLang="en-US" sz="1800">
              <a:ln>
                <a:noFill/>
              </a:ln>
              <a:effectLst/>
              <a:sym typeface="+mn-ea"/>
            </a:endParaRPr>
          </a:p>
        </p:txBody>
      </p:sp>
      <p:cxnSp>
        <p:nvCxnSpPr>
          <p:cNvPr id="78" name="直接连接符 77"/>
          <p:cNvCxnSpPr>
            <a:stCxn id="6" idx="3"/>
            <a:endCxn id="16" idx="2"/>
          </p:cNvCxnSpPr>
          <p:nvPr/>
        </p:nvCxnSpPr>
        <p:spPr bwMode="auto">
          <a:xfrm flipV="1">
            <a:off x="2216696" y="2900536"/>
            <a:ext cx="414046" cy="168424"/>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2" name="文本框 1"/>
          <p:cNvSpPr txBox="1"/>
          <p:nvPr/>
        </p:nvSpPr>
        <p:spPr>
          <a:xfrm>
            <a:off x="2423795" y="5020945"/>
            <a:ext cx="5059045" cy="953135"/>
          </a:xfrm>
          <a:prstGeom prst="rect">
            <a:avLst/>
          </a:prstGeom>
          <a:noFill/>
        </p:spPr>
        <p:txBody>
          <a:bodyPr wrap="square" rtlCol="0">
            <a:spAutoFit/>
          </a:bodyPr>
          <a:lstStyle/>
          <a:p>
            <a:r>
              <a:rPr lang="zh-CN" altLang="en-US" sz="2800"/>
              <a:t>如果</a:t>
            </a:r>
            <a:r>
              <a:rPr lang="en-US" altLang="zh-CN" sz="2800"/>
              <a:t>pc1</a:t>
            </a:r>
            <a:r>
              <a:rPr lang="zh-CN" altLang="en-US" sz="2800"/>
              <a:t>向</a:t>
            </a:r>
            <a:r>
              <a:rPr lang="en-US" altLang="zh-CN" sz="2800"/>
              <a:t>pc2</a:t>
            </a:r>
            <a:r>
              <a:rPr lang="zh-CN" altLang="en-US" sz="2800"/>
              <a:t>发送消息无法正确到达，如何判断故障位置？</a:t>
            </a:r>
          </a:p>
        </p:txBody>
      </p:sp>
      <p:sp>
        <p:nvSpPr>
          <p:cNvPr id="4" name="文本框 3"/>
          <p:cNvSpPr txBox="1"/>
          <p:nvPr/>
        </p:nvSpPr>
        <p:spPr>
          <a:xfrm>
            <a:off x="1154430" y="4140200"/>
            <a:ext cx="613410" cy="368300"/>
          </a:xfrm>
          <a:prstGeom prst="rect">
            <a:avLst/>
          </a:prstGeom>
          <a:noFill/>
        </p:spPr>
        <p:txBody>
          <a:bodyPr wrap="square" rtlCol="0">
            <a:spAutoFit/>
          </a:bodyPr>
          <a:lstStyle/>
          <a:p>
            <a:r>
              <a:rPr lang="en-US" altLang="zh-CN"/>
              <a:t>pc1</a:t>
            </a:r>
          </a:p>
        </p:txBody>
      </p:sp>
      <p:sp>
        <p:nvSpPr>
          <p:cNvPr id="8" name="文本框 7"/>
          <p:cNvSpPr txBox="1"/>
          <p:nvPr/>
        </p:nvSpPr>
        <p:spPr>
          <a:xfrm>
            <a:off x="9213215" y="3514090"/>
            <a:ext cx="613410" cy="368300"/>
          </a:xfrm>
          <a:prstGeom prst="rect">
            <a:avLst/>
          </a:prstGeom>
          <a:noFill/>
        </p:spPr>
        <p:txBody>
          <a:bodyPr wrap="square" rtlCol="0">
            <a:spAutoFit/>
          </a:bodyPr>
          <a:lstStyle/>
          <a:p>
            <a:r>
              <a:rPr lang="en-US" altLang="zh-CN"/>
              <a:t>pc2</a:t>
            </a:r>
          </a:p>
        </p:txBody>
      </p:sp>
      <p:sp>
        <p:nvSpPr>
          <p:cNvPr id="995330" name="Rectangle 2"/>
          <p:cNvSpPr>
            <a:spLocks noGrp="1" noChangeArrowheads="1"/>
          </p:cNvSpPr>
          <p:nvPr>
            <p:ph type="title"/>
          </p:nvPr>
        </p:nvSpPr>
        <p:spPr/>
        <p:txBody>
          <a:bodyPr/>
          <a:lstStyle/>
          <a:p>
            <a:r>
              <a:rPr lang="zh-CN" altLang="en-US" dirty="0"/>
              <a:t>故障判断</a:t>
            </a: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60512" y="1196752"/>
            <a:ext cx="4176464" cy="2808312"/>
          </a:xfrm>
          <a:prstGeom prst="rect">
            <a:avLst/>
          </a:prstGeom>
        </p:spPr>
      </p:pic>
      <p:sp>
        <p:nvSpPr>
          <p:cNvPr id="7" name="矩形 6"/>
          <p:cNvSpPr/>
          <p:nvPr/>
        </p:nvSpPr>
        <p:spPr>
          <a:xfrm>
            <a:off x="4736976" y="1196752"/>
            <a:ext cx="4953000" cy="3138170"/>
          </a:xfrm>
          <a:prstGeom prst="rect">
            <a:avLst/>
          </a:prstGeom>
        </p:spPr>
        <p:txBody>
          <a:bodyPr>
            <a:spAutoFit/>
          </a:bodyPr>
          <a:lstStyle/>
          <a:p>
            <a:r>
              <a:rPr lang="zh-CN" altLang="en-US" dirty="0">
                <a:solidFill>
                  <a:srgbClr val="404040"/>
                </a:solidFill>
                <a:latin typeface="-apple-system"/>
              </a:rPr>
              <a:t>大量的 </a:t>
            </a:r>
            <a:r>
              <a:rPr lang="en-US" altLang="zh-CN" dirty="0">
                <a:solidFill>
                  <a:srgbClr val="404040"/>
                </a:solidFill>
                <a:latin typeface="-apple-system"/>
              </a:rPr>
              <a:t>ICMP</a:t>
            </a:r>
            <a:r>
              <a:rPr lang="zh-CN" altLang="en-US" dirty="0">
                <a:solidFill>
                  <a:srgbClr val="404040"/>
                </a:solidFill>
                <a:latin typeface="-apple-system"/>
              </a:rPr>
              <a:t>消息发送给目标系统，使得它不能够对合法的服务请求做出响应。中美黑客大战中的多数中国黑客采用的正是此项技术。</a:t>
            </a:r>
            <a:r>
              <a:rPr lang="en-US" altLang="zh-CN" dirty="0">
                <a:solidFill>
                  <a:srgbClr val="404040"/>
                </a:solidFill>
                <a:latin typeface="-apple-system"/>
              </a:rPr>
              <a:t>ICMP FLOOD</a:t>
            </a:r>
            <a:r>
              <a:rPr lang="zh-CN" altLang="en-US" dirty="0">
                <a:solidFill>
                  <a:srgbClr val="404040"/>
                </a:solidFill>
                <a:latin typeface="-apple-system"/>
              </a:rPr>
              <a:t>攻击实际上是一种两败俱伤的攻击方式，在主机</a:t>
            </a:r>
            <a:r>
              <a:rPr lang="en-US" altLang="zh-CN" dirty="0">
                <a:solidFill>
                  <a:srgbClr val="404040"/>
                </a:solidFill>
                <a:latin typeface="-apple-system"/>
              </a:rPr>
              <a:t>“</a:t>
            </a:r>
            <a:r>
              <a:rPr lang="zh-CN" altLang="en-US" dirty="0">
                <a:solidFill>
                  <a:srgbClr val="404040"/>
                </a:solidFill>
                <a:latin typeface="-apple-system"/>
              </a:rPr>
              <a:t>疯狂</a:t>
            </a:r>
            <a:r>
              <a:rPr lang="en-US" altLang="zh-CN" dirty="0">
                <a:solidFill>
                  <a:srgbClr val="404040"/>
                </a:solidFill>
                <a:latin typeface="-apple-system"/>
              </a:rPr>
              <a:t>”</a:t>
            </a:r>
            <a:r>
              <a:rPr lang="zh-CN" altLang="en-US" dirty="0">
                <a:solidFill>
                  <a:srgbClr val="404040"/>
                </a:solidFill>
                <a:latin typeface="-apple-system"/>
              </a:rPr>
              <a:t>地向攻击目标发送</a:t>
            </a:r>
            <a:r>
              <a:rPr lang="en-US" altLang="zh-CN" dirty="0">
                <a:solidFill>
                  <a:srgbClr val="404040"/>
                </a:solidFill>
                <a:latin typeface="-apple-system"/>
              </a:rPr>
              <a:t>ICMP</a:t>
            </a:r>
            <a:r>
              <a:rPr lang="zh-CN" altLang="en-US" dirty="0">
                <a:solidFill>
                  <a:srgbClr val="404040"/>
                </a:solidFill>
                <a:latin typeface="-apple-system"/>
              </a:rPr>
              <a:t>消息的时候，主机也在消耗自身的系统资源。如果自身的网络资源小于目标的话，这种攻击就是</a:t>
            </a:r>
            <a:r>
              <a:rPr lang="en-US" altLang="zh-CN" dirty="0">
                <a:solidFill>
                  <a:srgbClr val="404040"/>
                </a:solidFill>
                <a:latin typeface="-apple-system"/>
              </a:rPr>
              <a:t>“</a:t>
            </a:r>
            <a:r>
              <a:rPr lang="zh-CN" altLang="en-US" dirty="0">
                <a:solidFill>
                  <a:srgbClr val="404040"/>
                </a:solidFill>
                <a:latin typeface="-apple-system"/>
              </a:rPr>
              <a:t>蚍蜉撼大树</a:t>
            </a:r>
            <a:r>
              <a:rPr lang="en-US" altLang="zh-CN" dirty="0">
                <a:solidFill>
                  <a:srgbClr val="404040"/>
                </a:solidFill>
                <a:latin typeface="-apple-system"/>
              </a:rPr>
              <a:t>”</a:t>
            </a:r>
            <a:r>
              <a:rPr lang="zh-CN" altLang="en-US" dirty="0">
                <a:solidFill>
                  <a:srgbClr val="404040"/>
                </a:solidFill>
                <a:latin typeface="-apple-system"/>
              </a:rPr>
              <a:t>。因此，</a:t>
            </a:r>
            <a:r>
              <a:rPr lang="en-US" altLang="zh-CN" dirty="0">
                <a:solidFill>
                  <a:srgbClr val="404040"/>
                </a:solidFill>
                <a:latin typeface="-apple-system"/>
              </a:rPr>
              <a:t>ICMP FLOOD</a:t>
            </a:r>
            <a:r>
              <a:rPr lang="zh-CN" altLang="en-US" dirty="0">
                <a:solidFill>
                  <a:srgbClr val="404040"/>
                </a:solidFill>
                <a:latin typeface="-apple-system"/>
              </a:rPr>
              <a:t>攻击为了达到很好的效果，往往要联合多台机器同时攻击同一台机器，从而形成分布式拒绝服务攻击。</a:t>
            </a:r>
            <a:endParaRPr lang="zh-CN" altLang="en-US" dirty="0"/>
          </a:p>
        </p:txBody>
      </p:sp>
      <p:sp>
        <p:nvSpPr>
          <p:cNvPr id="8" name="Rectangle 2"/>
          <p:cNvSpPr>
            <a:spLocks noGrp="1" noChangeArrowheads="1"/>
          </p:cNvSpPr>
          <p:nvPr>
            <p:ph type="title"/>
          </p:nvPr>
        </p:nvSpPr>
        <p:spPr>
          <a:xfrm>
            <a:off x="495300" y="188640"/>
            <a:ext cx="9066212" cy="792088"/>
          </a:xfrm>
        </p:spPr>
        <p:txBody>
          <a:bodyPr/>
          <a:lstStyle/>
          <a:p>
            <a:r>
              <a:rPr lang="en-US" altLang="zh-CN" dirty="0"/>
              <a:t>ICMP Flood</a:t>
            </a:r>
            <a:endParaRPr lang="zh-CN" altLang="en-US" dirty="0"/>
          </a:p>
        </p:txBody>
      </p:sp>
      <p:sp>
        <p:nvSpPr>
          <p:cNvPr id="9" name="矩形 8"/>
          <p:cNvSpPr/>
          <p:nvPr/>
        </p:nvSpPr>
        <p:spPr>
          <a:xfrm>
            <a:off x="648072" y="4797152"/>
            <a:ext cx="8913440" cy="1200329"/>
          </a:xfrm>
          <a:prstGeom prst="rect">
            <a:avLst/>
          </a:prstGeom>
        </p:spPr>
        <p:txBody>
          <a:bodyPr wrap="square">
            <a:spAutoFit/>
          </a:bodyPr>
          <a:lstStyle/>
          <a:p>
            <a:r>
              <a:rPr lang="zh-CN" altLang="en-US" dirty="0">
                <a:solidFill>
                  <a:srgbClr val="404040"/>
                </a:solidFill>
                <a:latin typeface="-apple-system"/>
              </a:rPr>
              <a:t>攻击者向许多地址发送</a:t>
            </a:r>
            <a:r>
              <a:rPr lang="en-US" altLang="zh-CN" dirty="0">
                <a:solidFill>
                  <a:srgbClr val="404040"/>
                </a:solidFill>
                <a:latin typeface="-apple-system"/>
              </a:rPr>
              <a:t>ICMP Echo Request</a:t>
            </a:r>
            <a:r>
              <a:rPr lang="zh-CN" altLang="en-US" dirty="0">
                <a:solidFill>
                  <a:srgbClr val="404040"/>
                </a:solidFill>
                <a:latin typeface="-apple-system"/>
              </a:rPr>
              <a:t>，但是它却告诉这些地址</a:t>
            </a:r>
            <a:r>
              <a:rPr lang="en-US" altLang="zh-CN" dirty="0">
                <a:solidFill>
                  <a:srgbClr val="404040"/>
                </a:solidFill>
                <a:latin typeface="-apple-system"/>
              </a:rPr>
              <a:t>ICMP Echo Request</a:t>
            </a:r>
            <a:r>
              <a:rPr lang="zh-CN" altLang="en-US" dirty="0">
                <a:solidFill>
                  <a:srgbClr val="404040"/>
                </a:solidFill>
                <a:latin typeface="-apple-system"/>
              </a:rPr>
              <a:t>不是它自己发的，而是</a:t>
            </a:r>
            <a:r>
              <a:rPr lang="en-US" altLang="zh-CN" dirty="0">
                <a:solidFill>
                  <a:srgbClr val="404040"/>
                </a:solidFill>
                <a:latin typeface="-apple-system"/>
              </a:rPr>
              <a:t>“</a:t>
            </a:r>
            <a:r>
              <a:rPr lang="zh-CN" altLang="en-US" dirty="0">
                <a:solidFill>
                  <a:srgbClr val="404040"/>
                </a:solidFill>
                <a:latin typeface="-apple-system"/>
              </a:rPr>
              <a:t>某某</a:t>
            </a:r>
            <a:r>
              <a:rPr lang="en-US" altLang="zh-CN" dirty="0">
                <a:solidFill>
                  <a:srgbClr val="404040"/>
                </a:solidFill>
                <a:latin typeface="-apple-system"/>
              </a:rPr>
              <a:t>”</a:t>
            </a:r>
            <a:r>
              <a:rPr lang="zh-CN" altLang="en-US" dirty="0">
                <a:solidFill>
                  <a:srgbClr val="404040"/>
                </a:solidFill>
                <a:latin typeface="-apple-system"/>
              </a:rPr>
              <a:t>发的，这个</a:t>
            </a:r>
            <a:r>
              <a:rPr lang="en-US" altLang="zh-CN" dirty="0">
                <a:solidFill>
                  <a:srgbClr val="404040"/>
                </a:solidFill>
                <a:latin typeface="-apple-system"/>
              </a:rPr>
              <a:t>“</a:t>
            </a:r>
            <a:r>
              <a:rPr lang="zh-CN" altLang="en-US" dirty="0">
                <a:solidFill>
                  <a:srgbClr val="404040"/>
                </a:solidFill>
                <a:latin typeface="-apple-system"/>
              </a:rPr>
              <a:t>某某</a:t>
            </a:r>
            <a:r>
              <a:rPr lang="en-US" altLang="zh-CN" dirty="0">
                <a:solidFill>
                  <a:srgbClr val="404040"/>
                </a:solidFill>
                <a:latin typeface="-apple-system"/>
              </a:rPr>
              <a:t>”</a:t>
            </a:r>
            <a:r>
              <a:rPr lang="zh-CN" altLang="en-US" dirty="0">
                <a:solidFill>
                  <a:srgbClr val="404040"/>
                </a:solidFill>
                <a:latin typeface="-apple-system"/>
              </a:rPr>
              <a:t>就会成为</a:t>
            </a:r>
            <a:r>
              <a:rPr lang="en-US" altLang="zh-CN" dirty="0">
                <a:solidFill>
                  <a:srgbClr val="404040"/>
                </a:solidFill>
                <a:latin typeface="-apple-system"/>
              </a:rPr>
              <a:t>“</a:t>
            </a:r>
            <a:r>
              <a:rPr lang="zh-CN" altLang="en-US" dirty="0">
                <a:solidFill>
                  <a:srgbClr val="404040"/>
                </a:solidFill>
                <a:latin typeface="-apple-system"/>
              </a:rPr>
              <a:t>众矢之的</a:t>
            </a:r>
            <a:r>
              <a:rPr lang="en-US" altLang="zh-CN" dirty="0">
                <a:solidFill>
                  <a:srgbClr val="404040"/>
                </a:solidFill>
                <a:latin typeface="-apple-system"/>
              </a:rPr>
              <a:t>”</a:t>
            </a:r>
            <a:r>
              <a:rPr lang="zh-CN" altLang="en-US" dirty="0">
                <a:solidFill>
                  <a:srgbClr val="404040"/>
                </a:solidFill>
                <a:latin typeface="-apple-system"/>
              </a:rPr>
              <a:t>。通过伪装源主机的</a:t>
            </a:r>
            <a:r>
              <a:rPr lang="en-US" altLang="zh-CN" dirty="0">
                <a:solidFill>
                  <a:srgbClr val="404040"/>
                </a:solidFill>
                <a:latin typeface="-apple-system"/>
              </a:rPr>
              <a:t>IP</a:t>
            </a:r>
            <a:r>
              <a:rPr lang="zh-CN" altLang="en-US" dirty="0">
                <a:solidFill>
                  <a:srgbClr val="404040"/>
                </a:solidFill>
                <a:latin typeface="-apple-system"/>
              </a:rPr>
              <a:t>地址，向多个</a:t>
            </a:r>
            <a:r>
              <a:rPr lang="en-US" altLang="zh-CN" dirty="0">
                <a:solidFill>
                  <a:srgbClr val="404040"/>
                </a:solidFill>
                <a:latin typeface="-apple-system"/>
              </a:rPr>
              <a:t>IP </a:t>
            </a:r>
            <a:r>
              <a:rPr lang="zh-CN" altLang="en-US" dirty="0">
                <a:solidFill>
                  <a:srgbClr val="404040"/>
                </a:solidFill>
                <a:latin typeface="-apple-system"/>
              </a:rPr>
              <a:t>网络的广播地址发送</a:t>
            </a:r>
            <a:r>
              <a:rPr lang="en-US" altLang="zh-CN" dirty="0">
                <a:solidFill>
                  <a:srgbClr val="404040"/>
                </a:solidFill>
                <a:latin typeface="-apple-system"/>
              </a:rPr>
              <a:t>ICMP Echo Request</a:t>
            </a:r>
            <a:r>
              <a:rPr lang="zh-CN" altLang="en-US" dirty="0">
                <a:solidFill>
                  <a:srgbClr val="404040"/>
                </a:solidFill>
                <a:latin typeface="-apple-system"/>
              </a:rPr>
              <a:t>数据包，使得目的主机需要消耗大量</a:t>
            </a:r>
            <a:r>
              <a:rPr lang="en-US" altLang="zh-CN" dirty="0">
                <a:solidFill>
                  <a:srgbClr val="404040"/>
                </a:solidFill>
                <a:latin typeface="-apple-system"/>
              </a:rPr>
              <a:t>CPU </a:t>
            </a:r>
            <a:r>
              <a:rPr lang="zh-CN" altLang="en-US" dirty="0">
                <a:solidFill>
                  <a:srgbClr val="404040"/>
                </a:solidFill>
                <a:latin typeface="-apple-system"/>
              </a:rPr>
              <a:t>资源和有效带宽来处理来自众多节点的</a:t>
            </a:r>
            <a:r>
              <a:rPr lang="en-US" altLang="zh-CN" dirty="0">
                <a:solidFill>
                  <a:srgbClr val="404040"/>
                </a:solidFill>
                <a:latin typeface="-apple-system"/>
              </a:rPr>
              <a:t>ICMP Reply</a:t>
            </a:r>
            <a:r>
              <a:rPr lang="zh-CN" altLang="en-US" dirty="0">
                <a:solidFill>
                  <a:srgbClr val="404040"/>
                </a:solidFill>
                <a:latin typeface="-apple-system"/>
              </a:rPr>
              <a:t>数据包。</a:t>
            </a:r>
            <a:endParaRPr lang="zh-CN" altLang="en-US" dirty="0"/>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115284384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4.5  </a:t>
            </a:r>
            <a:r>
              <a:rPr lang="zh-CN" altLang="zh-CN" dirty="0"/>
              <a:t>互联网的路由选择协议</a:t>
            </a:r>
            <a:endParaRPr lang="zh-CN" altLang="en-US" dirty="0"/>
          </a:p>
        </p:txBody>
      </p:sp>
      <p:sp>
        <p:nvSpPr>
          <p:cNvPr id="931843" name="Rectangle 3"/>
          <p:cNvSpPr>
            <a:spLocks noGrp="1" noChangeArrowheads="1"/>
          </p:cNvSpPr>
          <p:nvPr>
            <p:ph idx="1"/>
          </p:nvPr>
        </p:nvSpPr>
        <p:spPr/>
        <p:txBody>
          <a:bodyPr/>
          <a:lstStyle/>
          <a:p>
            <a:r>
              <a:rPr lang="en-US" altLang="zh-CN" dirty="0"/>
              <a:t>4.5.1  </a:t>
            </a:r>
            <a:r>
              <a:rPr lang="zh-CN" altLang="zh-CN" dirty="0"/>
              <a:t>有关路由选择协议的几个基本概念</a:t>
            </a:r>
          </a:p>
          <a:p>
            <a:r>
              <a:rPr lang="en-US" altLang="zh-CN" dirty="0"/>
              <a:t>4.5.2  </a:t>
            </a:r>
            <a:r>
              <a:rPr lang="zh-CN" altLang="zh-CN" dirty="0"/>
              <a:t>内部网关协议</a:t>
            </a:r>
            <a:r>
              <a:rPr lang="en-US" altLang="zh-CN" dirty="0"/>
              <a:t> RIP</a:t>
            </a:r>
            <a:endParaRPr lang="zh-CN" altLang="zh-CN" dirty="0"/>
          </a:p>
          <a:p>
            <a:r>
              <a:rPr lang="en-US" altLang="zh-CN" dirty="0"/>
              <a:t>4.5.3  </a:t>
            </a:r>
            <a:r>
              <a:rPr lang="zh-CN" altLang="zh-CN" dirty="0"/>
              <a:t>内部网关协议</a:t>
            </a:r>
            <a:r>
              <a:rPr lang="en-US" altLang="zh-CN" dirty="0"/>
              <a:t> OSPF</a:t>
            </a:r>
            <a:endParaRPr lang="zh-CN" altLang="zh-CN" dirty="0"/>
          </a:p>
          <a:p>
            <a:r>
              <a:rPr lang="en-US" altLang="zh-CN" dirty="0"/>
              <a:t>4.5.4  </a:t>
            </a:r>
            <a:r>
              <a:rPr lang="zh-CN" altLang="zh-CN" dirty="0"/>
              <a:t>外部网关协议</a:t>
            </a:r>
            <a:r>
              <a:rPr lang="en-US" altLang="zh-CN" dirty="0"/>
              <a:t> BGP</a:t>
            </a:r>
            <a:endParaRPr lang="zh-CN" altLang="zh-CN" dirty="0"/>
          </a:p>
          <a:p>
            <a:r>
              <a:rPr lang="en-US" altLang="zh-CN" dirty="0"/>
              <a:t>4.5.5  </a:t>
            </a:r>
            <a:r>
              <a:rPr lang="zh-CN" altLang="zh-CN" dirty="0"/>
              <a:t>路由器的构成</a:t>
            </a:r>
          </a:p>
          <a:p>
            <a:endParaRPr lang="zh-CN" altLang="en-US" dirty="0">
              <a:solidFill>
                <a:srgbClr val="0000CC"/>
              </a:solidFill>
            </a:endParaRP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Rectangle 2"/>
          <p:cNvSpPr>
            <a:spLocks noGrp="1" noChangeArrowheads="1"/>
          </p:cNvSpPr>
          <p:nvPr>
            <p:ph type="title"/>
          </p:nvPr>
        </p:nvSpPr>
        <p:spPr/>
        <p:txBody>
          <a:bodyPr/>
          <a:lstStyle/>
          <a:p>
            <a:r>
              <a:rPr lang="en-US" altLang="zh-CN" sz="3600" dirty="0"/>
              <a:t>4.5.1  </a:t>
            </a:r>
            <a:r>
              <a:rPr lang="zh-CN" altLang="en-US" sz="3600" dirty="0"/>
              <a:t>有关路由选择协议的几个基本概念</a:t>
            </a:r>
          </a:p>
        </p:txBody>
      </p:sp>
      <p:sp>
        <p:nvSpPr>
          <p:cNvPr id="545795" name="Rectangle 3"/>
          <p:cNvSpPr>
            <a:spLocks noGrp="1" noChangeArrowheads="1"/>
          </p:cNvSpPr>
          <p:nvPr>
            <p:ph idx="1"/>
          </p:nvPr>
        </p:nvSpPr>
        <p:spPr/>
        <p:txBody>
          <a:bodyPr/>
          <a:lstStyle/>
          <a:p>
            <a:pPr>
              <a:buFont typeface="Wingdings" panose="05000000000000000000" pitchFamily="2" charset="2"/>
              <a:buNone/>
            </a:pPr>
            <a:r>
              <a:rPr lang="en-US" altLang="zh-CN" sz="4400" dirty="0">
                <a:solidFill>
                  <a:srgbClr val="333399"/>
                </a:solidFill>
              </a:rPr>
              <a:t>1. </a:t>
            </a:r>
            <a:r>
              <a:rPr lang="zh-CN" altLang="en-US" sz="4400" dirty="0">
                <a:solidFill>
                  <a:srgbClr val="333399"/>
                </a:solidFill>
              </a:rPr>
              <a:t>理想的路由算法</a:t>
            </a:r>
          </a:p>
          <a:p>
            <a:pPr algn="just"/>
            <a:r>
              <a:rPr lang="zh-CN" altLang="en-US" dirty="0"/>
              <a:t>算法必须是正确的和完整的。 </a:t>
            </a:r>
          </a:p>
          <a:p>
            <a:pPr algn="just"/>
            <a:r>
              <a:rPr lang="zh-CN" altLang="en-US" dirty="0"/>
              <a:t>算法在计算上应简单。 </a:t>
            </a:r>
          </a:p>
          <a:p>
            <a:pPr algn="just"/>
            <a:r>
              <a:rPr lang="zh-CN" altLang="en-US" dirty="0"/>
              <a:t>算法应能适应通信量和网络拓扑的变化，这就是说，要有自适应性。 </a:t>
            </a:r>
          </a:p>
          <a:p>
            <a:pPr algn="just"/>
            <a:r>
              <a:rPr lang="zh-CN" altLang="en-US" dirty="0"/>
              <a:t>算法应具有稳定性。 </a:t>
            </a:r>
          </a:p>
          <a:p>
            <a:pPr algn="just"/>
            <a:r>
              <a:rPr lang="zh-CN" altLang="en-US" dirty="0"/>
              <a:t>算法应是公平的。 </a:t>
            </a:r>
          </a:p>
          <a:p>
            <a:pPr algn="just"/>
            <a:r>
              <a:rPr lang="zh-CN" altLang="en-US" dirty="0"/>
              <a:t>算法应是最佳的。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579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579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4579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2"/>
          <p:cNvSpPr>
            <a:spLocks noGrp="1" noChangeArrowheads="1"/>
          </p:cNvSpPr>
          <p:nvPr>
            <p:ph type="title"/>
          </p:nvPr>
        </p:nvSpPr>
        <p:spPr/>
        <p:txBody>
          <a:bodyPr/>
          <a:lstStyle/>
          <a:p>
            <a:pPr algn="ctr"/>
            <a:r>
              <a:rPr lang="zh-CN" altLang="en-US" dirty="0"/>
              <a:t>关于“最佳路由” </a:t>
            </a:r>
          </a:p>
        </p:txBody>
      </p:sp>
      <p:sp>
        <p:nvSpPr>
          <p:cNvPr id="547843" name="Rectangle 3"/>
          <p:cNvSpPr>
            <a:spLocks noGrp="1" noChangeArrowheads="1"/>
          </p:cNvSpPr>
          <p:nvPr>
            <p:ph idx="1"/>
          </p:nvPr>
        </p:nvSpPr>
        <p:spPr/>
        <p:txBody>
          <a:bodyPr/>
          <a:lstStyle/>
          <a:p>
            <a:pPr algn="just"/>
            <a:r>
              <a:rPr lang="zh-CN" altLang="en-US" dirty="0"/>
              <a:t>不存在一种绝对的最佳路由算法。</a:t>
            </a:r>
          </a:p>
          <a:p>
            <a:pPr algn="just"/>
            <a:r>
              <a:rPr lang="zh-CN" altLang="en-US" dirty="0">
                <a:solidFill>
                  <a:srgbClr val="0000FF"/>
                </a:solidFill>
              </a:rPr>
              <a:t>所谓“</a:t>
            </a:r>
            <a:r>
              <a:rPr lang="zh-CN" altLang="en-US" dirty="0">
                <a:solidFill>
                  <a:srgbClr val="FF0000"/>
                </a:solidFill>
              </a:rPr>
              <a:t>最佳</a:t>
            </a:r>
            <a:r>
              <a:rPr lang="zh-CN" altLang="en-US" dirty="0">
                <a:solidFill>
                  <a:srgbClr val="0000FF"/>
                </a:solidFill>
              </a:rPr>
              <a:t>”只能是相对于某一种特定要求下得出的较为合理的选择而已。</a:t>
            </a:r>
          </a:p>
          <a:p>
            <a:pPr algn="just"/>
            <a:r>
              <a:rPr lang="zh-CN" altLang="en-US" dirty="0"/>
              <a:t>实际的路由选择算法，应尽可能接近于理想的算法。 </a:t>
            </a:r>
          </a:p>
          <a:p>
            <a:pPr algn="just"/>
            <a:r>
              <a:rPr lang="zh-CN" altLang="en-US" dirty="0"/>
              <a:t>路由选择是个非常复杂的问题</a:t>
            </a:r>
          </a:p>
          <a:p>
            <a:pPr lvl="1" algn="just"/>
            <a:r>
              <a:rPr lang="zh-CN" altLang="en-US" dirty="0">
                <a:solidFill>
                  <a:srgbClr val="0000FF"/>
                </a:solidFill>
              </a:rPr>
              <a:t>它是网络中的所有结点共同协调工作的结果。</a:t>
            </a:r>
          </a:p>
          <a:p>
            <a:pPr lvl="1" algn="just"/>
            <a:r>
              <a:rPr lang="zh-CN" altLang="en-US" dirty="0">
                <a:solidFill>
                  <a:srgbClr val="0000FF"/>
                </a:solidFill>
              </a:rPr>
              <a:t>路由选择的环境往往是不断变化的，而这种变化有时无法事先知道。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784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784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784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7843">
                                            <p:txEl>
                                              <p:pRg st="3" end="3"/>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47843">
                                            <p:txEl>
                                              <p:pRg st="4" end="4"/>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478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p:cNvSpPr>
            <a:spLocks noGrp="1" noChangeArrowheads="1"/>
          </p:cNvSpPr>
          <p:nvPr>
            <p:ph type="title"/>
          </p:nvPr>
        </p:nvSpPr>
        <p:spPr/>
        <p:txBody>
          <a:bodyPr/>
          <a:lstStyle/>
          <a:p>
            <a:pPr algn="ctr"/>
            <a:r>
              <a:rPr lang="zh-CN" altLang="en-US" dirty="0"/>
              <a:t>从路由算法的自适应性考虑</a:t>
            </a:r>
          </a:p>
        </p:txBody>
      </p:sp>
      <p:sp>
        <p:nvSpPr>
          <p:cNvPr id="548867" name="Rectangle 3"/>
          <p:cNvSpPr>
            <a:spLocks noGrp="1" noChangeArrowheads="1"/>
          </p:cNvSpPr>
          <p:nvPr>
            <p:ph idx="1"/>
          </p:nvPr>
        </p:nvSpPr>
        <p:spPr/>
        <p:txBody>
          <a:bodyPr/>
          <a:lstStyle/>
          <a:p>
            <a:pPr algn="just"/>
            <a:r>
              <a:rPr lang="zh-CN" altLang="en-US" dirty="0">
                <a:solidFill>
                  <a:srgbClr val="FF0000"/>
                </a:solidFill>
              </a:rPr>
              <a:t>静态</a:t>
            </a:r>
            <a:r>
              <a:rPr lang="zh-CN" altLang="en-US" dirty="0"/>
              <a:t>路由选择策略</a:t>
            </a:r>
            <a:r>
              <a:rPr lang="en-US" altLang="zh-CN" dirty="0"/>
              <a:t>——</a:t>
            </a:r>
            <a:r>
              <a:rPr lang="zh-CN" altLang="en-US" dirty="0"/>
              <a:t>即</a:t>
            </a:r>
            <a:r>
              <a:rPr lang="zh-CN" altLang="en-US" dirty="0">
                <a:solidFill>
                  <a:srgbClr val="0000FF"/>
                </a:solidFill>
              </a:rPr>
              <a:t>非自适应路由选择，</a:t>
            </a:r>
            <a:r>
              <a:rPr lang="zh-CN" altLang="en-US" dirty="0"/>
              <a:t>其特点是简单和开销较小，但不能及时适应网络状态的变化。 </a:t>
            </a:r>
          </a:p>
          <a:p>
            <a:pPr algn="just"/>
            <a:r>
              <a:rPr lang="zh-CN" altLang="en-US" dirty="0">
                <a:solidFill>
                  <a:srgbClr val="FF0000"/>
                </a:solidFill>
              </a:rPr>
              <a:t>动态</a:t>
            </a:r>
            <a:r>
              <a:rPr lang="zh-CN" altLang="en-US" dirty="0"/>
              <a:t>路由选择策略</a:t>
            </a:r>
            <a:r>
              <a:rPr lang="en-US" altLang="zh-CN" dirty="0"/>
              <a:t>——</a:t>
            </a:r>
            <a:r>
              <a:rPr lang="zh-CN" altLang="en-US" dirty="0"/>
              <a:t>即</a:t>
            </a:r>
            <a:r>
              <a:rPr lang="zh-CN" altLang="en-US" dirty="0">
                <a:solidFill>
                  <a:srgbClr val="0000FF"/>
                </a:solidFill>
              </a:rPr>
              <a:t>自适应路由选择，</a:t>
            </a:r>
            <a:r>
              <a:rPr lang="zh-CN" altLang="en-US" dirty="0"/>
              <a:t>其特点是能较好地适应网络状态的变化，但实现起来较为复杂，开销也比较大。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r>
              <a:rPr lang="en-US" altLang="zh-CN" dirty="0"/>
              <a:t>2.  </a:t>
            </a:r>
            <a:r>
              <a:rPr lang="zh-CN" altLang="en-US" dirty="0"/>
              <a:t>分层次的路由选择协议</a:t>
            </a:r>
          </a:p>
        </p:txBody>
      </p:sp>
      <p:sp>
        <p:nvSpPr>
          <p:cNvPr id="549891" name="Rectangle 3"/>
          <p:cNvSpPr>
            <a:spLocks noGrp="1" noChangeArrowheads="1"/>
          </p:cNvSpPr>
          <p:nvPr>
            <p:ph idx="1"/>
          </p:nvPr>
        </p:nvSpPr>
        <p:spPr/>
        <p:txBody>
          <a:bodyPr/>
          <a:lstStyle/>
          <a:p>
            <a:pPr algn="just"/>
            <a:r>
              <a:rPr lang="zh-CN" altLang="en-US" dirty="0">
                <a:solidFill>
                  <a:srgbClr val="FF0000"/>
                </a:solidFill>
              </a:rPr>
              <a:t>互联网采用分层次的路由选择协议。</a:t>
            </a:r>
            <a:r>
              <a:rPr lang="zh-CN" altLang="en-US" dirty="0"/>
              <a:t>这是因为：</a:t>
            </a:r>
          </a:p>
          <a:p>
            <a:pPr lvl="1" algn="just"/>
            <a:r>
              <a:rPr lang="en-US" altLang="zh-CN" dirty="0"/>
              <a:t>(1) </a:t>
            </a:r>
            <a:r>
              <a:rPr lang="zh-CN" altLang="en-US" dirty="0"/>
              <a:t>互联网的规模非常大。如果让所有的路由器知道所有的网络应怎样到达，则这种路由表将非常大，处理起来也太花时间。</a:t>
            </a:r>
            <a:r>
              <a:rPr lang="zh-CN" altLang="en-US" dirty="0">
                <a:solidFill>
                  <a:srgbClr val="C00000"/>
                </a:solidFill>
              </a:rPr>
              <a:t>而所有这些路由器之间交换路由信息所需的带宽就会使互联网的通信链路饱和。</a:t>
            </a:r>
            <a:endParaRPr lang="zh-CN" altLang="en-US" dirty="0"/>
          </a:p>
          <a:p>
            <a:pPr lvl="1" algn="just"/>
            <a:r>
              <a:rPr lang="en-US" altLang="zh-CN" dirty="0"/>
              <a:t>(2) </a:t>
            </a:r>
            <a:r>
              <a:rPr lang="zh-CN" altLang="en-US" dirty="0"/>
              <a:t>许多单位不愿意外界了解自己单位网络的布局细节和本部门所采用的路由选择协议（这属于本部门内部的事情），但同时还希望连接到互联网上。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9891">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2"/>
          <p:cNvSpPr>
            <a:spLocks noGrp="1" noChangeArrowheads="1"/>
          </p:cNvSpPr>
          <p:nvPr>
            <p:ph type="title"/>
          </p:nvPr>
        </p:nvSpPr>
        <p:spPr>
          <a:xfrm>
            <a:off x="495300" y="188640"/>
            <a:ext cx="9066212" cy="1512168"/>
          </a:xfrm>
        </p:spPr>
        <p:txBody>
          <a:bodyPr/>
          <a:lstStyle/>
          <a:p>
            <a:pPr algn="ctr"/>
            <a:r>
              <a:rPr lang="zh-CN" altLang="en-US" dirty="0"/>
              <a:t>自治系统 </a:t>
            </a:r>
            <a:r>
              <a:rPr lang="en-US" altLang="zh-CN" dirty="0"/>
              <a:t>AS</a:t>
            </a:r>
            <a:br>
              <a:rPr lang="en-US" altLang="zh-CN" dirty="0"/>
            </a:br>
            <a:r>
              <a:rPr lang="en-US" altLang="zh-CN" dirty="0"/>
              <a:t>(Autonomous System) </a:t>
            </a:r>
          </a:p>
        </p:txBody>
      </p:sp>
      <p:sp>
        <p:nvSpPr>
          <p:cNvPr id="550916" name="Rectangle 4"/>
          <p:cNvSpPr>
            <a:spLocks noGrp="1" noChangeArrowheads="1"/>
          </p:cNvSpPr>
          <p:nvPr>
            <p:ph idx="1"/>
          </p:nvPr>
        </p:nvSpPr>
        <p:spPr>
          <a:xfrm>
            <a:off x="495300" y="1772816"/>
            <a:ext cx="9066212" cy="4358109"/>
          </a:xfrm>
        </p:spPr>
        <p:txBody>
          <a:bodyPr/>
          <a:lstStyle/>
          <a:p>
            <a:pPr>
              <a:spcBef>
                <a:spcPct val="0"/>
              </a:spcBef>
              <a:buClrTx/>
              <a:buSzTx/>
              <a:buFontTx/>
              <a:buChar char="•"/>
            </a:pPr>
            <a:r>
              <a:rPr lang="zh-CN" altLang="en-US" sz="2800" dirty="0">
                <a:solidFill>
                  <a:srgbClr val="FF0000"/>
                </a:solidFill>
              </a:rPr>
              <a:t>自治系统 </a:t>
            </a:r>
            <a:r>
              <a:rPr lang="en-US" altLang="zh-CN" sz="2800" dirty="0">
                <a:solidFill>
                  <a:srgbClr val="FF0000"/>
                </a:solidFill>
              </a:rPr>
              <a:t>AS </a:t>
            </a:r>
            <a:r>
              <a:rPr lang="zh-CN" altLang="en-US" sz="2800" dirty="0">
                <a:solidFill>
                  <a:srgbClr val="FF0000"/>
                </a:solidFill>
              </a:rPr>
              <a:t>的定义：</a:t>
            </a:r>
            <a:r>
              <a:rPr lang="zh-CN" altLang="en-US" sz="2800" dirty="0"/>
              <a:t>在单一的技术管理下的一组路由器，而这些路由器（</a:t>
            </a:r>
            <a:r>
              <a:rPr lang="en-US" altLang="zh-CN" sz="2800" dirty="0"/>
              <a:t>1</a:t>
            </a:r>
            <a:r>
              <a:rPr lang="zh-CN" altLang="en-US" sz="2800" dirty="0"/>
              <a:t>）使用一种 </a:t>
            </a:r>
            <a:r>
              <a:rPr lang="en-US" altLang="zh-CN" sz="2800" dirty="0"/>
              <a:t>AS </a:t>
            </a:r>
            <a:r>
              <a:rPr lang="zh-CN" altLang="en-US" sz="2800" dirty="0"/>
              <a:t>内部的路由选择协议和共同的度量以确定分组在该 </a:t>
            </a:r>
            <a:r>
              <a:rPr lang="en-US" altLang="zh-CN" sz="2800" dirty="0"/>
              <a:t>AS </a:t>
            </a:r>
            <a:r>
              <a:rPr lang="zh-CN" altLang="en-US" sz="2800" dirty="0"/>
              <a:t>内的路由，同时还使用一种</a:t>
            </a:r>
            <a:r>
              <a:rPr lang="zh-CN" altLang="en-US" sz="2800" dirty="0">
                <a:sym typeface="+mn-ea"/>
              </a:rPr>
              <a:t>（</a:t>
            </a:r>
            <a:r>
              <a:rPr lang="en-US" altLang="zh-CN" sz="2800" dirty="0">
                <a:sym typeface="+mn-ea"/>
              </a:rPr>
              <a:t>2</a:t>
            </a:r>
            <a:r>
              <a:rPr lang="zh-CN" altLang="en-US" sz="2800" dirty="0">
                <a:sym typeface="+mn-ea"/>
              </a:rPr>
              <a:t>）</a:t>
            </a:r>
            <a:r>
              <a:rPr lang="zh-CN" altLang="en-US" sz="2800" dirty="0"/>
              <a:t> </a:t>
            </a:r>
            <a:r>
              <a:rPr lang="en-US" altLang="zh-CN" sz="2800" dirty="0"/>
              <a:t>AS </a:t>
            </a:r>
            <a:r>
              <a:rPr lang="zh-CN" altLang="en-US" sz="2800" dirty="0"/>
              <a:t>之间的路由选择协议用以确定分组在 </a:t>
            </a:r>
            <a:r>
              <a:rPr lang="en-US" altLang="zh-CN" sz="2800" dirty="0"/>
              <a:t>AS</a:t>
            </a:r>
            <a:r>
              <a:rPr lang="zh-CN" altLang="en-US" sz="2800" dirty="0"/>
              <a:t>之间的路由。</a:t>
            </a:r>
          </a:p>
          <a:p>
            <a:pPr>
              <a:spcBef>
                <a:spcPct val="0"/>
              </a:spcBef>
              <a:buClrTx/>
              <a:buSzTx/>
              <a:buFontTx/>
              <a:buChar char="•"/>
            </a:pPr>
            <a:r>
              <a:rPr lang="zh-CN" altLang="en-US" sz="2800" dirty="0"/>
              <a:t>现在对自治系统 </a:t>
            </a:r>
            <a:r>
              <a:rPr lang="en-US" altLang="zh-CN" sz="2800" dirty="0"/>
              <a:t>AS </a:t>
            </a:r>
            <a:r>
              <a:rPr lang="zh-CN" altLang="en-US" sz="2800" dirty="0"/>
              <a:t>的定义是强调下面的事实：尽管一个 </a:t>
            </a:r>
            <a:r>
              <a:rPr lang="en-US" altLang="zh-CN" sz="2800" dirty="0"/>
              <a:t>AS </a:t>
            </a:r>
            <a:r>
              <a:rPr lang="zh-CN" altLang="en-US" sz="2800" dirty="0"/>
              <a:t>使用了多种内部路由选择协议和度量，</a:t>
            </a:r>
            <a:r>
              <a:rPr lang="zh-CN" altLang="en-US" sz="2800" dirty="0">
                <a:solidFill>
                  <a:srgbClr val="0000FF"/>
                </a:solidFill>
              </a:rPr>
              <a:t>但重要的是一个 </a:t>
            </a:r>
            <a:r>
              <a:rPr lang="en-US" altLang="zh-CN" sz="2800" dirty="0">
                <a:solidFill>
                  <a:srgbClr val="0000FF"/>
                </a:solidFill>
              </a:rPr>
              <a:t>AS </a:t>
            </a:r>
            <a:r>
              <a:rPr lang="zh-CN" altLang="en-US" sz="2800" dirty="0">
                <a:solidFill>
                  <a:srgbClr val="0000FF"/>
                </a:solidFill>
              </a:rPr>
              <a:t>对其他 </a:t>
            </a:r>
            <a:r>
              <a:rPr lang="en-US" altLang="zh-CN" sz="2800" dirty="0">
                <a:solidFill>
                  <a:srgbClr val="0000FF"/>
                </a:solidFill>
              </a:rPr>
              <a:t>AS </a:t>
            </a:r>
            <a:r>
              <a:rPr lang="zh-CN" altLang="en-US" sz="2800" dirty="0">
                <a:solidFill>
                  <a:srgbClr val="0000FF"/>
                </a:solidFill>
              </a:rPr>
              <a:t>表现出的是一个</a:t>
            </a:r>
            <a:r>
              <a:rPr lang="zh-CN" altLang="en-US" sz="2800" dirty="0">
                <a:solidFill>
                  <a:srgbClr val="FF0000"/>
                </a:solidFill>
              </a:rPr>
              <a:t>单一的和一致的路由选择策略。</a:t>
            </a:r>
          </a:p>
        </p:txBody>
      </p:sp>
      <p:sp>
        <p:nvSpPr>
          <p:cNvPr id="550915" name="Rectangle 3"/>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p:cNvSpPr>
            <a:spLocks noGrp="1"/>
          </p:cNvSpPr>
          <p:nvPr>
            <p:ph type="title"/>
          </p:nvPr>
        </p:nvSpPr>
        <p:spPr/>
        <p:txBody>
          <a:bodyPr/>
          <a:lstStyle/>
          <a:p>
            <a:pPr algn="ctr"/>
            <a:r>
              <a:rPr lang="zh-CN" altLang="en-US" dirty="0"/>
              <a:t>自治系统 </a:t>
            </a:r>
            <a:r>
              <a:rPr lang="en-US" altLang="zh-CN" dirty="0"/>
              <a:t>AS</a:t>
            </a:r>
            <a:endParaRPr lang="zh-CN" altLang="en-US" dirty="0"/>
          </a:p>
        </p:txBody>
      </p:sp>
      <p:grpSp>
        <p:nvGrpSpPr>
          <p:cNvPr id="5" name="Group 250"/>
          <p:cNvGrpSpPr/>
          <p:nvPr/>
        </p:nvGrpSpPr>
        <p:grpSpPr bwMode="auto">
          <a:xfrm>
            <a:off x="1426840" y="1218858"/>
            <a:ext cx="7414592" cy="4802430"/>
            <a:chOff x="657" y="1056"/>
            <a:chExt cx="4368" cy="2815"/>
          </a:xfrm>
        </p:grpSpPr>
        <p:grpSp>
          <p:nvGrpSpPr>
            <p:cNvPr id="6" name="Group 127"/>
            <p:cNvGrpSpPr/>
            <p:nvPr/>
          </p:nvGrpSpPr>
          <p:grpSpPr bwMode="auto">
            <a:xfrm>
              <a:off x="657" y="1056"/>
              <a:ext cx="4368" cy="2815"/>
              <a:chOff x="657" y="1056"/>
              <a:chExt cx="4368" cy="2815"/>
            </a:xfrm>
          </p:grpSpPr>
          <p:sp>
            <p:nvSpPr>
              <p:cNvPr id="8" name="Text Box 7"/>
              <p:cNvSpPr txBox="1">
                <a:spLocks noChangeArrowheads="1"/>
              </p:cNvSpPr>
              <p:nvPr/>
            </p:nvSpPr>
            <p:spPr bwMode="auto">
              <a:xfrm>
                <a:off x="1843" y="1538"/>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anose="02010609060101010101" pitchFamily="2" charset="-122"/>
                  </a:rPr>
                  <a:t>R1</a:t>
                </a:r>
              </a:p>
            </p:txBody>
          </p:sp>
          <p:grpSp>
            <p:nvGrpSpPr>
              <p:cNvPr id="9" name="Group 8"/>
              <p:cNvGrpSpPr/>
              <p:nvPr/>
            </p:nvGrpSpPr>
            <p:grpSpPr bwMode="auto">
              <a:xfrm>
                <a:off x="657" y="2625"/>
                <a:ext cx="1872" cy="1246"/>
                <a:chOff x="672" y="2304"/>
                <a:chExt cx="1872" cy="1246"/>
              </a:xfrm>
            </p:grpSpPr>
            <p:sp>
              <p:nvSpPr>
                <p:cNvPr id="94" name="Rectangle 9"/>
                <p:cNvSpPr>
                  <a:spLocks noChangeArrowheads="1"/>
                </p:cNvSpPr>
                <p:nvPr/>
              </p:nvSpPr>
              <p:spPr bwMode="auto">
                <a:xfrm>
                  <a:off x="672" y="2304"/>
                  <a:ext cx="1872" cy="1008"/>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95" name="Oval 10"/>
                <p:cNvSpPr>
                  <a:spLocks noChangeArrowheads="1"/>
                </p:cNvSpPr>
                <p:nvPr/>
              </p:nvSpPr>
              <p:spPr bwMode="auto">
                <a:xfrm>
                  <a:off x="1008" y="2448"/>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96" name="Group 11"/>
                <p:cNvGrpSpPr/>
                <p:nvPr/>
              </p:nvGrpSpPr>
              <p:grpSpPr bwMode="auto">
                <a:xfrm>
                  <a:off x="2064" y="2880"/>
                  <a:ext cx="320" cy="184"/>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97" name="Oval 15"/>
                <p:cNvSpPr>
                  <a:spLocks noChangeArrowheads="1"/>
                </p:cNvSpPr>
                <p:nvPr/>
              </p:nvSpPr>
              <p:spPr bwMode="auto">
                <a:xfrm>
                  <a:off x="960" y="3024"/>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98" name="Oval 16"/>
                <p:cNvSpPr>
                  <a:spLocks noChangeArrowheads="1"/>
                </p:cNvSpPr>
                <p:nvPr/>
              </p:nvSpPr>
              <p:spPr bwMode="auto">
                <a:xfrm>
                  <a:off x="1920" y="2448"/>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99" name="Group 17"/>
                <p:cNvGrpSpPr/>
                <p:nvPr/>
              </p:nvGrpSpPr>
              <p:grpSpPr bwMode="auto">
                <a:xfrm>
                  <a:off x="864" y="2736"/>
                  <a:ext cx="240" cy="9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100" name="Line 21"/>
                <p:cNvSpPr>
                  <a:spLocks noChangeShapeType="1"/>
                </p:cNvSpPr>
                <p:nvPr/>
              </p:nvSpPr>
              <p:spPr bwMode="auto">
                <a:xfrm>
                  <a:off x="1200" y="2496"/>
                  <a:ext cx="816" cy="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01" name="Line 22"/>
                <p:cNvSpPr>
                  <a:spLocks noChangeShapeType="1"/>
                </p:cNvSpPr>
                <p:nvPr/>
              </p:nvSpPr>
              <p:spPr bwMode="auto">
                <a:xfrm flipH="1">
                  <a:off x="1008" y="2544"/>
                  <a:ext cx="48" cy="192"/>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02" name="Line 23"/>
                <p:cNvSpPr>
                  <a:spLocks noChangeShapeType="1"/>
                </p:cNvSpPr>
                <p:nvPr/>
              </p:nvSpPr>
              <p:spPr bwMode="auto">
                <a:xfrm>
                  <a:off x="1008" y="2832"/>
                  <a:ext cx="48" cy="192"/>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03" name="Line 24"/>
                <p:cNvSpPr>
                  <a:spLocks noChangeShapeType="1"/>
                </p:cNvSpPr>
                <p:nvPr/>
              </p:nvSpPr>
              <p:spPr bwMode="auto">
                <a:xfrm>
                  <a:off x="1152" y="3072"/>
                  <a:ext cx="336" cy="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04" name="Line 25"/>
                <p:cNvSpPr>
                  <a:spLocks noChangeShapeType="1"/>
                </p:cNvSpPr>
                <p:nvPr/>
              </p:nvSpPr>
              <p:spPr bwMode="auto">
                <a:xfrm flipV="1">
                  <a:off x="1680" y="2976"/>
                  <a:ext cx="384" cy="96"/>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05" name="Oval 26"/>
                <p:cNvSpPr>
                  <a:spLocks noChangeArrowheads="1"/>
                </p:cNvSpPr>
                <p:nvPr/>
              </p:nvSpPr>
              <p:spPr bwMode="auto">
                <a:xfrm>
                  <a:off x="1296" y="2832"/>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06" name="Oval 27"/>
                <p:cNvSpPr>
                  <a:spLocks noChangeArrowheads="1"/>
                </p:cNvSpPr>
                <p:nvPr/>
              </p:nvSpPr>
              <p:spPr bwMode="auto">
                <a:xfrm>
                  <a:off x="1488" y="3024"/>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07" name="Line 28"/>
                <p:cNvSpPr>
                  <a:spLocks noChangeShapeType="1"/>
                </p:cNvSpPr>
                <p:nvPr/>
              </p:nvSpPr>
              <p:spPr bwMode="auto">
                <a:xfrm>
                  <a:off x="1152" y="2544"/>
                  <a:ext cx="192" cy="288"/>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nvGrpSpPr>
                <p:cNvPr id="108" name="Group 29"/>
                <p:cNvGrpSpPr/>
                <p:nvPr/>
              </p:nvGrpSpPr>
              <p:grpSpPr bwMode="auto">
                <a:xfrm>
                  <a:off x="1152" y="2640"/>
                  <a:ext cx="240" cy="9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109" name="Line 33"/>
                <p:cNvSpPr>
                  <a:spLocks noChangeShapeType="1"/>
                </p:cNvSpPr>
                <p:nvPr/>
              </p:nvSpPr>
              <p:spPr bwMode="auto">
                <a:xfrm flipV="1">
                  <a:off x="1488" y="2784"/>
                  <a:ext cx="240" cy="96"/>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10" name="Line 34"/>
                <p:cNvSpPr>
                  <a:spLocks noChangeShapeType="1"/>
                </p:cNvSpPr>
                <p:nvPr/>
              </p:nvSpPr>
              <p:spPr bwMode="auto">
                <a:xfrm flipH="1">
                  <a:off x="1632" y="2544"/>
                  <a:ext cx="384" cy="48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nvGrpSpPr>
                <p:cNvPr id="111" name="Group 35"/>
                <p:cNvGrpSpPr/>
                <p:nvPr/>
              </p:nvGrpSpPr>
              <p:grpSpPr bwMode="auto">
                <a:xfrm>
                  <a:off x="1728" y="2736"/>
                  <a:ext cx="240" cy="9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112" name="Line 39"/>
                <p:cNvSpPr>
                  <a:spLocks noChangeShapeType="1"/>
                </p:cNvSpPr>
                <p:nvPr/>
              </p:nvSpPr>
              <p:spPr bwMode="auto">
                <a:xfrm>
                  <a:off x="2064" y="2544"/>
                  <a:ext cx="144" cy="336"/>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13" name="Text Box 40"/>
                <p:cNvSpPr txBox="1">
                  <a:spLocks noChangeArrowheads="1"/>
                </p:cNvSpPr>
                <p:nvPr/>
              </p:nvSpPr>
              <p:spPr bwMode="auto">
                <a:xfrm>
                  <a:off x="1920" y="2993"/>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anose="02010609060101010101" pitchFamily="2" charset="-122"/>
                    </a:rPr>
                    <a:t>R4</a:t>
                  </a:r>
                </a:p>
              </p:txBody>
            </p:sp>
            <p:sp>
              <p:nvSpPr>
                <p:cNvPr id="114" name="Text Box 41"/>
                <p:cNvSpPr txBox="1">
                  <a:spLocks noChangeArrowheads="1"/>
                </p:cNvSpPr>
                <p:nvPr/>
              </p:nvSpPr>
              <p:spPr bwMode="auto">
                <a:xfrm>
                  <a:off x="1164" y="3279"/>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anose="02010609060101010101" pitchFamily="2" charset="-122"/>
                    </a:rPr>
                    <a:t>自治系统</a:t>
                  </a:r>
                </a:p>
              </p:txBody>
            </p:sp>
          </p:grpSp>
          <p:grpSp>
            <p:nvGrpSpPr>
              <p:cNvPr id="10" name="Group 126"/>
              <p:cNvGrpSpPr/>
              <p:nvPr/>
            </p:nvGrpSpPr>
            <p:grpSpPr bwMode="auto">
              <a:xfrm>
                <a:off x="3153" y="2625"/>
                <a:ext cx="1872" cy="1246"/>
                <a:chOff x="3153" y="2625"/>
                <a:chExt cx="1872" cy="1246"/>
              </a:xfrm>
            </p:grpSpPr>
            <p:sp>
              <p:nvSpPr>
                <p:cNvPr id="69" name="Rectangle 43"/>
                <p:cNvSpPr>
                  <a:spLocks noChangeArrowheads="1"/>
                </p:cNvSpPr>
                <p:nvPr/>
              </p:nvSpPr>
              <p:spPr bwMode="auto">
                <a:xfrm>
                  <a:off x="3153" y="2625"/>
                  <a:ext cx="1872" cy="1008"/>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70" name="Oval 44"/>
                <p:cNvSpPr>
                  <a:spLocks noChangeArrowheads="1"/>
                </p:cNvSpPr>
                <p:nvPr/>
              </p:nvSpPr>
              <p:spPr bwMode="auto">
                <a:xfrm>
                  <a:off x="3297" y="2817"/>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71" name="Oval 45"/>
                <p:cNvSpPr>
                  <a:spLocks noChangeArrowheads="1"/>
                </p:cNvSpPr>
                <p:nvPr/>
              </p:nvSpPr>
              <p:spPr bwMode="auto">
                <a:xfrm>
                  <a:off x="3345" y="3393"/>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72" name="Oval 46"/>
                <p:cNvSpPr>
                  <a:spLocks noChangeArrowheads="1"/>
                </p:cNvSpPr>
                <p:nvPr/>
              </p:nvSpPr>
              <p:spPr bwMode="auto">
                <a:xfrm>
                  <a:off x="4689" y="3057"/>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73" name="Line 47"/>
                <p:cNvSpPr>
                  <a:spLocks noChangeShapeType="1"/>
                </p:cNvSpPr>
                <p:nvPr/>
              </p:nvSpPr>
              <p:spPr bwMode="auto">
                <a:xfrm>
                  <a:off x="3489" y="2865"/>
                  <a:ext cx="432" cy="0"/>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74" name="Line 48"/>
                <p:cNvSpPr>
                  <a:spLocks noChangeShapeType="1"/>
                </p:cNvSpPr>
                <p:nvPr/>
              </p:nvSpPr>
              <p:spPr bwMode="auto">
                <a:xfrm>
                  <a:off x="3537" y="3441"/>
                  <a:ext cx="576" cy="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75" name="Line 49"/>
                <p:cNvSpPr>
                  <a:spLocks noChangeShapeType="1"/>
                </p:cNvSpPr>
                <p:nvPr/>
              </p:nvSpPr>
              <p:spPr bwMode="auto">
                <a:xfrm flipV="1">
                  <a:off x="4257" y="3345"/>
                  <a:ext cx="288" cy="96"/>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76" name="Oval 50"/>
                <p:cNvSpPr>
                  <a:spLocks noChangeArrowheads="1"/>
                </p:cNvSpPr>
                <p:nvPr/>
              </p:nvSpPr>
              <p:spPr bwMode="auto">
                <a:xfrm>
                  <a:off x="4113" y="3393"/>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77" name="Group 51"/>
                <p:cNvGrpSpPr/>
                <p:nvPr/>
              </p:nvGrpSpPr>
              <p:grpSpPr bwMode="auto">
                <a:xfrm>
                  <a:off x="3729" y="3393"/>
                  <a:ext cx="240" cy="9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78" name="Line 55"/>
                <p:cNvSpPr>
                  <a:spLocks noChangeShapeType="1"/>
                </p:cNvSpPr>
                <p:nvPr/>
              </p:nvSpPr>
              <p:spPr bwMode="auto">
                <a:xfrm flipV="1">
                  <a:off x="4641" y="3153"/>
                  <a:ext cx="144" cy="144"/>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79" name="Line 56"/>
                <p:cNvSpPr>
                  <a:spLocks noChangeShapeType="1"/>
                </p:cNvSpPr>
                <p:nvPr/>
              </p:nvSpPr>
              <p:spPr bwMode="auto">
                <a:xfrm flipH="1">
                  <a:off x="3441" y="2913"/>
                  <a:ext cx="528" cy="528"/>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nvGrpSpPr>
                <p:cNvPr id="80" name="Group 57"/>
                <p:cNvGrpSpPr/>
                <p:nvPr/>
              </p:nvGrpSpPr>
              <p:grpSpPr bwMode="auto">
                <a:xfrm>
                  <a:off x="4449" y="3297"/>
                  <a:ext cx="240" cy="9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81" name="Line 61"/>
                <p:cNvSpPr>
                  <a:spLocks noChangeShapeType="1"/>
                </p:cNvSpPr>
                <p:nvPr/>
              </p:nvSpPr>
              <p:spPr bwMode="auto">
                <a:xfrm>
                  <a:off x="4209" y="2913"/>
                  <a:ext cx="480" cy="192"/>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nvGrpSpPr>
                <p:cNvPr id="82" name="Group 62"/>
                <p:cNvGrpSpPr/>
                <p:nvPr/>
              </p:nvGrpSpPr>
              <p:grpSpPr bwMode="auto">
                <a:xfrm>
                  <a:off x="3921" y="2769"/>
                  <a:ext cx="320" cy="184"/>
                  <a:chOff x="1000" y="3128"/>
                  <a:chExt cx="320" cy="184"/>
                </a:xfrm>
              </p:grpSpPr>
              <p:sp>
                <p:nvSpPr>
                  <p:cNvPr id="85" name="AutoShape 63"/>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86" name="Line 64"/>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87" name="Line 65"/>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83" name="Text Box 66"/>
                <p:cNvSpPr txBox="1">
                  <a:spLocks noChangeArrowheads="1"/>
                </p:cNvSpPr>
                <p:nvPr/>
              </p:nvSpPr>
              <p:spPr bwMode="auto">
                <a:xfrm>
                  <a:off x="4209" y="2642"/>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anose="02010609060101010101" pitchFamily="2" charset="-122"/>
                    </a:rPr>
                    <a:t>R3</a:t>
                  </a:r>
                </a:p>
              </p:txBody>
            </p:sp>
            <p:sp>
              <p:nvSpPr>
                <p:cNvPr id="84" name="Text Box 67"/>
                <p:cNvSpPr txBox="1">
                  <a:spLocks noChangeArrowheads="1"/>
                </p:cNvSpPr>
                <p:nvPr/>
              </p:nvSpPr>
              <p:spPr bwMode="auto">
                <a:xfrm>
                  <a:off x="3729" y="3600"/>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anose="02010609060101010101" pitchFamily="2" charset="-122"/>
                    </a:rPr>
                    <a:t>自治系统</a:t>
                  </a:r>
                </a:p>
              </p:txBody>
            </p:sp>
          </p:grpSp>
          <p:grpSp>
            <p:nvGrpSpPr>
              <p:cNvPr id="11" name="Group 68"/>
              <p:cNvGrpSpPr/>
              <p:nvPr/>
            </p:nvGrpSpPr>
            <p:grpSpPr bwMode="auto">
              <a:xfrm>
                <a:off x="657" y="1056"/>
                <a:ext cx="1872" cy="1281"/>
                <a:chOff x="672" y="735"/>
                <a:chExt cx="1872" cy="1281"/>
              </a:xfrm>
            </p:grpSpPr>
            <p:sp>
              <p:nvSpPr>
                <p:cNvPr id="46" name="Rectangle 69"/>
                <p:cNvSpPr>
                  <a:spLocks noChangeArrowheads="1"/>
                </p:cNvSpPr>
                <p:nvPr/>
              </p:nvSpPr>
              <p:spPr bwMode="auto">
                <a:xfrm>
                  <a:off x="672" y="1008"/>
                  <a:ext cx="1872" cy="1008"/>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47" name="Oval 70"/>
                <p:cNvSpPr>
                  <a:spLocks noChangeArrowheads="1"/>
                </p:cNvSpPr>
                <p:nvPr/>
              </p:nvSpPr>
              <p:spPr bwMode="auto">
                <a:xfrm>
                  <a:off x="1008" y="1152"/>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48" name="Group 71"/>
                <p:cNvGrpSpPr/>
                <p:nvPr/>
              </p:nvGrpSpPr>
              <p:grpSpPr bwMode="auto">
                <a:xfrm>
                  <a:off x="2016" y="1104"/>
                  <a:ext cx="320" cy="184"/>
                  <a:chOff x="1000" y="3128"/>
                  <a:chExt cx="320" cy="184"/>
                </a:xfrm>
              </p:grpSpPr>
              <p:sp>
                <p:nvSpPr>
                  <p:cNvPr id="66" name="AutoShape 7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67" name="Line 73"/>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68" name="Line 74"/>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49" name="Oval 75"/>
                <p:cNvSpPr>
                  <a:spLocks noChangeArrowheads="1"/>
                </p:cNvSpPr>
                <p:nvPr/>
              </p:nvSpPr>
              <p:spPr bwMode="auto">
                <a:xfrm>
                  <a:off x="960" y="1728"/>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50" name="Oval 76"/>
                <p:cNvSpPr>
                  <a:spLocks noChangeArrowheads="1"/>
                </p:cNvSpPr>
                <p:nvPr/>
              </p:nvSpPr>
              <p:spPr bwMode="auto">
                <a:xfrm>
                  <a:off x="2064" y="1632"/>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51" name="Group 77"/>
                <p:cNvGrpSpPr/>
                <p:nvPr/>
              </p:nvGrpSpPr>
              <p:grpSpPr bwMode="auto">
                <a:xfrm>
                  <a:off x="864" y="1440"/>
                  <a:ext cx="240" cy="9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grpSp>
              <p:nvGrpSpPr>
                <p:cNvPr id="52" name="Group 81"/>
                <p:cNvGrpSpPr/>
                <p:nvPr/>
              </p:nvGrpSpPr>
              <p:grpSpPr bwMode="auto">
                <a:xfrm>
                  <a:off x="1488" y="1776"/>
                  <a:ext cx="240" cy="9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53" name="Line 85"/>
                <p:cNvSpPr>
                  <a:spLocks noChangeShapeType="1"/>
                </p:cNvSpPr>
                <p:nvPr/>
              </p:nvSpPr>
              <p:spPr bwMode="auto">
                <a:xfrm>
                  <a:off x="1200" y="1200"/>
                  <a:ext cx="816" cy="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4" name="Line 86"/>
                <p:cNvSpPr>
                  <a:spLocks noChangeShapeType="1"/>
                </p:cNvSpPr>
                <p:nvPr/>
              </p:nvSpPr>
              <p:spPr bwMode="auto">
                <a:xfrm flipH="1">
                  <a:off x="1008" y="1248"/>
                  <a:ext cx="48" cy="192"/>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5" name="Line 87"/>
                <p:cNvSpPr>
                  <a:spLocks noChangeShapeType="1"/>
                </p:cNvSpPr>
                <p:nvPr/>
              </p:nvSpPr>
              <p:spPr bwMode="auto">
                <a:xfrm>
                  <a:off x="1008" y="1536"/>
                  <a:ext cx="48" cy="192"/>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6" name="Line 88"/>
                <p:cNvSpPr>
                  <a:spLocks noChangeShapeType="1"/>
                </p:cNvSpPr>
                <p:nvPr/>
              </p:nvSpPr>
              <p:spPr bwMode="auto">
                <a:xfrm>
                  <a:off x="1152" y="1776"/>
                  <a:ext cx="336" cy="48"/>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7" name="Line 89"/>
                <p:cNvSpPr>
                  <a:spLocks noChangeShapeType="1"/>
                </p:cNvSpPr>
                <p:nvPr/>
              </p:nvSpPr>
              <p:spPr bwMode="auto">
                <a:xfrm flipV="1">
                  <a:off x="1728" y="1680"/>
                  <a:ext cx="336" cy="144"/>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8" name="Line 90"/>
                <p:cNvSpPr>
                  <a:spLocks noChangeShapeType="1"/>
                </p:cNvSpPr>
                <p:nvPr/>
              </p:nvSpPr>
              <p:spPr bwMode="auto">
                <a:xfrm>
                  <a:off x="2160" y="1296"/>
                  <a:ext cx="0" cy="336"/>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59" name="Text Box 91"/>
                <p:cNvSpPr txBox="1">
                  <a:spLocks noChangeArrowheads="1"/>
                </p:cNvSpPr>
                <p:nvPr/>
              </p:nvSpPr>
              <p:spPr bwMode="auto">
                <a:xfrm>
                  <a:off x="1164" y="735"/>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anose="02010609060101010101" pitchFamily="2" charset="-122"/>
                    </a:rPr>
                    <a:t>自治系统</a:t>
                  </a:r>
                </a:p>
              </p:txBody>
            </p:sp>
          </p:grpSp>
          <p:grpSp>
            <p:nvGrpSpPr>
              <p:cNvPr id="12" name="Group 92"/>
              <p:cNvGrpSpPr/>
              <p:nvPr/>
            </p:nvGrpSpPr>
            <p:grpSpPr bwMode="auto">
              <a:xfrm>
                <a:off x="3153" y="1056"/>
                <a:ext cx="1872" cy="1281"/>
                <a:chOff x="3168" y="735"/>
                <a:chExt cx="1872" cy="1281"/>
              </a:xfrm>
            </p:grpSpPr>
            <p:sp>
              <p:nvSpPr>
                <p:cNvPr id="16" name="Rectangle 93"/>
                <p:cNvSpPr>
                  <a:spLocks noChangeArrowheads="1"/>
                </p:cNvSpPr>
                <p:nvPr/>
              </p:nvSpPr>
              <p:spPr bwMode="auto">
                <a:xfrm>
                  <a:off x="3168" y="1008"/>
                  <a:ext cx="1872" cy="1008"/>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7" name="Oval 94"/>
                <p:cNvSpPr>
                  <a:spLocks noChangeArrowheads="1"/>
                </p:cNvSpPr>
                <p:nvPr/>
              </p:nvSpPr>
              <p:spPr bwMode="auto">
                <a:xfrm>
                  <a:off x="3360" y="1344"/>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8" name="Oval 95"/>
                <p:cNvSpPr>
                  <a:spLocks noChangeArrowheads="1"/>
                </p:cNvSpPr>
                <p:nvPr/>
              </p:nvSpPr>
              <p:spPr bwMode="auto">
                <a:xfrm>
                  <a:off x="3936" y="1776"/>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19" name="Oval 96"/>
                <p:cNvSpPr>
                  <a:spLocks noChangeArrowheads="1"/>
                </p:cNvSpPr>
                <p:nvPr/>
              </p:nvSpPr>
              <p:spPr bwMode="auto">
                <a:xfrm>
                  <a:off x="4704" y="1776"/>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20" name="Line 97"/>
                <p:cNvSpPr>
                  <a:spLocks noChangeShapeType="1"/>
                </p:cNvSpPr>
                <p:nvPr/>
              </p:nvSpPr>
              <p:spPr bwMode="auto">
                <a:xfrm>
                  <a:off x="4224" y="1200"/>
                  <a:ext cx="528" cy="576"/>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21" name="Line 98"/>
                <p:cNvSpPr>
                  <a:spLocks noChangeShapeType="1"/>
                </p:cNvSpPr>
                <p:nvPr/>
              </p:nvSpPr>
              <p:spPr bwMode="auto">
                <a:xfrm flipH="1">
                  <a:off x="3504" y="1152"/>
                  <a:ext cx="624" cy="24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22" name="Line 99"/>
                <p:cNvSpPr>
                  <a:spLocks noChangeShapeType="1"/>
                </p:cNvSpPr>
                <p:nvPr/>
              </p:nvSpPr>
              <p:spPr bwMode="auto">
                <a:xfrm>
                  <a:off x="4752" y="1200"/>
                  <a:ext cx="48" cy="624"/>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23" name="Line 100"/>
                <p:cNvSpPr>
                  <a:spLocks noChangeShapeType="1"/>
                </p:cNvSpPr>
                <p:nvPr/>
              </p:nvSpPr>
              <p:spPr bwMode="auto">
                <a:xfrm>
                  <a:off x="3648" y="1824"/>
                  <a:ext cx="336" cy="0"/>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24" name="Line 101"/>
                <p:cNvSpPr>
                  <a:spLocks noChangeShapeType="1"/>
                </p:cNvSpPr>
                <p:nvPr/>
              </p:nvSpPr>
              <p:spPr bwMode="auto">
                <a:xfrm flipV="1">
                  <a:off x="4080" y="1152"/>
                  <a:ext cx="624" cy="624"/>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nvGrpSpPr>
                <p:cNvPr id="25" name="Group 102"/>
                <p:cNvGrpSpPr/>
                <p:nvPr/>
              </p:nvGrpSpPr>
              <p:grpSpPr bwMode="auto">
                <a:xfrm>
                  <a:off x="4304" y="1392"/>
                  <a:ext cx="240" cy="9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26" name="Line 106"/>
                <p:cNvSpPr>
                  <a:spLocks noChangeShapeType="1"/>
                </p:cNvSpPr>
                <p:nvPr/>
              </p:nvSpPr>
              <p:spPr bwMode="auto">
                <a:xfrm flipH="1">
                  <a:off x="3456" y="1440"/>
                  <a:ext cx="0" cy="288"/>
                </a:xfrm>
                <a:prstGeom prst="line">
                  <a:avLst/>
                </a:prstGeom>
                <a:noFill/>
                <a:ln w="28575">
                  <a:solidFill>
                    <a:schemeClr val="tx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27" name="Oval 107"/>
                <p:cNvSpPr>
                  <a:spLocks noChangeArrowheads="1"/>
                </p:cNvSpPr>
                <p:nvPr/>
              </p:nvSpPr>
              <p:spPr bwMode="auto">
                <a:xfrm>
                  <a:off x="4080" y="1104"/>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28" name="Oval 108"/>
                <p:cNvSpPr>
                  <a:spLocks noChangeArrowheads="1"/>
                </p:cNvSpPr>
                <p:nvPr/>
              </p:nvSpPr>
              <p:spPr bwMode="auto">
                <a:xfrm>
                  <a:off x="4656" y="1104"/>
                  <a:ext cx="192" cy="96"/>
                </a:xfrm>
                <a:prstGeom prst="ellipse">
                  <a:avLst/>
                </a:prstGeom>
                <a:solidFill>
                  <a:schemeClr val="tx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grpSp>
              <p:nvGrpSpPr>
                <p:cNvPr id="29" name="Group 109"/>
                <p:cNvGrpSpPr/>
                <p:nvPr/>
              </p:nvGrpSpPr>
              <p:grpSpPr bwMode="auto">
                <a:xfrm>
                  <a:off x="3696" y="1200"/>
                  <a:ext cx="240" cy="9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grpSp>
              <p:nvGrpSpPr>
                <p:cNvPr id="30" name="Group 113"/>
                <p:cNvGrpSpPr/>
                <p:nvPr/>
              </p:nvGrpSpPr>
              <p:grpSpPr bwMode="auto">
                <a:xfrm>
                  <a:off x="4656" y="1392"/>
                  <a:ext cx="240" cy="9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grpSp>
              <p:nvGrpSpPr>
                <p:cNvPr id="31" name="Group 117"/>
                <p:cNvGrpSpPr/>
                <p:nvPr/>
              </p:nvGrpSpPr>
              <p:grpSpPr bwMode="auto">
                <a:xfrm>
                  <a:off x="3328" y="1688"/>
                  <a:ext cx="320" cy="184"/>
                  <a:chOff x="1000" y="3128"/>
                  <a:chExt cx="320" cy="184"/>
                </a:xfrm>
              </p:grpSpPr>
              <p:sp>
                <p:nvSpPr>
                  <p:cNvPr id="34" name="AutoShape 11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anose="02010609060101010101" pitchFamily="2" charset="-122"/>
                    </a:endParaRPr>
                  </a:p>
                </p:txBody>
              </p:sp>
              <p:sp>
                <p:nvSpPr>
                  <p:cNvPr id="35" name="Line 119"/>
                  <p:cNvSpPr>
                    <a:spLocks noChangeShapeType="1"/>
                  </p:cNvSpPr>
                  <p:nvPr/>
                </p:nvSpPr>
                <p:spPr bwMode="auto">
                  <a:xfrm>
                    <a:off x="1104"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36" name="Line 120"/>
                  <p:cNvSpPr>
                    <a:spLocks noChangeShapeType="1"/>
                  </p:cNvSpPr>
                  <p:nvPr/>
                </p:nvSpPr>
                <p:spPr bwMode="auto">
                  <a:xfrm flipH="1">
                    <a:off x="1096" y="3144"/>
                    <a:ext cx="144" cy="48"/>
                  </a:xfrm>
                  <a:prstGeom prst="line">
                    <a:avLst/>
                  </a:prstGeom>
                  <a:noFill/>
                  <a:ln w="28575">
                    <a:solidFill>
                      <a:schemeClr val="bg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32" name="Text Box 121"/>
                <p:cNvSpPr txBox="1">
                  <a:spLocks noChangeArrowheads="1"/>
                </p:cNvSpPr>
                <p:nvPr/>
              </p:nvSpPr>
              <p:spPr bwMode="auto">
                <a:xfrm>
                  <a:off x="3586" y="1505"/>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anose="02010609060101010101" pitchFamily="2" charset="-122"/>
                    </a:rPr>
                    <a:t>R2</a:t>
                  </a:r>
                </a:p>
              </p:txBody>
            </p:sp>
            <p:sp>
              <p:nvSpPr>
                <p:cNvPr id="33" name="Text Box 122"/>
                <p:cNvSpPr txBox="1">
                  <a:spLocks noChangeArrowheads="1"/>
                </p:cNvSpPr>
                <p:nvPr/>
              </p:nvSpPr>
              <p:spPr bwMode="auto">
                <a:xfrm>
                  <a:off x="3744" y="735"/>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anose="02010609060101010101" pitchFamily="2" charset="-122"/>
                    </a:rPr>
                    <a:t>自治系统</a:t>
                  </a:r>
                </a:p>
              </p:txBody>
            </p:sp>
          </p:grpSp>
          <p:sp>
            <p:nvSpPr>
              <p:cNvPr id="13" name="Line 123"/>
              <p:cNvSpPr>
                <a:spLocks noChangeShapeType="1"/>
              </p:cNvSpPr>
              <p:nvPr/>
            </p:nvSpPr>
            <p:spPr bwMode="auto">
              <a:xfrm>
                <a:off x="2241" y="2001"/>
                <a:ext cx="1056" cy="96"/>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4" name="Line 124"/>
              <p:cNvSpPr>
                <a:spLocks noChangeShapeType="1"/>
              </p:cNvSpPr>
              <p:nvPr/>
            </p:nvSpPr>
            <p:spPr bwMode="auto">
              <a:xfrm flipH="1">
                <a:off x="3393" y="2193"/>
                <a:ext cx="96" cy="672"/>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sp>
            <p:nvSpPr>
              <p:cNvPr id="15" name="Line 125"/>
              <p:cNvSpPr>
                <a:spLocks noChangeShapeType="1"/>
              </p:cNvSpPr>
              <p:nvPr/>
            </p:nvSpPr>
            <p:spPr bwMode="auto">
              <a:xfrm flipH="1" flipV="1">
                <a:off x="2385" y="3297"/>
                <a:ext cx="1008" cy="144"/>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anose="02010609060101010101" pitchFamily="2" charset="-122"/>
                </a:endParaRPr>
              </a:p>
            </p:txBody>
          </p:sp>
        </p:grpSp>
        <p:sp>
          <p:nvSpPr>
            <p:cNvPr id="7" name="Rectangle 249"/>
            <p:cNvSpPr>
              <a:spLocks noChangeArrowheads="1"/>
            </p:cNvSpPr>
            <p:nvPr/>
          </p:nvSpPr>
          <p:spPr bwMode="auto">
            <a:xfrm>
              <a:off x="1728" y="1584"/>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anose="02010609060101010101" pitchFamily="2" charset="-122"/>
                </a:rPr>
                <a:t>R1</a:t>
              </a:r>
            </a:p>
          </p:txBody>
        </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2"/>
          <p:cNvSpPr>
            <a:spLocks noGrp="1" noChangeArrowheads="1"/>
          </p:cNvSpPr>
          <p:nvPr>
            <p:ph type="title"/>
          </p:nvPr>
        </p:nvSpPr>
        <p:spPr/>
        <p:txBody>
          <a:bodyPr/>
          <a:lstStyle/>
          <a:p>
            <a:pPr algn="ctr"/>
            <a:r>
              <a:rPr lang="zh-CN" altLang="en-US" dirty="0"/>
              <a:t>互联网有两大类路由选择协议 </a:t>
            </a:r>
          </a:p>
        </p:txBody>
      </p:sp>
      <p:sp>
        <p:nvSpPr>
          <p:cNvPr id="551939" name="Rectangle 3"/>
          <p:cNvSpPr>
            <a:spLocks noGrp="1" noChangeArrowheads="1"/>
          </p:cNvSpPr>
          <p:nvPr>
            <p:ph idx="1"/>
          </p:nvPr>
        </p:nvSpPr>
        <p:spPr/>
        <p:txBody>
          <a:bodyPr/>
          <a:lstStyle/>
          <a:p>
            <a:r>
              <a:rPr lang="zh-CN" altLang="en-US" dirty="0">
                <a:solidFill>
                  <a:srgbClr val="FF0000"/>
                </a:solidFill>
              </a:rPr>
              <a:t>内部网关协议 </a:t>
            </a:r>
            <a:r>
              <a:rPr lang="en-US" altLang="zh-CN" dirty="0"/>
              <a:t>IGP (Interior Gateway Protocol)  </a:t>
            </a:r>
          </a:p>
          <a:p>
            <a:pPr lvl="1"/>
            <a:r>
              <a:rPr lang="zh-CN" altLang="en-US" dirty="0"/>
              <a:t>在一个自治系统</a:t>
            </a:r>
            <a:r>
              <a:rPr lang="zh-CN" altLang="en-US" dirty="0">
                <a:solidFill>
                  <a:srgbClr val="FF0000"/>
                </a:solidFill>
              </a:rPr>
              <a:t>内部使用</a:t>
            </a:r>
            <a:r>
              <a:rPr lang="zh-CN" altLang="en-US" dirty="0"/>
              <a:t>的路由选择协议。</a:t>
            </a:r>
            <a:endParaRPr lang="en-US" altLang="zh-CN" dirty="0"/>
          </a:p>
          <a:p>
            <a:pPr lvl="1"/>
            <a:r>
              <a:rPr lang="zh-CN" altLang="en-US" dirty="0"/>
              <a:t>目前这类路由选择协议使用得最多，如 </a:t>
            </a:r>
            <a:r>
              <a:rPr lang="en-US" altLang="zh-CN" dirty="0"/>
              <a:t>RIP </a:t>
            </a:r>
            <a:r>
              <a:rPr lang="zh-CN" altLang="en-US" dirty="0"/>
              <a:t>（小型）和 </a:t>
            </a:r>
            <a:r>
              <a:rPr lang="en-US" altLang="zh-CN" dirty="0"/>
              <a:t>OSPF </a:t>
            </a:r>
            <a:r>
              <a:rPr lang="zh-CN" altLang="en-US" dirty="0"/>
              <a:t>（大型）协议。</a:t>
            </a:r>
          </a:p>
          <a:p>
            <a:r>
              <a:rPr lang="zh-CN" altLang="en-US" dirty="0">
                <a:solidFill>
                  <a:srgbClr val="FF0000"/>
                </a:solidFill>
              </a:rPr>
              <a:t>外部网关协议 </a:t>
            </a:r>
            <a:r>
              <a:rPr lang="en-US" altLang="zh-CN" dirty="0"/>
              <a:t>EGP (</a:t>
            </a:r>
            <a:r>
              <a:rPr lang="en-US" altLang="zh-CN" sz="2800" dirty="0"/>
              <a:t>External Gateway Protocol</a:t>
            </a:r>
            <a:r>
              <a:rPr lang="en-US" altLang="zh-CN" dirty="0"/>
              <a:t>) </a:t>
            </a:r>
          </a:p>
          <a:p>
            <a:pPr lvl="1"/>
            <a:r>
              <a:rPr lang="zh-CN" altLang="en-US" dirty="0"/>
              <a:t>若源站和目的站处在不同的自治系统中，当数据报传到一个自治系统的边界时，就需要使用一种协议</a:t>
            </a:r>
            <a:r>
              <a:rPr lang="zh-CN" altLang="en-US" dirty="0">
                <a:solidFill>
                  <a:srgbClr val="FF0000"/>
                </a:solidFill>
              </a:rPr>
              <a:t>将路由选择信息传递到另一个自治系统中。</a:t>
            </a:r>
            <a:r>
              <a:rPr lang="zh-CN" altLang="en-US" dirty="0"/>
              <a:t>这样的协议就是外部网关协议 </a:t>
            </a:r>
            <a:r>
              <a:rPr lang="en-US" altLang="zh-CN" dirty="0"/>
              <a:t>EGP</a:t>
            </a:r>
            <a:r>
              <a:rPr lang="zh-CN" altLang="en-US" dirty="0"/>
              <a:t>。</a:t>
            </a:r>
            <a:endParaRPr lang="en-US" altLang="zh-CN" dirty="0"/>
          </a:p>
          <a:p>
            <a:pPr lvl="1"/>
            <a:r>
              <a:rPr lang="zh-CN" altLang="en-US" dirty="0"/>
              <a:t>在外部网关协议中目前使用最多的是 </a:t>
            </a:r>
            <a:r>
              <a:rPr lang="en-US" altLang="zh-CN" dirty="0"/>
              <a:t>BGP-4</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51939">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51939">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1939">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1939">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5193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095" name="Rectangle 135"/>
          <p:cNvSpPr>
            <a:spLocks noGrp="1" noChangeArrowheads="1"/>
          </p:cNvSpPr>
          <p:nvPr>
            <p:ph type="title" idx="4294967295"/>
          </p:nvPr>
        </p:nvSpPr>
        <p:spPr>
          <a:xfrm>
            <a:off x="488504" y="692622"/>
            <a:ext cx="9066212" cy="792162"/>
          </a:xfrm>
        </p:spPr>
        <p:txBody>
          <a:bodyPr/>
          <a:lstStyle/>
          <a:p>
            <a:pPr algn="ctr"/>
            <a:r>
              <a:rPr lang="zh-CN" altLang="en-US" dirty="0"/>
              <a:t>自治系统和</a:t>
            </a:r>
            <a:br>
              <a:rPr lang="zh-CN" altLang="en-US" dirty="0"/>
            </a:br>
            <a:r>
              <a:rPr lang="zh-CN" altLang="en-US" dirty="0"/>
              <a:t>内部网关协议、外部网关协议 </a:t>
            </a:r>
          </a:p>
        </p:txBody>
      </p:sp>
      <p:grpSp>
        <p:nvGrpSpPr>
          <p:cNvPr id="3" name="组合 2"/>
          <p:cNvGrpSpPr/>
          <p:nvPr/>
        </p:nvGrpSpPr>
        <p:grpSpPr>
          <a:xfrm>
            <a:off x="272480" y="1628800"/>
            <a:ext cx="9517326" cy="3977283"/>
            <a:chOff x="271728" y="1772816"/>
            <a:chExt cx="9517326" cy="3977283"/>
          </a:xfrm>
        </p:grpSpPr>
        <p:grpSp>
          <p:nvGrpSpPr>
            <p:cNvPr id="2" name="组合 1"/>
            <p:cNvGrpSpPr/>
            <p:nvPr/>
          </p:nvGrpSpPr>
          <p:grpSpPr>
            <a:xfrm>
              <a:off x="271728" y="1772816"/>
              <a:ext cx="9517326" cy="2397547"/>
              <a:chOff x="271728" y="1772816"/>
              <a:chExt cx="9517326" cy="2397547"/>
            </a:xfrm>
          </p:grpSpPr>
          <p:grpSp>
            <p:nvGrpSpPr>
              <p:cNvPr id="553096" name="Group 136"/>
              <p:cNvGrpSpPr/>
              <p:nvPr/>
            </p:nvGrpSpPr>
            <p:grpSpPr bwMode="auto">
              <a:xfrm>
                <a:off x="271728" y="2311400"/>
                <a:ext cx="2997597" cy="1727200"/>
                <a:chOff x="912" y="768"/>
                <a:chExt cx="2400" cy="1584"/>
              </a:xfrm>
            </p:grpSpPr>
            <p:sp>
              <p:nvSpPr>
                <p:cNvPr id="553097" name="Oval 13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098" name="Oval 13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099" name="Oval 13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0" name="Oval 14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1" name="Oval 14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2" name="Oval 14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3" name="Oval 14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4" name="Oval 14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5" name="Oval 14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553106" name="Group 146"/>
                <p:cNvGrpSpPr/>
                <p:nvPr/>
              </p:nvGrpSpPr>
              <p:grpSpPr bwMode="auto">
                <a:xfrm>
                  <a:off x="912" y="768"/>
                  <a:ext cx="2386" cy="1553"/>
                  <a:chOff x="912" y="768"/>
                  <a:chExt cx="2386" cy="1553"/>
                </a:xfrm>
              </p:grpSpPr>
              <p:sp>
                <p:nvSpPr>
                  <p:cNvPr id="553107" name="Oval 14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8" name="Oval 14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09" name="Oval 14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0" name="Oval 15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1" name="Oval 15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2" name="Oval 15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3" name="Oval 15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4" name="Oval 15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5" name="Oval 15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grpSp>
            <p:nvGrpSpPr>
              <p:cNvPr id="553116" name="Group 156"/>
              <p:cNvGrpSpPr/>
              <p:nvPr/>
            </p:nvGrpSpPr>
            <p:grpSpPr bwMode="auto">
              <a:xfrm>
                <a:off x="6500812" y="2182813"/>
                <a:ext cx="3288242" cy="1987550"/>
                <a:chOff x="912" y="768"/>
                <a:chExt cx="2400" cy="1584"/>
              </a:xfrm>
            </p:grpSpPr>
            <p:sp>
              <p:nvSpPr>
                <p:cNvPr id="553117" name="Oval 15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8" name="Oval 15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19" name="Oval 15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0" name="Oval 16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1" name="Oval 16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2" name="Oval 16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3" name="Oval 16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4" name="Oval 16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5" name="Oval 16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nvGrpSpPr>
                <p:cNvPr id="553126" name="Group 166"/>
                <p:cNvGrpSpPr/>
                <p:nvPr/>
              </p:nvGrpSpPr>
              <p:grpSpPr bwMode="auto">
                <a:xfrm>
                  <a:off x="912" y="768"/>
                  <a:ext cx="2386" cy="1553"/>
                  <a:chOff x="912" y="768"/>
                  <a:chExt cx="2386" cy="1553"/>
                </a:xfrm>
              </p:grpSpPr>
              <p:sp>
                <p:nvSpPr>
                  <p:cNvPr id="553127" name="Oval 16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8" name="Oval 16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29" name="Oval 16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0" name="Oval 17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1" name="Oval 17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2" name="Oval 17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3" name="Oval 17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4" name="Oval 17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sp>
                <p:nvSpPr>
                  <p:cNvPr id="553135" name="Oval 17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CC"/>
                      </a:solidFill>
                      <a:latin typeface="+mn-lt"/>
                      <a:ea typeface="黑体" panose="02010609060101010101" pitchFamily="2" charset="-122"/>
                    </a:endParaRPr>
                  </a:p>
                </p:txBody>
              </p:sp>
            </p:grpSp>
          </p:grpSp>
          <p:sp>
            <p:nvSpPr>
              <p:cNvPr id="553136" name="Text Box 176"/>
              <p:cNvSpPr txBox="1">
                <a:spLocks noChangeArrowheads="1"/>
              </p:cNvSpPr>
              <p:nvPr/>
            </p:nvSpPr>
            <p:spPr bwMode="auto">
              <a:xfrm>
                <a:off x="707399" y="2865636"/>
                <a:ext cx="2121093"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000" b="1">
                    <a:solidFill>
                      <a:srgbClr val="0000CC"/>
                    </a:solidFill>
                    <a:latin typeface="+mn-lt"/>
                    <a:ea typeface="黑体" panose="02010609060101010101" pitchFamily="2" charset="-122"/>
                  </a:rPr>
                  <a:t> </a:t>
                </a:r>
                <a:r>
                  <a:rPr kumimoji="1" lang="zh-CN" altLang="en-US" sz="2000" b="1">
                    <a:solidFill>
                      <a:srgbClr val="0000CC"/>
                    </a:solidFill>
                    <a:latin typeface="+mn-lt"/>
                    <a:ea typeface="黑体" panose="02010609060101010101" pitchFamily="2" charset="-122"/>
                  </a:rPr>
                  <a:t>用内部网关协议</a:t>
                </a:r>
              </a:p>
              <a:p>
                <a:pPr algn="ctr"/>
                <a:r>
                  <a:rPr kumimoji="1" lang="zh-CN" altLang="en-US" sz="2000" b="1">
                    <a:solidFill>
                      <a:srgbClr val="0000CC"/>
                    </a:solidFill>
                    <a:latin typeface="+mn-lt"/>
                    <a:ea typeface="黑体" panose="02010609060101010101" pitchFamily="2" charset="-122"/>
                  </a:rPr>
                  <a:t>（例如，</a:t>
                </a:r>
                <a:r>
                  <a:rPr kumimoji="1" lang="en-US" altLang="zh-CN" sz="2000" b="1">
                    <a:solidFill>
                      <a:srgbClr val="0000CC"/>
                    </a:solidFill>
                    <a:latin typeface="+mn-lt"/>
                    <a:ea typeface="黑体" panose="02010609060101010101" pitchFamily="2" charset="-122"/>
                  </a:rPr>
                  <a:t>RIP</a:t>
                </a:r>
                <a:r>
                  <a:rPr kumimoji="1" lang="zh-CN" altLang="en-US" sz="2000" b="1">
                    <a:solidFill>
                      <a:srgbClr val="0000CC"/>
                    </a:solidFill>
                    <a:latin typeface="+mn-lt"/>
                    <a:ea typeface="黑体" panose="02010609060101010101" pitchFamily="2" charset="-122"/>
                  </a:rPr>
                  <a:t>）</a:t>
                </a:r>
              </a:p>
            </p:txBody>
          </p:sp>
          <p:sp>
            <p:nvSpPr>
              <p:cNvPr id="553137" name="Text Box 177"/>
              <p:cNvSpPr txBox="1">
                <a:spLocks noChangeArrowheads="1"/>
              </p:cNvSpPr>
              <p:nvPr/>
            </p:nvSpPr>
            <p:spPr bwMode="auto">
              <a:xfrm>
                <a:off x="7474455" y="1772816"/>
                <a:ext cx="17299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自治系统 </a:t>
                </a:r>
                <a:r>
                  <a:rPr kumimoji="1" lang="en-US" altLang="zh-CN" sz="2400" b="1">
                    <a:solidFill>
                      <a:srgbClr val="C00000"/>
                    </a:solidFill>
                    <a:latin typeface="+mn-lt"/>
                    <a:ea typeface="黑体" panose="02010609060101010101" pitchFamily="2" charset="-122"/>
                  </a:rPr>
                  <a:t>B</a:t>
                </a:r>
              </a:p>
            </p:txBody>
          </p:sp>
          <p:sp>
            <p:nvSpPr>
              <p:cNvPr id="553138" name="Text Box 178"/>
              <p:cNvSpPr txBox="1">
                <a:spLocks noChangeArrowheads="1"/>
              </p:cNvSpPr>
              <p:nvPr/>
            </p:nvSpPr>
            <p:spPr bwMode="auto">
              <a:xfrm>
                <a:off x="992560" y="1901404"/>
                <a:ext cx="1718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自治系统 </a:t>
                </a:r>
                <a:r>
                  <a:rPr kumimoji="1" lang="en-US" altLang="zh-CN" sz="2400" b="1" dirty="0">
                    <a:solidFill>
                      <a:srgbClr val="C00000"/>
                    </a:solidFill>
                    <a:latin typeface="+mn-lt"/>
                    <a:ea typeface="黑体" panose="02010609060101010101" pitchFamily="2" charset="-122"/>
                  </a:rPr>
                  <a:t>A</a:t>
                </a:r>
              </a:p>
            </p:txBody>
          </p:sp>
          <p:pic>
            <p:nvPicPr>
              <p:cNvPr id="553139" name="Picture 17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78679" y="2709864"/>
                <a:ext cx="715433" cy="447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3140" name="Picture 1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0168" y="2709863"/>
                <a:ext cx="715433" cy="45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3141" name="Text Box 181"/>
              <p:cNvSpPr txBox="1">
                <a:spLocks noChangeArrowheads="1"/>
              </p:cNvSpPr>
              <p:nvPr/>
            </p:nvSpPr>
            <p:spPr bwMode="auto">
              <a:xfrm>
                <a:off x="3828683" y="2225676"/>
                <a:ext cx="2258952"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CC"/>
                    </a:solidFill>
                    <a:latin typeface="+mn-lt"/>
                    <a:ea typeface="黑体" panose="02010609060101010101" pitchFamily="2" charset="-122"/>
                  </a:rPr>
                  <a:t>用外部网关协议</a:t>
                </a:r>
              </a:p>
              <a:p>
                <a:pPr algn="ctr"/>
                <a:r>
                  <a:rPr kumimoji="1" lang="zh-CN" altLang="en-US" sz="2000" b="1" dirty="0">
                    <a:solidFill>
                      <a:srgbClr val="0000CC"/>
                    </a:solidFill>
                    <a:latin typeface="+mn-lt"/>
                    <a:ea typeface="黑体" panose="02010609060101010101" pitchFamily="2" charset="-122"/>
                  </a:rPr>
                  <a:t>（例如，</a:t>
                </a:r>
                <a:r>
                  <a:rPr kumimoji="1" lang="en-US" altLang="zh-CN" sz="2000" b="1" dirty="0">
                    <a:solidFill>
                      <a:srgbClr val="0000CC"/>
                    </a:solidFill>
                    <a:latin typeface="+mn-lt"/>
                    <a:ea typeface="黑体" panose="02010609060101010101" pitchFamily="2" charset="-122"/>
                  </a:rPr>
                  <a:t>BGP-4</a:t>
                </a:r>
                <a:r>
                  <a:rPr kumimoji="1" lang="zh-CN" altLang="en-US" sz="2000" b="1" dirty="0">
                    <a:solidFill>
                      <a:srgbClr val="0000CC"/>
                    </a:solidFill>
                    <a:latin typeface="+mn-lt"/>
                    <a:ea typeface="黑体" panose="02010609060101010101" pitchFamily="2" charset="-122"/>
                  </a:rPr>
                  <a:t>）</a:t>
                </a:r>
              </a:p>
            </p:txBody>
          </p:sp>
          <p:sp>
            <p:nvSpPr>
              <p:cNvPr id="553142" name="Text Box 182"/>
              <p:cNvSpPr txBox="1">
                <a:spLocks noChangeArrowheads="1"/>
              </p:cNvSpPr>
              <p:nvPr/>
            </p:nvSpPr>
            <p:spPr bwMode="auto">
              <a:xfrm>
                <a:off x="2978680" y="230505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p>
            </p:txBody>
          </p:sp>
          <p:sp>
            <p:nvSpPr>
              <p:cNvPr id="553143" name="Text Box 183"/>
              <p:cNvSpPr txBox="1">
                <a:spLocks noChangeArrowheads="1"/>
              </p:cNvSpPr>
              <p:nvPr/>
            </p:nvSpPr>
            <p:spPr bwMode="auto">
              <a:xfrm>
                <a:off x="6462977" y="2332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p>
            </p:txBody>
          </p:sp>
          <p:sp>
            <p:nvSpPr>
              <p:cNvPr id="553144" name="Text Box 184"/>
              <p:cNvSpPr txBox="1">
                <a:spLocks noChangeArrowheads="1"/>
              </p:cNvSpPr>
              <p:nvPr/>
            </p:nvSpPr>
            <p:spPr bwMode="auto">
              <a:xfrm>
                <a:off x="7208127" y="2852936"/>
                <a:ext cx="2165978"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000" b="1" dirty="0">
                    <a:solidFill>
                      <a:srgbClr val="0000CC"/>
                    </a:solidFill>
                    <a:latin typeface="+mn-lt"/>
                    <a:ea typeface="黑体" panose="02010609060101010101" pitchFamily="2" charset="-122"/>
                  </a:rPr>
                  <a:t> </a:t>
                </a:r>
                <a:r>
                  <a:rPr kumimoji="1" lang="zh-CN" altLang="en-US" sz="2000" b="1" dirty="0">
                    <a:solidFill>
                      <a:srgbClr val="0000CC"/>
                    </a:solidFill>
                    <a:latin typeface="+mn-lt"/>
                    <a:ea typeface="黑体" panose="02010609060101010101" pitchFamily="2" charset="-122"/>
                  </a:rPr>
                  <a:t>用内部网关协议</a:t>
                </a:r>
              </a:p>
              <a:p>
                <a:pPr algn="ctr"/>
                <a:r>
                  <a:rPr kumimoji="1" lang="zh-CN" altLang="en-US" sz="2000" b="1" dirty="0">
                    <a:solidFill>
                      <a:srgbClr val="0000CC"/>
                    </a:solidFill>
                    <a:latin typeface="+mn-lt"/>
                    <a:ea typeface="黑体" panose="02010609060101010101" pitchFamily="2" charset="-122"/>
                  </a:rPr>
                  <a:t>（例如，</a:t>
                </a:r>
                <a:r>
                  <a:rPr kumimoji="1" lang="en-US" altLang="zh-CN" sz="2000" b="1" dirty="0">
                    <a:solidFill>
                      <a:srgbClr val="0000CC"/>
                    </a:solidFill>
                    <a:latin typeface="+mn-lt"/>
                    <a:ea typeface="黑体" panose="02010609060101010101" pitchFamily="2" charset="-122"/>
                  </a:rPr>
                  <a:t>OSPF</a:t>
                </a:r>
                <a:r>
                  <a:rPr kumimoji="1" lang="zh-CN" altLang="en-US" sz="2000" b="1" dirty="0">
                    <a:solidFill>
                      <a:srgbClr val="0000CC"/>
                    </a:solidFill>
                    <a:latin typeface="+mn-lt"/>
                    <a:ea typeface="黑体" panose="02010609060101010101" pitchFamily="2" charset="-122"/>
                  </a:rPr>
                  <a:t>）</a:t>
                </a:r>
              </a:p>
            </p:txBody>
          </p:sp>
          <p:sp>
            <p:nvSpPr>
              <p:cNvPr id="553145" name="Line 185"/>
              <p:cNvSpPr>
                <a:spLocks noChangeShapeType="1"/>
              </p:cNvSpPr>
              <p:nvPr/>
            </p:nvSpPr>
            <p:spPr bwMode="auto">
              <a:xfrm>
                <a:off x="3645959" y="2941639"/>
                <a:ext cx="2633002" cy="3175"/>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53147" name="Text Box 187"/>
            <p:cNvSpPr txBox="1">
              <a:spLocks noChangeArrowheads="1"/>
            </p:cNvSpPr>
            <p:nvPr/>
          </p:nvSpPr>
          <p:spPr bwMode="auto">
            <a:xfrm>
              <a:off x="1017530" y="4365104"/>
              <a:ext cx="8399966" cy="1384995"/>
            </a:xfrm>
            <a:prstGeom prst="rect">
              <a:avLst/>
            </a:prstGeom>
            <a:solidFill>
              <a:srgbClr val="FFFF66"/>
            </a:solidFill>
            <a:ln w="9525">
              <a:solidFill>
                <a:srgbClr val="000099"/>
              </a:solidFill>
              <a:miter lim="800000"/>
            </a:ln>
            <a:effectLst/>
          </p:spPr>
          <p:txBody>
            <a:bodyPr wrap="square">
              <a:spAutoFit/>
            </a:bodyPr>
            <a:lstStyle/>
            <a:p>
              <a:r>
                <a:rPr lang="zh-CN" altLang="en-US" sz="2800" b="1" dirty="0">
                  <a:solidFill>
                    <a:srgbClr val="000099"/>
                  </a:solidFill>
                  <a:latin typeface="+mn-lt"/>
                  <a:ea typeface="黑体" panose="02010609060101010101" pitchFamily="2" charset="-122"/>
                </a:rPr>
                <a:t>自治系统之间的路由选择也叫作</a:t>
              </a:r>
              <a:r>
                <a:rPr lang="zh-CN" altLang="en-US" sz="2800" b="1" dirty="0">
                  <a:solidFill>
                    <a:srgbClr val="FF0000"/>
                  </a:solidFill>
                  <a:latin typeface="+mn-lt"/>
                  <a:ea typeface="黑体" panose="02010609060101010101" pitchFamily="2" charset="-122"/>
                </a:rPr>
                <a:t>域间路由选择 </a:t>
              </a:r>
              <a:r>
                <a:rPr lang="en-US" altLang="zh-CN" sz="2800" b="1" dirty="0">
                  <a:solidFill>
                    <a:srgbClr val="000099"/>
                  </a:solidFill>
                  <a:latin typeface="+mn-lt"/>
                  <a:ea typeface="黑体" panose="02010609060101010101" pitchFamily="2" charset="-122"/>
                </a:rPr>
                <a:t>(</a:t>
              </a:r>
              <a:r>
                <a:rPr lang="en-US" altLang="zh-CN" sz="2800" b="1" dirty="0" err="1">
                  <a:solidFill>
                    <a:srgbClr val="000099"/>
                  </a:solidFill>
                  <a:latin typeface="+mn-lt"/>
                  <a:ea typeface="黑体" panose="02010609060101010101" pitchFamily="2" charset="-122"/>
                </a:rPr>
                <a:t>interdomain</a:t>
              </a:r>
              <a:r>
                <a:rPr lang="en-US" altLang="zh-CN" sz="2800" b="1" dirty="0">
                  <a:solidFill>
                    <a:srgbClr val="000099"/>
                  </a:solidFill>
                  <a:latin typeface="+mn-lt"/>
                  <a:ea typeface="黑体" panose="02010609060101010101" pitchFamily="2" charset="-122"/>
                </a:rPr>
                <a:t> routing)</a:t>
              </a:r>
              <a:r>
                <a:rPr lang="zh-CN" altLang="en-US" sz="2800" b="1" dirty="0">
                  <a:solidFill>
                    <a:srgbClr val="000099"/>
                  </a:solidFill>
                  <a:latin typeface="+mn-lt"/>
                  <a:ea typeface="黑体" panose="02010609060101010101" pitchFamily="2" charset="-122"/>
                </a:rPr>
                <a:t>，在自治系统内部的路由选择叫</a:t>
              </a:r>
              <a:r>
                <a:rPr lang="zh-CN" altLang="en-US" sz="2800" b="1" dirty="0">
                  <a:solidFill>
                    <a:srgbClr val="000099"/>
                  </a:solidFill>
                  <a:ea typeface="黑体" panose="02010609060101010101" pitchFamily="2" charset="-122"/>
                </a:rPr>
                <a:t>作</a:t>
              </a:r>
              <a:r>
                <a:rPr lang="zh-CN" altLang="en-US" sz="2800" b="1" dirty="0">
                  <a:solidFill>
                    <a:srgbClr val="FF0000"/>
                  </a:solidFill>
                  <a:latin typeface="+mn-lt"/>
                  <a:ea typeface="黑体" panose="02010609060101010101" pitchFamily="2" charset="-122"/>
                </a:rPr>
                <a:t>域内路由选择 </a:t>
              </a:r>
              <a:r>
                <a:rPr lang="en-US" altLang="zh-CN" sz="2800" b="1" dirty="0">
                  <a:solidFill>
                    <a:srgbClr val="000099"/>
                  </a:solidFill>
                  <a:latin typeface="+mn-lt"/>
                  <a:ea typeface="黑体" panose="02010609060101010101" pitchFamily="2" charset="-122"/>
                </a:rPr>
                <a:t>(</a:t>
              </a:r>
              <a:r>
                <a:rPr lang="en-US" altLang="zh-CN" sz="2800" b="1" dirty="0" err="1">
                  <a:solidFill>
                    <a:srgbClr val="000099"/>
                  </a:solidFill>
                  <a:latin typeface="+mn-lt"/>
                  <a:ea typeface="黑体" panose="02010609060101010101" pitchFamily="2" charset="-122"/>
                </a:rPr>
                <a:t>intradomain</a:t>
              </a:r>
              <a:r>
                <a:rPr lang="en-US" altLang="zh-CN" sz="2800" b="1" dirty="0">
                  <a:solidFill>
                    <a:srgbClr val="000099"/>
                  </a:solidFill>
                  <a:latin typeface="+mn-lt"/>
                  <a:ea typeface="黑体" panose="02010609060101010101" pitchFamily="2" charset="-122"/>
                </a:rPr>
                <a:t> routing) </a:t>
              </a:r>
              <a:r>
                <a:rPr lang="zh-CN" altLang="en-US" sz="2800" b="1" dirty="0">
                  <a:solidFill>
                    <a:srgbClr val="000099"/>
                  </a:solidFill>
                  <a:latin typeface="+mn-lt"/>
                  <a:ea typeface="黑体" panose="02010609060101010101" pitchFamily="2" charset="-122"/>
                </a:rPr>
                <a:t>。</a:t>
              </a:r>
              <a:endParaRPr lang="en-US" altLang="zh-CN" sz="2800" b="1" dirty="0">
                <a:solidFill>
                  <a:srgbClr val="000099"/>
                </a:solidFill>
                <a:latin typeface="+mn-lt"/>
                <a:ea typeface="黑体" panose="02010609060101010101" pitchFamily="2" charset="-122"/>
              </a:endParaRPr>
            </a:p>
          </p:txBody>
        </p:sp>
      </p:gr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2"/>
          <p:cNvSpPr>
            <a:spLocks noGrp="1" noChangeArrowheads="1"/>
          </p:cNvSpPr>
          <p:nvPr>
            <p:ph type="title"/>
          </p:nvPr>
        </p:nvSpPr>
        <p:spPr/>
        <p:txBody>
          <a:bodyPr/>
          <a:lstStyle/>
          <a:p>
            <a:pPr algn="ctr"/>
            <a:r>
              <a:rPr lang="zh-CN" altLang="en-US" dirty="0"/>
              <a:t>互联网的路由选择协议 </a:t>
            </a:r>
          </a:p>
        </p:txBody>
      </p:sp>
      <p:sp>
        <p:nvSpPr>
          <p:cNvPr id="555011" name="Rectangle 3"/>
          <p:cNvSpPr>
            <a:spLocks noGrp="1" noChangeArrowheads="1"/>
          </p:cNvSpPr>
          <p:nvPr>
            <p:ph idx="1"/>
          </p:nvPr>
        </p:nvSpPr>
        <p:spPr/>
        <p:txBody>
          <a:bodyPr/>
          <a:lstStyle/>
          <a:p>
            <a:r>
              <a:rPr lang="zh-CN" altLang="en-US" dirty="0">
                <a:solidFill>
                  <a:srgbClr val="FF0000"/>
                </a:solidFill>
              </a:rPr>
              <a:t>内部网关协议 </a:t>
            </a:r>
            <a:r>
              <a:rPr lang="en-US" altLang="zh-CN" dirty="0">
                <a:solidFill>
                  <a:srgbClr val="FF0000"/>
                </a:solidFill>
              </a:rPr>
              <a:t>IGP</a:t>
            </a:r>
            <a:r>
              <a:rPr lang="zh-CN" altLang="en-US" dirty="0">
                <a:solidFill>
                  <a:srgbClr val="FF0000"/>
                </a:solidFill>
              </a:rPr>
              <a:t>：</a:t>
            </a:r>
            <a:r>
              <a:rPr lang="zh-CN" altLang="en-US" dirty="0"/>
              <a:t>具体的协议有多种，如 </a:t>
            </a:r>
            <a:r>
              <a:rPr lang="en-US" altLang="zh-CN" dirty="0"/>
              <a:t>RIP </a:t>
            </a:r>
            <a:r>
              <a:rPr lang="zh-CN" altLang="en-US" dirty="0"/>
              <a:t>和 </a:t>
            </a:r>
            <a:r>
              <a:rPr lang="en-US" altLang="zh-CN" dirty="0"/>
              <a:t>OSPF </a:t>
            </a:r>
            <a:r>
              <a:rPr lang="zh-CN" altLang="en-US" dirty="0"/>
              <a:t>等。</a:t>
            </a:r>
          </a:p>
          <a:p>
            <a:r>
              <a:rPr lang="zh-CN" altLang="en-US" dirty="0">
                <a:solidFill>
                  <a:srgbClr val="FF0000"/>
                </a:solidFill>
              </a:rPr>
              <a:t>外部网关协议 </a:t>
            </a:r>
            <a:r>
              <a:rPr lang="en-US" altLang="zh-CN" dirty="0">
                <a:solidFill>
                  <a:srgbClr val="FF0000"/>
                </a:solidFill>
              </a:rPr>
              <a:t>EGP</a:t>
            </a:r>
            <a:r>
              <a:rPr lang="zh-CN" altLang="en-US" dirty="0">
                <a:solidFill>
                  <a:srgbClr val="FF0000"/>
                </a:solidFill>
              </a:rPr>
              <a:t>：</a:t>
            </a:r>
            <a:r>
              <a:rPr lang="zh-CN" altLang="en-US" dirty="0"/>
              <a:t>目前使用的协议就是 </a:t>
            </a:r>
            <a:r>
              <a:rPr lang="en-US" altLang="zh-CN" dirty="0"/>
              <a:t>BGP</a:t>
            </a:r>
            <a:r>
              <a:rPr lang="zh-CN" altLang="en-US" dirty="0"/>
              <a:t>。</a:t>
            </a:r>
          </a:p>
        </p:txBody>
      </p:sp>
      <p:grpSp>
        <p:nvGrpSpPr>
          <p:cNvPr id="2" name="组合 1"/>
          <p:cNvGrpSpPr/>
          <p:nvPr/>
        </p:nvGrpSpPr>
        <p:grpSpPr>
          <a:xfrm>
            <a:off x="1670248" y="3212976"/>
            <a:ext cx="7243192" cy="2520280"/>
            <a:chOff x="1670248" y="3103737"/>
            <a:chExt cx="7243192" cy="2865256"/>
          </a:xfrm>
        </p:grpSpPr>
        <p:sp>
          <p:nvSpPr>
            <p:cNvPr id="9" name="Line 25"/>
            <p:cNvSpPr>
              <a:spLocks noChangeShapeType="1"/>
            </p:cNvSpPr>
            <p:nvPr/>
          </p:nvSpPr>
          <p:spPr bwMode="auto">
            <a:xfrm flipH="1">
              <a:off x="3638872" y="3725912"/>
              <a:ext cx="1361437" cy="53340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Line 26"/>
            <p:cNvSpPr>
              <a:spLocks noChangeShapeType="1"/>
            </p:cNvSpPr>
            <p:nvPr/>
          </p:nvSpPr>
          <p:spPr bwMode="auto">
            <a:xfrm>
              <a:off x="5239072" y="3725912"/>
              <a:ext cx="1685588" cy="53340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 name="AutoShape 6"/>
            <p:cNvSpPr>
              <a:spLocks noChangeArrowheads="1"/>
            </p:cNvSpPr>
            <p:nvPr/>
          </p:nvSpPr>
          <p:spPr bwMode="auto">
            <a:xfrm>
              <a:off x="2364384" y="4905152"/>
              <a:ext cx="1375793" cy="1063841"/>
            </a:xfrm>
            <a:prstGeom prst="roundRect">
              <a:avLst>
                <a:gd name="adj" fmla="val 16667"/>
              </a:avLst>
            </a:prstGeom>
            <a:noFill/>
            <a:ln w="9525">
              <a:solidFill>
                <a:schemeClr val="tx1"/>
              </a:solidFill>
              <a:round/>
            </a:ln>
            <a:effectLst/>
            <a:extLst>
              <a:ext uri="{909E8E84-426E-40DD-AFC4-6F175D3DCCD1}">
                <a14:hiddenFill xmlns:a14="http://schemas.microsoft.com/office/drawing/2010/main">
                  <a:solidFill>
                    <a:schemeClr val="accent1">
                      <a:alpha val="5000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nchorCtr="1"/>
            <a:lstStyle/>
            <a:p>
              <a:pPr>
                <a:spcBef>
                  <a:spcPts val="0"/>
                </a:spcBef>
              </a:pPr>
              <a:r>
                <a:rPr kumimoji="0" lang="en-GB" sz="2800" b="1" dirty="0">
                  <a:latin typeface="+mn-lt"/>
                  <a:ea typeface="黑体" panose="02010609060101010101" pitchFamily="2" charset="-122"/>
                </a:rPr>
                <a:t>RIP </a:t>
              </a:r>
            </a:p>
            <a:p>
              <a:pPr>
                <a:spcBef>
                  <a:spcPts val="0"/>
                </a:spcBef>
              </a:pPr>
              <a:r>
                <a:rPr kumimoji="0" lang="en-US" altLang="zh-CN" sz="2800" b="1" dirty="0">
                  <a:latin typeface="+mn-lt"/>
                  <a:ea typeface="黑体" panose="02010609060101010101" pitchFamily="2" charset="-122"/>
                </a:rPr>
                <a:t>OSPF</a:t>
              </a:r>
              <a:endParaRPr lang="en-US" altLang="zh-CN" sz="2800" b="1" dirty="0">
                <a:latin typeface="+mn-lt"/>
                <a:ea typeface="黑体" panose="02010609060101010101" pitchFamily="2" charset="-122"/>
              </a:endParaRPr>
            </a:p>
          </p:txBody>
        </p:sp>
        <p:sp>
          <p:nvSpPr>
            <p:cNvPr id="17" name="AutoShape 23"/>
            <p:cNvSpPr>
              <a:spLocks noChangeArrowheads="1"/>
            </p:cNvSpPr>
            <p:nvPr/>
          </p:nvSpPr>
          <p:spPr bwMode="auto">
            <a:xfrm>
              <a:off x="3562672" y="3103737"/>
              <a:ext cx="3190528" cy="649287"/>
            </a:xfrm>
            <a:prstGeom prst="roundRect">
              <a:avLst>
                <a:gd name="adj" fmla="val 16667"/>
              </a:avLst>
            </a:prstGeom>
            <a:solidFill>
              <a:srgbClr val="FFCC00"/>
            </a:solidFill>
            <a:ln w="9525">
              <a:solidFill>
                <a:schemeClr val="tx1"/>
              </a:solidFill>
              <a:round/>
            </a:ln>
            <a:effectLst/>
          </p:spPr>
          <p:txBody>
            <a:bodyPr wrap="none" anchor="ctr"/>
            <a:lstStyle/>
            <a:p>
              <a:pPr algn="ctr"/>
              <a:r>
                <a:rPr lang="zh-CN" altLang="en-US" sz="2400" b="1" dirty="0">
                  <a:latin typeface="+mn-lt"/>
                  <a:ea typeface="黑体" panose="02010609060101010101" pitchFamily="2" charset="-122"/>
                </a:rPr>
                <a:t>互联网路由选择协议</a:t>
              </a:r>
            </a:p>
          </p:txBody>
        </p:sp>
        <p:sp>
          <p:nvSpPr>
            <p:cNvPr id="18" name="AutoShape 29"/>
            <p:cNvSpPr>
              <a:spLocks noChangeArrowheads="1"/>
            </p:cNvSpPr>
            <p:nvPr/>
          </p:nvSpPr>
          <p:spPr bwMode="auto">
            <a:xfrm>
              <a:off x="6897216" y="4905152"/>
              <a:ext cx="1285801" cy="609600"/>
            </a:xfrm>
            <a:prstGeom prst="roundRect">
              <a:avLst>
                <a:gd name="adj" fmla="val 16667"/>
              </a:avLst>
            </a:prstGeom>
            <a:noFill/>
            <a:ln w="9525">
              <a:solidFill>
                <a:schemeClr val="tx1"/>
              </a:solidFill>
              <a:round/>
            </a:ln>
            <a:effectLst/>
            <a:extLst>
              <a:ext uri="{909E8E84-426E-40DD-AFC4-6F175D3DCCD1}">
                <a14:hiddenFill xmlns:a14="http://schemas.microsoft.com/office/drawing/2010/main">
                  <a:solidFill>
                    <a:schemeClr val="accent1">
                      <a:alpha val="5000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50000"/>
                </a:spcBef>
              </a:pPr>
              <a:r>
                <a:rPr kumimoji="0" lang="en-GB" altLang="zh-CN" sz="2800" b="1" dirty="0">
                  <a:latin typeface="+mn-lt"/>
                  <a:ea typeface="黑体" panose="02010609060101010101" pitchFamily="2" charset="-122"/>
                </a:rPr>
                <a:t>BGP</a:t>
              </a:r>
              <a:endParaRPr lang="en-US" altLang="zh-CN" sz="2800" b="1" dirty="0">
                <a:latin typeface="+mn-lt"/>
                <a:ea typeface="黑体" panose="02010609060101010101" pitchFamily="2" charset="-122"/>
              </a:endParaRPr>
            </a:p>
          </p:txBody>
        </p:sp>
        <p:sp>
          <p:nvSpPr>
            <p:cNvPr id="15" name="AutoShape 12"/>
            <p:cNvSpPr>
              <a:spLocks noChangeArrowheads="1"/>
            </p:cNvSpPr>
            <p:nvPr/>
          </p:nvSpPr>
          <p:spPr bwMode="auto">
            <a:xfrm>
              <a:off x="6089848" y="4113064"/>
              <a:ext cx="2823592" cy="649288"/>
            </a:xfrm>
            <a:prstGeom prst="roundRect">
              <a:avLst>
                <a:gd name="adj" fmla="val 16667"/>
              </a:avLst>
            </a:prstGeom>
            <a:solidFill>
              <a:srgbClr val="FF66FF"/>
            </a:solidFill>
            <a:ln w="9525">
              <a:solidFill>
                <a:schemeClr val="tx1"/>
              </a:solidFill>
              <a:round/>
            </a:ln>
            <a:effectLst/>
          </p:spPr>
          <p:txBody>
            <a:bodyPr wrap="none" anchor="ctr"/>
            <a:lstStyle/>
            <a:p>
              <a:pPr algn="ctr"/>
              <a:r>
                <a:rPr lang="zh-CN" altLang="en-US" sz="2400" b="1">
                  <a:latin typeface="+mn-lt"/>
                  <a:ea typeface="黑体" panose="02010609060101010101" pitchFamily="2" charset="-122"/>
                </a:rPr>
                <a:t>外部网关协议</a:t>
              </a:r>
              <a:r>
                <a:rPr lang="en-US" altLang="zh-CN" sz="2400" b="1">
                  <a:latin typeface="+mn-lt"/>
                  <a:ea typeface="黑体" panose="02010609060101010101" pitchFamily="2" charset="-122"/>
                </a:rPr>
                <a:t>(EGP)</a:t>
              </a:r>
            </a:p>
          </p:txBody>
        </p:sp>
        <p:sp>
          <p:nvSpPr>
            <p:cNvPr id="16" name="AutoShape 13"/>
            <p:cNvSpPr>
              <a:spLocks noChangeArrowheads="1"/>
            </p:cNvSpPr>
            <p:nvPr/>
          </p:nvSpPr>
          <p:spPr bwMode="auto">
            <a:xfrm>
              <a:off x="1670248" y="4113064"/>
              <a:ext cx="2823592" cy="649288"/>
            </a:xfrm>
            <a:prstGeom prst="roundRect">
              <a:avLst>
                <a:gd name="adj" fmla="val 16667"/>
              </a:avLst>
            </a:prstGeom>
            <a:solidFill>
              <a:srgbClr val="FFFF66"/>
            </a:solidFill>
            <a:ln w="9525">
              <a:solidFill>
                <a:schemeClr val="tx1"/>
              </a:solidFill>
              <a:round/>
            </a:ln>
            <a:effectLst/>
          </p:spPr>
          <p:txBody>
            <a:bodyPr wrap="none" anchor="ctr"/>
            <a:lstStyle/>
            <a:p>
              <a:pPr algn="ctr"/>
              <a:r>
                <a:rPr lang="zh-CN" altLang="en-US" sz="2400" b="1" dirty="0">
                  <a:latin typeface="+mn-lt"/>
                  <a:ea typeface="黑体" panose="02010609060101010101" pitchFamily="2" charset="-122"/>
                </a:rPr>
                <a:t>内部网关协议</a:t>
              </a:r>
              <a:r>
                <a:rPr lang="en-US" altLang="zh-CN" sz="2400" b="1" dirty="0">
                  <a:latin typeface="+mn-lt"/>
                  <a:ea typeface="黑体" panose="02010609060101010101" pitchFamily="2" charset="-122"/>
                </a:rPr>
                <a:t>(IGP)</a:t>
              </a:r>
            </a:p>
          </p:txBody>
        </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Rectangle 2"/>
          <p:cNvSpPr>
            <a:spLocks noGrp="1" noChangeArrowheads="1"/>
          </p:cNvSpPr>
          <p:nvPr>
            <p:ph type="title"/>
          </p:nvPr>
        </p:nvSpPr>
        <p:spPr/>
        <p:txBody>
          <a:bodyPr/>
          <a:lstStyle/>
          <a:p>
            <a:r>
              <a:rPr lang="en-US" altLang="zh-CN" dirty="0"/>
              <a:t>4.5.2  </a:t>
            </a:r>
            <a:r>
              <a:rPr lang="zh-CN" altLang="en-US" dirty="0"/>
              <a:t>内部网关协议 </a:t>
            </a:r>
            <a:r>
              <a:rPr lang="en-US" altLang="zh-CN" dirty="0"/>
              <a:t>RIP</a:t>
            </a:r>
            <a:endParaRPr lang="en-US" altLang="zh-CN" sz="3600" dirty="0"/>
          </a:p>
        </p:txBody>
      </p:sp>
      <p:sp>
        <p:nvSpPr>
          <p:cNvPr id="556035" name="Rectangle 3"/>
          <p:cNvSpPr>
            <a:spLocks noGrp="1" noChangeArrowheads="1"/>
          </p:cNvSpPr>
          <p:nvPr>
            <p:ph idx="1"/>
          </p:nvPr>
        </p:nvSpPr>
        <p:spPr/>
        <p:txBody>
          <a:bodyPr/>
          <a:lstStyle/>
          <a:p>
            <a:pPr>
              <a:buFont typeface="Wingdings" panose="05000000000000000000" pitchFamily="2" charset="2"/>
              <a:buNone/>
            </a:pPr>
            <a:r>
              <a:rPr lang="en-US" altLang="zh-CN" sz="4400" dirty="0">
                <a:solidFill>
                  <a:srgbClr val="000099"/>
                </a:solidFill>
              </a:rPr>
              <a:t>1. </a:t>
            </a:r>
            <a:r>
              <a:rPr lang="zh-CN" altLang="en-US" sz="4400" dirty="0">
                <a:solidFill>
                  <a:srgbClr val="000099"/>
                </a:solidFill>
              </a:rPr>
              <a:t>工作原理</a:t>
            </a:r>
          </a:p>
          <a:p>
            <a:r>
              <a:rPr lang="zh-CN" altLang="en-US" dirty="0"/>
              <a:t>路由信息协议 </a:t>
            </a:r>
            <a:r>
              <a:rPr lang="en-US" altLang="zh-CN" dirty="0"/>
              <a:t>RIP (Routing Information Protocol) </a:t>
            </a:r>
            <a:r>
              <a:rPr lang="zh-CN" altLang="en-US" dirty="0"/>
              <a:t>是内部网关协议 </a:t>
            </a:r>
            <a:r>
              <a:rPr lang="en-US" altLang="zh-CN" dirty="0"/>
              <a:t>IGP </a:t>
            </a:r>
            <a:r>
              <a:rPr lang="zh-CN" altLang="en-US" dirty="0"/>
              <a:t>中最先得到广泛使用的协议。</a:t>
            </a:r>
          </a:p>
          <a:p>
            <a:r>
              <a:rPr lang="en-US" altLang="zh-CN" dirty="0"/>
              <a:t>RIP </a:t>
            </a:r>
            <a:r>
              <a:rPr lang="zh-CN" altLang="en-US" dirty="0"/>
              <a:t>是一种</a:t>
            </a:r>
            <a:r>
              <a:rPr lang="zh-CN" altLang="en-US" dirty="0">
                <a:solidFill>
                  <a:srgbClr val="FF0000"/>
                </a:solidFill>
              </a:rPr>
              <a:t>分布式的、基于距离向量的路由选择协议。</a:t>
            </a:r>
          </a:p>
          <a:p>
            <a:r>
              <a:rPr lang="en-US" altLang="zh-CN" dirty="0">
                <a:solidFill>
                  <a:srgbClr val="FF0000"/>
                </a:solidFill>
              </a:rPr>
              <a:t>RIP </a:t>
            </a:r>
            <a:r>
              <a:rPr lang="zh-CN" altLang="en-US" dirty="0">
                <a:solidFill>
                  <a:srgbClr val="FF0000"/>
                </a:solidFill>
              </a:rPr>
              <a:t>协议要求</a:t>
            </a:r>
            <a:r>
              <a:rPr lang="zh-CN" altLang="en-US" dirty="0"/>
              <a:t>网络中的每一个路由器都要维护从它自己到其他每一个目的网络的距离记录。</a:t>
            </a:r>
            <a:r>
              <a:rPr lang="zh-CN" altLang="en-US" sz="2800"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2"/>
          <p:cNvSpPr>
            <a:spLocks noGrp="1" noChangeArrowheads="1"/>
          </p:cNvSpPr>
          <p:nvPr>
            <p:ph type="title"/>
          </p:nvPr>
        </p:nvSpPr>
        <p:spPr/>
        <p:txBody>
          <a:bodyPr/>
          <a:lstStyle/>
          <a:p>
            <a:pPr algn="ctr"/>
            <a:r>
              <a:rPr lang="en-US" altLang="zh-CN" dirty="0"/>
              <a:t>“</a:t>
            </a:r>
            <a:r>
              <a:rPr lang="zh-CN" altLang="en-US" dirty="0"/>
              <a:t>距离”的定义 </a:t>
            </a:r>
          </a:p>
        </p:txBody>
      </p:sp>
      <p:sp>
        <p:nvSpPr>
          <p:cNvPr id="557059" name="Rectangle 3"/>
          <p:cNvSpPr>
            <a:spLocks noGrp="1" noChangeArrowheads="1"/>
          </p:cNvSpPr>
          <p:nvPr>
            <p:ph idx="1"/>
          </p:nvPr>
        </p:nvSpPr>
        <p:spPr>
          <a:noFill/>
        </p:spPr>
        <p:txBody>
          <a:bodyPr/>
          <a:lstStyle/>
          <a:p>
            <a:pPr algn="just"/>
            <a:r>
              <a:rPr lang="zh-CN" altLang="en-US" dirty="0"/>
              <a:t>从一个路由器到</a:t>
            </a:r>
            <a:r>
              <a:rPr lang="zh-CN" altLang="en-US" dirty="0">
                <a:solidFill>
                  <a:srgbClr val="FF0000"/>
                </a:solidFill>
              </a:rPr>
              <a:t>直接连接</a:t>
            </a:r>
            <a:r>
              <a:rPr lang="zh-CN" altLang="en-US" dirty="0"/>
              <a:t>的网络的距离定义为 </a:t>
            </a:r>
            <a:r>
              <a:rPr lang="en-US" altLang="zh-CN" dirty="0"/>
              <a:t>1</a:t>
            </a:r>
            <a:r>
              <a:rPr lang="zh-CN" altLang="en-US" dirty="0"/>
              <a:t>。</a:t>
            </a:r>
          </a:p>
          <a:p>
            <a:pPr algn="just"/>
            <a:r>
              <a:rPr lang="zh-CN" altLang="en-US" dirty="0"/>
              <a:t>从一个路由器到非直接连接的网络的距离定义为所经过的路由器数加 </a:t>
            </a:r>
            <a:r>
              <a:rPr lang="en-US" altLang="zh-CN" dirty="0"/>
              <a:t>1</a:t>
            </a:r>
            <a:r>
              <a:rPr lang="zh-CN" altLang="en-US" dirty="0"/>
              <a:t>。</a:t>
            </a:r>
          </a:p>
          <a:p>
            <a:pPr algn="just"/>
            <a:r>
              <a:rPr lang="en-US" altLang="zh-CN" dirty="0"/>
              <a:t>RIP </a:t>
            </a:r>
            <a:r>
              <a:rPr lang="zh-CN" altLang="en-US" dirty="0"/>
              <a:t>协议中的“距离”也称为“</a:t>
            </a:r>
            <a:r>
              <a:rPr lang="zh-CN" altLang="en-US" dirty="0">
                <a:solidFill>
                  <a:srgbClr val="FF0000"/>
                </a:solidFill>
              </a:rPr>
              <a:t>跳数</a:t>
            </a:r>
            <a:r>
              <a:rPr lang="zh-CN" altLang="en-US" dirty="0"/>
              <a:t>”</a:t>
            </a:r>
            <a:r>
              <a:rPr lang="en-US" altLang="zh-CN" dirty="0"/>
              <a:t>(hop count)</a:t>
            </a:r>
            <a:r>
              <a:rPr lang="zh-CN" altLang="en-US" dirty="0"/>
              <a:t>，因为每经过一个路由器，跳数就加 </a:t>
            </a:r>
            <a:r>
              <a:rPr lang="en-US" altLang="zh-CN" dirty="0"/>
              <a:t>1</a:t>
            </a:r>
            <a:r>
              <a:rPr lang="zh-CN" altLang="en-US" dirty="0"/>
              <a:t>。</a:t>
            </a:r>
          </a:p>
          <a:p>
            <a:pPr algn="just"/>
            <a:r>
              <a:rPr lang="zh-CN" altLang="en-US" dirty="0"/>
              <a:t>这里的“距离”实际上指的是“</a:t>
            </a:r>
            <a:r>
              <a:rPr lang="zh-CN" altLang="en-US" dirty="0">
                <a:solidFill>
                  <a:srgbClr val="FF0000"/>
                </a:solidFill>
              </a:rPr>
              <a:t>最短距离</a:t>
            </a:r>
            <a:r>
              <a:rPr lang="zh-CN" altLang="en-US" dirty="0"/>
              <a:t>”。 </a:t>
            </a:r>
            <a:endParaRPr lang="zh-CN" altLang="en-US" sz="4400" dirty="0"/>
          </a:p>
          <a:p>
            <a:pPr algn="just"/>
            <a:endParaRPr lang="en-US" altLang="zh-CN"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Rectangle 2"/>
          <p:cNvSpPr>
            <a:spLocks noGrp="1" noChangeArrowheads="1"/>
          </p:cNvSpPr>
          <p:nvPr>
            <p:ph type="title"/>
          </p:nvPr>
        </p:nvSpPr>
        <p:spPr/>
        <p:txBody>
          <a:bodyPr/>
          <a:lstStyle/>
          <a:p>
            <a:pPr algn="ctr"/>
            <a:r>
              <a:rPr lang="en-US" altLang="zh-CN"/>
              <a:t>“</a:t>
            </a:r>
            <a:r>
              <a:rPr lang="zh-CN" altLang="en-US"/>
              <a:t>距离”的定义 </a:t>
            </a:r>
          </a:p>
        </p:txBody>
      </p:sp>
      <p:sp>
        <p:nvSpPr>
          <p:cNvPr id="558083" name="Rectangle 3"/>
          <p:cNvSpPr>
            <a:spLocks noGrp="1" noChangeArrowheads="1"/>
          </p:cNvSpPr>
          <p:nvPr>
            <p:ph idx="1"/>
          </p:nvPr>
        </p:nvSpPr>
        <p:spPr>
          <a:noFill/>
        </p:spPr>
        <p:txBody>
          <a:bodyPr/>
          <a:lstStyle/>
          <a:p>
            <a:pPr algn="just">
              <a:lnSpc>
                <a:spcPct val="100000"/>
              </a:lnSpc>
            </a:pPr>
            <a:r>
              <a:rPr lang="en-US" altLang="zh-CN" dirty="0"/>
              <a:t>RIP </a:t>
            </a:r>
            <a:r>
              <a:rPr lang="zh-CN" altLang="en-US" dirty="0"/>
              <a:t>认为一个</a:t>
            </a:r>
            <a:r>
              <a:rPr lang="zh-CN" altLang="en-US" dirty="0">
                <a:solidFill>
                  <a:srgbClr val="FF0000"/>
                </a:solidFill>
              </a:rPr>
              <a:t>好的路由</a:t>
            </a:r>
            <a:r>
              <a:rPr lang="zh-CN" altLang="en-US" dirty="0"/>
              <a:t>就是它通过的路由器的数目少，即“</a:t>
            </a:r>
            <a:r>
              <a:rPr lang="zh-CN" altLang="en-US" dirty="0">
                <a:solidFill>
                  <a:srgbClr val="FF0000"/>
                </a:solidFill>
              </a:rPr>
              <a:t>距离短</a:t>
            </a:r>
            <a:r>
              <a:rPr lang="zh-CN" altLang="en-US" dirty="0"/>
              <a:t>”。</a:t>
            </a:r>
          </a:p>
          <a:p>
            <a:pPr algn="just">
              <a:lnSpc>
                <a:spcPct val="100000"/>
              </a:lnSpc>
            </a:pPr>
            <a:r>
              <a:rPr lang="en-US" altLang="zh-CN" dirty="0">
                <a:solidFill>
                  <a:srgbClr val="0000FF"/>
                </a:solidFill>
              </a:rPr>
              <a:t>RIP </a:t>
            </a:r>
            <a:r>
              <a:rPr lang="zh-CN" altLang="en-US" dirty="0">
                <a:solidFill>
                  <a:srgbClr val="0000FF"/>
                </a:solidFill>
              </a:rPr>
              <a:t>允许一条路径</a:t>
            </a:r>
            <a:r>
              <a:rPr lang="zh-CN" altLang="en-US" dirty="0">
                <a:solidFill>
                  <a:srgbClr val="FF0000"/>
                </a:solidFill>
              </a:rPr>
              <a:t>最多</a:t>
            </a:r>
            <a:r>
              <a:rPr lang="zh-CN" altLang="en-US" dirty="0">
                <a:solidFill>
                  <a:srgbClr val="0000FF"/>
                </a:solidFill>
              </a:rPr>
              <a:t>只能包含 </a:t>
            </a:r>
            <a:r>
              <a:rPr lang="en-US" altLang="zh-CN" dirty="0">
                <a:solidFill>
                  <a:srgbClr val="FF0000"/>
                </a:solidFill>
              </a:rPr>
              <a:t>15</a:t>
            </a:r>
            <a:r>
              <a:rPr lang="en-US" altLang="zh-CN" dirty="0">
                <a:solidFill>
                  <a:srgbClr val="0000FF"/>
                </a:solidFill>
              </a:rPr>
              <a:t> </a:t>
            </a:r>
            <a:r>
              <a:rPr lang="zh-CN" altLang="en-US" dirty="0">
                <a:solidFill>
                  <a:srgbClr val="0000FF"/>
                </a:solidFill>
              </a:rPr>
              <a:t>个路由器。</a:t>
            </a:r>
          </a:p>
          <a:p>
            <a:pPr algn="just">
              <a:lnSpc>
                <a:spcPct val="100000"/>
              </a:lnSpc>
            </a:pPr>
            <a:r>
              <a:rPr lang="zh-CN" altLang="en-US" dirty="0">
                <a:solidFill>
                  <a:srgbClr val="FF0000"/>
                </a:solidFill>
              </a:rPr>
              <a:t>“距离”的最大值为 </a:t>
            </a:r>
            <a:r>
              <a:rPr lang="en-US" altLang="zh-CN" dirty="0">
                <a:solidFill>
                  <a:srgbClr val="FF0000"/>
                </a:solidFill>
              </a:rPr>
              <a:t>16 </a:t>
            </a:r>
            <a:r>
              <a:rPr lang="zh-CN" altLang="en-US" dirty="0">
                <a:solidFill>
                  <a:srgbClr val="FF0000"/>
                </a:solidFill>
              </a:rPr>
              <a:t>时即相当于不可达。</a:t>
            </a:r>
            <a:r>
              <a:rPr lang="zh-CN" altLang="en-US" dirty="0"/>
              <a:t>可见 </a:t>
            </a:r>
            <a:r>
              <a:rPr lang="en-US" altLang="zh-CN" dirty="0"/>
              <a:t>RIP</a:t>
            </a:r>
            <a:r>
              <a:rPr lang="en-US" altLang="zh-CN" b="1" dirty="0"/>
              <a:t> </a:t>
            </a:r>
            <a:r>
              <a:rPr lang="zh-CN" altLang="en-US" dirty="0"/>
              <a:t>只适用于小型互联网。</a:t>
            </a:r>
          </a:p>
          <a:p>
            <a:pPr algn="just">
              <a:lnSpc>
                <a:spcPct val="100000"/>
              </a:lnSpc>
            </a:pPr>
            <a:r>
              <a:rPr lang="en-US" altLang="zh-CN" dirty="0">
                <a:solidFill>
                  <a:srgbClr val="FF0000"/>
                </a:solidFill>
              </a:rPr>
              <a:t>RIP </a:t>
            </a:r>
            <a:r>
              <a:rPr lang="zh-CN" altLang="en-US" dirty="0">
                <a:solidFill>
                  <a:srgbClr val="FF0000"/>
                </a:solidFill>
              </a:rPr>
              <a:t>不能在两个网络之间同时使用多条路由。</a:t>
            </a:r>
            <a:r>
              <a:rPr lang="en-US" altLang="zh-CN" dirty="0"/>
              <a:t>RIP </a:t>
            </a:r>
            <a:r>
              <a:rPr lang="zh-CN" altLang="en-US" dirty="0"/>
              <a:t>选择一个具有最少路由器的路由（即最短路由），哪怕还存在另一条高速</a:t>
            </a:r>
            <a:r>
              <a:rPr lang="en-US" altLang="zh-CN" dirty="0"/>
              <a:t>(</a:t>
            </a:r>
            <a:r>
              <a:rPr lang="zh-CN" altLang="en-US" dirty="0"/>
              <a:t>低时延</a:t>
            </a:r>
            <a:r>
              <a:rPr lang="en-US" altLang="zh-CN" dirty="0"/>
              <a:t>)</a:t>
            </a:r>
            <a:r>
              <a:rPr lang="zh-CN" altLang="en-US" dirty="0"/>
              <a:t>但路由器较多的路由。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algn="ctr"/>
            <a:r>
              <a:rPr lang="en-US" altLang="zh-CN" dirty="0"/>
              <a:t>RIP </a:t>
            </a:r>
            <a:r>
              <a:rPr lang="zh-CN" altLang="en-US" dirty="0"/>
              <a:t>协议的三个特点 </a:t>
            </a:r>
          </a:p>
        </p:txBody>
      </p:sp>
      <p:sp>
        <p:nvSpPr>
          <p:cNvPr id="559107" name="Rectangle 3"/>
          <p:cNvSpPr>
            <a:spLocks noGrp="1" noChangeArrowheads="1"/>
          </p:cNvSpPr>
          <p:nvPr>
            <p:ph idx="1"/>
          </p:nvPr>
        </p:nvSpPr>
        <p:spPr>
          <a:noFill/>
        </p:spPr>
        <p:txBody>
          <a:bodyPr/>
          <a:lstStyle/>
          <a:p>
            <a:r>
              <a:rPr lang="en-US" altLang="zh-CN" dirty="0"/>
              <a:t>(1) </a:t>
            </a:r>
            <a:r>
              <a:rPr lang="zh-CN" altLang="en-US" dirty="0"/>
              <a:t>仅和</a:t>
            </a:r>
            <a:r>
              <a:rPr lang="zh-CN" altLang="en-US" dirty="0">
                <a:solidFill>
                  <a:srgbClr val="FF0000"/>
                </a:solidFill>
              </a:rPr>
              <a:t>相邻路由器</a:t>
            </a:r>
            <a:r>
              <a:rPr lang="zh-CN" altLang="en-US" dirty="0"/>
              <a:t>交换信息。 </a:t>
            </a:r>
          </a:p>
          <a:p>
            <a:r>
              <a:rPr lang="en-US" altLang="zh-CN" dirty="0"/>
              <a:t>(2) </a:t>
            </a:r>
            <a:r>
              <a:rPr lang="zh-CN" altLang="en-US" dirty="0"/>
              <a:t>交换的信息是当前本路由器所知道的</a:t>
            </a:r>
            <a:r>
              <a:rPr lang="zh-CN" altLang="en-US" dirty="0">
                <a:solidFill>
                  <a:srgbClr val="FF0000"/>
                </a:solidFill>
              </a:rPr>
              <a:t>全部信息，即自己的路由表。 </a:t>
            </a:r>
          </a:p>
          <a:p>
            <a:r>
              <a:rPr lang="en-US" altLang="zh-CN" dirty="0"/>
              <a:t>(3) </a:t>
            </a:r>
            <a:r>
              <a:rPr lang="zh-CN" altLang="en-US" dirty="0"/>
              <a:t>按固定的时间间隔</a:t>
            </a:r>
            <a:r>
              <a:rPr lang="zh-CN" altLang="en-US" dirty="0">
                <a:solidFill>
                  <a:srgbClr val="FF0000"/>
                </a:solidFill>
              </a:rPr>
              <a:t>交换路由信息，</a:t>
            </a:r>
            <a:r>
              <a:rPr lang="zh-CN" altLang="en-US" dirty="0"/>
              <a:t>例如，每隔 </a:t>
            </a:r>
            <a:r>
              <a:rPr lang="en-US" altLang="zh-CN" dirty="0"/>
              <a:t>30 </a:t>
            </a:r>
            <a:r>
              <a:rPr lang="zh-CN" altLang="en-US" dirty="0"/>
              <a:t>秒。</a:t>
            </a:r>
            <a:r>
              <a:rPr lang="zh-CN" altLang="zh-CN" dirty="0"/>
              <a:t>当网络拓扑发生变化时，路由器也及时向相邻路由器通告拓扑变化后的路由信息。</a:t>
            </a:r>
            <a:endParaRPr lang="zh-CN" alt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Rectangle 2"/>
          <p:cNvSpPr>
            <a:spLocks noGrp="1" noChangeArrowheads="1"/>
          </p:cNvSpPr>
          <p:nvPr>
            <p:ph type="title"/>
          </p:nvPr>
        </p:nvSpPr>
        <p:spPr/>
        <p:txBody>
          <a:bodyPr/>
          <a:lstStyle/>
          <a:p>
            <a:pPr algn="ctr"/>
            <a:r>
              <a:rPr lang="zh-CN" altLang="en-US"/>
              <a:t>路由表的建立 </a:t>
            </a:r>
          </a:p>
        </p:txBody>
      </p:sp>
      <p:sp>
        <p:nvSpPr>
          <p:cNvPr id="560131" name="Rectangle 3"/>
          <p:cNvSpPr>
            <a:spLocks noGrp="1" noChangeArrowheads="1"/>
          </p:cNvSpPr>
          <p:nvPr>
            <p:ph idx="1"/>
          </p:nvPr>
        </p:nvSpPr>
        <p:spPr>
          <a:noFill/>
        </p:spPr>
        <p:txBody>
          <a:bodyPr/>
          <a:lstStyle/>
          <a:p>
            <a:pPr algn="just"/>
            <a:r>
              <a:rPr lang="zh-CN" altLang="en-US" sz="2800" dirty="0"/>
              <a:t>路由器在</a:t>
            </a:r>
            <a:r>
              <a:rPr lang="zh-CN" altLang="en-US" sz="2800" dirty="0">
                <a:solidFill>
                  <a:srgbClr val="FF0000"/>
                </a:solidFill>
              </a:rPr>
              <a:t>刚刚开始工作</a:t>
            </a:r>
            <a:r>
              <a:rPr lang="zh-CN" altLang="en-US" sz="2800" dirty="0"/>
              <a:t>时，只知道到直接连接的网络的距离（此距离定义为</a:t>
            </a:r>
            <a:r>
              <a:rPr lang="en-US" altLang="zh-CN" sz="2800" dirty="0"/>
              <a:t>1</a:t>
            </a:r>
            <a:r>
              <a:rPr lang="zh-CN" altLang="en-US" sz="2800" dirty="0"/>
              <a:t>）。</a:t>
            </a:r>
            <a:r>
              <a:rPr lang="zh-CN" altLang="zh-CN" sz="2800" dirty="0"/>
              <a:t>它的</a:t>
            </a:r>
            <a:r>
              <a:rPr lang="zh-CN" altLang="zh-CN" sz="2800" dirty="0">
                <a:solidFill>
                  <a:srgbClr val="FF0000"/>
                </a:solidFill>
              </a:rPr>
              <a:t>路由表是空的。</a:t>
            </a:r>
            <a:endParaRPr lang="zh-CN" altLang="en-US" sz="2800" dirty="0">
              <a:solidFill>
                <a:srgbClr val="FF0000"/>
              </a:solidFill>
            </a:endParaRPr>
          </a:p>
          <a:p>
            <a:pPr algn="just"/>
            <a:r>
              <a:rPr lang="zh-CN" altLang="en-US" sz="2800" dirty="0"/>
              <a:t>以后，每一个路由器也只和数目非常有限的相邻路由器交换并更新路由信息。</a:t>
            </a:r>
          </a:p>
          <a:p>
            <a:pPr algn="just"/>
            <a:r>
              <a:rPr lang="zh-CN" altLang="en-US" sz="2800" dirty="0"/>
              <a:t>经过若干次更新后，所有的路由器最终都会知道到达本自治系统中任何一个网络的最短距离和下一跳路由器的地址。</a:t>
            </a:r>
          </a:p>
          <a:p>
            <a:pPr algn="just"/>
            <a:r>
              <a:rPr lang="en-US" altLang="zh-CN" sz="2800" dirty="0"/>
              <a:t>RIP </a:t>
            </a:r>
            <a:r>
              <a:rPr lang="zh-CN" altLang="en-US" sz="2800" dirty="0"/>
              <a:t>协议的</a:t>
            </a:r>
            <a:r>
              <a:rPr lang="zh-CN" altLang="en-US" sz="2800" dirty="0">
                <a:solidFill>
                  <a:srgbClr val="FF0000"/>
                </a:solidFill>
              </a:rPr>
              <a:t>收敛 </a:t>
            </a:r>
            <a:r>
              <a:rPr lang="en-US" altLang="zh-CN" sz="2800" dirty="0"/>
              <a:t>(convergence) </a:t>
            </a:r>
            <a:r>
              <a:rPr lang="zh-CN" altLang="en-US" sz="2800" dirty="0"/>
              <a:t>过程较快。</a:t>
            </a:r>
            <a:r>
              <a:rPr lang="zh-CN" altLang="zh-CN" sz="2800" dirty="0"/>
              <a:t>“收敛”就是</a:t>
            </a:r>
            <a:r>
              <a:rPr lang="zh-CN" altLang="en-US" sz="2800" dirty="0"/>
              <a:t>在自治系统中所有的结点都得到正确的路由选择信息的过程。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3"/>
          <p:cNvSpPr/>
          <p:nvPr/>
        </p:nvSpPr>
        <p:spPr>
          <a:xfrm>
            <a:off x="3856990" y="1978660"/>
            <a:ext cx="548640" cy="566420"/>
          </a:xfrm>
          <a:prstGeom prst="ellipse">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 name="椭圆 4"/>
          <p:cNvSpPr/>
          <p:nvPr/>
        </p:nvSpPr>
        <p:spPr>
          <a:xfrm>
            <a:off x="770890" y="3319145"/>
            <a:ext cx="594360" cy="584200"/>
          </a:xfrm>
          <a:prstGeom prst="ellipse">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 name="云形标注 5"/>
          <p:cNvSpPr/>
          <p:nvPr/>
        </p:nvSpPr>
        <p:spPr>
          <a:xfrm>
            <a:off x="2122805" y="2545080"/>
            <a:ext cx="1089660" cy="774065"/>
          </a:xfrm>
          <a:prstGeom prst="cloudCallou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cxnSp>
        <p:nvCxnSpPr>
          <p:cNvPr id="7" name="直接连接符 6"/>
          <p:cNvCxnSpPr>
            <a:stCxn id="5" idx="7"/>
            <a:endCxn id="6" idx="0"/>
          </p:cNvCxnSpPr>
          <p:nvPr/>
        </p:nvCxnSpPr>
        <p:spPr>
          <a:xfrm flipV="1">
            <a:off x="1278255" y="2932430"/>
            <a:ext cx="847725" cy="47244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8" name="直接连接符 7"/>
          <p:cNvCxnSpPr>
            <a:endCxn id="4" idx="2"/>
          </p:cNvCxnSpPr>
          <p:nvPr/>
        </p:nvCxnSpPr>
        <p:spPr>
          <a:xfrm flipV="1">
            <a:off x="3034665" y="2190115"/>
            <a:ext cx="822325" cy="377825"/>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9" name="云形标注 8"/>
          <p:cNvSpPr/>
          <p:nvPr/>
        </p:nvSpPr>
        <p:spPr>
          <a:xfrm>
            <a:off x="2125980" y="4416425"/>
            <a:ext cx="1089660" cy="774065"/>
          </a:xfrm>
          <a:prstGeom prst="cloudCallou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 name="椭圆 9"/>
          <p:cNvSpPr/>
          <p:nvPr/>
        </p:nvSpPr>
        <p:spPr>
          <a:xfrm>
            <a:off x="3975735" y="5363845"/>
            <a:ext cx="594360" cy="584200"/>
          </a:xfrm>
          <a:prstGeom prst="ellipse">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cxnSp>
        <p:nvCxnSpPr>
          <p:cNvPr id="11" name="直接连接符 10"/>
          <p:cNvCxnSpPr/>
          <p:nvPr/>
        </p:nvCxnSpPr>
        <p:spPr>
          <a:xfrm>
            <a:off x="1280160" y="3789045"/>
            <a:ext cx="937895" cy="71882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12" name="直接连接符 11"/>
          <p:cNvCxnSpPr>
            <a:endCxn id="10" idx="2"/>
          </p:cNvCxnSpPr>
          <p:nvPr/>
        </p:nvCxnSpPr>
        <p:spPr>
          <a:xfrm>
            <a:off x="3009900" y="5012055"/>
            <a:ext cx="965835" cy="572135"/>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13" name="云形标注 12"/>
          <p:cNvSpPr/>
          <p:nvPr/>
        </p:nvSpPr>
        <p:spPr>
          <a:xfrm>
            <a:off x="7357745" y="4493260"/>
            <a:ext cx="1089660" cy="774065"/>
          </a:xfrm>
          <a:prstGeom prst="cloudCallou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 name="椭圆 13"/>
          <p:cNvSpPr/>
          <p:nvPr/>
        </p:nvSpPr>
        <p:spPr>
          <a:xfrm>
            <a:off x="6663690" y="3283585"/>
            <a:ext cx="594360" cy="584200"/>
          </a:xfrm>
          <a:prstGeom prst="ellipse">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cxnSp>
        <p:nvCxnSpPr>
          <p:cNvPr id="15" name="直接连接符 14"/>
          <p:cNvCxnSpPr>
            <a:endCxn id="14" idx="5"/>
          </p:cNvCxnSpPr>
          <p:nvPr/>
        </p:nvCxnSpPr>
        <p:spPr>
          <a:xfrm flipH="1" flipV="1">
            <a:off x="7171055" y="3782060"/>
            <a:ext cx="510540" cy="797560"/>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16" name="云形标注 15"/>
          <p:cNvSpPr/>
          <p:nvPr/>
        </p:nvSpPr>
        <p:spPr>
          <a:xfrm>
            <a:off x="4964430" y="2545080"/>
            <a:ext cx="1089660" cy="774065"/>
          </a:xfrm>
          <a:prstGeom prst="cloudCallout">
            <a:avLst/>
          </a:prstGeom>
          <a:solidFill>
            <a:schemeClr val="bg1"/>
          </a:solidFill>
          <a:ln w="19050"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cxnSp>
        <p:nvCxnSpPr>
          <p:cNvPr id="17" name="直接连接符 16"/>
          <p:cNvCxnSpPr>
            <a:endCxn id="4" idx="6"/>
          </p:cNvCxnSpPr>
          <p:nvPr/>
        </p:nvCxnSpPr>
        <p:spPr>
          <a:xfrm flipH="1" flipV="1">
            <a:off x="4405630" y="2261870"/>
            <a:ext cx="763270" cy="375285"/>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18" name="直接连接符 17"/>
          <p:cNvCxnSpPr>
            <a:stCxn id="14" idx="1"/>
          </p:cNvCxnSpPr>
          <p:nvPr/>
        </p:nvCxnSpPr>
        <p:spPr>
          <a:xfrm flipH="1" flipV="1">
            <a:off x="5890260" y="3067685"/>
            <a:ext cx="860425" cy="301625"/>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19" name="直接连接符 18"/>
          <p:cNvCxnSpPr>
            <a:stCxn id="10" idx="6"/>
          </p:cNvCxnSpPr>
          <p:nvPr/>
        </p:nvCxnSpPr>
        <p:spPr>
          <a:xfrm flipV="1">
            <a:off x="4570095" y="5012055"/>
            <a:ext cx="2832735" cy="572135"/>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20" name="文本框 19"/>
          <p:cNvSpPr txBox="1"/>
          <p:nvPr/>
        </p:nvSpPr>
        <p:spPr>
          <a:xfrm>
            <a:off x="804545" y="3949700"/>
            <a:ext cx="527685" cy="368300"/>
          </a:xfrm>
          <a:prstGeom prst="rect">
            <a:avLst/>
          </a:prstGeom>
          <a:noFill/>
          <a:ln w="19050">
            <a:solidFill>
              <a:schemeClr val="tx1"/>
            </a:solidFill>
          </a:ln>
        </p:spPr>
        <p:txBody>
          <a:bodyPr wrap="square" rtlCol="0">
            <a:spAutoFit/>
          </a:bodyPr>
          <a:lstStyle/>
          <a:p>
            <a:r>
              <a:rPr lang="en-US" altLang="zh-CN"/>
              <a:t>R1</a:t>
            </a:r>
          </a:p>
        </p:txBody>
      </p:sp>
      <p:sp>
        <p:nvSpPr>
          <p:cNvPr id="21" name="文本框 20"/>
          <p:cNvSpPr txBox="1"/>
          <p:nvPr/>
        </p:nvSpPr>
        <p:spPr>
          <a:xfrm>
            <a:off x="2403475" y="5363845"/>
            <a:ext cx="527685" cy="368300"/>
          </a:xfrm>
          <a:prstGeom prst="rect">
            <a:avLst/>
          </a:prstGeom>
          <a:noFill/>
          <a:ln w="19050">
            <a:solidFill>
              <a:schemeClr val="tx1"/>
            </a:solidFill>
          </a:ln>
        </p:spPr>
        <p:txBody>
          <a:bodyPr wrap="square" rtlCol="0">
            <a:spAutoFit/>
          </a:bodyPr>
          <a:lstStyle/>
          <a:p>
            <a:r>
              <a:rPr lang="en-US" altLang="zh-CN"/>
              <a:t>N3</a:t>
            </a:r>
          </a:p>
        </p:txBody>
      </p:sp>
      <p:sp>
        <p:nvSpPr>
          <p:cNvPr id="22" name="文本框 21"/>
          <p:cNvSpPr txBox="1"/>
          <p:nvPr/>
        </p:nvSpPr>
        <p:spPr>
          <a:xfrm>
            <a:off x="4009390" y="6029325"/>
            <a:ext cx="527685" cy="368300"/>
          </a:xfrm>
          <a:prstGeom prst="rect">
            <a:avLst/>
          </a:prstGeom>
          <a:noFill/>
          <a:ln w="19050">
            <a:solidFill>
              <a:schemeClr val="tx1"/>
            </a:solidFill>
          </a:ln>
        </p:spPr>
        <p:txBody>
          <a:bodyPr wrap="square" rtlCol="0">
            <a:spAutoFit/>
          </a:bodyPr>
          <a:lstStyle/>
          <a:p>
            <a:r>
              <a:rPr lang="en-US" altLang="zh-CN"/>
              <a:t>R3</a:t>
            </a:r>
          </a:p>
        </p:txBody>
      </p:sp>
      <p:sp>
        <p:nvSpPr>
          <p:cNvPr id="23" name="文本框 22"/>
          <p:cNvSpPr txBox="1"/>
          <p:nvPr/>
        </p:nvSpPr>
        <p:spPr>
          <a:xfrm>
            <a:off x="7800340" y="5363845"/>
            <a:ext cx="527685" cy="368300"/>
          </a:xfrm>
          <a:prstGeom prst="rect">
            <a:avLst/>
          </a:prstGeom>
          <a:noFill/>
          <a:ln w="19050">
            <a:solidFill>
              <a:schemeClr val="tx1"/>
            </a:solidFill>
          </a:ln>
        </p:spPr>
        <p:txBody>
          <a:bodyPr wrap="square" rtlCol="0">
            <a:spAutoFit/>
          </a:bodyPr>
          <a:lstStyle/>
          <a:p>
            <a:r>
              <a:rPr lang="en-US" altLang="zh-CN"/>
              <a:t>N4</a:t>
            </a:r>
          </a:p>
        </p:txBody>
      </p:sp>
      <p:cxnSp>
        <p:nvCxnSpPr>
          <p:cNvPr id="24" name="直接连接符 23"/>
          <p:cNvCxnSpPr/>
          <p:nvPr/>
        </p:nvCxnSpPr>
        <p:spPr>
          <a:xfrm>
            <a:off x="857885" y="3404870"/>
            <a:ext cx="420370" cy="4127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5" name="直接连接符 24"/>
          <p:cNvCxnSpPr/>
          <p:nvPr/>
        </p:nvCxnSpPr>
        <p:spPr>
          <a:xfrm flipV="1">
            <a:off x="857885" y="3404870"/>
            <a:ext cx="420370" cy="4127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6" name="直接连接符 25"/>
          <p:cNvCxnSpPr/>
          <p:nvPr/>
        </p:nvCxnSpPr>
        <p:spPr>
          <a:xfrm>
            <a:off x="4062730" y="5449570"/>
            <a:ext cx="420370" cy="4127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7" name="直接连接符 26"/>
          <p:cNvCxnSpPr/>
          <p:nvPr/>
        </p:nvCxnSpPr>
        <p:spPr>
          <a:xfrm flipV="1">
            <a:off x="4062730" y="5449570"/>
            <a:ext cx="420370" cy="4127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8" name="直接连接符 27"/>
          <p:cNvCxnSpPr/>
          <p:nvPr/>
        </p:nvCxnSpPr>
        <p:spPr>
          <a:xfrm>
            <a:off x="6753225" y="3376295"/>
            <a:ext cx="434975" cy="4254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29" name="直接连接符 28"/>
          <p:cNvCxnSpPr/>
          <p:nvPr/>
        </p:nvCxnSpPr>
        <p:spPr>
          <a:xfrm flipV="1">
            <a:off x="6750685" y="3360420"/>
            <a:ext cx="420370" cy="4127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30" name="直接连接符 29"/>
          <p:cNvCxnSpPr/>
          <p:nvPr/>
        </p:nvCxnSpPr>
        <p:spPr>
          <a:xfrm>
            <a:off x="3937635" y="2061845"/>
            <a:ext cx="387350" cy="400050"/>
          </a:xfrm>
          <a:prstGeom prst="line">
            <a:avLst/>
          </a:prstGeom>
          <a:solidFill>
            <a:schemeClr val="accent1"/>
          </a:solidFill>
          <a:ln w="19050" cap="flat" cmpd="sng" algn="ctr">
            <a:solidFill>
              <a:schemeClr val="tx1"/>
            </a:solidFill>
            <a:prstDash val="solid"/>
            <a:round/>
            <a:headEnd type="none" w="med" len="med"/>
            <a:tailEnd type="none" w="med" len="med"/>
          </a:ln>
        </p:spPr>
      </p:cxnSp>
      <p:cxnSp>
        <p:nvCxnSpPr>
          <p:cNvPr id="31" name="直接连接符 30"/>
          <p:cNvCxnSpPr/>
          <p:nvPr/>
        </p:nvCxnSpPr>
        <p:spPr>
          <a:xfrm flipV="1">
            <a:off x="3937635" y="2061845"/>
            <a:ext cx="387350" cy="400050"/>
          </a:xfrm>
          <a:prstGeom prst="line">
            <a:avLst/>
          </a:prstGeom>
          <a:solidFill>
            <a:schemeClr val="accent1"/>
          </a:solidFill>
          <a:ln w="19050" cap="flat" cmpd="sng" algn="ctr">
            <a:solidFill>
              <a:schemeClr val="tx1"/>
            </a:solidFill>
            <a:prstDash val="solid"/>
            <a:round/>
            <a:headEnd type="none" w="med" len="med"/>
            <a:tailEnd type="none" w="med" len="med"/>
          </a:ln>
        </p:spPr>
      </p:cxnSp>
      <p:sp>
        <p:nvSpPr>
          <p:cNvPr id="32" name="文本框 31"/>
          <p:cNvSpPr txBox="1"/>
          <p:nvPr/>
        </p:nvSpPr>
        <p:spPr>
          <a:xfrm>
            <a:off x="6376670" y="4124960"/>
            <a:ext cx="527685" cy="368300"/>
          </a:xfrm>
          <a:prstGeom prst="rect">
            <a:avLst/>
          </a:prstGeom>
          <a:noFill/>
          <a:ln w="19050">
            <a:solidFill>
              <a:schemeClr val="tx1"/>
            </a:solidFill>
          </a:ln>
        </p:spPr>
        <p:txBody>
          <a:bodyPr wrap="square" rtlCol="0">
            <a:spAutoFit/>
          </a:bodyPr>
          <a:lstStyle/>
          <a:p>
            <a:r>
              <a:rPr lang="en-US" altLang="zh-CN"/>
              <a:t>R2</a:t>
            </a:r>
          </a:p>
        </p:txBody>
      </p:sp>
      <p:sp>
        <p:nvSpPr>
          <p:cNvPr id="33" name="文本框 32"/>
          <p:cNvSpPr txBox="1"/>
          <p:nvPr/>
        </p:nvSpPr>
        <p:spPr>
          <a:xfrm>
            <a:off x="5425440" y="3404870"/>
            <a:ext cx="527685" cy="368300"/>
          </a:xfrm>
          <a:prstGeom prst="rect">
            <a:avLst/>
          </a:prstGeom>
          <a:noFill/>
          <a:ln w="19050">
            <a:solidFill>
              <a:schemeClr val="tx1"/>
            </a:solidFill>
          </a:ln>
        </p:spPr>
        <p:txBody>
          <a:bodyPr wrap="square" rtlCol="0">
            <a:spAutoFit/>
          </a:bodyPr>
          <a:lstStyle/>
          <a:p>
            <a:r>
              <a:rPr lang="en-US" altLang="zh-CN"/>
              <a:t>N2</a:t>
            </a:r>
          </a:p>
        </p:txBody>
      </p:sp>
      <p:sp>
        <p:nvSpPr>
          <p:cNvPr id="34" name="文本框 33"/>
          <p:cNvSpPr txBox="1"/>
          <p:nvPr/>
        </p:nvSpPr>
        <p:spPr>
          <a:xfrm>
            <a:off x="3877945" y="2635250"/>
            <a:ext cx="527685" cy="368300"/>
          </a:xfrm>
          <a:prstGeom prst="rect">
            <a:avLst/>
          </a:prstGeom>
          <a:noFill/>
          <a:ln w="19050">
            <a:solidFill>
              <a:schemeClr val="tx1"/>
            </a:solidFill>
          </a:ln>
        </p:spPr>
        <p:txBody>
          <a:bodyPr wrap="square" rtlCol="0">
            <a:spAutoFit/>
          </a:bodyPr>
          <a:lstStyle/>
          <a:p>
            <a:r>
              <a:rPr lang="en-US" altLang="zh-CN"/>
              <a:t>R0</a:t>
            </a:r>
          </a:p>
        </p:txBody>
      </p:sp>
      <p:sp>
        <p:nvSpPr>
          <p:cNvPr id="35" name="文本框 34"/>
          <p:cNvSpPr txBox="1"/>
          <p:nvPr/>
        </p:nvSpPr>
        <p:spPr>
          <a:xfrm>
            <a:off x="2575560" y="3404870"/>
            <a:ext cx="527685" cy="368300"/>
          </a:xfrm>
          <a:prstGeom prst="rect">
            <a:avLst/>
          </a:prstGeom>
          <a:noFill/>
          <a:ln w="19050">
            <a:solidFill>
              <a:schemeClr val="tx1"/>
            </a:solidFill>
          </a:ln>
        </p:spPr>
        <p:txBody>
          <a:bodyPr wrap="square" rtlCol="0">
            <a:spAutoFit/>
          </a:bodyPr>
          <a:lstStyle/>
          <a:p>
            <a:r>
              <a:rPr lang="en-US" altLang="zh-CN"/>
              <a:t>N1</a:t>
            </a:r>
          </a:p>
        </p:txBody>
      </p:sp>
      <p:cxnSp>
        <p:nvCxnSpPr>
          <p:cNvPr id="36" name="直接箭头连接符 35"/>
          <p:cNvCxnSpPr/>
          <p:nvPr/>
        </p:nvCxnSpPr>
        <p:spPr>
          <a:xfrm flipV="1">
            <a:off x="6753225" y="2306320"/>
            <a:ext cx="1007745" cy="1069975"/>
          </a:xfrm>
          <a:prstGeom prst="straightConnector1">
            <a:avLst/>
          </a:prstGeom>
          <a:solidFill>
            <a:schemeClr val="accent1"/>
          </a:solidFill>
          <a:ln w="19050" cap="flat" cmpd="sng" algn="ctr">
            <a:solidFill>
              <a:schemeClr val="tx1"/>
            </a:solidFill>
            <a:prstDash val="solid"/>
            <a:round/>
            <a:headEnd type="none" w="med" len="med"/>
            <a:tailEnd type="triangle" w="med" len="med"/>
          </a:ln>
        </p:spPr>
      </p:cxnSp>
      <p:sp>
        <p:nvSpPr>
          <p:cNvPr id="37" name="文本框 36"/>
          <p:cNvSpPr txBox="1"/>
          <p:nvPr/>
        </p:nvSpPr>
        <p:spPr>
          <a:xfrm>
            <a:off x="7171055" y="1661160"/>
            <a:ext cx="1929130" cy="645160"/>
          </a:xfrm>
          <a:prstGeom prst="rect">
            <a:avLst/>
          </a:prstGeom>
          <a:noFill/>
        </p:spPr>
        <p:txBody>
          <a:bodyPr wrap="square" rtlCol="0">
            <a:spAutoFit/>
          </a:bodyPr>
          <a:lstStyle/>
          <a:p>
            <a:r>
              <a:rPr lang="zh-CN" altLang="en-US"/>
              <a:t>不是</a:t>
            </a:r>
            <a:r>
              <a:rPr lang="en-US" altLang="zh-CN"/>
              <a:t>R2</a:t>
            </a:r>
            <a:r>
              <a:rPr lang="zh-CN" altLang="en-US"/>
              <a:t>本身，是</a:t>
            </a:r>
            <a:r>
              <a:rPr lang="en-US" altLang="zh-CN"/>
              <a:t>R2</a:t>
            </a:r>
            <a:r>
              <a:rPr lang="zh-CN" altLang="en-US"/>
              <a:t>某个接口</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2"/>
          <p:cNvSpPr>
            <a:spLocks noGrp="1" noChangeArrowheads="1"/>
          </p:cNvSpPr>
          <p:nvPr>
            <p:ph type="title"/>
          </p:nvPr>
        </p:nvSpPr>
        <p:spPr/>
        <p:txBody>
          <a:bodyPr/>
          <a:lstStyle/>
          <a:p>
            <a:pPr algn="ctr"/>
            <a:r>
              <a:rPr lang="en-US" altLang="zh-CN" dirty="0"/>
              <a:t>2. </a:t>
            </a:r>
            <a:r>
              <a:rPr lang="zh-CN" altLang="en-US" dirty="0"/>
              <a:t>距离向量算法</a:t>
            </a:r>
          </a:p>
        </p:txBody>
      </p:sp>
      <p:sp>
        <p:nvSpPr>
          <p:cNvPr id="7" name="Text Box 3"/>
          <p:cNvSpPr txBox="1">
            <a:spLocks noChangeArrowheads="1"/>
          </p:cNvSpPr>
          <p:nvPr/>
        </p:nvSpPr>
        <p:spPr bwMode="auto">
          <a:xfrm>
            <a:off x="560512" y="1124744"/>
            <a:ext cx="8910638" cy="5274136"/>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10000"/>
              </a:lnSpc>
            </a:pPr>
            <a:r>
              <a:rPr kumimoji="0" lang="zh-CN" altLang="en-US" sz="2200" b="1" dirty="0">
                <a:solidFill>
                  <a:srgbClr val="C00000"/>
                </a:solidFill>
                <a:latin typeface="+mn-lt"/>
                <a:ea typeface="黑体" panose="02010609060101010101" pitchFamily="2" charset="-122"/>
              </a:rPr>
              <a:t>路由器收到相邻路由器（其地址为 </a:t>
            </a:r>
            <a:r>
              <a:rPr kumimoji="0" lang="en-US" altLang="zh-CN" sz="2200" b="1" dirty="0">
                <a:solidFill>
                  <a:srgbClr val="C00000"/>
                </a:solidFill>
                <a:latin typeface="+mn-lt"/>
                <a:ea typeface="黑体" panose="02010609060101010101" pitchFamily="2" charset="-122"/>
              </a:rPr>
              <a:t>X</a:t>
            </a:r>
            <a:r>
              <a:rPr kumimoji="0" lang="zh-CN" altLang="en-US" sz="2200" b="1" dirty="0">
                <a:solidFill>
                  <a:srgbClr val="C00000"/>
                </a:solidFill>
                <a:latin typeface="+mn-lt"/>
                <a:ea typeface="黑体" panose="02010609060101010101" pitchFamily="2" charset="-122"/>
              </a:rPr>
              <a:t>）的一个 </a:t>
            </a:r>
            <a:r>
              <a:rPr kumimoji="0" lang="en-US" altLang="zh-CN" sz="2200" b="1" dirty="0">
                <a:solidFill>
                  <a:srgbClr val="C00000"/>
                </a:solidFill>
                <a:latin typeface="+mn-lt"/>
                <a:ea typeface="黑体" panose="02010609060101010101" pitchFamily="2" charset="-122"/>
              </a:rPr>
              <a:t>RIP </a:t>
            </a:r>
            <a:r>
              <a:rPr kumimoji="0" lang="zh-CN" altLang="en-US" sz="2200" b="1" dirty="0">
                <a:solidFill>
                  <a:srgbClr val="C00000"/>
                </a:solidFill>
                <a:latin typeface="+mn-lt"/>
                <a:ea typeface="黑体" panose="02010609060101010101" pitchFamily="2" charset="-122"/>
              </a:rPr>
              <a:t>报文：</a:t>
            </a:r>
          </a:p>
          <a:p>
            <a:pPr>
              <a:lnSpc>
                <a:spcPct val="110000"/>
              </a:lnSpc>
            </a:pPr>
            <a:r>
              <a:rPr kumimoji="0" lang="en-US" altLang="zh-CN" sz="2200" b="1" dirty="0">
                <a:solidFill>
                  <a:srgbClr val="0000CC"/>
                </a:solidFill>
                <a:latin typeface="+mn-lt"/>
                <a:ea typeface="黑体" panose="02010609060101010101" pitchFamily="2" charset="-122"/>
              </a:rPr>
              <a:t>(1) </a:t>
            </a:r>
            <a:r>
              <a:rPr kumimoji="0" lang="zh-CN" altLang="en-US" sz="2200" b="1" dirty="0">
                <a:solidFill>
                  <a:srgbClr val="0000CC"/>
                </a:solidFill>
                <a:latin typeface="+mn-lt"/>
                <a:ea typeface="黑体" panose="02010609060101010101" pitchFamily="2" charset="-122"/>
              </a:rPr>
              <a:t>先修改此 </a:t>
            </a:r>
            <a:r>
              <a:rPr kumimoji="0" lang="en-US" altLang="zh-CN" sz="2200" b="1" dirty="0">
                <a:solidFill>
                  <a:srgbClr val="0000CC"/>
                </a:solidFill>
                <a:latin typeface="+mn-lt"/>
                <a:ea typeface="黑体" panose="02010609060101010101" pitchFamily="2" charset="-122"/>
              </a:rPr>
              <a:t>RIP </a:t>
            </a:r>
            <a:r>
              <a:rPr kumimoji="0" lang="zh-CN" altLang="en-US" sz="2200" b="1" dirty="0">
                <a:solidFill>
                  <a:srgbClr val="0000CC"/>
                </a:solidFill>
                <a:latin typeface="+mn-lt"/>
                <a:ea typeface="黑体" panose="02010609060101010101" pitchFamily="2" charset="-122"/>
              </a:rPr>
              <a:t>报文中的所有项目：把“下一跳”字段中的地址都改为 </a:t>
            </a:r>
            <a:r>
              <a:rPr kumimoji="0" lang="en-US" altLang="zh-CN" sz="2200" b="1" dirty="0">
                <a:solidFill>
                  <a:srgbClr val="0000CC"/>
                </a:solidFill>
                <a:latin typeface="+mn-lt"/>
                <a:ea typeface="黑体" panose="02010609060101010101" pitchFamily="2" charset="-122"/>
              </a:rPr>
              <a:t>X</a:t>
            </a:r>
            <a:r>
              <a:rPr kumimoji="0" lang="zh-CN" altLang="en-US" sz="2200" b="1" dirty="0">
                <a:solidFill>
                  <a:srgbClr val="0000CC"/>
                </a:solidFill>
                <a:latin typeface="+mn-lt"/>
                <a:ea typeface="黑体" panose="02010609060101010101" pitchFamily="2" charset="-122"/>
              </a:rPr>
              <a:t>，并把所有的“距离”字段的值加 </a:t>
            </a:r>
            <a:r>
              <a:rPr kumimoji="0" lang="en-US" altLang="zh-CN" sz="2200" b="1" dirty="0">
                <a:solidFill>
                  <a:srgbClr val="0000CC"/>
                </a:solidFill>
                <a:latin typeface="+mn-lt"/>
                <a:ea typeface="黑体" panose="02010609060101010101" pitchFamily="2" charset="-122"/>
              </a:rPr>
              <a:t>1</a:t>
            </a:r>
            <a:r>
              <a:rPr kumimoji="0" lang="zh-CN" altLang="en-US" sz="2200" b="1" dirty="0">
                <a:solidFill>
                  <a:srgbClr val="0000CC"/>
                </a:solidFill>
                <a:latin typeface="+mn-lt"/>
                <a:ea typeface="黑体" panose="02010609060101010101" pitchFamily="2" charset="-122"/>
              </a:rPr>
              <a:t>。</a:t>
            </a:r>
          </a:p>
          <a:p>
            <a:pPr>
              <a:lnSpc>
                <a:spcPct val="110000"/>
              </a:lnSpc>
            </a:pPr>
            <a:r>
              <a:rPr kumimoji="0" lang="en-US" altLang="zh-CN" sz="2200" b="1" dirty="0">
                <a:solidFill>
                  <a:srgbClr val="0000CC"/>
                </a:solidFill>
                <a:latin typeface="+mn-lt"/>
                <a:ea typeface="黑体" panose="02010609060101010101" pitchFamily="2" charset="-122"/>
              </a:rPr>
              <a:t>(2) </a:t>
            </a:r>
            <a:r>
              <a:rPr kumimoji="0" lang="zh-CN" altLang="en-US" sz="2200" b="1" dirty="0">
                <a:solidFill>
                  <a:srgbClr val="0000CC"/>
                </a:solidFill>
                <a:latin typeface="+mn-lt"/>
                <a:ea typeface="黑体" panose="02010609060101010101" pitchFamily="2" charset="-122"/>
              </a:rPr>
              <a:t>对修改后的 </a:t>
            </a:r>
            <a:r>
              <a:rPr kumimoji="0" lang="en-US" altLang="zh-CN" sz="2200" b="1" dirty="0">
                <a:solidFill>
                  <a:srgbClr val="0000CC"/>
                </a:solidFill>
                <a:latin typeface="+mn-lt"/>
                <a:ea typeface="黑体" panose="02010609060101010101" pitchFamily="2" charset="-122"/>
              </a:rPr>
              <a:t>RIP </a:t>
            </a:r>
            <a:r>
              <a:rPr kumimoji="0" lang="zh-CN" altLang="en-US" sz="2200" b="1" dirty="0">
                <a:solidFill>
                  <a:srgbClr val="0000CC"/>
                </a:solidFill>
                <a:latin typeface="+mn-lt"/>
                <a:ea typeface="黑体" panose="02010609060101010101" pitchFamily="2" charset="-122"/>
              </a:rPr>
              <a:t>报文中的每一个项目，重复以下步骤：</a:t>
            </a:r>
          </a:p>
          <a:p>
            <a:pPr>
              <a:lnSpc>
                <a:spcPct val="110000"/>
              </a:lnSpc>
            </a:pPr>
            <a:r>
              <a:rPr lang="en-US" altLang="zh-CN" sz="2200" b="1" dirty="0">
                <a:solidFill>
                  <a:srgbClr val="0000CC"/>
                </a:solidFill>
                <a:latin typeface="+mn-lt"/>
                <a:ea typeface="黑体" panose="02010609060101010101" pitchFamily="2" charset="-122"/>
              </a:rPr>
              <a:t>     </a:t>
            </a:r>
            <a:r>
              <a:rPr kumimoji="0" lang="zh-CN" altLang="en-US" sz="2200" b="1" dirty="0">
                <a:solidFill>
                  <a:srgbClr val="0000CC"/>
                </a:solidFill>
                <a:latin typeface="+mn-lt"/>
                <a:ea typeface="黑体" panose="02010609060101010101" pitchFamily="2" charset="-122"/>
              </a:rPr>
              <a:t>若项目中的目的网络不在路由表中，则把该项目加到路由表中。</a:t>
            </a:r>
          </a:p>
          <a:p>
            <a:pPr>
              <a:lnSpc>
                <a:spcPct val="110000"/>
              </a:lnSpc>
            </a:pPr>
            <a:r>
              <a:rPr kumimoji="0" lang="zh-CN" altLang="en-US" sz="2200" b="1" dirty="0">
                <a:solidFill>
                  <a:srgbClr val="0000CC"/>
                </a:solidFill>
                <a:latin typeface="+mn-lt"/>
                <a:ea typeface="黑体" panose="02010609060101010101" pitchFamily="2" charset="-122"/>
              </a:rPr>
              <a:t>         否则</a:t>
            </a:r>
          </a:p>
          <a:p>
            <a:pPr marL="1259205" indent="-1259205">
              <a:lnSpc>
                <a:spcPct val="110000"/>
              </a:lnSpc>
            </a:pPr>
            <a:r>
              <a:rPr kumimoji="0" lang="zh-CN" altLang="en-US" sz="2200" b="1" dirty="0">
                <a:solidFill>
                  <a:srgbClr val="0000CC"/>
                </a:solidFill>
                <a:latin typeface="+mn-lt"/>
                <a:ea typeface="黑体" panose="02010609060101010101" pitchFamily="2" charset="-122"/>
              </a:rPr>
              <a:t>             若下一跳字段给出的路由器地址是同样的，则把收到的项目替换原路由表中的项目。</a:t>
            </a:r>
          </a:p>
          <a:p>
            <a:pPr>
              <a:lnSpc>
                <a:spcPct val="110000"/>
              </a:lnSpc>
            </a:pPr>
            <a:r>
              <a:rPr kumimoji="0" lang="zh-CN" altLang="en-US" sz="2200" b="1" dirty="0">
                <a:solidFill>
                  <a:srgbClr val="0000CC"/>
                </a:solidFill>
                <a:latin typeface="+mn-lt"/>
                <a:ea typeface="黑体" panose="02010609060101010101" pitchFamily="2" charset="-122"/>
              </a:rPr>
              <a:t>                否则 </a:t>
            </a:r>
          </a:p>
          <a:p>
            <a:pPr>
              <a:lnSpc>
                <a:spcPct val="110000"/>
              </a:lnSpc>
            </a:pPr>
            <a:r>
              <a:rPr kumimoji="0" lang="zh-CN" altLang="en-US" sz="2200" b="1" dirty="0">
                <a:solidFill>
                  <a:srgbClr val="0000CC"/>
                </a:solidFill>
                <a:latin typeface="+mn-lt"/>
                <a:ea typeface="黑体" panose="02010609060101010101" pitchFamily="2" charset="-122"/>
              </a:rPr>
              <a:t>                    若收到项目中的距离小于路由表中的距离，则进行更新，</a:t>
            </a:r>
          </a:p>
          <a:p>
            <a:pPr>
              <a:lnSpc>
                <a:spcPct val="110000"/>
              </a:lnSpc>
            </a:pPr>
            <a:r>
              <a:rPr kumimoji="0" lang="zh-CN" altLang="en-US" sz="2200" b="1" dirty="0">
                <a:solidFill>
                  <a:srgbClr val="0000CC"/>
                </a:solidFill>
                <a:latin typeface="+mn-lt"/>
                <a:ea typeface="黑体" panose="02010609060101010101" pitchFamily="2" charset="-122"/>
              </a:rPr>
              <a:t>	          否则，什么也不做。</a:t>
            </a:r>
          </a:p>
          <a:p>
            <a:pPr>
              <a:lnSpc>
                <a:spcPct val="110000"/>
              </a:lnSpc>
            </a:pPr>
            <a:r>
              <a:rPr kumimoji="0" lang="en-US" altLang="zh-CN" sz="2200" b="1" dirty="0">
                <a:solidFill>
                  <a:srgbClr val="0000CC"/>
                </a:solidFill>
                <a:latin typeface="+mn-lt"/>
                <a:ea typeface="黑体" panose="02010609060101010101" pitchFamily="2" charset="-122"/>
              </a:rPr>
              <a:t>(3) </a:t>
            </a:r>
            <a:r>
              <a:rPr kumimoji="0" lang="zh-CN" altLang="en-US" sz="2200" b="1" dirty="0">
                <a:solidFill>
                  <a:srgbClr val="0000CC"/>
                </a:solidFill>
                <a:latin typeface="+mn-lt"/>
                <a:ea typeface="黑体" panose="02010609060101010101" pitchFamily="2" charset="-122"/>
              </a:rPr>
              <a:t>若 </a:t>
            </a:r>
            <a:r>
              <a:rPr kumimoji="0" lang="en-US" altLang="zh-CN" sz="2200" b="1" dirty="0">
                <a:solidFill>
                  <a:srgbClr val="0000CC"/>
                </a:solidFill>
                <a:latin typeface="+mn-lt"/>
                <a:ea typeface="黑体" panose="02010609060101010101" pitchFamily="2" charset="-122"/>
              </a:rPr>
              <a:t>3 </a:t>
            </a:r>
            <a:r>
              <a:rPr kumimoji="0" lang="zh-CN" altLang="en-US" sz="2200" b="1" dirty="0">
                <a:solidFill>
                  <a:srgbClr val="0000CC"/>
                </a:solidFill>
                <a:latin typeface="+mn-lt"/>
                <a:ea typeface="黑体" panose="02010609060101010101" pitchFamily="2" charset="-122"/>
              </a:rPr>
              <a:t>分钟还没有收到相邻路由器的更新路由表，则把此相邻路由器记为不可达路由器，即将距离置为 </a:t>
            </a:r>
            <a:r>
              <a:rPr kumimoji="0" lang="en-US" altLang="zh-CN" sz="2200" b="1" dirty="0">
                <a:solidFill>
                  <a:srgbClr val="0000CC"/>
                </a:solidFill>
                <a:latin typeface="+mn-lt"/>
                <a:ea typeface="黑体" panose="02010609060101010101" pitchFamily="2" charset="-122"/>
              </a:rPr>
              <a:t>16</a:t>
            </a:r>
            <a:r>
              <a:rPr kumimoji="0" lang="zh-CN" altLang="en-US" sz="2200" b="1" dirty="0">
                <a:solidFill>
                  <a:srgbClr val="0000CC"/>
                </a:solidFill>
                <a:latin typeface="+mn-lt"/>
                <a:ea typeface="黑体" panose="02010609060101010101" pitchFamily="2" charset="-122"/>
              </a:rPr>
              <a:t>（表示不可达）。</a:t>
            </a:r>
          </a:p>
          <a:p>
            <a:pPr>
              <a:lnSpc>
                <a:spcPct val="110000"/>
              </a:lnSpc>
            </a:pPr>
            <a:r>
              <a:rPr kumimoji="0" lang="en-US" altLang="zh-CN" sz="2200" b="1" dirty="0">
                <a:solidFill>
                  <a:srgbClr val="0000CC"/>
                </a:solidFill>
                <a:latin typeface="+mn-lt"/>
                <a:ea typeface="黑体" panose="02010609060101010101" pitchFamily="2" charset="-122"/>
              </a:rPr>
              <a:t>(4) </a:t>
            </a:r>
            <a:r>
              <a:rPr kumimoji="0" lang="zh-CN" altLang="en-US" sz="2200" b="1" dirty="0">
                <a:solidFill>
                  <a:srgbClr val="0000CC"/>
                </a:solidFill>
                <a:latin typeface="+mn-lt"/>
                <a:ea typeface="黑体" panose="02010609060101010101" pitchFamily="2" charset="-122"/>
              </a:rPr>
              <a:t>返回。</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2"/>
          <p:cNvSpPr>
            <a:spLocks noGrp="1" noChangeArrowheads="1"/>
          </p:cNvSpPr>
          <p:nvPr>
            <p:ph type="title"/>
          </p:nvPr>
        </p:nvSpPr>
        <p:spPr/>
        <p:txBody>
          <a:bodyPr/>
          <a:lstStyle/>
          <a:p>
            <a:pPr algn="ctr"/>
            <a:r>
              <a:rPr lang="en-US" altLang="zh-CN" dirty="0"/>
              <a:t>2. </a:t>
            </a:r>
            <a:r>
              <a:rPr lang="zh-CN" altLang="en-US" dirty="0"/>
              <a:t>距离向量算法</a:t>
            </a:r>
          </a:p>
        </p:txBody>
      </p:sp>
      <p:sp>
        <p:nvSpPr>
          <p:cNvPr id="2" name="内容占位符 1"/>
          <p:cNvSpPr>
            <a:spLocks noGrp="1"/>
          </p:cNvSpPr>
          <p:nvPr>
            <p:ph idx="1"/>
          </p:nvPr>
        </p:nvSpPr>
        <p:spPr/>
        <p:txBody>
          <a:bodyPr/>
          <a:lstStyle/>
          <a:p>
            <a:r>
              <a:rPr lang="zh-CN" altLang="zh-CN" dirty="0"/>
              <a:t>距离向量算法的基础就是</a:t>
            </a:r>
            <a:r>
              <a:rPr lang="en-US" altLang="zh-CN" dirty="0"/>
              <a:t> Bellman-Ford </a:t>
            </a:r>
            <a:r>
              <a:rPr lang="zh-CN" altLang="zh-CN" dirty="0"/>
              <a:t>算法（或</a:t>
            </a:r>
            <a:r>
              <a:rPr lang="en-US" altLang="zh-CN" dirty="0"/>
              <a:t> Ford-Fulkerson </a:t>
            </a:r>
            <a:r>
              <a:rPr lang="zh-CN" altLang="zh-CN" dirty="0"/>
              <a:t>算法）。</a:t>
            </a:r>
            <a:endParaRPr lang="en-US" altLang="zh-CN" dirty="0"/>
          </a:p>
          <a:p>
            <a:r>
              <a:rPr lang="zh-CN" altLang="zh-CN" dirty="0"/>
              <a:t>这种算法的</a:t>
            </a:r>
            <a:r>
              <a:rPr lang="zh-CN" altLang="zh-CN" dirty="0">
                <a:solidFill>
                  <a:srgbClr val="FF0000"/>
                </a:solidFill>
              </a:rPr>
              <a:t>要点</a:t>
            </a:r>
            <a:r>
              <a:rPr lang="zh-CN" altLang="zh-CN" dirty="0"/>
              <a:t>是这样的：</a:t>
            </a:r>
          </a:p>
          <a:p>
            <a:pPr marL="360680" indent="0">
              <a:buNone/>
            </a:pPr>
            <a:r>
              <a:rPr lang="zh-CN" altLang="zh-CN" dirty="0"/>
              <a:t>设</a:t>
            </a:r>
            <a:r>
              <a:rPr lang="en-US" altLang="zh-CN" dirty="0"/>
              <a:t>X</a:t>
            </a:r>
            <a:r>
              <a:rPr lang="zh-CN" altLang="zh-CN" dirty="0"/>
              <a:t>是结点</a:t>
            </a:r>
            <a:r>
              <a:rPr lang="en-US" altLang="zh-CN" dirty="0"/>
              <a:t> A </a:t>
            </a:r>
            <a:r>
              <a:rPr lang="zh-CN" altLang="zh-CN" dirty="0"/>
              <a:t>到</a:t>
            </a:r>
            <a:r>
              <a:rPr lang="en-US" altLang="zh-CN" dirty="0"/>
              <a:t> B </a:t>
            </a:r>
            <a:r>
              <a:rPr lang="zh-CN" altLang="zh-CN" dirty="0"/>
              <a:t>的最短路径上的一个结点。</a:t>
            </a:r>
            <a:endParaRPr lang="en-US" altLang="zh-CN" dirty="0"/>
          </a:p>
          <a:p>
            <a:pPr marL="360680" indent="0">
              <a:buNone/>
            </a:pPr>
            <a:r>
              <a:rPr lang="zh-CN" altLang="zh-CN" dirty="0"/>
              <a:t>若把路径</a:t>
            </a:r>
            <a:r>
              <a:rPr lang="en-US" altLang="zh-CN" dirty="0"/>
              <a:t> A</a:t>
            </a:r>
            <a:r>
              <a:rPr lang="zh-CN" altLang="zh-CN" dirty="0"/>
              <a:t>→</a:t>
            </a:r>
            <a:r>
              <a:rPr lang="en-US" altLang="zh-CN" dirty="0"/>
              <a:t>B </a:t>
            </a:r>
            <a:r>
              <a:rPr lang="zh-CN" altLang="zh-CN" dirty="0"/>
              <a:t>拆成两段路径</a:t>
            </a:r>
            <a:r>
              <a:rPr lang="en-US" altLang="zh-CN" dirty="0"/>
              <a:t> A</a:t>
            </a:r>
            <a:r>
              <a:rPr lang="zh-CN" altLang="zh-CN" dirty="0"/>
              <a:t>→</a:t>
            </a:r>
            <a:r>
              <a:rPr lang="en-US" altLang="zh-CN" dirty="0"/>
              <a:t>X </a:t>
            </a:r>
            <a:r>
              <a:rPr lang="zh-CN" altLang="zh-CN" dirty="0"/>
              <a:t>和</a:t>
            </a:r>
            <a:r>
              <a:rPr lang="en-US" altLang="zh-CN" dirty="0"/>
              <a:t> X</a:t>
            </a:r>
            <a:r>
              <a:rPr lang="zh-CN" altLang="zh-CN" dirty="0"/>
              <a:t>→</a:t>
            </a:r>
            <a:r>
              <a:rPr lang="en-US" altLang="zh-CN" dirty="0"/>
              <a:t>B</a:t>
            </a:r>
            <a:r>
              <a:rPr lang="zh-CN" altLang="zh-CN" dirty="0"/>
              <a:t>，则每一段路径</a:t>
            </a:r>
            <a:r>
              <a:rPr lang="en-US" altLang="zh-CN" dirty="0"/>
              <a:t> A</a:t>
            </a:r>
            <a:r>
              <a:rPr lang="zh-CN" altLang="zh-CN" dirty="0"/>
              <a:t>→</a:t>
            </a:r>
            <a:r>
              <a:rPr lang="en-US" altLang="zh-CN" dirty="0"/>
              <a:t>X </a:t>
            </a:r>
            <a:r>
              <a:rPr lang="zh-CN" altLang="zh-CN" dirty="0"/>
              <a:t>和</a:t>
            </a:r>
            <a:r>
              <a:rPr lang="en-US" altLang="zh-CN" dirty="0"/>
              <a:t> X</a:t>
            </a:r>
            <a:r>
              <a:rPr lang="zh-CN" altLang="zh-CN" dirty="0"/>
              <a:t>→</a:t>
            </a:r>
            <a:r>
              <a:rPr lang="en-US" altLang="zh-CN" dirty="0"/>
              <a:t>B </a:t>
            </a:r>
            <a:r>
              <a:rPr lang="zh-CN" altLang="zh-CN" dirty="0"/>
              <a:t>也都分别是结点</a:t>
            </a:r>
            <a:r>
              <a:rPr lang="en-US" altLang="zh-CN" dirty="0"/>
              <a:t> A </a:t>
            </a:r>
            <a:r>
              <a:rPr lang="zh-CN" altLang="zh-CN" dirty="0"/>
              <a:t>到</a:t>
            </a:r>
            <a:r>
              <a:rPr lang="en-US" altLang="zh-CN" dirty="0"/>
              <a:t> X </a:t>
            </a:r>
            <a:r>
              <a:rPr lang="zh-CN" altLang="zh-CN" dirty="0"/>
              <a:t>和结点</a:t>
            </a:r>
            <a:r>
              <a:rPr lang="en-US" altLang="zh-CN" dirty="0"/>
              <a:t> X </a:t>
            </a:r>
            <a:r>
              <a:rPr lang="zh-CN" altLang="zh-CN" dirty="0"/>
              <a:t>到</a:t>
            </a:r>
            <a:r>
              <a:rPr lang="en-US" altLang="zh-CN" dirty="0"/>
              <a:t> B </a:t>
            </a:r>
            <a:r>
              <a:rPr lang="zh-CN" altLang="zh-CN" dirty="0"/>
              <a:t>的最短路径。</a:t>
            </a:r>
          </a:p>
          <a:p>
            <a:endParaRPr lang="zh-CN" altLang="en-US" dirty="0"/>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idx="4294967295"/>
          </p:nvPr>
        </p:nvSpPr>
        <p:spPr>
          <a:xfrm>
            <a:off x="416496" y="116632"/>
            <a:ext cx="8280920" cy="1512168"/>
          </a:xfrm>
        </p:spPr>
        <p:txBody>
          <a:bodyPr/>
          <a:lstStyle/>
          <a:p>
            <a:pPr>
              <a:lnSpc>
                <a:spcPct val="110000"/>
              </a:lnSpc>
            </a:pPr>
            <a:r>
              <a:rPr lang="en-US" altLang="zh-CN" sz="2800" dirty="0">
                <a:solidFill>
                  <a:srgbClr val="000099"/>
                </a:solidFill>
              </a:rPr>
              <a:t>【</a:t>
            </a:r>
            <a:r>
              <a:rPr lang="zh-CN" altLang="en-US" sz="2800" dirty="0">
                <a:solidFill>
                  <a:srgbClr val="000099"/>
                </a:solidFill>
              </a:rPr>
              <a:t>例</a:t>
            </a:r>
            <a:r>
              <a:rPr lang="en-US" altLang="zh-CN" sz="2800" dirty="0">
                <a:solidFill>
                  <a:srgbClr val="000099"/>
                </a:solidFill>
              </a:rPr>
              <a:t>4-5】</a:t>
            </a:r>
            <a:r>
              <a:rPr lang="zh-CN" altLang="zh-CN" sz="2800" dirty="0">
                <a:solidFill>
                  <a:srgbClr val="000099"/>
                </a:solidFill>
              </a:rPr>
              <a:t>已知路由器</a:t>
            </a:r>
            <a:r>
              <a:rPr lang="en-US" altLang="zh-CN" sz="2800" dirty="0">
                <a:solidFill>
                  <a:srgbClr val="000099"/>
                </a:solidFill>
              </a:rPr>
              <a:t> R</a:t>
            </a:r>
            <a:r>
              <a:rPr lang="en-US" altLang="zh-CN" sz="2800" baseline="-25000" dirty="0">
                <a:solidFill>
                  <a:srgbClr val="000099"/>
                </a:solidFill>
              </a:rPr>
              <a:t>6 </a:t>
            </a:r>
            <a:r>
              <a:rPr lang="zh-CN" altLang="zh-CN" sz="2800" dirty="0">
                <a:solidFill>
                  <a:srgbClr val="000099"/>
                </a:solidFill>
              </a:rPr>
              <a:t>有表</a:t>
            </a:r>
            <a:r>
              <a:rPr lang="en-US" altLang="zh-CN" sz="2800" dirty="0">
                <a:solidFill>
                  <a:srgbClr val="000099"/>
                </a:solidFill>
              </a:rPr>
              <a:t>4-9(a)</a:t>
            </a:r>
            <a:r>
              <a:rPr lang="zh-CN" altLang="zh-CN" sz="2800" dirty="0">
                <a:solidFill>
                  <a:srgbClr val="000099"/>
                </a:solidFill>
              </a:rPr>
              <a:t>所示的路由表。现在收到相邻路由器</a:t>
            </a:r>
            <a:r>
              <a:rPr lang="en-US" altLang="zh-CN" sz="2800" dirty="0">
                <a:solidFill>
                  <a:srgbClr val="000099"/>
                </a:solidFill>
              </a:rPr>
              <a:t> R</a:t>
            </a:r>
            <a:r>
              <a:rPr lang="en-US" altLang="zh-CN" sz="2800" baseline="-25000" dirty="0">
                <a:solidFill>
                  <a:srgbClr val="000099"/>
                </a:solidFill>
              </a:rPr>
              <a:t>4 </a:t>
            </a:r>
            <a:r>
              <a:rPr lang="zh-CN" altLang="zh-CN" sz="2800" dirty="0">
                <a:solidFill>
                  <a:srgbClr val="000099"/>
                </a:solidFill>
              </a:rPr>
              <a:t>发来的路由更新信息，如表</a:t>
            </a:r>
            <a:r>
              <a:rPr lang="en-US" altLang="zh-CN" sz="2800" dirty="0">
                <a:solidFill>
                  <a:srgbClr val="000099"/>
                </a:solidFill>
              </a:rPr>
              <a:t>4-9(b)</a:t>
            </a:r>
            <a:r>
              <a:rPr lang="zh-CN" altLang="zh-CN" sz="2800" dirty="0">
                <a:solidFill>
                  <a:srgbClr val="000099"/>
                </a:solidFill>
              </a:rPr>
              <a:t>所示。试更新路由器</a:t>
            </a:r>
            <a:r>
              <a:rPr lang="en-US" altLang="zh-CN" sz="2800" dirty="0">
                <a:solidFill>
                  <a:srgbClr val="000099"/>
                </a:solidFill>
              </a:rPr>
              <a:t> R</a:t>
            </a:r>
            <a:r>
              <a:rPr lang="en-US" altLang="zh-CN" sz="2800" baseline="-25000" dirty="0">
                <a:solidFill>
                  <a:srgbClr val="000099"/>
                </a:solidFill>
              </a:rPr>
              <a:t>6 </a:t>
            </a:r>
            <a:r>
              <a:rPr lang="zh-CN" altLang="zh-CN" sz="2800" dirty="0">
                <a:solidFill>
                  <a:srgbClr val="000099"/>
                </a:solidFill>
              </a:rPr>
              <a:t>的路由表。</a:t>
            </a:r>
            <a:endParaRPr lang="zh-CN" altLang="en-US" sz="2800" dirty="0">
              <a:solidFill>
                <a:srgbClr val="000099"/>
              </a:solidFill>
            </a:endParaRPr>
          </a:p>
        </p:txBody>
      </p:sp>
      <p:graphicFrame>
        <p:nvGraphicFramePr>
          <p:cNvPr id="3" name="表格 2"/>
          <p:cNvGraphicFramePr>
            <a:graphicFrameLocks noGrp="1"/>
          </p:cNvGraphicFramePr>
          <p:nvPr/>
        </p:nvGraphicFramePr>
        <p:xfrm>
          <a:off x="704528" y="2154560"/>
          <a:ext cx="3816423" cy="1346448"/>
        </p:xfrm>
        <a:graphic>
          <a:graphicData uri="http://schemas.openxmlformats.org/drawingml/2006/table">
            <a:tbl>
              <a:tblPr firstRow="1" firstCol="1" lastRow="1" lastCol="1" bandRow="1" bandCol="1">
                <a:tableStyleId>{5C22544A-7EE6-4342-B048-85BDC9FD1C3A}</a:tableStyleId>
              </a:tblPr>
              <a:tblGrid>
                <a:gridCol w="1272141">
                  <a:extLst>
                    <a:ext uri="{9D8B030D-6E8A-4147-A177-3AD203B41FA5}">
                      <a16:colId xmlns:a16="http://schemas.microsoft.com/office/drawing/2014/main" val="20000"/>
                    </a:ext>
                  </a:extLst>
                </a:gridCol>
                <a:gridCol w="851282">
                  <a:extLst>
                    <a:ext uri="{9D8B030D-6E8A-4147-A177-3AD203B41FA5}">
                      <a16:colId xmlns:a16="http://schemas.microsoft.com/office/drawing/2014/main" val="20001"/>
                    </a:ext>
                  </a:extLst>
                </a:gridCol>
                <a:gridCol w="1693000">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Net2</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3</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5</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4" name="表格 3"/>
          <p:cNvGraphicFramePr>
            <a:graphicFrameLocks noGrp="1"/>
          </p:cNvGraphicFramePr>
          <p:nvPr/>
        </p:nvGraphicFramePr>
        <p:xfrm>
          <a:off x="5817096" y="2153667"/>
          <a:ext cx="3888432" cy="1346448"/>
        </p:xfrm>
        <a:graphic>
          <a:graphicData uri="http://schemas.openxmlformats.org/drawingml/2006/table">
            <a:tbl>
              <a:tblPr firstRow="1" firstCol="1" lastRow="1" lastCol="1" bandRow="1" bandCol="1">
                <a:tableStyleId>{5C22544A-7EE6-4342-B048-85BDC9FD1C3A}</a:tableStyleId>
              </a:tblPr>
              <a:tblGrid>
                <a:gridCol w="1296144">
                  <a:extLst>
                    <a:ext uri="{9D8B030D-6E8A-4147-A177-3AD203B41FA5}">
                      <a16:colId xmlns:a16="http://schemas.microsoft.com/office/drawing/2014/main" val="20000"/>
                    </a:ext>
                  </a:extLst>
                </a:gridCol>
                <a:gridCol w="867345">
                  <a:extLst>
                    <a:ext uri="{9D8B030D-6E8A-4147-A177-3AD203B41FA5}">
                      <a16:colId xmlns:a16="http://schemas.microsoft.com/office/drawing/2014/main" val="20001"/>
                    </a:ext>
                  </a:extLst>
                </a:gridCol>
                <a:gridCol w="1724943">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Net1</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3</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1</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Net2</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1</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直接交付</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5" name="表格 4"/>
          <p:cNvGraphicFramePr>
            <a:graphicFrameLocks noGrp="1"/>
          </p:cNvGraphicFramePr>
          <p:nvPr/>
        </p:nvGraphicFramePr>
        <p:xfrm>
          <a:off x="5817096" y="4530824"/>
          <a:ext cx="3888432" cy="1346448"/>
        </p:xfrm>
        <a:graphic>
          <a:graphicData uri="http://schemas.openxmlformats.org/drawingml/2006/table">
            <a:tbl>
              <a:tblPr firstRow="1" firstCol="1" lastRow="1" lastCol="1" bandRow="1" bandCol="1">
                <a:tableStyleId>{5C22544A-7EE6-4342-B048-85BDC9FD1C3A}</a:tableStyleId>
              </a:tblPr>
              <a:tblGrid>
                <a:gridCol w="1296144">
                  <a:extLst>
                    <a:ext uri="{9D8B030D-6E8A-4147-A177-3AD203B41FA5}">
                      <a16:colId xmlns:a16="http://schemas.microsoft.com/office/drawing/2014/main" val="20000"/>
                    </a:ext>
                  </a:extLst>
                </a:gridCol>
                <a:gridCol w="867344">
                  <a:extLst>
                    <a:ext uri="{9D8B030D-6E8A-4147-A177-3AD203B41FA5}">
                      <a16:colId xmlns:a16="http://schemas.microsoft.com/office/drawing/2014/main" val="20001"/>
                    </a:ext>
                  </a:extLst>
                </a:gridCol>
                <a:gridCol w="1724944">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tc>
                  <a:txBody>
                    <a:bodyPr/>
                    <a:lstStyle/>
                    <a:p>
                      <a:pPr algn="ctr">
                        <a:lnSpc>
                          <a:spcPct val="100000"/>
                        </a:lnSpc>
                        <a:spcAft>
                          <a:spcPts val="0"/>
                        </a:spcAft>
                      </a:pPr>
                      <a:r>
                        <a:rPr lang="zh-CN" sz="2000" b="1">
                          <a:solidFill>
                            <a:schemeClr val="tx1"/>
                          </a:solidFill>
                          <a:effectLst/>
                          <a:latin typeface="+mn-lt"/>
                          <a:ea typeface="黑体" panose="02010609060101010101"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Net1</a:t>
                      </a:r>
                      <a:endParaRPr lang="zh-CN" sz="2000" b="1" dirty="0">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R</a:t>
                      </a:r>
                      <a:r>
                        <a:rPr lang="en-US" sz="2000" b="1" baseline="-25000"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Net2</a:t>
                      </a:r>
                      <a:endParaRPr lang="zh-CN" sz="2000" b="1" dirty="0">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5</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2</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R</a:t>
                      </a:r>
                      <a:r>
                        <a:rPr lang="en-US" sz="2000" b="1" baseline="-25000"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6" name="表格 5"/>
          <p:cNvGraphicFramePr>
            <a:graphicFrameLocks noGrp="1"/>
          </p:cNvGraphicFramePr>
          <p:nvPr/>
        </p:nvGraphicFramePr>
        <p:xfrm>
          <a:off x="704528" y="4586064"/>
          <a:ext cx="3816424" cy="1651248"/>
        </p:xfrm>
        <a:graphic>
          <a:graphicData uri="http://schemas.openxmlformats.org/drawingml/2006/table">
            <a:tbl>
              <a:tblPr firstRow="1" firstCol="1" lastRow="1" lastCol="1" bandRow="1" bandCol="1">
                <a:tableStyleId>{5C22544A-7EE6-4342-B048-85BDC9FD1C3A}</a:tableStyleId>
              </a:tblPr>
              <a:tblGrid>
                <a:gridCol w="1272141">
                  <a:extLst>
                    <a:ext uri="{9D8B030D-6E8A-4147-A177-3AD203B41FA5}">
                      <a16:colId xmlns:a16="http://schemas.microsoft.com/office/drawing/2014/main" val="20000"/>
                    </a:ext>
                  </a:extLst>
                </a:gridCol>
                <a:gridCol w="851283">
                  <a:extLst>
                    <a:ext uri="{9D8B030D-6E8A-4147-A177-3AD203B41FA5}">
                      <a16:colId xmlns:a16="http://schemas.microsoft.com/office/drawing/2014/main" val="20001"/>
                    </a:ext>
                  </a:extLst>
                </a:gridCol>
                <a:gridCol w="1693000">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lnSpc>
                          <a:spcPct val="100000"/>
                        </a:lnSpc>
                        <a:spcAft>
                          <a:spcPts val="0"/>
                        </a:spcAft>
                      </a:pPr>
                      <a:r>
                        <a:rPr lang="zh-CN" sz="2000" b="1" dirty="0">
                          <a:solidFill>
                            <a:schemeClr val="tx1"/>
                          </a:solidFill>
                          <a:effectLst/>
                          <a:latin typeface="+mn-lt"/>
                          <a:ea typeface="黑体" panose="02010609060101010101"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Net1</a:t>
                      </a:r>
                      <a:endParaRPr lang="zh-CN" sz="2000" b="1" dirty="0">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R</a:t>
                      </a:r>
                      <a:r>
                        <a:rPr lang="en-US" sz="2000" b="1" baseline="-25000">
                          <a:solidFill>
                            <a:schemeClr val="tx1"/>
                          </a:solidFill>
                          <a:effectLst/>
                          <a:latin typeface="+mn-lt"/>
                          <a:ea typeface="黑体" panose="02010609060101010101" pitchFamily="2" charset="-122"/>
                        </a:rPr>
                        <a:t>4</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15900">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Net2</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5</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R</a:t>
                      </a:r>
                      <a:r>
                        <a:rPr lang="en-US" sz="2000" b="1" baseline="-25000"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Net3</a:t>
                      </a:r>
                      <a:endParaRPr lang="zh-CN" sz="2000" b="1">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R</a:t>
                      </a:r>
                      <a:r>
                        <a:rPr lang="en-US" sz="2000" b="1" baseline="-25000" dirty="0">
                          <a:solidFill>
                            <a:schemeClr val="tx1"/>
                          </a:solidFill>
                          <a:effectLst/>
                          <a:latin typeface="+mn-lt"/>
                          <a:ea typeface="黑体" panose="02010609060101010101" pitchFamily="2" charset="-122"/>
                        </a:rPr>
                        <a:t>4</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222885">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a:t>
                      </a:r>
                      <a:endParaRPr lang="zh-CN" sz="2000" b="1" dirty="0">
                        <a:solidFill>
                          <a:schemeClr val="tx1"/>
                        </a:solidFill>
                        <a:effectLst/>
                        <a:latin typeface="+mn-lt"/>
                        <a:ea typeface="黑体" panose="02010609060101010101"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anose="02010609060101010101" pitchFamily="2" charset="-122"/>
                        </a:rPr>
                        <a:t>…</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anose="02010609060101010101" pitchFamily="2" charset="-122"/>
                        </a:rPr>
                        <a:t>…</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7" name="矩形 6"/>
          <p:cNvSpPr/>
          <p:nvPr/>
        </p:nvSpPr>
        <p:spPr>
          <a:xfrm>
            <a:off x="776536" y="1772816"/>
            <a:ext cx="3744416" cy="369332"/>
          </a:xfrm>
          <a:prstGeom prst="rect">
            <a:avLst/>
          </a:prstGeom>
        </p:spPr>
        <p:txBody>
          <a:bodyPr wrap="square">
            <a:spAutoFit/>
          </a:bodyPr>
          <a:lstStyle/>
          <a:p>
            <a:pPr algn="ctr"/>
            <a:r>
              <a:rPr lang="zh-CN" altLang="zh-CN" b="1" dirty="0">
                <a:latin typeface="+mn-lt"/>
                <a:ea typeface="黑体" panose="02010609060101010101" pitchFamily="2" charset="-122"/>
              </a:rPr>
              <a:t>表</a:t>
            </a:r>
            <a:r>
              <a:rPr lang="en-US" altLang="zh-CN" b="1" dirty="0">
                <a:latin typeface="+mn-lt"/>
                <a:ea typeface="黑体" panose="02010609060101010101" pitchFamily="2" charset="-122"/>
              </a:rPr>
              <a:t>4-9(a)  </a:t>
            </a:r>
            <a:r>
              <a:rPr lang="zh-CN" altLang="zh-CN" b="1" dirty="0">
                <a:latin typeface="+mn-lt"/>
                <a:ea typeface="黑体" panose="02010609060101010101" pitchFamily="2" charset="-122"/>
              </a:rPr>
              <a:t>路由器</a:t>
            </a:r>
            <a:r>
              <a:rPr lang="en-US" altLang="zh-CN" b="1" dirty="0">
                <a:latin typeface="+mn-lt"/>
                <a:ea typeface="黑体" panose="02010609060101010101" pitchFamily="2" charset="-122"/>
              </a:rPr>
              <a:t>R</a:t>
            </a:r>
            <a:r>
              <a:rPr lang="en-US" altLang="zh-CN" b="1" baseline="-25000" dirty="0">
                <a:latin typeface="+mn-lt"/>
                <a:ea typeface="黑体" panose="02010609060101010101" pitchFamily="2" charset="-122"/>
              </a:rPr>
              <a:t>6</a:t>
            </a:r>
            <a:r>
              <a:rPr lang="zh-CN" altLang="zh-CN" b="1" dirty="0">
                <a:latin typeface="+mn-lt"/>
                <a:ea typeface="黑体" panose="02010609060101010101" pitchFamily="2" charset="-122"/>
              </a:rPr>
              <a:t>的路由表</a:t>
            </a:r>
            <a:endParaRPr lang="zh-CN" altLang="en-US" b="1" dirty="0">
              <a:latin typeface="+mn-lt"/>
              <a:ea typeface="黑体" panose="02010609060101010101" pitchFamily="2" charset="-122"/>
            </a:endParaRPr>
          </a:p>
        </p:txBody>
      </p:sp>
      <p:sp>
        <p:nvSpPr>
          <p:cNvPr id="8" name="矩形 7"/>
          <p:cNvSpPr/>
          <p:nvPr/>
        </p:nvSpPr>
        <p:spPr>
          <a:xfrm>
            <a:off x="5961112" y="1772816"/>
            <a:ext cx="3639138" cy="369332"/>
          </a:xfrm>
          <a:prstGeom prst="rect">
            <a:avLst/>
          </a:prstGeom>
        </p:spPr>
        <p:txBody>
          <a:bodyPr wrap="none">
            <a:spAutoFit/>
          </a:bodyPr>
          <a:lstStyle/>
          <a:p>
            <a:pPr algn="ctr"/>
            <a:r>
              <a:rPr lang="zh-CN" altLang="zh-CN" b="1" dirty="0">
                <a:latin typeface="+mn-lt"/>
                <a:ea typeface="黑体" panose="02010609060101010101" pitchFamily="2" charset="-122"/>
              </a:rPr>
              <a:t>表</a:t>
            </a:r>
            <a:r>
              <a:rPr lang="en-US" altLang="zh-CN" b="1" dirty="0">
                <a:latin typeface="+mn-lt"/>
                <a:ea typeface="黑体" panose="02010609060101010101" pitchFamily="2" charset="-122"/>
              </a:rPr>
              <a:t>4-9(b)  R</a:t>
            </a:r>
            <a:r>
              <a:rPr lang="en-US" altLang="zh-CN" b="1" baseline="-25000" dirty="0">
                <a:latin typeface="+mn-lt"/>
                <a:ea typeface="黑体" panose="02010609060101010101" pitchFamily="2" charset="-122"/>
              </a:rPr>
              <a:t>4</a:t>
            </a:r>
            <a:r>
              <a:rPr lang="zh-CN" altLang="zh-CN" b="1" dirty="0">
                <a:latin typeface="+mn-lt"/>
                <a:ea typeface="黑体" panose="02010609060101010101" pitchFamily="2" charset="-122"/>
              </a:rPr>
              <a:t>发来的路由更新信息</a:t>
            </a:r>
            <a:endParaRPr lang="zh-CN" altLang="en-US" b="1" dirty="0">
              <a:latin typeface="+mn-lt"/>
              <a:ea typeface="黑体" panose="02010609060101010101" pitchFamily="2" charset="-122"/>
            </a:endParaRPr>
          </a:p>
        </p:txBody>
      </p:sp>
      <p:sp>
        <p:nvSpPr>
          <p:cNvPr id="9" name="矩形 8"/>
          <p:cNvSpPr/>
          <p:nvPr/>
        </p:nvSpPr>
        <p:spPr>
          <a:xfrm>
            <a:off x="632521" y="4216732"/>
            <a:ext cx="4104456" cy="369332"/>
          </a:xfrm>
          <a:prstGeom prst="rect">
            <a:avLst/>
          </a:prstGeom>
        </p:spPr>
        <p:txBody>
          <a:bodyPr wrap="square">
            <a:spAutoFit/>
          </a:bodyPr>
          <a:lstStyle/>
          <a:p>
            <a:pPr algn="ctr"/>
            <a:r>
              <a:rPr lang="zh-CN" altLang="zh-CN" b="1" dirty="0">
                <a:latin typeface="+mn-lt"/>
                <a:ea typeface="黑体" panose="02010609060101010101" pitchFamily="2" charset="-122"/>
              </a:rPr>
              <a:t>表</a:t>
            </a:r>
            <a:r>
              <a:rPr lang="en-US" altLang="zh-CN" b="1" dirty="0">
                <a:latin typeface="+mn-lt"/>
                <a:ea typeface="黑体" panose="02010609060101010101" pitchFamily="2" charset="-122"/>
              </a:rPr>
              <a:t>4-9(d)  </a:t>
            </a:r>
            <a:r>
              <a:rPr lang="zh-CN" altLang="zh-CN" b="1" dirty="0">
                <a:latin typeface="+mn-lt"/>
                <a:ea typeface="黑体" panose="02010609060101010101" pitchFamily="2" charset="-122"/>
              </a:rPr>
              <a:t>路由器</a:t>
            </a:r>
            <a:r>
              <a:rPr lang="en-US" altLang="zh-CN" b="1" dirty="0">
                <a:latin typeface="+mn-lt"/>
                <a:ea typeface="黑体" panose="02010609060101010101" pitchFamily="2" charset="-122"/>
              </a:rPr>
              <a:t>R</a:t>
            </a:r>
            <a:r>
              <a:rPr lang="en-US" altLang="zh-CN" b="1" baseline="-25000" dirty="0">
                <a:latin typeface="+mn-lt"/>
                <a:ea typeface="黑体" panose="02010609060101010101" pitchFamily="2" charset="-122"/>
              </a:rPr>
              <a:t>6</a:t>
            </a:r>
            <a:r>
              <a:rPr lang="zh-CN" altLang="zh-CN" b="1" dirty="0">
                <a:latin typeface="+mn-lt"/>
                <a:ea typeface="黑体" panose="02010609060101010101" pitchFamily="2" charset="-122"/>
              </a:rPr>
              <a:t>更新后的路由表</a:t>
            </a:r>
            <a:endParaRPr lang="zh-CN" altLang="en-US" b="1" dirty="0">
              <a:latin typeface="+mn-lt"/>
              <a:ea typeface="黑体" panose="02010609060101010101" pitchFamily="2" charset="-122"/>
            </a:endParaRPr>
          </a:p>
        </p:txBody>
      </p:sp>
      <p:sp>
        <p:nvSpPr>
          <p:cNvPr id="10" name="矩形 9"/>
          <p:cNvSpPr/>
          <p:nvPr/>
        </p:nvSpPr>
        <p:spPr>
          <a:xfrm>
            <a:off x="5961113" y="4139788"/>
            <a:ext cx="3528392" cy="369332"/>
          </a:xfrm>
          <a:prstGeom prst="rect">
            <a:avLst/>
          </a:prstGeom>
        </p:spPr>
        <p:txBody>
          <a:bodyPr wrap="square">
            <a:spAutoFit/>
          </a:bodyPr>
          <a:lstStyle/>
          <a:p>
            <a:pPr algn="ctr"/>
            <a:r>
              <a:rPr lang="zh-CN" altLang="zh-CN" b="1" dirty="0">
                <a:latin typeface="+mn-lt"/>
                <a:ea typeface="黑体" panose="02010609060101010101" pitchFamily="2" charset="-122"/>
              </a:rPr>
              <a:t>表</a:t>
            </a:r>
            <a:r>
              <a:rPr lang="en-US" altLang="zh-CN" b="1" dirty="0">
                <a:latin typeface="+mn-lt"/>
                <a:ea typeface="黑体" panose="02010609060101010101" pitchFamily="2" charset="-122"/>
              </a:rPr>
              <a:t>4-9(c)  </a:t>
            </a:r>
            <a:r>
              <a:rPr lang="zh-CN" altLang="zh-CN" b="1" dirty="0">
                <a:latin typeface="+mn-lt"/>
                <a:ea typeface="黑体" panose="02010609060101010101" pitchFamily="2" charset="-122"/>
              </a:rPr>
              <a:t>修改后的表</a:t>
            </a:r>
            <a:r>
              <a:rPr lang="en-US" altLang="zh-CN" b="1" dirty="0">
                <a:latin typeface="+mn-lt"/>
                <a:ea typeface="黑体" panose="02010609060101010101" pitchFamily="2" charset="-122"/>
              </a:rPr>
              <a:t>4-9(b)</a:t>
            </a:r>
            <a:endParaRPr lang="zh-CN" altLang="en-US" b="1" dirty="0">
              <a:latin typeface="+mn-lt"/>
              <a:ea typeface="黑体" panose="02010609060101010101" pitchFamily="2" charset="-122"/>
            </a:endParaRPr>
          </a:p>
        </p:txBody>
      </p:sp>
      <p:sp>
        <p:nvSpPr>
          <p:cNvPr id="11" name="下箭头 10"/>
          <p:cNvSpPr/>
          <p:nvPr/>
        </p:nvSpPr>
        <p:spPr bwMode="auto">
          <a:xfrm>
            <a:off x="7401272" y="3573016"/>
            <a:ext cx="324037" cy="566772"/>
          </a:xfrm>
          <a:prstGeom prst="downArrow">
            <a:avLst/>
          </a:prstGeom>
          <a:solidFill>
            <a:srgbClr val="66FF66"/>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12" name="TextBox 11"/>
          <p:cNvSpPr txBox="1"/>
          <p:nvPr/>
        </p:nvSpPr>
        <p:spPr>
          <a:xfrm>
            <a:off x="7725309" y="3645024"/>
            <a:ext cx="1005403" cy="369332"/>
          </a:xfrm>
          <a:prstGeom prst="rect">
            <a:avLst/>
          </a:prstGeom>
          <a:noFill/>
        </p:spPr>
        <p:txBody>
          <a:bodyPr wrap="none" rtlCol="0">
            <a:spAutoFit/>
          </a:bodyPr>
          <a:lstStyle/>
          <a:p>
            <a:r>
              <a:rPr lang="zh-CN" altLang="en-US" b="1" dirty="0"/>
              <a:t>距离加</a:t>
            </a:r>
            <a:r>
              <a:rPr lang="en-US" altLang="zh-CN" b="1" dirty="0"/>
              <a:t>1</a:t>
            </a:r>
            <a:endParaRPr lang="zh-CN" altLang="en-US" b="1" dirty="0"/>
          </a:p>
        </p:txBody>
      </p:sp>
      <p:sp>
        <p:nvSpPr>
          <p:cNvPr id="15" name="椭圆 14"/>
          <p:cNvSpPr/>
          <p:nvPr/>
        </p:nvSpPr>
        <p:spPr bwMode="auto">
          <a:xfrm>
            <a:off x="4592960" y="3501008"/>
            <a:ext cx="1080119" cy="936104"/>
          </a:xfrm>
          <a:prstGeom prst="ellipse">
            <a:avLst/>
          </a:prstGeom>
          <a:solidFill>
            <a:schemeClr val="bg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2000" b="1" i="0" u="none" strike="noStrike" cap="none" normalizeH="0" baseline="0" dirty="0">
                <a:ln>
                  <a:noFill/>
                </a:ln>
                <a:solidFill>
                  <a:srgbClr val="0000CC"/>
                </a:solidFill>
                <a:effectLst/>
                <a:latin typeface="+mn-lt"/>
                <a:ea typeface="黑体" panose="02010609060101010101" pitchFamily="2" charset="-122"/>
              </a:rPr>
              <a:t>计算更新</a:t>
            </a:r>
          </a:p>
        </p:txBody>
      </p:sp>
      <p:sp>
        <p:nvSpPr>
          <p:cNvPr id="16" name="直角上箭头 15"/>
          <p:cNvSpPr/>
          <p:nvPr/>
        </p:nvSpPr>
        <p:spPr bwMode="auto">
          <a:xfrm flipH="1">
            <a:off x="4953000" y="4437112"/>
            <a:ext cx="684076" cy="576064"/>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17" name="直角上箭头 16"/>
          <p:cNvSpPr/>
          <p:nvPr/>
        </p:nvSpPr>
        <p:spPr bwMode="auto">
          <a:xfrm flipV="1">
            <a:off x="4664968" y="2924944"/>
            <a:ext cx="684076" cy="576064"/>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18" name="直角上箭头 17"/>
          <p:cNvSpPr/>
          <p:nvPr/>
        </p:nvSpPr>
        <p:spPr bwMode="auto">
          <a:xfrm flipH="1" flipV="1">
            <a:off x="2576735" y="3825044"/>
            <a:ext cx="1944216" cy="468052"/>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title"/>
          </p:nvPr>
        </p:nvSpPr>
        <p:spPr/>
        <p:txBody>
          <a:bodyPr/>
          <a:lstStyle/>
          <a:p>
            <a:pPr algn="ctr"/>
            <a:r>
              <a:rPr lang="en-US" altLang="zh-CN" dirty="0"/>
              <a:t>【</a:t>
            </a:r>
            <a:r>
              <a:rPr lang="zh-CN" altLang="en-US" dirty="0"/>
              <a:t>例</a:t>
            </a:r>
            <a:r>
              <a:rPr lang="en-US" altLang="zh-CN" dirty="0"/>
              <a:t>】</a:t>
            </a:r>
            <a:r>
              <a:rPr lang="zh-CN" altLang="en-US" dirty="0"/>
              <a:t>路由表更新</a:t>
            </a:r>
          </a:p>
        </p:txBody>
      </p:sp>
      <p:grpSp>
        <p:nvGrpSpPr>
          <p:cNvPr id="7" name="Group 20"/>
          <p:cNvGrpSpPr/>
          <p:nvPr/>
        </p:nvGrpSpPr>
        <p:grpSpPr bwMode="auto">
          <a:xfrm>
            <a:off x="677293" y="1380331"/>
            <a:ext cx="8812211" cy="4352925"/>
            <a:chOff x="249" y="720"/>
            <a:chExt cx="5551" cy="2742"/>
          </a:xfrm>
        </p:grpSpPr>
        <p:sp>
          <p:nvSpPr>
            <p:cNvPr id="8" name="Rectangle 6"/>
            <p:cNvSpPr>
              <a:spLocks noChangeArrowheads="1"/>
            </p:cNvSpPr>
            <p:nvPr/>
          </p:nvSpPr>
          <p:spPr bwMode="auto">
            <a:xfrm>
              <a:off x="585" y="1008"/>
              <a:ext cx="768" cy="1008"/>
            </a:xfrm>
            <a:prstGeom prst="rect">
              <a:avLst/>
            </a:prstGeom>
            <a:solidFill>
              <a:srgbClr val="DDDDDD"/>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Net2	4</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Net3	8</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Net6	4</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Net8	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Net9	5</a:t>
              </a:r>
            </a:p>
          </p:txBody>
        </p:sp>
        <p:sp>
          <p:nvSpPr>
            <p:cNvPr id="9" name="Rectangle 7"/>
            <p:cNvSpPr>
              <a:spLocks noChangeArrowheads="1"/>
            </p:cNvSpPr>
            <p:nvPr/>
          </p:nvSpPr>
          <p:spPr bwMode="auto">
            <a:xfrm>
              <a:off x="2025" y="1200"/>
              <a:ext cx="768" cy="1008"/>
            </a:xfrm>
            <a:prstGeom prst="rect">
              <a:avLst/>
            </a:prstGeom>
            <a:solidFill>
              <a:srgbClr val="DDDDDD"/>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Net2	5</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Net3	9</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Net6	5</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Net8	4</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Net9	6</a:t>
              </a:r>
            </a:p>
          </p:txBody>
        </p:sp>
        <p:sp>
          <p:nvSpPr>
            <p:cNvPr id="10" name="Rectangle 8"/>
            <p:cNvSpPr>
              <a:spLocks noChangeArrowheads="1"/>
            </p:cNvSpPr>
            <p:nvPr/>
          </p:nvSpPr>
          <p:spPr bwMode="auto">
            <a:xfrm>
              <a:off x="249" y="2448"/>
              <a:ext cx="1344" cy="1008"/>
            </a:xfrm>
            <a:prstGeom prst="rect">
              <a:avLst/>
            </a:prstGeom>
            <a:solidFill>
              <a:srgbClr val="66FFFF"/>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Net1	7	A</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Net2	2	C</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Net6	8	F</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Net8	4	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Net9	4	F</a:t>
              </a:r>
            </a:p>
          </p:txBody>
        </p:sp>
        <p:sp>
          <p:nvSpPr>
            <p:cNvPr id="11" name="Text Box 9"/>
            <p:cNvSpPr txBox="1">
              <a:spLocks noChangeArrowheads="1"/>
            </p:cNvSpPr>
            <p:nvPr/>
          </p:nvSpPr>
          <p:spPr bwMode="auto">
            <a:xfrm>
              <a:off x="441" y="772"/>
              <a:ext cx="131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从</a:t>
              </a: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C</a:t>
              </a: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来的</a:t>
              </a: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RIP</a:t>
              </a: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报文</a:t>
              </a:r>
            </a:p>
          </p:txBody>
        </p:sp>
        <p:sp>
          <p:nvSpPr>
            <p:cNvPr id="12" name="Text Box 10"/>
            <p:cNvSpPr txBox="1">
              <a:spLocks noChangeArrowheads="1"/>
            </p:cNvSpPr>
            <p:nvPr/>
          </p:nvSpPr>
          <p:spPr bwMode="auto">
            <a:xfrm>
              <a:off x="1822" y="768"/>
              <a:ext cx="1316"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增加跳数以后</a:t>
              </a:r>
            </a:p>
            <a:p>
              <a:pPr marL="0" marR="0" lvl="0" indent="0"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从</a:t>
              </a: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C</a:t>
              </a: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来的</a:t>
              </a:r>
              <a:r>
                <a:rPr kumimoji="0" lang="en-US" altLang="zh-CN"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RIP</a:t>
              </a:r>
              <a:r>
                <a:rPr kumimoji="0" lang="zh-CN" altLang="en-US" sz="2000" b="1" i="0" u="none" strike="noStrike" kern="0" cap="none" spc="0" normalizeH="0" baseline="0" noProof="0">
                  <a:ln>
                    <a:noFill/>
                  </a:ln>
                  <a:solidFill>
                    <a:sysClr val="windowText" lastClr="000000"/>
                  </a:solidFill>
                  <a:effectLst/>
                  <a:uLnTx/>
                  <a:uFillTx/>
                  <a:latin typeface="+mn-lt"/>
                  <a:ea typeface="黑体" panose="02010609060101010101" pitchFamily="2" charset="-122"/>
                </a:rPr>
                <a:t>报文</a:t>
              </a:r>
            </a:p>
          </p:txBody>
        </p:sp>
        <p:sp>
          <p:nvSpPr>
            <p:cNvPr id="13" name="Text Box 11"/>
            <p:cNvSpPr txBox="1">
              <a:spLocks noChangeArrowheads="1"/>
            </p:cNvSpPr>
            <p:nvPr/>
          </p:nvSpPr>
          <p:spPr bwMode="auto">
            <a:xfrm>
              <a:off x="549" y="2198"/>
              <a:ext cx="89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rgbClr val="A50021"/>
                  </a:solidFill>
                  <a:effectLst/>
                  <a:uLnTx/>
                  <a:uFillTx/>
                  <a:latin typeface="+mn-lt"/>
                  <a:ea typeface="黑体" panose="02010609060101010101" pitchFamily="2" charset="-122"/>
                </a:rPr>
                <a:t>旧路由表</a:t>
              </a:r>
            </a:p>
          </p:txBody>
        </p:sp>
        <p:sp>
          <p:nvSpPr>
            <p:cNvPr id="14" name="Rectangle 12"/>
            <p:cNvSpPr>
              <a:spLocks noChangeArrowheads="1"/>
            </p:cNvSpPr>
            <p:nvPr/>
          </p:nvSpPr>
          <p:spPr bwMode="auto">
            <a:xfrm>
              <a:off x="1881" y="2544"/>
              <a:ext cx="1104" cy="384"/>
            </a:xfrm>
            <a:prstGeom prst="rect">
              <a:avLst/>
            </a:prstGeom>
            <a:solidFill>
              <a:schemeClr val="bg2"/>
            </a:solidFill>
            <a:ln w="9525">
              <a:solidFill>
                <a:srgbClr val="000000"/>
              </a:solidFill>
              <a:miter lim="800000"/>
            </a:ln>
            <a:effectLst>
              <a:outerShdw dist="107763" dir="2700000" algn="ctr" rotWithShape="0">
                <a:srgbClr val="1C1C1C"/>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a:ln>
                    <a:noFill/>
                  </a:ln>
                  <a:solidFill>
                    <a:srgbClr val="0000CC"/>
                  </a:solidFill>
                  <a:effectLst/>
                  <a:uLnTx/>
                  <a:uFillTx/>
                  <a:latin typeface="+mn-lt"/>
                  <a:ea typeface="黑体" panose="02010609060101010101" pitchFamily="2" charset="-122"/>
                </a:rPr>
                <a:t>更新算法</a:t>
              </a:r>
            </a:p>
          </p:txBody>
        </p:sp>
        <p:sp>
          <p:nvSpPr>
            <p:cNvPr id="15" name="Rectangle 13"/>
            <p:cNvSpPr>
              <a:spLocks noChangeArrowheads="1"/>
            </p:cNvSpPr>
            <p:nvPr/>
          </p:nvSpPr>
          <p:spPr bwMode="auto">
            <a:xfrm>
              <a:off x="3321" y="2310"/>
              <a:ext cx="1344" cy="1152"/>
            </a:xfrm>
            <a:prstGeom prst="rect">
              <a:avLst/>
            </a:prstGeom>
            <a:solidFill>
              <a:srgbClr val="FFFF66"/>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Net1	7	A</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Net2	5	C</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Net3	9	C</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Net6	5	C</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Net8	4	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Net9	4	F</a:t>
              </a:r>
            </a:p>
          </p:txBody>
        </p:sp>
        <p:sp>
          <p:nvSpPr>
            <p:cNvPr id="16" name="Text Box 14"/>
            <p:cNvSpPr txBox="1">
              <a:spLocks noChangeArrowheads="1"/>
            </p:cNvSpPr>
            <p:nvPr/>
          </p:nvSpPr>
          <p:spPr bwMode="auto">
            <a:xfrm>
              <a:off x="3621" y="2060"/>
              <a:ext cx="89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a:ln>
                    <a:noFill/>
                  </a:ln>
                  <a:solidFill>
                    <a:srgbClr val="A50021"/>
                  </a:solidFill>
                  <a:effectLst/>
                  <a:uLnTx/>
                  <a:uFillTx/>
                  <a:latin typeface="+mn-lt"/>
                  <a:ea typeface="黑体" panose="02010609060101010101" pitchFamily="2" charset="-122"/>
                </a:rPr>
                <a:t>新路由表</a:t>
              </a:r>
            </a:p>
          </p:txBody>
        </p:sp>
        <p:sp>
          <p:nvSpPr>
            <p:cNvPr id="17" name="AutoShape 15"/>
            <p:cNvSpPr>
              <a:spLocks noChangeArrowheads="1"/>
            </p:cNvSpPr>
            <p:nvPr/>
          </p:nvSpPr>
          <p:spPr bwMode="auto">
            <a:xfrm>
              <a:off x="1641" y="2688"/>
              <a:ext cx="192" cy="144"/>
            </a:xfrm>
            <a:prstGeom prst="rightArrow">
              <a:avLst>
                <a:gd name="adj1" fmla="val 50000"/>
                <a:gd name="adj2" fmla="val 33333"/>
              </a:avLst>
            </a:prstGeom>
            <a:solidFill>
              <a:srgbClr val="000000"/>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8" name="AutoShape 16"/>
            <p:cNvSpPr>
              <a:spLocks noChangeArrowheads="1"/>
            </p:cNvSpPr>
            <p:nvPr/>
          </p:nvSpPr>
          <p:spPr bwMode="auto">
            <a:xfrm>
              <a:off x="3081" y="2688"/>
              <a:ext cx="192" cy="144"/>
            </a:xfrm>
            <a:prstGeom prst="rightArrow">
              <a:avLst>
                <a:gd name="adj1" fmla="val 50000"/>
                <a:gd name="adj2" fmla="val 33333"/>
              </a:avLst>
            </a:prstGeom>
            <a:solidFill>
              <a:srgbClr val="000000"/>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19" name="AutoShape 17"/>
            <p:cNvSpPr>
              <a:spLocks noChangeArrowheads="1"/>
            </p:cNvSpPr>
            <p:nvPr/>
          </p:nvSpPr>
          <p:spPr bwMode="auto">
            <a:xfrm>
              <a:off x="2361" y="2304"/>
              <a:ext cx="144" cy="192"/>
            </a:xfrm>
            <a:prstGeom prst="downArrow">
              <a:avLst>
                <a:gd name="adj1" fmla="val 50000"/>
                <a:gd name="adj2" fmla="val 33333"/>
              </a:avLst>
            </a:prstGeom>
            <a:solidFill>
              <a:srgbClr val="000000"/>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0" name="AutoShape 18"/>
            <p:cNvSpPr>
              <a:spLocks noChangeArrowheads="1"/>
            </p:cNvSpPr>
            <p:nvPr/>
          </p:nvSpPr>
          <p:spPr bwMode="auto">
            <a:xfrm>
              <a:off x="1497" y="1584"/>
              <a:ext cx="384" cy="144"/>
            </a:xfrm>
            <a:prstGeom prst="rightArrow">
              <a:avLst>
                <a:gd name="adj1" fmla="val 50000"/>
                <a:gd name="adj2" fmla="val 66667"/>
              </a:avLst>
            </a:prstGeom>
            <a:solidFill>
              <a:srgbClr val="000000"/>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anose="02010609060101010101" pitchFamily="2" charset="-122"/>
              </a:endParaRPr>
            </a:p>
          </p:txBody>
        </p:sp>
        <p:sp>
          <p:nvSpPr>
            <p:cNvPr id="21" name="Rectangle 19"/>
            <p:cNvSpPr>
              <a:spLocks noChangeArrowheads="1"/>
            </p:cNvSpPr>
            <p:nvPr/>
          </p:nvSpPr>
          <p:spPr bwMode="auto">
            <a:xfrm>
              <a:off x="3304" y="720"/>
              <a:ext cx="2496" cy="1296"/>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Net1:</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没有新信息，不变</a:t>
              </a:r>
            </a:p>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Net2:</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相同的下一跳，替换</a:t>
              </a:r>
            </a:p>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Net3:</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一条新路由，增加</a:t>
              </a:r>
            </a:p>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Net6:</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不同的下一跳，新跳数小，替换</a:t>
              </a:r>
            </a:p>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Net8:</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不同的下一跳，跳数相同，不变</a:t>
              </a:r>
            </a:p>
            <a:p>
              <a:pPr marL="0" marR="0" lvl="0" indent="0" defTabSz="914400" eaLnBrk="1" fontAlgn="auto" latinLnBrk="0" hangingPunct="1">
                <a:lnSpc>
                  <a:spcPct val="100000"/>
                </a:lnSpc>
                <a:spcBef>
                  <a:spcPct val="20000"/>
                </a:spcBef>
                <a:spcAft>
                  <a:spcPts val="0"/>
                </a:spcAft>
                <a:buClrTx/>
                <a:buSzTx/>
                <a:buFontTx/>
                <a:buNone/>
                <a:defRPr/>
              </a:pPr>
              <a:r>
                <a:rPr kumimoji="0" lang="en-US" altLang="zh-CN"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Net9:</a:t>
              </a:r>
              <a:r>
                <a:rPr kumimoji="0" lang="zh-CN" altLang="en-US" b="1" i="0" u="none" strike="noStrike" kern="0" cap="none" spc="0" normalizeH="0" baseline="0" noProof="0" dirty="0">
                  <a:ln>
                    <a:noFill/>
                  </a:ln>
                  <a:solidFill>
                    <a:sysClr val="windowText" lastClr="000000"/>
                  </a:solidFill>
                  <a:effectLst/>
                  <a:uLnTx/>
                  <a:uFillTx/>
                  <a:latin typeface="+mn-lt"/>
                  <a:ea typeface="黑体" panose="02010609060101010101" pitchFamily="2" charset="-122"/>
                </a:rPr>
                <a:t>不同的下一跳，新跳数大，不变</a:t>
              </a:r>
            </a:p>
          </p:txBody>
        </p:sp>
      </p:gr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title"/>
          </p:nvPr>
        </p:nvSpPr>
        <p:spPr/>
        <p:txBody>
          <a:bodyPr/>
          <a:lstStyle/>
          <a:p>
            <a:pPr algn="ctr"/>
            <a:r>
              <a:rPr lang="zh-CN" altLang="en-US" sz="4000" dirty="0"/>
              <a:t>路由器之间交换信息与路由表更新</a:t>
            </a:r>
          </a:p>
        </p:txBody>
      </p:sp>
      <p:sp>
        <p:nvSpPr>
          <p:cNvPr id="562179" name="Rectangle 3"/>
          <p:cNvSpPr>
            <a:spLocks noGrp="1" noChangeArrowheads="1"/>
          </p:cNvSpPr>
          <p:nvPr>
            <p:ph idx="1"/>
          </p:nvPr>
        </p:nvSpPr>
        <p:spPr>
          <a:noFill/>
        </p:spPr>
        <p:txBody>
          <a:bodyPr/>
          <a:lstStyle/>
          <a:p>
            <a:pPr algn="just"/>
            <a:r>
              <a:rPr lang="en-US" altLang="zh-CN" dirty="0"/>
              <a:t>RIP </a:t>
            </a:r>
            <a:r>
              <a:rPr lang="zh-CN" altLang="en-US" dirty="0"/>
              <a:t>协议让互联网中的所有路由器都和自己的相邻路由器不断交换路由信息，并不断更新其路由表，使得从每一个路由器到每一个目的网络的路由都是最短的（即跳数最少）。</a:t>
            </a:r>
          </a:p>
          <a:p>
            <a:pPr algn="just"/>
            <a:r>
              <a:rPr lang="zh-CN" altLang="en-US" dirty="0"/>
              <a:t>虽然所有的路由器最终都拥有了整个自治系统的全局路由信息，但由于每一个路由器的位置不同，它们的路由表当然也应当是不同的。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446" name="AutoShape 54"/>
          <p:cNvSpPr>
            <a:spLocks noChangeArrowheads="1"/>
          </p:cNvSpPr>
          <p:nvPr/>
        </p:nvSpPr>
        <p:spPr bwMode="auto">
          <a:xfrm rot="5400000">
            <a:off x="962342" y="4841192"/>
            <a:ext cx="241300" cy="502179"/>
          </a:xfrm>
          <a:prstGeom prst="downArrow">
            <a:avLst>
              <a:gd name="adj1" fmla="val 50000"/>
              <a:gd name="adj2" fmla="val 48026"/>
            </a:avLst>
          </a:prstGeom>
          <a:solidFill>
            <a:srgbClr val="FFC000"/>
          </a:solidFill>
          <a:ln w="9525">
            <a:solidFill>
              <a:srgbClr val="000099"/>
            </a:solidFill>
            <a:miter lim="800000"/>
          </a:ln>
          <a:effectLst/>
        </p:spPr>
        <p:txBody>
          <a:bodyPr vert="eaVert" wrap="none" anchor="ctr"/>
          <a:lstStyle/>
          <a:p>
            <a:endParaRPr lang="zh-CN" altLang="en-US" b="1">
              <a:solidFill>
                <a:srgbClr val="000099"/>
              </a:solidFill>
              <a:latin typeface="+mn-lt"/>
              <a:ea typeface="黑体" panose="02010609060101010101" pitchFamily="2" charset="-122"/>
            </a:endParaRPr>
          </a:p>
        </p:txBody>
      </p:sp>
      <p:sp>
        <p:nvSpPr>
          <p:cNvPr id="571394" name="Line 2"/>
          <p:cNvSpPr>
            <a:spLocks noChangeShapeType="1"/>
          </p:cNvSpPr>
          <p:nvPr/>
        </p:nvSpPr>
        <p:spPr bwMode="auto">
          <a:xfrm>
            <a:off x="4818380" y="1300698"/>
            <a:ext cx="3931444" cy="0"/>
          </a:xfrm>
          <a:prstGeom prst="line">
            <a:avLst/>
          </a:prstGeom>
          <a:noFill/>
          <a:ln w="19050">
            <a:solidFill>
              <a:srgbClr val="0000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395" name="Text Box 3"/>
          <p:cNvSpPr txBox="1">
            <a:spLocks noChangeArrowheads="1"/>
          </p:cNvSpPr>
          <p:nvPr/>
        </p:nvSpPr>
        <p:spPr bwMode="auto">
          <a:xfrm>
            <a:off x="6397149" y="1116612"/>
            <a:ext cx="98456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 4 </a:t>
            </a:r>
            <a:r>
              <a:rPr kumimoji="1" lang="zh-CN" altLang="en-US" sz="2000" b="1" dirty="0">
                <a:solidFill>
                  <a:srgbClr val="000099"/>
                </a:solidFill>
                <a:latin typeface="+mn-lt"/>
                <a:ea typeface="黑体" panose="02010609060101010101" pitchFamily="2" charset="-122"/>
              </a:rPr>
              <a:t>字节</a:t>
            </a:r>
          </a:p>
        </p:txBody>
      </p:sp>
      <p:sp>
        <p:nvSpPr>
          <p:cNvPr id="571396" name="Rectangle 4"/>
          <p:cNvSpPr>
            <a:spLocks noChangeArrowheads="1"/>
          </p:cNvSpPr>
          <p:nvPr/>
        </p:nvSpPr>
        <p:spPr bwMode="auto">
          <a:xfrm>
            <a:off x="1313444" y="4774781"/>
            <a:ext cx="6260042" cy="647700"/>
          </a:xfrm>
          <a:prstGeom prst="rect">
            <a:avLst/>
          </a:prstGeom>
          <a:solidFill>
            <a:srgbClr val="FF66FF"/>
          </a:solidFill>
          <a:ln w="9525">
            <a:solidFill>
              <a:schemeClr val="tx1"/>
            </a:solidFill>
            <a:miter lim="800000"/>
          </a:ln>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571397" name="Line 5"/>
          <p:cNvSpPr>
            <a:spLocks noChangeShapeType="1"/>
          </p:cNvSpPr>
          <p:nvPr/>
        </p:nvSpPr>
        <p:spPr bwMode="auto">
          <a:xfrm flipV="1">
            <a:off x="3440832" y="4541058"/>
            <a:ext cx="4125774"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398" name="Text Box 6"/>
          <p:cNvSpPr txBox="1">
            <a:spLocks noChangeArrowheads="1"/>
          </p:cNvSpPr>
          <p:nvPr/>
        </p:nvSpPr>
        <p:spPr bwMode="auto">
          <a:xfrm>
            <a:off x="4825259" y="4351972"/>
            <a:ext cx="1220206"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RIP </a:t>
            </a:r>
            <a:r>
              <a:rPr kumimoji="1" lang="zh-CN" altLang="en-US" sz="2000" b="1">
                <a:solidFill>
                  <a:srgbClr val="000099"/>
                </a:solidFill>
                <a:latin typeface="+mn-lt"/>
                <a:ea typeface="黑体" panose="02010609060101010101" pitchFamily="2" charset="-122"/>
              </a:rPr>
              <a:t>报文</a:t>
            </a:r>
          </a:p>
        </p:txBody>
      </p:sp>
      <p:sp>
        <p:nvSpPr>
          <p:cNvPr id="571399" name="Rectangle 7"/>
          <p:cNvSpPr>
            <a:spLocks noGrp="1" noChangeArrowheads="1"/>
          </p:cNvSpPr>
          <p:nvPr>
            <p:ph type="title"/>
          </p:nvPr>
        </p:nvSpPr>
        <p:spPr/>
        <p:txBody>
          <a:bodyPr/>
          <a:lstStyle/>
          <a:p>
            <a:r>
              <a:rPr lang="en-US" altLang="zh-CN" dirty="0"/>
              <a:t>3. RIP2 </a:t>
            </a:r>
            <a:r>
              <a:rPr lang="zh-CN" altLang="en-US" dirty="0"/>
              <a:t>协议的报文格式 </a:t>
            </a:r>
          </a:p>
        </p:txBody>
      </p:sp>
      <p:sp>
        <p:nvSpPr>
          <p:cNvPr id="571400" name="Freeform 8"/>
          <p:cNvSpPr/>
          <p:nvPr/>
        </p:nvSpPr>
        <p:spPr bwMode="auto">
          <a:xfrm>
            <a:off x="4197534" y="3497538"/>
            <a:ext cx="4643898" cy="209909"/>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CCFFFF"/>
              </a:gs>
              <a:gs pos="100000">
                <a:srgbClr val="CCECFF"/>
              </a:gs>
            </a:gsLst>
            <a:lin ang="16200000" scaled="1"/>
          </a:gradFill>
          <a:ln>
            <a:noFill/>
          </a:ln>
          <a:effectLst/>
        </p:spPr>
        <p:txBody>
          <a:bodyPr/>
          <a:lstStyle/>
          <a:p>
            <a:endParaRPr lang="zh-CN" altLang="en-US" b="1">
              <a:solidFill>
                <a:srgbClr val="000099"/>
              </a:solidFill>
              <a:latin typeface="+mn-lt"/>
              <a:ea typeface="黑体" panose="02010609060101010101" pitchFamily="2" charset="-122"/>
            </a:endParaRPr>
          </a:p>
        </p:txBody>
      </p:sp>
      <p:sp>
        <p:nvSpPr>
          <p:cNvPr id="571401" name="Rectangle 9"/>
          <p:cNvSpPr>
            <a:spLocks noChangeArrowheads="1"/>
          </p:cNvSpPr>
          <p:nvPr/>
        </p:nvSpPr>
        <p:spPr bwMode="auto">
          <a:xfrm>
            <a:off x="4808061" y="1470300"/>
            <a:ext cx="3976158" cy="2027238"/>
          </a:xfrm>
          <a:prstGeom prst="rect">
            <a:avLst/>
          </a:prstGeom>
          <a:solidFill>
            <a:srgbClr val="CCECFF"/>
          </a:solidFill>
          <a:ln w="9525">
            <a:solidFill>
              <a:schemeClr val="tx1"/>
            </a:solidFill>
            <a:miter lim="800000"/>
          </a:ln>
          <a:effectLst>
            <a:outerShdw dist="1796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571402" name="Line 10"/>
          <p:cNvSpPr>
            <a:spLocks noChangeShapeType="1"/>
          </p:cNvSpPr>
          <p:nvPr/>
        </p:nvSpPr>
        <p:spPr bwMode="auto">
          <a:xfrm>
            <a:off x="2601567" y="5663206"/>
            <a:ext cx="4958161"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03" name="Text Box 11"/>
          <p:cNvSpPr txBox="1">
            <a:spLocks noChangeArrowheads="1"/>
          </p:cNvSpPr>
          <p:nvPr/>
        </p:nvSpPr>
        <p:spPr bwMode="auto">
          <a:xfrm>
            <a:off x="7719284" y="4049777"/>
            <a:ext cx="2144688" cy="1323439"/>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dirty="0">
                <a:solidFill>
                  <a:srgbClr val="000099"/>
                </a:solidFill>
                <a:latin typeface="+mn-lt"/>
                <a:ea typeface="黑体" panose="02010609060101010101" pitchFamily="2" charset="-122"/>
              </a:rPr>
              <a:t>路由信息</a:t>
            </a:r>
          </a:p>
          <a:p>
            <a:pPr algn="ctr"/>
            <a:r>
              <a:rPr kumimoji="1" lang="zh-CN" altLang="en-US" sz="2000" b="1" dirty="0">
                <a:solidFill>
                  <a:srgbClr val="000099"/>
                </a:solidFill>
                <a:latin typeface="+mn-lt"/>
                <a:ea typeface="黑体" panose="02010609060101010101" pitchFamily="2" charset="-122"/>
              </a:rPr>
              <a:t>（</a:t>
            </a:r>
            <a:r>
              <a:rPr kumimoji="1" lang="en-US" altLang="zh-CN" sz="2000" b="1" dirty="0">
                <a:solidFill>
                  <a:srgbClr val="000099"/>
                </a:solidFill>
                <a:latin typeface="+mn-lt"/>
                <a:ea typeface="黑体" panose="02010609060101010101" pitchFamily="2" charset="-122"/>
              </a:rPr>
              <a:t>20 </a:t>
            </a:r>
            <a:r>
              <a:rPr kumimoji="1" lang="zh-CN" altLang="en-US" sz="2000" b="1" dirty="0">
                <a:solidFill>
                  <a:srgbClr val="000099"/>
                </a:solidFill>
                <a:latin typeface="+mn-lt"/>
                <a:ea typeface="黑体" panose="02010609060101010101" pitchFamily="2" charset="-122"/>
              </a:rPr>
              <a:t>字节</a:t>
            </a:r>
            <a:r>
              <a:rPr kumimoji="1" lang="en-US" altLang="zh-CN" sz="2000" b="1" dirty="0">
                <a:solidFill>
                  <a:srgbClr val="000099"/>
                </a:solidFill>
                <a:latin typeface="+mn-lt"/>
                <a:ea typeface="黑体" panose="02010609060101010101" pitchFamily="2" charset="-122"/>
              </a:rPr>
              <a:t>/</a:t>
            </a:r>
            <a:r>
              <a:rPr kumimoji="1" lang="zh-CN" altLang="en-US" sz="2000" b="1" dirty="0">
                <a:solidFill>
                  <a:srgbClr val="000099"/>
                </a:solidFill>
                <a:latin typeface="+mn-lt"/>
                <a:ea typeface="黑体" panose="02010609060101010101" pitchFamily="2" charset="-122"/>
              </a:rPr>
              <a:t>路由）</a:t>
            </a:r>
          </a:p>
          <a:p>
            <a:pPr algn="ctr"/>
            <a:r>
              <a:rPr kumimoji="1" lang="zh-CN" altLang="en-US" sz="2000" b="1" dirty="0">
                <a:solidFill>
                  <a:srgbClr val="000099"/>
                </a:solidFill>
                <a:latin typeface="+mn-lt"/>
                <a:ea typeface="黑体" panose="02010609060101010101" pitchFamily="2" charset="-122"/>
              </a:rPr>
              <a:t>可重复出现</a:t>
            </a:r>
          </a:p>
          <a:p>
            <a:pPr algn="ctr"/>
            <a:r>
              <a:rPr kumimoji="1" lang="zh-CN" altLang="en-US" sz="2000" b="1" dirty="0">
                <a:solidFill>
                  <a:srgbClr val="000099"/>
                </a:solidFill>
                <a:latin typeface="+mn-lt"/>
                <a:ea typeface="黑体" panose="02010609060101010101" pitchFamily="2" charset="-122"/>
              </a:rPr>
              <a:t>最多 </a:t>
            </a:r>
            <a:r>
              <a:rPr kumimoji="1" lang="en-US" altLang="zh-CN" sz="2000" b="1" dirty="0">
                <a:solidFill>
                  <a:srgbClr val="000099"/>
                </a:solidFill>
                <a:latin typeface="+mn-lt"/>
                <a:ea typeface="黑体" panose="02010609060101010101" pitchFamily="2" charset="-122"/>
              </a:rPr>
              <a:t>25 </a:t>
            </a:r>
            <a:r>
              <a:rPr kumimoji="1" lang="zh-CN" altLang="en-US" sz="2000" b="1" dirty="0">
                <a:solidFill>
                  <a:srgbClr val="000099"/>
                </a:solidFill>
                <a:latin typeface="+mn-lt"/>
                <a:ea typeface="黑体" panose="02010609060101010101" pitchFamily="2" charset="-122"/>
              </a:rPr>
              <a:t>个</a:t>
            </a:r>
          </a:p>
        </p:txBody>
      </p:sp>
      <p:sp>
        <p:nvSpPr>
          <p:cNvPr id="571404" name="Rectangle 12"/>
          <p:cNvSpPr>
            <a:spLocks noChangeArrowheads="1"/>
          </p:cNvSpPr>
          <p:nvPr/>
        </p:nvSpPr>
        <p:spPr bwMode="auto">
          <a:xfrm>
            <a:off x="3399551" y="3734434"/>
            <a:ext cx="4160177" cy="62071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05" name="Freeform 13"/>
          <p:cNvSpPr/>
          <p:nvPr/>
        </p:nvSpPr>
        <p:spPr bwMode="auto">
          <a:xfrm>
            <a:off x="432911" y="2757765"/>
            <a:ext cx="3905646" cy="976670"/>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66FF66"/>
              </a:gs>
              <a:gs pos="100000">
                <a:srgbClr val="CCECFF"/>
              </a:gs>
            </a:gsLst>
            <a:lin ang="16200000" scaled="1"/>
          </a:gradFill>
          <a:ln>
            <a:noFill/>
          </a:ln>
          <a:effectLst/>
        </p:spPr>
        <p:txBody>
          <a:bodyPr/>
          <a:lstStyle/>
          <a:p>
            <a:endParaRPr lang="zh-CN" altLang="en-US" b="1">
              <a:solidFill>
                <a:srgbClr val="000099"/>
              </a:solidFill>
              <a:latin typeface="+mn-lt"/>
              <a:ea typeface="黑体" panose="02010609060101010101" pitchFamily="2" charset="-122"/>
            </a:endParaRPr>
          </a:p>
        </p:txBody>
      </p:sp>
      <p:sp>
        <p:nvSpPr>
          <p:cNvPr id="571406" name="Rectangle 14"/>
          <p:cNvSpPr>
            <a:spLocks noChangeArrowheads="1"/>
          </p:cNvSpPr>
          <p:nvPr/>
        </p:nvSpPr>
        <p:spPr bwMode="auto">
          <a:xfrm>
            <a:off x="3399552" y="3721734"/>
            <a:ext cx="4173935" cy="646113"/>
          </a:xfrm>
          <a:prstGeom prst="rect">
            <a:avLst/>
          </a:prstGeom>
          <a:noFill/>
          <a:ln w="1905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07" name="Line 15"/>
          <p:cNvSpPr>
            <a:spLocks noChangeShapeType="1"/>
          </p:cNvSpPr>
          <p:nvPr/>
        </p:nvSpPr>
        <p:spPr bwMode="auto">
          <a:xfrm>
            <a:off x="1313443" y="5383944"/>
            <a:ext cx="0" cy="68525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08" name="Rectangle 16"/>
          <p:cNvSpPr>
            <a:spLocks noChangeArrowheads="1"/>
          </p:cNvSpPr>
          <p:nvPr/>
        </p:nvSpPr>
        <p:spPr bwMode="auto">
          <a:xfrm>
            <a:off x="4443466" y="5577620"/>
            <a:ext cx="1551252" cy="2794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09" name="Line 17"/>
          <p:cNvSpPr>
            <a:spLocks noChangeShapeType="1"/>
          </p:cNvSpPr>
          <p:nvPr/>
        </p:nvSpPr>
        <p:spPr bwMode="auto">
          <a:xfrm>
            <a:off x="1313444" y="5981218"/>
            <a:ext cx="6260042"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0" name="Text Box 18"/>
          <p:cNvSpPr txBox="1">
            <a:spLocks noChangeArrowheads="1"/>
          </p:cNvSpPr>
          <p:nvPr/>
        </p:nvSpPr>
        <p:spPr bwMode="auto">
          <a:xfrm>
            <a:off x="2792760" y="5837202"/>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 </a:t>
            </a:r>
            <a:r>
              <a:rPr kumimoji="1" lang="zh-CN" altLang="en-US" sz="2000" b="1" dirty="0">
                <a:solidFill>
                  <a:srgbClr val="000099"/>
                </a:solidFill>
                <a:latin typeface="+mn-lt"/>
                <a:ea typeface="黑体" panose="02010609060101010101" pitchFamily="2" charset="-122"/>
              </a:rPr>
              <a:t>数据报</a:t>
            </a:r>
          </a:p>
        </p:txBody>
      </p:sp>
      <p:sp>
        <p:nvSpPr>
          <p:cNvPr id="571411" name="Line 19"/>
          <p:cNvSpPr>
            <a:spLocks noChangeShapeType="1"/>
          </p:cNvSpPr>
          <p:nvPr/>
        </p:nvSpPr>
        <p:spPr bwMode="auto">
          <a:xfrm>
            <a:off x="4820099" y="1859238"/>
            <a:ext cx="397615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2" name="Line 20"/>
          <p:cNvSpPr>
            <a:spLocks noChangeShapeType="1"/>
          </p:cNvSpPr>
          <p:nvPr/>
        </p:nvSpPr>
        <p:spPr bwMode="auto">
          <a:xfrm>
            <a:off x="4820099" y="2283100"/>
            <a:ext cx="397615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3" name="Line 21"/>
          <p:cNvSpPr>
            <a:spLocks noChangeShapeType="1"/>
          </p:cNvSpPr>
          <p:nvPr/>
        </p:nvSpPr>
        <p:spPr bwMode="auto">
          <a:xfrm>
            <a:off x="4820099" y="2686325"/>
            <a:ext cx="397615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4" name="Line 22"/>
          <p:cNvSpPr>
            <a:spLocks noChangeShapeType="1"/>
          </p:cNvSpPr>
          <p:nvPr/>
        </p:nvSpPr>
        <p:spPr bwMode="auto">
          <a:xfrm>
            <a:off x="4820099" y="3070500"/>
            <a:ext cx="397615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5" name="Line 23"/>
          <p:cNvSpPr>
            <a:spLocks noChangeShapeType="1"/>
          </p:cNvSpPr>
          <p:nvPr/>
        </p:nvSpPr>
        <p:spPr bwMode="auto">
          <a:xfrm rot="5400000" flipH="1">
            <a:off x="6610534" y="1680644"/>
            <a:ext cx="39528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16" name="Text Box 24"/>
          <p:cNvSpPr txBox="1">
            <a:spLocks noChangeArrowheads="1"/>
          </p:cNvSpPr>
          <p:nvPr/>
        </p:nvSpPr>
        <p:spPr bwMode="auto">
          <a:xfrm>
            <a:off x="7269082" y="140680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路由标记</a:t>
            </a:r>
          </a:p>
        </p:txBody>
      </p:sp>
      <p:sp>
        <p:nvSpPr>
          <p:cNvPr id="571417" name="Text Box 25"/>
          <p:cNvSpPr txBox="1">
            <a:spLocks noChangeArrowheads="1"/>
          </p:cNvSpPr>
          <p:nvPr/>
        </p:nvSpPr>
        <p:spPr bwMode="auto">
          <a:xfrm>
            <a:off x="6195932" y="182748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网络地址</a:t>
            </a:r>
          </a:p>
        </p:txBody>
      </p:sp>
      <p:sp>
        <p:nvSpPr>
          <p:cNvPr id="571418" name="Text Box 26"/>
          <p:cNvSpPr txBox="1">
            <a:spLocks noChangeArrowheads="1"/>
          </p:cNvSpPr>
          <p:nvPr/>
        </p:nvSpPr>
        <p:spPr bwMode="auto">
          <a:xfrm>
            <a:off x="5009276" y="1425851"/>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地址族标识符</a:t>
            </a:r>
          </a:p>
        </p:txBody>
      </p:sp>
      <p:sp>
        <p:nvSpPr>
          <p:cNvPr id="571419" name="Text Box 27"/>
          <p:cNvSpPr txBox="1">
            <a:spLocks noChangeArrowheads="1"/>
          </p:cNvSpPr>
          <p:nvPr/>
        </p:nvSpPr>
        <p:spPr bwMode="auto">
          <a:xfrm>
            <a:off x="6137460" y="3073676"/>
            <a:ext cx="1454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距离 </a:t>
            </a:r>
            <a:r>
              <a:rPr kumimoji="1" lang="en-US" altLang="zh-CN" sz="2000" b="1">
                <a:solidFill>
                  <a:srgbClr val="000099"/>
                </a:solidFill>
                <a:latin typeface="+mn-lt"/>
                <a:ea typeface="黑体" panose="02010609060101010101" pitchFamily="2" charset="-122"/>
              </a:rPr>
              <a:t>(1-16)</a:t>
            </a:r>
          </a:p>
        </p:txBody>
      </p:sp>
      <p:sp>
        <p:nvSpPr>
          <p:cNvPr id="571420" name="Rectangle 28"/>
          <p:cNvSpPr>
            <a:spLocks noChangeArrowheads="1"/>
          </p:cNvSpPr>
          <p:nvPr/>
        </p:nvSpPr>
        <p:spPr bwMode="auto">
          <a:xfrm>
            <a:off x="3399551" y="4787481"/>
            <a:ext cx="4160177" cy="622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21" name="Line 29"/>
          <p:cNvSpPr>
            <a:spLocks noChangeShapeType="1"/>
          </p:cNvSpPr>
          <p:nvPr/>
        </p:nvSpPr>
        <p:spPr bwMode="auto">
          <a:xfrm>
            <a:off x="2617046" y="4774781"/>
            <a:ext cx="0" cy="64770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22" name="Text Box 30"/>
          <p:cNvSpPr txBox="1">
            <a:spLocks noChangeArrowheads="1"/>
          </p:cNvSpPr>
          <p:nvPr/>
        </p:nvSpPr>
        <p:spPr bwMode="auto">
          <a:xfrm>
            <a:off x="1585171" y="4804943"/>
            <a:ext cx="70083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2000" b="1">
                <a:solidFill>
                  <a:srgbClr val="000099"/>
                </a:solidFill>
                <a:latin typeface="+mn-lt"/>
                <a:ea typeface="黑体" panose="02010609060101010101" pitchFamily="2" charset="-122"/>
              </a:rPr>
              <a:t>  IP </a:t>
            </a:r>
          </a:p>
          <a:p>
            <a:pPr>
              <a:lnSpc>
                <a:spcPct val="90000"/>
              </a:lnSpc>
            </a:pPr>
            <a:r>
              <a:rPr kumimoji="1" lang="zh-CN" altLang="en-US" sz="2000" b="1">
                <a:solidFill>
                  <a:srgbClr val="000099"/>
                </a:solidFill>
                <a:latin typeface="+mn-lt"/>
                <a:ea typeface="黑体" panose="02010609060101010101" pitchFamily="2" charset="-122"/>
              </a:rPr>
              <a:t>首部</a:t>
            </a:r>
          </a:p>
        </p:txBody>
      </p:sp>
      <p:sp>
        <p:nvSpPr>
          <p:cNvPr id="571424" name="AutoShape 32"/>
          <p:cNvSpPr>
            <a:spLocks noChangeArrowheads="1"/>
          </p:cNvSpPr>
          <p:nvPr/>
        </p:nvSpPr>
        <p:spPr bwMode="auto">
          <a:xfrm>
            <a:off x="5225970" y="4613066"/>
            <a:ext cx="209392" cy="396542"/>
          </a:xfrm>
          <a:prstGeom prst="downArrow">
            <a:avLst>
              <a:gd name="adj1" fmla="val 50000"/>
              <a:gd name="adj2" fmla="val 48026"/>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99"/>
              </a:solidFill>
              <a:latin typeface="+mn-lt"/>
              <a:ea typeface="黑体" panose="02010609060101010101" pitchFamily="2" charset="-122"/>
            </a:endParaRPr>
          </a:p>
        </p:txBody>
      </p:sp>
      <p:sp>
        <p:nvSpPr>
          <p:cNvPr id="571425" name="Text Box 33"/>
          <p:cNvSpPr txBox="1">
            <a:spLocks noChangeArrowheads="1"/>
          </p:cNvSpPr>
          <p:nvPr/>
        </p:nvSpPr>
        <p:spPr bwMode="auto">
          <a:xfrm>
            <a:off x="2675519" y="4804943"/>
            <a:ext cx="794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2000" b="1">
                <a:solidFill>
                  <a:srgbClr val="000099"/>
                </a:solidFill>
                <a:latin typeface="+mn-lt"/>
                <a:ea typeface="黑体" panose="02010609060101010101" pitchFamily="2" charset="-122"/>
              </a:rPr>
              <a:t>UDP </a:t>
            </a:r>
          </a:p>
          <a:p>
            <a:pPr>
              <a:lnSpc>
                <a:spcPct val="90000"/>
              </a:lnSpc>
            </a:pPr>
            <a:r>
              <a:rPr kumimoji="1" lang="zh-CN" altLang="en-US" sz="2000" b="1">
                <a:solidFill>
                  <a:srgbClr val="000099"/>
                </a:solidFill>
                <a:latin typeface="+mn-lt"/>
                <a:ea typeface="黑体" panose="02010609060101010101" pitchFamily="2" charset="-122"/>
              </a:rPr>
              <a:t>首部</a:t>
            </a:r>
          </a:p>
        </p:txBody>
      </p:sp>
      <p:sp>
        <p:nvSpPr>
          <p:cNvPr id="571426" name="Line 34"/>
          <p:cNvSpPr>
            <a:spLocks noChangeShapeType="1"/>
          </p:cNvSpPr>
          <p:nvPr/>
        </p:nvSpPr>
        <p:spPr bwMode="auto">
          <a:xfrm>
            <a:off x="3399551" y="4787481"/>
            <a:ext cx="0" cy="646112"/>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27" name="AutoShape 35"/>
          <p:cNvSpPr/>
          <p:nvPr/>
        </p:nvSpPr>
        <p:spPr bwMode="auto">
          <a:xfrm>
            <a:off x="8841432" y="1487764"/>
            <a:ext cx="266567" cy="1976437"/>
          </a:xfrm>
          <a:prstGeom prst="rightBrace">
            <a:avLst>
              <a:gd name="adj1" fmla="val 66936"/>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28" name="Line 36"/>
          <p:cNvSpPr>
            <a:spLocks noChangeShapeType="1"/>
          </p:cNvSpPr>
          <p:nvPr/>
        </p:nvSpPr>
        <p:spPr bwMode="auto">
          <a:xfrm>
            <a:off x="4135622" y="3718559"/>
            <a:ext cx="0" cy="6461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29" name="Line 37"/>
          <p:cNvSpPr>
            <a:spLocks noChangeShapeType="1"/>
          </p:cNvSpPr>
          <p:nvPr/>
        </p:nvSpPr>
        <p:spPr bwMode="auto">
          <a:xfrm>
            <a:off x="3399551" y="4355197"/>
            <a:ext cx="0" cy="32226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30" name="Line 38"/>
          <p:cNvSpPr>
            <a:spLocks noChangeShapeType="1"/>
          </p:cNvSpPr>
          <p:nvPr/>
        </p:nvSpPr>
        <p:spPr bwMode="auto">
          <a:xfrm>
            <a:off x="7575268" y="4325034"/>
            <a:ext cx="0" cy="32226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32" name="Text Box 40"/>
          <p:cNvSpPr txBox="1">
            <a:spLocks noChangeArrowheads="1"/>
          </p:cNvSpPr>
          <p:nvPr/>
        </p:nvSpPr>
        <p:spPr bwMode="auto">
          <a:xfrm>
            <a:off x="5069469" y="3861200"/>
            <a:ext cx="1210588"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路由部分</a:t>
            </a:r>
          </a:p>
        </p:txBody>
      </p:sp>
      <p:sp>
        <p:nvSpPr>
          <p:cNvPr id="571439" name="Line 47"/>
          <p:cNvSpPr>
            <a:spLocks noChangeShapeType="1"/>
          </p:cNvSpPr>
          <p:nvPr/>
        </p:nvSpPr>
        <p:spPr bwMode="auto">
          <a:xfrm>
            <a:off x="443230" y="2164794"/>
            <a:ext cx="3929723" cy="0"/>
          </a:xfrm>
          <a:prstGeom prst="line">
            <a:avLst/>
          </a:prstGeom>
          <a:noFill/>
          <a:ln w="19050">
            <a:solidFill>
              <a:srgbClr val="0000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40" name="Text Box 48"/>
          <p:cNvSpPr txBox="1">
            <a:spLocks noChangeArrowheads="1"/>
          </p:cNvSpPr>
          <p:nvPr/>
        </p:nvSpPr>
        <p:spPr bwMode="auto">
          <a:xfrm>
            <a:off x="2020278" y="1980708"/>
            <a:ext cx="98456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 4 </a:t>
            </a:r>
            <a:r>
              <a:rPr kumimoji="1" lang="zh-CN" altLang="en-US" sz="2000" b="1" dirty="0">
                <a:solidFill>
                  <a:srgbClr val="000099"/>
                </a:solidFill>
                <a:latin typeface="+mn-lt"/>
                <a:ea typeface="黑体" panose="02010609060101010101" pitchFamily="2" charset="-122"/>
              </a:rPr>
              <a:t>字节</a:t>
            </a:r>
          </a:p>
        </p:txBody>
      </p:sp>
      <p:sp>
        <p:nvSpPr>
          <p:cNvPr id="571441" name="Text Box 49"/>
          <p:cNvSpPr txBox="1">
            <a:spLocks noChangeArrowheads="1"/>
          </p:cNvSpPr>
          <p:nvPr/>
        </p:nvSpPr>
        <p:spPr bwMode="auto">
          <a:xfrm>
            <a:off x="6195932" y="225928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子网掩码</a:t>
            </a:r>
          </a:p>
        </p:txBody>
      </p:sp>
      <p:sp>
        <p:nvSpPr>
          <p:cNvPr id="571442" name="Text Box 50"/>
          <p:cNvSpPr txBox="1">
            <a:spLocks noChangeArrowheads="1"/>
          </p:cNvSpPr>
          <p:nvPr/>
        </p:nvSpPr>
        <p:spPr bwMode="auto">
          <a:xfrm>
            <a:off x="5769424" y="2641876"/>
            <a:ext cx="22365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下一跳路由器地址</a:t>
            </a:r>
          </a:p>
        </p:txBody>
      </p:sp>
      <p:sp>
        <p:nvSpPr>
          <p:cNvPr id="571443" name="Text Box 51"/>
          <p:cNvSpPr txBox="1">
            <a:spLocks noChangeArrowheads="1"/>
          </p:cNvSpPr>
          <p:nvPr/>
        </p:nvSpPr>
        <p:spPr bwMode="auto">
          <a:xfrm>
            <a:off x="4168299" y="5477162"/>
            <a:ext cx="2061210" cy="39878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UDP </a:t>
            </a:r>
            <a:r>
              <a:rPr kumimoji="1" lang="zh-CN" altLang="en-US" sz="2000" b="1" dirty="0">
                <a:solidFill>
                  <a:srgbClr val="000099"/>
                </a:solidFill>
                <a:latin typeface="+mn-lt"/>
                <a:ea typeface="黑体" panose="02010609060101010101" pitchFamily="2" charset="-122"/>
              </a:rPr>
              <a:t>用户数据报</a:t>
            </a:r>
          </a:p>
        </p:txBody>
      </p:sp>
      <p:sp>
        <p:nvSpPr>
          <p:cNvPr id="571444" name="Line 52"/>
          <p:cNvSpPr>
            <a:spLocks noChangeShapeType="1"/>
          </p:cNvSpPr>
          <p:nvPr/>
        </p:nvSpPr>
        <p:spPr bwMode="auto">
          <a:xfrm>
            <a:off x="2620486" y="5383946"/>
            <a:ext cx="0" cy="33337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45" name="Freeform 53"/>
          <p:cNvSpPr/>
          <p:nvPr/>
        </p:nvSpPr>
        <p:spPr bwMode="auto">
          <a:xfrm>
            <a:off x="9062786" y="2475188"/>
            <a:ext cx="624284" cy="1586067"/>
          </a:xfrm>
          <a:custGeom>
            <a:avLst/>
            <a:gdLst>
              <a:gd name="T0" fmla="*/ 46 w 363"/>
              <a:gd name="T1" fmla="*/ 0 h 1088"/>
              <a:gd name="T2" fmla="*/ 363 w 363"/>
              <a:gd name="T3" fmla="*/ 0 h 1088"/>
              <a:gd name="T4" fmla="*/ 0 w 363"/>
              <a:gd name="T5" fmla="*/ 1088 h 1088"/>
            </a:gdLst>
            <a:ahLst/>
            <a:cxnLst>
              <a:cxn ang="0">
                <a:pos x="T0" y="T1"/>
              </a:cxn>
              <a:cxn ang="0">
                <a:pos x="T2" y="T3"/>
              </a:cxn>
              <a:cxn ang="0">
                <a:pos x="T4" y="T5"/>
              </a:cxn>
            </a:cxnLst>
            <a:rect l="0" t="0" r="r" b="b"/>
            <a:pathLst>
              <a:path w="363" h="1088">
                <a:moveTo>
                  <a:pt x="46" y="0"/>
                </a:moveTo>
                <a:lnTo>
                  <a:pt x="363" y="0"/>
                </a:lnTo>
                <a:lnTo>
                  <a:pt x="0" y="1088"/>
                </a:lnTo>
              </a:path>
            </a:pathLst>
          </a:custGeom>
          <a:noFill/>
          <a:ln w="28575" cmpd="sng">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2" name="矩形 1"/>
          <p:cNvSpPr/>
          <p:nvPr/>
        </p:nvSpPr>
        <p:spPr bwMode="auto">
          <a:xfrm>
            <a:off x="3399552" y="3734434"/>
            <a:ext cx="736070" cy="617538"/>
          </a:xfrm>
          <a:prstGeom prst="rect">
            <a:avLst/>
          </a:prstGeom>
          <a:solidFill>
            <a:srgbClr val="66FF66"/>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571431" name="Text Box 39"/>
          <p:cNvSpPr txBox="1">
            <a:spLocks noChangeArrowheads="1"/>
          </p:cNvSpPr>
          <p:nvPr/>
        </p:nvSpPr>
        <p:spPr bwMode="auto">
          <a:xfrm>
            <a:off x="3440832" y="3841560"/>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首部</a:t>
            </a:r>
          </a:p>
        </p:txBody>
      </p:sp>
      <p:sp>
        <p:nvSpPr>
          <p:cNvPr id="56" name="Line 15"/>
          <p:cNvSpPr>
            <a:spLocks noChangeShapeType="1"/>
          </p:cNvSpPr>
          <p:nvPr/>
        </p:nvSpPr>
        <p:spPr bwMode="auto">
          <a:xfrm>
            <a:off x="7575268" y="5383944"/>
            <a:ext cx="0" cy="685251"/>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33" name="Rectangle 41"/>
          <p:cNvSpPr>
            <a:spLocks noChangeArrowheads="1"/>
          </p:cNvSpPr>
          <p:nvPr/>
        </p:nvSpPr>
        <p:spPr bwMode="auto">
          <a:xfrm>
            <a:off x="420872" y="2356125"/>
            <a:ext cx="3931444" cy="401638"/>
          </a:xfrm>
          <a:prstGeom prst="rect">
            <a:avLst/>
          </a:prstGeom>
          <a:solidFill>
            <a:srgbClr val="CCECFF"/>
          </a:solidFill>
          <a:ln w="9525">
            <a:solidFill>
              <a:schemeClr val="tx1"/>
            </a:solidFill>
            <a:miter lim="800000"/>
          </a:ln>
          <a:effectLst>
            <a:outerShdw dist="1796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571434" name="Line 42"/>
          <p:cNvSpPr>
            <a:spLocks noChangeShapeType="1"/>
          </p:cNvSpPr>
          <p:nvPr/>
        </p:nvSpPr>
        <p:spPr bwMode="auto">
          <a:xfrm rot="-5400000">
            <a:off x="1199673" y="2559325"/>
            <a:ext cx="40640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35" name="Line 43"/>
          <p:cNvSpPr>
            <a:spLocks noChangeShapeType="1"/>
          </p:cNvSpPr>
          <p:nvPr/>
        </p:nvSpPr>
        <p:spPr bwMode="auto">
          <a:xfrm rot="-5400000">
            <a:off x="2182600" y="2560119"/>
            <a:ext cx="407988"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571436" name="Text Box 44"/>
          <p:cNvSpPr txBox="1">
            <a:spLocks noChangeArrowheads="1"/>
          </p:cNvSpPr>
          <p:nvPr/>
        </p:nvSpPr>
        <p:spPr bwMode="auto">
          <a:xfrm>
            <a:off x="2890493" y="2314851"/>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必为 </a:t>
            </a:r>
            <a:r>
              <a:rPr kumimoji="1" lang="en-US" altLang="zh-CN" sz="2000" b="1">
                <a:solidFill>
                  <a:srgbClr val="000099"/>
                </a:solidFill>
                <a:latin typeface="+mn-lt"/>
                <a:ea typeface="黑体" panose="02010609060101010101" pitchFamily="2" charset="-122"/>
              </a:rPr>
              <a:t>0</a:t>
            </a:r>
          </a:p>
        </p:txBody>
      </p:sp>
      <p:sp>
        <p:nvSpPr>
          <p:cNvPr id="571437" name="Text Box 45"/>
          <p:cNvSpPr txBox="1">
            <a:spLocks noChangeArrowheads="1"/>
          </p:cNvSpPr>
          <p:nvPr/>
        </p:nvSpPr>
        <p:spPr bwMode="auto">
          <a:xfrm>
            <a:off x="1538737" y="230850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版本</a:t>
            </a:r>
          </a:p>
        </p:txBody>
      </p:sp>
      <p:sp>
        <p:nvSpPr>
          <p:cNvPr id="571438" name="Text Box 46"/>
          <p:cNvSpPr txBox="1">
            <a:spLocks noChangeArrowheads="1"/>
          </p:cNvSpPr>
          <p:nvPr/>
        </p:nvSpPr>
        <p:spPr bwMode="auto">
          <a:xfrm>
            <a:off x="537818" y="229738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命令</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en-US" altLang="zh-CN" dirty="0"/>
              <a:t>RIP2 </a:t>
            </a:r>
            <a:r>
              <a:rPr lang="zh-CN" altLang="en-US" dirty="0"/>
              <a:t>报文</a:t>
            </a:r>
          </a:p>
        </p:txBody>
      </p:sp>
      <p:sp>
        <p:nvSpPr>
          <p:cNvPr id="572419" name="Rectangle 3"/>
          <p:cNvSpPr>
            <a:spLocks noGrp="1" noChangeArrowheads="1"/>
          </p:cNvSpPr>
          <p:nvPr>
            <p:ph idx="1"/>
          </p:nvPr>
        </p:nvSpPr>
        <p:spPr>
          <a:noFill/>
        </p:spPr>
        <p:txBody>
          <a:bodyPr/>
          <a:lstStyle/>
          <a:p>
            <a:r>
              <a:rPr lang="en-US" altLang="zh-CN" dirty="0"/>
              <a:t>RIP2 </a:t>
            </a:r>
            <a:r>
              <a:rPr lang="zh-CN" altLang="en-US" dirty="0"/>
              <a:t>报文由首部和路由部分组成。</a:t>
            </a:r>
            <a:endParaRPr lang="en-US" altLang="zh-CN" dirty="0"/>
          </a:p>
          <a:p>
            <a:r>
              <a:rPr lang="en-US" altLang="zh-CN" dirty="0"/>
              <a:t>RIP2 </a:t>
            </a:r>
            <a:r>
              <a:rPr lang="zh-CN" altLang="en-US" dirty="0"/>
              <a:t>报文中的路由部分由若干个路由信息组成。每个路由信息需要用 </a:t>
            </a:r>
            <a:r>
              <a:rPr lang="en-US" altLang="zh-CN" dirty="0"/>
              <a:t>20 </a:t>
            </a:r>
            <a:r>
              <a:rPr lang="zh-CN" altLang="en-US" dirty="0"/>
              <a:t>个字节。地址族标识符（又称为地址类别）字段用来标志所使用的地址协议。</a:t>
            </a:r>
          </a:p>
          <a:p>
            <a:r>
              <a:rPr lang="zh-CN" altLang="en-US" dirty="0"/>
              <a:t>路由标记填入自治系统的号码，这是考虑使</a:t>
            </a:r>
            <a:r>
              <a:rPr lang="en-US" altLang="zh-CN" dirty="0"/>
              <a:t>RIP </a:t>
            </a:r>
            <a:r>
              <a:rPr lang="zh-CN" altLang="en-US" dirty="0"/>
              <a:t>有可能收到本自治系统以外的路由选择信息。</a:t>
            </a:r>
            <a:endParaRPr lang="en-US" altLang="zh-CN" dirty="0"/>
          </a:p>
          <a:p>
            <a:r>
              <a:rPr lang="zh-CN" altLang="en-US" dirty="0"/>
              <a:t>再后面指出某个网络地址、该网络的子网掩码、下一跳路由器地址以及到此网络的距离。 </a:t>
            </a:r>
            <a:endParaRPr lang="en-US" altLang="zh-CN"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241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241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24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zh-CN" sz="4000" dirty="0"/>
              <a:t>好消息传播得快，坏消息传播得慢</a:t>
            </a:r>
            <a:endParaRPr lang="zh-CN" altLang="en-US" sz="4000" dirty="0"/>
          </a:p>
        </p:txBody>
      </p:sp>
      <p:sp>
        <p:nvSpPr>
          <p:cNvPr id="3" name="内容占位符 2"/>
          <p:cNvSpPr>
            <a:spLocks noGrp="1"/>
          </p:cNvSpPr>
          <p:nvPr>
            <p:ph idx="1"/>
          </p:nvPr>
        </p:nvSpPr>
        <p:spPr/>
        <p:txBody>
          <a:bodyPr/>
          <a:lstStyle/>
          <a:p>
            <a:r>
              <a:rPr lang="en-US" altLang="zh-CN" dirty="0">
                <a:solidFill>
                  <a:srgbClr val="FF0000"/>
                </a:solidFill>
              </a:rPr>
              <a:t>RIP</a:t>
            </a:r>
            <a:r>
              <a:rPr lang="zh-CN" altLang="zh-CN" dirty="0">
                <a:solidFill>
                  <a:srgbClr val="FF0000"/>
                </a:solidFill>
              </a:rPr>
              <a:t>协议特点：</a:t>
            </a:r>
            <a:r>
              <a:rPr lang="zh-CN" altLang="zh-CN" dirty="0"/>
              <a:t>好消息传播得快，坏消息传播得慢。</a:t>
            </a:r>
            <a:endParaRPr lang="en-US" altLang="zh-CN" dirty="0"/>
          </a:p>
          <a:p>
            <a:r>
              <a:rPr lang="en-US" altLang="zh-CN" dirty="0">
                <a:solidFill>
                  <a:srgbClr val="FF0000"/>
                </a:solidFill>
              </a:rPr>
              <a:t>RIP</a:t>
            </a:r>
            <a:r>
              <a:rPr lang="zh-CN" altLang="zh-CN" dirty="0">
                <a:solidFill>
                  <a:srgbClr val="FF0000"/>
                </a:solidFill>
              </a:rPr>
              <a:t>存在的一个问题</a:t>
            </a:r>
            <a:r>
              <a:rPr lang="zh-CN" altLang="en-US" dirty="0">
                <a:solidFill>
                  <a:srgbClr val="FF0000"/>
                </a:solidFill>
              </a:rPr>
              <a:t>：</a:t>
            </a:r>
            <a:r>
              <a:rPr lang="zh-CN" altLang="zh-CN" dirty="0"/>
              <a:t>当网络出现故障时，要经过比较长的时间</a:t>
            </a:r>
            <a:r>
              <a:rPr lang="en-US" altLang="zh-CN" dirty="0"/>
              <a:t> (</a:t>
            </a:r>
            <a:r>
              <a:rPr lang="zh-CN" altLang="zh-CN" dirty="0"/>
              <a:t>例如数分钟</a:t>
            </a:r>
            <a:r>
              <a:rPr lang="en-US" altLang="zh-CN" dirty="0"/>
              <a:t>) </a:t>
            </a:r>
            <a:r>
              <a:rPr lang="zh-CN" altLang="zh-CN" dirty="0"/>
              <a:t>才能将此信息传送到所有的路由器。</a:t>
            </a:r>
            <a:endParaRPr lang="zh-CN" altLang="en-US" dirty="0"/>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Line 2"/>
          <p:cNvSpPr>
            <a:spLocks noChangeShapeType="1"/>
          </p:cNvSpPr>
          <p:nvPr/>
        </p:nvSpPr>
        <p:spPr bwMode="auto">
          <a:xfrm>
            <a:off x="1785144" y="1064185"/>
            <a:ext cx="7011591" cy="0"/>
          </a:xfrm>
          <a:prstGeom prst="line">
            <a:avLst/>
          </a:prstGeom>
          <a:noFill/>
          <a:ln w="28575">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446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4468"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4469"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4470"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4471" name="Group 7"/>
          <p:cNvGrpSpPr/>
          <p:nvPr/>
        </p:nvGrpSpPr>
        <p:grpSpPr bwMode="auto">
          <a:xfrm>
            <a:off x="768747" y="632386"/>
            <a:ext cx="1277805" cy="858837"/>
            <a:chOff x="4830" y="1752"/>
            <a:chExt cx="667" cy="477"/>
          </a:xfrm>
        </p:grpSpPr>
        <p:grpSp>
          <p:nvGrpSpPr>
            <p:cNvPr id="574472" name="Group 8"/>
            <p:cNvGrpSpPr/>
            <p:nvPr/>
          </p:nvGrpSpPr>
          <p:grpSpPr bwMode="auto">
            <a:xfrm>
              <a:off x="4830" y="1752"/>
              <a:ext cx="667" cy="477"/>
              <a:chOff x="2949" y="196"/>
              <a:chExt cx="941" cy="598"/>
            </a:xfrm>
          </p:grpSpPr>
          <p:sp>
            <p:nvSpPr>
              <p:cNvPr id="574473"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4"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5"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6"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7"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8"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79"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80"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81"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482"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483"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4484"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4485" name="Group 21"/>
          <p:cNvGrpSpPr/>
          <p:nvPr/>
        </p:nvGrpSpPr>
        <p:grpSpPr bwMode="auto">
          <a:xfrm>
            <a:off x="8356468" y="632386"/>
            <a:ext cx="1277805" cy="858837"/>
            <a:chOff x="4830" y="1752"/>
            <a:chExt cx="667" cy="477"/>
          </a:xfrm>
        </p:grpSpPr>
        <p:grpSp>
          <p:nvGrpSpPr>
            <p:cNvPr id="574486" name="Group 22"/>
            <p:cNvGrpSpPr/>
            <p:nvPr/>
          </p:nvGrpSpPr>
          <p:grpSpPr bwMode="auto">
            <a:xfrm>
              <a:off x="4830" y="1752"/>
              <a:ext cx="667" cy="477"/>
              <a:chOff x="2949" y="196"/>
              <a:chExt cx="941" cy="598"/>
            </a:xfrm>
          </p:grpSpPr>
          <p:sp>
            <p:nvSpPr>
              <p:cNvPr id="574487"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88"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89"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0"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1"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2"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3"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4"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495"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496"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497"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4498"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4499" name="Group 35"/>
          <p:cNvGrpSpPr/>
          <p:nvPr/>
        </p:nvGrpSpPr>
        <p:grpSpPr bwMode="auto">
          <a:xfrm>
            <a:off x="4531651" y="632386"/>
            <a:ext cx="1277805" cy="858837"/>
            <a:chOff x="4830" y="1752"/>
            <a:chExt cx="667" cy="477"/>
          </a:xfrm>
        </p:grpSpPr>
        <p:grpSp>
          <p:nvGrpSpPr>
            <p:cNvPr id="574500" name="Group 36"/>
            <p:cNvGrpSpPr/>
            <p:nvPr/>
          </p:nvGrpSpPr>
          <p:grpSpPr bwMode="auto">
            <a:xfrm>
              <a:off x="4830" y="1752"/>
              <a:ext cx="667" cy="477"/>
              <a:chOff x="2949" y="196"/>
              <a:chExt cx="941" cy="598"/>
            </a:xfrm>
          </p:grpSpPr>
          <p:sp>
            <p:nvSpPr>
              <p:cNvPr id="574501"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2"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3"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4"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5"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6"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7"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8"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09"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510"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4511"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4512"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sp>
        <p:nvSpPr>
          <p:cNvPr id="574513" name="Text Box 49"/>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4514" name="Group 50"/>
          <p:cNvGrpSpPr/>
          <p:nvPr/>
        </p:nvGrpSpPr>
        <p:grpSpPr bwMode="auto">
          <a:xfrm>
            <a:off x="2436946" y="499036"/>
            <a:ext cx="1594246" cy="312737"/>
            <a:chOff x="1491" y="212"/>
            <a:chExt cx="853" cy="240"/>
          </a:xfrm>
        </p:grpSpPr>
        <p:sp>
          <p:nvSpPr>
            <p:cNvPr id="574515"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16"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4517" name="Text Box 53"/>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1  1  </a:t>
            </a:r>
            <a:r>
              <a:rPr kumimoji="1" lang="en-US" altLang="zh-CN" sz="2000" b="1" dirty="0">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dirty="0">
              <a:solidFill>
                <a:srgbClr val="0000CC"/>
              </a:solidFill>
              <a:latin typeface="+mn-lt"/>
              <a:ea typeface="黑体" panose="02010609060101010101" pitchFamily="2" charset="-122"/>
              <a:sym typeface="Symbol" panose="05050102010706020507" pitchFamily="18" charset="2"/>
            </a:endParaRPr>
          </a:p>
        </p:txBody>
      </p:sp>
      <p:grpSp>
        <p:nvGrpSpPr>
          <p:cNvPr id="574518" name="Group 54"/>
          <p:cNvGrpSpPr/>
          <p:nvPr/>
        </p:nvGrpSpPr>
        <p:grpSpPr bwMode="auto">
          <a:xfrm flipH="1">
            <a:off x="6045068" y="521261"/>
            <a:ext cx="1594246" cy="312737"/>
            <a:chOff x="1491" y="212"/>
            <a:chExt cx="853" cy="240"/>
          </a:xfrm>
        </p:grpSpPr>
        <p:sp>
          <p:nvSpPr>
            <p:cNvPr id="574519" name="AutoShape 55"/>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4520" name="Rectangle 56"/>
            <p:cNvSpPr>
              <a:spLocks noChangeArrowheads="1"/>
            </p:cNvSpPr>
            <p:nvPr/>
          </p:nvSpPr>
          <p:spPr bwMode="auto">
            <a:xfrm>
              <a:off x="1491" y="212"/>
              <a:ext cx="632" cy="240"/>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4521" name="Text Box 5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sp>
        <p:nvSpPr>
          <p:cNvPr id="574522" name="Text Box 58"/>
          <p:cNvSpPr txBox="1">
            <a:spLocks noChangeArrowheads="1"/>
          </p:cNvSpPr>
          <p:nvPr/>
        </p:nvSpPr>
        <p:spPr bwMode="auto">
          <a:xfrm>
            <a:off x="1056569" y="3028890"/>
            <a:ext cx="67730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说：“我到网 </a:t>
            </a:r>
            <a:r>
              <a:rPr kumimoji="1" lang="en-US" altLang="zh-CN" sz="2400" b="1" dirty="0">
                <a:solidFill>
                  <a:srgbClr val="0000CC"/>
                </a:solidFill>
                <a:latin typeface="+mn-lt"/>
                <a:ea typeface="黑体" panose="02010609060101010101" pitchFamily="2" charset="-122"/>
              </a:rPr>
              <a:t>1 </a:t>
            </a:r>
            <a:r>
              <a:rPr kumimoji="1" lang="zh-CN" altLang="en-US" sz="2400" b="1" dirty="0">
                <a:solidFill>
                  <a:srgbClr val="0000CC"/>
                </a:solidFill>
                <a:latin typeface="+mn-lt"/>
                <a:ea typeface="黑体" panose="02010609060101010101" pitchFamily="2" charset="-122"/>
              </a:rPr>
              <a:t>的距离是 </a:t>
            </a:r>
            <a:r>
              <a:rPr kumimoji="1" lang="en-US" altLang="zh-CN" sz="2400" b="1" dirty="0">
                <a:solidFill>
                  <a:srgbClr val="0000CC"/>
                </a:solidFill>
                <a:latin typeface="+mn-lt"/>
                <a:ea typeface="黑体" panose="02010609060101010101" pitchFamily="2" charset="-122"/>
              </a:rPr>
              <a:t>1</a:t>
            </a:r>
            <a:r>
              <a:rPr kumimoji="1" lang="zh-CN" altLang="en-US" sz="2400" b="1" dirty="0">
                <a:solidFill>
                  <a:srgbClr val="0000CC"/>
                </a:solidFill>
                <a:latin typeface="+mn-lt"/>
                <a:ea typeface="黑体" panose="02010609060101010101" pitchFamily="2" charset="-122"/>
              </a:rPr>
              <a:t>，是直接交付。”</a:t>
            </a:r>
          </a:p>
        </p:txBody>
      </p:sp>
      <p:sp>
        <p:nvSpPr>
          <p:cNvPr id="574523" name="AutoShape 59"/>
          <p:cNvSpPr>
            <a:spLocks noChangeArrowheads="1"/>
          </p:cNvSpPr>
          <p:nvPr/>
        </p:nvSpPr>
        <p:spPr bwMode="auto">
          <a:xfrm>
            <a:off x="266567" y="1700213"/>
            <a:ext cx="3577167" cy="504683"/>
          </a:xfrm>
          <a:prstGeom prst="wedgeRoundRectCallout">
            <a:avLst>
              <a:gd name="adj1" fmla="val 16201"/>
              <a:gd name="adj2" fmla="val -235005"/>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a:solidFill>
                  <a:srgbClr val="0000CC"/>
                </a:solidFill>
                <a:latin typeface="+mn-lt"/>
                <a:ea typeface="黑体" panose="02010609060101010101" pitchFamily="2" charset="-122"/>
              </a:rPr>
              <a:t>“1”</a:t>
            </a:r>
            <a:r>
              <a:rPr lang="zh-CN" altLang="en-US" sz="2000" b="1">
                <a:solidFill>
                  <a:srgbClr val="0000CC"/>
                </a:solidFill>
                <a:latin typeface="+mn-lt"/>
                <a:ea typeface="黑体" panose="02010609060101010101" pitchFamily="2" charset="-122"/>
              </a:rPr>
              <a:t>表示“从本路由器到网</a:t>
            </a:r>
            <a:r>
              <a:rPr lang="zh-CN" altLang="en-US" sz="1600" b="1">
                <a:solidFill>
                  <a:srgbClr val="0000CC"/>
                </a:solidFill>
                <a:latin typeface="+mn-lt"/>
                <a:ea typeface="黑体" panose="02010609060101010101" pitchFamily="2" charset="-122"/>
              </a:rPr>
              <a:t> </a:t>
            </a:r>
            <a:r>
              <a:rPr lang="en-US" altLang="zh-CN" sz="2000" b="1">
                <a:solidFill>
                  <a:srgbClr val="0000CC"/>
                </a:solidFill>
                <a:latin typeface="+mn-lt"/>
                <a:ea typeface="黑体" panose="02010609060101010101" pitchFamily="2" charset="-122"/>
              </a:rPr>
              <a:t>1”</a:t>
            </a:r>
          </a:p>
        </p:txBody>
      </p:sp>
      <p:sp>
        <p:nvSpPr>
          <p:cNvPr id="574524" name="AutoShape 60"/>
          <p:cNvSpPr>
            <a:spLocks noChangeArrowheads="1"/>
          </p:cNvSpPr>
          <p:nvPr/>
        </p:nvSpPr>
        <p:spPr bwMode="auto">
          <a:xfrm>
            <a:off x="4070164" y="2373435"/>
            <a:ext cx="3106951" cy="504451"/>
          </a:xfrm>
          <a:prstGeom prst="wedgeRoundRectCallout">
            <a:avLst>
              <a:gd name="adj1" fmla="val -85058"/>
              <a:gd name="adj2" fmla="val -368465"/>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a:solidFill>
                  <a:srgbClr val="0000CC"/>
                </a:solidFill>
                <a:latin typeface="+mn-lt"/>
                <a:ea typeface="黑体" panose="02010609060101010101" pitchFamily="2" charset="-122"/>
              </a:rPr>
              <a:t>“1”</a:t>
            </a:r>
            <a:r>
              <a:rPr lang="zh-CN" altLang="en-US" sz="2000" b="1">
                <a:solidFill>
                  <a:srgbClr val="0000CC"/>
                </a:solidFill>
                <a:latin typeface="+mn-lt"/>
                <a:ea typeface="黑体" panose="02010609060101010101" pitchFamily="2" charset="-122"/>
              </a:rPr>
              <a:t>表示“距离是</a:t>
            </a:r>
            <a:r>
              <a:rPr lang="zh-CN" altLang="en-US" sz="1600" b="1">
                <a:solidFill>
                  <a:srgbClr val="0000CC"/>
                </a:solidFill>
                <a:latin typeface="+mn-lt"/>
                <a:ea typeface="黑体" panose="02010609060101010101" pitchFamily="2" charset="-122"/>
              </a:rPr>
              <a:t> </a:t>
            </a:r>
            <a:r>
              <a:rPr lang="en-US" altLang="zh-CN" sz="2000" b="1">
                <a:solidFill>
                  <a:srgbClr val="0000CC"/>
                </a:solidFill>
                <a:latin typeface="+mn-lt"/>
                <a:ea typeface="黑体" panose="02010609060101010101" pitchFamily="2" charset="-122"/>
              </a:rPr>
              <a:t>1”</a:t>
            </a:r>
          </a:p>
        </p:txBody>
      </p:sp>
      <p:sp>
        <p:nvSpPr>
          <p:cNvPr id="574525" name="AutoShape 61"/>
          <p:cNvSpPr>
            <a:spLocks noChangeArrowheads="1"/>
          </p:cNvSpPr>
          <p:nvPr/>
        </p:nvSpPr>
        <p:spPr bwMode="auto">
          <a:xfrm>
            <a:off x="5622151" y="1672212"/>
            <a:ext cx="2931249" cy="460644"/>
          </a:xfrm>
          <a:prstGeom prst="wedgeRoundRectCallout">
            <a:avLst>
              <a:gd name="adj1" fmla="val -129950"/>
              <a:gd name="adj2" fmla="val -268427"/>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dirty="0">
                <a:solidFill>
                  <a:srgbClr val="0000CC"/>
                </a:solidFill>
                <a:latin typeface="+mn-lt"/>
                <a:ea typeface="黑体" panose="02010609060101010101" pitchFamily="2" charset="-122"/>
              </a:rPr>
              <a:t>“</a:t>
            </a:r>
            <a:r>
              <a:rPr lang="en-US" altLang="zh-CN" sz="2000" b="1" dirty="0">
                <a:solidFill>
                  <a:srgbClr val="0000CC"/>
                </a:solidFill>
                <a:latin typeface="+mn-lt"/>
                <a:ea typeface="黑体" panose="02010609060101010101" pitchFamily="2" charset="-122"/>
                <a:sym typeface="Symbol" panose="05050102010706020507" pitchFamily="18" charset="2"/>
              </a:rPr>
              <a:t></a:t>
            </a:r>
            <a:r>
              <a:rPr lang="en-US" altLang="zh-CN" sz="2000" b="1" dirty="0">
                <a:solidFill>
                  <a:srgbClr val="0000CC"/>
                </a:solidFill>
                <a:latin typeface="+mn-lt"/>
                <a:ea typeface="黑体" panose="02010609060101010101" pitchFamily="2" charset="-122"/>
              </a:rPr>
              <a:t>”</a:t>
            </a:r>
            <a:r>
              <a:rPr lang="zh-CN" altLang="en-US" sz="2000" b="1" dirty="0">
                <a:solidFill>
                  <a:srgbClr val="0000CC"/>
                </a:solidFill>
                <a:latin typeface="+mn-lt"/>
                <a:ea typeface="黑体" panose="02010609060101010101" pitchFamily="2" charset="-122"/>
              </a:rPr>
              <a:t>表示“直接交付”</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45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45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45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45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4522" grpId="0"/>
      <p:bldP spid="574523" grpId="0" animBg="1"/>
      <p:bldP spid="574524" grpId="0" animBg="1"/>
      <p:bldP spid="574525"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Line 2"/>
          <p:cNvSpPr>
            <a:spLocks noChangeShapeType="1"/>
          </p:cNvSpPr>
          <p:nvPr/>
        </p:nvSpPr>
        <p:spPr bwMode="auto">
          <a:xfrm>
            <a:off x="1785144" y="1064185"/>
            <a:ext cx="7011591" cy="0"/>
          </a:xfrm>
          <a:prstGeom prst="line">
            <a:avLst/>
          </a:prstGeom>
          <a:noFill/>
          <a:ln w="28575">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549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5492" name="Text Box 4"/>
          <p:cNvSpPr txBox="1">
            <a:spLocks noChangeArrowheads="1"/>
          </p:cNvSpPr>
          <p:nvPr/>
        </p:nvSpPr>
        <p:spPr bwMode="auto">
          <a:xfrm>
            <a:off x="7106180"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5493"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5494"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5495" name="Group 7"/>
          <p:cNvGrpSpPr/>
          <p:nvPr/>
        </p:nvGrpSpPr>
        <p:grpSpPr bwMode="auto">
          <a:xfrm>
            <a:off x="768747" y="632386"/>
            <a:ext cx="1277805" cy="858837"/>
            <a:chOff x="4830" y="1752"/>
            <a:chExt cx="667" cy="477"/>
          </a:xfrm>
        </p:grpSpPr>
        <p:grpSp>
          <p:nvGrpSpPr>
            <p:cNvPr id="575496" name="Group 8"/>
            <p:cNvGrpSpPr/>
            <p:nvPr/>
          </p:nvGrpSpPr>
          <p:grpSpPr bwMode="auto">
            <a:xfrm>
              <a:off x="4830" y="1752"/>
              <a:ext cx="667" cy="477"/>
              <a:chOff x="2949" y="196"/>
              <a:chExt cx="941" cy="598"/>
            </a:xfrm>
          </p:grpSpPr>
          <p:sp>
            <p:nvSpPr>
              <p:cNvPr id="575497"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498"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499"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0"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1"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2"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3"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4"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05"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06"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07"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5508"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5509" name="Group 21"/>
          <p:cNvGrpSpPr/>
          <p:nvPr/>
        </p:nvGrpSpPr>
        <p:grpSpPr bwMode="auto">
          <a:xfrm>
            <a:off x="8356468" y="632386"/>
            <a:ext cx="1277805" cy="858837"/>
            <a:chOff x="4830" y="1752"/>
            <a:chExt cx="667" cy="477"/>
          </a:xfrm>
        </p:grpSpPr>
        <p:grpSp>
          <p:nvGrpSpPr>
            <p:cNvPr id="575510" name="Group 22"/>
            <p:cNvGrpSpPr/>
            <p:nvPr/>
          </p:nvGrpSpPr>
          <p:grpSpPr bwMode="auto">
            <a:xfrm>
              <a:off x="4830" y="1752"/>
              <a:ext cx="667" cy="477"/>
              <a:chOff x="2949" y="196"/>
              <a:chExt cx="941" cy="598"/>
            </a:xfrm>
          </p:grpSpPr>
          <p:sp>
            <p:nvSpPr>
              <p:cNvPr id="575511"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2"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3"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4"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5"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6"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7"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8"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19"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20"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21"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5522"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5523" name="Group 35"/>
          <p:cNvGrpSpPr/>
          <p:nvPr/>
        </p:nvGrpSpPr>
        <p:grpSpPr bwMode="auto">
          <a:xfrm>
            <a:off x="4531651" y="632386"/>
            <a:ext cx="1277805" cy="858837"/>
            <a:chOff x="4830" y="1752"/>
            <a:chExt cx="667" cy="477"/>
          </a:xfrm>
        </p:grpSpPr>
        <p:grpSp>
          <p:nvGrpSpPr>
            <p:cNvPr id="575524" name="Group 36"/>
            <p:cNvGrpSpPr/>
            <p:nvPr/>
          </p:nvGrpSpPr>
          <p:grpSpPr bwMode="auto">
            <a:xfrm>
              <a:off x="4830" y="1752"/>
              <a:ext cx="667" cy="477"/>
              <a:chOff x="2949" y="196"/>
              <a:chExt cx="941" cy="598"/>
            </a:xfrm>
          </p:grpSpPr>
          <p:sp>
            <p:nvSpPr>
              <p:cNvPr id="575525"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26"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27"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28"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29"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30"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31"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32"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33"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34"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5535"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5536"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sp>
        <p:nvSpPr>
          <p:cNvPr id="575537" name="Text Box 49"/>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5538" name="Group 50"/>
          <p:cNvGrpSpPr/>
          <p:nvPr/>
        </p:nvGrpSpPr>
        <p:grpSpPr bwMode="auto">
          <a:xfrm>
            <a:off x="2436946" y="499036"/>
            <a:ext cx="1594246" cy="312737"/>
            <a:chOff x="1491" y="212"/>
            <a:chExt cx="853" cy="240"/>
          </a:xfrm>
        </p:grpSpPr>
        <p:sp>
          <p:nvSpPr>
            <p:cNvPr id="575539"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40"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5541" name="Text Box 53"/>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nvGrpSpPr>
          <p:cNvPr id="575542" name="Group 54"/>
          <p:cNvGrpSpPr/>
          <p:nvPr/>
        </p:nvGrpSpPr>
        <p:grpSpPr bwMode="auto">
          <a:xfrm flipH="1">
            <a:off x="6045068" y="521261"/>
            <a:ext cx="1594246" cy="312737"/>
            <a:chOff x="1491" y="212"/>
            <a:chExt cx="853" cy="240"/>
          </a:xfrm>
        </p:grpSpPr>
        <p:sp>
          <p:nvSpPr>
            <p:cNvPr id="575543" name="AutoShape 55"/>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5544" name="Rectangle 56"/>
            <p:cNvSpPr>
              <a:spLocks noChangeArrowheads="1"/>
            </p:cNvSpPr>
            <p:nvPr/>
          </p:nvSpPr>
          <p:spPr bwMode="auto">
            <a:xfrm>
              <a:off x="1491" y="212"/>
              <a:ext cx="632"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5545" name="Text Box 5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sp>
        <p:nvSpPr>
          <p:cNvPr id="575546" name="Text Box 58"/>
          <p:cNvSpPr txBox="1">
            <a:spLocks noChangeArrowheads="1"/>
          </p:cNvSpPr>
          <p:nvPr/>
        </p:nvSpPr>
        <p:spPr bwMode="auto">
          <a:xfrm>
            <a:off x="1305323" y="3460938"/>
            <a:ext cx="66912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kumimoji="1" sz="2000" b="1">
                <a:solidFill>
                  <a:srgbClr val="0000CC"/>
                </a:solidFill>
                <a:latin typeface="+mn-lt"/>
                <a:ea typeface="黑体" panose="02010609060101010101" pitchFamily="2" charset="-122"/>
              </a:defRPr>
            </a:lvl1pPr>
          </a:lstStyle>
          <a:p>
            <a:r>
              <a:rPr lang="en-US" altLang="zh-CN" sz="2400" dirty="0"/>
              <a:t>R2 </a:t>
            </a:r>
            <a:r>
              <a:rPr lang="zh-CN" altLang="en-US" sz="2400" dirty="0"/>
              <a:t>说：“我到网 </a:t>
            </a:r>
            <a:r>
              <a:rPr lang="en-US" altLang="zh-CN" sz="2400" dirty="0"/>
              <a:t>1 </a:t>
            </a:r>
            <a:r>
              <a:rPr lang="zh-CN" altLang="en-US" sz="2400" dirty="0"/>
              <a:t>的距离是 </a:t>
            </a:r>
            <a:r>
              <a:rPr lang="en-US" altLang="zh-CN" sz="2400" dirty="0"/>
              <a:t>2</a:t>
            </a:r>
            <a:r>
              <a:rPr lang="zh-CN" altLang="en-US" sz="2400" dirty="0"/>
              <a:t>，是经过 </a:t>
            </a:r>
            <a:r>
              <a:rPr lang="en-US" altLang="zh-CN" sz="2400" dirty="0"/>
              <a:t>R1</a:t>
            </a:r>
            <a:r>
              <a:rPr lang="zh-CN" altLang="en-US" sz="2400" dirty="0"/>
              <a:t>。”</a:t>
            </a:r>
          </a:p>
        </p:txBody>
      </p:sp>
      <p:sp>
        <p:nvSpPr>
          <p:cNvPr id="575547" name="AutoShape 59"/>
          <p:cNvSpPr>
            <a:spLocks noChangeArrowheads="1"/>
          </p:cNvSpPr>
          <p:nvPr/>
        </p:nvSpPr>
        <p:spPr bwMode="auto">
          <a:xfrm>
            <a:off x="2144582" y="1557338"/>
            <a:ext cx="3805898" cy="503510"/>
          </a:xfrm>
          <a:prstGeom prst="wedgeRoundRectCallout">
            <a:avLst>
              <a:gd name="adj1" fmla="val 66495"/>
              <a:gd name="adj2" fmla="val -218428"/>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anose="02010609060101010101" pitchFamily="2" charset="-122"/>
              </a:rPr>
              <a:t>“1”</a:t>
            </a:r>
            <a:r>
              <a:rPr lang="zh-CN" altLang="en-US" sz="2000" b="1" dirty="0">
                <a:solidFill>
                  <a:srgbClr val="0000CC"/>
                </a:solidFill>
                <a:latin typeface="+mn-lt"/>
                <a:ea typeface="黑体" panose="02010609060101010101" pitchFamily="2" charset="-122"/>
              </a:rPr>
              <a:t>表示“从本路由器到网</a:t>
            </a:r>
            <a:r>
              <a:rPr lang="zh-CN" altLang="en-US" sz="1600" b="1" dirty="0">
                <a:solidFill>
                  <a:srgbClr val="0000CC"/>
                </a:solidFill>
                <a:latin typeface="+mn-lt"/>
                <a:ea typeface="黑体" panose="02010609060101010101" pitchFamily="2" charset="-122"/>
              </a:rPr>
              <a:t> </a:t>
            </a:r>
            <a:r>
              <a:rPr lang="en-US" altLang="zh-CN" sz="2000" b="1" dirty="0">
                <a:solidFill>
                  <a:srgbClr val="0000CC"/>
                </a:solidFill>
                <a:latin typeface="+mn-lt"/>
                <a:ea typeface="黑体" panose="02010609060101010101" pitchFamily="2" charset="-122"/>
              </a:rPr>
              <a:t>1”</a:t>
            </a:r>
          </a:p>
        </p:txBody>
      </p:sp>
      <p:sp>
        <p:nvSpPr>
          <p:cNvPr id="575548" name="AutoShape 60"/>
          <p:cNvSpPr>
            <a:spLocks noChangeArrowheads="1"/>
          </p:cNvSpPr>
          <p:nvPr/>
        </p:nvSpPr>
        <p:spPr bwMode="auto">
          <a:xfrm>
            <a:off x="4251326" y="2708276"/>
            <a:ext cx="3663156" cy="576707"/>
          </a:xfrm>
          <a:prstGeom prst="wedgeRoundRectCallout">
            <a:avLst>
              <a:gd name="adj1" fmla="val 22347"/>
              <a:gd name="adj2" fmla="val -405370"/>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anose="02010609060101010101" pitchFamily="2" charset="-122"/>
              </a:rPr>
              <a:t>“2”</a:t>
            </a:r>
            <a:r>
              <a:rPr lang="zh-CN" altLang="en-US" sz="2000" b="1" dirty="0">
                <a:solidFill>
                  <a:srgbClr val="0000CC"/>
                </a:solidFill>
                <a:latin typeface="+mn-lt"/>
                <a:ea typeface="黑体" panose="02010609060101010101" pitchFamily="2" charset="-122"/>
              </a:rPr>
              <a:t>表示“距离是</a:t>
            </a:r>
            <a:r>
              <a:rPr lang="zh-CN" altLang="en-US" sz="1600" b="1" dirty="0">
                <a:solidFill>
                  <a:srgbClr val="0000CC"/>
                </a:solidFill>
                <a:latin typeface="+mn-lt"/>
                <a:ea typeface="黑体" panose="02010609060101010101" pitchFamily="2" charset="-122"/>
              </a:rPr>
              <a:t> </a:t>
            </a:r>
            <a:r>
              <a:rPr lang="en-US" altLang="zh-CN" sz="2000" b="1" dirty="0">
                <a:solidFill>
                  <a:srgbClr val="0000CC"/>
                </a:solidFill>
                <a:latin typeface="+mn-lt"/>
                <a:ea typeface="黑体" panose="02010609060101010101" pitchFamily="2" charset="-122"/>
              </a:rPr>
              <a:t>2”</a:t>
            </a:r>
          </a:p>
        </p:txBody>
      </p:sp>
      <p:sp>
        <p:nvSpPr>
          <p:cNvPr id="575549" name="AutoShape 61"/>
          <p:cNvSpPr>
            <a:spLocks noChangeArrowheads="1"/>
          </p:cNvSpPr>
          <p:nvPr/>
        </p:nvSpPr>
        <p:spPr bwMode="auto">
          <a:xfrm>
            <a:off x="7443557" y="1545869"/>
            <a:ext cx="2405987" cy="514979"/>
          </a:xfrm>
          <a:prstGeom prst="wedgeRoundRectCallout">
            <a:avLst>
              <a:gd name="adj1" fmla="val -52257"/>
              <a:gd name="adj2" fmla="val -199281"/>
              <a:gd name="adj3" fmla="val 16667"/>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anose="02010609060101010101" pitchFamily="2" charset="-122"/>
              </a:rPr>
              <a:t>“</a:t>
            </a:r>
            <a:r>
              <a:rPr lang="en-US" altLang="zh-CN" sz="2000" b="1" dirty="0">
                <a:solidFill>
                  <a:srgbClr val="0000CC"/>
                </a:solidFill>
                <a:latin typeface="+mn-lt"/>
                <a:ea typeface="黑体" panose="02010609060101010101" pitchFamily="2" charset="-122"/>
                <a:sym typeface="Symbol" panose="05050102010706020507" pitchFamily="18" charset="2"/>
              </a:rPr>
              <a:t>R</a:t>
            </a:r>
            <a:r>
              <a:rPr lang="en-US" altLang="zh-CN" sz="2000" b="1" baseline="-25000" dirty="0">
                <a:solidFill>
                  <a:srgbClr val="0000CC"/>
                </a:solidFill>
                <a:latin typeface="+mn-lt"/>
                <a:ea typeface="黑体" panose="02010609060101010101" pitchFamily="2" charset="-122"/>
                <a:sym typeface="Symbol" panose="05050102010706020507" pitchFamily="18" charset="2"/>
              </a:rPr>
              <a:t>1</a:t>
            </a:r>
            <a:r>
              <a:rPr lang="en-US" altLang="zh-CN" sz="2000" b="1" dirty="0">
                <a:solidFill>
                  <a:srgbClr val="0000CC"/>
                </a:solidFill>
                <a:latin typeface="+mn-lt"/>
                <a:ea typeface="黑体" panose="02010609060101010101" pitchFamily="2" charset="-122"/>
              </a:rPr>
              <a:t>”</a:t>
            </a:r>
            <a:r>
              <a:rPr lang="zh-CN" altLang="en-US" sz="2000" b="1" dirty="0">
                <a:solidFill>
                  <a:srgbClr val="0000CC"/>
                </a:solidFill>
                <a:latin typeface="+mn-lt"/>
                <a:ea typeface="黑体" panose="02010609060101010101" pitchFamily="2" charset="-122"/>
              </a:rPr>
              <a:t>表示经过 </a:t>
            </a:r>
            <a:r>
              <a:rPr lang="en-US" altLang="zh-CN" sz="2000" b="1" dirty="0">
                <a:solidFill>
                  <a:srgbClr val="0000CC"/>
                </a:solidFill>
                <a:latin typeface="+mn-lt"/>
                <a:ea typeface="黑体" panose="02010609060101010101" pitchFamily="2" charset="-122"/>
              </a:rPr>
              <a:t>R</a:t>
            </a:r>
            <a:r>
              <a:rPr lang="en-US" altLang="zh-CN" sz="2000" b="1" baseline="-25000" dirty="0">
                <a:solidFill>
                  <a:srgbClr val="0000CC"/>
                </a:solidFill>
                <a:latin typeface="+mn-lt"/>
                <a:ea typeface="黑体" panose="02010609060101010101" pitchFamily="2" charset="-122"/>
              </a:rPr>
              <a:t>1</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554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554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554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55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546" grpId="0"/>
      <p:bldP spid="575547" grpId="0" animBg="1"/>
      <p:bldP spid="575548" grpId="0" animBg="1"/>
      <p:bldP spid="575549"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Line 2"/>
          <p:cNvSpPr>
            <a:spLocks noChangeShapeType="1"/>
          </p:cNvSpPr>
          <p:nvPr/>
        </p:nvSpPr>
        <p:spPr bwMode="auto">
          <a:xfrm>
            <a:off x="1785144" y="1064185"/>
            <a:ext cx="70115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651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6516"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6517"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6518"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6519" name="Group 7"/>
          <p:cNvGrpSpPr/>
          <p:nvPr/>
        </p:nvGrpSpPr>
        <p:grpSpPr bwMode="auto">
          <a:xfrm>
            <a:off x="768747" y="632386"/>
            <a:ext cx="1277805" cy="858837"/>
            <a:chOff x="4830" y="1752"/>
            <a:chExt cx="667" cy="477"/>
          </a:xfrm>
        </p:grpSpPr>
        <p:grpSp>
          <p:nvGrpSpPr>
            <p:cNvPr id="576520" name="Group 8"/>
            <p:cNvGrpSpPr/>
            <p:nvPr/>
          </p:nvGrpSpPr>
          <p:grpSpPr bwMode="auto">
            <a:xfrm>
              <a:off x="4830" y="1752"/>
              <a:ext cx="667" cy="477"/>
              <a:chOff x="2949" y="196"/>
              <a:chExt cx="941" cy="598"/>
            </a:xfrm>
          </p:grpSpPr>
          <p:sp>
            <p:nvSpPr>
              <p:cNvPr id="576521"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2"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3"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4"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5"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6"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7"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8"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29"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30"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31"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532"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6533" name="Group 21"/>
          <p:cNvGrpSpPr/>
          <p:nvPr/>
        </p:nvGrpSpPr>
        <p:grpSpPr bwMode="auto">
          <a:xfrm>
            <a:off x="8356468" y="632386"/>
            <a:ext cx="1277805" cy="858837"/>
            <a:chOff x="4830" y="1752"/>
            <a:chExt cx="667" cy="477"/>
          </a:xfrm>
        </p:grpSpPr>
        <p:grpSp>
          <p:nvGrpSpPr>
            <p:cNvPr id="576534" name="Group 22"/>
            <p:cNvGrpSpPr/>
            <p:nvPr/>
          </p:nvGrpSpPr>
          <p:grpSpPr bwMode="auto">
            <a:xfrm>
              <a:off x="4830" y="1752"/>
              <a:ext cx="667" cy="477"/>
              <a:chOff x="2949" y="196"/>
              <a:chExt cx="941" cy="598"/>
            </a:xfrm>
          </p:grpSpPr>
          <p:sp>
            <p:nvSpPr>
              <p:cNvPr id="576535"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36"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37"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38"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39"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40"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41"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42"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43"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44"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45"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546"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6547" name="Group 35"/>
          <p:cNvGrpSpPr/>
          <p:nvPr/>
        </p:nvGrpSpPr>
        <p:grpSpPr bwMode="auto">
          <a:xfrm>
            <a:off x="4531651" y="632386"/>
            <a:ext cx="1277805" cy="858837"/>
            <a:chOff x="4830" y="1752"/>
            <a:chExt cx="667" cy="477"/>
          </a:xfrm>
        </p:grpSpPr>
        <p:grpSp>
          <p:nvGrpSpPr>
            <p:cNvPr id="576548" name="Group 36"/>
            <p:cNvGrpSpPr/>
            <p:nvPr/>
          </p:nvGrpSpPr>
          <p:grpSpPr bwMode="auto">
            <a:xfrm>
              <a:off x="4830" y="1752"/>
              <a:ext cx="667" cy="477"/>
              <a:chOff x="2949" y="196"/>
              <a:chExt cx="941" cy="598"/>
            </a:xfrm>
          </p:grpSpPr>
          <p:sp>
            <p:nvSpPr>
              <p:cNvPr id="576549"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0"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1"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2"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3"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4"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5"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6"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57"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58"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59"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560"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6561" name="Group 49"/>
          <p:cNvGrpSpPr/>
          <p:nvPr/>
        </p:nvGrpSpPr>
        <p:grpSpPr bwMode="auto">
          <a:xfrm>
            <a:off x="612246" y="1928419"/>
            <a:ext cx="9022027" cy="1522412"/>
            <a:chOff x="356" y="1253"/>
            <a:chExt cx="5246" cy="959"/>
          </a:xfrm>
        </p:grpSpPr>
        <p:sp>
          <p:nvSpPr>
            <p:cNvPr id="576562" name="Line 50"/>
            <p:cNvSpPr>
              <a:spLocks noChangeShapeType="1"/>
            </p:cNvSpPr>
            <p:nvPr/>
          </p:nvSpPr>
          <p:spPr bwMode="auto">
            <a:xfrm>
              <a:off x="1038" y="1581"/>
              <a:ext cx="4077"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6563"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6564"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6565"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6566"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6567" name="Group 55"/>
            <p:cNvGrpSpPr/>
            <p:nvPr/>
          </p:nvGrpSpPr>
          <p:grpSpPr bwMode="auto">
            <a:xfrm>
              <a:off x="447" y="1309"/>
              <a:ext cx="743" cy="541"/>
              <a:chOff x="4830" y="1752"/>
              <a:chExt cx="667" cy="477"/>
            </a:xfrm>
          </p:grpSpPr>
          <p:grpSp>
            <p:nvGrpSpPr>
              <p:cNvPr id="576568" name="Group 56"/>
              <p:cNvGrpSpPr/>
              <p:nvPr/>
            </p:nvGrpSpPr>
            <p:grpSpPr bwMode="auto">
              <a:xfrm>
                <a:off x="4830" y="1752"/>
                <a:ext cx="667" cy="477"/>
                <a:chOff x="2949" y="196"/>
                <a:chExt cx="941" cy="598"/>
              </a:xfrm>
            </p:grpSpPr>
            <p:sp>
              <p:nvSpPr>
                <p:cNvPr id="576569" name="Oval 5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0"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1"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2"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3" name="Oval 6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4"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5" name="Oval 6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6"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77" name="Freeform 6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78" name="Freeform 6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79" name="Freeform 6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580"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6581" name="Group 69"/>
            <p:cNvGrpSpPr/>
            <p:nvPr/>
          </p:nvGrpSpPr>
          <p:grpSpPr bwMode="auto">
            <a:xfrm>
              <a:off x="4859" y="1309"/>
              <a:ext cx="743" cy="541"/>
              <a:chOff x="4830" y="1752"/>
              <a:chExt cx="667" cy="477"/>
            </a:xfrm>
          </p:grpSpPr>
          <p:grpSp>
            <p:nvGrpSpPr>
              <p:cNvPr id="576582" name="Group 70"/>
              <p:cNvGrpSpPr/>
              <p:nvPr/>
            </p:nvGrpSpPr>
            <p:grpSpPr bwMode="auto">
              <a:xfrm>
                <a:off x="4830" y="1752"/>
                <a:ext cx="667" cy="477"/>
                <a:chOff x="2949" y="196"/>
                <a:chExt cx="941" cy="598"/>
              </a:xfrm>
            </p:grpSpPr>
            <p:sp>
              <p:nvSpPr>
                <p:cNvPr id="576583" name="Oval 71"/>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4"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5"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6"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7" name="Oval 75"/>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8"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89" name="Oval 77"/>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90"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91" name="Freeform 79"/>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92" name="Freeform 80"/>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593" name="Freeform 81"/>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594"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6595" name="Group 83"/>
            <p:cNvGrpSpPr/>
            <p:nvPr/>
          </p:nvGrpSpPr>
          <p:grpSpPr bwMode="auto">
            <a:xfrm>
              <a:off x="2635" y="1309"/>
              <a:ext cx="743" cy="541"/>
              <a:chOff x="4830" y="1752"/>
              <a:chExt cx="667" cy="477"/>
            </a:xfrm>
          </p:grpSpPr>
          <p:grpSp>
            <p:nvGrpSpPr>
              <p:cNvPr id="576596" name="Group 84"/>
              <p:cNvGrpSpPr/>
              <p:nvPr/>
            </p:nvGrpSpPr>
            <p:grpSpPr bwMode="auto">
              <a:xfrm>
                <a:off x="4830" y="1752"/>
                <a:ext cx="667" cy="477"/>
                <a:chOff x="2949" y="196"/>
                <a:chExt cx="941" cy="598"/>
              </a:xfrm>
            </p:grpSpPr>
            <p:sp>
              <p:nvSpPr>
                <p:cNvPr id="576597" name="Oval 85"/>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98"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599"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0"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1" name="Oval 89"/>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2"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3" name="Oval 91"/>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4"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05" name="Freeform 93"/>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606" name="Freeform 94"/>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607" name="Freeform 95"/>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608"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6609" name="Group 97"/>
            <p:cNvGrpSpPr/>
            <p:nvPr/>
          </p:nvGrpSpPr>
          <p:grpSpPr bwMode="auto">
            <a:xfrm>
              <a:off x="434" y="1253"/>
              <a:ext cx="755" cy="612"/>
              <a:chOff x="434" y="1298"/>
              <a:chExt cx="755" cy="612"/>
            </a:xfrm>
          </p:grpSpPr>
          <p:sp>
            <p:nvSpPr>
              <p:cNvPr id="576610" name="Line 98"/>
              <p:cNvSpPr>
                <a:spLocks noChangeShapeType="1"/>
              </p:cNvSpPr>
              <p:nvPr/>
            </p:nvSpPr>
            <p:spPr bwMode="auto">
              <a:xfrm>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6611" name="Line 99"/>
              <p:cNvSpPr>
                <a:spLocks noChangeShapeType="1"/>
              </p:cNvSpPr>
              <p:nvPr/>
            </p:nvSpPr>
            <p:spPr bwMode="auto">
              <a:xfrm flipH="1">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6612"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anose="02010609060101010101" pitchFamily="2" charset="-122"/>
                </a:rPr>
                <a:t>网</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出了故障</a:t>
              </a:r>
            </a:p>
          </p:txBody>
        </p:sp>
      </p:grpSp>
      <p:sp>
        <p:nvSpPr>
          <p:cNvPr id="576613"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6614" name="Group 102"/>
          <p:cNvGrpSpPr/>
          <p:nvPr/>
        </p:nvGrpSpPr>
        <p:grpSpPr bwMode="auto">
          <a:xfrm>
            <a:off x="2436946" y="499036"/>
            <a:ext cx="1594246" cy="312737"/>
            <a:chOff x="1491" y="212"/>
            <a:chExt cx="853" cy="240"/>
          </a:xfrm>
        </p:grpSpPr>
        <p:sp>
          <p:nvSpPr>
            <p:cNvPr id="576615"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16"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6617" name="Text Box 105"/>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nvGrpSpPr>
          <p:cNvPr id="576618" name="Group 106"/>
          <p:cNvGrpSpPr/>
          <p:nvPr/>
        </p:nvGrpSpPr>
        <p:grpSpPr bwMode="auto">
          <a:xfrm>
            <a:off x="2693194" y="3152380"/>
            <a:ext cx="1633802" cy="312738"/>
            <a:chOff x="1566" y="2024"/>
            <a:chExt cx="950" cy="197"/>
          </a:xfrm>
        </p:grpSpPr>
        <p:grpSp>
          <p:nvGrpSpPr>
            <p:cNvPr id="576619" name="Group 107"/>
            <p:cNvGrpSpPr/>
            <p:nvPr/>
          </p:nvGrpSpPr>
          <p:grpSpPr bwMode="auto">
            <a:xfrm>
              <a:off x="1589" y="2024"/>
              <a:ext cx="927" cy="197"/>
              <a:chOff x="1491" y="212"/>
              <a:chExt cx="853" cy="240"/>
            </a:xfrm>
          </p:grpSpPr>
          <p:sp>
            <p:nvSpPr>
              <p:cNvPr id="576620"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21"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6622" name="Text Box 110"/>
            <p:cNvSpPr txBox="1">
              <a:spLocks noChangeArrowheads="1"/>
            </p:cNvSpPr>
            <p:nvPr/>
          </p:nvSpPr>
          <p:spPr bwMode="auto">
            <a:xfrm>
              <a:off x="1566" y="2066"/>
              <a:ext cx="602"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1  16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grpSp>
        <p:nvGrpSpPr>
          <p:cNvPr id="576623" name="Group 111"/>
          <p:cNvGrpSpPr/>
          <p:nvPr/>
        </p:nvGrpSpPr>
        <p:grpSpPr bwMode="auto">
          <a:xfrm flipH="1">
            <a:off x="6045068" y="521261"/>
            <a:ext cx="1594246" cy="312737"/>
            <a:chOff x="1491" y="212"/>
            <a:chExt cx="853" cy="240"/>
          </a:xfrm>
        </p:grpSpPr>
        <p:sp>
          <p:nvSpPr>
            <p:cNvPr id="576624" name="AutoShape 112"/>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25" name="Rectangle 113"/>
            <p:cNvSpPr>
              <a:spLocks noChangeArrowheads="1"/>
            </p:cNvSpPr>
            <p:nvPr/>
          </p:nvSpPr>
          <p:spPr bwMode="auto">
            <a:xfrm>
              <a:off x="1491" y="212"/>
              <a:ext cx="632"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6626" name="Text Box 114"/>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grpSp>
        <p:nvGrpSpPr>
          <p:cNvPr id="576627" name="Group 115"/>
          <p:cNvGrpSpPr/>
          <p:nvPr/>
        </p:nvGrpSpPr>
        <p:grpSpPr bwMode="auto">
          <a:xfrm>
            <a:off x="6045068" y="3099999"/>
            <a:ext cx="1594246" cy="341313"/>
            <a:chOff x="3515" y="1991"/>
            <a:chExt cx="927" cy="215"/>
          </a:xfrm>
        </p:grpSpPr>
        <p:grpSp>
          <p:nvGrpSpPr>
            <p:cNvPr id="576628" name="Group 116"/>
            <p:cNvGrpSpPr/>
            <p:nvPr/>
          </p:nvGrpSpPr>
          <p:grpSpPr bwMode="auto">
            <a:xfrm flipH="1">
              <a:off x="3515" y="1991"/>
              <a:ext cx="927" cy="197"/>
              <a:chOff x="1491" y="212"/>
              <a:chExt cx="853" cy="240"/>
            </a:xfrm>
          </p:grpSpPr>
          <p:sp>
            <p:nvSpPr>
              <p:cNvPr id="576629" name="AutoShape 117"/>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6630" name="Rectangle 118"/>
              <p:cNvSpPr>
                <a:spLocks noChangeArrowheads="1"/>
              </p:cNvSpPr>
              <p:nvPr/>
            </p:nvSpPr>
            <p:spPr bwMode="auto">
              <a:xfrm>
                <a:off x="1491" y="212"/>
                <a:ext cx="632"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6631" name="Text Box 119"/>
            <p:cNvSpPr txBox="1">
              <a:spLocks noChangeArrowheads="1"/>
            </p:cNvSpPr>
            <p:nvPr/>
          </p:nvSpPr>
          <p:spPr bwMode="auto">
            <a:xfrm>
              <a:off x="3761" y="2051"/>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grpSp>
      <p:sp>
        <p:nvSpPr>
          <p:cNvPr id="576632" name="Text Box 120"/>
          <p:cNvSpPr txBox="1">
            <a:spLocks noChangeArrowheads="1"/>
          </p:cNvSpPr>
          <p:nvPr/>
        </p:nvSpPr>
        <p:spPr bwMode="auto">
          <a:xfrm>
            <a:off x="710679" y="3785621"/>
            <a:ext cx="7338869" cy="830997"/>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说：“我到网 </a:t>
            </a:r>
            <a:r>
              <a:rPr kumimoji="1" lang="en-US" altLang="zh-CN" sz="2400" b="1" dirty="0">
                <a:solidFill>
                  <a:srgbClr val="0000CC"/>
                </a:solidFill>
                <a:latin typeface="+mn-lt"/>
                <a:ea typeface="黑体" panose="02010609060101010101" pitchFamily="2" charset="-122"/>
              </a:rPr>
              <a:t>1 </a:t>
            </a:r>
            <a:r>
              <a:rPr kumimoji="1" lang="zh-CN" altLang="en-US" sz="2400" b="1" dirty="0">
                <a:solidFill>
                  <a:srgbClr val="0000CC"/>
                </a:solidFill>
                <a:latin typeface="+mn-lt"/>
                <a:ea typeface="黑体" panose="02010609060101010101" pitchFamily="2" charset="-122"/>
              </a:rPr>
              <a:t>的距离是 </a:t>
            </a:r>
            <a:r>
              <a:rPr kumimoji="1" lang="en-US" altLang="zh-CN" sz="2400" b="1" dirty="0">
                <a:solidFill>
                  <a:srgbClr val="0000CC"/>
                </a:solidFill>
                <a:latin typeface="+mn-lt"/>
                <a:ea typeface="黑体" panose="02010609060101010101" pitchFamily="2" charset="-122"/>
              </a:rPr>
              <a:t>16 </a:t>
            </a:r>
            <a:r>
              <a:rPr kumimoji="1" lang="zh-CN" altLang="en-US" sz="2400" b="1" dirty="0">
                <a:solidFill>
                  <a:srgbClr val="0000CC"/>
                </a:solidFill>
                <a:latin typeface="+mn-lt"/>
                <a:ea typeface="黑体" panose="02010609060101010101" pitchFamily="2" charset="-122"/>
              </a:rPr>
              <a:t>（表示无法到达），</a:t>
            </a:r>
          </a:p>
          <a:p>
            <a:r>
              <a:rPr kumimoji="1" lang="zh-CN" altLang="en-US" sz="2400" b="1" dirty="0">
                <a:solidFill>
                  <a:srgbClr val="0000CC"/>
                </a:solidFill>
                <a:latin typeface="+mn-lt"/>
                <a:ea typeface="黑体" panose="02010609060101010101" pitchFamily="2" charset="-122"/>
              </a:rPr>
              <a:t>            是直接交付。”</a:t>
            </a:r>
          </a:p>
        </p:txBody>
      </p:sp>
      <p:sp>
        <p:nvSpPr>
          <p:cNvPr id="576633" name="Text Box 121"/>
          <p:cNvSpPr txBox="1">
            <a:spLocks noChangeArrowheads="1"/>
          </p:cNvSpPr>
          <p:nvPr/>
        </p:nvSpPr>
        <p:spPr bwMode="auto">
          <a:xfrm>
            <a:off x="704528" y="4725144"/>
            <a:ext cx="7694735" cy="830997"/>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但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在收到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的更新报文之前，还发送原来的报文，</a:t>
            </a:r>
          </a:p>
          <a:p>
            <a:r>
              <a:rPr kumimoji="1" lang="zh-CN" altLang="en-US" sz="2400" b="1" dirty="0">
                <a:solidFill>
                  <a:srgbClr val="0000CC"/>
                </a:solidFill>
                <a:latin typeface="+mn-lt"/>
                <a:ea typeface="黑体" panose="02010609060101010101" pitchFamily="2" charset="-122"/>
              </a:rPr>
              <a:t>因为这时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并不知道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出了故障。</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7656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6632"/>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500"/>
                                  </p:stCondLst>
                                  <p:childTnLst>
                                    <p:set>
                                      <p:cBhvr>
                                        <p:cTn id="13" dur="1" fill="hold">
                                          <p:stCondLst>
                                            <p:cond delay="0"/>
                                          </p:stCondLst>
                                        </p:cTn>
                                        <p:tgtEl>
                                          <p:spTgt spid="576618"/>
                                        </p:tgtEl>
                                        <p:attrNameLst>
                                          <p:attrName>style.visibility</p:attrName>
                                        </p:attrNameLst>
                                      </p:cBhvr>
                                      <p:to>
                                        <p:strVal val="visible"/>
                                      </p:to>
                                    </p:set>
                                  </p:childTnLst>
                                </p:cTn>
                              </p:par>
                            </p:childTnLst>
                          </p:cTn>
                        </p:par>
                        <p:par>
                          <p:cTn id="14" fill="hold">
                            <p:stCondLst>
                              <p:cond delay="500"/>
                            </p:stCondLst>
                            <p:childTnLst>
                              <p:par>
                                <p:cTn id="15" presetID="35" presetClass="emph" presetSubtype="0" repeatCount="3000" fill="hold" nodeType="afterEffect">
                                  <p:stCondLst>
                                    <p:cond delay="500"/>
                                  </p:stCondLst>
                                  <p:childTnLst>
                                    <p:anim calcmode="discrete" valueType="str">
                                      <p:cBhvr>
                                        <p:cTn id="16" dur="1000" fill="hold"/>
                                        <p:tgtEl>
                                          <p:spTgt spid="576618"/>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76633"/>
                                        </p:tgtEl>
                                        <p:attrNameLst>
                                          <p:attrName>style.visibility</p:attrName>
                                        </p:attrNameLst>
                                      </p:cBhvr>
                                      <p:to>
                                        <p:strVal val="visible"/>
                                      </p:to>
                                    </p:set>
                                  </p:childTnLst>
                                </p:cTn>
                              </p:par>
                            </p:childTnLst>
                          </p:cTn>
                        </p:par>
                        <p:par>
                          <p:cTn id="21" fill="hold">
                            <p:stCondLst>
                              <p:cond delay="0"/>
                            </p:stCondLst>
                            <p:childTnLst>
                              <p:par>
                                <p:cTn id="22" presetID="1" presetClass="entr" presetSubtype="0" fill="hold" nodeType="afterEffect">
                                  <p:stCondLst>
                                    <p:cond delay="500"/>
                                  </p:stCondLst>
                                  <p:childTnLst>
                                    <p:set>
                                      <p:cBhvr>
                                        <p:cTn id="23" dur="1" fill="hold">
                                          <p:stCondLst>
                                            <p:cond delay="0"/>
                                          </p:stCondLst>
                                        </p:cTn>
                                        <p:tgtEl>
                                          <p:spTgt spid="576627"/>
                                        </p:tgtEl>
                                        <p:attrNameLst>
                                          <p:attrName>style.visibility</p:attrName>
                                        </p:attrNameLst>
                                      </p:cBhvr>
                                      <p:to>
                                        <p:strVal val="visible"/>
                                      </p:to>
                                    </p:set>
                                  </p:childTnLst>
                                </p:cTn>
                              </p:par>
                            </p:childTnLst>
                          </p:cTn>
                        </p:par>
                        <p:par>
                          <p:cTn id="24" fill="hold">
                            <p:stCondLst>
                              <p:cond delay="500"/>
                            </p:stCondLst>
                            <p:childTnLst>
                              <p:par>
                                <p:cTn id="25" presetID="35" presetClass="emph" presetSubtype="0" repeatCount="3000" fill="hold" nodeType="afterEffect">
                                  <p:stCondLst>
                                    <p:cond delay="500"/>
                                  </p:stCondLst>
                                  <p:childTnLst>
                                    <p:anim calcmode="discrete" valueType="str">
                                      <p:cBhvr>
                                        <p:cTn id="26" dur="1000" fill="hold"/>
                                        <p:tgtEl>
                                          <p:spTgt spid="5766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6632" grpId="0" animBg="1"/>
      <p:bldP spid="57663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Line 2"/>
          <p:cNvSpPr>
            <a:spLocks noChangeShapeType="1"/>
          </p:cNvSpPr>
          <p:nvPr/>
        </p:nvSpPr>
        <p:spPr bwMode="auto">
          <a:xfrm>
            <a:off x="1785144" y="1064185"/>
            <a:ext cx="70115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753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7540"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7541"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7542"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7543" name="Group 7"/>
          <p:cNvGrpSpPr/>
          <p:nvPr/>
        </p:nvGrpSpPr>
        <p:grpSpPr bwMode="auto">
          <a:xfrm>
            <a:off x="768747" y="632386"/>
            <a:ext cx="1277805" cy="858837"/>
            <a:chOff x="4830" y="1752"/>
            <a:chExt cx="667" cy="477"/>
          </a:xfrm>
        </p:grpSpPr>
        <p:grpSp>
          <p:nvGrpSpPr>
            <p:cNvPr id="577544" name="Group 8"/>
            <p:cNvGrpSpPr/>
            <p:nvPr/>
          </p:nvGrpSpPr>
          <p:grpSpPr bwMode="auto">
            <a:xfrm>
              <a:off x="4830" y="1752"/>
              <a:ext cx="667" cy="477"/>
              <a:chOff x="2949" y="196"/>
              <a:chExt cx="941" cy="598"/>
            </a:xfrm>
          </p:grpSpPr>
          <p:sp>
            <p:nvSpPr>
              <p:cNvPr id="577545"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46"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47"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48"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49"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50"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51"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52"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53"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54"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55"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556"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7557" name="Group 21"/>
          <p:cNvGrpSpPr/>
          <p:nvPr/>
        </p:nvGrpSpPr>
        <p:grpSpPr bwMode="auto">
          <a:xfrm>
            <a:off x="8356468" y="632386"/>
            <a:ext cx="1277805" cy="858837"/>
            <a:chOff x="4830" y="1752"/>
            <a:chExt cx="667" cy="477"/>
          </a:xfrm>
        </p:grpSpPr>
        <p:grpSp>
          <p:nvGrpSpPr>
            <p:cNvPr id="577558" name="Group 22"/>
            <p:cNvGrpSpPr/>
            <p:nvPr/>
          </p:nvGrpSpPr>
          <p:grpSpPr bwMode="auto">
            <a:xfrm>
              <a:off x="4830" y="1752"/>
              <a:ext cx="667" cy="477"/>
              <a:chOff x="2949" y="196"/>
              <a:chExt cx="941" cy="598"/>
            </a:xfrm>
          </p:grpSpPr>
          <p:sp>
            <p:nvSpPr>
              <p:cNvPr id="577559"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0"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1"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2"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3"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4"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5"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6"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67"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68"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69"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570"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7571" name="Group 35"/>
          <p:cNvGrpSpPr/>
          <p:nvPr/>
        </p:nvGrpSpPr>
        <p:grpSpPr bwMode="auto">
          <a:xfrm>
            <a:off x="4531651" y="632386"/>
            <a:ext cx="1277805" cy="858837"/>
            <a:chOff x="4830" y="1752"/>
            <a:chExt cx="667" cy="477"/>
          </a:xfrm>
        </p:grpSpPr>
        <p:grpSp>
          <p:nvGrpSpPr>
            <p:cNvPr id="577572" name="Group 36"/>
            <p:cNvGrpSpPr/>
            <p:nvPr/>
          </p:nvGrpSpPr>
          <p:grpSpPr bwMode="auto">
            <a:xfrm>
              <a:off x="4830" y="1752"/>
              <a:ext cx="667" cy="477"/>
              <a:chOff x="2949" y="196"/>
              <a:chExt cx="941" cy="598"/>
            </a:xfrm>
          </p:grpSpPr>
          <p:sp>
            <p:nvSpPr>
              <p:cNvPr id="577573"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4"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5"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6"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7"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8"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79"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80"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81"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82"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583"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584"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7585" name="Group 49"/>
          <p:cNvGrpSpPr/>
          <p:nvPr/>
        </p:nvGrpSpPr>
        <p:grpSpPr bwMode="auto">
          <a:xfrm>
            <a:off x="612246" y="1916832"/>
            <a:ext cx="9022027" cy="1522412"/>
            <a:chOff x="356" y="1253"/>
            <a:chExt cx="5246" cy="959"/>
          </a:xfrm>
        </p:grpSpPr>
        <p:sp>
          <p:nvSpPr>
            <p:cNvPr id="577586" name="Line 50"/>
            <p:cNvSpPr>
              <a:spLocks noChangeShapeType="1"/>
            </p:cNvSpPr>
            <p:nvPr/>
          </p:nvSpPr>
          <p:spPr bwMode="auto">
            <a:xfrm>
              <a:off x="1038" y="1581"/>
              <a:ext cx="4077"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7587"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7588"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7589"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7590"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7591" name="Group 55"/>
            <p:cNvGrpSpPr/>
            <p:nvPr/>
          </p:nvGrpSpPr>
          <p:grpSpPr bwMode="auto">
            <a:xfrm>
              <a:off x="447" y="1309"/>
              <a:ext cx="743" cy="541"/>
              <a:chOff x="4830" y="1752"/>
              <a:chExt cx="667" cy="477"/>
            </a:xfrm>
          </p:grpSpPr>
          <p:grpSp>
            <p:nvGrpSpPr>
              <p:cNvPr id="577592" name="Group 56"/>
              <p:cNvGrpSpPr/>
              <p:nvPr/>
            </p:nvGrpSpPr>
            <p:grpSpPr bwMode="auto">
              <a:xfrm>
                <a:off x="4830" y="1752"/>
                <a:ext cx="667" cy="477"/>
                <a:chOff x="2949" y="196"/>
                <a:chExt cx="941" cy="598"/>
              </a:xfrm>
            </p:grpSpPr>
            <p:sp>
              <p:nvSpPr>
                <p:cNvPr id="577593" name="Oval 5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4"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5"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6"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7" name="Oval 6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8"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599" name="Oval 6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00"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01" name="Freeform 6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02" name="Freeform 6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03" name="Freeform 6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604"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7605" name="Group 69"/>
            <p:cNvGrpSpPr/>
            <p:nvPr/>
          </p:nvGrpSpPr>
          <p:grpSpPr bwMode="auto">
            <a:xfrm>
              <a:off x="4859" y="1309"/>
              <a:ext cx="743" cy="541"/>
              <a:chOff x="4830" y="1752"/>
              <a:chExt cx="667" cy="477"/>
            </a:xfrm>
          </p:grpSpPr>
          <p:grpSp>
            <p:nvGrpSpPr>
              <p:cNvPr id="577606" name="Group 70"/>
              <p:cNvGrpSpPr/>
              <p:nvPr/>
            </p:nvGrpSpPr>
            <p:grpSpPr bwMode="auto">
              <a:xfrm>
                <a:off x="4830" y="1752"/>
                <a:ext cx="667" cy="477"/>
                <a:chOff x="2949" y="196"/>
                <a:chExt cx="941" cy="598"/>
              </a:xfrm>
            </p:grpSpPr>
            <p:sp>
              <p:nvSpPr>
                <p:cNvPr id="577607" name="Oval 71"/>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08"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09"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0"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1" name="Oval 75"/>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2"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3" name="Oval 77"/>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4"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15" name="Freeform 79"/>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16" name="Freeform 80"/>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17" name="Freeform 81"/>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618"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7619" name="Group 83"/>
            <p:cNvGrpSpPr/>
            <p:nvPr/>
          </p:nvGrpSpPr>
          <p:grpSpPr bwMode="auto">
            <a:xfrm>
              <a:off x="2635" y="1309"/>
              <a:ext cx="743" cy="541"/>
              <a:chOff x="4830" y="1752"/>
              <a:chExt cx="667" cy="477"/>
            </a:xfrm>
          </p:grpSpPr>
          <p:grpSp>
            <p:nvGrpSpPr>
              <p:cNvPr id="577620" name="Group 84"/>
              <p:cNvGrpSpPr/>
              <p:nvPr/>
            </p:nvGrpSpPr>
            <p:grpSpPr bwMode="auto">
              <a:xfrm>
                <a:off x="4830" y="1752"/>
                <a:ext cx="667" cy="477"/>
                <a:chOff x="2949" y="196"/>
                <a:chExt cx="941" cy="598"/>
              </a:xfrm>
            </p:grpSpPr>
            <p:sp>
              <p:nvSpPr>
                <p:cNvPr id="577621" name="Oval 85"/>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2"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3"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4"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5" name="Oval 89"/>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6"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7" name="Oval 91"/>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8"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29" name="Freeform 93"/>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30" name="Freeform 94"/>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31" name="Freeform 95"/>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632"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7633" name="Group 97"/>
            <p:cNvGrpSpPr/>
            <p:nvPr/>
          </p:nvGrpSpPr>
          <p:grpSpPr bwMode="auto">
            <a:xfrm>
              <a:off x="434" y="1253"/>
              <a:ext cx="755" cy="612"/>
              <a:chOff x="434" y="1298"/>
              <a:chExt cx="755" cy="612"/>
            </a:xfrm>
          </p:grpSpPr>
          <p:sp>
            <p:nvSpPr>
              <p:cNvPr id="577634" name="Line 98"/>
              <p:cNvSpPr>
                <a:spLocks noChangeShapeType="1"/>
              </p:cNvSpPr>
              <p:nvPr/>
            </p:nvSpPr>
            <p:spPr bwMode="auto">
              <a:xfrm>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7635" name="Line 99"/>
              <p:cNvSpPr>
                <a:spLocks noChangeShapeType="1"/>
              </p:cNvSpPr>
              <p:nvPr/>
            </p:nvSpPr>
            <p:spPr bwMode="auto">
              <a:xfrm flipH="1">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7636"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anose="02010609060101010101" pitchFamily="2" charset="-122"/>
                </a:rPr>
                <a:t>网</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出了故障</a:t>
              </a:r>
            </a:p>
          </p:txBody>
        </p:sp>
      </p:grpSp>
      <p:sp>
        <p:nvSpPr>
          <p:cNvPr id="577637"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7638" name="Group 102"/>
          <p:cNvGrpSpPr/>
          <p:nvPr/>
        </p:nvGrpSpPr>
        <p:grpSpPr bwMode="auto">
          <a:xfrm>
            <a:off x="2436946" y="499036"/>
            <a:ext cx="1594246" cy="312737"/>
            <a:chOff x="1491" y="212"/>
            <a:chExt cx="853" cy="240"/>
          </a:xfrm>
        </p:grpSpPr>
        <p:sp>
          <p:nvSpPr>
            <p:cNvPr id="577639"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40"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7641" name="Text Box 105"/>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nvGrpSpPr>
          <p:cNvPr id="577642" name="Group 106"/>
          <p:cNvGrpSpPr/>
          <p:nvPr/>
        </p:nvGrpSpPr>
        <p:grpSpPr bwMode="auto">
          <a:xfrm>
            <a:off x="2693194" y="3140793"/>
            <a:ext cx="1633802" cy="312738"/>
            <a:chOff x="1566" y="2024"/>
            <a:chExt cx="950" cy="197"/>
          </a:xfrm>
        </p:grpSpPr>
        <p:grpSp>
          <p:nvGrpSpPr>
            <p:cNvPr id="577643" name="Group 107"/>
            <p:cNvGrpSpPr/>
            <p:nvPr/>
          </p:nvGrpSpPr>
          <p:grpSpPr bwMode="auto">
            <a:xfrm>
              <a:off x="1589" y="2024"/>
              <a:ext cx="927" cy="197"/>
              <a:chOff x="1491" y="212"/>
              <a:chExt cx="853" cy="240"/>
            </a:xfrm>
          </p:grpSpPr>
          <p:sp>
            <p:nvSpPr>
              <p:cNvPr id="577644"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45"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7646" name="Text Box 110"/>
            <p:cNvSpPr txBox="1">
              <a:spLocks noChangeArrowheads="1"/>
            </p:cNvSpPr>
            <p:nvPr/>
          </p:nvSpPr>
          <p:spPr bwMode="auto">
            <a:xfrm>
              <a:off x="1566" y="2066"/>
              <a:ext cx="602"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1  16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grpSp>
        <p:nvGrpSpPr>
          <p:cNvPr id="577647" name="Group 111"/>
          <p:cNvGrpSpPr/>
          <p:nvPr/>
        </p:nvGrpSpPr>
        <p:grpSpPr bwMode="auto">
          <a:xfrm flipH="1">
            <a:off x="6045068" y="521261"/>
            <a:ext cx="1594246" cy="312737"/>
            <a:chOff x="1491" y="212"/>
            <a:chExt cx="853" cy="240"/>
          </a:xfrm>
          <a:solidFill>
            <a:srgbClr val="66FF66"/>
          </a:solidFill>
        </p:grpSpPr>
        <p:sp>
          <p:nvSpPr>
            <p:cNvPr id="57764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49" name="Rectangle 113"/>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7650" name="Text Box 114"/>
          <p:cNvSpPr txBox="1">
            <a:spLocks noChangeArrowheads="1"/>
          </p:cNvSpPr>
          <p:nvPr/>
        </p:nvSpPr>
        <p:spPr bwMode="auto">
          <a:xfrm>
            <a:off x="6468137" y="616511"/>
            <a:ext cx="1032655" cy="246221"/>
          </a:xfrm>
          <a:prstGeom prst="rect">
            <a:avLst/>
          </a:prstGeom>
          <a:noFill/>
          <a:ln>
            <a:noFill/>
          </a:ln>
          <a:effec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1  2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nvGrpSpPr>
          <p:cNvPr id="577651" name="Group 115"/>
          <p:cNvGrpSpPr/>
          <p:nvPr/>
        </p:nvGrpSpPr>
        <p:grpSpPr bwMode="auto">
          <a:xfrm>
            <a:off x="6045068" y="3088412"/>
            <a:ext cx="1594246" cy="341313"/>
            <a:chOff x="3515" y="1991"/>
            <a:chExt cx="927" cy="215"/>
          </a:xfrm>
          <a:solidFill>
            <a:srgbClr val="66FF66"/>
          </a:solidFill>
        </p:grpSpPr>
        <p:grpSp>
          <p:nvGrpSpPr>
            <p:cNvPr id="577652" name="Group 116"/>
            <p:cNvGrpSpPr/>
            <p:nvPr/>
          </p:nvGrpSpPr>
          <p:grpSpPr bwMode="auto">
            <a:xfrm flipH="1">
              <a:off x="3515" y="1991"/>
              <a:ext cx="927" cy="197"/>
              <a:chOff x="1491" y="212"/>
              <a:chExt cx="853" cy="240"/>
            </a:xfrm>
            <a:grpFill/>
          </p:grpSpPr>
          <p:sp>
            <p:nvSpPr>
              <p:cNvPr id="577653"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54" name="Rectangle 118"/>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7655" name="Text Box 119"/>
            <p:cNvSpPr txBox="1">
              <a:spLocks noChangeArrowheads="1"/>
            </p:cNvSpPr>
            <p:nvPr/>
          </p:nvSpPr>
          <p:spPr bwMode="auto">
            <a:xfrm>
              <a:off x="3761" y="2051"/>
              <a:ext cx="600"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1  2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sp>
        <p:nvSpPr>
          <p:cNvPr id="577656" name="Text Box 120"/>
          <p:cNvSpPr txBox="1">
            <a:spLocks noChangeArrowheads="1"/>
          </p:cNvSpPr>
          <p:nvPr/>
        </p:nvSpPr>
        <p:spPr bwMode="auto">
          <a:xfrm>
            <a:off x="758345" y="4149080"/>
            <a:ext cx="6186174" cy="1569660"/>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 </a:t>
            </a:r>
            <a:r>
              <a:rPr kumimoji="1" lang="zh-CN" altLang="en-US" sz="2400" b="1" dirty="0">
                <a:solidFill>
                  <a:srgbClr val="0000CC"/>
                </a:solidFill>
                <a:latin typeface="+mn-lt"/>
                <a:ea typeface="黑体" panose="02010609060101010101" pitchFamily="2" charset="-122"/>
              </a:rPr>
              <a:t>收到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 </a:t>
            </a:r>
            <a:r>
              <a:rPr kumimoji="1" lang="zh-CN" altLang="en-US" sz="2400" b="1" dirty="0">
                <a:solidFill>
                  <a:srgbClr val="0000CC"/>
                </a:solidFill>
                <a:latin typeface="+mn-lt"/>
                <a:ea typeface="黑体" panose="02010609060101010101" pitchFamily="2" charset="-122"/>
              </a:rPr>
              <a:t>的更新报文后，误认为可经过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en-US" altLang="zh-CN" sz="2400" b="1" dirty="0">
                <a:solidFill>
                  <a:srgbClr val="0000CC"/>
                </a:solidFill>
                <a:latin typeface="+mn-lt"/>
                <a:ea typeface="黑体" panose="02010609060101010101" pitchFamily="2" charset="-122"/>
              </a:rPr>
              <a:t> </a:t>
            </a:r>
            <a:r>
              <a:rPr kumimoji="1" lang="zh-CN" altLang="en-US" sz="2400" b="1" dirty="0">
                <a:solidFill>
                  <a:srgbClr val="0000CC"/>
                </a:solidFill>
                <a:latin typeface="+mn-lt"/>
                <a:ea typeface="黑体" panose="02010609060101010101" pitchFamily="2" charset="-122"/>
              </a:rPr>
              <a:t>到达网</a:t>
            </a:r>
            <a:r>
              <a:rPr kumimoji="1" lang="en-US" altLang="zh-CN" sz="2400" b="1" dirty="0">
                <a:solidFill>
                  <a:srgbClr val="0000CC"/>
                </a:solidFill>
                <a:latin typeface="+mn-lt"/>
                <a:ea typeface="黑体" panose="02010609060101010101" pitchFamily="2" charset="-122"/>
              </a:rPr>
              <a:t>1</a:t>
            </a:r>
            <a:r>
              <a:rPr kumimoji="1" lang="zh-CN" altLang="en-US" sz="2400" b="1" dirty="0">
                <a:solidFill>
                  <a:srgbClr val="0000CC"/>
                </a:solidFill>
                <a:latin typeface="+mn-lt"/>
                <a:ea typeface="黑体" panose="02010609060101010101" pitchFamily="2" charset="-122"/>
              </a:rPr>
              <a:t>，于是更新自己的路由表，说：“我到网 </a:t>
            </a:r>
            <a:r>
              <a:rPr kumimoji="1" lang="en-US" altLang="zh-CN" sz="2400" b="1" dirty="0">
                <a:solidFill>
                  <a:srgbClr val="0000CC"/>
                </a:solidFill>
                <a:latin typeface="+mn-lt"/>
                <a:ea typeface="黑体" panose="02010609060101010101" pitchFamily="2" charset="-122"/>
              </a:rPr>
              <a:t>1 </a:t>
            </a:r>
            <a:r>
              <a:rPr kumimoji="1" lang="zh-CN" altLang="en-US" sz="2400" b="1" dirty="0">
                <a:solidFill>
                  <a:srgbClr val="0000CC"/>
                </a:solidFill>
                <a:latin typeface="+mn-lt"/>
                <a:ea typeface="黑体" panose="02010609060101010101" pitchFamily="2" charset="-122"/>
              </a:rPr>
              <a:t>的距离是 </a:t>
            </a:r>
            <a:r>
              <a:rPr kumimoji="1" lang="en-US" altLang="zh-CN" sz="2400" b="1" dirty="0">
                <a:solidFill>
                  <a:srgbClr val="0000CC"/>
                </a:solidFill>
                <a:latin typeface="+mn-lt"/>
                <a:ea typeface="黑体" panose="02010609060101010101" pitchFamily="2" charset="-122"/>
              </a:rPr>
              <a:t>3</a:t>
            </a:r>
            <a:r>
              <a:rPr kumimoji="1" lang="zh-CN" altLang="en-US" sz="2400" b="1" dirty="0">
                <a:solidFill>
                  <a:srgbClr val="0000CC"/>
                </a:solidFill>
                <a:latin typeface="+mn-lt"/>
                <a:ea typeface="黑体" panose="02010609060101010101" pitchFamily="2" charset="-122"/>
              </a:rPr>
              <a:t>，下一跳经过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en-US" altLang="zh-CN" sz="2400" b="1" dirty="0">
                <a:solidFill>
                  <a:srgbClr val="0000CC"/>
                </a:solidFill>
                <a:latin typeface="+mn-lt"/>
                <a:ea typeface="黑体" panose="02010609060101010101" pitchFamily="2" charset="-122"/>
              </a:rPr>
              <a:t>”</a:t>
            </a:r>
            <a:r>
              <a:rPr kumimoji="1" lang="zh-CN" altLang="en-US" sz="2400" b="1" dirty="0">
                <a:solidFill>
                  <a:srgbClr val="0000CC"/>
                </a:solidFill>
                <a:latin typeface="+mn-lt"/>
                <a:ea typeface="黑体" panose="02010609060101010101" pitchFamily="2" charset="-122"/>
              </a:rPr>
              <a:t>。然后将此更新信息发送给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a:t>
            </a:r>
            <a:r>
              <a:rPr kumimoji="1" lang="zh-CN" altLang="en-US" sz="2400" b="1" dirty="0">
                <a:solidFill>
                  <a:srgbClr val="0000CC"/>
                </a:solidFill>
                <a:latin typeface="+mn-lt"/>
                <a:ea typeface="黑体" panose="02010609060101010101" pitchFamily="2" charset="-122"/>
              </a:rPr>
              <a:t>。</a:t>
            </a:r>
          </a:p>
        </p:txBody>
      </p:sp>
      <p:grpSp>
        <p:nvGrpSpPr>
          <p:cNvPr id="577657" name="Group 121"/>
          <p:cNvGrpSpPr/>
          <p:nvPr/>
        </p:nvGrpSpPr>
        <p:grpSpPr bwMode="auto">
          <a:xfrm>
            <a:off x="2691475" y="3644032"/>
            <a:ext cx="1635521" cy="312737"/>
            <a:chOff x="1565" y="2478"/>
            <a:chExt cx="951" cy="197"/>
          </a:xfrm>
        </p:grpSpPr>
        <p:grpSp>
          <p:nvGrpSpPr>
            <p:cNvPr id="577658" name="Group 122"/>
            <p:cNvGrpSpPr/>
            <p:nvPr/>
          </p:nvGrpSpPr>
          <p:grpSpPr bwMode="auto">
            <a:xfrm>
              <a:off x="1589" y="2478"/>
              <a:ext cx="927" cy="197"/>
              <a:chOff x="1491" y="212"/>
              <a:chExt cx="853" cy="240"/>
            </a:xfrm>
          </p:grpSpPr>
          <p:sp>
            <p:nvSpPr>
              <p:cNvPr id="577659"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7660"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7661" name="Text Box 125"/>
            <p:cNvSpPr txBox="1">
              <a:spLocks noChangeArrowheads="1"/>
            </p:cNvSpPr>
            <p:nvPr/>
          </p:nvSpPr>
          <p:spPr bwMode="auto">
            <a:xfrm>
              <a:off x="1565" y="2518"/>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1  3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2</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7656"/>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577657"/>
                                        </p:tgtEl>
                                        <p:attrNameLst>
                                          <p:attrName>style.visibility</p:attrName>
                                        </p:attrNameLst>
                                      </p:cBhvr>
                                      <p:to>
                                        <p:strVal val="visible"/>
                                      </p:to>
                                    </p:set>
                                  </p:childTnLst>
                                </p:cTn>
                              </p:par>
                            </p:childTnLst>
                          </p:cTn>
                        </p:par>
                        <p:par>
                          <p:cTn id="10" fill="hold">
                            <p:stCondLst>
                              <p:cond delay="0"/>
                            </p:stCondLst>
                            <p:childTnLst>
                              <p:par>
                                <p:cTn id="11" presetID="35" presetClass="emph" presetSubtype="0" repeatCount="3000" fill="hold" nodeType="afterEffect">
                                  <p:stCondLst>
                                    <p:cond delay="0"/>
                                  </p:stCondLst>
                                  <p:childTnLst>
                                    <p:anim calcmode="discrete" valueType="str">
                                      <p:cBhvr>
                                        <p:cTn id="12" dur="1000" fill="hold"/>
                                        <p:tgtEl>
                                          <p:spTgt spid="5776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656"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Line 2"/>
          <p:cNvSpPr>
            <a:spLocks noChangeShapeType="1"/>
          </p:cNvSpPr>
          <p:nvPr/>
        </p:nvSpPr>
        <p:spPr bwMode="auto">
          <a:xfrm>
            <a:off x="1785144" y="1064185"/>
            <a:ext cx="70115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8563"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8564"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8565"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8566"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8567" name="Group 7"/>
          <p:cNvGrpSpPr/>
          <p:nvPr/>
        </p:nvGrpSpPr>
        <p:grpSpPr bwMode="auto">
          <a:xfrm>
            <a:off x="768747" y="632386"/>
            <a:ext cx="1277805" cy="858837"/>
            <a:chOff x="4830" y="1752"/>
            <a:chExt cx="667" cy="477"/>
          </a:xfrm>
        </p:grpSpPr>
        <p:grpSp>
          <p:nvGrpSpPr>
            <p:cNvPr id="578568" name="Group 8"/>
            <p:cNvGrpSpPr/>
            <p:nvPr/>
          </p:nvGrpSpPr>
          <p:grpSpPr bwMode="auto">
            <a:xfrm>
              <a:off x="4830" y="1752"/>
              <a:ext cx="667" cy="477"/>
              <a:chOff x="2949" y="196"/>
              <a:chExt cx="941" cy="598"/>
            </a:xfrm>
          </p:grpSpPr>
          <p:sp>
            <p:nvSpPr>
              <p:cNvPr id="578569"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0"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1"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2"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3"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4"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5"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6"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77"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578"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579"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580"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8581" name="Group 21"/>
          <p:cNvGrpSpPr/>
          <p:nvPr/>
        </p:nvGrpSpPr>
        <p:grpSpPr bwMode="auto">
          <a:xfrm>
            <a:off x="8356468" y="632386"/>
            <a:ext cx="1277805" cy="858837"/>
            <a:chOff x="4830" y="1752"/>
            <a:chExt cx="667" cy="477"/>
          </a:xfrm>
        </p:grpSpPr>
        <p:grpSp>
          <p:nvGrpSpPr>
            <p:cNvPr id="578582" name="Group 22"/>
            <p:cNvGrpSpPr/>
            <p:nvPr/>
          </p:nvGrpSpPr>
          <p:grpSpPr bwMode="auto">
            <a:xfrm>
              <a:off x="4830" y="1752"/>
              <a:ext cx="667" cy="477"/>
              <a:chOff x="2949" y="196"/>
              <a:chExt cx="941" cy="598"/>
            </a:xfrm>
          </p:grpSpPr>
          <p:sp>
            <p:nvSpPr>
              <p:cNvPr id="578583"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4"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5"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6"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7"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8"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89"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90"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91"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592"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593"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594"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8595" name="Group 35"/>
          <p:cNvGrpSpPr/>
          <p:nvPr/>
        </p:nvGrpSpPr>
        <p:grpSpPr bwMode="auto">
          <a:xfrm>
            <a:off x="4531651" y="632386"/>
            <a:ext cx="1277805" cy="858837"/>
            <a:chOff x="4830" y="1752"/>
            <a:chExt cx="667" cy="477"/>
          </a:xfrm>
        </p:grpSpPr>
        <p:grpSp>
          <p:nvGrpSpPr>
            <p:cNvPr id="578596" name="Group 36"/>
            <p:cNvGrpSpPr/>
            <p:nvPr/>
          </p:nvGrpSpPr>
          <p:grpSpPr bwMode="auto">
            <a:xfrm>
              <a:off x="4830" y="1752"/>
              <a:ext cx="667" cy="477"/>
              <a:chOff x="2949" y="196"/>
              <a:chExt cx="941" cy="598"/>
            </a:xfrm>
          </p:grpSpPr>
          <p:sp>
            <p:nvSpPr>
              <p:cNvPr id="578597"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98"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599"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0"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1"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2"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3"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4"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05"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06"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07"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608"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8609" name="Group 49"/>
          <p:cNvGrpSpPr/>
          <p:nvPr/>
        </p:nvGrpSpPr>
        <p:grpSpPr bwMode="auto">
          <a:xfrm>
            <a:off x="612246" y="1916832"/>
            <a:ext cx="9022027" cy="1522412"/>
            <a:chOff x="356" y="1253"/>
            <a:chExt cx="5246" cy="959"/>
          </a:xfrm>
        </p:grpSpPr>
        <p:sp>
          <p:nvSpPr>
            <p:cNvPr id="578610" name="Line 50"/>
            <p:cNvSpPr>
              <a:spLocks noChangeShapeType="1"/>
            </p:cNvSpPr>
            <p:nvPr/>
          </p:nvSpPr>
          <p:spPr bwMode="auto">
            <a:xfrm>
              <a:off x="1038" y="1581"/>
              <a:ext cx="4077"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861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8612"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8613"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8614"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8615" name="Group 55"/>
            <p:cNvGrpSpPr/>
            <p:nvPr/>
          </p:nvGrpSpPr>
          <p:grpSpPr bwMode="auto">
            <a:xfrm>
              <a:off x="447" y="1309"/>
              <a:ext cx="743" cy="541"/>
              <a:chOff x="4830" y="1752"/>
              <a:chExt cx="667" cy="477"/>
            </a:xfrm>
          </p:grpSpPr>
          <p:grpSp>
            <p:nvGrpSpPr>
              <p:cNvPr id="578616" name="Group 56"/>
              <p:cNvGrpSpPr/>
              <p:nvPr/>
            </p:nvGrpSpPr>
            <p:grpSpPr bwMode="auto">
              <a:xfrm>
                <a:off x="4830" y="1752"/>
                <a:ext cx="667" cy="477"/>
                <a:chOff x="2949" y="196"/>
                <a:chExt cx="941" cy="598"/>
              </a:xfrm>
            </p:grpSpPr>
            <p:sp>
              <p:nvSpPr>
                <p:cNvPr id="578617" name="Oval 5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18"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19"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0"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1" name="Oval 6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2"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3" name="Oval 6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4"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25" name="Freeform 6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26" name="Freeform 6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27" name="Freeform 6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628"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8629" name="Group 69"/>
            <p:cNvGrpSpPr/>
            <p:nvPr/>
          </p:nvGrpSpPr>
          <p:grpSpPr bwMode="auto">
            <a:xfrm>
              <a:off x="4859" y="1309"/>
              <a:ext cx="743" cy="541"/>
              <a:chOff x="4830" y="1752"/>
              <a:chExt cx="667" cy="477"/>
            </a:xfrm>
          </p:grpSpPr>
          <p:grpSp>
            <p:nvGrpSpPr>
              <p:cNvPr id="578630" name="Group 70"/>
              <p:cNvGrpSpPr/>
              <p:nvPr/>
            </p:nvGrpSpPr>
            <p:grpSpPr bwMode="auto">
              <a:xfrm>
                <a:off x="4830" y="1752"/>
                <a:ext cx="667" cy="477"/>
                <a:chOff x="2949" y="196"/>
                <a:chExt cx="941" cy="598"/>
              </a:xfrm>
            </p:grpSpPr>
            <p:sp>
              <p:nvSpPr>
                <p:cNvPr id="578631" name="Oval 71"/>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2"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3"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4"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5" name="Oval 75"/>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6"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7" name="Oval 77"/>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8"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39" name="Freeform 79"/>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40" name="Freeform 80"/>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41" name="Freeform 81"/>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642"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8643" name="Group 83"/>
            <p:cNvGrpSpPr/>
            <p:nvPr/>
          </p:nvGrpSpPr>
          <p:grpSpPr bwMode="auto">
            <a:xfrm>
              <a:off x="2635" y="1309"/>
              <a:ext cx="743" cy="541"/>
              <a:chOff x="4830" y="1752"/>
              <a:chExt cx="667" cy="477"/>
            </a:xfrm>
          </p:grpSpPr>
          <p:grpSp>
            <p:nvGrpSpPr>
              <p:cNvPr id="578644" name="Group 84"/>
              <p:cNvGrpSpPr/>
              <p:nvPr/>
            </p:nvGrpSpPr>
            <p:grpSpPr bwMode="auto">
              <a:xfrm>
                <a:off x="4830" y="1752"/>
                <a:ext cx="667" cy="477"/>
                <a:chOff x="2949" y="196"/>
                <a:chExt cx="941" cy="598"/>
              </a:xfrm>
            </p:grpSpPr>
            <p:sp>
              <p:nvSpPr>
                <p:cNvPr id="578645" name="Oval 85"/>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46"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47"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48"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49" name="Oval 89"/>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50"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51" name="Oval 91"/>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52"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53" name="Freeform 93"/>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54" name="Freeform 94"/>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55" name="Freeform 95"/>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656"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8657" name="Group 97"/>
            <p:cNvGrpSpPr/>
            <p:nvPr/>
          </p:nvGrpSpPr>
          <p:grpSpPr bwMode="auto">
            <a:xfrm>
              <a:off x="434" y="1253"/>
              <a:ext cx="755" cy="612"/>
              <a:chOff x="434" y="1298"/>
              <a:chExt cx="755" cy="612"/>
            </a:xfrm>
          </p:grpSpPr>
          <p:sp>
            <p:nvSpPr>
              <p:cNvPr id="578658" name="Line 98"/>
              <p:cNvSpPr>
                <a:spLocks noChangeShapeType="1"/>
              </p:cNvSpPr>
              <p:nvPr/>
            </p:nvSpPr>
            <p:spPr bwMode="auto">
              <a:xfrm>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8659" name="Line 99"/>
              <p:cNvSpPr>
                <a:spLocks noChangeShapeType="1"/>
              </p:cNvSpPr>
              <p:nvPr/>
            </p:nvSpPr>
            <p:spPr bwMode="auto">
              <a:xfrm flipH="1">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8660"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anose="02010609060101010101" pitchFamily="2" charset="-122"/>
                </a:rPr>
                <a:t>网</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出了故障</a:t>
              </a:r>
            </a:p>
          </p:txBody>
        </p:sp>
      </p:grpSp>
      <p:sp>
        <p:nvSpPr>
          <p:cNvPr id="578661"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8662" name="Group 102"/>
          <p:cNvGrpSpPr/>
          <p:nvPr/>
        </p:nvGrpSpPr>
        <p:grpSpPr bwMode="auto">
          <a:xfrm>
            <a:off x="2436946" y="499036"/>
            <a:ext cx="1594246" cy="312737"/>
            <a:chOff x="1491" y="212"/>
            <a:chExt cx="853" cy="240"/>
          </a:xfrm>
        </p:grpSpPr>
        <p:sp>
          <p:nvSpPr>
            <p:cNvPr id="578663"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64"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65" name="Text Box 105"/>
          <p:cNvSpPr txBox="1">
            <a:spLocks noChangeArrowheads="1"/>
          </p:cNvSpPr>
          <p:nvPr/>
        </p:nvSpPr>
        <p:spPr bwMode="auto">
          <a:xfrm>
            <a:off x="2457583" y="573648"/>
            <a:ext cx="893193" cy="2655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nvGrpSpPr>
          <p:cNvPr id="578666" name="Group 106"/>
          <p:cNvGrpSpPr/>
          <p:nvPr/>
        </p:nvGrpSpPr>
        <p:grpSpPr bwMode="auto">
          <a:xfrm>
            <a:off x="2693194" y="3140793"/>
            <a:ext cx="1633802" cy="331788"/>
            <a:chOff x="1566" y="2024"/>
            <a:chExt cx="950" cy="209"/>
          </a:xfrm>
        </p:grpSpPr>
        <p:grpSp>
          <p:nvGrpSpPr>
            <p:cNvPr id="578667" name="Group 107"/>
            <p:cNvGrpSpPr/>
            <p:nvPr/>
          </p:nvGrpSpPr>
          <p:grpSpPr bwMode="auto">
            <a:xfrm>
              <a:off x="1589" y="2024"/>
              <a:ext cx="927" cy="197"/>
              <a:chOff x="1491" y="212"/>
              <a:chExt cx="853" cy="240"/>
            </a:xfrm>
          </p:grpSpPr>
          <p:sp>
            <p:nvSpPr>
              <p:cNvPr id="578668"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69"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70" name="Text Box 110"/>
            <p:cNvSpPr txBox="1">
              <a:spLocks noChangeArrowheads="1"/>
            </p:cNvSpPr>
            <p:nvPr/>
          </p:nvSpPr>
          <p:spPr bwMode="auto">
            <a:xfrm>
              <a:off x="1566" y="2066"/>
              <a:ext cx="602"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1  16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grpSp>
        <p:nvGrpSpPr>
          <p:cNvPr id="578671" name="Group 111"/>
          <p:cNvGrpSpPr/>
          <p:nvPr/>
        </p:nvGrpSpPr>
        <p:grpSpPr bwMode="auto">
          <a:xfrm flipH="1">
            <a:off x="6045068" y="521261"/>
            <a:ext cx="1594246" cy="312737"/>
            <a:chOff x="1491" y="212"/>
            <a:chExt cx="853" cy="240"/>
          </a:xfrm>
          <a:solidFill>
            <a:srgbClr val="66FF66"/>
          </a:solidFill>
        </p:grpSpPr>
        <p:sp>
          <p:nvSpPr>
            <p:cNvPr id="57867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73" name="Rectangle 113"/>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74" name="Text Box 114"/>
          <p:cNvSpPr txBox="1">
            <a:spLocks noChangeArrowheads="1"/>
          </p:cNvSpPr>
          <p:nvPr/>
        </p:nvSpPr>
        <p:spPr bwMode="auto">
          <a:xfrm>
            <a:off x="6468137" y="616511"/>
            <a:ext cx="1032655" cy="26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grpSp>
        <p:nvGrpSpPr>
          <p:cNvPr id="578675" name="Group 115"/>
          <p:cNvGrpSpPr/>
          <p:nvPr/>
        </p:nvGrpSpPr>
        <p:grpSpPr bwMode="auto">
          <a:xfrm>
            <a:off x="6045068" y="3088416"/>
            <a:ext cx="1594246" cy="361951"/>
            <a:chOff x="3515" y="1991"/>
            <a:chExt cx="927" cy="228"/>
          </a:xfrm>
          <a:solidFill>
            <a:srgbClr val="66FF66"/>
          </a:solidFill>
        </p:grpSpPr>
        <p:grpSp>
          <p:nvGrpSpPr>
            <p:cNvPr id="578676" name="Group 116"/>
            <p:cNvGrpSpPr/>
            <p:nvPr/>
          </p:nvGrpSpPr>
          <p:grpSpPr bwMode="auto">
            <a:xfrm flipH="1">
              <a:off x="3515" y="1991"/>
              <a:ext cx="927" cy="197"/>
              <a:chOff x="1491" y="212"/>
              <a:chExt cx="853" cy="240"/>
            </a:xfrm>
            <a:grpFill/>
          </p:grpSpPr>
          <p:sp>
            <p:nvSpPr>
              <p:cNvPr id="578677"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78" name="Rectangle 118"/>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79" name="Text Box 119"/>
            <p:cNvSpPr txBox="1">
              <a:spLocks noChangeArrowheads="1"/>
            </p:cNvSpPr>
            <p:nvPr/>
          </p:nvSpPr>
          <p:spPr bwMode="auto">
            <a:xfrm>
              <a:off x="3761" y="2051"/>
              <a:ext cx="600" cy="16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1  2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sp>
        <p:nvSpPr>
          <p:cNvPr id="578680" name="Text Box 120"/>
          <p:cNvSpPr txBox="1">
            <a:spLocks noChangeArrowheads="1"/>
          </p:cNvSpPr>
          <p:nvPr/>
        </p:nvSpPr>
        <p:spPr bwMode="auto">
          <a:xfrm>
            <a:off x="3027547" y="4437112"/>
            <a:ext cx="6373844" cy="830997"/>
          </a:xfrm>
          <a:prstGeom prst="rect">
            <a:avLst/>
          </a:prstGeom>
          <a:solidFill>
            <a:srgbClr val="FFFF99"/>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2 </a:t>
            </a:r>
            <a:r>
              <a:rPr kumimoji="1" lang="zh-CN" altLang="en-US" sz="2400" b="1" dirty="0">
                <a:solidFill>
                  <a:srgbClr val="0000CC"/>
                </a:solidFill>
                <a:latin typeface="+mn-lt"/>
                <a:ea typeface="黑体" panose="02010609060101010101" pitchFamily="2" charset="-122"/>
              </a:rPr>
              <a:t>以后又更新自己的路由表为“</a:t>
            </a:r>
            <a:r>
              <a:rPr kumimoji="1" lang="en-US" altLang="zh-CN" sz="2400" b="1" dirty="0">
                <a:solidFill>
                  <a:srgbClr val="0000CC"/>
                </a:solidFill>
                <a:latin typeface="+mn-lt"/>
                <a:ea typeface="黑体" panose="02010609060101010101" pitchFamily="2" charset="-122"/>
              </a:rPr>
              <a:t>1, 4, 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a:t>
            </a:r>
            <a:r>
              <a:rPr kumimoji="1" lang="zh-CN" altLang="en-US" sz="2400" b="1" dirty="0">
                <a:solidFill>
                  <a:srgbClr val="0000CC"/>
                </a:solidFill>
                <a:latin typeface="+mn-lt"/>
                <a:ea typeface="黑体" panose="02010609060101010101" pitchFamily="2" charset="-122"/>
              </a:rPr>
              <a:t>，表明 “我到网 </a:t>
            </a:r>
            <a:r>
              <a:rPr kumimoji="1" lang="en-US" altLang="zh-CN" sz="2400" b="1" dirty="0">
                <a:solidFill>
                  <a:srgbClr val="0000CC"/>
                </a:solidFill>
                <a:latin typeface="+mn-lt"/>
                <a:ea typeface="黑体" panose="02010609060101010101" pitchFamily="2" charset="-122"/>
              </a:rPr>
              <a:t>1 </a:t>
            </a:r>
            <a:r>
              <a:rPr kumimoji="1" lang="zh-CN" altLang="en-US" sz="2400" b="1" dirty="0">
                <a:solidFill>
                  <a:srgbClr val="0000CC"/>
                </a:solidFill>
                <a:latin typeface="+mn-lt"/>
                <a:ea typeface="黑体" panose="02010609060101010101" pitchFamily="2" charset="-122"/>
              </a:rPr>
              <a:t>距离是 </a:t>
            </a:r>
            <a:r>
              <a:rPr kumimoji="1" lang="en-US" altLang="zh-CN" sz="2400" b="1" dirty="0">
                <a:solidFill>
                  <a:srgbClr val="0000CC"/>
                </a:solidFill>
                <a:latin typeface="+mn-lt"/>
                <a:ea typeface="黑体" panose="02010609060101010101" pitchFamily="2" charset="-122"/>
              </a:rPr>
              <a:t>4</a:t>
            </a:r>
            <a:r>
              <a:rPr kumimoji="1" lang="zh-CN" altLang="en-US" sz="2400" b="1" dirty="0">
                <a:solidFill>
                  <a:srgbClr val="0000CC"/>
                </a:solidFill>
                <a:latin typeface="+mn-lt"/>
                <a:ea typeface="黑体" panose="02010609060101010101" pitchFamily="2" charset="-122"/>
              </a:rPr>
              <a:t>，下一跳经过 </a:t>
            </a:r>
            <a:r>
              <a:rPr kumimoji="1" lang="en-US" altLang="zh-CN" sz="2400" b="1" dirty="0">
                <a:solidFill>
                  <a:srgbClr val="0000CC"/>
                </a:solidFill>
                <a:latin typeface="+mn-lt"/>
                <a:ea typeface="黑体" panose="02010609060101010101" pitchFamily="2" charset="-122"/>
              </a:rPr>
              <a:t>R</a:t>
            </a:r>
            <a:r>
              <a:rPr kumimoji="1" lang="en-US" altLang="zh-CN" sz="2400" b="1" baseline="-25000" dirty="0">
                <a:solidFill>
                  <a:srgbClr val="0000CC"/>
                </a:solidFill>
                <a:latin typeface="+mn-lt"/>
                <a:ea typeface="黑体" panose="02010609060101010101" pitchFamily="2" charset="-122"/>
              </a:rPr>
              <a:t>1</a:t>
            </a:r>
            <a:r>
              <a:rPr kumimoji="1" lang="en-US" altLang="zh-CN" sz="2400" b="1" dirty="0">
                <a:solidFill>
                  <a:srgbClr val="0000CC"/>
                </a:solidFill>
                <a:latin typeface="+mn-lt"/>
                <a:ea typeface="黑体" panose="02010609060101010101" pitchFamily="2" charset="-122"/>
              </a:rPr>
              <a:t>”</a:t>
            </a:r>
            <a:r>
              <a:rPr kumimoji="1" lang="zh-CN" altLang="en-US" sz="2400" b="1" dirty="0">
                <a:solidFill>
                  <a:srgbClr val="0000CC"/>
                </a:solidFill>
                <a:latin typeface="+mn-lt"/>
                <a:ea typeface="黑体" panose="02010609060101010101" pitchFamily="2" charset="-122"/>
              </a:rPr>
              <a:t>。 </a:t>
            </a:r>
          </a:p>
        </p:txBody>
      </p:sp>
      <p:grpSp>
        <p:nvGrpSpPr>
          <p:cNvPr id="578681" name="Group 121"/>
          <p:cNvGrpSpPr/>
          <p:nvPr/>
        </p:nvGrpSpPr>
        <p:grpSpPr bwMode="auto">
          <a:xfrm>
            <a:off x="2691475" y="3644026"/>
            <a:ext cx="1635521" cy="330199"/>
            <a:chOff x="1565" y="2478"/>
            <a:chExt cx="951" cy="208"/>
          </a:xfrm>
        </p:grpSpPr>
        <p:grpSp>
          <p:nvGrpSpPr>
            <p:cNvPr id="578682" name="Group 122"/>
            <p:cNvGrpSpPr/>
            <p:nvPr/>
          </p:nvGrpSpPr>
          <p:grpSpPr bwMode="auto">
            <a:xfrm>
              <a:off x="1589" y="2478"/>
              <a:ext cx="927" cy="197"/>
              <a:chOff x="1491" y="212"/>
              <a:chExt cx="853" cy="240"/>
            </a:xfrm>
          </p:grpSpPr>
          <p:sp>
            <p:nvSpPr>
              <p:cNvPr id="578683"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84"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85" name="Text Box 125"/>
            <p:cNvSpPr txBox="1">
              <a:spLocks noChangeArrowheads="1"/>
            </p:cNvSpPr>
            <p:nvPr/>
          </p:nvSpPr>
          <p:spPr bwMode="auto">
            <a:xfrm>
              <a:off x="1565" y="2518"/>
              <a:ext cx="600"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1  3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2</a:t>
              </a:r>
            </a:p>
          </p:txBody>
        </p:sp>
      </p:grpSp>
      <p:grpSp>
        <p:nvGrpSpPr>
          <p:cNvPr id="578686" name="Group 126"/>
          <p:cNvGrpSpPr/>
          <p:nvPr/>
        </p:nvGrpSpPr>
        <p:grpSpPr bwMode="auto">
          <a:xfrm>
            <a:off x="6045068" y="3932970"/>
            <a:ext cx="1594246" cy="349251"/>
            <a:chOff x="3515" y="2704"/>
            <a:chExt cx="927" cy="220"/>
          </a:xfrm>
          <a:solidFill>
            <a:srgbClr val="66FF66"/>
          </a:solidFill>
        </p:grpSpPr>
        <p:grpSp>
          <p:nvGrpSpPr>
            <p:cNvPr id="578687" name="Group 127"/>
            <p:cNvGrpSpPr/>
            <p:nvPr/>
          </p:nvGrpSpPr>
          <p:grpSpPr bwMode="auto">
            <a:xfrm flipH="1">
              <a:off x="3515" y="2704"/>
              <a:ext cx="927" cy="197"/>
              <a:chOff x="1491" y="212"/>
              <a:chExt cx="853" cy="240"/>
            </a:xfrm>
            <a:grpFill/>
          </p:grpSpPr>
          <p:sp>
            <p:nvSpPr>
              <p:cNvPr id="578688" name="AutoShape 12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8689" name="Rectangle 129"/>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8690" name="Text Box 130"/>
            <p:cNvSpPr txBox="1">
              <a:spLocks noChangeArrowheads="1"/>
            </p:cNvSpPr>
            <p:nvPr/>
          </p:nvSpPr>
          <p:spPr bwMode="auto">
            <a:xfrm>
              <a:off x="3771" y="2756"/>
              <a:ext cx="600" cy="16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1  4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500"/>
                                  </p:stCondLst>
                                  <p:childTnLst>
                                    <p:set>
                                      <p:cBhvr>
                                        <p:cTn id="6" dur="1" fill="hold">
                                          <p:stCondLst>
                                            <p:cond delay="0"/>
                                          </p:stCondLst>
                                        </p:cTn>
                                        <p:tgtEl>
                                          <p:spTgt spid="578686"/>
                                        </p:tgtEl>
                                        <p:attrNameLst>
                                          <p:attrName>style.visibility</p:attrName>
                                        </p:attrNameLst>
                                      </p:cBhvr>
                                      <p:to>
                                        <p:strVal val="visible"/>
                                      </p:to>
                                    </p:set>
                                  </p:childTnLst>
                                </p:cTn>
                              </p:par>
                            </p:childTnLst>
                          </p:cTn>
                        </p:par>
                        <p:par>
                          <p:cTn id="7" fill="hold">
                            <p:stCondLst>
                              <p:cond delay="500"/>
                            </p:stCondLst>
                            <p:childTnLst>
                              <p:par>
                                <p:cTn id="8" presetID="35" presetClass="emph" presetSubtype="0" repeatCount="3000" fill="hold" nodeType="afterEffect">
                                  <p:stCondLst>
                                    <p:cond delay="500"/>
                                  </p:stCondLst>
                                  <p:childTnLst>
                                    <p:anim calcmode="discrete" valueType="str">
                                      <p:cBhvr>
                                        <p:cTn id="9" dur="1000" fill="hold"/>
                                        <p:tgtEl>
                                          <p:spTgt spid="57868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Line 2"/>
          <p:cNvSpPr>
            <a:spLocks noChangeShapeType="1"/>
          </p:cNvSpPr>
          <p:nvPr/>
        </p:nvSpPr>
        <p:spPr bwMode="auto">
          <a:xfrm>
            <a:off x="1785144" y="1064185"/>
            <a:ext cx="70115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958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9588"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9589"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9590"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9591" name="Group 7"/>
          <p:cNvGrpSpPr/>
          <p:nvPr/>
        </p:nvGrpSpPr>
        <p:grpSpPr bwMode="auto">
          <a:xfrm>
            <a:off x="768747" y="632386"/>
            <a:ext cx="1277805" cy="858837"/>
            <a:chOff x="4830" y="1752"/>
            <a:chExt cx="667" cy="477"/>
          </a:xfrm>
        </p:grpSpPr>
        <p:grpSp>
          <p:nvGrpSpPr>
            <p:cNvPr id="579592" name="Group 8"/>
            <p:cNvGrpSpPr/>
            <p:nvPr/>
          </p:nvGrpSpPr>
          <p:grpSpPr bwMode="auto">
            <a:xfrm>
              <a:off x="4830" y="1752"/>
              <a:ext cx="667" cy="477"/>
              <a:chOff x="2949" y="196"/>
              <a:chExt cx="941" cy="598"/>
            </a:xfrm>
          </p:grpSpPr>
          <p:sp>
            <p:nvSpPr>
              <p:cNvPr id="579593" name="Oval 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4"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5"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6"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7" name="Oval 1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8"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599" name="Oval 1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00"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01" name="Freeform 1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02" name="Freeform 1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03" name="Freeform 1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04"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9605" name="Group 21"/>
          <p:cNvGrpSpPr/>
          <p:nvPr/>
        </p:nvGrpSpPr>
        <p:grpSpPr bwMode="auto">
          <a:xfrm>
            <a:off x="8356468" y="632386"/>
            <a:ext cx="1277805" cy="858837"/>
            <a:chOff x="4830" y="1752"/>
            <a:chExt cx="667" cy="477"/>
          </a:xfrm>
        </p:grpSpPr>
        <p:grpSp>
          <p:nvGrpSpPr>
            <p:cNvPr id="579606" name="Group 22"/>
            <p:cNvGrpSpPr/>
            <p:nvPr/>
          </p:nvGrpSpPr>
          <p:grpSpPr bwMode="auto">
            <a:xfrm>
              <a:off x="4830" y="1752"/>
              <a:ext cx="667" cy="477"/>
              <a:chOff x="2949" y="196"/>
              <a:chExt cx="941" cy="598"/>
            </a:xfrm>
          </p:grpSpPr>
          <p:sp>
            <p:nvSpPr>
              <p:cNvPr id="579607" name="Oval 23"/>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08"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09"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0"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1" name="Oval 27"/>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2"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3" name="Oval 29"/>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4"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15" name="Freeform 31"/>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16" name="Freeform 32"/>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17" name="Freeform 33"/>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18"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9619" name="Group 35"/>
          <p:cNvGrpSpPr/>
          <p:nvPr/>
        </p:nvGrpSpPr>
        <p:grpSpPr bwMode="auto">
          <a:xfrm>
            <a:off x="4531651" y="632386"/>
            <a:ext cx="1277805" cy="858837"/>
            <a:chOff x="4830" y="1752"/>
            <a:chExt cx="667" cy="477"/>
          </a:xfrm>
        </p:grpSpPr>
        <p:grpSp>
          <p:nvGrpSpPr>
            <p:cNvPr id="579620" name="Group 36"/>
            <p:cNvGrpSpPr/>
            <p:nvPr/>
          </p:nvGrpSpPr>
          <p:grpSpPr bwMode="auto">
            <a:xfrm>
              <a:off x="4830" y="1752"/>
              <a:ext cx="667" cy="477"/>
              <a:chOff x="2949" y="196"/>
              <a:chExt cx="941" cy="598"/>
            </a:xfrm>
          </p:grpSpPr>
          <p:sp>
            <p:nvSpPr>
              <p:cNvPr id="579621" name="Oval 3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2"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3"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4"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5" name="Oval 4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6"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7" name="Oval 4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8"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29" name="Freeform 4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30" name="Freeform 4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31" name="Freeform 4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32"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sp>
        <p:nvSpPr>
          <p:cNvPr id="579633" name="Line 49"/>
          <p:cNvSpPr>
            <a:spLocks noChangeShapeType="1"/>
          </p:cNvSpPr>
          <p:nvPr/>
        </p:nvSpPr>
        <p:spPr bwMode="auto">
          <a:xfrm>
            <a:off x="1785144" y="2437532"/>
            <a:ext cx="7011591"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579634"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2283544"/>
            <a:ext cx="78938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9635" name="Text Box 51"/>
          <p:cNvSpPr txBox="1">
            <a:spLocks noChangeArrowheads="1"/>
          </p:cNvSpPr>
          <p:nvPr/>
        </p:nvSpPr>
        <p:spPr bwMode="auto">
          <a:xfrm>
            <a:off x="6944519" y="253119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579636" name="Text Box 52"/>
          <p:cNvSpPr txBox="1">
            <a:spLocks noChangeArrowheads="1"/>
          </p:cNvSpPr>
          <p:nvPr/>
        </p:nvSpPr>
        <p:spPr bwMode="auto">
          <a:xfrm>
            <a:off x="3047471" y="253119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p:txBody>
      </p:sp>
      <p:pic>
        <p:nvPicPr>
          <p:cNvPr id="579637"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2283544"/>
            <a:ext cx="791104"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9638" name="Group 54"/>
          <p:cNvGrpSpPr/>
          <p:nvPr/>
        </p:nvGrpSpPr>
        <p:grpSpPr bwMode="auto">
          <a:xfrm>
            <a:off x="768747" y="2005733"/>
            <a:ext cx="1277805" cy="858837"/>
            <a:chOff x="4830" y="1752"/>
            <a:chExt cx="667" cy="477"/>
          </a:xfrm>
        </p:grpSpPr>
        <p:grpSp>
          <p:nvGrpSpPr>
            <p:cNvPr id="579639" name="Group 55"/>
            <p:cNvGrpSpPr/>
            <p:nvPr/>
          </p:nvGrpSpPr>
          <p:grpSpPr bwMode="auto">
            <a:xfrm>
              <a:off x="4830" y="1752"/>
              <a:ext cx="667" cy="477"/>
              <a:chOff x="2949" y="196"/>
              <a:chExt cx="941" cy="598"/>
            </a:xfrm>
          </p:grpSpPr>
          <p:sp>
            <p:nvSpPr>
              <p:cNvPr id="579640" name="Oval 5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1" name="Oval 5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2" name="Oval 5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3" name="Oval 5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4" name="Oval 6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5" name="Oval 6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6" name="Oval 6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7" name="Oval 6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48" name="Freeform 6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49" name="Freeform 6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50" name="Freeform 6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51" name="Text Box 67"/>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1</a:t>
              </a:r>
            </a:p>
          </p:txBody>
        </p:sp>
      </p:grpSp>
      <p:grpSp>
        <p:nvGrpSpPr>
          <p:cNvPr id="579652" name="Group 68"/>
          <p:cNvGrpSpPr/>
          <p:nvPr/>
        </p:nvGrpSpPr>
        <p:grpSpPr bwMode="auto">
          <a:xfrm>
            <a:off x="8356468" y="2005733"/>
            <a:ext cx="1277805" cy="858837"/>
            <a:chOff x="4830" y="1752"/>
            <a:chExt cx="667" cy="477"/>
          </a:xfrm>
        </p:grpSpPr>
        <p:grpSp>
          <p:nvGrpSpPr>
            <p:cNvPr id="579653" name="Group 69"/>
            <p:cNvGrpSpPr/>
            <p:nvPr/>
          </p:nvGrpSpPr>
          <p:grpSpPr bwMode="auto">
            <a:xfrm>
              <a:off x="4830" y="1752"/>
              <a:ext cx="667" cy="477"/>
              <a:chOff x="2949" y="196"/>
              <a:chExt cx="941" cy="598"/>
            </a:xfrm>
          </p:grpSpPr>
          <p:sp>
            <p:nvSpPr>
              <p:cNvPr id="579654" name="Oval 7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55" name="Oval 7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56" name="Oval 7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57" name="Oval 7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58" name="Oval 7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59" name="Oval 7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60" name="Oval 7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61" name="Oval 7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62" name="Freeform 7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63" name="Freeform 7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64" name="Freeform 8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65" name="Text Box 81"/>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3</a:t>
              </a:r>
            </a:p>
          </p:txBody>
        </p:sp>
      </p:grpSp>
      <p:grpSp>
        <p:nvGrpSpPr>
          <p:cNvPr id="579666" name="Group 82"/>
          <p:cNvGrpSpPr/>
          <p:nvPr/>
        </p:nvGrpSpPr>
        <p:grpSpPr bwMode="auto">
          <a:xfrm>
            <a:off x="4531651" y="2005733"/>
            <a:ext cx="1277805" cy="858837"/>
            <a:chOff x="4830" y="1752"/>
            <a:chExt cx="667" cy="477"/>
          </a:xfrm>
        </p:grpSpPr>
        <p:grpSp>
          <p:nvGrpSpPr>
            <p:cNvPr id="579667" name="Group 83"/>
            <p:cNvGrpSpPr/>
            <p:nvPr/>
          </p:nvGrpSpPr>
          <p:grpSpPr bwMode="auto">
            <a:xfrm>
              <a:off x="4830" y="1752"/>
              <a:ext cx="667" cy="477"/>
              <a:chOff x="2949" y="196"/>
              <a:chExt cx="941" cy="598"/>
            </a:xfrm>
          </p:grpSpPr>
          <p:sp>
            <p:nvSpPr>
              <p:cNvPr id="579668" name="Oval 8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69"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0"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1"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2" name="Oval 8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3"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4" name="Oval 9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5"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76" name="Freeform 9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77" name="Freeform 9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78" name="Freeform 9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79" name="Text Box 95"/>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2</a:t>
              </a:r>
            </a:p>
          </p:txBody>
        </p:sp>
      </p:grpSp>
      <p:grpSp>
        <p:nvGrpSpPr>
          <p:cNvPr id="579680" name="Group 96"/>
          <p:cNvGrpSpPr/>
          <p:nvPr/>
        </p:nvGrpSpPr>
        <p:grpSpPr bwMode="auto">
          <a:xfrm>
            <a:off x="746390" y="1916832"/>
            <a:ext cx="1298443" cy="971550"/>
            <a:chOff x="434" y="1298"/>
            <a:chExt cx="755" cy="612"/>
          </a:xfrm>
        </p:grpSpPr>
        <p:sp>
          <p:nvSpPr>
            <p:cNvPr id="579681" name="Line 97"/>
            <p:cNvSpPr>
              <a:spLocks noChangeShapeType="1"/>
            </p:cNvSpPr>
            <p:nvPr/>
          </p:nvSpPr>
          <p:spPr bwMode="auto">
            <a:xfrm>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79682" name="Line 98"/>
            <p:cNvSpPr>
              <a:spLocks noChangeShapeType="1"/>
            </p:cNvSpPr>
            <p:nvPr/>
          </p:nvSpPr>
          <p:spPr bwMode="auto">
            <a:xfrm flipH="1">
              <a:off x="434" y="1298"/>
              <a:ext cx="755" cy="612"/>
            </a:xfrm>
            <a:prstGeom prst="line">
              <a:avLst/>
            </a:prstGeom>
            <a:noFill/>
            <a:ln w="7620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79683" name="Text Box 99"/>
          <p:cNvSpPr txBox="1">
            <a:spLocks noChangeArrowheads="1"/>
          </p:cNvSpPr>
          <p:nvPr/>
        </p:nvSpPr>
        <p:spPr bwMode="auto">
          <a:xfrm>
            <a:off x="612246" y="3069357"/>
            <a:ext cx="16690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anose="02010609060101010101" pitchFamily="2" charset="-122"/>
              </a:rPr>
              <a:t>网</a:t>
            </a:r>
            <a:r>
              <a:rPr kumimoji="1" lang="zh-CN" altLang="en-US" sz="1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出了故障</a:t>
            </a:r>
          </a:p>
        </p:txBody>
      </p:sp>
      <p:sp>
        <p:nvSpPr>
          <p:cNvPr id="579684" name="Text Box 100"/>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正</a:t>
            </a:r>
          </a:p>
          <a:p>
            <a:r>
              <a:rPr kumimoji="1" lang="zh-CN" altLang="en-US" sz="2000" b="1">
                <a:solidFill>
                  <a:srgbClr val="0000CC"/>
                </a:solidFill>
                <a:latin typeface="+mn-lt"/>
                <a:ea typeface="黑体" panose="02010609060101010101" pitchFamily="2" charset="-122"/>
              </a:rPr>
              <a:t>常</a:t>
            </a:r>
          </a:p>
          <a:p>
            <a:r>
              <a:rPr kumimoji="1" lang="zh-CN" altLang="en-US" sz="2000" b="1">
                <a:solidFill>
                  <a:srgbClr val="0000CC"/>
                </a:solidFill>
                <a:latin typeface="+mn-lt"/>
                <a:ea typeface="黑体" panose="02010609060101010101" pitchFamily="2" charset="-122"/>
              </a:rPr>
              <a:t>情</a:t>
            </a:r>
          </a:p>
          <a:p>
            <a:r>
              <a:rPr kumimoji="1" lang="zh-CN" altLang="en-US" sz="2000" b="1">
                <a:solidFill>
                  <a:srgbClr val="0000CC"/>
                </a:solidFill>
                <a:latin typeface="+mn-lt"/>
                <a:ea typeface="黑体" panose="02010609060101010101" pitchFamily="2" charset="-122"/>
              </a:rPr>
              <a:t>况</a:t>
            </a:r>
          </a:p>
        </p:txBody>
      </p:sp>
      <p:grpSp>
        <p:nvGrpSpPr>
          <p:cNvPr id="579685" name="Group 101"/>
          <p:cNvGrpSpPr/>
          <p:nvPr/>
        </p:nvGrpSpPr>
        <p:grpSpPr bwMode="auto">
          <a:xfrm>
            <a:off x="2436946" y="499036"/>
            <a:ext cx="1594246" cy="312737"/>
            <a:chOff x="1491" y="212"/>
            <a:chExt cx="853" cy="240"/>
          </a:xfrm>
        </p:grpSpPr>
        <p:sp>
          <p:nvSpPr>
            <p:cNvPr id="579686" name="AutoShape 102"/>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87" name="Rectangle 103"/>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688" name="Text Box 104"/>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sp>
        <p:nvSpPr>
          <p:cNvPr id="579689" name="Text Box 105"/>
          <p:cNvSpPr txBox="1">
            <a:spLocks noChangeArrowheads="1"/>
          </p:cNvSpPr>
          <p:nvPr/>
        </p:nvSpPr>
        <p:spPr bwMode="auto">
          <a:xfrm rot="5400000">
            <a:off x="6899290" y="4594428"/>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anose="02010609060101010101" pitchFamily="2" charset="-122"/>
              </a:rPr>
              <a:t>…</a:t>
            </a:r>
          </a:p>
        </p:txBody>
      </p:sp>
      <p:grpSp>
        <p:nvGrpSpPr>
          <p:cNvPr id="579690" name="Group 106"/>
          <p:cNvGrpSpPr/>
          <p:nvPr/>
        </p:nvGrpSpPr>
        <p:grpSpPr bwMode="auto">
          <a:xfrm>
            <a:off x="2732750" y="4220294"/>
            <a:ext cx="1594246" cy="312738"/>
            <a:chOff x="1491" y="212"/>
            <a:chExt cx="853" cy="240"/>
          </a:xfrm>
        </p:grpSpPr>
        <p:sp>
          <p:nvSpPr>
            <p:cNvPr id="579691" name="AutoShape 107"/>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92" name="Rectangle 108"/>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579693" name="Group 109"/>
          <p:cNvGrpSpPr/>
          <p:nvPr/>
        </p:nvGrpSpPr>
        <p:grpSpPr bwMode="auto">
          <a:xfrm>
            <a:off x="2732750" y="3140794"/>
            <a:ext cx="1594246" cy="312738"/>
            <a:chOff x="1491" y="212"/>
            <a:chExt cx="853" cy="240"/>
          </a:xfrm>
        </p:grpSpPr>
        <p:sp>
          <p:nvSpPr>
            <p:cNvPr id="579694" name="AutoShape 110"/>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695" name="Rectangle 111"/>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696" name="Text Box 112"/>
          <p:cNvSpPr txBox="1">
            <a:spLocks noChangeArrowheads="1"/>
          </p:cNvSpPr>
          <p:nvPr/>
        </p:nvSpPr>
        <p:spPr bwMode="auto">
          <a:xfrm>
            <a:off x="2693194" y="3207470"/>
            <a:ext cx="1035861"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1  16  </a:t>
            </a:r>
            <a:r>
              <a:rPr kumimoji="1" lang="en-US" altLang="zh-CN" sz="2000" b="1">
                <a:solidFill>
                  <a:srgbClr val="0000CC"/>
                </a:solidFill>
                <a:latin typeface="+mn-lt"/>
                <a:ea typeface="黑体" panose="02010609060101010101" pitchFamily="2" charset="-122"/>
                <a:sym typeface="Symbol" panose="05050102010706020507" pitchFamily="18" charset="2"/>
              </a:rPr>
              <a:t></a:t>
            </a:r>
            <a:endParaRPr kumimoji="1" lang="en-US" altLang="zh-CN" sz="2000" b="1" baseline="-25000">
              <a:solidFill>
                <a:srgbClr val="0000CC"/>
              </a:solidFill>
              <a:latin typeface="+mn-lt"/>
              <a:ea typeface="黑体" panose="02010609060101010101" pitchFamily="2" charset="-122"/>
              <a:sym typeface="Symbol" panose="05050102010706020507" pitchFamily="18" charset="2"/>
            </a:endParaRPr>
          </a:p>
        </p:txBody>
      </p:sp>
      <p:grpSp>
        <p:nvGrpSpPr>
          <p:cNvPr id="579697" name="Group 113"/>
          <p:cNvGrpSpPr/>
          <p:nvPr/>
        </p:nvGrpSpPr>
        <p:grpSpPr bwMode="auto">
          <a:xfrm>
            <a:off x="2691475" y="3644033"/>
            <a:ext cx="1635521" cy="312737"/>
            <a:chOff x="1565" y="2478"/>
            <a:chExt cx="951" cy="197"/>
          </a:xfrm>
        </p:grpSpPr>
        <p:grpSp>
          <p:nvGrpSpPr>
            <p:cNvPr id="579698" name="Group 114"/>
            <p:cNvGrpSpPr/>
            <p:nvPr/>
          </p:nvGrpSpPr>
          <p:grpSpPr bwMode="auto">
            <a:xfrm>
              <a:off x="1589" y="2478"/>
              <a:ext cx="927" cy="197"/>
              <a:chOff x="1491" y="212"/>
              <a:chExt cx="853" cy="240"/>
            </a:xfrm>
          </p:grpSpPr>
          <p:sp>
            <p:nvSpPr>
              <p:cNvPr id="579699" name="AutoShape 115"/>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00" name="Rectangle 116"/>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01" name="Text Box 117"/>
            <p:cNvSpPr txBox="1">
              <a:spLocks noChangeArrowheads="1"/>
            </p:cNvSpPr>
            <p:nvPr/>
          </p:nvSpPr>
          <p:spPr bwMode="auto">
            <a:xfrm>
              <a:off x="1565" y="2518"/>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1  3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2</a:t>
              </a:r>
            </a:p>
          </p:txBody>
        </p:sp>
      </p:grpSp>
      <p:sp>
        <p:nvSpPr>
          <p:cNvPr id="579702" name="Text Box 118"/>
          <p:cNvSpPr txBox="1">
            <a:spLocks noChangeArrowheads="1"/>
          </p:cNvSpPr>
          <p:nvPr/>
        </p:nvSpPr>
        <p:spPr bwMode="auto">
          <a:xfrm>
            <a:off x="2725870" y="4298083"/>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1  5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2</a:t>
            </a:r>
          </a:p>
        </p:txBody>
      </p:sp>
      <p:grpSp>
        <p:nvGrpSpPr>
          <p:cNvPr id="579703" name="Group 119"/>
          <p:cNvGrpSpPr/>
          <p:nvPr/>
        </p:nvGrpSpPr>
        <p:grpSpPr bwMode="auto">
          <a:xfrm>
            <a:off x="2701794" y="5085490"/>
            <a:ext cx="1625203" cy="331788"/>
            <a:chOff x="1571" y="3313"/>
            <a:chExt cx="945" cy="209"/>
          </a:xfrm>
        </p:grpSpPr>
        <p:grpSp>
          <p:nvGrpSpPr>
            <p:cNvPr id="579704" name="Group 120"/>
            <p:cNvGrpSpPr/>
            <p:nvPr/>
          </p:nvGrpSpPr>
          <p:grpSpPr bwMode="auto">
            <a:xfrm>
              <a:off x="1589" y="3313"/>
              <a:ext cx="927" cy="197"/>
              <a:chOff x="1491" y="212"/>
              <a:chExt cx="853" cy="240"/>
            </a:xfrm>
          </p:grpSpPr>
          <p:sp>
            <p:nvSpPr>
              <p:cNvPr id="579705" name="AutoShape 12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06" name="Rectangle 122"/>
              <p:cNvSpPr>
                <a:spLocks noChangeArrowheads="1"/>
              </p:cNvSpPr>
              <p:nvPr/>
            </p:nvSpPr>
            <p:spPr bwMode="auto">
              <a:xfrm>
                <a:off x="1491" y="212"/>
                <a:ext cx="632" cy="240"/>
              </a:xfrm>
              <a:prstGeom prst="rect">
                <a:avLst/>
              </a:prstGeom>
              <a:solidFill>
                <a:srgbClr val="CCECFF"/>
              </a:solid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07" name="Text Box 123"/>
            <p:cNvSpPr txBox="1">
              <a:spLocks noChangeArrowheads="1"/>
            </p:cNvSpPr>
            <p:nvPr/>
          </p:nvSpPr>
          <p:spPr bwMode="auto">
            <a:xfrm>
              <a:off x="1571" y="3367"/>
              <a:ext cx="683"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1  16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2</a:t>
              </a:r>
            </a:p>
          </p:txBody>
        </p:sp>
      </p:grpSp>
      <p:grpSp>
        <p:nvGrpSpPr>
          <p:cNvPr id="579708" name="Group 124"/>
          <p:cNvGrpSpPr/>
          <p:nvPr/>
        </p:nvGrpSpPr>
        <p:grpSpPr bwMode="auto">
          <a:xfrm flipH="1">
            <a:off x="6045068" y="521261"/>
            <a:ext cx="1594246" cy="312737"/>
            <a:chOff x="1491" y="212"/>
            <a:chExt cx="853" cy="240"/>
          </a:xfrm>
          <a:solidFill>
            <a:srgbClr val="66FF66"/>
          </a:solidFill>
        </p:grpSpPr>
        <p:sp>
          <p:nvSpPr>
            <p:cNvPr id="579709" name="AutoShape 125"/>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10" name="Rectangle 126"/>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11" name="Text Box 12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grpSp>
        <p:nvGrpSpPr>
          <p:cNvPr id="579712" name="Group 128"/>
          <p:cNvGrpSpPr/>
          <p:nvPr/>
        </p:nvGrpSpPr>
        <p:grpSpPr bwMode="auto">
          <a:xfrm flipH="1">
            <a:off x="6045068" y="3088408"/>
            <a:ext cx="1594246" cy="312737"/>
            <a:chOff x="1491" y="212"/>
            <a:chExt cx="853" cy="240"/>
          </a:xfrm>
          <a:solidFill>
            <a:srgbClr val="66FF66"/>
          </a:solidFill>
        </p:grpSpPr>
        <p:sp>
          <p:nvSpPr>
            <p:cNvPr id="579713" name="AutoShape 129"/>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14" name="Rectangle 130"/>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15" name="Text Box 131"/>
          <p:cNvSpPr txBox="1">
            <a:spLocks noChangeArrowheads="1"/>
          </p:cNvSpPr>
          <p:nvPr/>
        </p:nvSpPr>
        <p:spPr bwMode="auto">
          <a:xfrm>
            <a:off x="6468137" y="3183658"/>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anose="02010609060101010101" pitchFamily="2" charset="-122"/>
              </a:rPr>
              <a:t>1  2  </a:t>
            </a:r>
            <a:r>
              <a:rPr kumimoji="1" lang="en-US" altLang="zh-CN" sz="2000" b="1">
                <a:solidFill>
                  <a:srgbClr val="0000CC"/>
                </a:solidFill>
                <a:latin typeface="+mn-lt"/>
                <a:ea typeface="黑体" panose="02010609060101010101" pitchFamily="2" charset="-122"/>
                <a:sym typeface="Symbol" panose="05050102010706020507" pitchFamily="18" charset="2"/>
              </a:rPr>
              <a:t>R</a:t>
            </a:r>
            <a:r>
              <a:rPr kumimoji="1" lang="en-US" altLang="zh-CN" sz="2000" b="1" baseline="-25000">
                <a:solidFill>
                  <a:srgbClr val="0000CC"/>
                </a:solidFill>
                <a:latin typeface="+mn-lt"/>
                <a:ea typeface="黑体" panose="02010609060101010101" pitchFamily="2" charset="-122"/>
                <a:sym typeface="Symbol" panose="05050102010706020507" pitchFamily="18" charset="2"/>
              </a:rPr>
              <a:t>1</a:t>
            </a:r>
          </a:p>
        </p:txBody>
      </p:sp>
      <p:grpSp>
        <p:nvGrpSpPr>
          <p:cNvPr id="579716" name="Group 132"/>
          <p:cNvGrpSpPr/>
          <p:nvPr/>
        </p:nvGrpSpPr>
        <p:grpSpPr bwMode="auto">
          <a:xfrm>
            <a:off x="6045068" y="3932965"/>
            <a:ext cx="1594246" cy="328613"/>
            <a:chOff x="3515" y="2704"/>
            <a:chExt cx="927" cy="207"/>
          </a:xfrm>
          <a:solidFill>
            <a:srgbClr val="66FF66"/>
          </a:solidFill>
        </p:grpSpPr>
        <p:grpSp>
          <p:nvGrpSpPr>
            <p:cNvPr id="579717" name="Group 133"/>
            <p:cNvGrpSpPr/>
            <p:nvPr/>
          </p:nvGrpSpPr>
          <p:grpSpPr bwMode="auto">
            <a:xfrm flipH="1">
              <a:off x="3515" y="2704"/>
              <a:ext cx="927" cy="197"/>
              <a:chOff x="1491" y="212"/>
              <a:chExt cx="853" cy="240"/>
            </a:xfrm>
            <a:grpFill/>
          </p:grpSpPr>
          <p:sp>
            <p:nvSpPr>
              <p:cNvPr id="579718" name="AutoShape 134"/>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19" name="Rectangle 135"/>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20" name="Text Box 136"/>
            <p:cNvSpPr txBox="1">
              <a:spLocks noChangeArrowheads="1"/>
            </p:cNvSpPr>
            <p:nvPr/>
          </p:nvSpPr>
          <p:spPr bwMode="auto">
            <a:xfrm>
              <a:off x="3771" y="2756"/>
              <a:ext cx="600"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1  4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grpSp>
        <p:nvGrpSpPr>
          <p:cNvPr id="579721" name="Group 137"/>
          <p:cNvGrpSpPr/>
          <p:nvPr/>
        </p:nvGrpSpPr>
        <p:grpSpPr bwMode="auto">
          <a:xfrm>
            <a:off x="6045069" y="5085491"/>
            <a:ext cx="1594247" cy="319088"/>
            <a:chOff x="3515" y="3540"/>
            <a:chExt cx="927" cy="201"/>
          </a:xfrm>
          <a:solidFill>
            <a:srgbClr val="66FF66"/>
          </a:solidFill>
        </p:grpSpPr>
        <p:grpSp>
          <p:nvGrpSpPr>
            <p:cNvPr id="579722" name="Group 138"/>
            <p:cNvGrpSpPr/>
            <p:nvPr/>
          </p:nvGrpSpPr>
          <p:grpSpPr bwMode="auto">
            <a:xfrm flipH="1">
              <a:off x="3515" y="3540"/>
              <a:ext cx="927" cy="197"/>
              <a:chOff x="1491" y="212"/>
              <a:chExt cx="853" cy="240"/>
            </a:xfrm>
            <a:grpFill/>
          </p:grpSpPr>
          <p:sp>
            <p:nvSpPr>
              <p:cNvPr id="579723" name="AutoShape 139"/>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79724" name="Rectangle 140"/>
              <p:cNvSpPr>
                <a:spLocks noChangeArrowheads="1"/>
              </p:cNvSpPr>
              <p:nvPr/>
            </p:nvSpPr>
            <p:spPr bwMode="auto">
              <a:xfrm>
                <a:off x="1491" y="212"/>
                <a:ext cx="632" cy="240"/>
              </a:xfrm>
              <a:prstGeom prst="rect">
                <a:avLst/>
              </a:prstGeom>
              <a:grpFill/>
              <a:ln w="9525">
                <a:solidFill>
                  <a:schemeClr val="tx1"/>
                </a:solidFill>
                <a:miter lim="800000"/>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79725" name="Text Box 141"/>
            <p:cNvSpPr txBox="1">
              <a:spLocks noChangeArrowheads="1"/>
            </p:cNvSpPr>
            <p:nvPr/>
          </p:nvSpPr>
          <p:spPr bwMode="auto">
            <a:xfrm>
              <a:off x="3748" y="3586"/>
              <a:ext cx="683"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anose="02010609060101010101" pitchFamily="2" charset="-122"/>
                </a:rPr>
                <a:t>1  16  </a:t>
              </a:r>
              <a:r>
                <a:rPr kumimoji="1" lang="en-US" altLang="zh-CN" sz="2000" b="1" dirty="0">
                  <a:solidFill>
                    <a:srgbClr val="0000CC"/>
                  </a:solidFill>
                  <a:latin typeface="+mn-lt"/>
                  <a:ea typeface="黑体" panose="02010609060101010101" pitchFamily="2" charset="-122"/>
                  <a:sym typeface="Symbol" panose="05050102010706020507" pitchFamily="18" charset="2"/>
                </a:rPr>
                <a:t>R</a:t>
              </a:r>
              <a:r>
                <a:rPr kumimoji="1" lang="en-US" altLang="zh-CN" sz="2000" b="1" baseline="-25000" dirty="0">
                  <a:solidFill>
                    <a:srgbClr val="0000CC"/>
                  </a:solidFill>
                  <a:latin typeface="+mn-lt"/>
                  <a:ea typeface="黑体" panose="02010609060101010101" pitchFamily="2" charset="-122"/>
                  <a:sym typeface="Symbol" panose="05050102010706020507" pitchFamily="18" charset="2"/>
                </a:rPr>
                <a:t>1</a:t>
              </a:r>
            </a:p>
          </p:txBody>
        </p:sp>
      </p:grpSp>
      <p:sp>
        <p:nvSpPr>
          <p:cNvPr id="579726" name="Text Box 142"/>
          <p:cNvSpPr txBox="1">
            <a:spLocks noChangeArrowheads="1"/>
          </p:cNvSpPr>
          <p:nvPr/>
        </p:nvSpPr>
        <p:spPr bwMode="auto">
          <a:xfrm rot="5400000">
            <a:off x="3153584" y="4594428"/>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anose="02010609060101010101" pitchFamily="2" charset="-122"/>
              </a:rPr>
              <a:t>…</a:t>
            </a:r>
          </a:p>
        </p:txBody>
      </p:sp>
      <p:sp>
        <p:nvSpPr>
          <p:cNvPr id="579727" name="Text Box 143"/>
          <p:cNvSpPr txBox="1">
            <a:spLocks noChangeArrowheads="1"/>
          </p:cNvSpPr>
          <p:nvPr/>
        </p:nvSpPr>
        <p:spPr bwMode="auto">
          <a:xfrm>
            <a:off x="338790" y="5589240"/>
            <a:ext cx="9510754" cy="954107"/>
          </a:xfrm>
          <a:prstGeom prst="rect">
            <a:avLst/>
          </a:prstGeom>
          <a:solidFill>
            <a:srgbClr val="FFFF66"/>
          </a:solidFill>
          <a:ln w="9525">
            <a:solidFill>
              <a:schemeClr val="tx2"/>
            </a:solidFill>
            <a:miter lim="800000"/>
          </a:ln>
          <a:effectLst/>
        </p:spPr>
        <p:txBody>
          <a:bodyPr wrap="square">
            <a:spAutoFit/>
          </a:bodyPr>
          <a:lstStyle/>
          <a:p>
            <a:pPr algn="just"/>
            <a:r>
              <a:rPr kumimoji="1" lang="zh-CN" altLang="en-US" sz="2800" b="1" dirty="0">
                <a:solidFill>
                  <a:srgbClr val="0000CC"/>
                </a:solidFill>
                <a:latin typeface="+mn-lt"/>
                <a:ea typeface="黑体" panose="02010609060101010101" pitchFamily="2" charset="-122"/>
              </a:rPr>
              <a:t>这样不断更新下去，直到 </a:t>
            </a:r>
            <a:r>
              <a:rPr kumimoji="1" lang="en-US" altLang="zh-CN" sz="2800" b="1" dirty="0">
                <a:solidFill>
                  <a:srgbClr val="0000CC"/>
                </a:solidFill>
                <a:latin typeface="+mn-lt"/>
                <a:ea typeface="黑体" panose="02010609060101010101" pitchFamily="2" charset="-122"/>
              </a:rPr>
              <a:t>R</a:t>
            </a:r>
            <a:r>
              <a:rPr kumimoji="1" lang="en-US" altLang="zh-CN" sz="2800" b="1" baseline="-25000" dirty="0">
                <a:solidFill>
                  <a:srgbClr val="0000CC"/>
                </a:solidFill>
                <a:latin typeface="+mn-lt"/>
                <a:ea typeface="黑体" panose="02010609060101010101" pitchFamily="2" charset="-122"/>
              </a:rPr>
              <a:t>1 </a:t>
            </a:r>
            <a:r>
              <a:rPr kumimoji="1" lang="zh-CN" altLang="en-US" sz="2800" b="1" dirty="0">
                <a:solidFill>
                  <a:srgbClr val="0000CC"/>
                </a:solidFill>
                <a:latin typeface="+mn-lt"/>
                <a:ea typeface="黑体" panose="02010609060101010101" pitchFamily="2" charset="-122"/>
              </a:rPr>
              <a:t>和 </a:t>
            </a:r>
            <a:r>
              <a:rPr kumimoji="1" lang="en-US" altLang="zh-CN" sz="2800" b="1" dirty="0">
                <a:solidFill>
                  <a:srgbClr val="0000CC"/>
                </a:solidFill>
                <a:latin typeface="+mn-lt"/>
                <a:ea typeface="黑体" panose="02010609060101010101" pitchFamily="2" charset="-122"/>
              </a:rPr>
              <a:t>R</a:t>
            </a:r>
            <a:r>
              <a:rPr kumimoji="1" lang="en-US" altLang="zh-CN" sz="2800" b="1" baseline="-25000" dirty="0">
                <a:solidFill>
                  <a:srgbClr val="0000CC"/>
                </a:solidFill>
                <a:latin typeface="+mn-lt"/>
                <a:ea typeface="黑体" panose="02010609060101010101" pitchFamily="2" charset="-122"/>
              </a:rPr>
              <a:t>2 </a:t>
            </a:r>
            <a:r>
              <a:rPr kumimoji="1" lang="zh-CN" altLang="en-US" sz="2800" b="1" dirty="0">
                <a:solidFill>
                  <a:srgbClr val="0000CC"/>
                </a:solidFill>
                <a:latin typeface="+mn-lt"/>
                <a:ea typeface="黑体" panose="02010609060101010101" pitchFamily="2" charset="-122"/>
              </a:rPr>
              <a:t>到网 </a:t>
            </a:r>
            <a:r>
              <a:rPr kumimoji="1" lang="en-US" altLang="zh-CN" sz="2800" b="1" dirty="0">
                <a:solidFill>
                  <a:srgbClr val="0000CC"/>
                </a:solidFill>
                <a:latin typeface="+mn-lt"/>
                <a:ea typeface="黑体" panose="02010609060101010101" pitchFamily="2" charset="-122"/>
              </a:rPr>
              <a:t>1 </a:t>
            </a:r>
            <a:r>
              <a:rPr kumimoji="1" lang="zh-CN" altLang="en-US" sz="2800" b="1" dirty="0">
                <a:solidFill>
                  <a:srgbClr val="0000CC"/>
                </a:solidFill>
                <a:latin typeface="+mn-lt"/>
                <a:ea typeface="黑体" panose="02010609060101010101" pitchFamily="2" charset="-122"/>
              </a:rPr>
              <a:t>的距离都增大到 </a:t>
            </a:r>
            <a:r>
              <a:rPr kumimoji="1" lang="en-US" altLang="zh-CN" sz="2800" b="1" dirty="0">
                <a:solidFill>
                  <a:srgbClr val="0000CC"/>
                </a:solidFill>
                <a:latin typeface="+mn-lt"/>
                <a:ea typeface="黑体" panose="02010609060101010101" pitchFamily="2" charset="-122"/>
              </a:rPr>
              <a:t>16 </a:t>
            </a:r>
            <a:r>
              <a:rPr kumimoji="1" lang="zh-CN" altLang="en-US" sz="2800" b="1" dirty="0">
                <a:solidFill>
                  <a:srgbClr val="0000CC"/>
                </a:solidFill>
                <a:latin typeface="+mn-lt"/>
                <a:ea typeface="黑体" panose="02010609060101010101" pitchFamily="2" charset="-122"/>
              </a:rPr>
              <a:t>时，</a:t>
            </a:r>
            <a:r>
              <a:rPr kumimoji="1" lang="en-US" altLang="zh-CN" sz="2800" b="1" dirty="0">
                <a:solidFill>
                  <a:srgbClr val="0000CC"/>
                </a:solidFill>
                <a:latin typeface="+mn-lt"/>
                <a:ea typeface="黑体" panose="02010609060101010101" pitchFamily="2" charset="-122"/>
              </a:rPr>
              <a:t>R</a:t>
            </a:r>
            <a:r>
              <a:rPr kumimoji="1" lang="en-US" altLang="zh-CN" sz="2800" b="1" baseline="-25000" dirty="0">
                <a:solidFill>
                  <a:srgbClr val="0000CC"/>
                </a:solidFill>
                <a:latin typeface="+mn-lt"/>
                <a:ea typeface="黑体" panose="02010609060101010101" pitchFamily="2" charset="-122"/>
              </a:rPr>
              <a:t>1 </a:t>
            </a:r>
            <a:r>
              <a:rPr kumimoji="1" lang="zh-CN" altLang="en-US" sz="2800" b="1" dirty="0">
                <a:solidFill>
                  <a:srgbClr val="0000CC"/>
                </a:solidFill>
                <a:latin typeface="+mn-lt"/>
                <a:ea typeface="黑体" panose="02010609060101010101" pitchFamily="2" charset="-122"/>
              </a:rPr>
              <a:t>和 </a:t>
            </a:r>
            <a:r>
              <a:rPr kumimoji="1" lang="en-US" altLang="zh-CN" sz="2800" b="1" dirty="0">
                <a:solidFill>
                  <a:srgbClr val="0000CC"/>
                </a:solidFill>
                <a:latin typeface="+mn-lt"/>
                <a:ea typeface="黑体" panose="02010609060101010101" pitchFamily="2" charset="-122"/>
              </a:rPr>
              <a:t>R</a:t>
            </a:r>
            <a:r>
              <a:rPr kumimoji="1" lang="en-US" altLang="zh-CN" sz="2800" b="1" baseline="-25000" dirty="0">
                <a:solidFill>
                  <a:srgbClr val="0000CC"/>
                </a:solidFill>
                <a:latin typeface="+mn-lt"/>
                <a:ea typeface="黑体" panose="02010609060101010101" pitchFamily="2" charset="-122"/>
              </a:rPr>
              <a:t>2 </a:t>
            </a:r>
            <a:r>
              <a:rPr kumimoji="1" lang="zh-CN" altLang="en-US" sz="2800" b="1" dirty="0">
                <a:solidFill>
                  <a:srgbClr val="0000CC"/>
                </a:solidFill>
                <a:latin typeface="+mn-lt"/>
                <a:ea typeface="黑体" panose="02010609060101010101" pitchFamily="2" charset="-122"/>
              </a:rPr>
              <a:t>才知道网 </a:t>
            </a:r>
            <a:r>
              <a:rPr kumimoji="1" lang="en-US" altLang="zh-CN" sz="2800" b="1" dirty="0">
                <a:solidFill>
                  <a:srgbClr val="0000CC"/>
                </a:solidFill>
                <a:latin typeface="+mn-lt"/>
                <a:ea typeface="黑体" panose="02010609060101010101" pitchFamily="2" charset="-122"/>
              </a:rPr>
              <a:t>1 </a:t>
            </a:r>
            <a:r>
              <a:rPr kumimoji="1" lang="zh-CN" altLang="en-US" sz="2800" b="1" dirty="0">
                <a:solidFill>
                  <a:srgbClr val="0000CC"/>
                </a:solidFill>
                <a:latin typeface="+mn-lt"/>
                <a:ea typeface="黑体" panose="02010609060101010101" pitchFamily="2" charset="-122"/>
              </a:rPr>
              <a:t>是不可达的。 </a:t>
            </a:r>
          </a:p>
        </p:txBody>
      </p:sp>
      <p:sp>
        <p:nvSpPr>
          <p:cNvPr id="579728" name="Text Box 144"/>
          <p:cNvSpPr txBox="1">
            <a:spLocks noChangeArrowheads="1"/>
          </p:cNvSpPr>
          <p:nvPr/>
        </p:nvSpPr>
        <p:spPr bwMode="auto">
          <a:xfrm>
            <a:off x="338789" y="134953"/>
            <a:ext cx="9510755" cy="1384995"/>
          </a:xfrm>
          <a:prstGeom prst="rect">
            <a:avLst/>
          </a:prstGeom>
          <a:solidFill>
            <a:srgbClr val="CCECFF"/>
          </a:solidFill>
          <a:ln w="9525">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zh-CN" altLang="en-US" sz="2800" b="1" dirty="0">
                <a:solidFill>
                  <a:srgbClr val="0000CC"/>
                </a:solidFill>
                <a:latin typeface="+mn-lt"/>
                <a:ea typeface="黑体" panose="02010609060101010101" pitchFamily="2" charset="-122"/>
              </a:rPr>
              <a:t>这就是</a:t>
            </a:r>
            <a:r>
              <a:rPr kumimoji="1" lang="zh-CN" altLang="en-US" sz="2800" b="1" dirty="0">
                <a:solidFill>
                  <a:srgbClr val="C00000"/>
                </a:solidFill>
                <a:latin typeface="+mn-lt"/>
                <a:ea typeface="黑体" panose="02010609060101010101" pitchFamily="2" charset="-122"/>
              </a:rPr>
              <a:t>好消息传播得快，而坏消息传播得慢</a:t>
            </a:r>
            <a:r>
              <a:rPr kumimoji="1" lang="zh-CN" altLang="en-US" sz="2800" b="1" dirty="0">
                <a:solidFill>
                  <a:srgbClr val="0000CC"/>
                </a:solidFill>
                <a:latin typeface="+mn-lt"/>
                <a:ea typeface="黑体" panose="02010609060101010101" pitchFamily="2" charset="-122"/>
              </a:rPr>
              <a:t>。网络出故障的传播时间往往需要较长的时间</a:t>
            </a:r>
            <a:r>
              <a:rPr kumimoji="1" lang="en-US" altLang="zh-CN" sz="2800" b="1" dirty="0">
                <a:solidFill>
                  <a:srgbClr val="0000CC"/>
                </a:solidFill>
                <a:latin typeface="+mn-lt"/>
                <a:ea typeface="黑体" panose="02010609060101010101" pitchFamily="2" charset="-122"/>
              </a:rPr>
              <a:t>(</a:t>
            </a:r>
            <a:r>
              <a:rPr kumimoji="1" lang="zh-CN" altLang="en-US" sz="2800" b="1" dirty="0">
                <a:solidFill>
                  <a:srgbClr val="0000CC"/>
                </a:solidFill>
                <a:latin typeface="+mn-lt"/>
                <a:ea typeface="黑体" panose="02010609060101010101" pitchFamily="2" charset="-122"/>
              </a:rPr>
              <a:t>例如数分钟</a:t>
            </a:r>
            <a:r>
              <a:rPr kumimoji="1" lang="en-US" altLang="zh-CN" sz="2800" b="1" dirty="0">
                <a:solidFill>
                  <a:srgbClr val="0000CC"/>
                </a:solidFill>
                <a:latin typeface="+mn-lt"/>
                <a:ea typeface="黑体" panose="02010609060101010101" pitchFamily="2" charset="-122"/>
              </a:rPr>
              <a:t>)</a:t>
            </a:r>
            <a:r>
              <a:rPr kumimoji="1" lang="zh-CN" altLang="en-US" sz="2800" b="1" dirty="0">
                <a:solidFill>
                  <a:srgbClr val="0000CC"/>
                </a:solidFill>
                <a:latin typeface="+mn-lt"/>
                <a:ea typeface="黑体" panose="02010609060101010101" pitchFamily="2" charset="-122"/>
              </a:rPr>
              <a:t>。这是 </a:t>
            </a:r>
            <a:r>
              <a:rPr kumimoji="1" lang="en-US" altLang="zh-CN" sz="2800" b="1" dirty="0">
                <a:solidFill>
                  <a:srgbClr val="0000CC"/>
                </a:solidFill>
                <a:latin typeface="+mn-lt"/>
                <a:ea typeface="黑体" panose="02010609060101010101" pitchFamily="2" charset="-122"/>
              </a:rPr>
              <a:t>RIP </a:t>
            </a:r>
            <a:r>
              <a:rPr kumimoji="1" lang="zh-CN" altLang="en-US" sz="2800" b="1" dirty="0">
                <a:solidFill>
                  <a:srgbClr val="0000CC"/>
                </a:solidFill>
                <a:latin typeface="+mn-lt"/>
                <a:ea typeface="黑体" panose="02010609060101010101" pitchFamily="2" charset="-122"/>
              </a:rPr>
              <a:t>的一个主要缺点。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79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728" grpId="0" animBg="1" autoUpdateAnimBg="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title"/>
          </p:nvPr>
        </p:nvSpPr>
        <p:spPr/>
        <p:txBody>
          <a:bodyPr/>
          <a:lstStyle/>
          <a:p>
            <a:pPr algn="ctr"/>
            <a:r>
              <a:rPr lang="en-US" altLang="zh-CN"/>
              <a:t>RIP </a:t>
            </a:r>
            <a:r>
              <a:rPr lang="zh-CN" altLang="en-US"/>
              <a:t>协议的优缺点 </a:t>
            </a:r>
          </a:p>
        </p:txBody>
      </p:sp>
      <p:sp>
        <p:nvSpPr>
          <p:cNvPr id="573443" name="Rectangle 3"/>
          <p:cNvSpPr>
            <a:spLocks noGrp="1" noChangeArrowheads="1"/>
          </p:cNvSpPr>
          <p:nvPr>
            <p:ph idx="1"/>
          </p:nvPr>
        </p:nvSpPr>
        <p:spPr>
          <a:noFill/>
        </p:spPr>
        <p:txBody>
          <a:bodyPr/>
          <a:lstStyle/>
          <a:p>
            <a:r>
              <a:rPr lang="zh-CN" altLang="en-US" dirty="0">
                <a:solidFill>
                  <a:srgbClr val="FF0000"/>
                </a:solidFill>
              </a:rPr>
              <a:t>优点：</a:t>
            </a:r>
            <a:endParaRPr lang="en-US" altLang="zh-CN" dirty="0">
              <a:solidFill>
                <a:srgbClr val="FF0000"/>
              </a:solidFill>
            </a:endParaRPr>
          </a:p>
          <a:p>
            <a:pPr lvl="1"/>
            <a:r>
              <a:rPr lang="zh-CN" altLang="en-US" dirty="0"/>
              <a:t>实现简单，开销较小。</a:t>
            </a:r>
            <a:endParaRPr lang="en-US" altLang="zh-CN" dirty="0"/>
          </a:p>
          <a:p>
            <a:r>
              <a:rPr lang="zh-CN" altLang="en-US" dirty="0">
                <a:solidFill>
                  <a:srgbClr val="0000FF"/>
                </a:solidFill>
              </a:rPr>
              <a:t>缺点：</a:t>
            </a:r>
          </a:p>
          <a:p>
            <a:pPr lvl="1"/>
            <a:r>
              <a:rPr lang="en-US" altLang="zh-CN" dirty="0"/>
              <a:t>RIP </a:t>
            </a:r>
            <a:r>
              <a:rPr lang="zh-CN" altLang="en-US" dirty="0"/>
              <a:t>限制了网络的规模，它能使用的最大距离为 </a:t>
            </a:r>
            <a:r>
              <a:rPr lang="en-US" altLang="zh-CN" dirty="0"/>
              <a:t>15</a:t>
            </a:r>
            <a:r>
              <a:rPr lang="zh-CN" altLang="en-US" dirty="0"/>
              <a:t>（</a:t>
            </a:r>
            <a:r>
              <a:rPr lang="en-US" altLang="zh-CN" dirty="0"/>
              <a:t>16 </a:t>
            </a:r>
            <a:r>
              <a:rPr lang="zh-CN" altLang="en-US" dirty="0"/>
              <a:t>表示不可达）。</a:t>
            </a:r>
          </a:p>
          <a:p>
            <a:pPr lvl="1"/>
            <a:r>
              <a:rPr lang="zh-CN" altLang="en-US" dirty="0"/>
              <a:t>路由器之间交换的路由信息是路由器中的完整路由表，因而随着网络规模的扩大，开销也就增加。 </a:t>
            </a:r>
          </a:p>
          <a:p>
            <a:pPr lvl="1"/>
            <a:r>
              <a:rPr lang="zh-CN" altLang="zh-CN" dirty="0"/>
              <a:t>“坏消息传播得慢”，使更新过程的收敛时间过长</a:t>
            </a:r>
            <a:r>
              <a:rPr lang="zh-CN" altLang="en-US" dirty="0"/>
              <a:t>。</a:t>
            </a: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r>
              <a:rPr lang="en-US" altLang="zh-CN" dirty="0"/>
              <a:t>4.5.3  </a:t>
            </a:r>
            <a:r>
              <a:rPr lang="zh-CN" altLang="en-US" dirty="0"/>
              <a:t>内部网关协议 </a:t>
            </a:r>
            <a:r>
              <a:rPr lang="en-US" altLang="zh-CN" dirty="0"/>
              <a:t>OSPF</a:t>
            </a:r>
            <a:endParaRPr lang="en-US" altLang="zh-CN" sz="3600" dirty="0"/>
          </a:p>
        </p:txBody>
      </p:sp>
      <p:sp>
        <p:nvSpPr>
          <p:cNvPr id="580611" name="Rectangle 3"/>
          <p:cNvSpPr>
            <a:spLocks noGrp="1" noChangeArrowheads="1"/>
          </p:cNvSpPr>
          <p:nvPr>
            <p:ph idx="1"/>
          </p:nvPr>
        </p:nvSpPr>
        <p:spPr>
          <a:noFill/>
        </p:spPr>
        <p:txBody>
          <a:bodyPr/>
          <a:lstStyle/>
          <a:p>
            <a:pPr>
              <a:spcBef>
                <a:spcPts val="1200"/>
              </a:spcBef>
            </a:pPr>
            <a:r>
              <a:rPr lang="zh-CN" altLang="zh-CN" dirty="0"/>
              <a:t>开放最短路径优先</a:t>
            </a:r>
            <a:r>
              <a:rPr lang="en-US" altLang="zh-CN" dirty="0"/>
              <a:t> OSPF (Open Shortest Path First)</a:t>
            </a:r>
            <a:r>
              <a:rPr lang="zh-CN" altLang="zh-CN" dirty="0"/>
              <a:t>是为克服</a:t>
            </a:r>
            <a:r>
              <a:rPr lang="en-US" altLang="zh-CN" dirty="0"/>
              <a:t> RIP </a:t>
            </a:r>
            <a:r>
              <a:rPr lang="zh-CN" altLang="zh-CN" dirty="0"/>
              <a:t>的缺点在</a:t>
            </a:r>
            <a:r>
              <a:rPr lang="en-US" altLang="zh-CN" dirty="0"/>
              <a:t>1989</a:t>
            </a:r>
            <a:r>
              <a:rPr lang="zh-CN" altLang="zh-CN" dirty="0"/>
              <a:t>年开发出来的。</a:t>
            </a:r>
            <a:endParaRPr lang="en-US" altLang="zh-CN" dirty="0"/>
          </a:p>
          <a:p>
            <a:pPr>
              <a:spcBef>
                <a:spcPts val="1200"/>
              </a:spcBef>
            </a:pPr>
            <a:r>
              <a:rPr lang="en-US" altLang="zh-CN" dirty="0">
                <a:solidFill>
                  <a:srgbClr val="0000FF"/>
                </a:solidFill>
              </a:rPr>
              <a:t>OSPF </a:t>
            </a:r>
            <a:r>
              <a:rPr lang="zh-CN" altLang="zh-CN" dirty="0">
                <a:solidFill>
                  <a:srgbClr val="0000FF"/>
                </a:solidFill>
              </a:rPr>
              <a:t>的原理很简单，但实现起来却较复杂。</a:t>
            </a:r>
            <a:endParaRPr lang="en-US" altLang="zh-CN" dirty="0">
              <a:solidFill>
                <a:srgbClr val="0000FF"/>
              </a:solidFill>
            </a:endParaRP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pPr>
              <a:lnSpc>
                <a:spcPct val="90000"/>
              </a:lnSpc>
            </a:pPr>
            <a:r>
              <a:rPr lang="en-US" altLang="zh-CN" dirty="0"/>
              <a:t>1.  OSPF </a:t>
            </a:r>
            <a:r>
              <a:rPr lang="zh-CN" altLang="en-US" dirty="0"/>
              <a:t>协议的基本特点</a:t>
            </a:r>
          </a:p>
        </p:txBody>
      </p:sp>
      <p:sp>
        <p:nvSpPr>
          <p:cNvPr id="58061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a:spcBef>
                <a:spcPts val="1200"/>
              </a:spcBef>
            </a:pPr>
            <a:r>
              <a:rPr lang="zh-CN" altLang="en-US" dirty="0"/>
              <a:t>“</a:t>
            </a:r>
            <a:r>
              <a:rPr lang="zh-CN" altLang="en-US" dirty="0">
                <a:solidFill>
                  <a:srgbClr val="FF0000"/>
                </a:solidFill>
              </a:rPr>
              <a:t>开放</a:t>
            </a:r>
            <a:r>
              <a:rPr lang="zh-CN" altLang="en-US" dirty="0"/>
              <a:t>”表明 </a:t>
            </a:r>
            <a:r>
              <a:rPr lang="en-US" altLang="zh-CN" dirty="0"/>
              <a:t>OSPF </a:t>
            </a:r>
            <a:r>
              <a:rPr lang="zh-CN" altLang="en-US" dirty="0"/>
              <a:t>协议不是受某一家厂商控制，而是公开发表的。</a:t>
            </a:r>
          </a:p>
          <a:p>
            <a:pPr>
              <a:spcBef>
                <a:spcPts val="1200"/>
              </a:spcBef>
            </a:pPr>
            <a:r>
              <a:rPr lang="zh-CN" altLang="en-US" dirty="0"/>
              <a:t>“</a:t>
            </a:r>
            <a:r>
              <a:rPr lang="zh-CN" altLang="en-US" dirty="0">
                <a:solidFill>
                  <a:srgbClr val="FF0000"/>
                </a:solidFill>
              </a:rPr>
              <a:t>最短路径优先</a:t>
            </a:r>
            <a:r>
              <a:rPr lang="zh-CN" altLang="en-US" dirty="0"/>
              <a:t>”是因为使用了 </a:t>
            </a:r>
            <a:r>
              <a:rPr lang="en-US" altLang="zh-CN" dirty="0" err="1"/>
              <a:t>Dijkstra</a:t>
            </a:r>
            <a:r>
              <a:rPr lang="en-US" altLang="zh-CN" dirty="0"/>
              <a:t> </a:t>
            </a:r>
            <a:r>
              <a:rPr lang="zh-CN" altLang="en-US" dirty="0"/>
              <a:t>提出的最短路径算法 </a:t>
            </a:r>
            <a:r>
              <a:rPr lang="en-US" altLang="zh-CN" dirty="0"/>
              <a:t>SPF</a:t>
            </a:r>
          </a:p>
          <a:p>
            <a:pPr>
              <a:spcBef>
                <a:spcPts val="1200"/>
              </a:spcBef>
            </a:pPr>
            <a:r>
              <a:rPr lang="zh-CN" altLang="en-US" dirty="0"/>
              <a:t>采用</a:t>
            </a:r>
            <a:r>
              <a:rPr lang="zh-CN" altLang="en-US" dirty="0">
                <a:solidFill>
                  <a:srgbClr val="FF0000"/>
                </a:solidFill>
              </a:rPr>
              <a:t>分布式的链路状态协议</a:t>
            </a:r>
            <a:r>
              <a:rPr lang="zh-CN" altLang="en-US" dirty="0"/>
              <a:t> </a:t>
            </a:r>
            <a:r>
              <a:rPr lang="en-US" altLang="zh-CN" dirty="0"/>
              <a:t>(link state protocol)</a:t>
            </a:r>
            <a:r>
              <a:rPr lang="zh-CN" altLang="en-US" dirty="0"/>
              <a:t>。 </a:t>
            </a:r>
          </a:p>
          <a:p>
            <a:pPr>
              <a:spcBef>
                <a:spcPts val="1200"/>
              </a:spcBef>
            </a:pPr>
            <a:r>
              <a:rPr lang="zh-CN" altLang="en-US" dirty="0">
                <a:solidFill>
                  <a:srgbClr val="0000FF"/>
                </a:solidFill>
              </a:rPr>
              <a:t>注意：</a:t>
            </a:r>
            <a:r>
              <a:rPr lang="en-US" altLang="zh-CN" dirty="0"/>
              <a:t>OSPF </a:t>
            </a:r>
            <a:r>
              <a:rPr lang="zh-CN" altLang="en-US" dirty="0"/>
              <a:t>只是一个协议的名字，它并不表示其他的路由选择协议不是“最短路径优先”。</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（迪杰斯特拉）Dijkstra</a:t>
            </a:r>
          </a:p>
        </p:txBody>
      </p:sp>
      <p:pic>
        <p:nvPicPr>
          <p:cNvPr id="4" name="图片 3"/>
          <p:cNvPicPr>
            <a:picLocks noChangeAspect="1"/>
          </p:cNvPicPr>
          <p:nvPr>
            <p:custDataLst>
              <p:tags r:id="rId1"/>
            </p:custDataLst>
          </p:nvPr>
        </p:nvPicPr>
        <p:blipFill>
          <a:blip r:embed="rId3"/>
          <a:stretch>
            <a:fillRect/>
          </a:stretch>
        </p:blipFill>
        <p:spPr>
          <a:xfrm>
            <a:off x="560705" y="1323975"/>
            <a:ext cx="4081780" cy="5144770"/>
          </a:xfrm>
          <a:prstGeom prst="rect">
            <a:avLst/>
          </a:prstGeom>
        </p:spPr>
      </p:pic>
      <p:pic>
        <p:nvPicPr>
          <p:cNvPr id="5" name="图片 4"/>
          <p:cNvPicPr>
            <a:picLocks noChangeAspect="1"/>
          </p:cNvPicPr>
          <p:nvPr/>
        </p:nvPicPr>
        <p:blipFill>
          <a:blip r:embed="rId4"/>
          <a:stretch>
            <a:fillRect/>
          </a:stretch>
        </p:blipFill>
        <p:spPr>
          <a:xfrm>
            <a:off x="5454015" y="1989455"/>
            <a:ext cx="3692525" cy="3449320"/>
          </a:xfrm>
          <a:prstGeom prst="rect">
            <a:avLst/>
          </a:prstGeom>
        </p:spPr>
      </p:pic>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p:txBody>
          <a:bodyPr/>
          <a:lstStyle/>
          <a:p>
            <a:pPr algn="ctr"/>
            <a:r>
              <a:rPr lang="zh-CN" altLang="en-US"/>
              <a:t>三个要点 </a:t>
            </a:r>
          </a:p>
        </p:txBody>
      </p:sp>
      <p:sp>
        <p:nvSpPr>
          <p:cNvPr id="581635" name="Rectangle 3"/>
          <p:cNvSpPr>
            <a:spLocks noGrp="1" noChangeArrowheads="1"/>
          </p:cNvSpPr>
          <p:nvPr>
            <p:ph idx="1"/>
          </p:nvPr>
        </p:nvSpPr>
        <p:spPr>
          <a:noFill/>
        </p:spPr>
        <p:txBody>
          <a:bodyPr/>
          <a:lstStyle/>
          <a:p>
            <a:r>
              <a:rPr lang="zh-CN" altLang="en-US" dirty="0">
                <a:solidFill>
                  <a:srgbClr val="FF0000"/>
                </a:solidFill>
              </a:rPr>
              <a:t>向本自治系统中所有路由器发送信息，</a:t>
            </a:r>
            <a:r>
              <a:rPr lang="zh-CN" altLang="en-US" dirty="0"/>
              <a:t>这里使用的方法是</a:t>
            </a:r>
            <a:r>
              <a:rPr lang="zh-CN" altLang="en-US" dirty="0">
                <a:solidFill>
                  <a:srgbClr val="FF0000"/>
                </a:solidFill>
              </a:rPr>
              <a:t>洪泛法。</a:t>
            </a:r>
          </a:p>
          <a:p>
            <a:r>
              <a:rPr lang="zh-CN" altLang="en-US" dirty="0"/>
              <a:t>发送的信息就是与本路由器</a:t>
            </a:r>
            <a:r>
              <a:rPr lang="zh-CN" altLang="en-US" dirty="0">
                <a:solidFill>
                  <a:srgbClr val="FF0000"/>
                </a:solidFill>
              </a:rPr>
              <a:t>相邻</a:t>
            </a:r>
            <a:r>
              <a:rPr lang="zh-CN" altLang="en-US" dirty="0"/>
              <a:t>的所有路由器的链路状态，但这只是路由器所知道的</a:t>
            </a:r>
            <a:r>
              <a:rPr lang="zh-CN" altLang="en-US" dirty="0">
                <a:solidFill>
                  <a:srgbClr val="FF0000"/>
                </a:solidFill>
              </a:rPr>
              <a:t>部分信息。</a:t>
            </a:r>
            <a:endParaRPr lang="en-US" altLang="zh-CN" dirty="0">
              <a:solidFill>
                <a:srgbClr val="FF0000"/>
              </a:solidFill>
            </a:endParaRPr>
          </a:p>
          <a:p>
            <a:pPr lvl="1"/>
            <a:r>
              <a:rPr lang="zh-CN" altLang="en-US" sz="2800" dirty="0">
                <a:solidFill>
                  <a:srgbClr val="0000FF"/>
                </a:solidFill>
                <a:latin typeface="Arial" panose="020B0604020202020204" pitchFamily="34" charset="0"/>
              </a:rPr>
              <a:t>“链路状态”就是说明本路由器都和哪些路由器相邻，以及该链路的“</a:t>
            </a:r>
            <a:r>
              <a:rPr lang="zh-CN" altLang="en-US" sz="2800" dirty="0">
                <a:solidFill>
                  <a:srgbClr val="FF0000"/>
                </a:solidFill>
                <a:latin typeface="Arial" panose="020B0604020202020204" pitchFamily="34" charset="0"/>
              </a:rPr>
              <a:t>度量</a:t>
            </a:r>
            <a:r>
              <a:rPr lang="zh-CN" altLang="en-US" sz="2800" dirty="0">
                <a:solidFill>
                  <a:srgbClr val="0000FF"/>
                </a:solidFill>
                <a:latin typeface="Arial" panose="020B0604020202020204" pitchFamily="34" charset="0"/>
              </a:rPr>
              <a:t>”</a:t>
            </a:r>
            <a:r>
              <a:rPr lang="en-US" altLang="zh-CN" sz="2800" dirty="0">
                <a:solidFill>
                  <a:srgbClr val="0000FF"/>
                </a:solidFill>
                <a:latin typeface="Arial" panose="020B0604020202020204" pitchFamily="34" charset="0"/>
              </a:rPr>
              <a:t>(metric)</a:t>
            </a:r>
            <a:r>
              <a:rPr lang="zh-CN" altLang="en-US" sz="2800" dirty="0">
                <a:solidFill>
                  <a:srgbClr val="0000FF"/>
                </a:solidFill>
                <a:latin typeface="Arial" panose="020B0604020202020204" pitchFamily="34" charset="0"/>
              </a:rPr>
              <a:t>。</a:t>
            </a:r>
            <a:r>
              <a:rPr lang="zh-CN" altLang="en-US" sz="2800" dirty="0">
                <a:solidFill>
                  <a:srgbClr val="0000FF"/>
                </a:solidFill>
              </a:rPr>
              <a:t> </a:t>
            </a:r>
          </a:p>
          <a:p>
            <a:r>
              <a:rPr lang="zh-CN" altLang="en-US" dirty="0"/>
              <a:t>只有当链路状态</a:t>
            </a:r>
            <a:r>
              <a:rPr lang="zh-CN" altLang="en-US" dirty="0">
                <a:solidFill>
                  <a:srgbClr val="FF0000"/>
                </a:solidFill>
              </a:rPr>
              <a:t>发生变化</a:t>
            </a:r>
            <a:r>
              <a:rPr lang="zh-CN" altLang="en-US" dirty="0"/>
              <a:t>时，路由器才用洪泛法向所有路由器发送此信息。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163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title"/>
          </p:nvPr>
        </p:nvSpPr>
        <p:spPr/>
        <p:txBody>
          <a:bodyPr/>
          <a:lstStyle/>
          <a:p>
            <a:pPr algn="ctr"/>
            <a:r>
              <a:rPr lang="zh-CN" altLang="en-US" sz="4000" dirty="0"/>
              <a:t>链路状态数据库 </a:t>
            </a:r>
            <a:r>
              <a:rPr lang="en-US" altLang="zh-CN" sz="3200" dirty="0"/>
              <a:t>(link-state database)</a:t>
            </a:r>
            <a:r>
              <a:rPr lang="en-US" altLang="zh-CN" sz="4000" dirty="0"/>
              <a:t> </a:t>
            </a:r>
          </a:p>
        </p:txBody>
      </p:sp>
      <p:sp>
        <p:nvSpPr>
          <p:cNvPr id="58265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a:lnSpc>
                <a:spcPct val="100000"/>
              </a:lnSpc>
            </a:pPr>
            <a:r>
              <a:rPr lang="zh-CN" altLang="en-US" dirty="0"/>
              <a:t>由于各路由器之间频繁地交换链路状态信息，因此所有的路由器最终都能建立一个链路状态数据库。</a:t>
            </a:r>
          </a:p>
          <a:p>
            <a:pPr>
              <a:lnSpc>
                <a:spcPct val="100000"/>
              </a:lnSpc>
            </a:pPr>
            <a:r>
              <a:rPr lang="zh-CN" altLang="en-US" dirty="0"/>
              <a:t>这个数据库实际上就是</a:t>
            </a:r>
            <a:r>
              <a:rPr lang="zh-CN" altLang="en-US" dirty="0">
                <a:solidFill>
                  <a:srgbClr val="FF0000"/>
                </a:solidFill>
              </a:rPr>
              <a:t>全网的拓扑结构图，它在全网范围内是一致的</a:t>
            </a:r>
            <a:r>
              <a:rPr lang="zh-CN" altLang="en-US" dirty="0"/>
              <a:t>（这称为链路状态数据库的同步）。</a:t>
            </a:r>
          </a:p>
          <a:p>
            <a:pPr>
              <a:lnSpc>
                <a:spcPct val="100000"/>
              </a:lnSpc>
            </a:pPr>
            <a:r>
              <a:rPr lang="en-US" altLang="zh-CN" dirty="0"/>
              <a:t>OSPF </a:t>
            </a:r>
            <a:r>
              <a:rPr lang="zh-CN" altLang="en-US" dirty="0"/>
              <a:t>的链路状态数据库能</a:t>
            </a:r>
            <a:r>
              <a:rPr lang="zh-CN" altLang="en-US" dirty="0">
                <a:solidFill>
                  <a:srgbClr val="FF0000"/>
                </a:solidFill>
              </a:rPr>
              <a:t>较快地进行更新，</a:t>
            </a:r>
            <a:r>
              <a:rPr lang="zh-CN" altLang="en-US" dirty="0"/>
              <a:t>使各个路由器能及时更新其路由表。</a:t>
            </a:r>
            <a:endParaRPr lang="en-US" altLang="zh-CN" dirty="0"/>
          </a:p>
          <a:p>
            <a:pPr>
              <a:lnSpc>
                <a:spcPct val="100000"/>
              </a:lnSpc>
            </a:pPr>
            <a:r>
              <a:rPr lang="en-US" altLang="zh-CN" dirty="0">
                <a:solidFill>
                  <a:srgbClr val="0000FF"/>
                </a:solidFill>
              </a:rPr>
              <a:t>OSPF </a:t>
            </a:r>
            <a:r>
              <a:rPr lang="zh-CN" altLang="en-US" dirty="0">
                <a:solidFill>
                  <a:srgbClr val="0000FF"/>
                </a:solidFill>
              </a:rPr>
              <a:t>的更新过程收敛得快是其重要优点。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26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2"/>
          <p:cNvSpPr>
            <a:spLocks noGrp="1" noChangeArrowheads="1"/>
          </p:cNvSpPr>
          <p:nvPr>
            <p:ph type="title"/>
          </p:nvPr>
        </p:nvSpPr>
        <p:spPr/>
        <p:txBody>
          <a:bodyPr/>
          <a:lstStyle/>
          <a:p>
            <a:pPr algn="ctr"/>
            <a:r>
              <a:rPr lang="en-US" altLang="zh-CN" dirty="0"/>
              <a:t>OSPF </a:t>
            </a:r>
            <a:r>
              <a:rPr lang="zh-CN" altLang="en-US" dirty="0"/>
              <a:t>的区域 </a:t>
            </a:r>
            <a:r>
              <a:rPr lang="en-US" altLang="zh-CN" dirty="0"/>
              <a:t>(area) </a:t>
            </a:r>
          </a:p>
        </p:txBody>
      </p:sp>
      <p:sp>
        <p:nvSpPr>
          <p:cNvPr id="583683" name="Rectangle 3"/>
          <p:cNvSpPr>
            <a:spLocks noGrp="1" noChangeArrowheads="1"/>
          </p:cNvSpPr>
          <p:nvPr>
            <p:ph idx="1"/>
          </p:nvPr>
        </p:nvSpPr>
        <p:spPr/>
        <p:txBody>
          <a:bodyPr/>
          <a:lstStyle/>
          <a:p>
            <a:r>
              <a:rPr lang="zh-CN" altLang="en-US" dirty="0"/>
              <a:t>为了使 </a:t>
            </a:r>
            <a:r>
              <a:rPr lang="en-US" altLang="zh-CN" dirty="0"/>
              <a:t>OSPF </a:t>
            </a:r>
            <a:r>
              <a:rPr lang="zh-CN" altLang="en-US" dirty="0"/>
              <a:t>能够用于规模很大的网络，</a:t>
            </a:r>
            <a:r>
              <a:rPr lang="en-US" altLang="zh-CN" dirty="0"/>
              <a:t>OSPF </a:t>
            </a:r>
            <a:r>
              <a:rPr lang="zh-CN" altLang="en-US" dirty="0"/>
              <a:t>将一个自治系统再划分为若干个更小的范围，叫作</a:t>
            </a:r>
            <a:r>
              <a:rPr lang="zh-CN" altLang="en-US" dirty="0">
                <a:solidFill>
                  <a:srgbClr val="FF0000"/>
                </a:solidFill>
              </a:rPr>
              <a:t>区域。</a:t>
            </a:r>
          </a:p>
          <a:p>
            <a:r>
              <a:rPr lang="zh-CN" altLang="en-US" dirty="0"/>
              <a:t>每一个区域都有一个 </a:t>
            </a:r>
            <a:r>
              <a:rPr lang="en-US" altLang="zh-CN" dirty="0"/>
              <a:t>32 </a:t>
            </a:r>
            <a:r>
              <a:rPr lang="zh-CN" altLang="en-US" dirty="0"/>
              <a:t>位的区域标识符（用点分十进制表示）。</a:t>
            </a:r>
          </a:p>
          <a:p>
            <a:r>
              <a:rPr lang="zh-CN" altLang="en-US" dirty="0"/>
              <a:t>区域也不能太大，在一个区域内的路由器最好不超过 </a:t>
            </a:r>
            <a:r>
              <a:rPr lang="en-US" altLang="zh-CN" dirty="0"/>
              <a:t>200 </a:t>
            </a:r>
            <a:r>
              <a:rPr lang="zh-CN" altLang="en-US" dirty="0"/>
              <a:t>个。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4706" name="Group 2"/>
          <p:cNvGrpSpPr/>
          <p:nvPr/>
        </p:nvGrpSpPr>
        <p:grpSpPr bwMode="auto">
          <a:xfrm>
            <a:off x="249667" y="1819622"/>
            <a:ext cx="9599877" cy="3760788"/>
            <a:chOff x="79" y="1560"/>
            <a:chExt cx="5582" cy="2369"/>
          </a:xfrm>
        </p:grpSpPr>
        <p:sp>
          <p:nvSpPr>
            <p:cNvPr id="584707"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4708"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自治系统 </a:t>
              </a:r>
              <a:r>
                <a:rPr kumimoji="1" lang="en-US" altLang="zh-CN" sz="2400" b="1" dirty="0">
                  <a:solidFill>
                    <a:srgbClr val="0000CC"/>
                  </a:solidFill>
                  <a:latin typeface="+mn-lt"/>
                  <a:ea typeface="黑体" panose="02010609060101010101" pitchFamily="2" charset="-122"/>
                </a:rPr>
                <a:t>AS</a:t>
              </a:r>
            </a:p>
          </p:txBody>
        </p:sp>
      </p:grpSp>
      <p:sp>
        <p:nvSpPr>
          <p:cNvPr id="584709" name="Rectangle 5"/>
          <p:cNvSpPr>
            <a:spLocks noGrp="1" noChangeArrowheads="1"/>
          </p:cNvSpPr>
          <p:nvPr>
            <p:ph type="title"/>
          </p:nvPr>
        </p:nvSpPr>
        <p:spPr/>
        <p:txBody>
          <a:bodyPr/>
          <a:lstStyle/>
          <a:p>
            <a:pPr algn="ctr"/>
            <a:r>
              <a:rPr lang="en-US" altLang="zh-CN" sz="4000" dirty="0"/>
              <a:t>OSPF </a:t>
            </a:r>
            <a:r>
              <a:rPr lang="zh-CN" altLang="en-US" sz="4000" dirty="0"/>
              <a:t>划分为两种不同的区域 </a:t>
            </a:r>
          </a:p>
        </p:txBody>
      </p:sp>
      <p:sp>
        <p:nvSpPr>
          <p:cNvPr id="584710"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4711"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4712"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4713"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区域 </a:t>
            </a:r>
            <a:r>
              <a:rPr kumimoji="1" lang="en-US" altLang="zh-CN" sz="2400" b="1" dirty="0">
                <a:solidFill>
                  <a:srgbClr val="C00000"/>
                </a:solidFill>
                <a:latin typeface="+mn-lt"/>
                <a:ea typeface="黑体" panose="02010609060101010101" pitchFamily="2" charset="-122"/>
              </a:rPr>
              <a:t>0.0.0.1</a:t>
            </a:r>
          </a:p>
        </p:txBody>
      </p:sp>
      <p:sp>
        <p:nvSpPr>
          <p:cNvPr id="584714"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区域 </a:t>
            </a:r>
            <a:r>
              <a:rPr kumimoji="1" lang="en-US" altLang="zh-CN" sz="2400" b="1">
                <a:solidFill>
                  <a:srgbClr val="C00000"/>
                </a:solidFill>
                <a:latin typeface="+mn-lt"/>
                <a:ea typeface="黑体" panose="02010609060101010101" pitchFamily="2" charset="-122"/>
              </a:rPr>
              <a:t>0.0.0.3</a:t>
            </a:r>
          </a:p>
        </p:txBody>
      </p:sp>
      <p:sp>
        <p:nvSpPr>
          <p:cNvPr id="584715"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主干区域 </a:t>
            </a:r>
            <a:r>
              <a:rPr kumimoji="1" lang="en-US" altLang="zh-CN" sz="2400" b="1" dirty="0">
                <a:solidFill>
                  <a:srgbClr val="C00000"/>
                </a:solidFill>
                <a:latin typeface="+mn-lt"/>
                <a:ea typeface="黑体" panose="02010609060101010101" pitchFamily="2" charset="-122"/>
              </a:rPr>
              <a:t>0.0.0.0</a:t>
            </a:r>
          </a:p>
        </p:txBody>
      </p:sp>
      <p:sp>
        <p:nvSpPr>
          <p:cNvPr id="584716" name="Line 12"/>
          <p:cNvSpPr>
            <a:spLocks noChangeShapeType="1"/>
          </p:cNvSpPr>
          <p:nvPr/>
        </p:nvSpPr>
        <p:spPr bwMode="auto">
          <a:xfrm flipV="1">
            <a:off x="5477833" y="1719611"/>
            <a:ext cx="1153980" cy="962025"/>
          </a:xfrm>
          <a:prstGeom prst="line">
            <a:avLst/>
          </a:prstGeom>
          <a:noFill/>
          <a:ln w="38100">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17" name="Text Box 13"/>
          <p:cNvSpPr txBox="1">
            <a:spLocks noChangeArrowheads="1"/>
          </p:cNvSpPr>
          <p:nvPr/>
        </p:nvSpPr>
        <p:spPr bwMode="auto">
          <a:xfrm>
            <a:off x="5763541"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至其他自治系统</a:t>
            </a:r>
          </a:p>
        </p:txBody>
      </p:sp>
      <p:sp>
        <p:nvSpPr>
          <p:cNvPr id="584718" name="Line 14"/>
          <p:cNvSpPr>
            <a:spLocks noChangeShapeType="1"/>
          </p:cNvSpPr>
          <p:nvPr/>
        </p:nvSpPr>
        <p:spPr bwMode="auto">
          <a:xfrm>
            <a:off x="7127112" y="3230910"/>
            <a:ext cx="908050" cy="2730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19" name="Line 15"/>
          <p:cNvSpPr>
            <a:spLocks noChangeShapeType="1"/>
          </p:cNvSpPr>
          <p:nvPr/>
        </p:nvSpPr>
        <p:spPr bwMode="auto">
          <a:xfrm flipV="1">
            <a:off x="8200263" y="3437286"/>
            <a:ext cx="823781" cy="136525"/>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0" name="Line 16"/>
          <p:cNvSpPr>
            <a:spLocks noChangeShapeType="1"/>
          </p:cNvSpPr>
          <p:nvPr/>
        </p:nvSpPr>
        <p:spPr bwMode="auto">
          <a:xfrm>
            <a:off x="8613013" y="2749897"/>
            <a:ext cx="411031" cy="687388"/>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1" name="Line 17"/>
          <p:cNvSpPr>
            <a:spLocks noChangeShapeType="1"/>
          </p:cNvSpPr>
          <p:nvPr/>
        </p:nvSpPr>
        <p:spPr bwMode="auto">
          <a:xfrm flipH="1">
            <a:off x="8528743" y="3503961"/>
            <a:ext cx="495300" cy="757237"/>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2" name="Line 18"/>
          <p:cNvSpPr>
            <a:spLocks noChangeShapeType="1"/>
          </p:cNvSpPr>
          <p:nvPr/>
        </p:nvSpPr>
        <p:spPr bwMode="auto">
          <a:xfrm flipV="1">
            <a:off x="5888863" y="3230910"/>
            <a:ext cx="1071431" cy="1381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3" name="Line 19"/>
          <p:cNvSpPr>
            <a:spLocks noChangeShapeType="1"/>
          </p:cNvSpPr>
          <p:nvPr/>
        </p:nvSpPr>
        <p:spPr bwMode="auto">
          <a:xfrm>
            <a:off x="5560383" y="2681635"/>
            <a:ext cx="163380" cy="6175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4" name="Line 20"/>
          <p:cNvSpPr>
            <a:spLocks noChangeShapeType="1"/>
          </p:cNvSpPr>
          <p:nvPr/>
        </p:nvSpPr>
        <p:spPr bwMode="auto">
          <a:xfrm flipH="1">
            <a:off x="5477833" y="3437285"/>
            <a:ext cx="245930" cy="4810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5" name="Line 21"/>
          <p:cNvSpPr>
            <a:spLocks noChangeShapeType="1"/>
          </p:cNvSpPr>
          <p:nvPr/>
        </p:nvSpPr>
        <p:spPr bwMode="auto">
          <a:xfrm>
            <a:off x="3744283" y="3094386"/>
            <a:ext cx="1733550" cy="274637"/>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6" name="Line 22"/>
          <p:cNvSpPr>
            <a:spLocks noChangeShapeType="1"/>
          </p:cNvSpPr>
          <p:nvPr/>
        </p:nvSpPr>
        <p:spPr bwMode="auto">
          <a:xfrm flipV="1">
            <a:off x="3826833" y="2749897"/>
            <a:ext cx="1568450" cy="3444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7" name="Line 23"/>
          <p:cNvSpPr>
            <a:spLocks noChangeShapeType="1"/>
          </p:cNvSpPr>
          <p:nvPr/>
        </p:nvSpPr>
        <p:spPr bwMode="auto">
          <a:xfrm flipH="1">
            <a:off x="1186952" y="2749897"/>
            <a:ext cx="1236531" cy="34448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8" name="Line 24"/>
          <p:cNvSpPr>
            <a:spLocks noChangeShapeType="1"/>
          </p:cNvSpPr>
          <p:nvPr/>
        </p:nvSpPr>
        <p:spPr bwMode="auto">
          <a:xfrm>
            <a:off x="2423483" y="2816572"/>
            <a:ext cx="497019" cy="75723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29" name="Line 25"/>
          <p:cNvSpPr>
            <a:spLocks noChangeShapeType="1"/>
          </p:cNvSpPr>
          <p:nvPr/>
        </p:nvSpPr>
        <p:spPr bwMode="auto">
          <a:xfrm flipV="1">
            <a:off x="3001333" y="3161060"/>
            <a:ext cx="742950"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30" name="Line 26"/>
          <p:cNvSpPr>
            <a:spLocks noChangeShapeType="1"/>
          </p:cNvSpPr>
          <p:nvPr/>
        </p:nvSpPr>
        <p:spPr bwMode="auto">
          <a:xfrm flipH="1">
            <a:off x="1763083" y="3643660"/>
            <a:ext cx="1074869" cy="138112"/>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31" name="Line 27"/>
          <p:cNvSpPr>
            <a:spLocks noChangeShapeType="1"/>
          </p:cNvSpPr>
          <p:nvPr/>
        </p:nvSpPr>
        <p:spPr bwMode="auto">
          <a:xfrm>
            <a:off x="1763083" y="3848447"/>
            <a:ext cx="414469"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4732" name="Group 28"/>
          <p:cNvGrpSpPr/>
          <p:nvPr/>
        </p:nvGrpSpPr>
        <p:grpSpPr bwMode="auto">
          <a:xfrm>
            <a:off x="2588583" y="3369023"/>
            <a:ext cx="742950" cy="479425"/>
            <a:chOff x="2949" y="196"/>
            <a:chExt cx="941" cy="598"/>
          </a:xfrm>
        </p:grpSpPr>
        <p:sp>
          <p:nvSpPr>
            <p:cNvPr id="584733" name="Oval 2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4"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5"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6"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7" name="Oval 3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8"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39" name="Oval 3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40"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41" name="Freeform 3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42" name="Freeform 3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43" name="Freeform 3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pic>
        <p:nvPicPr>
          <p:cNvPr id="584744"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5"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6"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7"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8"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9"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4751" name="Group 47"/>
          <p:cNvGrpSpPr/>
          <p:nvPr/>
        </p:nvGrpSpPr>
        <p:grpSpPr bwMode="auto">
          <a:xfrm>
            <a:off x="1845633" y="4056411"/>
            <a:ext cx="742950" cy="479425"/>
            <a:chOff x="2949" y="196"/>
            <a:chExt cx="941" cy="598"/>
          </a:xfrm>
        </p:grpSpPr>
        <p:sp>
          <p:nvSpPr>
            <p:cNvPr id="584752" name="Oval 48"/>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3"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4"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5"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6" name="Oval 52"/>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7"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8" name="Oval 54"/>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59"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0" name="Freeform 56"/>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61" name="Freeform 57"/>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62" name="Freeform 58"/>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4763" name="Group 59"/>
          <p:cNvGrpSpPr/>
          <p:nvPr/>
        </p:nvGrpSpPr>
        <p:grpSpPr bwMode="auto">
          <a:xfrm>
            <a:off x="856752" y="2886422"/>
            <a:ext cx="742950" cy="482600"/>
            <a:chOff x="2949" y="196"/>
            <a:chExt cx="941" cy="598"/>
          </a:xfrm>
        </p:grpSpPr>
        <p:sp>
          <p:nvSpPr>
            <p:cNvPr id="584764" name="Oval 6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5"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6"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7"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8" name="Oval 6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69"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0" name="Oval 6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1"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2" name="Freeform 6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73" name="Freeform 6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74" name="Freeform 7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4775" name="Group 71"/>
          <p:cNvGrpSpPr/>
          <p:nvPr/>
        </p:nvGrpSpPr>
        <p:grpSpPr bwMode="auto">
          <a:xfrm>
            <a:off x="8200263" y="2475260"/>
            <a:ext cx="741231" cy="481012"/>
            <a:chOff x="2949" y="196"/>
            <a:chExt cx="941" cy="598"/>
          </a:xfrm>
        </p:grpSpPr>
        <p:sp>
          <p:nvSpPr>
            <p:cNvPr id="584776" name="Oval 7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7"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8"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79"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0" name="Oval 7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1"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2" name="Oval 7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3"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4" name="Freeform 8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85" name="Freeform 8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86" name="Freeform 8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4787" name="Group 83"/>
          <p:cNvGrpSpPr/>
          <p:nvPr/>
        </p:nvGrpSpPr>
        <p:grpSpPr bwMode="auto">
          <a:xfrm>
            <a:off x="8117712" y="4056411"/>
            <a:ext cx="742950" cy="479425"/>
            <a:chOff x="2949" y="196"/>
            <a:chExt cx="941" cy="598"/>
          </a:xfrm>
        </p:grpSpPr>
        <p:sp>
          <p:nvSpPr>
            <p:cNvPr id="584788" name="Oval 8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89"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0"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1"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2" name="Oval 8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3"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4" name="Oval 9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5"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796" name="Freeform 9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97" name="Freeform 9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798" name="Freeform 9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4799" name="Group 95"/>
          <p:cNvGrpSpPr/>
          <p:nvPr/>
        </p:nvGrpSpPr>
        <p:grpSpPr bwMode="auto">
          <a:xfrm>
            <a:off x="7703243" y="3299172"/>
            <a:ext cx="742950" cy="482600"/>
            <a:chOff x="2949" y="196"/>
            <a:chExt cx="941" cy="598"/>
          </a:xfrm>
        </p:grpSpPr>
        <p:sp>
          <p:nvSpPr>
            <p:cNvPr id="584800" name="Oval 9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1"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2"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3"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4" name="Oval 10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5"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6" name="Oval 10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7"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08" name="Freeform 10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09" name="Freeform 10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10" name="Freeform 10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4811"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9</a:t>
            </a:r>
          </a:p>
        </p:txBody>
      </p:sp>
      <p:sp>
        <p:nvSpPr>
          <p:cNvPr id="584812"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7</a:t>
            </a:r>
          </a:p>
        </p:txBody>
      </p:sp>
      <p:sp>
        <p:nvSpPr>
          <p:cNvPr id="584813"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6</a:t>
            </a:r>
          </a:p>
        </p:txBody>
      </p:sp>
      <p:sp>
        <p:nvSpPr>
          <p:cNvPr id="584814"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5</a:t>
            </a:r>
          </a:p>
        </p:txBody>
      </p:sp>
      <p:sp>
        <p:nvSpPr>
          <p:cNvPr id="584815"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4</a:t>
            </a:r>
          </a:p>
        </p:txBody>
      </p:sp>
      <p:sp>
        <p:nvSpPr>
          <p:cNvPr id="584816"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3</a:t>
            </a:r>
          </a:p>
        </p:txBody>
      </p:sp>
      <p:sp>
        <p:nvSpPr>
          <p:cNvPr id="584817"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p>
        </p:txBody>
      </p:sp>
      <p:sp>
        <p:nvSpPr>
          <p:cNvPr id="584818"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p>
        </p:txBody>
      </p:sp>
      <p:sp>
        <p:nvSpPr>
          <p:cNvPr id="584819"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8</a:t>
            </a:r>
          </a:p>
        </p:txBody>
      </p:sp>
      <p:sp>
        <p:nvSpPr>
          <p:cNvPr id="584820"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6</a:t>
            </a:r>
          </a:p>
        </p:txBody>
      </p:sp>
      <p:sp>
        <p:nvSpPr>
          <p:cNvPr id="584821"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3</a:t>
            </a:r>
          </a:p>
        </p:txBody>
      </p:sp>
      <p:sp>
        <p:nvSpPr>
          <p:cNvPr id="584822"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2</a:t>
            </a:r>
          </a:p>
        </p:txBody>
      </p:sp>
      <p:sp>
        <p:nvSpPr>
          <p:cNvPr id="584823"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9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p>
        </p:txBody>
      </p:sp>
      <p:sp>
        <p:nvSpPr>
          <p:cNvPr id="584824"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6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7</a:t>
            </a:r>
          </a:p>
        </p:txBody>
      </p:sp>
      <p:sp>
        <p:nvSpPr>
          <p:cNvPr id="584825"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4826"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区域 </a:t>
            </a:r>
            <a:r>
              <a:rPr kumimoji="1" lang="en-US" altLang="zh-CN" sz="2400" b="1" dirty="0">
                <a:solidFill>
                  <a:srgbClr val="C00000"/>
                </a:solidFill>
                <a:latin typeface="+mn-lt"/>
                <a:ea typeface="黑体" panose="02010609060101010101" pitchFamily="2" charset="-122"/>
              </a:rPr>
              <a:t>0.0.0.2</a:t>
            </a:r>
          </a:p>
        </p:txBody>
      </p:sp>
      <p:sp>
        <p:nvSpPr>
          <p:cNvPr id="584827" name="Line 123"/>
          <p:cNvSpPr>
            <a:spLocks noChangeShapeType="1"/>
          </p:cNvSpPr>
          <p:nvPr/>
        </p:nvSpPr>
        <p:spPr bwMode="auto">
          <a:xfrm>
            <a:off x="5395283" y="3918297"/>
            <a:ext cx="988880" cy="52070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28" name="Line 124"/>
          <p:cNvSpPr>
            <a:spLocks noChangeShapeType="1"/>
          </p:cNvSpPr>
          <p:nvPr/>
        </p:nvSpPr>
        <p:spPr bwMode="auto">
          <a:xfrm flipV="1">
            <a:off x="5560383" y="4524722"/>
            <a:ext cx="906330" cy="2603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4829" name="Group 125"/>
          <p:cNvGrpSpPr/>
          <p:nvPr/>
        </p:nvGrpSpPr>
        <p:grpSpPr bwMode="auto">
          <a:xfrm>
            <a:off x="6138233" y="4177060"/>
            <a:ext cx="741230" cy="608012"/>
            <a:chOff x="2949" y="196"/>
            <a:chExt cx="941" cy="598"/>
          </a:xfrm>
        </p:grpSpPr>
        <p:sp>
          <p:nvSpPr>
            <p:cNvPr id="584830" name="Oval 12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1"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2"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3"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4" name="Oval 13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5"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6" name="Oval 13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7"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38" name="Freeform 13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39" name="Freeform 13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40" name="Freeform 13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4841"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4</a:t>
            </a:r>
          </a:p>
        </p:txBody>
      </p:sp>
      <p:sp>
        <p:nvSpPr>
          <p:cNvPr id="584842" name="Line 138"/>
          <p:cNvSpPr>
            <a:spLocks noChangeShapeType="1"/>
          </p:cNvSpPr>
          <p:nvPr/>
        </p:nvSpPr>
        <p:spPr bwMode="auto">
          <a:xfrm>
            <a:off x="4402963" y="4608860"/>
            <a:ext cx="992320" cy="17621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4843" name="Group 139"/>
          <p:cNvGrpSpPr/>
          <p:nvPr/>
        </p:nvGrpSpPr>
        <p:grpSpPr bwMode="auto">
          <a:xfrm>
            <a:off x="4074483" y="4262785"/>
            <a:ext cx="742950" cy="608012"/>
            <a:chOff x="2949" y="196"/>
            <a:chExt cx="941" cy="598"/>
          </a:xfrm>
        </p:grpSpPr>
        <p:sp>
          <p:nvSpPr>
            <p:cNvPr id="584844" name="Oval 14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45"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46"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47"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48" name="Oval 14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49"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50" name="Oval 14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51"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4852" name="Freeform 14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53" name="Freeform 14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4854" name="Freeform 15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4855"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5</a:t>
            </a:r>
          </a:p>
        </p:txBody>
      </p:sp>
      <p:pic>
        <p:nvPicPr>
          <p:cNvPr id="584856"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4857"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8</a:t>
            </a:r>
          </a:p>
        </p:txBody>
      </p:sp>
      <p:pic>
        <p:nvPicPr>
          <p:cNvPr id="584858"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584706"/>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35" presetClass="emph" presetSubtype="0" repeatCount="2000" fill="hold" grpId="0" nodeType="afterEffect">
                                  <p:stCondLst>
                                    <p:cond delay="500"/>
                                  </p:stCondLst>
                                  <p:childTnLst>
                                    <p:anim calcmode="discrete" valueType="str">
                                      <p:cBhvr>
                                        <p:cTn id="9" dur="1000" fill="hold"/>
                                        <p:tgtEl>
                                          <p:spTgt spid="584715"/>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grpId="0" nodeType="withEffect">
                                  <p:stCondLst>
                                    <p:cond delay="500"/>
                                  </p:stCondLst>
                                  <p:childTnLst>
                                    <p:anim calcmode="discrete" valueType="str">
                                      <p:cBhvr>
                                        <p:cTn id="11" dur="1000" fill="hold"/>
                                        <p:tgtEl>
                                          <p:spTgt spid="584710"/>
                                        </p:tgtEl>
                                        <p:attrNameLst>
                                          <p:attrName>style.visibility</p:attrName>
                                        </p:attrNameLst>
                                      </p:cBhvr>
                                      <p:tavLst>
                                        <p:tav tm="0">
                                          <p:val>
                                            <p:strVal val="hidden"/>
                                          </p:val>
                                        </p:tav>
                                        <p:tav tm="50000">
                                          <p:val>
                                            <p:strVal val="visible"/>
                                          </p:val>
                                        </p:tav>
                                      </p:tavLst>
                                    </p:anim>
                                  </p:childTnLst>
                                </p:cTn>
                              </p:par>
                            </p:childTnLst>
                          </p:cTn>
                        </p:par>
                        <p:par>
                          <p:cTn id="12" fill="hold">
                            <p:stCondLst>
                              <p:cond delay="3000"/>
                            </p:stCondLst>
                            <p:childTnLst>
                              <p:par>
                                <p:cTn id="13" presetID="35" presetClass="emph" presetSubtype="0" repeatCount="2000" fill="hold" grpId="0" nodeType="afterEffect">
                                  <p:stCondLst>
                                    <p:cond delay="500"/>
                                  </p:stCondLst>
                                  <p:childTnLst>
                                    <p:anim calcmode="discrete" valueType="str">
                                      <p:cBhvr>
                                        <p:cTn id="14" dur="1000" fill="hold"/>
                                        <p:tgtEl>
                                          <p:spTgt spid="584713"/>
                                        </p:tgtEl>
                                        <p:attrNameLst>
                                          <p:attrName>style.visibility</p:attrName>
                                        </p:attrNameLst>
                                      </p:cBhvr>
                                      <p:tavLst>
                                        <p:tav tm="0">
                                          <p:val>
                                            <p:strVal val="hidden"/>
                                          </p:val>
                                        </p:tav>
                                        <p:tav tm="50000">
                                          <p:val>
                                            <p:strVal val="visible"/>
                                          </p:val>
                                        </p:tav>
                                      </p:tavLst>
                                    </p:anim>
                                  </p:childTnLst>
                                </p:cTn>
                              </p:par>
                              <p:par>
                                <p:cTn id="15" presetID="35" presetClass="emph" presetSubtype="0" repeatCount="2000" fill="hold" grpId="0" nodeType="withEffect">
                                  <p:stCondLst>
                                    <p:cond delay="500"/>
                                  </p:stCondLst>
                                  <p:childTnLst>
                                    <p:anim calcmode="discrete" valueType="str">
                                      <p:cBhvr>
                                        <p:cTn id="16" dur="1000" fill="hold"/>
                                        <p:tgtEl>
                                          <p:spTgt spid="584711"/>
                                        </p:tgtEl>
                                        <p:attrNameLst>
                                          <p:attrName>style.visibility</p:attrName>
                                        </p:attrNameLst>
                                      </p:cBhvr>
                                      <p:tavLst>
                                        <p:tav tm="0">
                                          <p:val>
                                            <p:strVal val="hidden"/>
                                          </p:val>
                                        </p:tav>
                                        <p:tav tm="50000">
                                          <p:val>
                                            <p:strVal val="visible"/>
                                          </p:val>
                                        </p:tav>
                                      </p:tavLst>
                                    </p:anim>
                                  </p:childTnLst>
                                </p:cTn>
                              </p:par>
                            </p:childTnLst>
                          </p:cTn>
                        </p:par>
                        <p:par>
                          <p:cTn id="17" fill="hold">
                            <p:stCondLst>
                              <p:cond delay="4500"/>
                            </p:stCondLst>
                            <p:childTnLst>
                              <p:par>
                                <p:cTn id="18" presetID="35" presetClass="emph" presetSubtype="0" repeatCount="2000" fill="hold" grpId="0" nodeType="afterEffect">
                                  <p:stCondLst>
                                    <p:cond delay="500"/>
                                  </p:stCondLst>
                                  <p:childTnLst>
                                    <p:anim calcmode="discrete" valueType="str">
                                      <p:cBhvr>
                                        <p:cTn id="19" dur="1000" fill="hold"/>
                                        <p:tgtEl>
                                          <p:spTgt spid="584826"/>
                                        </p:tgtEl>
                                        <p:attrNameLst>
                                          <p:attrName>style.visibility</p:attrName>
                                        </p:attrNameLst>
                                      </p:cBhvr>
                                      <p:tavLst>
                                        <p:tav tm="0">
                                          <p:val>
                                            <p:strVal val="hidden"/>
                                          </p:val>
                                        </p:tav>
                                        <p:tav tm="50000">
                                          <p:val>
                                            <p:strVal val="visible"/>
                                          </p:val>
                                        </p:tav>
                                      </p:tavLst>
                                    </p:anim>
                                  </p:childTnLst>
                                </p:cTn>
                              </p:par>
                              <p:par>
                                <p:cTn id="20" presetID="35" presetClass="emph" presetSubtype="0" repeatCount="2000" fill="hold" grpId="0" nodeType="withEffect">
                                  <p:stCondLst>
                                    <p:cond delay="500"/>
                                  </p:stCondLst>
                                  <p:childTnLst>
                                    <p:anim calcmode="discrete" valueType="str">
                                      <p:cBhvr>
                                        <p:cTn id="21" dur="1000" fill="hold"/>
                                        <p:tgtEl>
                                          <p:spTgt spid="584825"/>
                                        </p:tgtEl>
                                        <p:attrNameLst>
                                          <p:attrName>style.visibility</p:attrName>
                                        </p:attrNameLst>
                                      </p:cBhvr>
                                      <p:tavLst>
                                        <p:tav tm="0">
                                          <p:val>
                                            <p:strVal val="hidden"/>
                                          </p:val>
                                        </p:tav>
                                        <p:tav tm="50000">
                                          <p:val>
                                            <p:strVal val="visible"/>
                                          </p:val>
                                        </p:tav>
                                      </p:tavLst>
                                    </p:anim>
                                  </p:childTnLst>
                                </p:cTn>
                              </p:par>
                            </p:childTnLst>
                          </p:cTn>
                        </p:par>
                        <p:par>
                          <p:cTn id="22" fill="hold">
                            <p:stCondLst>
                              <p:cond delay="6000"/>
                            </p:stCondLst>
                            <p:childTnLst>
                              <p:par>
                                <p:cTn id="23" presetID="35" presetClass="emph" presetSubtype="0" repeatCount="2000" fill="hold" grpId="0" nodeType="afterEffect">
                                  <p:stCondLst>
                                    <p:cond delay="500"/>
                                  </p:stCondLst>
                                  <p:childTnLst>
                                    <p:anim calcmode="discrete" valueType="str">
                                      <p:cBhvr>
                                        <p:cTn id="24" dur="1000" fill="hold"/>
                                        <p:tgtEl>
                                          <p:spTgt spid="584712"/>
                                        </p:tgtEl>
                                        <p:attrNameLst>
                                          <p:attrName>style.visibility</p:attrName>
                                        </p:attrNameLst>
                                      </p:cBhvr>
                                      <p:tavLst>
                                        <p:tav tm="0">
                                          <p:val>
                                            <p:strVal val="hidden"/>
                                          </p:val>
                                        </p:tav>
                                        <p:tav tm="50000">
                                          <p:val>
                                            <p:strVal val="visible"/>
                                          </p:val>
                                        </p:tav>
                                      </p:tavLst>
                                    </p:anim>
                                  </p:childTnLst>
                                </p:cTn>
                              </p:par>
                              <p:par>
                                <p:cTn id="25" presetID="35" presetClass="emph" presetSubtype="0" repeatCount="2000" fill="hold" grpId="0" nodeType="withEffect">
                                  <p:stCondLst>
                                    <p:cond delay="500"/>
                                  </p:stCondLst>
                                  <p:childTnLst>
                                    <p:anim calcmode="discrete" valueType="str">
                                      <p:cBhvr>
                                        <p:cTn id="26" dur="1000" fill="hold"/>
                                        <p:tgtEl>
                                          <p:spTgt spid="5847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10" grpId="0" animBg="1"/>
      <p:bldP spid="584711" grpId="0" animBg="1"/>
      <p:bldP spid="584712" grpId="0" animBg="1"/>
      <p:bldP spid="584713" grpId="0"/>
      <p:bldP spid="584714" grpId="0"/>
      <p:bldP spid="584715" grpId="0"/>
      <p:bldP spid="584825" grpId="0" animBg="1"/>
      <p:bldP spid="584826"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Rectangle 2"/>
          <p:cNvSpPr>
            <a:spLocks noGrp="1" noChangeArrowheads="1"/>
          </p:cNvSpPr>
          <p:nvPr>
            <p:ph type="title"/>
          </p:nvPr>
        </p:nvSpPr>
        <p:spPr/>
        <p:txBody>
          <a:bodyPr/>
          <a:lstStyle/>
          <a:p>
            <a:pPr algn="ctr"/>
            <a:r>
              <a:rPr lang="zh-CN" altLang="en-US"/>
              <a:t>划分区域 </a:t>
            </a:r>
          </a:p>
        </p:txBody>
      </p:sp>
      <p:sp>
        <p:nvSpPr>
          <p:cNvPr id="58573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en-US" sz="2800" dirty="0"/>
              <a:t>划分区域的</a:t>
            </a:r>
            <a:r>
              <a:rPr lang="zh-CN" altLang="en-US" sz="2800" dirty="0">
                <a:solidFill>
                  <a:srgbClr val="FF0000"/>
                </a:solidFill>
              </a:rPr>
              <a:t>好处</a:t>
            </a:r>
            <a:r>
              <a:rPr lang="zh-CN" altLang="en-US" sz="2800" dirty="0"/>
              <a:t>就是将利用洪泛法交换链路状态信息的范围局限于每一个区域而不是整个的自治系统，这就减少了整个网络上的通信量。</a:t>
            </a:r>
          </a:p>
          <a:p>
            <a:r>
              <a:rPr lang="zh-CN" altLang="en-US" sz="2800" dirty="0">
                <a:solidFill>
                  <a:srgbClr val="0000FF"/>
                </a:solidFill>
              </a:rPr>
              <a:t>在一个区域内部的路由器只知道本区域的完整网络拓扑，而不知道其他区域的网络拓扑的情况。</a:t>
            </a:r>
          </a:p>
          <a:p>
            <a:r>
              <a:rPr lang="en-US" altLang="zh-CN" sz="2800" dirty="0"/>
              <a:t>OSPF </a:t>
            </a:r>
            <a:r>
              <a:rPr lang="zh-CN" altLang="en-US" sz="2800" dirty="0"/>
              <a:t>使用</a:t>
            </a:r>
            <a:r>
              <a:rPr lang="zh-CN" altLang="en-US" sz="2800" dirty="0">
                <a:solidFill>
                  <a:srgbClr val="FF0000"/>
                </a:solidFill>
              </a:rPr>
              <a:t>层次结构的区域划分。</a:t>
            </a:r>
            <a:r>
              <a:rPr lang="zh-CN" altLang="en-US" sz="2800" dirty="0"/>
              <a:t>在上层的区域叫作</a:t>
            </a:r>
            <a:r>
              <a:rPr lang="zh-CN" altLang="en-US" sz="2800" dirty="0">
                <a:solidFill>
                  <a:srgbClr val="FF0000"/>
                </a:solidFill>
              </a:rPr>
              <a:t>主干区域 </a:t>
            </a:r>
            <a:r>
              <a:rPr lang="en-US" altLang="zh-CN" sz="2800" dirty="0"/>
              <a:t>(backbone area)</a:t>
            </a:r>
            <a:r>
              <a:rPr lang="zh-CN" altLang="en-US" sz="2800" dirty="0"/>
              <a:t>。</a:t>
            </a:r>
            <a:endParaRPr lang="en-US" altLang="zh-CN" sz="2800" dirty="0"/>
          </a:p>
          <a:p>
            <a:r>
              <a:rPr lang="zh-CN" altLang="en-US" sz="2800" dirty="0"/>
              <a:t>主干区域的标识符规定为</a:t>
            </a:r>
            <a:r>
              <a:rPr lang="en-US" altLang="zh-CN" sz="2800" dirty="0"/>
              <a:t>0.0.0.0</a:t>
            </a:r>
            <a:r>
              <a:rPr lang="zh-CN" altLang="en-US" sz="2800" dirty="0"/>
              <a:t>。主干区域的</a:t>
            </a:r>
            <a:r>
              <a:rPr lang="zh-CN" altLang="en-US" sz="2800" dirty="0">
                <a:solidFill>
                  <a:srgbClr val="FF0000"/>
                </a:solidFill>
              </a:rPr>
              <a:t>作用</a:t>
            </a:r>
            <a:r>
              <a:rPr lang="zh-CN" altLang="en-US" sz="2800" dirty="0"/>
              <a:t>是用来连通其他在下层的区域。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573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5731">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573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57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5731" grpId="0" build="p"/>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7" name="Rectangle 5"/>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dirty="0"/>
              <a:t>主干路由器</a:t>
            </a:r>
          </a:p>
        </p:txBody>
      </p:sp>
      <p:grpSp>
        <p:nvGrpSpPr>
          <p:cNvPr id="586754" name="Group 2"/>
          <p:cNvGrpSpPr/>
          <p:nvPr/>
        </p:nvGrpSpPr>
        <p:grpSpPr bwMode="auto">
          <a:xfrm>
            <a:off x="249667" y="1819622"/>
            <a:ext cx="9599877" cy="3760788"/>
            <a:chOff x="79" y="1560"/>
            <a:chExt cx="5582" cy="2369"/>
          </a:xfrm>
        </p:grpSpPr>
        <p:sp>
          <p:nvSpPr>
            <p:cNvPr id="586755"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6756"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自治系统 </a:t>
              </a:r>
              <a:r>
                <a:rPr kumimoji="1" lang="en-US" altLang="zh-CN" sz="2400" b="1">
                  <a:solidFill>
                    <a:srgbClr val="0000CC"/>
                  </a:solidFill>
                  <a:latin typeface="+mn-lt"/>
                  <a:ea typeface="黑体" panose="02010609060101010101" pitchFamily="2" charset="-122"/>
                </a:rPr>
                <a:t>AS</a:t>
              </a:r>
            </a:p>
          </p:txBody>
        </p:sp>
      </p:grpSp>
      <p:sp>
        <p:nvSpPr>
          <p:cNvPr id="586758"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6759"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6760"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6761"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区域 </a:t>
            </a:r>
            <a:r>
              <a:rPr kumimoji="1" lang="en-US" altLang="zh-CN" sz="2400" b="1" dirty="0">
                <a:solidFill>
                  <a:srgbClr val="C00000"/>
                </a:solidFill>
                <a:latin typeface="+mn-lt"/>
                <a:ea typeface="黑体" panose="02010609060101010101" pitchFamily="2" charset="-122"/>
              </a:rPr>
              <a:t>0.0.0.1</a:t>
            </a:r>
          </a:p>
        </p:txBody>
      </p:sp>
      <p:sp>
        <p:nvSpPr>
          <p:cNvPr id="586762"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区域 </a:t>
            </a:r>
            <a:r>
              <a:rPr kumimoji="1" lang="en-US" altLang="zh-CN" sz="2400" b="1">
                <a:solidFill>
                  <a:srgbClr val="C00000"/>
                </a:solidFill>
                <a:latin typeface="+mn-lt"/>
                <a:ea typeface="黑体" panose="02010609060101010101" pitchFamily="2" charset="-122"/>
              </a:rPr>
              <a:t>0.0.0.3</a:t>
            </a:r>
          </a:p>
        </p:txBody>
      </p:sp>
      <p:sp>
        <p:nvSpPr>
          <p:cNvPr id="586763"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主干区域 </a:t>
            </a:r>
            <a:r>
              <a:rPr kumimoji="1" lang="en-US" altLang="zh-CN" sz="2400" b="1" dirty="0">
                <a:solidFill>
                  <a:srgbClr val="C00000"/>
                </a:solidFill>
                <a:latin typeface="+mn-lt"/>
                <a:ea typeface="黑体" panose="02010609060101010101" pitchFamily="2" charset="-122"/>
              </a:rPr>
              <a:t>0.0.0.0</a:t>
            </a:r>
          </a:p>
        </p:txBody>
      </p:sp>
      <p:sp>
        <p:nvSpPr>
          <p:cNvPr id="586764" name="Line 12"/>
          <p:cNvSpPr>
            <a:spLocks noChangeShapeType="1"/>
          </p:cNvSpPr>
          <p:nvPr/>
        </p:nvSpPr>
        <p:spPr bwMode="auto">
          <a:xfrm flipV="1">
            <a:off x="5477833" y="1719611"/>
            <a:ext cx="1153980" cy="962025"/>
          </a:xfrm>
          <a:prstGeom prst="line">
            <a:avLst/>
          </a:prstGeom>
          <a:noFill/>
          <a:ln w="38100">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65" name="Text Box 13"/>
          <p:cNvSpPr txBox="1">
            <a:spLocks noChangeArrowheads="1"/>
          </p:cNvSpPr>
          <p:nvPr/>
        </p:nvSpPr>
        <p:spPr bwMode="auto">
          <a:xfrm>
            <a:off x="5835549"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anose="02010609060101010101" pitchFamily="2" charset="-122"/>
              </a:rPr>
              <a:t>至其他自治系统</a:t>
            </a:r>
          </a:p>
        </p:txBody>
      </p:sp>
      <p:sp>
        <p:nvSpPr>
          <p:cNvPr id="586766" name="Line 14"/>
          <p:cNvSpPr>
            <a:spLocks noChangeShapeType="1"/>
          </p:cNvSpPr>
          <p:nvPr/>
        </p:nvSpPr>
        <p:spPr bwMode="auto">
          <a:xfrm>
            <a:off x="7127112" y="3230910"/>
            <a:ext cx="908050" cy="2730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67" name="Line 15"/>
          <p:cNvSpPr>
            <a:spLocks noChangeShapeType="1"/>
          </p:cNvSpPr>
          <p:nvPr/>
        </p:nvSpPr>
        <p:spPr bwMode="auto">
          <a:xfrm flipV="1">
            <a:off x="8200263" y="3437286"/>
            <a:ext cx="823781" cy="136525"/>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68" name="Line 16"/>
          <p:cNvSpPr>
            <a:spLocks noChangeShapeType="1"/>
          </p:cNvSpPr>
          <p:nvPr/>
        </p:nvSpPr>
        <p:spPr bwMode="auto">
          <a:xfrm>
            <a:off x="8613013" y="2749897"/>
            <a:ext cx="411031" cy="687388"/>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69" name="Line 17"/>
          <p:cNvSpPr>
            <a:spLocks noChangeShapeType="1"/>
          </p:cNvSpPr>
          <p:nvPr/>
        </p:nvSpPr>
        <p:spPr bwMode="auto">
          <a:xfrm flipH="1">
            <a:off x="8528743" y="3503961"/>
            <a:ext cx="495300" cy="757237"/>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0" name="Line 18"/>
          <p:cNvSpPr>
            <a:spLocks noChangeShapeType="1"/>
          </p:cNvSpPr>
          <p:nvPr/>
        </p:nvSpPr>
        <p:spPr bwMode="auto">
          <a:xfrm flipV="1">
            <a:off x="5888863" y="3230910"/>
            <a:ext cx="1071431" cy="1381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1" name="Line 19"/>
          <p:cNvSpPr>
            <a:spLocks noChangeShapeType="1"/>
          </p:cNvSpPr>
          <p:nvPr/>
        </p:nvSpPr>
        <p:spPr bwMode="auto">
          <a:xfrm>
            <a:off x="5560383" y="2681635"/>
            <a:ext cx="163380" cy="6175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2" name="Line 20"/>
          <p:cNvSpPr>
            <a:spLocks noChangeShapeType="1"/>
          </p:cNvSpPr>
          <p:nvPr/>
        </p:nvSpPr>
        <p:spPr bwMode="auto">
          <a:xfrm flipH="1">
            <a:off x="5477833" y="3437285"/>
            <a:ext cx="245930" cy="4810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3" name="Line 21"/>
          <p:cNvSpPr>
            <a:spLocks noChangeShapeType="1"/>
          </p:cNvSpPr>
          <p:nvPr/>
        </p:nvSpPr>
        <p:spPr bwMode="auto">
          <a:xfrm>
            <a:off x="3744283" y="3094386"/>
            <a:ext cx="1733550" cy="274637"/>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4" name="Line 22"/>
          <p:cNvSpPr>
            <a:spLocks noChangeShapeType="1"/>
          </p:cNvSpPr>
          <p:nvPr/>
        </p:nvSpPr>
        <p:spPr bwMode="auto">
          <a:xfrm flipV="1">
            <a:off x="3826833" y="2749897"/>
            <a:ext cx="1568450" cy="3444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5" name="Line 23"/>
          <p:cNvSpPr>
            <a:spLocks noChangeShapeType="1"/>
          </p:cNvSpPr>
          <p:nvPr/>
        </p:nvSpPr>
        <p:spPr bwMode="auto">
          <a:xfrm flipH="1">
            <a:off x="1186952" y="2749897"/>
            <a:ext cx="1236531" cy="34448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6" name="Line 24"/>
          <p:cNvSpPr>
            <a:spLocks noChangeShapeType="1"/>
          </p:cNvSpPr>
          <p:nvPr/>
        </p:nvSpPr>
        <p:spPr bwMode="auto">
          <a:xfrm>
            <a:off x="2423483" y="2816572"/>
            <a:ext cx="497019" cy="75723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7" name="Line 25"/>
          <p:cNvSpPr>
            <a:spLocks noChangeShapeType="1"/>
          </p:cNvSpPr>
          <p:nvPr/>
        </p:nvSpPr>
        <p:spPr bwMode="auto">
          <a:xfrm flipV="1">
            <a:off x="3001333" y="3161060"/>
            <a:ext cx="742950"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8" name="Line 26"/>
          <p:cNvSpPr>
            <a:spLocks noChangeShapeType="1"/>
          </p:cNvSpPr>
          <p:nvPr/>
        </p:nvSpPr>
        <p:spPr bwMode="auto">
          <a:xfrm flipH="1">
            <a:off x="1763083" y="3643660"/>
            <a:ext cx="1074869" cy="138112"/>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79" name="Line 27"/>
          <p:cNvSpPr>
            <a:spLocks noChangeShapeType="1"/>
          </p:cNvSpPr>
          <p:nvPr/>
        </p:nvSpPr>
        <p:spPr bwMode="auto">
          <a:xfrm>
            <a:off x="1763083" y="3848447"/>
            <a:ext cx="414469"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6780" name="Group 28"/>
          <p:cNvGrpSpPr/>
          <p:nvPr/>
        </p:nvGrpSpPr>
        <p:grpSpPr bwMode="auto">
          <a:xfrm>
            <a:off x="2588583" y="3369023"/>
            <a:ext cx="742950" cy="479425"/>
            <a:chOff x="2949" y="196"/>
            <a:chExt cx="941" cy="598"/>
          </a:xfrm>
        </p:grpSpPr>
        <p:sp>
          <p:nvSpPr>
            <p:cNvPr id="586781" name="Oval 2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2"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3"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4"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5" name="Oval 3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6"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7" name="Oval 3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8"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789" name="Freeform 3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90" name="Freeform 3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791" name="Freeform 3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pic>
        <p:nvPicPr>
          <p:cNvPr id="586792"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3"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6"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7"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6799" name="Group 47"/>
          <p:cNvGrpSpPr/>
          <p:nvPr/>
        </p:nvGrpSpPr>
        <p:grpSpPr bwMode="auto">
          <a:xfrm>
            <a:off x="1845633" y="4056411"/>
            <a:ext cx="742950" cy="479425"/>
            <a:chOff x="2949" y="196"/>
            <a:chExt cx="941" cy="598"/>
          </a:xfrm>
        </p:grpSpPr>
        <p:sp>
          <p:nvSpPr>
            <p:cNvPr id="586800" name="Oval 48"/>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1"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2"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3"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4" name="Oval 52"/>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5"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6" name="Oval 54"/>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7"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08" name="Freeform 56"/>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09" name="Freeform 57"/>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10" name="Freeform 58"/>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6811" name="Group 59"/>
          <p:cNvGrpSpPr/>
          <p:nvPr/>
        </p:nvGrpSpPr>
        <p:grpSpPr bwMode="auto">
          <a:xfrm>
            <a:off x="856752" y="2886422"/>
            <a:ext cx="742950" cy="482600"/>
            <a:chOff x="2949" y="196"/>
            <a:chExt cx="941" cy="598"/>
          </a:xfrm>
        </p:grpSpPr>
        <p:sp>
          <p:nvSpPr>
            <p:cNvPr id="586812" name="Oval 6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3"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4"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5"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6" name="Oval 6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7"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8" name="Oval 6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19"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0" name="Freeform 6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21" name="Freeform 6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22" name="Freeform 7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6823" name="Group 71"/>
          <p:cNvGrpSpPr/>
          <p:nvPr/>
        </p:nvGrpSpPr>
        <p:grpSpPr bwMode="auto">
          <a:xfrm>
            <a:off x="8200263" y="2475260"/>
            <a:ext cx="741231" cy="481012"/>
            <a:chOff x="2949" y="196"/>
            <a:chExt cx="941" cy="598"/>
          </a:xfrm>
        </p:grpSpPr>
        <p:sp>
          <p:nvSpPr>
            <p:cNvPr id="586824" name="Oval 7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5"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6"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7"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8" name="Oval 7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29"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0" name="Oval 7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1"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2" name="Freeform 8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33" name="Freeform 8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34" name="Freeform 8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6835" name="Group 83"/>
          <p:cNvGrpSpPr/>
          <p:nvPr/>
        </p:nvGrpSpPr>
        <p:grpSpPr bwMode="auto">
          <a:xfrm>
            <a:off x="8117712" y="4056411"/>
            <a:ext cx="742950" cy="479425"/>
            <a:chOff x="2949" y="196"/>
            <a:chExt cx="941" cy="598"/>
          </a:xfrm>
        </p:grpSpPr>
        <p:sp>
          <p:nvSpPr>
            <p:cNvPr id="586836" name="Oval 8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7"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8"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39"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0" name="Oval 8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1"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2" name="Oval 9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3"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4" name="Freeform 9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45" name="Freeform 9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46" name="Freeform 9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6847" name="Group 95"/>
          <p:cNvGrpSpPr/>
          <p:nvPr/>
        </p:nvGrpSpPr>
        <p:grpSpPr bwMode="auto">
          <a:xfrm>
            <a:off x="7703243" y="3299172"/>
            <a:ext cx="742950" cy="482600"/>
            <a:chOff x="2949" y="196"/>
            <a:chExt cx="941" cy="598"/>
          </a:xfrm>
        </p:grpSpPr>
        <p:sp>
          <p:nvSpPr>
            <p:cNvPr id="586848" name="Oval 9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49"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0"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1"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2" name="Oval 10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3"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4" name="Oval 10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5"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56" name="Freeform 10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57" name="Freeform 10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58" name="Freeform 10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6859"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9</a:t>
            </a:r>
          </a:p>
        </p:txBody>
      </p:sp>
      <p:sp>
        <p:nvSpPr>
          <p:cNvPr id="586860"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7</a:t>
            </a:r>
          </a:p>
        </p:txBody>
      </p:sp>
      <p:sp>
        <p:nvSpPr>
          <p:cNvPr id="586861"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6</a:t>
            </a:r>
          </a:p>
        </p:txBody>
      </p:sp>
      <p:sp>
        <p:nvSpPr>
          <p:cNvPr id="586862"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5</a:t>
            </a:r>
          </a:p>
        </p:txBody>
      </p:sp>
      <p:sp>
        <p:nvSpPr>
          <p:cNvPr id="586863"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4</a:t>
            </a:r>
          </a:p>
        </p:txBody>
      </p:sp>
      <p:sp>
        <p:nvSpPr>
          <p:cNvPr id="586864"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FF0000"/>
                </a:solidFill>
                <a:latin typeface="+mn-lt"/>
                <a:ea typeface="黑体" panose="02010609060101010101" pitchFamily="2" charset="-122"/>
              </a:rPr>
              <a:t>R</a:t>
            </a:r>
            <a:r>
              <a:rPr kumimoji="1" lang="en-US" altLang="zh-CN" sz="2000" b="1" baseline="-25000" dirty="0">
                <a:solidFill>
                  <a:srgbClr val="FF0000"/>
                </a:solidFill>
                <a:latin typeface="+mn-lt"/>
                <a:ea typeface="黑体" panose="02010609060101010101" pitchFamily="2" charset="-122"/>
              </a:rPr>
              <a:t>3</a:t>
            </a:r>
          </a:p>
        </p:txBody>
      </p:sp>
      <p:sp>
        <p:nvSpPr>
          <p:cNvPr id="586865"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p>
        </p:txBody>
      </p:sp>
      <p:sp>
        <p:nvSpPr>
          <p:cNvPr id="586866"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p>
        </p:txBody>
      </p:sp>
      <p:sp>
        <p:nvSpPr>
          <p:cNvPr id="586867"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8</a:t>
            </a:r>
          </a:p>
        </p:txBody>
      </p:sp>
      <p:sp>
        <p:nvSpPr>
          <p:cNvPr id="586868"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6</a:t>
            </a:r>
          </a:p>
        </p:txBody>
      </p:sp>
      <p:sp>
        <p:nvSpPr>
          <p:cNvPr id="586869"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3</a:t>
            </a:r>
          </a:p>
        </p:txBody>
      </p:sp>
      <p:sp>
        <p:nvSpPr>
          <p:cNvPr id="586870"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2</a:t>
            </a:r>
          </a:p>
        </p:txBody>
      </p:sp>
      <p:sp>
        <p:nvSpPr>
          <p:cNvPr id="586871"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9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p>
        </p:txBody>
      </p:sp>
      <p:sp>
        <p:nvSpPr>
          <p:cNvPr id="586872"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6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7</a:t>
            </a:r>
          </a:p>
        </p:txBody>
      </p:sp>
      <p:sp>
        <p:nvSpPr>
          <p:cNvPr id="586873"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6874"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区域 </a:t>
            </a:r>
            <a:r>
              <a:rPr kumimoji="1" lang="en-US" altLang="zh-CN" sz="2400" b="1">
                <a:solidFill>
                  <a:srgbClr val="C00000"/>
                </a:solidFill>
                <a:latin typeface="+mn-lt"/>
                <a:ea typeface="黑体" panose="02010609060101010101" pitchFamily="2" charset="-122"/>
              </a:rPr>
              <a:t>0.0.0.2</a:t>
            </a:r>
          </a:p>
        </p:txBody>
      </p:sp>
      <p:sp>
        <p:nvSpPr>
          <p:cNvPr id="586875" name="Line 123"/>
          <p:cNvSpPr>
            <a:spLocks noChangeShapeType="1"/>
          </p:cNvSpPr>
          <p:nvPr/>
        </p:nvSpPr>
        <p:spPr bwMode="auto">
          <a:xfrm>
            <a:off x="5395283" y="3918297"/>
            <a:ext cx="988880" cy="52070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76" name="Line 124"/>
          <p:cNvSpPr>
            <a:spLocks noChangeShapeType="1"/>
          </p:cNvSpPr>
          <p:nvPr/>
        </p:nvSpPr>
        <p:spPr bwMode="auto">
          <a:xfrm flipV="1">
            <a:off x="5560383" y="4524722"/>
            <a:ext cx="906330" cy="2603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6877" name="Group 125"/>
          <p:cNvGrpSpPr/>
          <p:nvPr/>
        </p:nvGrpSpPr>
        <p:grpSpPr bwMode="auto">
          <a:xfrm>
            <a:off x="6138233" y="4177060"/>
            <a:ext cx="741230" cy="608012"/>
            <a:chOff x="2949" y="196"/>
            <a:chExt cx="941" cy="598"/>
          </a:xfrm>
        </p:grpSpPr>
        <p:sp>
          <p:nvSpPr>
            <p:cNvPr id="586878" name="Oval 12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79"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0"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1"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2" name="Oval 13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3"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4" name="Oval 13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5"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86" name="Freeform 13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87" name="Freeform 13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888" name="Freeform 13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6889"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4</a:t>
            </a:r>
          </a:p>
        </p:txBody>
      </p:sp>
      <p:sp>
        <p:nvSpPr>
          <p:cNvPr id="586890" name="Line 138"/>
          <p:cNvSpPr>
            <a:spLocks noChangeShapeType="1"/>
          </p:cNvSpPr>
          <p:nvPr/>
        </p:nvSpPr>
        <p:spPr bwMode="auto">
          <a:xfrm>
            <a:off x="4402963" y="4608860"/>
            <a:ext cx="992320" cy="17621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6891" name="Group 139"/>
          <p:cNvGrpSpPr/>
          <p:nvPr/>
        </p:nvGrpSpPr>
        <p:grpSpPr bwMode="auto">
          <a:xfrm>
            <a:off x="4074483" y="4262785"/>
            <a:ext cx="742950" cy="608012"/>
            <a:chOff x="2949" y="196"/>
            <a:chExt cx="941" cy="598"/>
          </a:xfrm>
        </p:grpSpPr>
        <p:sp>
          <p:nvSpPr>
            <p:cNvPr id="586892" name="Oval 14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3"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4"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5"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6" name="Oval 14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7"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8" name="Oval 14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899"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6900" name="Freeform 14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901" name="Freeform 14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6902" name="Freeform 15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6903"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5</a:t>
            </a:r>
          </a:p>
        </p:txBody>
      </p:sp>
      <p:pic>
        <p:nvPicPr>
          <p:cNvPr id="586904"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6905"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8</a:t>
            </a:r>
          </a:p>
        </p:txBody>
      </p:sp>
      <p:pic>
        <p:nvPicPr>
          <p:cNvPr id="586906"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675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68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686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6862"/>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586861"/>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5868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57" grpId="0" bldLvl="0" animBg="1"/>
      <p:bldP spid="586860" grpId="0"/>
      <p:bldP spid="586861" grpId="0"/>
      <p:bldP spid="586862" grpId="0"/>
      <p:bldP spid="586863" grpId="0"/>
      <p:bldP spid="586864"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81" name="Rectangle 5"/>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dirty="0"/>
              <a:t>区域边界路由器 </a:t>
            </a:r>
          </a:p>
        </p:txBody>
      </p:sp>
      <p:grpSp>
        <p:nvGrpSpPr>
          <p:cNvPr id="587778" name="Group 2"/>
          <p:cNvGrpSpPr/>
          <p:nvPr/>
        </p:nvGrpSpPr>
        <p:grpSpPr bwMode="auto">
          <a:xfrm>
            <a:off x="249667" y="1819622"/>
            <a:ext cx="9599877" cy="3760788"/>
            <a:chOff x="79" y="1560"/>
            <a:chExt cx="5582" cy="2369"/>
          </a:xfrm>
        </p:grpSpPr>
        <p:sp>
          <p:nvSpPr>
            <p:cNvPr id="587779"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7780"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自治系统 </a:t>
              </a:r>
              <a:r>
                <a:rPr kumimoji="1" lang="en-US" altLang="zh-CN" sz="2400" b="1">
                  <a:solidFill>
                    <a:srgbClr val="0000CC"/>
                  </a:solidFill>
                  <a:latin typeface="+mn-lt"/>
                  <a:ea typeface="黑体" panose="02010609060101010101" pitchFamily="2" charset="-122"/>
                </a:rPr>
                <a:t>AS</a:t>
              </a:r>
            </a:p>
          </p:txBody>
        </p:sp>
      </p:grpSp>
      <p:sp>
        <p:nvSpPr>
          <p:cNvPr id="587782"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7783"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7784"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7785"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区域 </a:t>
            </a:r>
            <a:r>
              <a:rPr kumimoji="1" lang="en-US" altLang="zh-CN" sz="2400" b="1" dirty="0">
                <a:solidFill>
                  <a:srgbClr val="C00000"/>
                </a:solidFill>
                <a:latin typeface="+mn-lt"/>
                <a:ea typeface="黑体" panose="02010609060101010101" pitchFamily="2" charset="-122"/>
              </a:rPr>
              <a:t>0.0.0.1</a:t>
            </a:r>
          </a:p>
        </p:txBody>
      </p:sp>
      <p:sp>
        <p:nvSpPr>
          <p:cNvPr id="587786"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区域 </a:t>
            </a:r>
            <a:r>
              <a:rPr kumimoji="1" lang="en-US" altLang="zh-CN" sz="2400" b="1">
                <a:solidFill>
                  <a:srgbClr val="C00000"/>
                </a:solidFill>
                <a:latin typeface="+mn-lt"/>
                <a:ea typeface="黑体" panose="02010609060101010101" pitchFamily="2" charset="-122"/>
              </a:rPr>
              <a:t>0.0.0.3</a:t>
            </a:r>
          </a:p>
        </p:txBody>
      </p:sp>
      <p:sp>
        <p:nvSpPr>
          <p:cNvPr id="587787"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anose="02010609060101010101" pitchFamily="2" charset="-122"/>
              </a:rPr>
              <a:t>主干区域 </a:t>
            </a:r>
            <a:r>
              <a:rPr kumimoji="1" lang="en-US" altLang="zh-CN" sz="2400" b="1" dirty="0">
                <a:solidFill>
                  <a:srgbClr val="C00000"/>
                </a:solidFill>
                <a:latin typeface="+mn-lt"/>
                <a:ea typeface="黑体" panose="02010609060101010101" pitchFamily="2" charset="-122"/>
              </a:rPr>
              <a:t>0.0.0.0</a:t>
            </a:r>
          </a:p>
        </p:txBody>
      </p:sp>
      <p:sp>
        <p:nvSpPr>
          <p:cNvPr id="587788" name="Line 12"/>
          <p:cNvSpPr>
            <a:spLocks noChangeShapeType="1"/>
          </p:cNvSpPr>
          <p:nvPr/>
        </p:nvSpPr>
        <p:spPr bwMode="auto">
          <a:xfrm flipV="1">
            <a:off x="5477833" y="1719611"/>
            <a:ext cx="1153980" cy="962025"/>
          </a:xfrm>
          <a:prstGeom prst="line">
            <a:avLst/>
          </a:prstGeom>
          <a:noFill/>
          <a:ln w="38100">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89" name="Text Box 13"/>
          <p:cNvSpPr txBox="1">
            <a:spLocks noChangeArrowheads="1"/>
          </p:cNvSpPr>
          <p:nvPr/>
        </p:nvSpPr>
        <p:spPr bwMode="auto">
          <a:xfrm>
            <a:off x="5835549"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anose="02010609060101010101" pitchFamily="2" charset="-122"/>
              </a:rPr>
              <a:t>至其他自治系统</a:t>
            </a:r>
          </a:p>
        </p:txBody>
      </p:sp>
      <p:sp>
        <p:nvSpPr>
          <p:cNvPr id="587790" name="Line 14"/>
          <p:cNvSpPr>
            <a:spLocks noChangeShapeType="1"/>
          </p:cNvSpPr>
          <p:nvPr/>
        </p:nvSpPr>
        <p:spPr bwMode="auto">
          <a:xfrm>
            <a:off x="7127112" y="3230910"/>
            <a:ext cx="908050" cy="2730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1" name="Line 15"/>
          <p:cNvSpPr>
            <a:spLocks noChangeShapeType="1"/>
          </p:cNvSpPr>
          <p:nvPr/>
        </p:nvSpPr>
        <p:spPr bwMode="auto">
          <a:xfrm flipV="1">
            <a:off x="8200263" y="3437286"/>
            <a:ext cx="823781" cy="136525"/>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2" name="Line 16"/>
          <p:cNvSpPr>
            <a:spLocks noChangeShapeType="1"/>
          </p:cNvSpPr>
          <p:nvPr/>
        </p:nvSpPr>
        <p:spPr bwMode="auto">
          <a:xfrm>
            <a:off x="8613013" y="2749897"/>
            <a:ext cx="411031" cy="687388"/>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3" name="Line 17"/>
          <p:cNvSpPr>
            <a:spLocks noChangeShapeType="1"/>
          </p:cNvSpPr>
          <p:nvPr/>
        </p:nvSpPr>
        <p:spPr bwMode="auto">
          <a:xfrm flipH="1">
            <a:off x="8528743" y="3503961"/>
            <a:ext cx="495300" cy="757237"/>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4" name="Line 18"/>
          <p:cNvSpPr>
            <a:spLocks noChangeShapeType="1"/>
          </p:cNvSpPr>
          <p:nvPr/>
        </p:nvSpPr>
        <p:spPr bwMode="auto">
          <a:xfrm flipV="1">
            <a:off x="5888863" y="3230910"/>
            <a:ext cx="1071431" cy="1381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5" name="Line 19"/>
          <p:cNvSpPr>
            <a:spLocks noChangeShapeType="1"/>
          </p:cNvSpPr>
          <p:nvPr/>
        </p:nvSpPr>
        <p:spPr bwMode="auto">
          <a:xfrm>
            <a:off x="5560383" y="2681635"/>
            <a:ext cx="163380" cy="6175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6" name="Line 20"/>
          <p:cNvSpPr>
            <a:spLocks noChangeShapeType="1"/>
          </p:cNvSpPr>
          <p:nvPr/>
        </p:nvSpPr>
        <p:spPr bwMode="auto">
          <a:xfrm flipH="1">
            <a:off x="5477833" y="3437285"/>
            <a:ext cx="245930" cy="4810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7" name="Line 21"/>
          <p:cNvSpPr>
            <a:spLocks noChangeShapeType="1"/>
          </p:cNvSpPr>
          <p:nvPr/>
        </p:nvSpPr>
        <p:spPr bwMode="auto">
          <a:xfrm>
            <a:off x="3744283" y="3094386"/>
            <a:ext cx="1733550" cy="274637"/>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8" name="Line 22"/>
          <p:cNvSpPr>
            <a:spLocks noChangeShapeType="1"/>
          </p:cNvSpPr>
          <p:nvPr/>
        </p:nvSpPr>
        <p:spPr bwMode="auto">
          <a:xfrm flipV="1">
            <a:off x="3826833" y="2749897"/>
            <a:ext cx="1568450" cy="3444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799" name="Line 23"/>
          <p:cNvSpPr>
            <a:spLocks noChangeShapeType="1"/>
          </p:cNvSpPr>
          <p:nvPr/>
        </p:nvSpPr>
        <p:spPr bwMode="auto">
          <a:xfrm flipH="1">
            <a:off x="1186952" y="2749897"/>
            <a:ext cx="1236531" cy="34448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00" name="Line 24"/>
          <p:cNvSpPr>
            <a:spLocks noChangeShapeType="1"/>
          </p:cNvSpPr>
          <p:nvPr/>
        </p:nvSpPr>
        <p:spPr bwMode="auto">
          <a:xfrm>
            <a:off x="2423483" y="2816572"/>
            <a:ext cx="497019" cy="757238"/>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01" name="Line 25"/>
          <p:cNvSpPr>
            <a:spLocks noChangeShapeType="1"/>
          </p:cNvSpPr>
          <p:nvPr/>
        </p:nvSpPr>
        <p:spPr bwMode="auto">
          <a:xfrm flipV="1">
            <a:off x="3001333" y="3161060"/>
            <a:ext cx="742950"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02" name="Line 26"/>
          <p:cNvSpPr>
            <a:spLocks noChangeShapeType="1"/>
          </p:cNvSpPr>
          <p:nvPr/>
        </p:nvSpPr>
        <p:spPr bwMode="auto">
          <a:xfrm flipH="1">
            <a:off x="1763083" y="3643660"/>
            <a:ext cx="1074869" cy="138112"/>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03" name="Line 27"/>
          <p:cNvSpPr>
            <a:spLocks noChangeShapeType="1"/>
          </p:cNvSpPr>
          <p:nvPr/>
        </p:nvSpPr>
        <p:spPr bwMode="auto">
          <a:xfrm>
            <a:off x="1763083" y="3848447"/>
            <a:ext cx="414469" cy="412750"/>
          </a:xfrm>
          <a:prstGeom prst="line">
            <a:avLst/>
          </a:prstGeom>
          <a:noFill/>
          <a:ln w="19050">
            <a:solidFill>
              <a:schemeClr val="tx2"/>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7804" name="Group 28"/>
          <p:cNvGrpSpPr/>
          <p:nvPr/>
        </p:nvGrpSpPr>
        <p:grpSpPr bwMode="auto">
          <a:xfrm>
            <a:off x="2588583" y="3369023"/>
            <a:ext cx="742950" cy="479425"/>
            <a:chOff x="2949" y="196"/>
            <a:chExt cx="941" cy="598"/>
          </a:xfrm>
        </p:grpSpPr>
        <p:sp>
          <p:nvSpPr>
            <p:cNvPr id="587805" name="Oval 29"/>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06"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07"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08"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09" name="Oval 33"/>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10"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11" name="Oval 35"/>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12"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13" name="Freeform 37"/>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14" name="Freeform 38"/>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15" name="Freeform 39"/>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pic>
        <p:nvPicPr>
          <p:cNvPr id="587816"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7"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8"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9"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0"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1"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7823" name="Group 47"/>
          <p:cNvGrpSpPr/>
          <p:nvPr/>
        </p:nvGrpSpPr>
        <p:grpSpPr bwMode="auto">
          <a:xfrm>
            <a:off x="1845633" y="4056411"/>
            <a:ext cx="742950" cy="479425"/>
            <a:chOff x="2949" y="196"/>
            <a:chExt cx="941" cy="598"/>
          </a:xfrm>
        </p:grpSpPr>
        <p:sp>
          <p:nvSpPr>
            <p:cNvPr id="587824" name="Oval 48"/>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25"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26"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27"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28" name="Oval 52"/>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29"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0" name="Oval 54"/>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1"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2" name="Freeform 56"/>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33" name="Freeform 57"/>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34" name="Freeform 58"/>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7835" name="Group 59"/>
          <p:cNvGrpSpPr/>
          <p:nvPr/>
        </p:nvGrpSpPr>
        <p:grpSpPr bwMode="auto">
          <a:xfrm>
            <a:off x="856752" y="2886422"/>
            <a:ext cx="742950" cy="482600"/>
            <a:chOff x="2949" y="196"/>
            <a:chExt cx="941" cy="598"/>
          </a:xfrm>
        </p:grpSpPr>
        <p:sp>
          <p:nvSpPr>
            <p:cNvPr id="587836" name="Oval 6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7"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8"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39"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0" name="Oval 6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1"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2" name="Oval 6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3"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4" name="Freeform 6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45" name="Freeform 6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46" name="Freeform 7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7847" name="Group 71"/>
          <p:cNvGrpSpPr/>
          <p:nvPr/>
        </p:nvGrpSpPr>
        <p:grpSpPr bwMode="auto">
          <a:xfrm>
            <a:off x="8200263" y="2475260"/>
            <a:ext cx="741231" cy="481012"/>
            <a:chOff x="2949" y="196"/>
            <a:chExt cx="941" cy="598"/>
          </a:xfrm>
        </p:grpSpPr>
        <p:sp>
          <p:nvSpPr>
            <p:cNvPr id="587848" name="Oval 7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49"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0"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1"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2" name="Oval 7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3"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4" name="Oval 7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5"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56" name="Freeform 8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57" name="Freeform 8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58" name="Freeform 8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7859" name="Group 83"/>
          <p:cNvGrpSpPr/>
          <p:nvPr/>
        </p:nvGrpSpPr>
        <p:grpSpPr bwMode="auto">
          <a:xfrm>
            <a:off x="8117712" y="4056411"/>
            <a:ext cx="742950" cy="479425"/>
            <a:chOff x="2949" y="196"/>
            <a:chExt cx="941" cy="598"/>
          </a:xfrm>
        </p:grpSpPr>
        <p:sp>
          <p:nvSpPr>
            <p:cNvPr id="587860" name="Oval 8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1"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2"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3"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4" name="Oval 8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5"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6" name="Oval 9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7"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68" name="Freeform 9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69" name="Freeform 9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70" name="Freeform 9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87871" name="Group 95"/>
          <p:cNvGrpSpPr/>
          <p:nvPr/>
        </p:nvGrpSpPr>
        <p:grpSpPr bwMode="auto">
          <a:xfrm>
            <a:off x="7703243" y="3299172"/>
            <a:ext cx="742950" cy="482600"/>
            <a:chOff x="2949" y="196"/>
            <a:chExt cx="941" cy="598"/>
          </a:xfrm>
        </p:grpSpPr>
        <p:sp>
          <p:nvSpPr>
            <p:cNvPr id="587872" name="Oval 9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3"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4"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5"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6" name="Oval 10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7"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8" name="Oval 10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79"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880" name="Freeform 10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81" name="Freeform 10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882" name="Freeform 10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7883"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9</a:t>
            </a:r>
          </a:p>
        </p:txBody>
      </p:sp>
      <p:sp>
        <p:nvSpPr>
          <p:cNvPr id="587884"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7</a:t>
            </a:r>
          </a:p>
        </p:txBody>
      </p:sp>
      <p:sp>
        <p:nvSpPr>
          <p:cNvPr id="587885"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6</a:t>
            </a:r>
          </a:p>
        </p:txBody>
      </p:sp>
      <p:sp>
        <p:nvSpPr>
          <p:cNvPr id="587886"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5</a:t>
            </a:r>
          </a:p>
        </p:txBody>
      </p:sp>
      <p:sp>
        <p:nvSpPr>
          <p:cNvPr id="587887"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anose="02010609060101010101" pitchFamily="2" charset="-122"/>
              </a:rPr>
              <a:t>R</a:t>
            </a:r>
            <a:r>
              <a:rPr kumimoji="1" lang="en-US" altLang="zh-CN" sz="2000" b="1" baseline="-25000">
                <a:solidFill>
                  <a:srgbClr val="FF0000"/>
                </a:solidFill>
                <a:latin typeface="+mn-lt"/>
                <a:ea typeface="黑体" panose="02010609060101010101" pitchFamily="2" charset="-122"/>
              </a:rPr>
              <a:t>4</a:t>
            </a:r>
          </a:p>
        </p:txBody>
      </p:sp>
      <p:sp>
        <p:nvSpPr>
          <p:cNvPr id="587888"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FF0000"/>
                </a:solidFill>
                <a:latin typeface="+mn-lt"/>
                <a:ea typeface="黑体" panose="02010609060101010101" pitchFamily="2" charset="-122"/>
              </a:rPr>
              <a:t>R</a:t>
            </a:r>
            <a:r>
              <a:rPr kumimoji="1" lang="en-US" altLang="zh-CN" sz="2000" b="1" baseline="-25000" dirty="0">
                <a:solidFill>
                  <a:srgbClr val="FF0000"/>
                </a:solidFill>
                <a:latin typeface="+mn-lt"/>
                <a:ea typeface="黑体" panose="02010609060101010101" pitchFamily="2" charset="-122"/>
              </a:rPr>
              <a:t>3</a:t>
            </a:r>
          </a:p>
        </p:txBody>
      </p:sp>
      <p:sp>
        <p:nvSpPr>
          <p:cNvPr id="587889"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2</a:t>
            </a:r>
          </a:p>
        </p:txBody>
      </p:sp>
      <p:sp>
        <p:nvSpPr>
          <p:cNvPr id="587890"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1</a:t>
            </a:r>
          </a:p>
        </p:txBody>
      </p:sp>
      <p:sp>
        <p:nvSpPr>
          <p:cNvPr id="587891"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8</a:t>
            </a:r>
          </a:p>
        </p:txBody>
      </p:sp>
      <p:sp>
        <p:nvSpPr>
          <p:cNvPr id="587892"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7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6</a:t>
            </a:r>
          </a:p>
        </p:txBody>
      </p:sp>
      <p:sp>
        <p:nvSpPr>
          <p:cNvPr id="587893"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3</a:t>
            </a:r>
          </a:p>
        </p:txBody>
      </p:sp>
      <p:sp>
        <p:nvSpPr>
          <p:cNvPr id="587894"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2</a:t>
            </a:r>
          </a:p>
        </p:txBody>
      </p:sp>
      <p:sp>
        <p:nvSpPr>
          <p:cNvPr id="587895"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9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1</a:t>
            </a:r>
          </a:p>
        </p:txBody>
      </p:sp>
      <p:sp>
        <p:nvSpPr>
          <p:cNvPr id="587896"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6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7</a:t>
            </a:r>
          </a:p>
        </p:txBody>
      </p:sp>
      <p:sp>
        <p:nvSpPr>
          <p:cNvPr id="587897"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87898"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anose="02010609060101010101" pitchFamily="2" charset="-122"/>
              </a:rPr>
              <a:t>区域 </a:t>
            </a:r>
            <a:r>
              <a:rPr kumimoji="1" lang="en-US" altLang="zh-CN" sz="2400" b="1">
                <a:solidFill>
                  <a:srgbClr val="C00000"/>
                </a:solidFill>
                <a:latin typeface="+mn-lt"/>
                <a:ea typeface="黑体" panose="02010609060101010101" pitchFamily="2" charset="-122"/>
              </a:rPr>
              <a:t>0.0.0.2</a:t>
            </a:r>
          </a:p>
        </p:txBody>
      </p:sp>
      <p:sp>
        <p:nvSpPr>
          <p:cNvPr id="587899" name="Line 123"/>
          <p:cNvSpPr>
            <a:spLocks noChangeShapeType="1"/>
          </p:cNvSpPr>
          <p:nvPr/>
        </p:nvSpPr>
        <p:spPr bwMode="auto">
          <a:xfrm>
            <a:off x="5395283" y="3918297"/>
            <a:ext cx="988880" cy="52070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900" name="Line 124"/>
          <p:cNvSpPr>
            <a:spLocks noChangeShapeType="1"/>
          </p:cNvSpPr>
          <p:nvPr/>
        </p:nvSpPr>
        <p:spPr bwMode="auto">
          <a:xfrm flipV="1">
            <a:off x="5560383" y="4524722"/>
            <a:ext cx="906330" cy="26035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7901" name="Group 125"/>
          <p:cNvGrpSpPr/>
          <p:nvPr/>
        </p:nvGrpSpPr>
        <p:grpSpPr bwMode="auto">
          <a:xfrm>
            <a:off x="6138233" y="4177060"/>
            <a:ext cx="741230" cy="608012"/>
            <a:chOff x="2949" y="196"/>
            <a:chExt cx="941" cy="598"/>
          </a:xfrm>
        </p:grpSpPr>
        <p:sp>
          <p:nvSpPr>
            <p:cNvPr id="587902" name="Oval 12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3"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4"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5"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6" name="Oval 13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7"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8" name="Oval 13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09"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10" name="Freeform 13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911" name="Freeform 13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912" name="Freeform 13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7913"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 </a:t>
            </a:r>
            <a:r>
              <a:rPr kumimoji="1" lang="en-US" altLang="zh-CN" sz="2000" b="1">
                <a:solidFill>
                  <a:srgbClr val="0000CC"/>
                </a:solidFill>
                <a:latin typeface="+mn-lt"/>
                <a:ea typeface="黑体" panose="02010609060101010101" pitchFamily="2" charset="-122"/>
              </a:rPr>
              <a:t>4</a:t>
            </a:r>
          </a:p>
        </p:txBody>
      </p:sp>
      <p:sp>
        <p:nvSpPr>
          <p:cNvPr id="587914" name="Line 138"/>
          <p:cNvSpPr>
            <a:spLocks noChangeShapeType="1"/>
          </p:cNvSpPr>
          <p:nvPr/>
        </p:nvSpPr>
        <p:spPr bwMode="auto">
          <a:xfrm>
            <a:off x="4402963" y="4608860"/>
            <a:ext cx="992320" cy="17621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87915" name="Group 139"/>
          <p:cNvGrpSpPr/>
          <p:nvPr/>
        </p:nvGrpSpPr>
        <p:grpSpPr bwMode="auto">
          <a:xfrm>
            <a:off x="4074483" y="4262785"/>
            <a:ext cx="742950" cy="608012"/>
            <a:chOff x="2949" y="196"/>
            <a:chExt cx="941" cy="598"/>
          </a:xfrm>
        </p:grpSpPr>
        <p:sp>
          <p:nvSpPr>
            <p:cNvPr id="587916" name="Oval 14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17"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18"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19"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20" name="Oval 14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21"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22" name="Oval 14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23"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87924" name="Freeform 14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925" name="Freeform 14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87926" name="Freeform 15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587927"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网</a:t>
            </a:r>
            <a:r>
              <a:rPr kumimoji="1" lang="zh-CN" altLang="en-US" sz="8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5</a:t>
            </a:r>
          </a:p>
        </p:txBody>
      </p:sp>
      <p:pic>
        <p:nvPicPr>
          <p:cNvPr id="587928"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7929"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r>
              <a:rPr kumimoji="1" lang="en-US" altLang="zh-CN" sz="2000" b="1" baseline="-25000">
                <a:solidFill>
                  <a:srgbClr val="0000CC"/>
                </a:solidFill>
                <a:latin typeface="+mn-lt"/>
                <a:ea typeface="黑体" panose="02010609060101010101" pitchFamily="2" charset="-122"/>
              </a:rPr>
              <a:t>8</a:t>
            </a:r>
          </a:p>
        </p:txBody>
      </p:sp>
      <p:pic>
        <p:nvPicPr>
          <p:cNvPr id="587930"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77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7888"/>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7887"/>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78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7781" grpId="0" bldLvl="0" animBg="1"/>
      <p:bldP spid="587884" grpId="0"/>
      <p:bldP spid="587887" grpId="0"/>
      <p:bldP spid="587888"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2"/>
          <p:cNvSpPr>
            <a:spLocks noGrp="1" noChangeArrowheads="1"/>
          </p:cNvSpPr>
          <p:nvPr>
            <p:ph type="title"/>
          </p:nvPr>
        </p:nvSpPr>
        <p:spPr/>
        <p:txBody>
          <a:bodyPr/>
          <a:lstStyle/>
          <a:p>
            <a:pPr algn="ctr"/>
            <a:r>
              <a:rPr lang="en-US" altLang="zh-CN"/>
              <a:t>OSPF </a:t>
            </a:r>
            <a:r>
              <a:rPr lang="zh-CN" altLang="en-US"/>
              <a:t>直接用 </a:t>
            </a:r>
            <a:r>
              <a:rPr lang="en-US" altLang="zh-CN"/>
              <a:t>IP </a:t>
            </a:r>
            <a:r>
              <a:rPr lang="zh-CN" altLang="en-US"/>
              <a:t>数据报传送 </a:t>
            </a:r>
          </a:p>
        </p:txBody>
      </p:sp>
      <p:sp>
        <p:nvSpPr>
          <p:cNvPr id="588803"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en-US" altLang="zh-CN" dirty="0">
                <a:solidFill>
                  <a:srgbClr val="FF0000"/>
                </a:solidFill>
              </a:rPr>
              <a:t>OSPF </a:t>
            </a:r>
            <a:r>
              <a:rPr lang="zh-CN" altLang="en-US" dirty="0">
                <a:solidFill>
                  <a:srgbClr val="FF0000"/>
                </a:solidFill>
              </a:rPr>
              <a:t>不用 </a:t>
            </a:r>
            <a:r>
              <a:rPr lang="en-US" altLang="zh-CN" dirty="0">
                <a:solidFill>
                  <a:srgbClr val="FF0000"/>
                </a:solidFill>
              </a:rPr>
              <a:t>UDP </a:t>
            </a:r>
            <a:r>
              <a:rPr lang="zh-CN" altLang="en-US" dirty="0">
                <a:solidFill>
                  <a:srgbClr val="FF0000"/>
                </a:solidFill>
              </a:rPr>
              <a:t>而是直接用 </a:t>
            </a:r>
            <a:r>
              <a:rPr lang="en-US" altLang="zh-CN" dirty="0">
                <a:solidFill>
                  <a:srgbClr val="FF0000"/>
                </a:solidFill>
              </a:rPr>
              <a:t>IP </a:t>
            </a:r>
            <a:r>
              <a:rPr lang="zh-CN" altLang="en-US" dirty="0">
                <a:solidFill>
                  <a:srgbClr val="FF0000"/>
                </a:solidFill>
              </a:rPr>
              <a:t>数据报传送。</a:t>
            </a:r>
          </a:p>
          <a:p>
            <a:r>
              <a:rPr lang="en-US" altLang="zh-CN" dirty="0"/>
              <a:t>OSPF </a:t>
            </a:r>
            <a:r>
              <a:rPr lang="zh-CN" altLang="en-US" dirty="0"/>
              <a:t>构成的数据报很短。这样做可减少路由信息的通信量。</a:t>
            </a:r>
          </a:p>
          <a:p>
            <a:r>
              <a:rPr lang="zh-CN" altLang="en-US" dirty="0"/>
              <a:t>数据报很短的另一好处是可以不必将长的数据报分片传送。</a:t>
            </a:r>
            <a:endParaRPr lang="en-US" altLang="zh-CN" dirty="0"/>
          </a:p>
          <a:p>
            <a:r>
              <a:rPr lang="zh-CN" altLang="en-US" dirty="0"/>
              <a:t>但分片传送的数据报只要丢失一个，就无法组装成原来的数据报，而整个数据报就必须重传。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880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880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880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88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03" grpId="0" build="p"/>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2"/>
          <p:cNvSpPr>
            <a:spLocks noGrp="1" noChangeArrowheads="1"/>
          </p:cNvSpPr>
          <p:nvPr>
            <p:ph type="title"/>
          </p:nvPr>
        </p:nvSpPr>
        <p:spPr/>
        <p:txBody>
          <a:bodyPr/>
          <a:lstStyle/>
          <a:p>
            <a:pPr algn="ctr"/>
            <a:r>
              <a:rPr lang="en-US" altLang="zh-CN" dirty="0"/>
              <a:t>OSPF </a:t>
            </a:r>
            <a:r>
              <a:rPr lang="zh-CN" altLang="en-US" dirty="0"/>
              <a:t>的其他特点 </a:t>
            </a:r>
          </a:p>
        </p:txBody>
      </p:sp>
      <p:sp>
        <p:nvSpPr>
          <p:cNvPr id="58982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en-US" altLang="zh-CN" sz="2600" dirty="0"/>
              <a:t>OSPF </a:t>
            </a:r>
            <a:r>
              <a:rPr lang="zh-CN" altLang="en-US" sz="2600" dirty="0"/>
              <a:t>对不同的链路可根据 </a:t>
            </a:r>
            <a:r>
              <a:rPr lang="en-US" altLang="zh-CN" sz="2600" dirty="0"/>
              <a:t>IP </a:t>
            </a:r>
            <a:r>
              <a:rPr lang="zh-CN" altLang="en-US" sz="2600" dirty="0"/>
              <a:t>分组的不同服务类型 </a:t>
            </a:r>
            <a:r>
              <a:rPr lang="en-US" altLang="zh-CN" sz="2600" dirty="0"/>
              <a:t>TOS </a:t>
            </a:r>
            <a:r>
              <a:rPr lang="zh-CN" altLang="en-US" sz="2600" dirty="0"/>
              <a:t>（区分服务字段）而设置成不同的代价。因此，</a:t>
            </a:r>
            <a:r>
              <a:rPr lang="en-US" altLang="zh-CN" sz="2600" dirty="0">
                <a:solidFill>
                  <a:srgbClr val="FF0000"/>
                </a:solidFill>
              </a:rPr>
              <a:t>OSPF </a:t>
            </a:r>
            <a:r>
              <a:rPr lang="zh-CN" altLang="en-US" sz="2600" dirty="0">
                <a:solidFill>
                  <a:srgbClr val="FF0000"/>
                </a:solidFill>
              </a:rPr>
              <a:t>对于不同类型的业务可计算出不同的路由。</a:t>
            </a:r>
          </a:p>
          <a:p>
            <a:r>
              <a:rPr lang="zh-CN" altLang="en-US" sz="2600" dirty="0"/>
              <a:t>如果到同一个目的网络有多条相同代价的路径，那么可以将通信量分配给这几条路径。这叫作</a:t>
            </a:r>
            <a:r>
              <a:rPr lang="zh-CN" altLang="en-US" sz="2600" dirty="0">
                <a:solidFill>
                  <a:srgbClr val="FF0000"/>
                </a:solidFill>
              </a:rPr>
              <a:t>多路径间的负载平衡。</a:t>
            </a:r>
          </a:p>
          <a:p>
            <a:r>
              <a:rPr lang="zh-CN" altLang="en-US" sz="2600" dirty="0"/>
              <a:t>所有在 </a:t>
            </a:r>
            <a:r>
              <a:rPr lang="en-US" altLang="zh-CN" sz="2600" dirty="0"/>
              <a:t>OSPF </a:t>
            </a:r>
            <a:r>
              <a:rPr lang="zh-CN" altLang="en-US" sz="2600" dirty="0"/>
              <a:t>路由器之间交换的分组都具有</a:t>
            </a:r>
            <a:r>
              <a:rPr lang="zh-CN" altLang="en-US" sz="2600" dirty="0">
                <a:solidFill>
                  <a:srgbClr val="FF0000"/>
                </a:solidFill>
              </a:rPr>
              <a:t>鉴别</a:t>
            </a:r>
            <a:r>
              <a:rPr lang="zh-CN" altLang="en-US" sz="2600" dirty="0"/>
              <a:t>的功能。</a:t>
            </a:r>
          </a:p>
          <a:p>
            <a:r>
              <a:rPr lang="zh-CN" altLang="en-US" sz="2600" dirty="0">
                <a:solidFill>
                  <a:srgbClr val="FF0000"/>
                </a:solidFill>
              </a:rPr>
              <a:t>支持可变长度的子网划分和无分类编址 </a:t>
            </a:r>
            <a:r>
              <a:rPr lang="en-US" altLang="zh-CN" sz="2600" dirty="0">
                <a:solidFill>
                  <a:srgbClr val="FF0000"/>
                </a:solidFill>
              </a:rPr>
              <a:t>CIDR</a:t>
            </a:r>
            <a:r>
              <a:rPr lang="zh-CN" altLang="en-US" sz="2600" dirty="0">
                <a:solidFill>
                  <a:srgbClr val="FF0000"/>
                </a:solidFill>
              </a:rPr>
              <a:t>。</a:t>
            </a:r>
          </a:p>
          <a:p>
            <a:r>
              <a:rPr lang="zh-CN" altLang="en-US" sz="2600" dirty="0"/>
              <a:t>每一个链路状态都带上一个 </a:t>
            </a:r>
            <a:r>
              <a:rPr lang="en-US" altLang="zh-CN" sz="2600" dirty="0"/>
              <a:t>32 </a:t>
            </a:r>
            <a:r>
              <a:rPr lang="zh-CN" altLang="en-US" sz="2600" dirty="0"/>
              <a:t>位的序号，序号越大状态就越新。</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982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982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982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9827">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8982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9827" grpId="0" build="p"/>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95" name="AutoShape 47"/>
          <p:cNvSpPr>
            <a:spLocks noChangeArrowheads="1"/>
          </p:cNvSpPr>
          <p:nvPr/>
        </p:nvSpPr>
        <p:spPr bwMode="auto">
          <a:xfrm>
            <a:off x="1670590" y="5322751"/>
            <a:ext cx="758429" cy="227013"/>
          </a:xfrm>
          <a:prstGeom prst="leftArrow">
            <a:avLst>
              <a:gd name="adj1" fmla="val 50000"/>
              <a:gd name="adj2" fmla="val 77098"/>
            </a:avLst>
          </a:prstGeom>
          <a:solidFill>
            <a:srgbClr val="C00000"/>
          </a:solidFill>
          <a:ln w="9525">
            <a:solidFill>
              <a:srgbClr val="C00000"/>
            </a:solidFill>
            <a:miter lim="800000"/>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0850" name="Line 2"/>
          <p:cNvSpPr>
            <a:spLocks noChangeShapeType="1"/>
          </p:cNvSpPr>
          <p:nvPr/>
        </p:nvSpPr>
        <p:spPr bwMode="auto">
          <a:xfrm>
            <a:off x="2348188" y="6043475"/>
            <a:ext cx="6213608"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51" name="Text Box 3"/>
          <p:cNvSpPr txBox="1">
            <a:spLocks noChangeArrowheads="1"/>
          </p:cNvSpPr>
          <p:nvPr/>
        </p:nvSpPr>
        <p:spPr bwMode="auto">
          <a:xfrm>
            <a:off x="4769655" y="5789476"/>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sp>
        <p:nvSpPr>
          <p:cNvPr id="590852" name="Rectangle 4"/>
          <p:cNvSpPr>
            <a:spLocks noGrp="1" noChangeArrowheads="1"/>
          </p:cNvSpPr>
          <p:nvPr>
            <p:ph type="title" idx="4294967295"/>
          </p:nvPr>
        </p:nvSpPr>
        <p:spPr>
          <a:xfrm>
            <a:off x="560512" y="44624"/>
            <a:ext cx="9066212" cy="792162"/>
          </a:xfrm>
        </p:spPr>
        <p:txBody>
          <a:bodyPr/>
          <a:lstStyle/>
          <a:p>
            <a:pPr algn="ctr"/>
            <a:r>
              <a:rPr lang="en-US" altLang="zh-CN" dirty="0"/>
              <a:t>OSPF </a:t>
            </a:r>
            <a:r>
              <a:rPr lang="zh-CN" altLang="en-US" dirty="0"/>
              <a:t>分组 </a:t>
            </a:r>
          </a:p>
        </p:txBody>
      </p:sp>
      <p:sp>
        <p:nvSpPr>
          <p:cNvPr id="590853" name="Freeform 5"/>
          <p:cNvSpPr/>
          <p:nvPr/>
        </p:nvSpPr>
        <p:spPr bwMode="auto">
          <a:xfrm>
            <a:off x="796937" y="3556672"/>
            <a:ext cx="8769218" cy="591032"/>
          </a:xfrm>
          <a:custGeom>
            <a:avLst/>
            <a:gdLst>
              <a:gd name="T0" fmla="*/ 48 w 4608"/>
              <a:gd name="T1" fmla="*/ 0 h 576"/>
              <a:gd name="T2" fmla="*/ 4608 w 4608"/>
              <a:gd name="T3" fmla="*/ 0 h 576"/>
              <a:gd name="T4" fmla="*/ 2208 w 4608"/>
              <a:gd name="T5" fmla="*/ 576 h 576"/>
              <a:gd name="T6" fmla="*/ 1152 w 4608"/>
              <a:gd name="T7" fmla="*/ 576 h 576"/>
              <a:gd name="T8" fmla="*/ 0 w 4608"/>
              <a:gd name="T9" fmla="*/ 0 h 576"/>
            </a:gdLst>
            <a:ahLst/>
            <a:cxnLst>
              <a:cxn ang="0">
                <a:pos x="T0" y="T1"/>
              </a:cxn>
              <a:cxn ang="0">
                <a:pos x="T2" y="T3"/>
              </a:cxn>
              <a:cxn ang="0">
                <a:pos x="T4" y="T5"/>
              </a:cxn>
              <a:cxn ang="0">
                <a:pos x="T6" y="T7"/>
              </a:cxn>
              <a:cxn ang="0">
                <a:pos x="T8" y="T9"/>
              </a:cxn>
            </a:cxnLst>
            <a:rect l="0" t="0" r="r" b="b"/>
            <a:pathLst>
              <a:path w="4608" h="576">
                <a:moveTo>
                  <a:pt x="48" y="0"/>
                </a:moveTo>
                <a:lnTo>
                  <a:pt x="4608" y="0"/>
                </a:lnTo>
                <a:lnTo>
                  <a:pt x="2208" y="576"/>
                </a:lnTo>
                <a:lnTo>
                  <a:pt x="1152" y="576"/>
                </a:lnTo>
                <a:lnTo>
                  <a:pt x="0" y="0"/>
                </a:lnTo>
              </a:path>
            </a:pathLst>
          </a:custGeom>
          <a:gradFill rotWithShape="1">
            <a:gsLst>
              <a:gs pos="0">
                <a:srgbClr val="CCECFF">
                  <a:gamma/>
                  <a:shade val="6078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0854" name="Freeform 6"/>
          <p:cNvSpPr/>
          <p:nvPr/>
        </p:nvSpPr>
        <p:spPr bwMode="auto">
          <a:xfrm>
            <a:off x="3036105" y="4750955"/>
            <a:ext cx="6165454" cy="408284"/>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rgbClr val="FFCCFF">
                  <a:gamma/>
                  <a:shade val="72549"/>
                  <a:invGamma/>
                </a:srgbClr>
              </a:gs>
              <a:gs pos="100000">
                <a:srgbClr val="FFCCFF"/>
              </a:gs>
            </a:gsLst>
            <a:lin ang="540000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0855" name="Rectangle 7"/>
          <p:cNvSpPr>
            <a:spLocks noChangeArrowheads="1"/>
          </p:cNvSpPr>
          <p:nvPr/>
        </p:nvSpPr>
        <p:spPr bwMode="auto">
          <a:xfrm>
            <a:off x="2348188" y="5159238"/>
            <a:ext cx="6213608" cy="590550"/>
          </a:xfrm>
          <a:prstGeom prst="rect">
            <a:avLst/>
          </a:prstGeom>
          <a:solidFill>
            <a:schemeClr val="bg1"/>
          </a:solidFill>
          <a:ln w="19050">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0856" name="Rectangle 8"/>
          <p:cNvSpPr>
            <a:spLocks noChangeArrowheads="1"/>
          </p:cNvSpPr>
          <p:nvPr/>
        </p:nvSpPr>
        <p:spPr bwMode="auto">
          <a:xfrm>
            <a:off x="4093778" y="5176700"/>
            <a:ext cx="4459419" cy="579438"/>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57" name="Line 9"/>
          <p:cNvSpPr>
            <a:spLocks noChangeShapeType="1"/>
          </p:cNvSpPr>
          <p:nvPr/>
        </p:nvSpPr>
        <p:spPr bwMode="auto">
          <a:xfrm>
            <a:off x="4085178" y="5159238"/>
            <a:ext cx="0" cy="590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58" name="Text Box 10"/>
          <p:cNvSpPr txBox="1">
            <a:spLocks noChangeArrowheads="1"/>
          </p:cNvSpPr>
          <p:nvPr/>
        </p:nvSpPr>
        <p:spPr bwMode="auto">
          <a:xfrm>
            <a:off x="2301754" y="5263184"/>
            <a:ext cx="17347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IP</a:t>
            </a:r>
            <a:r>
              <a:rPr kumimoji="1" lang="zh-CN" altLang="zh-CN" sz="2000" b="1">
                <a:solidFill>
                  <a:srgbClr val="0000CC"/>
                </a:solidFill>
                <a:latin typeface="+mn-lt"/>
                <a:ea typeface="黑体" panose="02010609060101010101" pitchFamily="2" charset="-122"/>
              </a:rPr>
              <a:t>数据报首部</a:t>
            </a:r>
            <a:endParaRPr kumimoji="1" lang="zh-CN" altLang="en-US" sz="2000" b="1">
              <a:solidFill>
                <a:srgbClr val="0000CC"/>
              </a:solidFill>
              <a:latin typeface="+mn-lt"/>
              <a:ea typeface="黑体" panose="02010609060101010101" pitchFamily="2" charset="-122"/>
            </a:endParaRPr>
          </a:p>
        </p:txBody>
      </p:sp>
      <p:sp>
        <p:nvSpPr>
          <p:cNvPr id="590859" name="Text Box 11"/>
          <p:cNvSpPr txBox="1">
            <a:spLocks noChangeArrowheads="1"/>
          </p:cNvSpPr>
          <p:nvPr/>
        </p:nvSpPr>
        <p:spPr bwMode="auto">
          <a:xfrm>
            <a:off x="5350944" y="5261598"/>
            <a:ext cx="14702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OSPF </a:t>
            </a:r>
            <a:r>
              <a:rPr kumimoji="1" lang="zh-CN" altLang="en-US" sz="2000" b="1">
                <a:solidFill>
                  <a:srgbClr val="0000CC"/>
                </a:solidFill>
                <a:latin typeface="+mn-lt"/>
                <a:ea typeface="黑体" panose="02010609060101010101" pitchFamily="2" charset="-122"/>
              </a:rPr>
              <a:t>分组</a:t>
            </a:r>
          </a:p>
        </p:txBody>
      </p:sp>
      <p:sp>
        <p:nvSpPr>
          <p:cNvPr id="590860" name="Rectangle 12"/>
          <p:cNvSpPr>
            <a:spLocks noChangeArrowheads="1"/>
          </p:cNvSpPr>
          <p:nvPr/>
        </p:nvSpPr>
        <p:spPr bwMode="auto">
          <a:xfrm>
            <a:off x="2989671" y="4147703"/>
            <a:ext cx="6211888" cy="59055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0861" name="Line 13"/>
          <p:cNvSpPr>
            <a:spLocks noChangeShapeType="1"/>
          </p:cNvSpPr>
          <p:nvPr/>
        </p:nvSpPr>
        <p:spPr bwMode="auto">
          <a:xfrm>
            <a:off x="8561796" y="5749789"/>
            <a:ext cx="0" cy="36988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2" name="Rectangle 14"/>
          <p:cNvSpPr>
            <a:spLocks noChangeArrowheads="1"/>
          </p:cNvSpPr>
          <p:nvPr/>
        </p:nvSpPr>
        <p:spPr bwMode="auto">
          <a:xfrm>
            <a:off x="5010426" y="4176278"/>
            <a:ext cx="4182533" cy="558800"/>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3" name="Line 15"/>
          <p:cNvSpPr>
            <a:spLocks noChangeShapeType="1"/>
          </p:cNvSpPr>
          <p:nvPr/>
        </p:nvSpPr>
        <p:spPr bwMode="auto">
          <a:xfrm>
            <a:off x="5000107" y="4147703"/>
            <a:ext cx="0" cy="5905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4" name="Text Box 16"/>
          <p:cNvSpPr txBox="1">
            <a:spLocks noChangeArrowheads="1"/>
          </p:cNvSpPr>
          <p:nvPr/>
        </p:nvSpPr>
        <p:spPr bwMode="auto">
          <a:xfrm>
            <a:off x="2917440" y="4233429"/>
            <a:ext cx="1986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OSPF </a:t>
            </a:r>
            <a:r>
              <a:rPr kumimoji="1" lang="zh-CN" altLang="en-US" sz="2000" b="1">
                <a:solidFill>
                  <a:srgbClr val="0000CC"/>
                </a:solidFill>
                <a:latin typeface="+mn-lt"/>
                <a:ea typeface="黑体" panose="02010609060101010101" pitchFamily="2" charset="-122"/>
              </a:rPr>
              <a:t>分组首部</a:t>
            </a:r>
          </a:p>
        </p:txBody>
      </p:sp>
      <p:sp>
        <p:nvSpPr>
          <p:cNvPr id="590865" name="Text Box 17"/>
          <p:cNvSpPr txBox="1">
            <a:spLocks noChangeArrowheads="1"/>
          </p:cNvSpPr>
          <p:nvPr/>
        </p:nvSpPr>
        <p:spPr bwMode="auto">
          <a:xfrm>
            <a:off x="5180686" y="4233429"/>
            <a:ext cx="36567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类型 </a:t>
            </a:r>
            <a:r>
              <a:rPr kumimoji="1" lang="en-US" altLang="zh-CN" sz="2000" b="1">
                <a:solidFill>
                  <a:srgbClr val="0000CC"/>
                </a:solidFill>
                <a:latin typeface="+mn-lt"/>
                <a:ea typeface="黑体" panose="02010609060101010101" pitchFamily="2" charset="-122"/>
              </a:rPr>
              <a:t>1 </a:t>
            </a:r>
            <a:r>
              <a:rPr kumimoji="1" lang="zh-CN" altLang="en-US" sz="2000" b="1">
                <a:solidFill>
                  <a:srgbClr val="0000CC"/>
                </a:solidFill>
                <a:latin typeface="+mn-lt"/>
                <a:ea typeface="黑体" panose="02010609060101010101" pitchFamily="2" charset="-122"/>
              </a:rPr>
              <a:t>至类型 </a:t>
            </a:r>
            <a:r>
              <a:rPr kumimoji="1" lang="en-US" altLang="zh-CN" sz="2000" b="1">
                <a:solidFill>
                  <a:srgbClr val="0000CC"/>
                </a:solidFill>
                <a:latin typeface="+mn-lt"/>
                <a:ea typeface="黑体" panose="02010609060101010101" pitchFamily="2" charset="-122"/>
              </a:rPr>
              <a:t>5 </a:t>
            </a:r>
            <a:r>
              <a:rPr kumimoji="1" lang="zh-CN" altLang="en-US" sz="2000" b="1">
                <a:solidFill>
                  <a:srgbClr val="0000CC"/>
                </a:solidFill>
                <a:latin typeface="+mn-lt"/>
                <a:ea typeface="黑体" panose="02010609060101010101" pitchFamily="2" charset="-122"/>
              </a:rPr>
              <a:t>的 </a:t>
            </a:r>
            <a:r>
              <a:rPr kumimoji="1" lang="en-US" altLang="zh-CN" sz="2000" b="1">
                <a:solidFill>
                  <a:srgbClr val="0000CC"/>
                </a:solidFill>
                <a:latin typeface="+mn-lt"/>
                <a:ea typeface="黑体" panose="02010609060101010101" pitchFamily="2" charset="-122"/>
              </a:rPr>
              <a:t>OSPF </a:t>
            </a:r>
            <a:r>
              <a:rPr kumimoji="1" lang="zh-CN" altLang="en-US" sz="2000" b="1">
                <a:solidFill>
                  <a:srgbClr val="0000CC"/>
                </a:solidFill>
                <a:latin typeface="+mn-lt"/>
                <a:ea typeface="黑体" panose="02010609060101010101" pitchFamily="2" charset="-122"/>
              </a:rPr>
              <a:t>分组</a:t>
            </a:r>
          </a:p>
        </p:txBody>
      </p:sp>
      <p:sp>
        <p:nvSpPr>
          <p:cNvPr id="590866" name="Line 18"/>
          <p:cNvSpPr>
            <a:spLocks noChangeShapeType="1"/>
          </p:cNvSpPr>
          <p:nvPr/>
        </p:nvSpPr>
        <p:spPr bwMode="auto">
          <a:xfrm>
            <a:off x="2348188" y="5822813"/>
            <a:ext cx="0" cy="296862"/>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7" name="Line 19"/>
          <p:cNvSpPr>
            <a:spLocks noChangeShapeType="1"/>
          </p:cNvSpPr>
          <p:nvPr/>
        </p:nvSpPr>
        <p:spPr bwMode="auto">
          <a:xfrm>
            <a:off x="2989671" y="3817504"/>
            <a:ext cx="0" cy="2952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8" name="Line 20"/>
          <p:cNvSpPr>
            <a:spLocks noChangeShapeType="1"/>
          </p:cNvSpPr>
          <p:nvPr/>
        </p:nvSpPr>
        <p:spPr bwMode="auto">
          <a:xfrm>
            <a:off x="5000107" y="3817504"/>
            <a:ext cx="0" cy="2952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69" name="Line 21"/>
          <p:cNvSpPr>
            <a:spLocks noChangeShapeType="1"/>
          </p:cNvSpPr>
          <p:nvPr/>
        </p:nvSpPr>
        <p:spPr bwMode="auto">
          <a:xfrm flipV="1">
            <a:off x="4449774" y="3958791"/>
            <a:ext cx="543454"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0" name="Text Box 22"/>
          <p:cNvSpPr txBox="1">
            <a:spLocks noChangeArrowheads="1"/>
          </p:cNvSpPr>
          <p:nvPr/>
        </p:nvSpPr>
        <p:spPr bwMode="auto">
          <a:xfrm>
            <a:off x="3445416" y="3719078"/>
            <a:ext cx="1090363" cy="4001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24 </a:t>
            </a:r>
            <a:r>
              <a:rPr kumimoji="1" lang="zh-CN" altLang="en-US" sz="2000" b="1">
                <a:solidFill>
                  <a:srgbClr val="0000CC"/>
                </a:solidFill>
                <a:latin typeface="+mn-lt"/>
                <a:ea typeface="黑体" panose="02010609060101010101" pitchFamily="2" charset="-122"/>
              </a:rPr>
              <a:t>字节</a:t>
            </a:r>
          </a:p>
        </p:txBody>
      </p:sp>
      <p:sp>
        <p:nvSpPr>
          <p:cNvPr id="590871" name="Rectangle 23"/>
          <p:cNvSpPr>
            <a:spLocks noChangeArrowheads="1"/>
          </p:cNvSpPr>
          <p:nvPr/>
        </p:nvSpPr>
        <p:spPr bwMode="auto">
          <a:xfrm>
            <a:off x="814134" y="1324646"/>
            <a:ext cx="8752020" cy="2232025"/>
          </a:xfrm>
          <a:prstGeom prst="rect">
            <a:avLst/>
          </a:prstGeom>
          <a:solidFill>
            <a:srgbClr val="CCECFF"/>
          </a:solidFill>
          <a:ln w="952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0872" name="Line 24"/>
          <p:cNvSpPr>
            <a:spLocks noChangeShapeType="1"/>
          </p:cNvSpPr>
          <p:nvPr/>
        </p:nvSpPr>
        <p:spPr bwMode="auto">
          <a:xfrm>
            <a:off x="805536" y="1708820"/>
            <a:ext cx="876749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3" name="Line 25"/>
          <p:cNvSpPr>
            <a:spLocks noChangeShapeType="1"/>
          </p:cNvSpPr>
          <p:nvPr/>
        </p:nvSpPr>
        <p:spPr bwMode="auto">
          <a:xfrm>
            <a:off x="805536" y="2077120"/>
            <a:ext cx="876749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4" name="Line 26"/>
          <p:cNvSpPr>
            <a:spLocks noChangeShapeType="1"/>
          </p:cNvSpPr>
          <p:nvPr/>
        </p:nvSpPr>
        <p:spPr bwMode="auto">
          <a:xfrm>
            <a:off x="805536" y="2448595"/>
            <a:ext cx="876749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5" name="Line 27"/>
          <p:cNvSpPr>
            <a:spLocks noChangeShapeType="1"/>
          </p:cNvSpPr>
          <p:nvPr/>
        </p:nvSpPr>
        <p:spPr bwMode="auto">
          <a:xfrm>
            <a:off x="805536" y="2816895"/>
            <a:ext cx="876749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6" name="Line 28"/>
          <p:cNvSpPr>
            <a:spLocks noChangeShapeType="1"/>
          </p:cNvSpPr>
          <p:nvPr/>
        </p:nvSpPr>
        <p:spPr bwMode="auto">
          <a:xfrm>
            <a:off x="805536" y="3188370"/>
            <a:ext cx="876749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7" name="Line 29"/>
          <p:cNvSpPr>
            <a:spLocks noChangeShapeType="1"/>
          </p:cNvSpPr>
          <p:nvPr/>
        </p:nvSpPr>
        <p:spPr bwMode="auto">
          <a:xfrm>
            <a:off x="2989671" y="1330996"/>
            <a:ext cx="0" cy="3778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8" name="Line 30"/>
          <p:cNvSpPr>
            <a:spLocks noChangeShapeType="1"/>
          </p:cNvSpPr>
          <p:nvPr/>
        </p:nvSpPr>
        <p:spPr bwMode="auto">
          <a:xfrm>
            <a:off x="5175526" y="1330996"/>
            <a:ext cx="6879" cy="3778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79" name="Rectangle 31"/>
          <p:cNvSpPr>
            <a:spLocks noChangeArrowheads="1"/>
          </p:cNvSpPr>
          <p:nvPr/>
        </p:nvSpPr>
        <p:spPr bwMode="auto">
          <a:xfrm>
            <a:off x="752222" y="92459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590880" name="Rectangle 32"/>
          <p:cNvSpPr>
            <a:spLocks noChangeArrowheads="1"/>
          </p:cNvSpPr>
          <p:nvPr/>
        </p:nvSpPr>
        <p:spPr bwMode="auto">
          <a:xfrm>
            <a:off x="2898522" y="92459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590881" name="Rectangle 33"/>
          <p:cNvSpPr>
            <a:spLocks noChangeArrowheads="1"/>
          </p:cNvSpPr>
          <p:nvPr/>
        </p:nvSpPr>
        <p:spPr bwMode="auto">
          <a:xfrm>
            <a:off x="5067179" y="92459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590882" name="Rectangle 34"/>
          <p:cNvSpPr>
            <a:spLocks noChangeArrowheads="1"/>
          </p:cNvSpPr>
          <p:nvPr/>
        </p:nvSpPr>
        <p:spPr bwMode="auto">
          <a:xfrm>
            <a:off x="9165442" y="92459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590883" name="Rectangle 35"/>
          <p:cNvSpPr>
            <a:spLocks noChangeArrowheads="1"/>
          </p:cNvSpPr>
          <p:nvPr/>
        </p:nvSpPr>
        <p:spPr bwMode="auto">
          <a:xfrm>
            <a:off x="1433260" y="1323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590884" name="Rectangle 36"/>
          <p:cNvSpPr>
            <a:spLocks noChangeArrowheads="1"/>
          </p:cNvSpPr>
          <p:nvPr/>
        </p:nvSpPr>
        <p:spPr bwMode="auto">
          <a:xfrm>
            <a:off x="3538285" y="1726283"/>
            <a:ext cx="31418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路    由    器    标    识    符</a:t>
            </a:r>
          </a:p>
        </p:txBody>
      </p:sp>
      <p:sp>
        <p:nvSpPr>
          <p:cNvPr id="590885" name="Rectangle 37"/>
          <p:cNvSpPr>
            <a:spLocks noChangeArrowheads="1"/>
          </p:cNvSpPr>
          <p:nvPr/>
        </p:nvSpPr>
        <p:spPr bwMode="auto">
          <a:xfrm>
            <a:off x="3662110" y="1323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类    型</a:t>
            </a:r>
          </a:p>
        </p:txBody>
      </p:sp>
      <p:sp>
        <p:nvSpPr>
          <p:cNvPr id="590886" name="Rectangle 38"/>
          <p:cNvSpPr>
            <a:spLocks noChangeArrowheads="1"/>
          </p:cNvSpPr>
          <p:nvPr/>
        </p:nvSpPr>
        <p:spPr bwMode="auto">
          <a:xfrm>
            <a:off x="6310589" y="1323058"/>
            <a:ext cx="206146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分    组    长    度</a:t>
            </a:r>
          </a:p>
        </p:txBody>
      </p:sp>
      <p:sp>
        <p:nvSpPr>
          <p:cNvPr id="590887" name="Rectangle 39"/>
          <p:cNvSpPr>
            <a:spLocks noChangeArrowheads="1"/>
          </p:cNvSpPr>
          <p:nvPr/>
        </p:nvSpPr>
        <p:spPr bwMode="auto">
          <a:xfrm>
            <a:off x="2270799" y="24660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检   验   和</a:t>
            </a:r>
          </a:p>
        </p:txBody>
      </p:sp>
      <p:sp>
        <p:nvSpPr>
          <p:cNvPr id="590888" name="Rectangle 40"/>
          <p:cNvSpPr>
            <a:spLocks noChangeArrowheads="1"/>
          </p:cNvSpPr>
          <p:nvPr/>
        </p:nvSpPr>
        <p:spPr bwMode="auto">
          <a:xfrm>
            <a:off x="4417098" y="2818483"/>
            <a:ext cx="154529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鉴            别</a:t>
            </a:r>
          </a:p>
        </p:txBody>
      </p:sp>
      <p:sp>
        <p:nvSpPr>
          <p:cNvPr id="590889" name="Rectangle 41"/>
          <p:cNvSpPr>
            <a:spLocks noChangeArrowheads="1"/>
          </p:cNvSpPr>
          <p:nvPr/>
        </p:nvSpPr>
        <p:spPr bwMode="auto">
          <a:xfrm>
            <a:off x="184691" y="908720"/>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590890" name="Rectangle 42"/>
          <p:cNvSpPr>
            <a:spLocks noChangeArrowheads="1"/>
          </p:cNvSpPr>
          <p:nvPr/>
        </p:nvSpPr>
        <p:spPr bwMode="auto">
          <a:xfrm>
            <a:off x="4417098" y="3188371"/>
            <a:ext cx="154529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鉴            别</a:t>
            </a:r>
          </a:p>
        </p:txBody>
      </p:sp>
      <p:sp>
        <p:nvSpPr>
          <p:cNvPr id="590891" name="Rectangle 43"/>
          <p:cNvSpPr>
            <a:spLocks noChangeArrowheads="1"/>
          </p:cNvSpPr>
          <p:nvPr/>
        </p:nvSpPr>
        <p:spPr bwMode="auto">
          <a:xfrm>
            <a:off x="3870205" y="2094583"/>
            <a:ext cx="26016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域    标    识    符</a:t>
            </a:r>
          </a:p>
        </p:txBody>
      </p:sp>
      <p:sp>
        <p:nvSpPr>
          <p:cNvPr id="590892" name="Rectangle 44"/>
          <p:cNvSpPr>
            <a:spLocks noChangeArrowheads="1"/>
          </p:cNvSpPr>
          <p:nvPr/>
        </p:nvSpPr>
        <p:spPr bwMode="auto">
          <a:xfrm>
            <a:off x="6334666" y="2466058"/>
            <a:ext cx="206146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鉴    别    类    型</a:t>
            </a:r>
          </a:p>
        </p:txBody>
      </p:sp>
      <p:sp>
        <p:nvSpPr>
          <p:cNvPr id="590893" name="Line 45"/>
          <p:cNvSpPr>
            <a:spLocks noChangeShapeType="1"/>
          </p:cNvSpPr>
          <p:nvPr/>
        </p:nvSpPr>
        <p:spPr bwMode="auto">
          <a:xfrm flipH="1">
            <a:off x="5187564" y="2466058"/>
            <a:ext cx="2579" cy="3508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0894" name="Line 46"/>
          <p:cNvSpPr>
            <a:spLocks noChangeShapeType="1"/>
          </p:cNvSpPr>
          <p:nvPr/>
        </p:nvSpPr>
        <p:spPr bwMode="auto">
          <a:xfrm flipH="1" flipV="1">
            <a:off x="2989671" y="3969903"/>
            <a:ext cx="541734" cy="1588"/>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 name="矩形 1"/>
          <p:cNvSpPr/>
          <p:nvPr/>
        </p:nvSpPr>
        <p:spPr>
          <a:xfrm>
            <a:off x="2783294" y="6189586"/>
            <a:ext cx="5409242" cy="461665"/>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latin typeface="+mn-lt"/>
                <a:ea typeface="黑体" panose="02010609060101010101" pitchFamily="2" charset="-122"/>
              </a:rPr>
              <a:t>OSPF </a:t>
            </a:r>
            <a:r>
              <a:rPr lang="zh-CN" altLang="zh-CN" sz="2400" b="1" dirty="0">
                <a:latin typeface="+mn-lt"/>
                <a:ea typeface="黑体" panose="02010609060101010101" pitchFamily="2" charset="-122"/>
              </a:rPr>
              <a:t>分组用</a:t>
            </a:r>
            <a:r>
              <a:rPr lang="en-US" altLang="zh-CN" sz="2400" b="1" dirty="0">
                <a:latin typeface="+mn-lt"/>
                <a:ea typeface="黑体" panose="02010609060101010101" pitchFamily="2" charset="-122"/>
              </a:rPr>
              <a:t> IP </a:t>
            </a:r>
            <a:r>
              <a:rPr lang="zh-CN" altLang="zh-CN" sz="2400" b="1" dirty="0">
                <a:latin typeface="+mn-lt"/>
                <a:ea typeface="黑体" panose="02010609060101010101" pitchFamily="2" charset="-122"/>
              </a:rPr>
              <a:t>数据报传送</a:t>
            </a:r>
            <a:endParaRPr lang="zh-CN" altLang="en-US" sz="2400" b="1" dirty="0">
              <a:latin typeface="+mn-lt"/>
              <a:ea typeface="黑体" panose="02010609060101010101" pitchFamily="2" charset="-122"/>
            </a:endParaRP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2"/>
          <p:cNvSpPr>
            <a:spLocks noGrp="1" noChangeArrowheads="1"/>
          </p:cNvSpPr>
          <p:nvPr>
            <p:ph type="title"/>
          </p:nvPr>
        </p:nvSpPr>
        <p:spPr/>
        <p:txBody>
          <a:bodyPr/>
          <a:lstStyle/>
          <a:p>
            <a:r>
              <a:rPr lang="en-US" altLang="zh-CN" dirty="0"/>
              <a:t>2. OSPF </a:t>
            </a:r>
            <a:r>
              <a:rPr lang="zh-CN" altLang="en-US" dirty="0"/>
              <a:t>的五种分组类型 </a:t>
            </a:r>
          </a:p>
        </p:txBody>
      </p:sp>
      <p:sp>
        <p:nvSpPr>
          <p:cNvPr id="591875" name="Rectangle 3"/>
          <p:cNvSpPr>
            <a:spLocks noGrp="1" noChangeArrowheads="1"/>
          </p:cNvSpPr>
          <p:nvPr>
            <p:ph idx="1"/>
          </p:nvPr>
        </p:nvSpPr>
        <p:spPr>
          <a:noFill/>
        </p:spPr>
        <p:txBody>
          <a:bodyPr/>
          <a:lstStyle/>
          <a:p>
            <a:pPr>
              <a:spcBef>
                <a:spcPts val="1200"/>
              </a:spcBef>
            </a:pPr>
            <a:r>
              <a:rPr lang="zh-CN" altLang="en-US" sz="2800" dirty="0">
                <a:solidFill>
                  <a:srgbClr val="0000FF"/>
                </a:solidFill>
              </a:rPr>
              <a:t>类型</a:t>
            </a:r>
            <a:r>
              <a:rPr lang="en-US" altLang="zh-CN" sz="2800" dirty="0">
                <a:solidFill>
                  <a:srgbClr val="0000FF"/>
                </a:solidFill>
              </a:rPr>
              <a:t>1</a:t>
            </a:r>
            <a:r>
              <a:rPr lang="zh-CN" altLang="en-US" sz="2800" dirty="0">
                <a:solidFill>
                  <a:srgbClr val="0000FF"/>
                </a:solidFill>
              </a:rPr>
              <a:t>，</a:t>
            </a:r>
            <a:r>
              <a:rPr lang="zh-CN" altLang="en-US" sz="2800" dirty="0"/>
              <a:t>问候 </a:t>
            </a:r>
            <a:r>
              <a:rPr lang="en-US" altLang="zh-CN" sz="2800" dirty="0"/>
              <a:t>(Hello)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2</a:t>
            </a:r>
            <a:r>
              <a:rPr lang="zh-CN" altLang="en-US" sz="2800" dirty="0">
                <a:solidFill>
                  <a:srgbClr val="0000FF"/>
                </a:solidFill>
              </a:rPr>
              <a:t>，</a:t>
            </a:r>
            <a:r>
              <a:rPr lang="zh-CN" altLang="en-US" sz="2800" dirty="0"/>
              <a:t>数据库描述 </a:t>
            </a:r>
            <a:r>
              <a:rPr lang="en-US" altLang="zh-CN" sz="2800" dirty="0"/>
              <a:t>(Database Description)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3</a:t>
            </a:r>
            <a:r>
              <a:rPr lang="zh-CN" altLang="en-US" sz="2800" dirty="0">
                <a:solidFill>
                  <a:srgbClr val="0000FF"/>
                </a:solidFill>
              </a:rPr>
              <a:t>，</a:t>
            </a:r>
            <a:r>
              <a:rPr lang="zh-CN" altLang="en-US" sz="2800" dirty="0"/>
              <a:t>链路状态请求 </a:t>
            </a:r>
            <a:r>
              <a:rPr lang="en-US" altLang="zh-CN" sz="2800" dirty="0"/>
              <a:t>(Link State Request)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4</a:t>
            </a:r>
            <a:r>
              <a:rPr lang="zh-CN" altLang="en-US" sz="2800" dirty="0">
                <a:solidFill>
                  <a:srgbClr val="0000FF"/>
                </a:solidFill>
              </a:rPr>
              <a:t>，</a:t>
            </a:r>
            <a:r>
              <a:rPr lang="zh-CN" altLang="en-US" sz="2800" dirty="0"/>
              <a:t>链路状态更新 </a:t>
            </a:r>
            <a:r>
              <a:rPr lang="en-US" altLang="zh-CN" sz="2800" dirty="0"/>
              <a:t>(Link State Update) </a:t>
            </a:r>
            <a:r>
              <a:rPr lang="zh-CN" altLang="en-US" sz="2800" dirty="0"/>
              <a:t>分组，</a:t>
            </a:r>
          </a:p>
          <a:p>
            <a:pPr>
              <a:spcBef>
                <a:spcPts val="1200"/>
              </a:spcBef>
              <a:buFont typeface="Wingdings" panose="05000000000000000000" pitchFamily="2" charset="2"/>
              <a:buNone/>
            </a:pPr>
            <a:r>
              <a:rPr lang="zh-CN" altLang="en-US" sz="2800" dirty="0"/>
              <a:t>                用</a:t>
            </a:r>
            <a:r>
              <a:rPr lang="zh-CN" altLang="en-US" sz="2800" dirty="0">
                <a:solidFill>
                  <a:srgbClr val="FF0000"/>
                </a:solidFill>
              </a:rPr>
              <a:t>洪泛法</a:t>
            </a:r>
            <a:r>
              <a:rPr lang="zh-CN" altLang="en-US" sz="2800" dirty="0"/>
              <a:t>对全网更新链路状态。</a:t>
            </a:r>
          </a:p>
          <a:p>
            <a:pPr>
              <a:spcBef>
                <a:spcPts val="1200"/>
              </a:spcBef>
            </a:pPr>
            <a:r>
              <a:rPr lang="zh-CN" altLang="en-US" sz="2800" dirty="0">
                <a:solidFill>
                  <a:srgbClr val="0000FF"/>
                </a:solidFill>
              </a:rPr>
              <a:t>类型</a:t>
            </a:r>
            <a:r>
              <a:rPr lang="en-US" altLang="zh-CN" sz="2800" dirty="0">
                <a:solidFill>
                  <a:srgbClr val="0000FF"/>
                </a:solidFill>
              </a:rPr>
              <a:t>5</a:t>
            </a:r>
            <a:r>
              <a:rPr lang="zh-CN" altLang="en-US" sz="2800" dirty="0">
                <a:solidFill>
                  <a:srgbClr val="0000FF"/>
                </a:solidFill>
              </a:rPr>
              <a:t>，</a:t>
            </a:r>
            <a:r>
              <a:rPr lang="zh-CN" altLang="en-US" sz="2800" dirty="0"/>
              <a:t>链路状态确认 </a:t>
            </a:r>
            <a:r>
              <a:rPr lang="en-US" altLang="zh-CN" sz="2800" dirty="0"/>
              <a:t>(Link State Acknowledgment)</a:t>
            </a:r>
          </a:p>
          <a:p>
            <a:pPr>
              <a:spcBef>
                <a:spcPts val="1200"/>
              </a:spcBef>
              <a:buFont typeface="Wingdings" panose="05000000000000000000" pitchFamily="2" charset="2"/>
              <a:buNone/>
            </a:pPr>
            <a:r>
              <a:rPr lang="en-US" altLang="zh-CN" sz="2800" dirty="0"/>
              <a:t>                 </a:t>
            </a:r>
            <a:r>
              <a:rPr lang="zh-CN" altLang="en-US" sz="2800" dirty="0"/>
              <a:t>分组。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187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9187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9187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9187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9187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9187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9187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875" grpId="0" build="p"/>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9" name="Rectangle 3"/>
          <p:cNvSpPr>
            <a:spLocks noGrp="1" noChangeArrowheads="1"/>
          </p:cNvSpPr>
          <p:nvPr>
            <p:ph type="title"/>
          </p:nvPr>
        </p:nvSpPr>
        <p:spPr/>
        <p:txBody>
          <a:bodyPr/>
          <a:lstStyle/>
          <a:p>
            <a:pPr algn="ctr"/>
            <a:r>
              <a:rPr lang="en-US" altLang="zh-CN" dirty="0"/>
              <a:t>OSPF </a:t>
            </a:r>
            <a:r>
              <a:rPr lang="zh-CN" altLang="en-US" dirty="0"/>
              <a:t>的基本操作 </a:t>
            </a:r>
          </a:p>
        </p:txBody>
      </p:sp>
      <p:sp>
        <p:nvSpPr>
          <p:cNvPr id="592898" name="Rectangle 2"/>
          <p:cNvSpPr>
            <a:spLocks noChangeArrowheads="1"/>
          </p:cNvSpPr>
          <p:nvPr/>
        </p:nvSpPr>
        <p:spPr bwMode="auto">
          <a:xfrm>
            <a:off x="272481" y="2564459"/>
            <a:ext cx="9633520" cy="175418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2900" name="Line 4"/>
          <p:cNvSpPr>
            <a:spLocks noChangeShapeType="1"/>
          </p:cNvSpPr>
          <p:nvPr/>
        </p:nvSpPr>
        <p:spPr bwMode="auto">
          <a:xfrm>
            <a:off x="1856409" y="1554808"/>
            <a:ext cx="0" cy="1027112"/>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01" name="Rectangle 5"/>
          <p:cNvSpPr>
            <a:spLocks noChangeArrowheads="1"/>
          </p:cNvSpPr>
          <p:nvPr/>
        </p:nvSpPr>
        <p:spPr bwMode="auto">
          <a:xfrm>
            <a:off x="1104859" y="1859609"/>
            <a:ext cx="1547813" cy="3254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2902" name="AutoShape 6"/>
          <p:cNvSpPr>
            <a:spLocks noChangeArrowheads="1"/>
          </p:cNvSpPr>
          <p:nvPr/>
        </p:nvSpPr>
        <p:spPr bwMode="auto">
          <a:xfrm rot="-5400000">
            <a:off x="5764371" y="-582032"/>
            <a:ext cx="96837" cy="4211769"/>
          </a:xfrm>
          <a:prstGeom prst="can">
            <a:avLst>
              <a:gd name="adj" fmla="val 105945"/>
            </a:avLst>
          </a:prstGeom>
          <a:solidFill>
            <a:srgbClr val="C00000"/>
          </a:solidFill>
          <a:ln w="9525">
            <a:solidFill>
              <a:schemeClr val="tx1"/>
            </a:solidFill>
            <a:round/>
          </a:ln>
          <a:effectLst/>
        </p:spPr>
        <p:txBody>
          <a:bodyPr wrap="none" anchor="ctr"/>
          <a:lstStyle/>
          <a:p>
            <a:endParaRPr lang="zh-CN" altLang="en-US" b="1">
              <a:solidFill>
                <a:srgbClr val="0000CC"/>
              </a:solidFill>
              <a:latin typeface="+mn-lt"/>
              <a:ea typeface="黑体" panose="02010609060101010101" pitchFamily="2" charset="-122"/>
            </a:endParaRPr>
          </a:p>
        </p:txBody>
      </p:sp>
      <p:pic>
        <p:nvPicPr>
          <p:cNvPr id="592903"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94154" y="1316684"/>
            <a:ext cx="82378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2904"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2300" y="1316684"/>
            <a:ext cx="82206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92905" name="Group 9"/>
          <p:cNvGrpSpPr/>
          <p:nvPr/>
        </p:nvGrpSpPr>
        <p:grpSpPr bwMode="auto">
          <a:xfrm>
            <a:off x="3808372" y="1632599"/>
            <a:ext cx="4213490" cy="400051"/>
            <a:chOff x="2056" y="1482"/>
            <a:chExt cx="2450" cy="252"/>
          </a:xfrm>
        </p:grpSpPr>
        <p:sp>
          <p:nvSpPr>
            <p:cNvPr id="592906" name="Text Box 10"/>
            <p:cNvSpPr txBox="1">
              <a:spLocks noChangeArrowheads="1"/>
            </p:cNvSpPr>
            <p:nvPr/>
          </p:nvSpPr>
          <p:spPr bwMode="auto">
            <a:xfrm>
              <a:off x="2991" y="1482"/>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问候</a:t>
              </a:r>
            </a:p>
          </p:txBody>
        </p:sp>
        <p:sp>
          <p:nvSpPr>
            <p:cNvPr id="592907" name="Line 11"/>
            <p:cNvSpPr>
              <a:spLocks noChangeShapeType="1"/>
            </p:cNvSpPr>
            <p:nvPr/>
          </p:nvSpPr>
          <p:spPr bwMode="auto">
            <a:xfrm>
              <a:off x="2056" y="1731"/>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592908" name="Group 12"/>
          <p:cNvGrpSpPr/>
          <p:nvPr/>
        </p:nvGrpSpPr>
        <p:grpSpPr bwMode="auto">
          <a:xfrm>
            <a:off x="3808372" y="2015184"/>
            <a:ext cx="4213490" cy="407987"/>
            <a:chOff x="2056" y="1723"/>
            <a:chExt cx="2450" cy="257"/>
          </a:xfrm>
        </p:grpSpPr>
        <p:sp>
          <p:nvSpPr>
            <p:cNvPr id="592909" name="Line 13"/>
            <p:cNvSpPr>
              <a:spLocks noChangeShapeType="1"/>
            </p:cNvSpPr>
            <p:nvPr/>
          </p:nvSpPr>
          <p:spPr bwMode="auto">
            <a:xfrm flipH="1">
              <a:off x="2056" y="1980"/>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10" name="Text Box 14"/>
            <p:cNvSpPr txBox="1">
              <a:spLocks noChangeArrowheads="1"/>
            </p:cNvSpPr>
            <p:nvPr/>
          </p:nvSpPr>
          <p:spPr bwMode="auto">
            <a:xfrm>
              <a:off x="2987" y="1723"/>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问候</a:t>
              </a:r>
            </a:p>
          </p:txBody>
        </p:sp>
      </p:grpSp>
      <p:grpSp>
        <p:nvGrpSpPr>
          <p:cNvPr id="592911" name="Group 15"/>
          <p:cNvGrpSpPr/>
          <p:nvPr/>
        </p:nvGrpSpPr>
        <p:grpSpPr bwMode="auto">
          <a:xfrm>
            <a:off x="3808372" y="2578746"/>
            <a:ext cx="4213490" cy="400050"/>
            <a:chOff x="2056" y="2078"/>
            <a:chExt cx="2450" cy="252"/>
          </a:xfrm>
        </p:grpSpPr>
        <p:sp>
          <p:nvSpPr>
            <p:cNvPr id="592912" name="Line 16"/>
            <p:cNvSpPr>
              <a:spLocks noChangeShapeType="1"/>
            </p:cNvSpPr>
            <p:nvPr/>
          </p:nvSpPr>
          <p:spPr bwMode="auto">
            <a:xfrm>
              <a:off x="2056" y="2328"/>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13" name="Text Box 17"/>
            <p:cNvSpPr txBox="1">
              <a:spLocks noChangeArrowheads="1"/>
            </p:cNvSpPr>
            <p:nvPr/>
          </p:nvSpPr>
          <p:spPr bwMode="auto">
            <a:xfrm>
              <a:off x="2713" y="2078"/>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数据库描述</a:t>
              </a:r>
            </a:p>
          </p:txBody>
        </p:sp>
      </p:grpSp>
      <p:grpSp>
        <p:nvGrpSpPr>
          <p:cNvPr id="592914" name="Group 18"/>
          <p:cNvGrpSpPr/>
          <p:nvPr/>
        </p:nvGrpSpPr>
        <p:grpSpPr bwMode="auto">
          <a:xfrm>
            <a:off x="3808372" y="2962920"/>
            <a:ext cx="4213490" cy="407988"/>
            <a:chOff x="2056" y="2320"/>
            <a:chExt cx="2450" cy="257"/>
          </a:xfrm>
        </p:grpSpPr>
        <p:sp>
          <p:nvSpPr>
            <p:cNvPr id="592915" name="Line 19"/>
            <p:cNvSpPr>
              <a:spLocks noChangeShapeType="1"/>
            </p:cNvSpPr>
            <p:nvPr/>
          </p:nvSpPr>
          <p:spPr bwMode="auto">
            <a:xfrm flipH="1">
              <a:off x="2056" y="2577"/>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16" name="Text Box 20"/>
            <p:cNvSpPr txBox="1">
              <a:spLocks noChangeArrowheads="1"/>
            </p:cNvSpPr>
            <p:nvPr/>
          </p:nvSpPr>
          <p:spPr bwMode="auto">
            <a:xfrm>
              <a:off x="2713" y="2320"/>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数据库描述</a:t>
              </a:r>
            </a:p>
          </p:txBody>
        </p:sp>
      </p:grpSp>
      <p:grpSp>
        <p:nvGrpSpPr>
          <p:cNvPr id="592917" name="Group 21"/>
          <p:cNvGrpSpPr/>
          <p:nvPr/>
        </p:nvGrpSpPr>
        <p:grpSpPr bwMode="auto">
          <a:xfrm>
            <a:off x="3808372" y="3358208"/>
            <a:ext cx="4213490" cy="406400"/>
            <a:chOff x="2056" y="2569"/>
            <a:chExt cx="2450" cy="256"/>
          </a:xfrm>
        </p:grpSpPr>
        <p:sp>
          <p:nvSpPr>
            <p:cNvPr id="592918" name="Line 22"/>
            <p:cNvSpPr>
              <a:spLocks noChangeShapeType="1"/>
            </p:cNvSpPr>
            <p:nvPr/>
          </p:nvSpPr>
          <p:spPr bwMode="auto">
            <a:xfrm>
              <a:off x="2056" y="2825"/>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19" name="Text Box 23"/>
            <p:cNvSpPr txBox="1">
              <a:spLocks noChangeArrowheads="1"/>
            </p:cNvSpPr>
            <p:nvPr/>
          </p:nvSpPr>
          <p:spPr bwMode="auto">
            <a:xfrm>
              <a:off x="2713" y="2569"/>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数据库描述</a:t>
              </a:r>
            </a:p>
          </p:txBody>
        </p:sp>
      </p:grpSp>
      <p:grpSp>
        <p:nvGrpSpPr>
          <p:cNvPr id="592920" name="Group 24"/>
          <p:cNvGrpSpPr/>
          <p:nvPr/>
        </p:nvGrpSpPr>
        <p:grpSpPr bwMode="auto">
          <a:xfrm>
            <a:off x="3808372" y="3743971"/>
            <a:ext cx="4213490" cy="417513"/>
            <a:chOff x="2056" y="2812"/>
            <a:chExt cx="2450" cy="263"/>
          </a:xfrm>
        </p:grpSpPr>
        <p:sp>
          <p:nvSpPr>
            <p:cNvPr id="592921" name="Line 25"/>
            <p:cNvSpPr>
              <a:spLocks noChangeShapeType="1"/>
            </p:cNvSpPr>
            <p:nvPr/>
          </p:nvSpPr>
          <p:spPr bwMode="auto">
            <a:xfrm flipH="1">
              <a:off x="2056" y="3075"/>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22" name="Text Box 26"/>
            <p:cNvSpPr txBox="1">
              <a:spLocks noChangeArrowheads="1"/>
            </p:cNvSpPr>
            <p:nvPr/>
          </p:nvSpPr>
          <p:spPr bwMode="auto">
            <a:xfrm>
              <a:off x="2713" y="2812"/>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数据库描述</a:t>
              </a:r>
            </a:p>
          </p:txBody>
        </p:sp>
      </p:grpSp>
      <p:grpSp>
        <p:nvGrpSpPr>
          <p:cNvPr id="592923" name="Group 27"/>
          <p:cNvGrpSpPr/>
          <p:nvPr/>
        </p:nvGrpSpPr>
        <p:grpSpPr bwMode="auto">
          <a:xfrm>
            <a:off x="3808372" y="4331346"/>
            <a:ext cx="4213490" cy="400050"/>
            <a:chOff x="2056" y="3182"/>
            <a:chExt cx="2450" cy="252"/>
          </a:xfrm>
        </p:grpSpPr>
        <p:sp>
          <p:nvSpPr>
            <p:cNvPr id="592924" name="Line 28"/>
            <p:cNvSpPr>
              <a:spLocks noChangeShapeType="1"/>
            </p:cNvSpPr>
            <p:nvPr/>
          </p:nvSpPr>
          <p:spPr bwMode="auto">
            <a:xfrm>
              <a:off x="2056" y="3423"/>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25" name="Text Box 29"/>
            <p:cNvSpPr txBox="1">
              <a:spLocks noChangeArrowheads="1"/>
            </p:cNvSpPr>
            <p:nvPr/>
          </p:nvSpPr>
          <p:spPr bwMode="auto">
            <a:xfrm>
              <a:off x="2624" y="3182"/>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链路状态请求</a:t>
              </a:r>
            </a:p>
          </p:txBody>
        </p:sp>
      </p:grpSp>
      <p:grpSp>
        <p:nvGrpSpPr>
          <p:cNvPr id="592926" name="Group 30"/>
          <p:cNvGrpSpPr/>
          <p:nvPr/>
        </p:nvGrpSpPr>
        <p:grpSpPr bwMode="auto">
          <a:xfrm>
            <a:off x="3808372" y="4728227"/>
            <a:ext cx="4213490" cy="400051"/>
            <a:chOff x="2056" y="3432"/>
            <a:chExt cx="2450" cy="252"/>
          </a:xfrm>
        </p:grpSpPr>
        <p:sp>
          <p:nvSpPr>
            <p:cNvPr id="592927" name="Line 31"/>
            <p:cNvSpPr>
              <a:spLocks noChangeShapeType="1"/>
            </p:cNvSpPr>
            <p:nvPr/>
          </p:nvSpPr>
          <p:spPr bwMode="auto">
            <a:xfrm flipH="1">
              <a:off x="2056" y="3672"/>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28" name="Text Box 32"/>
            <p:cNvSpPr txBox="1">
              <a:spLocks noChangeArrowheads="1"/>
            </p:cNvSpPr>
            <p:nvPr/>
          </p:nvSpPr>
          <p:spPr bwMode="auto">
            <a:xfrm>
              <a:off x="2629" y="3432"/>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链路状态更新</a:t>
              </a:r>
            </a:p>
          </p:txBody>
        </p:sp>
      </p:grpSp>
      <p:sp>
        <p:nvSpPr>
          <p:cNvPr id="592929" name="Line 33"/>
          <p:cNvSpPr>
            <a:spLocks noChangeShapeType="1"/>
          </p:cNvSpPr>
          <p:nvPr/>
        </p:nvSpPr>
        <p:spPr bwMode="auto">
          <a:xfrm>
            <a:off x="690390" y="4331345"/>
            <a:ext cx="8358188" cy="0"/>
          </a:xfrm>
          <a:prstGeom prst="line">
            <a:avLst/>
          </a:prstGeom>
          <a:noFill/>
          <a:ln w="19050">
            <a:solidFill>
              <a:srgbClr val="333399"/>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30" name="Line 34"/>
          <p:cNvSpPr>
            <a:spLocks noChangeShapeType="1"/>
          </p:cNvSpPr>
          <p:nvPr/>
        </p:nvSpPr>
        <p:spPr bwMode="auto">
          <a:xfrm>
            <a:off x="724786" y="2581920"/>
            <a:ext cx="8323792" cy="0"/>
          </a:xfrm>
          <a:prstGeom prst="line">
            <a:avLst/>
          </a:prstGeom>
          <a:noFill/>
          <a:ln w="19050">
            <a:solidFill>
              <a:srgbClr val="333399"/>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92931" name="Group 35"/>
          <p:cNvGrpSpPr/>
          <p:nvPr/>
        </p:nvGrpSpPr>
        <p:grpSpPr bwMode="auto">
          <a:xfrm>
            <a:off x="3808372" y="5121927"/>
            <a:ext cx="4213490" cy="400051"/>
            <a:chOff x="2056" y="3680"/>
            <a:chExt cx="2450" cy="252"/>
          </a:xfrm>
        </p:grpSpPr>
        <p:sp>
          <p:nvSpPr>
            <p:cNvPr id="592932" name="Line 36"/>
            <p:cNvSpPr>
              <a:spLocks noChangeShapeType="1"/>
            </p:cNvSpPr>
            <p:nvPr/>
          </p:nvSpPr>
          <p:spPr bwMode="auto">
            <a:xfrm>
              <a:off x="2056" y="3920"/>
              <a:ext cx="2450" cy="0"/>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33" name="Text Box 37"/>
            <p:cNvSpPr txBox="1">
              <a:spLocks noChangeArrowheads="1"/>
            </p:cNvSpPr>
            <p:nvPr/>
          </p:nvSpPr>
          <p:spPr bwMode="auto">
            <a:xfrm>
              <a:off x="2629" y="3680"/>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anose="02010609060101010101" pitchFamily="2" charset="-122"/>
                </a:rPr>
                <a:t>链路状态确认</a:t>
              </a:r>
            </a:p>
          </p:txBody>
        </p:sp>
      </p:grpSp>
      <p:sp>
        <p:nvSpPr>
          <p:cNvPr id="592934" name="Text Box 38"/>
          <p:cNvSpPr txBox="1">
            <a:spLocks noChangeArrowheads="1"/>
          </p:cNvSpPr>
          <p:nvPr/>
        </p:nvSpPr>
        <p:spPr bwMode="auto">
          <a:xfrm>
            <a:off x="1075623" y="1805633"/>
            <a:ext cx="1467068"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确定可达性</a:t>
            </a:r>
          </a:p>
        </p:txBody>
      </p:sp>
      <p:grpSp>
        <p:nvGrpSpPr>
          <p:cNvPr id="592935" name="Group 39"/>
          <p:cNvGrpSpPr/>
          <p:nvPr/>
        </p:nvGrpSpPr>
        <p:grpSpPr bwMode="auto">
          <a:xfrm>
            <a:off x="642236" y="2581921"/>
            <a:ext cx="2235729" cy="1738313"/>
            <a:chOff x="215" y="2080"/>
            <a:chExt cx="1300" cy="1095"/>
          </a:xfrm>
        </p:grpSpPr>
        <p:sp>
          <p:nvSpPr>
            <p:cNvPr id="592936"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37" name="Text Box 41"/>
            <p:cNvSpPr txBox="1">
              <a:spLocks noChangeArrowheads="1"/>
            </p:cNvSpPr>
            <p:nvPr/>
          </p:nvSpPr>
          <p:spPr bwMode="auto">
            <a:xfrm>
              <a:off x="215" y="2469"/>
              <a:ext cx="1300" cy="25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达到数据库的同步</a:t>
              </a:r>
            </a:p>
          </p:txBody>
        </p:sp>
      </p:grpSp>
      <p:sp>
        <p:nvSpPr>
          <p:cNvPr id="592938" name="Line 42"/>
          <p:cNvSpPr>
            <a:spLocks noChangeShapeType="1"/>
          </p:cNvSpPr>
          <p:nvPr/>
        </p:nvSpPr>
        <p:spPr bwMode="auto">
          <a:xfrm>
            <a:off x="724786" y="5661670"/>
            <a:ext cx="8323792" cy="0"/>
          </a:xfrm>
          <a:prstGeom prst="line">
            <a:avLst/>
          </a:prstGeom>
          <a:noFill/>
          <a:ln w="19050">
            <a:solidFill>
              <a:srgbClr val="333399"/>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39" name="Line 43"/>
          <p:cNvSpPr>
            <a:spLocks noChangeShapeType="1"/>
          </p:cNvSpPr>
          <p:nvPr/>
        </p:nvSpPr>
        <p:spPr bwMode="auto">
          <a:xfrm>
            <a:off x="724786" y="1554808"/>
            <a:ext cx="2467901" cy="0"/>
          </a:xfrm>
          <a:prstGeom prst="line">
            <a:avLst/>
          </a:prstGeom>
          <a:noFill/>
          <a:ln w="19050">
            <a:solidFill>
              <a:srgbClr val="333399"/>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592940" name="Group 44"/>
          <p:cNvGrpSpPr/>
          <p:nvPr/>
        </p:nvGrpSpPr>
        <p:grpSpPr bwMode="auto">
          <a:xfrm>
            <a:off x="840012" y="4320234"/>
            <a:ext cx="1979480" cy="1341437"/>
            <a:chOff x="330" y="3175"/>
            <a:chExt cx="1151" cy="845"/>
          </a:xfrm>
        </p:grpSpPr>
        <p:sp>
          <p:nvSpPr>
            <p:cNvPr id="592941"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592942" name="Text Box 46"/>
            <p:cNvSpPr txBox="1">
              <a:spLocks noChangeArrowheads="1"/>
            </p:cNvSpPr>
            <p:nvPr/>
          </p:nvSpPr>
          <p:spPr bwMode="auto">
            <a:xfrm>
              <a:off x="330" y="3414"/>
              <a:ext cx="1151"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新情况下的同步</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293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2900"/>
                                        </p:tgtEl>
                                        <p:attrNameLst>
                                          <p:attrName>style.visibility</p:attrName>
                                        </p:attrNameLst>
                                      </p:cBhvr>
                                      <p:to>
                                        <p:strVal val="visible"/>
                                      </p:to>
                                    </p:set>
                                  </p:childTnLst>
                                </p:cTn>
                              </p:par>
                            </p:childTnLst>
                          </p:cTn>
                        </p:par>
                        <p:par>
                          <p:cTn id="9" fill="hold">
                            <p:stCondLst>
                              <p:cond delay="0"/>
                            </p:stCondLst>
                            <p:childTnLst>
                              <p:par>
                                <p:cTn id="10" presetID="22" presetClass="entr" presetSubtype="8" fill="hold" nodeType="afterEffect">
                                  <p:stCondLst>
                                    <p:cond delay="0"/>
                                  </p:stCondLst>
                                  <p:childTnLst>
                                    <p:set>
                                      <p:cBhvr>
                                        <p:cTn id="11" dur="1" fill="hold">
                                          <p:stCondLst>
                                            <p:cond delay="0"/>
                                          </p:stCondLst>
                                        </p:cTn>
                                        <p:tgtEl>
                                          <p:spTgt spid="592905"/>
                                        </p:tgtEl>
                                        <p:attrNameLst>
                                          <p:attrName>style.visibility</p:attrName>
                                        </p:attrNameLst>
                                      </p:cBhvr>
                                      <p:to>
                                        <p:strVal val="visible"/>
                                      </p:to>
                                    </p:set>
                                    <p:animEffect transition="in" filter="wipe(left)">
                                      <p:cBhvr>
                                        <p:cTn id="12" dur="2000"/>
                                        <p:tgtEl>
                                          <p:spTgt spid="592905"/>
                                        </p:tgtEl>
                                      </p:cBhvr>
                                    </p:animEffect>
                                  </p:childTnLst>
                                </p:cTn>
                              </p:par>
                            </p:childTnLst>
                          </p:cTn>
                        </p:par>
                        <p:par>
                          <p:cTn id="13" fill="hold">
                            <p:stCondLst>
                              <p:cond delay="2000"/>
                            </p:stCondLst>
                            <p:childTnLst>
                              <p:par>
                                <p:cTn id="14" presetID="22" presetClass="entr" presetSubtype="2" fill="hold" nodeType="afterEffect">
                                  <p:stCondLst>
                                    <p:cond delay="500"/>
                                  </p:stCondLst>
                                  <p:childTnLst>
                                    <p:set>
                                      <p:cBhvr>
                                        <p:cTn id="15" dur="1" fill="hold">
                                          <p:stCondLst>
                                            <p:cond delay="0"/>
                                          </p:stCondLst>
                                        </p:cTn>
                                        <p:tgtEl>
                                          <p:spTgt spid="592908"/>
                                        </p:tgtEl>
                                        <p:attrNameLst>
                                          <p:attrName>style.visibility</p:attrName>
                                        </p:attrNameLst>
                                      </p:cBhvr>
                                      <p:to>
                                        <p:strVal val="visible"/>
                                      </p:to>
                                    </p:set>
                                    <p:animEffect transition="in" filter="wipe(right)">
                                      <p:cBhvr>
                                        <p:cTn id="16" dur="2000"/>
                                        <p:tgtEl>
                                          <p:spTgt spid="592908"/>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92935"/>
                                        </p:tgtEl>
                                        <p:attrNameLst>
                                          <p:attrName>style.visibility</p:attrName>
                                        </p:attrNameLst>
                                      </p:cBhvr>
                                      <p:to>
                                        <p:strVal val="visible"/>
                                      </p:to>
                                    </p:set>
                                  </p:childTnLst>
                                </p:cTn>
                              </p:par>
                            </p:childTnLst>
                          </p:cTn>
                        </p:par>
                        <p:par>
                          <p:cTn id="21" fill="hold">
                            <p:stCondLst>
                              <p:cond delay="0"/>
                            </p:stCondLst>
                            <p:childTnLst>
                              <p:par>
                                <p:cTn id="22" presetID="22" presetClass="entr" presetSubtype="8" fill="hold" nodeType="afterEffect">
                                  <p:stCondLst>
                                    <p:cond delay="500"/>
                                  </p:stCondLst>
                                  <p:childTnLst>
                                    <p:set>
                                      <p:cBhvr>
                                        <p:cTn id="23" dur="1" fill="hold">
                                          <p:stCondLst>
                                            <p:cond delay="0"/>
                                          </p:stCondLst>
                                        </p:cTn>
                                        <p:tgtEl>
                                          <p:spTgt spid="592911"/>
                                        </p:tgtEl>
                                        <p:attrNameLst>
                                          <p:attrName>style.visibility</p:attrName>
                                        </p:attrNameLst>
                                      </p:cBhvr>
                                      <p:to>
                                        <p:strVal val="visible"/>
                                      </p:to>
                                    </p:set>
                                    <p:animEffect transition="in" filter="wipe(left)">
                                      <p:cBhvr>
                                        <p:cTn id="24" dur="2000"/>
                                        <p:tgtEl>
                                          <p:spTgt spid="592911"/>
                                        </p:tgtEl>
                                      </p:cBhvr>
                                    </p:animEffect>
                                  </p:childTnLst>
                                </p:cTn>
                              </p:par>
                            </p:childTnLst>
                          </p:cTn>
                        </p:par>
                        <p:par>
                          <p:cTn id="25" fill="hold">
                            <p:stCondLst>
                              <p:cond delay="2500"/>
                            </p:stCondLst>
                            <p:childTnLst>
                              <p:par>
                                <p:cTn id="26" presetID="22" presetClass="entr" presetSubtype="2" fill="hold" nodeType="afterEffect">
                                  <p:stCondLst>
                                    <p:cond delay="500"/>
                                  </p:stCondLst>
                                  <p:childTnLst>
                                    <p:set>
                                      <p:cBhvr>
                                        <p:cTn id="27" dur="1" fill="hold">
                                          <p:stCondLst>
                                            <p:cond delay="0"/>
                                          </p:stCondLst>
                                        </p:cTn>
                                        <p:tgtEl>
                                          <p:spTgt spid="592914"/>
                                        </p:tgtEl>
                                        <p:attrNameLst>
                                          <p:attrName>style.visibility</p:attrName>
                                        </p:attrNameLst>
                                      </p:cBhvr>
                                      <p:to>
                                        <p:strVal val="visible"/>
                                      </p:to>
                                    </p:set>
                                    <p:animEffect transition="in" filter="wipe(right)">
                                      <p:cBhvr>
                                        <p:cTn id="28" dur="2000"/>
                                        <p:tgtEl>
                                          <p:spTgt spid="592914"/>
                                        </p:tgtEl>
                                      </p:cBhvr>
                                    </p:animEffect>
                                  </p:childTnLst>
                                </p:cTn>
                              </p:par>
                            </p:childTnLst>
                          </p:cTn>
                        </p:par>
                        <p:par>
                          <p:cTn id="29" fill="hold">
                            <p:stCondLst>
                              <p:cond delay="5000"/>
                            </p:stCondLst>
                            <p:childTnLst>
                              <p:par>
                                <p:cTn id="30" presetID="22" presetClass="entr" presetSubtype="8" fill="hold" nodeType="afterEffect">
                                  <p:stCondLst>
                                    <p:cond delay="500"/>
                                  </p:stCondLst>
                                  <p:childTnLst>
                                    <p:set>
                                      <p:cBhvr>
                                        <p:cTn id="31" dur="1" fill="hold">
                                          <p:stCondLst>
                                            <p:cond delay="0"/>
                                          </p:stCondLst>
                                        </p:cTn>
                                        <p:tgtEl>
                                          <p:spTgt spid="592917"/>
                                        </p:tgtEl>
                                        <p:attrNameLst>
                                          <p:attrName>style.visibility</p:attrName>
                                        </p:attrNameLst>
                                      </p:cBhvr>
                                      <p:to>
                                        <p:strVal val="visible"/>
                                      </p:to>
                                    </p:set>
                                    <p:animEffect transition="in" filter="wipe(left)">
                                      <p:cBhvr>
                                        <p:cTn id="32" dur="2000"/>
                                        <p:tgtEl>
                                          <p:spTgt spid="592917"/>
                                        </p:tgtEl>
                                      </p:cBhvr>
                                    </p:animEffect>
                                  </p:childTnLst>
                                </p:cTn>
                              </p:par>
                            </p:childTnLst>
                          </p:cTn>
                        </p:par>
                        <p:par>
                          <p:cTn id="33" fill="hold">
                            <p:stCondLst>
                              <p:cond delay="7500"/>
                            </p:stCondLst>
                            <p:childTnLst>
                              <p:par>
                                <p:cTn id="34" presetID="22" presetClass="entr" presetSubtype="2" fill="hold" nodeType="afterEffect">
                                  <p:stCondLst>
                                    <p:cond delay="500"/>
                                  </p:stCondLst>
                                  <p:childTnLst>
                                    <p:set>
                                      <p:cBhvr>
                                        <p:cTn id="35" dur="1" fill="hold">
                                          <p:stCondLst>
                                            <p:cond delay="0"/>
                                          </p:stCondLst>
                                        </p:cTn>
                                        <p:tgtEl>
                                          <p:spTgt spid="592920"/>
                                        </p:tgtEl>
                                        <p:attrNameLst>
                                          <p:attrName>style.visibility</p:attrName>
                                        </p:attrNameLst>
                                      </p:cBhvr>
                                      <p:to>
                                        <p:strVal val="visible"/>
                                      </p:to>
                                    </p:set>
                                    <p:animEffect transition="in" filter="wipe(right)">
                                      <p:cBhvr>
                                        <p:cTn id="36" dur="2000"/>
                                        <p:tgtEl>
                                          <p:spTgt spid="592920"/>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92940"/>
                                        </p:tgtEl>
                                        <p:attrNameLst>
                                          <p:attrName>style.visibility</p:attrName>
                                        </p:attrNameLst>
                                      </p:cBhvr>
                                      <p:to>
                                        <p:strVal val="visible"/>
                                      </p:to>
                                    </p:set>
                                  </p:childTnLst>
                                </p:cTn>
                              </p:par>
                            </p:childTnLst>
                          </p:cTn>
                        </p:par>
                        <p:par>
                          <p:cTn id="41" fill="hold">
                            <p:stCondLst>
                              <p:cond delay="0"/>
                            </p:stCondLst>
                            <p:childTnLst>
                              <p:par>
                                <p:cTn id="42" presetID="22" presetClass="entr" presetSubtype="8" fill="hold" nodeType="afterEffect">
                                  <p:stCondLst>
                                    <p:cond delay="500"/>
                                  </p:stCondLst>
                                  <p:childTnLst>
                                    <p:set>
                                      <p:cBhvr>
                                        <p:cTn id="43" dur="1" fill="hold">
                                          <p:stCondLst>
                                            <p:cond delay="0"/>
                                          </p:stCondLst>
                                        </p:cTn>
                                        <p:tgtEl>
                                          <p:spTgt spid="592923"/>
                                        </p:tgtEl>
                                        <p:attrNameLst>
                                          <p:attrName>style.visibility</p:attrName>
                                        </p:attrNameLst>
                                      </p:cBhvr>
                                      <p:to>
                                        <p:strVal val="visible"/>
                                      </p:to>
                                    </p:set>
                                    <p:animEffect transition="in" filter="wipe(left)">
                                      <p:cBhvr>
                                        <p:cTn id="44" dur="2000"/>
                                        <p:tgtEl>
                                          <p:spTgt spid="592923"/>
                                        </p:tgtEl>
                                      </p:cBhvr>
                                    </p:animEffect>
                                  </p:childTnLst>
                                </p:cTn>
                              </p:par>
                            </p:childTnLst>
                          </p:cTn>
                        </p:par>
                        <p:par>
                          <p:cTn id="45" fill="hold">
                            <p:stCondLst>
                              <p:cond delay="2500"/>
                            </p:stCondLst>
                            <p:childTnLst>
                              <p:par>
                                <p:cTn id="46" presetID="22" presetClass="entr" presetSubtype="2" fill="hold" nodeType="afterEffect">
                                  <p:stCondLst>
                                    <p:cond delay="500"/>
                                  </p:stCondLst>
                                  <p:childTnLst>
                                    <p:set>
                                      <p:cBhvr>
                                        <p:cTn id="47" dur="1" fill="hold">
                                          <p:stCondLst>
                                            <p:cond delay="0"/>
                                          </p:stCondLst>
                                        </p:cTn>
                                        <p:tgtEl>
                                          <p:spTgt spid="592926"/>
                                        </p:tgtEl>
                                        <p:attrNameLst>
                                          <p:attrName>style.visibility</p:attrName>
                                        </p:attrNameLst>
                                      </p:cBhvr>
                                      <p:to>
                                        <p:strVal val="visible"/>
                                      </p:to>
                                    </p:set>
                                    <p:animEffect transition="in" filter="wipe(right)">
                                      <p:cBhvr>
                                        <p:cTn id="48" dur="2000"/>
                                        <p:tgtEl>
                                          <p:spTgt spid="592926"/>
                                        </p:tgtEl>
                                      </p:cBhvr>
                                    </p:animEffect>
                                  </p:childTnLst>
                                </p:cTn>
                              </p:par>
                            </p:childTnLst>
                          </p:cTn>
                        </p:par>
                        <p:par>
                          <p:cTn id="49" fill="hold">
                            <p:stCondLst>
                              <p:cond delay="5000"/>
                            </p:stCondLst>
                            <p:childTnLst>
                              <p:par>
                                <p:cTn id="50" presetID="22" presetClass="entr" presetSubtype="8" fill="hold" nodeType="afterEffect">
                                  <p:stCondLst>
                                    <p:cond delay="500"/>
                                  </p:stCondLst>
                                  <p:childTnLst>
                                    <p:set>
                                      <p:cBhvr>
                                        <p:cTn id="51" dur="1" fill="hold">
                                          <p:stCondLst>
                                            <p:cond delay="0"/>
                                          </p:stCondLst>
                                        </p:cTn>
                                        <p:tgtEl>
                                          <p:spTgt spid="592931"/>
                                        </p:tgtEl>
                                        <p:attrNameLst>
                                          <p:attrName>style.visibility</p:attrName>
                                        </p:attrNameLst>
                                      </p:cBhvr>
                                      <p:to>
                                        <p:strVal val="visible"/>
                                      </p:to>
                                    </p:set>
                                    <p:animEffect transition="in" filter="wipe(left)">
                                      <p:cBhvr>
                                        <p:cTn id="52" dur="2000"/>
                                        <p:tgtEl>
                                          <p:spTgt spid="5929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2900" grpId="0" animBg="1"/>
      <p:bldP spid="592934"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2"/>
          <p:cNvSpPr>
            <a:spLocks noGrp="1" noChangeArrowheads="1"/>
          </p:cNvSpPr>
          <p:nvPr>
            <p:ph type="title" idx="4294967295"/>
          </p:nvPr>
        </p:nvSpPr>
        <p:spPr>
          <a:xfrm>
            <a:off x="886154" y="44624"/>
            <a:ext cx="8243310" cy="576138"/>
          </a:xfrm>
          <a:solidFill>
            <a:srgbClr val="66FF66"/>
          </a:solidFill>
        </p:spPr>
        <p:txBody>
          <a:bodyPr/>
          <a:lstStyle/>
          <a:p>
            <a:pPr algn="ctr"/>
            <a:r>
              <a:rPr lang="en-US" altLang="zh-CN" sz="3600" dirty="0"/>
              <a:t>OSPF </a:t>
            </a:r>
            <a:r>
              <a:rPr lang="zh-CN" altLang="en-US" sz="3600" dirty="0"/>
              <a:t>使用可靠的洪泛法发送更新分组 </a:t>
            </a:r>
          </a:p>
        </p:txBody>
      </p:sp>
      <p:sp>
        <p:nvSpPr>
          <p:cNvPr id="593923" name="Rectangle 3"/>
          <p:cNvSpPr>
            <a:spLocks noChangeArrowheads="1"/>
          </p:cNvSpPr>
          <p:nvPr/>
        </p:nvSpPr>
        <p:spPr bwMode="auto">
          <a:xfrm>
            <a:off x="1363795" y="3806354"/>
            <a:ext cx="7255801" cy="1531937"/>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3924" name="Rectangle 4"/>
          <p:cNvSpPr>
            <a:spLocks noChangeArrowheads="1"/>
          </p:cNvSpPr>
          <p:nvPr/>
        </p:nvSpPr>
        <p:spPr bwMode="auto">
          <a:xfrm>
            <a:off x="1363795" y="764704"/>
            <a:ext cx="7255801" cy="1531937"/>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93959" name="Text Box 39"/>
          <p:cNvSpPr txBox="1">
            <a:spLocks noChangeArrowheads="1"/>
          </p:cNvSpPr>
          <p:nvPr/>
        </p:nvSpPr>
        <p:spPr bwMode="auto">
          <a:xfrm>
            <a:off x="4251325" y="134731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更新报文</a:t>
            </a:r>
          </a:p>
        </p:txBody>
      </p:sp>
      <p:sp>
        <p:nvSpPr>
          <p:cNvPr id="593925" name="Line 5"/>
          <p:cNvSpPr>
            <a:spLocks noChangeShapeType="1"/>
          </p:cNvSpPr>
          <p:nvPr/>
        </p:nvSpPr>
        <p:spPr bwMode="auto">
          <a:xfrm>
            <a:off x="2297641" y="1032990"/>
            <a:ext cx="559964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26" name="Freeform 6"/>
          <p:cNvSpPr/>
          <p:nvPr/>
        </p:nvSpPr>
        <p:spPr bwMode="auto">
          <a:xfrm>
            <a:off x="2297641" y="1032991"/>
            <a:ext cx="5599642" cy="98742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27" name="Line 7"/>
          <p:cNvSpPr>
            <a:spLocks noChangeShapeType="1"/>
          </p:cNvSpPr>
          <p:nvPr/>
        </p:nvSpPr>
        <p:spPr bwMode="auto">
          <a:xfrm>
            <a:off x="4060429" y="1032991"/>
            <a:ext cx="0" cy="9874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28" name="Line 8"/>
          <p:cNvSpPr>
            <a:spLocks noChangeShapeType="1"/>
          </p:cNvSpPr>
          <p:nvPr/>
        </p:nvSpPr>
        <p:spPr bwMode="auto">
          <a:xfrm>
            <a:off x="6134497" y="1032991"/>
            <a:ext cx="0" cy="9874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29" name="Line 9"/>
          <p:cNvSpPr>
            <a:spLocks noChangeShapeType="1"/>
          </p:cNvSpPr>
          <p:nvPr/>
        </p:nvSpPr>
        <p:spPr bwMode="auto">
          <a:xfrm>
            <a:off x="4406107" y="1915640"/>
            <a:ext cx="519377"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0" name="Line 10"/>
          <p:cNvSpPr>
            <a:spLocks noChangeShapeType="1"/>
          </p:cNvSpPr>
          <p:nvPr/>
        </p:nvSpPr>
        <p:spPr bwMode="auto">
          <a:xfrm rot="-8873624">
            <a:off x="3271044" y="1558454"/>
            <a:ext cx="519377" cy="1587"/>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1" name="Line 11"/>
          <p:cNvSpPr>
            <a:spLocks noChangeShapeType="1"/>
          </p:cNvSpPr>
          <p:nvPr/>
        </p:nvSpPr>
        <p:spPr bwMode="auto">
          <a:xfrm rot="-5400000">
            <a:off x="3979333" y="1493366"/>
            <a:ext cx="447675"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2" name="Line 12"/>
          <p:cNvSpPr>
            <a:spLocks noChangeShapeType="1"/>
          </p:cNvSpPr>
          <p:nvPr/>
        </p:nvSpPr>
        <p:spPr bwMode="auto">
          <a:xfrm>
            <a:off x="2297641" y="2569690"/>
            <a:ext cx="559964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3" name="Freeform 13"/>
          <p:cNvSpPr/>
          <p:nvPr/>
        </p:nvSpPr>
        <p:spPr bwMode="auto">
          <a:xfrm>
            <a:off x="2297641" y="2569690"/>
            <a:ext cx="5599642" cy="985838"/>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4" name="Line 14"/>
          <p:cNvSpPr>
            <a:spLocks noChangeShapeType="1"/>
          </p:cNvSpPr>
          <p:nvPr/>
        </p:nvSpPr>
        <p:spPr bwMode="auto">
          <a:xfrm>
            <a:off x="4060429" y="2569690"/>
            <a:ext cx="0" cy="9858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5" name="Line 15"/>
          <p:cNvSpPr>
            <a:spLocks noChangeShapeType="1"/>
          </p:cNvSpPr>
          <p:nvPr/>
        </p:nvSpPr>
        <p:spPr bwMode="auto">
          <a:xfrm>
            <a:off x="6134497" y="2569690"/>
            <a:ext cx="0" cy="9858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93991" name="Group 71"/>
          <p:cNvGrpSpPr/>
          <p:nvPr/>
        </p:nvGrpSpPr>
        <p:grpSpPr bwMode="auto">
          <a:xfrm>
            <a:off x="6273800" y="2782416"/>
            <a:ext cx="1159140" cy="449263"/>
            <a:chOff x="3648" y="1798"/>
            <a:chExt cx="674" cy="283"/>
          </a:xfrm>
        </p:grpSpPr>
        <p:sp>
          <p:nvSpPr>
            <p:cNvPr id="593937" name="Line 17"/>
            <p:cNvSpPr>
              <a:spLocks noChangeShapeType="1"/>
            </p:cNvSpPr>
            <p:nvPr/>
          </p:nvSpPr>
          <p:spPr bwMode="auto">
            <a:xfrm rot="-2260875">
              <a:off x="4021" y="2023"/>
              <a:ext cx="301" cy="1"/>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38" name="Line 18"/>
            <p:cNvSpPr>
              <a:spLocks noChangeShapeType="1"/>
            </p:cNvSpPr>
            <p:nvPr/>
          </p:nvSpPr>
          <p:spPr bwMode="auto">
            <a:xfrm rot="-5400000">
              <a:off x="3506" y="1940"/>
              <a:ext cx="283"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93939" name="Line 19"/>
          <p:cNvSpPr>
            <a:spLocks noChangeShapeType="1"/>
          </p:cNvSpPr>
          <p:nvPr/>
        </p:nvSpPr>
        <p:spPr bwMode="auto">
          <a:xfrm>
            <a:off x="2297642" y="4104804"/>
            <a:ext cx="5582444" cy="158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0" name="Freeform 20"/>
          <p:cNvSpPr/>
          <p:nvPr/>
        </p:nvSpPr>
        <p:spPr bwMode="auto">
          <a:xfrm>
            <a:off x="2297641" y="4104804"/>
            <a:ext cx="5599642" cy="98742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1" name="Line 21"/>
          <p:cNvSpPr>
            <a:spLocks noChangeShapeType="1"/>
          </p:cNvSpPr>
          <p:nvPr/>
        </p:nvSpPr>
        <p:spPr bwMode="auto">
          <a:xfrm>
            <a:off x="4060429" y="4104804"/>
            <a:ext cx="0" cy="9874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2" name="Line 22"/>
          <p:cNvSpPr>
            <a:spLocks noChangeShapeType="1"/>
          </p:cNvSpPr>
          <p:nvPr/>
        </p:nvSpPr>
        <p:spPr bwMode="auto">
          <a:xfrm>
            <a:off x="6134497" y="4104804"/>
            <a:ext cx="0" cy="9874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4" name="Line 24"/>
          <p:cNvSpPr>
            <a:spLocks noChangeShapeType="1"/>
          </p:cNvSpPr>
          <p:nvPr/>
        </p:nvSpPr>
        <p:spPr bwMode="auto">
          <a:xfrm>
            <a:off x="2297641" y="5641503"/>
            <a:ext cx="5599642"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5" name="Freeform 25"/>
          <p:cNvSpPr/>
          <p:nvPr/>
        </p:nvSpPr>
        <p:spPr bwMode="auto">
          <a:xfrm>
            <a:off x="2283883" y="5641504"/>
            <a:ext cx="5601362" cy="985837"/>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6" name="Line 26"/>
          <p:cNvSpPr>
            <a:spLocks noChangeShapeType="1"/>
          </p:cNvSpPr>
          <p:nvPr/>
        </p:nvSpPr>
        <p:spPr bwMode="auto">
          <a:xfrm>
            <a:off x="4060429" y="5641504"/>
            <a:ext cx="0" cy="9858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7" name="Line 27"/>
          <p:cNvSpPr>
            <a:spLocks noChangeShapeType="1"/>
          </p:cNvSpPr>
          <p:nvPr/>
        </p:nvSpPr>
        <p:spPr bwMode="auto">
          <a:xfrm>
            <a:off x="6134497" y="5641504"/>
            <a:ext cx="0" cy="9858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93990" name="Group 70"/>
          <p:cNvGrpSpPr/>
          <p:nvPr/>
        </p:nvGrpSpPr>
        <p:grpSpPr bwMode="auto">
          <a:xfrm>
            <a:off x="2901290" y="2453803"/>
            <a:ext cx="2369873" cy="239712"/>
            <a:chOff x="1687" y="1591"/>
            <a:chExt cx="1378" cy="151"/>
          </a:xfrm>
        </p:grpSpPr>
        <p:sp>
          <p:nvSpPr>
            <p:cNvPr id="593936" name="Line 16"/>
            <p:cNvSpPr>
              <a:spLocks noChangeShapeType="1"/>
            </p:cNvSpPr>
            <p:nvPr/>
          </p:nvSpPr>
          <p:spPr bwMode="auto">
            <a:xfrm flipH="1">
              <a:off x="1687" y="1591"/>
              <a:ext cx="302"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48" name="Line 28"/>
            <p:cNvSpPr>
              <a:spLocks noChangeShapeType="1"/>
            </p:cNvSpPr>
            <p:nvPr/>
          </p:nvSpPr>
          <p:spPr bwMode="auto">
            <a:xfrm>
              <a:off x="2763" y="1742"/>
              <a:ext cx="302"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93949" name="Line 29"/>
          <p:cNvSpPr>
            <a:spLocks noChangeShapeType="1"/>
          </p:cNvSpPr>
          <p:nvPr/>
        </p:nvSpPr>
        <p:spPr bwMode="auto">
          <a:xfrm>
            <a:off x="2954602" y="2693515"/>
            <a:ext cx="517658"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93992" name="Group 72"/>
          <p:cNvGrpSpPr/>
          <p:nvPr/>
        </p:nvGrpSpPr>
        <p:grpSpPr bwMode="auto">
          <a:xfrm>
            <a:off x="4786181" y="3993678"/>
            <a:ext cx="2333757" cy="0"/>
            <a:chOff x="2783" y="2561"/>
            <a:chExt cx="1357" cy="0"/>
          </a:xfrm>
        </p:grpSpPr>
        <p:sp>
          <p:nvSpPr>
            <p:cNvPr id="593943" name="Line 23"/>
            <p:cNvSpPr>
              <a:spLocks noChangeShapeType="1"/>
            </p:cNvSpPr>
            <p:nvPr/>
          </p:nvSpPr>
          <p:spPr bwMode="auto">
            <a:xfrm flipH="1">
              <a:off x="2783" y="2561"/>
              <a:ext cx="302"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50" name="Line 30"/>
            <p:cNvSpPr>
              <a:spLocks noChangeShapeType="1"/>
            </p:cNvSpPr>
            <p:nvPr/>
          </p:nvSpPr>
          <p:spPr bwMode="auto">
            <a:xfrm>
              <a:off x="3838" y="2561"/>
              <a:ext cx="302"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593951" name="Line 31"/>
          <p:cNvSpPr>
            <a:spLocks noChangeShapeType="1"/>
          </p:cNvSpPr>
          <p:nvPr/>
        </p:nvSpPr>
        <p:spPr bwMode="auto">
          <a:xfrm flipH="1">
            <a:off x="6653875" y="4231803"/>
            <a:ext cx="517657" cy="0"/>
          </a:xfrm>
          <a:prstGeom prst="line">
            <a:avLst/>
          </a:prstGeom>
          <a:noFill/>
          <a:ln w="57150">
            <a:solidFill>
              <a:srgbClr val="FF00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593993" name="Group 73"/>
          <p:cNvGrpSpPr/>
          <p:nvPr/>
        </p:nvGrpSpPr>
        <p:grpSpPr bwMode="auto">
          <a:xfrm>
            <a:off x="3100785" y="5832004"/>
            <a:ext cx="4079346" cy="714375"/>
            <a:chOff x="1803" y="3719"/>
            <a:chExt cx="2372" cy="450"/>
          </a:xfrm>
        </p:grpSpPr>
        <p:sp>
          <p:nvSpPr>
            <p:cNvPr id="593952" name="AutoShape 32"/>
            <p:cNvSpPr>
              <a:spLocks noChangeArrowheads="1"/>
            </p:cNvSpPr>
            <p:nvPr/>
          </p:nvSpPr>
          <p:spPr bwMode="auto">
            <a:xfrm>
              <a:off x="2399" y="3726"/>
              <a:ext cx="120" cy="292"/>
            </a:xfrm>
            <a:prstGeom prst="downArrow">
              <a:avLst>
                <a:gd name="adj1" fmla="val 50000"/>
                <a:gd name="adj2" fmla="val 80458"/>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93953" name="AutoShape 33"/>
            <p:cNvSpPr>
              <a:spLocks noChangeArrowheads="1"/>
            </p:cNvSpPr>
            <p:nvPr/>
          </p:nvSpPr>
          <p:spPr bwMode="auto">
            <a:xfrm>
              <a:off x="3627" y="3719"/>
              <a:ext cx="121" cy="292"/>
            </a:xfrm>
            <a:prstGeom prst="downArrow">
              <a:avLst>
                <a:gd name="adj1" fmla="val 50000"/>
                <a:gd name="adj2" fmla="val 79793"/>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93954" name="AutoShape 34"/>
            <p:cNvSpPr>
              <a:spLocks noChangeArrowheads="1"/>
            </p:cNvSpPr>
            <p:nvPr/>
          </p:nvSpPr>
          <p:spPr bwMode="auto">
            <a:xfrm rot="5400000">
              <a:off x="2862" y="3957"/>
              <a:ext cx="113" cy="312"/>
            </a:xfrm>
            <a:prstGeom prst="downArrow">
              <a:avLst>
                <a:gd name="adj1" fmla="val 50000"/>
                <a:gd name="adj2" fmla="val 91294"/>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93955" name="AutoShape 35"/>
            <p:cNvSpPr>
              <a:spLocks noChangeArrowheads="1"/>
            </p:cNvSpPr>
            <p:nvPr/>
          </p:nvSpPr>
          <p:spPr bwMode="auto">
            <a:xfrm rot="3308442">
              <a:off x="3963" y="3674"/>
              <a:ext cx="113" cy="311"/>
            </a:xfrm>
            <a:prstGeom prst="downArrow">
              <a:avLst>
                <a:gd name="adj1" fmla="val 50000"/>
                <a:gd name="adj2" fmla="val 91001"/>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593956" name="AutoShape 36"/>
            <p:cNvSpPr>
              <a:spLocks noChangeArrowheads="1"/>
            </p:cNvSpPr>
            <p:nvPr/>
          </p:nvSpPr>
          <p:spPr bwMode="auto">
            <a:xfrm rot="-3458995">
              <a:off x="1902" y="3702"/>
              <a:ext cx="113" cy="312"/>
            </a:xfrm>
            <a:prstGeom prst="downArrow">
              <a:avLst>
                <a:gd name="adj1" fmla="val 50000"/>
                <a:gd name="adj2" fmla="val 91294"/>
              </a:avLst>
            </a:prstGeom>
            <a:solidFill>
              <a:schemeClr val="accent1"/>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grpSp>
      <p:sp>
        <p:nvSpPr>
          <p:cNvPr id="593957" name="Line 37"/>
          <p:cNvSpPr>
            <a:spLocks noChangeShapeType="1"/>
          </p:cNvSpPr>
          <p:nvPr/>
        </p:nvSpPr>
        <p:spPr bwMode="auto">
          <a:xfrm>
            <a:off x="1243410" y="944090"/>
            <a:ext cx="0" cy="5481638"/>
          </a:xfrm>
          <a:prstGeom prst="line">
            <a:avLst/>
          </a:prstGeom>
          <a:noFill/>
          <a:ln w="9525">
            <a:solidFill>
              <a:schemeClr val="tx1"/>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593958" name="Text Box 38"/>
          <p:cNvSpPr txBox="1">
            <a:spLocks noChangeArrowheads="1"/>
          </p:cNvSpPr>
          <p:nvPr/>
        </p:nvSpPr>
        <p:spPr bwMode="auto">
          <a:xfrm>
            <a:off x="1082974" y="6341356"/>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t</a:t>
            </a:r>
          </a:p>
        </p:txBody>
      </p:sp>
      <p:sp>
        <p:nvSpPr>
          <p:cNvPr id="593960" name="Text Box 40"/>
          <p:cNvSpPr txBox="1">
            <a:spLocks noChangeArrowheads="1"/>
          </p:cNvSpPr>
          <p:nvPr/>
        </p:nvSpPr>
        <p:spPr bwMode="auto">
          <a:xfrm>
            <a:off x="4357952" y="5868516"/>
            <a:ext cx="12586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ACK</a:t>
            </a:r>
            <a:r>
              <a:rPr kumimoji="1" lang="zh-CN" altLang="en-US" sz="2000" b="1">
                <a:solidFill>
                  <a:srgbClr val="0000CC"/>
                </a:solidFill>
                <a:latin typeface="+mn-lt"/>
                <a:ea typeface="黑体" panose="02010609060101010101" pitchFamily="2" charset="-122"/>
              </a:rPr>
              <a:t>报文</a:t>
            </a:r>
          </a:p>
        </p:txBody>
      </p:sp>
      <p:pic>
        <p:nvPicPr>
          <p:cNvPr id="593961"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6414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2"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3903190"/>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3"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89547" y="3903190"/>
            <a:ext cx="583009"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4"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3365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5"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3365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22369"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9"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9103"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0"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1841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1841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853603"/>
            <a:ext cx="584729"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3"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4"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5"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9103"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6" name="Picture 5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5428778"/>
            <a:ext cx="584729"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7" name="Picture 5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542877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8"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542877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9" name="Picture 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24195" y="5428778"/>
            <a:ext cx="584729"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0" name="Picture 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4890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1" name="Picture 6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4890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2"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3903190"/>
            <a:ext cx="584729"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3"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3903190"/>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4" name="Picture 6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6414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93985" name="Text Box 65"/>
          <p:cNvSpPr txBox="1">
            <a:spLocks noChangeArrowheads="1"/>
          </p:cNvSpPr>
          <p:nvPr/>
        </p:nvSpPr>
        <p:spPr bwMode="auto">
          <a:xfrm>
            <a:off x="3353594" y="174736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p>
        </p:txBody>
      </p:sp>
      <p:sp>
        <p:nvSpPr>
          <p:cNvPr id="593986" name="Text Box 66"/>
          <p:cNvSpPr txBox="1">
            <a:spLocks noChangeArrowheads="1"/>
          </p:cNvSpPr>
          <p:nvPr/>
        </p:nvSpPr>
        <p:spPr bwMode="auto">
          <a:xfrm>
            <a:off x="3353594" y="633524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p>
        </p:txBody>
      </p:sp>
      <p:sp>
        <p:nvSpPr>
          <p:cNvPr id="593987" name="Text Box 67"/>
          <p:cNvSpPr txBox="1">
            <a:spLocks noChangeArrowheads="1"/>
          </p:cNvSpPr>
          <p:nvPr/>
        </p:nvSpPr>
        <p:spPr bwMode="auto">
          <a:xfrm>
            <a:off x="3334676" y="4776315"/>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p>
        </p:txBody>
      </p:sp>
      <p:sp>
        <p:nvSpPr>
          <p:cNvPr id="593988" name="Text Box 68"/>
          <p:cNvSpPr txBox="1">
            <a:spLocks noChangeArrowheads="1"/>
          </p:cNvSpPr>
          <p:nvPr/>
        </p:nvSpPr>
        <p:spPr bwMode="auto">
          <a:xfrm>
            <a:off x="3353594" y="326819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R</a:t>
            </a:r>
          </a:p>
        </p:txBody>
      </p:sp>
      <p:sp>
        <p:nvSpPr>
          <p:cNvPr id="593989" name="Text Box 69"/>
          <p:cNvSpPr txBox="1">
            <a:spLocks noChangeArrowheads="1"/>
          </p:cNvSpPr>
          <p:nvPr/>
        </p:nvSpPr>
        <p:spPr bwMode="auto">
          <a:xfrm>
            <a:off x="1571890" y="1201266"/>
            <a:ext cx="364202" cy="5262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2000" b="1">
                <a:solidFill>
                  <a:srgbClr val="0000CC"/>
                </a:solidFill>
                <a:latin typeface="+mn-lt"/>
                <a:ea typeface="黑体" panose="02010609060101010101" pitchFamily="2" charset="-122"/>
              </a:rPr>
              <a:t>t</a:t>
            </a:r>
            <a:r>
              <a:rPr kumimoji="1" lang="en-US" altLang="zh-CN" sz="2000" b="1" baseline="-25000">
                <a:solidFill>
                  <a:srgbClr val="0000CC"/>
                </a:solidFill>
                <a:latin typeface="+mn-lt"/>
                <a:ea typeface="黑体" panose="02010609060101010101" pitchFamily="2" charset="-122"/>
              </a:rPr>
              <a:t>1</a:t>
            </a: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r>
              <a:rPr kumimoji="1" lang="en-US" altLang="zh-CN" sz="2000" b="1">
                <a:solidFill>
                  <a:srgbClr val="0000CC"/>
                </a:solidFill>
                <a:latin typeface="+mn-lt"/>
                <a:ea typeface="黑体" panose="02010609060101010101" pitchFamily="2" charset="-122"/>
              </a:rPr>
              <a:t>t</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r>
              <a:rPr kumimoji="1" lang="en-US" altLang="zh-CN" sz="2000" b="1">
                <a:solidFill>
                  <a:srgbClr val="0000CC"/>
                </a:solidFill>
                <a:latin typeface="+mn-lt"/>
                <a:ea typeface="黑体" panose="02010609060101010101" pitchFamily="2" charset="-122"/>
              </a:rPr>
              <a:t>t</a:t>
            </a:r>
            <a:r>
              <a:rPr kumimoji="1" lang="en-US" altLang="zh-CN" sz="2000" b="1" baseline="-25000">
                <a:solidFill>
                  <a:srgbClr val="0000CC"/>
                </a:solidFill>
                <a:latin typeface="+mn-lt"/>
                <a:ea typeface="黑体" panose="02010609060101010101" pitchFamily="2" charset="-122"/>
              </a:rPr>
              <a:t>3</a:t>
            </a: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endParaRPr kumimoji="1" lang="en-US" altLang="zh-CN" sz="2000" b="1">
              <a:solidFill>
                <a:srgbClr val="0000CC"/>
              </a:solidFill>
              <a:latin typeface="+mn-lt"/>
              <a:ea typeface="黑体" panose="02010609060101010101" pitchFamily="2" charset="-122"/>
            </a:endParaRPr>
          </a:p>
          <a:p>
            <a:pPr>
              <a:lnSpc>
                <a:spcPct val="105000"/>
              </a:lnSpc>
            </a:pPr>
            <a:r>
              <a:rPr kumimoji="1" lang="en-US" altLang="zh-CN" sz="2000" b="1">
                <a:solidFill>
                  <a:srgbClr val="0000CC"/>
                </a:solidFill>
                <a:latin typeface="+mn-lt"/>
                <a:ea typeface="黑体" panose="02010609060101010101" pitchFamily="2" charset="-122"/>
              </a:rPr>
              <a:t>t</a:t>
            </a:r>
            <a:r>
              <a:rPr kumimoji="1" lang="en-US" altLang="zh-CN" sz="2000" b="1" baseline="-25000">
                <a:solidFill>
                  <a:srgbClr val="0000CC"/>
                </a:solidFill>
                <a:latin typeface="+mn-lt"/>
                <a:ea typeface="黑体" panose="02010609060101010101" pitchFamily="2" charset="-122"/>
              </a:rPr>
              <a:t>4</a:t>
            </a:r>
            <a:endParaRPr kumimoji="1" lang="en-US" altLang="zh-CN" sz="2000"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593930"/>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593949"/>
                                        </p:tgtEl>
                                        <p:attrNameLst>
                                          <p:attrName>style.visibility</p:attrName>
                                        </p:attrNameLst>
                                      </p:cBhvr>
                                      <p:to>
                                        <p:strVal val="visible"/>
                                      </p:to>
                                    </p:set>
                                  </p:childTnLst>
                                </p:cTn>
                              </p:par>
                            </p:childTnLst>
                          </p:cTn>
                        </p:par>
                        <p:par>
                          <p:cTn id="10" fill="hold">
                            <p:stCondLst>
                              <p:cond delay="2000"/>
                            </p:stCondLst>
                            <p:childTnLst>
                              <p:par>
                                <p:cTn id="11" presetID="1" presetClass="entr" presetSubtype="0" fill="hold" grpId="0" nodeType="afterEffect">
                                  <p:stCondLst>
                                    <p:cond delay="1000"/>
                                  </p:stCondLst>
                                  <p:childTnLst>
                                    <p:set>
                                      <p:cBhvr>
                                        <p:cTn id="12" dur="1" fill="hold">
                                          <p:stCondLst>
                                            <p:cond delay="0"/>
                                          </p:stCondLst>
                                        </p:cTn>
                                        <p:tgtEl>
                                          <p:spTgt spid="593931"/>
                                        </p:tgtEl>
                                        <p:attrNameLst>
                                          <p:attrName>style.visibility</p:attrName>
                                        </p:attrNameLst>
                                      </p:cBhvr>
                                      <p:to>
                                        <p:strVal val="visible"/>
                                      </p:to>
                                    </p:set>
                                  </p:childTnLst>
                                </p:cTn>
                              </p:par>
                            </p:childTnLst>
                          </p:cTn>
                        </p:par>
                        <p:par>
                          <p:cTn id="13" fill="hold">
                            <p:stCondLst>
                              <p:cond delay="3000"/>
                            </p:stCondLst>
                            <p:childTnLst>
                              <p:par>
                                <p:cTn id="14" presetID="1" presetClass="entr" presetSubtype="0" fill="hold" nodeType="afterEffect">
                                  <p:stCondLst>
                                    <p:cond delay="1000"/>
                                  </p:stCondLst>
                                  <p:childTnLst>
                                    <p:set>
                                      <p:cBhvr>
                                        <p:cTn id="15" dur="1" fill="hold">
                                          <p:stCondLst>
                                            <p:cond delay="0"/>
                                          </p:stCondLst>
                                        </p:cTn>
                                        <p:tgtEl>
                                          <p:spTgt spid="593990"/>
                                        </p:tgtEl>
                                        <p:attrNameLst>
                                          <p:attrName>style.visibility</p:attrName>
                                        </p:attrNameLst>
                                      </p:cBhvr>
                                      <p:to>
                                        <p:strVal val="visible"/>
                                      </p:to>
                                    </p:set>
                                  </p:childTnLst>
                                </p:cTn>
                              </p:par>
                            </p:childTnLst>
                          </p:cTn>
                        </p:par>
                        <p:par>
                          <p:cTn id="16" fill="hold">
                            <p:stCondLst>
                              <p:cond delay="4000"/>
                            </p:stCondLst>
                            <p:childTnLst>
                              <p:par>
                                <p:cTn id="17" presetID="1" presetClass="entr" presetSubtype="0" fill="hold" nodeType="afterEffect">
                                  <p:stCondLst>
                                    <p:cond delay="1000"/>
                                  </p:stCondLst>
                                  <p:childTnLst>
                                    <p:set>
                                      <p:cBhvr>
                                        <p:cTn id="18" dur="1" fill="hold">
                                          <p:stCondLst>
                                            <p:cond delay="0"/>
                                          </p:stCondLst>
                                        </p:cTn>
                                        <p:tgtEl>
                                          <p:spTgt spid="593992"/>
                                        </p:tgtEl>
                                        <p:attrNameLst>
                                          <p:attrName>style.visibility</p:attrName>
                                        </p:attrNameLst>
                                      </p:cBhvr>
                                      <p:to>
                                        <p:strVal val="visible"/>
                                      </p:to>
                                    </p:set>
                                  </p:childTnLst>
                                </p:cTn>
                              </p:par>
                            </p:childTnLst>
                          </p:cTn>
                        </p:par>
                        <p:par>
                          <p:cTn id="19" fill="hold">
                            <p:stCondLst>
                              <p:cond delay="5000"/>
                            </p:stCondLst>
                            <p:childTnLst>
                              <p:par>
                                <p:cTn id="20" presetID="1" presetClass="entr" presetSubtype="0" fill="hold" grpId="0" nodeType="afterEffect">
                                  <p:stCondLst>
                                    <p:cond delay="1000"/>
                                  </p:stCondLst>
                                  <p:childTnLst>
                                    <p:set>
                                      <p:cBhvr>
                                        <p:cTn id="21" dur="1" fill="hold">
                                          <p:stCondLst>
                                            <p:cond delay="0"/>
                                          </p:stCondLst>
                                        </p:cTn>
                                        <p:tgtEl>
                                          <p:spTgt spid="593929"/>
                                        </p:tgtEl>
                                        <p:attrNameLst>
                                          <p:attrName>style.visibility</p:attrName>
                                        </p:attrNameLst>
                                      </p:cBhvr>
                                      <p:to>
                                        <p:strVal val="visible"/>
                                      </p:to>
                                    </p:set>
                                  </p:childTnLst>
                                </p:cTn>
                              </p:par>
                            </p:childTnLst>
                          </p:cTn>
                        </p:par>
                        <p:par>
                          <p:cTn id="22" fill="hold">
                            <p:stCondLst>
                              <p:cond delay="6000"/>
                            </p:stCondLst>
                            <p:childTnLst>
                              <p:par>
                                <p:cTn id="23" presetID="1" presetClass="entr" presetSubtype="0" fill="hold" nodeType="afterEffect">
                                  <p:stCondLst>
                                    <p:cond delay="1000"/>
                                  </p:stCondLst>
                                  <p:childTnLst>
                                    <p:set>
                                      <p:cBhvr>
                                        <p:cTn id="24" dur="1" fill="hold">
                                          <p:stCondLst>
                                            <p:cond delay="0"/>
                                          </p:stCondLst>
                                        </p:cTn>
                                        <p:tgtEl>
                                          <p:spTgt spid="593991"/>
                                        </p:tgtEl>
                                        <p:attrNameLst>
                                          <p:attrName>style.visibility</p:attrName>
                                        </p:attrNameLst>
                                      </p:cBhvr>
                                      <p:to>
                                        <p:strVal val="visible"/>
                                      </p:to>
                                    </p:set>
                                  </p:childTnLst>
                                </p:cTn>
                              </p:par>
                            </p:childTnLst>
                          </p:cTn>
                        </p:par>
                        <p:par>
                          <p:cTn id="25" fill="hold">
                            <p:stCondLst>
                              <p:cond delay="7000"/>
                            </p:stCondLst>
                            <p:childTnLst>
                              <p:par>
                                <p:cTn id="26" presetID="1" presetClass="entr" presetSubtype="0" fill="hold" grpId="0" nodeType="afterEffect">
                                  <p:stCondLst>
                                    <p:cond delay="1000"/>
                                  </p:stCondLst>
                                  <p:childTnLst>
                                    <p:set>
                                      <p:cBhvr>
                                        <p:cTn id="27" dur="1" fill="hold">
                                          <p:stCondLst>
                                            <p:cond delay="0"/>
                                          </p:stCondLst>
                                        </p:cTn>
                                        <p:tgtEl>
                                          <p:spTgt spid="593951"/>
                                        </p:tgtEl>
                                        <p:attrNameLst>
                                          <p:attrName>style.visibility</p:attrName>
                                        </p:attrNameLst>
                                      </p:cBhvr>
                                      <p:to>
                                        <p:strVal val="visible"/>
                                      </p:to>
                                    </p:set>
                                  </p:childTnLst>
                                </p:cTn>
                              </p:par>
                            </p:childTnLst>
                          </p:cTn>
                        </p:par>
                        <p:par>
                          <p:cTn id="28" fill="hold">
                            <p:stCondLst>
                              <p:cond delay="8000"/>
                            </p:stCondLst>
                            <p:childTnLst>
                              <p:par>
                                <p:cTn id="29" presetID="1" presetClass="entr" presetSubtype="0" fill="hold" nodeType="afterEffect">
                                  <p:stCondLst>
                                    <p:cond delay="1000"/>
                                  </p:stCondLst>
                                  <p:childTnLst>
                                    <p:set>
                                      <p:cBhvr>
                                        <p:cTn id="30" dur="1" fill="hold">
                                          <p:stCondLst>
                                            <p:cond delay="0"/>
                                          </p:stCondLst>
                                        </p:cTn>
                                        <p:tgtEl>
                                          <p:spTgt spid="5939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29" grpId="0" animBg="1"/>
      <p:bldP spid="593930" grpId="0" animBg="1"/>
      <p:bldP spid="593931" grpId="0" animBg="1"/>
      <p:bldP spid="593949" grpId="0" animBg="1"/>
      <p:bldP spid="593951"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Rectangle 2"/>
          <p:cNvSpPr>
            <a:spLocks noGrp="1" noChangeArrowheads="1"/>
          </p:cNvSpPr>
          <p:nvPr>
            <p:ph type="title"/>
          </p:nvPr>
        </p:nvSpPr>
        <p:spPr/>
        <p:txBody>
          <a:bodyPr/>
          <a:lstStyle/>
          <a:p>
            <a:pPr algn="ctr"/>
            <a:r>
              <a:rPr lang="en-US" altLang="zh-CN"/>
              <a:t>OSPF </a:t>
            </a:r>
            <a:r>
              <a:rPr lang="zh-CN" altLang="en-US"/>
              <a:t>的其他特点 </a:t>
            </a:r>
          </a:p>
        </p:txBody>
      </p:sp>
      <p:sp>
        <p:nvSpPr>
          <p:cNvPr id="594947" name="Rectangle 3"/>
          <p:cNvSpPr>
            <a:spLocks noGrp="1" noChangeArrowheads="1"/>
          </p:cNvSpPr>
          <p:nvPr>
            <p:ph idx="1"/>
          </p:nvPr>
        </p:nvSpPr>
        <p:spPr>
          <a:noFill/>
        </p:spPr>
        <p:txBody>
          <a:bodyPr/>
          <a:lstStyle/>
          <a:p>
            <a:r>
              <a:rPr lang="en-US" altLang="zh-CN" dirty="0"/>
              <a:t>OSPF </a:t>
            </a:r>
            <a:r>
              <a:rPr lang="zh-CN" altLang="en-US" dirty="0"/>
              <a:t>还规定每隔一段时间，如 </a:t>
            </a:r>
            <a:r>
              <a:rPr lang="en-US" altLang="zh-CN" dirty="0"/>
              <a:t>30 </a:t>
            </a:r>
            <a:r>
              <a:rPr lang="zh-CN" altLang="en-US" dirty="0"/>
              <a:t>分钟，要刷新一次数据库中的链路状态。 </a:t>
            </a:r>
          </a:p>
          <a:p>
            <a:r>
              <a:rPr lang="zh-CN" altLang="en-US" dirty="0"/>
              <a:t>由于一个路由器的链路状态只涉及到与相邻路由器的连通状态，因而与整个互联网的规模并无直接关系。因此</a:t>
            </a:r>
            <a:r>
              <a:rPr lang="zh-CN" altLang="en-US" dirty="0">
                <a:solidFill>
                  <a:srgbClr val="FF0000"/>
                </a:solidFill>
              </a:rPr>
              <a:t>当互联网规模很大时，</a:t>
            </a:r>
            <a:r>
              <a:rPr lang="en-US" altLang="zh-CN" dirty="0">
                <a:solidFill>
                  <a:srgbClr val="FF0000"/>
                </a:solidFill>
              </a:rPr>
              <a:t>OSPF  </a:t>
            </a:r>
            <a:r>
              <a:rPr lang="zh-CN" altLang="en-US" dirty="0">
                <a:solidFill>
                  <a:srgbClr val="FF0000"/>
                </a:solidFill>
              </a:rPr>
              <a:t>协议要比距离向量协议 </a:t>
            </a:r>
            <a:r>
              <a:rPr lang="en-US" altLang="zh-CN" dirty="0">
                <a:solidFill>
                  <a:srgbClr val="FF0000"/>
                </a:solidFill>
              </a:rPr>
              <a:t>RIP </a:t>
            </a:r>
            <a:r>
              <a:rPr lang="zh-CN" altLang="en-US" dirty="0">
                <a:solidFill>
                  <a:srgbClr val="FF0000"/>
                </a:solidFill>
              </a:rPr>
              <a:t>好得多。 </a:t>
            </a:r>
          </a:p>
          <a:p>
            <a:r>
              <a:rPr lang="en-US" altLang="zh-CN" dirty="0">
                <a:solidFill>
                  <a:srgbClr val="FF0000"/>
                </a:solidFill>
              </a:rPr>
              <a:t>OSPF </a:t>
            </a:r>
            <a:r>
              <a:rPr lang="zh-CN" altLang="en-US" dirty="0">
                <a:solidFill>
                  <a:srgbClr val="FF0000"/>
                </a:solidFill>
              </a:rPr>
              <a:t>没有“坏消息传播得慢”的问题，</a:t>
            </a:r>
            <a:r>
              <a:rPr lang="zh-CN" altLang="en-US" dirty="0"/>
              <a:t>据统计，其响应网络变化的时间小于 </a:t>
            </a:r>
            <a:r>
              <a:rPr lang="en-US" altLang="zh-CN" dirty="0"/>
              <a:t>100 </a:t>
            </a:r>
            <a:r>
              <a:rPr lang="en-US" altLang="zh-CN" dirty="0" err="1"/>
              <a:t>ms</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494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9494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949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4947" grpId="0" build="p"/>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3" name="矩形 2142"/>
          <p:cNvSpPr/>
          <p:nvPr/>
        </p:nvSpPr>
        <p:spPr>
          <a:xfrm>
            <a:off x="777875" y="190183"/>
            <a:ext cx="8378825" cy="4523105"/>
          </a:xfrm>
          <a:prstGeom prst="rect">
            <a:avLst/>
          </a:prstGeom>
          <a:noFill/>
          <a:ln w="9525">
            <a:noFill/>
          </a:ln>
        </p:spPr>
        <p:txBody>
          <a:bodyPr wrap="square" anchor="t" anchorCtr="0">
            <a:spAutoFit/>
          </a:bodyPr>
          <a:lstStyle/>
          <a:p>
            <a:r>
              <a:rPr lang="en-US" altLang="en-US">
                <a:latin typeface="Times New Roman" panose="02020603050405020304" pitchFamily="18" charset="0"/>
                <a:ea typeface="宋体" panose="02010600030101010101" pitchFamily="2" charset="-122"/>
                <a:cs typeface="Times New Roman" panose="02020603050405020304" pitchFamily="18" charset="0"/>
              </a:rPr>
              <a:t>某自治系统采用RIP协议，若该自治系统内的路由器R1收到其邻居路由器R2的距离矢量中包含信息＜net1，16＞，则可能得出的结论是（   ）</a:t>
            </a:r>
          </a:p>
          <a:p>
            <a:r>
              <a:rPr lang="en-US" altLang="en-US">
                <a:latin typeface="Times New Roman" panose="02020603050405020304" pitchFamily="18" charset="0"/>
                <a:ea typeface="宋体" panose="02010600030101010101" pitchFamily="2" charset="-122"/>
                <a:cs typeface="Times New Roman" panose="02020603050405020304" pitchFamily="18" charset="0"/>
              </a:rPr>
              <a:t>A：R2可以经过R1到达net1，跳数为17</a:t>
            </a:r>
          </a:p>
          <a:p>
            <a:r>
              <a:rPr lang="en-US" altLang="en-US">
                <a:latin typeface="Times New Roman" panose="02020603050405020304" pitchFamily="18" charset="0"/>
                <a:ea typeface="宋体" panose="02010600030101010101" pitchFamily="2" charset="-122"/>
                <a:cs typeface="Times New Roman" panose="02020603050405020304" pitchFamily="18" charset="0"/>
              </a:rPr>
              <a:t>B：R2可以到达net1，跳数为16</a:t>
            </a:r>
          </a:p>
          <a:p>
            <a:r>
              <a:rPr lang="en-US" altLang="en-US">
                <a:latin typeface="Times New Roman" panose="02020603050405020304" pitchFamily="18" charset="0"/>
                <a:ea typeface="宋体" panose="02010600030101010101" pitchFamily="2" charset="-122"/>
                <a:cs typeface="Times New Roman" panose="02020603050405020304" pitchFamily="18" charset="0"/>
              </a:rPr>
              <a:t>C：R1可以经过R2到达net1，跳数为17</a:t>
            </a:r>
          </a:p>
          <a:p>
            <a:r>
              <a:rPr lang="en-US" altLang="en-US">
                <a:latin typeface="Times New Roman" panose="02020603050405020304" pitchFamily="18" charset="0"/>
                <a:ea typeface="宋体" panose="02010600030101010101" pitchFamily="2" charset="-122"/>
                <a:cs typeface="Times New Roman" panose="02020603050405020304" pitchFamily="18" charset="0"/>
              </a:rPr>
              <a:t>D：R1不能</a:t>
            </a:r>
            <a:r>
              <a:rPr lang="zh-CN" altLang="en-US">
                <a:latin typeface="Times New Roman" panose="02020603050405020304" pitchFamily="18" charset="0"/>
                <a:ea typeface="宋体" panose="02010600030101010101" pitchFamily="2" charset="-122"/>
                <a:cs typeface="Times New Roman" panose="02020603050405020304" pitchFamily="18" charset="0"/>
              </a:rPr>
              <a:t>经</a:t>
            </a:r>
            <a:r>
              <a:rPr lang="en-US" altLang="en-US">
                <a:latin typeface="Times New Roman" panose="02020603050405020304" pitchFamily="18" charset="0"/>
                <a:ea typeface="宋体" panose="02010600030101010101" pitchFamily="2" charset="-122"/>
                <a:cs typeface="Times New Roman" panose="02020603050405020304" pitchFamily="18" charset="0"/>
              </a:rPr>
              <a:t>过R2到达net1</a:t>
            </a:r>
            <a:endParaRPr lang="zh-CN" altLang="en-US">
              <a:solidFill>
                <a:srgbClr val="FF0000"/>
              </a:solidFill>
              <a:latin typeface="Times New Roman" panose="02020603050405020304" pitchFamily="18" charset="0"/>
              <a:ea typeface="宋体" panose="02010600030101010101" pitchFamily="2" charset="-122"/>
            </a:endParaRPr>
          </a:p>
          <a:p>
            <a:endParaRPr lang="zh-CN" altLang="en-US">
              <a:solidFill>
                <a:srgbClr val="FF0000"/>
              </a:solidFill>
              <a:latin typeface="Times New Roman" panose="02020603050405020304" pitchFamily="18" charset="0"/>
              <a:ea typeface="宋体" panose="02010600030101010101" pitchFamily="2" charset="-122"/>
            </a:endParaRPr>
          </a:p>
          <a:p>
            <a:endParaRPr lang="zh-CN" altLang="en-US">
              <a:solidFill>
                <a:srgbClr val="FF0000"/>
              </a:solidFill>
              <a:latin typeface="Times New Roman" panose="02020603050405020304" pitchFamily="18" charset="0"/>
              <a:ea typeface="宋体" panose="02010600030101010101" pitchFamily="2" charset="-122"/>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某网络拓扑如下图所示，路由器R1只有到达子网192.168.1.0/24的路由。为使R1可以将IP分组正确地路由到图中所有子网，则在R1中需要增加的一条路由(目的网络，子网掩码，下一跳)是</a:t>
            </a:r>
            <a:endParaRPr lang="en-US" altLang="en-US">
              <a:latin typeface="Times New Roman" panose="02020603050405020304" pitchFamily="18" charset="0"/>
              <a:ea typeface="宋体" panose="02010600030101010101" pitchFamily="2" charset="-122"/>
              <a:cs typeface="Times New Roman" panose="02020603050405020304" pitchFamily="18" charset="0"/>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	</a:t>
            </a:r>
            <a:endParaRPr lang="en-US" altLang="en-US">
              <a:latin typeface="Times New Roman" panose="02020603050405020304" pitchFamily="18" charset="0"/>
              <a:ea typeface="宋体" panose="02010600030101010101" pitchFamily="2" charset="-122"/>
              <a:cs typeface="Times New Roman" panose="02020603050405020304" pitchFamily="18" charset="0"/>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　　A.192.168.2.0， 255.255.255.128， 192.168.1.1</a:t>
            </a:r>
            <a:endParaRPr lang="en-US" altLang="en-US">
              <a:latin typeface="Times New Roman" panose="02020603050405020304" pitchFamily="18" charset="0"/>
              <a:ea typeface="宋体" panose="02010600030101010101" pitchFamily="2" charset="-122"/>
              <a:cs typeface="Times New Roman" panose="02020603050405020304" pitchFamily="18" charset="0"/>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　　B.192.168.2.0， 255.255.255.0， 192.168.1.1</a:t>
            </a:r>
            <a:endParaRPr lang="en-US" altLang="en-US">
              <a:latin typeface="Times New Roman" panose="02020603050405020304" pitchFamily="18" charset="0"/>
              <a:ea typeface="宋体" panose="02010600030101010101" pitchFamily="2" charset="-122"/>
              <a:cs typeface="Times New Roman" panose="02020603050405020304" pitchFamily="18" charset="0"/>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　　C.192.168.2.0， 255.255.255.128， 192.168.1.2</a:t>
            </a:r>
            <a:endParaRPr lang="en-US" altLang="en-US">
              <a:latin typeface="Times New Roman" panose="02020603050405020304" pitchFamily="18" charset="0"/>
              <a:ea typeface="宋体" panose="02010600030101010101" pitchFamily="2" charset="-122"/>
              <a:cs typeface="Times New Roman" panose="02020603050405020304" pitchFamily="18" charset="0"/>
            </a:endParaRPr>
          </a:p>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　　D.192.168.2.0， 255.255.255.0， 192.168.1.2</a:t>
            </a:r>
            <a:endParaRPr lang="zh-CN" altLang="en-US">
              <a:solidFill>
                <a:srgbClr val="FF0000"/>
              </a:solidFill>
              <a:latin typeface="Times New Roman" panose="02020603050405020304" pitchFamily="18" charset="0"/>
              <a:ea typeface="宋体" panose="02010600030101010101" pitchFamily="2" charset="-122"/>
            </a:endParaRPr>
          </a:p>
        </p:txBody>
      </p:sp>
      <p:pic>
        <p:nvPicPr>
          <p:cNvPr id="2166" name="图片 2165"/>
          <p:cNvPicPr>
            <a:picLocks noChangeAspect="1"/>
          </p:cNvPicPr>
          <p:nvPr/>
        </p:nvPicPr>
        <p:blipFill>
          <a:blip r:embed="rId2"/>
          <a:stretch>
            <a:fillRect/>
          </a:stretch>
        </p:blipFill>
        <p:spPr>
          <a:xfrm>
            <a:off x="1817688" y="4795203"/>
            <a:ext cx="4371975" cy="1828800"/>
          </a:xfrm>
          <a:prstGeom prst="rect">
            <a:avLst/>
          </a:prstGeom>
          <a:noFill/>
          <a:ln w="9525">
            <a:noFill/>
          </a:ln>
        </p:spPr>
      </p:pic>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3" name="矩形 2142"/>
          <p:cNvSpPr/>
          <p:nvPr/>
        </p:nvSpPr>
        <p:spPr>
          <a:xfrm>
            <a:off x="763905" y="81598"/>
            <a:ext cx="8378825" cy="368300"/>
          </a:xfrm>
          <a:prstGeom prst="rect">
            <a:avLst/>
          </a:prstGeom>
          <a:noFill/>
          <a:ln w="9525">
            <a:noFill/>
          </a:ln>
        </p:spPr>
        <p:txBody>
          <a:bodyPr wrap="square" anchor="t" anchorCtr="0">
            <a:spAutoFit/>
          </a:bodyPr>
          <a:lstStyle/>
          <a:p>
            <a:r>
              <a:rPr lang="en-US" altLang="en-US">
                <a:latin typeface="Times New Roman" panose="02020603050405020304" pitchFamily="18" charset="0"/>
                <a:ea typeface="宋体" panose="02010600030101010101" pitchFamily="2" charset="-122"/>
                <a:cs typeface="Times New Roman" panose="02020603050405020304" pitchFamily="18" charset="0"/>
                <a:sym typeface="+mn-ea"/>
              </a:rPr>
              <a:t>某路由器的路由表如下表所示：</a:t>
            </a:r>
          </a:p>
        </p:txBody>
      </p:sp>
      <p:pic>
        <p:nvPicPr>
          <p:cNvPr id="2" name="图片 1"/>
          <p:cNvPicPr>
            <a:picLocks noChangeAspect="1"/>
          </p:cNvPicPr>
          <p:nvPr/>
        </p:nvPicPr>
        <p:blipFill>
          <a:blip r:embed="rId2"/>
          <a:stretch>
            <a:fillRect/>
          </a:stretch>
        </p:blipFill>
        <p:spPr>
          <a:xfrm>
            <a:off x="1083310" y="450215"/>
            <a:ext cx="6512560" cy="2564130"/>
          </a:xfrm>
          <a:prstGeom prst="rect">
            <a:avLst/>
          </a:prstGeom>
        </p:spPr>
      </p:pic>
      <p:sp>
        <p:nvSpPr>
          <p:cNvPr id="3" name="文本框 2"/>
          <p:cNvSpPr txBox="1"/>
          <p:nvPr/>
        </p:nvSpPr>
        <p:spPr>
          <a:xfrm>
            <a:off x="763905" y="3108325"/>
            <a:ext cx="7284720" cy="1198880"/>
          </a:xfrm>
          <a:prstGeom prst="rect">
            <a:avLst/>
          </a:prstGeom>
          <a:noFill/>
        </p:spPr>
        <p:txBody>
          <a:bodyPr wrap="square" rtlCol="0" anchor="t">
            <a:spAutoFit/>
          </a:bodyPr>
          <a:lstStyle/>
          <a:p>
            <a:r>
              <a:rPr lang="zh-CN" altLang="en-US"/>
              <a:t>若路由器收到一个目的地址为169.96.40.5 的 IP 分组，则转发该 IP 分组的接口是（）。</a:t>
            </a:r>
          </a:p>
          <a:p>
            <a:r>
              <a:rPr lang="en-US" altLang="zh-CN"/>
              <a:t>A. </a:t>
            </a:r>
            <a:r>
              <a:rPr lang="zh-CN" altLang="en-US"/>
              <a:t>S1                                  </a:t>
            </a:r>
            <a:r>
              <a:rPr lang="en-US" altLang="zh-CN"/>
              <a:t>B. </a:t>
            </a:r>
            <a:r>
              <a:rPr lang="zh-CN" altLang="en-US"/>
              <a:t>S2</a:t>
            </a:r>
          </a:p>
          <a:p>
            <a:r>
              <a:rPr lang="en-US" altLang="zh-CN"/>
              <a:t>C. </a:t>
            </a:r>
            <a:r>
              <a:rPr lang="zh-CN" altLang="en-US"/>
              <a:t>S3                                  </a:t>
            </a:r>
            <a:r>
              <a:rPr lang="en-US" altLang="zh-CN"/>
              <a:t>D. </a:t>
            </a:r>
            <a:r>
              <a:rPr lang="zh-CN" altLang="en-US"/>
              <a:t>S4</a:t>
            </a:r>
          </a:p>
        </p:txBody>
      </p:sp>
      <p:sp>
        <p:nvSpPr>
          <p:cNvPr id="4" name="矩形 3"/>
          <p:cNvSpPr/>
          <p:nvPr/>
        </p:nvSpPr>
        <p:spPr>
          <a:xfrm>
            <a:off x="763270" y="4962208"/>
            <a:ext cx="8378825" cy="922020"/>
          </a:xfrm>
          <a:prstGeom prst="rect">
            <a:avLst/>
          </a:prstGeom>
          <a:noFill/>
          <a:ln w="9525">
            <a:noFill/>
          </a:ln>
        </p:spPr>
        <p:txBody>
          <a:bodyPr wrap="square" anchor="t" anchorCtr="0">
            <a:spAutoFit/>
          </a:bodyPr>
          <a:lstStyle/>
          <a:p>
            <a:r>
              <a:rPr lang="zh-CN" altLang="en-US">
                <a:latin typeface="Times New Roman" panose="02020603050405020304" pitchFamily="18" charset="0"/>
                <a:ea typeface="宋体" panose="02010600030101010101" pitchFamily="2" charset="-122"/>
                <a:cs typeface="Times New Roman" panose="02020603050405020304" pitchFamily="18" charset="0"/>
                <a:sym typeface="+mn-ea"/>
              </a:rPr>
              <a:t>在子网</a:t>
            </a:r>
            <a:r>
              <a:rPr lang="en-US" altLang="zh-CN">
                <a:latin typeface="Times New Roman" panose="02020603050405020304" pitchFamily="18" charset="0"/>
                <a:ea typeface="宋体" panose="02010600030101010101" pitchFamily="2" charset="-122"/>
                <a:cs typeface="Times New Roman" panose="02020603050405020304" pitchFamily="18" charset="0"/>
                <a:sym typeface="+mn-ea"/>
              </a:rPr>
              <a:t>192.168.4.0/30</a:t>
            </a:r>
            <a:r>
              <a:rPr lang="zh-CN" altLang="en-US">
                <a:latin typeface="Times New Roman" panose="02020603050405020304" pitchFamily="18" charset="0"/>
                <a:ea typeface="宋体" panose="02010600030101010101" pitchFamily="2" charset="-122"/>
                <a:cs typeface="Times New Roman" panose="02020603050405020304" pitchFamily="18" charset="0"/>
                <a:sym typeface="+mn-ea"/>
              </a:rPr>
              <a:t>中，能接收目的地址为</a:t>
            </a:r>
            <a:r>
              <a:rPr lang="en-US" altLang="zh-CN">
                <a:latin typeface="Times New Roman" panose="02020603050405020304" pitchFamily="18" charset="0"/>
                <a:ea typeface="宋体" panose="02010600030101010101" pitchFamily="2" charset="-122"/>
                <a:cs typeface="Times New Roman" panose="02020603050405020304" pitchFamily="18" charset="0"/>
                <a:sym typeface="+mn-ea"/>
              </a:rPr>
              <a:t>192.168.4.3</a:t>
            </a:r>
            <a:r>
              <a:rPr lang="zh-CN" altLang="en-US">
                <a:latin typeface="Times New Roman" panose="02020603050405020304" pitchFamily="18" charset="0"/>
                <a:ea typeface="宋体" panose="02010600030101010101" pitchFamily="2" charset="-122"/>
                <a:cs typeface="Times New Roman" panose="02020603050405020304" pitchFamily="18" charset="0"/>
                <a:sym typeface="+mn-ea"/>
              </a:rPr>
              <a:t>的</a:t>
            </a:r>
            <a:r>
              <a:rPr lang="en-US" altLang="zh-CN">
                <a:latin typeface="Times New Roman" panose="02020603050405020304" pitchFamily="18" charset="0"/>
                <a:ea typeface="宋体" panose="02010600030101010101" pitchFamily="2" charset="-122"/>
                <a:cs typeface="Times New Roman" panose="02020603050405020304" pitchFamily="18" charset="0"/>
                <a:sym typeface="+mn-ea"/>
              </a:rPr>
              <a:t>ip</a:t>
            </a:r>
            <a:r>
              <a:rPr lang="zh-CN" altLang="en-US">
                <a:latin typeface="Times New Roman" panose="02020603050405020304" pitchFamily="18" charset="0"/>
                <a:ea typeface="宋体" panose="02010600030101010101" pitchFamily="2" charset="-122"/>
                <a:cs typeface="Times New Roman" panose="02020603050405020304" pitchFamily="18" charset="0"/>
                <a:sym typeface="+mn-ea"/>
              </a:rPr>
              <a:t>分组的最大主机数是</a:t>
            </a:r>
          </a:p>
          <a:p>
            <a:endParaRPr lang="zh-CN" altLang="en-US">
              <a:latin typeface="Times New Roman" panose="02020603050405020304" pitchFamily="18" charset="0"/>
              <a:ea typeface="宋体" panose="02010600030101010101" pitchFamily="2" charset="-122"/>
              <a:cs typeface="Times New Roman" panose="02020603050405020304" pitchFamily="18" charset="0"/>
              <a:sym typeface="+mn-ea"/>
            </a:endParaRPr>
          </a:p>
          <a:p>
            <a:r>
              <a:rPr lang="en-US" altLang="zh-CN">
                <a:latin typeface="Times New Roman" panose="02020603050405020304" pitchFamily="18" charset="0"/>
                <a:ea typeface="宋体" panose="02010600030101010101" pitchFamily="2" charset="-122"/>
                <a:cs typeface="Times New Roman" panose="02020603050405020304" pitchFamily="18" charset="0"/>
                <a:sym typeface="+mn-ea"/>
              </a:rPr>
              <a:t>A. 0                                          B. 1                                    C. 2                              D. 4</a:t>
            </a: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ChangeArrowheads="1"/>
          </p:cNvSpPr>
          <p:nvPr>
            <p:ph type="title"/>
          </p:nvPr>
        </p:nvSpPr>
        <p:spPr/>
        <p:txBody>
          <a:bodyPr/>
          <a:lstStyle/>
          <a:p>
            <a:r>
              <a:rPr lang="en-US" altLang="zh-CN" dirty="0"/>
              <a:t>4.5.4  </a:t>
            </a:r>
            <a:r>
              <a:rPr lang="zh-CN" altLang="en-US" dirty="0"/>
              <a:t>外部网关协议 </a:t>
            </a:r>
            <a:r>
              <a:rPr lang="en-US" altLang="zh-CN" dirty="0"/>
              <a:t>BGP</a:t>
            </a:r>
          </a:p>
        </p:txBody>
      </p:sp>
      <p:sp>
        <p:nvSpPr>
          <p:cNvPr id="600067" name="Rectangle 3"/>
          <p:cNvSpPr>
            <a:spLocks noGrp="1" noChangeArrowheads="1"/>
          </p:cNvSpPr>
          <p:nvPr>
            <p:ph idx="1"/>
          </p:nvPr>
        </p:nvSpPr>
        <p:spPr>
          <a:noFill/>
        </p:spPr>
        <p:txBody>
          <a:bodyPr/>
          <a:lstStyle/>
          <a:p>
            <a:pPr>
              <a:spcBef>
                <a:spcPts val="1200"/>
              </a:spcBef>
            </a:pPr>
            <a:r>
              <a:rPr lang="en-US" altLang="zh-CN" dirty="0"/>
              <a:t>BGP </a:t>
            </a:r>
            <a:r>
              <a:rPr lang="zh-CN" altLang="en-US" dirty="0"/>
              <a:t>是</a:t>
            </a:r>
            <a:r>
              <a:rPr lang="zh-CN" altLang="en-US" dirty="0">
                <a:solidFill>
                  <a:srgbClr val="FF0000"/>
                </a:solidFill>
              </a:rPr>
              <a:t>不同自治系统的路由器之间</a:t>
            </a:r>
            <a:r>
              <a:rPr lang="zh-CN" altLang="en-US" dirty="0"/>
              <a:t>交换路由信息的协议。 </a:t>
            </a:r>
          </a:p>
          <a:p>
            <a:pPr>
              <a:spcBef>
                <a:spcPts val="1200"/>
              </a:spcBef>
            </a:pPr>
            <a:r>
              <a:rPr lang="en-US" altLang="zh-CN" dirty="0"/>
              <a:t>BGP </a:t>
            </a:r>
            <a:r>
              <a:rPr lang="zh-CN" altLang="en-US" dirty="0"/>
              <a:t>较新版本是 </a:t>
            </a:r>
            <a:r>
              <a:rPr lang="en-US" altLang="zh-CN" dirty="0"/>
              <a:t>2006 </a:t>
            </a:r>
            <a:r>
              <a:rPr lang="zh-CN" altLang="en-US" dirty="0"/>
              <a:t>年 </a:t>
            </a:r>
            <a:r>
              <a:rPr lang="en-US" altLang="zh-CN" dirty="0"/>
              <a:t>1 </a:t>
            </a:r>
            <a:r>
              <a:rPr lang="zh-CN" altLang="en-US" dirty="0"/>
              <a:t>月发表的 </a:t>
            </a:r>
            <a:r>
              <a:rPr lang="en-US" altLang="zh-CN" dirty="0"/>
              <a:t>BGP-4</a:t>
            </a:r>
            <a:r>
              <a:rPr lang="zh-CN" altLang="en-US" dirty="0"/>
              <a:t>（</a:t>
            </a:r>
            <a:r>
              <a:rPr lang="en-US" altLang="zh-CN" dirty="0"/>
              <a:t>BGP </a:t>
            </a:r>
            <a:r>
              <a:rPr lang="zh-CN" altLang="en-US" dirty="0"/>
              <a:t>第 </a:t>
            </a:r>
            <a:r>
              <a:rPr lang="en-US" altLang="zh-CN" dirty="0"/>
              <a:t>4 </a:t>
            </a:r>
            <a:r>
              <a:rPr lang="zh-CN" altLang="en-US" dirty="0"/>
              <a:t>个版本），即 </a:t>
            </a:r>
            <a:r>
              <a:rPr lang="en-US" altLang="zh-CN" dirty="0"/>
              <a:t>RFC 4271 ~ 4278</a:t>
            </a:r>
            <a:r>
              <a:rPr lang="zh-CN" altLang="en-US" dirty="0"/>
              <a:t>。 </a:t>
            </a:r>
          </a:p>
          <a:p>
            <a:pPr>
              <a:spcBef>
                <a:spcPts val="1200"/>
              </a:spcBef>
            </a:pPr>
            <a:r>
              <a:rPr lang="zh-CN" altLang="en-US" dirty="0"/>
              <a:t>可以将 </a:t>
            </a:r>
            <a:r>
              <a:rPr lang="en-US" altLang="zh-CN" dirty="0"/>
              <a:t>BGP-4 </a:t>
            </a:r>
            <a:r>
              <a:rPr lang="zh-CN" altLang="en-US" dirty="0"/>
              <a:t>简写为 </a:t>
            </a:r>
            <a:r>
              <a:rPr lang="en-US" altLang="zh-CN" dirty="0"/>
              <a:t>BGP</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2"/>
          <p:cNvSpPr>
            <a:spLocks noGrp="1" noChangeArrowheads="1"/>
          </p:cNvSpPr>
          <p:nvPr>
            <p:ph type="title"/>
          </p:nvPr>
        </p:nvSpPr>
        <p:spPr/>
        <p:txBody>
          <a:bodyPr/>
          <a:lstStyle/>
          <a:p>
            <a:pPr algn="ctr"/>
            <a:r>
              <a:rPr lang="en-US" altLang="zh-CN" dirty="0"/>
              <a:t>BGP </a:t>
            </a:r>
            <a:r>
              <a:rPr lang="zh-CN" altLang="en-US" dirty="0"/>
              <a:t>使用环境不同</a:t>
            </a:r>
          </a:p>
        </p:txBody>
      </p:sp>
      <p:sp>
        <p:nvSpPr>
          <p:cNvPr id="601091" name="Rectangle 3"/>
          <p:cNvSpPr>
            <a:spLocks noGrp="1" noChangeArrowheads="1"/>
          </p:cNvSpPr>
          <p:nvPr>
            <p:ph idx="1"/>
          </p:nvPr>
        </p:nvSpPr>
        <p:spPr>
          <a:noFill/>
        </p:spPr>
        <p:txBody>
          <a:bodyPr/>
          <a:lstStyle/>
          <a:p>
            <a:r>
              <a:rPr lang="zh-CN" altLang="en-US" sz="2800" dirty="0"/>
              <a:t>互联网的规模太大，使得自治系统之间路由选择非常困难。对于自治系统之间的路由选择，要寻找最佳路由是很不现实的。</a:t>
            </a:r>
          </a:p>
          <a:p>
            <a:pPr lvl="1"/>
            <a:r>
              <a:rPr lang="zh-CN" altLang="en-US" dirty="0">
                <a:latin typeface="Arial" panose="020B0604020202020204" pitchFamily="34" charset="0"/>
              </a:rPr>
              <a:t>当一条路径通过几个不同 </a:t>
            </a:r>
            <a:r>
              <a:rPr lang="en-US" altLang="zh-CN" dirty="0">
                <a:latin typeface="Arial" panose="020B0604020202020204" pitchFamily="34" charset="0"/>
              </a:rPr>
              <a:t>AS </a:t>
            </a:r>
            <a:r>
              <a:rPr lang="zh-CN" altLang="en-US" dirty="0">
                <a:latin typeface="Arial" panose="020B0604020202020204" pitchFamily="34" charset="0"/>
              </a:rPr>
              <a:t>时，要想对这样的路径计算出有意义的代价是不太可能的。</a:t>
            </a:r>
          </a:p>
          <a:p>
            <a:pPr lvl="1"/>
            <a:r>
              <a:rPr lang="zh-CN" altLang="en-US" dirty="0">
                <a:solidFill>
                  <a:srgbClr val="0000FF"/>
                </a:solidFill>
                <a:latin typeface="Arial" panose="020B0604020202020204" pitchFamily="34" charset="0"/>
              </a:rPr>
              <a:t>比较合理的做法是在 </a:t>
            </a:r>
            <a:r>
              <a:rPr lang="en-US" altLang="zh-CN" dirty="0">
                <a:solidFill>
                  <a:srgbClr val="0000FF"/>
                </a:solidFill>
                <a:latin typeface="Arial" panose="020B0604020202020204" pitchFamily="34" charset="0"/>
              </a:rPr>
              <a:t>AS </a:t>
            </a:r>
            <a:r>
              <a:rPr lang="zh-CN" altLang="en-US" dirty="0">
                <a:solidFill>
                  <a:srgbClr val="0000FF"/>
                </a:solidFill>
                <a:latin typeface="Arial" panose="020B0604020202020204" pitchFamily="34" charset="0"/>
              </a:rPr>
              <a:t>之间交换“可达性”信息。</a:t>
            </a:r>
            <a:endParaRPr lang="zh-CN" altLang="en-US" dirty="0">
              <a:solidFill>
                <a:srgbClr val="0000FF"/>
              </a:solidFill>
            </a:endParaRPr>
          </a:p>
          <a:p>
            <a:r>
              <a:rPr lang="zh-CN" altLang="en-US" sz="2800" dirty="0"/>
              <a:t>自治系统之间的路由选择必须考虑有关</a:t>
            </a:r>
            <a:r>
              <a:rPr lang="zh-CN" altLang="en-US" sz="2800" dirty="0">
                <a:solidFill>
                  <a:srgbClr val="FF0000"/>
                </a:solidFill>
              </a:rPr>
              <a:t>策略。</a:t>
            </a:r>
          </a:p>
          <a:p>
            <a:r>
              <a:rPr lang="zh-CN" altLang="en-US" sz="2800" dirty="0"/>
              <a:t>因此，边界网关协议 </a:t>
            </a:r>
            <a:r>
              <a:rPr lang="en-US" altLang="zh-CN" sz="2800" dirty="0"/>
              <a:t>BGP </a:t>
            </a:r>
            <a:r>
              <a:rPr lang="zh-CN" altLang="en-US" sz="2800" dirty="0"/>
              <a:t>只能是力求寻找一条能够到达目的网络且</a:t>
            </a:r>
            <a:r>
              <a:rPr lang="zh-CN" altLang="en-US" sz="2800" dirty="0">
                <a:solidFill>
                  <a:srgbClr val="FF0000"/>
                </a:solidFill>
              </a:rPr>
              <a:t>比较好的路由</a:t>
            </a:r>
            <a:r>
              <a:rPr lang="zh-CN" altLang="en-US" sz="2800" dirty="0"/>
              <a:t>（不能兜圈子），而</a:t>
            </a:r>
            <a:r>
              <a:rPr lang="zh-CN" altLang="en-US" sz="2800" dirty="0">
                <a:solidFill>
                  <a:srgbClr val="FF0000"/>
                </a:solidFill>
              </a:rPr>
              <a:t>并非要寻找一条最佳路由。</a:t>
            </a:r>
            <a:r>
              <a:rPr lang="zh-CN" altLang="en-US" sz="2800"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01091">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01091">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ChangeArrowheads="1"/>
          </p:cNvSpPr>
          <p:nvPr>
            <p:ph type="title"/>
          </p:nvPr>
        </p:nvSpPr>
        <p:spPr/>
        <p:txBody>
          <a:bodyPr/>
          <a:lstStyle/>
          <a:p>
            <a:pPr algn="ctr"/>
            <a:r>
              <a:rPr lang="en-US" altLang="zh-CN" dirty="0"/>
              <a:t>BGP</a:t>
            </a:r>
            <a:r>
              <a:rPr lang="en-US" altLang="zh-CN" b="1" dirty="0"/>
              <a:t> </a:t>
            </a:r>
            <a:r>
              <a:rPr lang="zh-CN" altLang="en-US" dirty="0"/>
              <a:t>发言人</a:t>
            </a:r>
            <a:endParaRPr lang="en-US" altLang="zh-CN" dirty="0"/>
          </a:p>
        </p:txBody>
      </p:sp>
      <p:sp>
        <p:nvSpPr>
          <p:cNvPr id="602115" name="Rectangle 3"/>
          <p:cNvSpPr>
            <a:spLocks noGrp="1" noChangeArrowheads="1"/>
          </p:cNvSpPr>
          <p:nvPr>
            <p:ph idx="1"/>
          </p:nvPr>
        </p:nvSpPr>
        <p:spPr/>
        <p:txBody>
          <a:bodyPr/>
          <a:lstStyle/>
          <a:p>
            <a:r>
              <a:rPr lang="zh-CN" altLang="en-US" dirty="0"/>
              <a:t>每一个自治系统的管理员要选择至少一个路由器作为该自治系统的“ </a:t>
            </a:r>
            <a:r>
              <a:rPr lang="en-US" altLang="zh-CN" dirty="0">
                <a:solidFill>
                  <a:srgbClr val="FF0000"/>
                </a:solidFill>
              </a:rPr>
              <a:t>BGP </a:t>
            </a:r>
            <a:r>
              <a:rPr lang="zh-CN" altLang="en-US" dirty="0">
                <a:solidFill>
                  <a:srgbClr val="FF0000"/>
                </a:solidFill>
              </a:rPr>
              <a:t>发言人</a:t>
            </a:r>
            <a:r>
              <a:rPr lang="zh-CN" altLang="en-US" dirty="0"/>
              <a:t>”</a:t>
            </a:r>
            <a:r>
              <a:rPr lang="en-US" altLang="zh-CN" dirty="0"/>
              <a:t> (BGP speaker)</a:t>
            </a:r>
            <a:r>
              <a:rPr lang="zh-CN" altLang="en-US" dirty="0"/>
              <a:t> 。</a:t>
            </a:r>
          </a:p>
          <a:p>
            <a:r>
              <a:rPr lang="zh-CN" altLang="en-US" dirty="0"/>
              <a:t>一般说来，两个 </a:t>
            </a:r>
            <a:r>
              <a:rPr lang="en-US" altLang="zh-CN" dirty="0"/>
              <a:t>BGP </a:t>
            </a:r>
            <a:r>
              <a:rPr lang="zh-CN" altLang="en-US" dirty="0"/>
              <a:t>发言人都是通过一个共享网络连接在一起的，而 </a:t>
            </a:r>
            <a:r>
              <a:rPr lang="en-US" altLang="zh-CN" dirty="0"/>
              <a:t>BGP </a:t>
            </a:r>
            <a:r>
              <a:rPr lang="zh-CN" altLang="en-US" dirty="0"/>
              <a:t>发言人往往就是 </a:t>
            </a:r>
            <a:r>
              <a:rPr lang="en-US" altLang="zh-CN" dirty="0"/>
              <a:t>BGP </a:t>
            </a:r>
            <a:r>
              <a:rPr lang="zh-CN" altLang="en-US" dirty="0"/>
              <a:t>边界路由器，但也可以不是 </a:t>
            </a:r>
            <a:r>
              <a:rPr lang="en-US" altLang="zh-CN" dirty="0"/>
              <a:t>BGP </a:t>
            </a:r>
            <a:r>
              <a:rPr lang="zh-CN" altLang="en-US" dirty="0"/>
              <a:t>边界路由器。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21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Rectangle 2"/>
          <p:cNvSpPr>
            <a:spLocks noGrp="1" noChangeArrowheads="1"/>
          </p:cNvSpPr>
          <p:nvPr>
            <p:ph type="title"/>
          </p:nvPr>
        </p:nvSpPr>
        <p:spPr/>
        <p:txBody>
          <a:bodyPr/>
          <a:lstStyle/>
          <a:p>
            <a:pPr algn="ctr"/>
            <a:r>
              <a:rPr lang="en-US" altLang="zh-CN" dirty="0"/>
              <a:t>BGP </a:t>
            </a:r>
            <a:r>
              <a:rPr lang="zh-CN" altLang="en-US" dirty="0"/>
              <a:t>交换路由信息</a:t>
            </a:r>
          </a:p>
        </p:txBody>
      </p:sp>
      <p:sp>
        <p:nvSpPr>
          <p:cNvPr id="603139" name="Rectangle 3"/>
          <p:cNvSpPr>
            <a:spLocks noGrp="1" noChangeArrowheads="1"/>
          </p:cNvSpPr>
          <p:nvPr>
            <p:ph idx="1"/>
          </p:nvPr>
        </p:nvSpPr>
        <p:spPr/>
        <p:txBody>
          <a:bodyPr/>
          <a:lstStyle/>
          <a:p>
            <a:r>
              <a:rPr lang="zh-CN" altLang="en-US" sz="3000" dirty="0"/>
              <a:t>一个 </a:t>
            </a:r>
            <a:r>
              <a:rPr lang="en-US" altLang="zh-CN" sz="3000" dirty="0"/>
              <a:t>BGP </a:t>
            </a:r>
            <a:r>
              <a:rPr lang="zh-CN" altLang="en-US" sz="3000" dirty="0"/>
              <a:t>发言人与其他自治系统中的 </a:t>
            </a:r>
            <a:r>
              <a:rPr lang="en-US" altLang="zh-CN" sz="3000" dirty="0"/>
              <a:t>BGP </a:t>
            </a:r>
            <a:r>
              <a:rPr lang="zh-CN" altLang="en-US" sz="3000" dirty="0"/>
              <a:t>发言人要交换路由信息，就要先建立 </a:t>
            </a:r>
            <a:r>
              <a:rPr lang="en-US" altLang="zh-CN" sz="3000" dirty="0">
                <a:solidFill>
                  <a:srgbClr val="FF0000"/>
                </a:solidFill>
              </a:rPr>
              <a:t>TCP </a:t>
            </a:r>
            <a:r>
              <a:rPr lang="zh-CN" altLang="en-US" sz="3000" dirty="0">
                <a:solidFill>
                  <a:srgbClr val="FF0000"/>
                </a:solidFill>
              </a:rPr>
              <a:t>连接，</a:t>
            </a:r>
            <a:r>
              <a:rPr lang="zh-CN" altLang="en-US" sz="3000" dirty="0"/>
              <a:t>然后在此连接上交换 </a:t>
            </a:r>
            <a:r>
              <a:rPr lang="en-US" altLang="zh-CN" sz="3000" dirty="0"/>
              <a:t>BGP </a:t>
            </a:r>
            <a:r>
              <a:rPr lang="zh-CN" altLang="en-US" sz="3000" dirty="0"/>
              <a:t>报文以建立 </a:t>
            </a:r>
            <a:r>
              <a:rPr lang="en-US" altLang="zh-CN" sz="3000" dirty="0"/>
              <a:t>BGP </a:t>
            </a:r>
            <a:r>
              <a:rPr lang="zh-CN" altLang="en-US" sz="3000" dirty="0">
                <a:solidFill>
                  <a:srgbClr val="FF0000"/>
                </a:solidFill>
              </a:rPr>
              <a:t>会话</a:t>
            </a:r>
            <a:r>
              <a:rPr lang="en-US" altLang="zh-CN" sz="3000" dirty="0"/>
              <a:t>(session)</a:t>
            </a:r>
            <a:r>
              <a:rPr lang="zh-CN" altLang="en-US" sz="3000" dirty="0"/>
              <a:t>，利用 </a:t>
            </a:r>
            <a:r>
              <a:rPr lang="en-US" altLang="zh-CN" sz="3000" dirty="0"/>
              <a:t>BGP </a:t>
            </a:r>
            <a:r>
              <a:rPr lang="zh-CN" altLang="en-US" sz="3000" dirty="0"/>
              <a:t>会话交换路由信息。</a:t>
            </a:r>
          </a:p>
          <a:p>
            <a:r>
              <a:rPr lang="zh-CN" altLang="en-US" sz="3000" dirty="0"/>
              <a:t>使用 </a:t>
            </a:r>
            <a:r>
              <a:rPr lang="en-US" altLang="zh-CN" sz="3000" dirty="0"/>
              <a:t>TCP </a:t>
            </a:r>
            <a:r>
              <a:rPr lang="zh-CN" altLang="en-US" sz="3000" dirty="0"/>
              <a:t>连接能提供可靠的服务，也简化了路由选择协议。</a:t>
            </a:r>
          </a:p>
          <a:p>
            <a:r>
              <a:rPr lang="zh-CN" altLang="en-US" sz="3000" dirty="0"/>
              <a:t>使用 </a:t>
            </a:r>
            <a:r>
              <a:rPr lang="en-US" altLang="zh-CN" sz="3000" dirty="0"/>
              <a:t>TCP </a:t>
            </a:r>
            <a:r>
              <a:rPr lang="zh-CN" altLang="en-US" sz="3000" dirty="0"/>
              <a:t>连接交换路由信息的两个 </a:t>
            </a:r>
            <a:r>
              <a:rPr lang="en-US" altLang="zh-CN" sz="3000" dirty="0"/>
              <a:t>BGP </a:t>
            </a:r>
            <a:r>
              <a:rPr lang="zh-CN" altLang="en-US" sz="3000" dirty="0"/>
              <a:t>发言人，彼此成为对方的</a:t>
            </a:r>
            <a:r>
              <a:rPr lang="zh-CN" altLang="zh-CN" sz="3000" dirty="0">
                <a:solidFill>
                  <a:srgbClr val="FF0000"/>
                </a:solidFill>
              </a:rPr>
              <a:t>邻站</a:t>
            </a:r>
            <a:r>
              <a:rPr lang="en-US" altLang="zh-CN" sz="3000" dirty="0"/>
              <a:t>(neighbor)</a:t>
            </a:r>
            <a:r>
              <a:rPr lang="zh-CN" altLang="zh-CN" sz="3000" dirty="0"/>
              <a:t>或</a:t>
            </a:r>
            <a:r>
              <a:rPr lang="zh-CN" altLang="zh-CN" sz="3000" dirty="0">
                <a:solidFill>
                  <a:srgbClr val="FF0000"/>
                </a:solidFill>
              </a:rPr>
              <a:t>对等站</a:t>
            </a:r>
            <a:r>
              <a:rPr lang="en-US" altLang="zh-CN" sz="3000" dirty="0"/>
              <a:t>(peer) </a:t>
            </a:r>
            <a:r>
              <a:rPr lang="zh-CN" altLang="en-US" sz="3000" dirty="0"/>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3139">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031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ChangeArrowheads="1"/>
          </p:cNvSpPr>
          <p:nvPr>
            <p:ph type="title"/>
          </p:nvPr>
        </p:nvSpPr>
        <p:spPr>
          <a:xfrm>
            <a:off x="495300" y="188640"/>
            <a:ext cx="8714303" cy="792088"/>
          </a:xfrm>
        </p:spPr>
        <p:txBody>
          <a:bodyPr/>
          <a:lstStyle/>
          <a:p>
            <a:pPr algn="ctr"/>
            <a:r>
              <a:rPr lang="en-US" altLang="zh-CN" sz="4000" dirty="0"/>
              <a:t>BGP </a:t>
            </a:r>
            <a:r>
              <a:rPr lang="zh-CN" altLang="en-US" sz="4000" dirty="0"/>
              <a:t>发言人和自治系统 </a:t>
            </a:r>
            <a:r>
              <a:rPr lang="en-US" altLang="zh-CN" sz="4000" dirty="0"/>
              <a:t>AS </a:t>
            </a:r>
            <a:r>
              <a:rPr lang="zh-CN" altLang="en-US" sz="4000" dirty="0"/>
              <a:t>的关系 </a:t>
            </a:r>
          </a:p>
        </p:txBody>
      </p:sp>
      <p:sp>
        <p:nvSpPr>
          <p:cNvPr id="604163" name="Oval 3"/>
          <p:cNvSpPr>
            <a:spLocks noChangeArrowheads="1"/>
          </p:cNvSpPr>
          <p:nvPr/>
        </p:nvSpPr>
        <p:spPr bwMode="auto">
          <a:xfrm>
            <a:off x="5727427" y="1556792"/>
            <a:ext cx="4050109" cy="1985963"/>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04164" name="Oval 4"/>
          <p:cNvSpPr>
            <a:spLocks noChangeArrowheads="1"/>
          </p:cNvSpPr>
          <p:nvPr/>
        </p:nvSpPr>
        <p:spPr bwMode="auto">
          <a:xfrm>
            <a:off x="414990" y="1556792"/>
            <a:ext cx="3281363" cy="1985963"/>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04165" name="Line 5"/>
          <p:cNvSpPr>
            <a:spLocks noChangeShapeType="1"/>
          </p:cNvSpPr>
          <p:nvPr/>
        </p:nvSpPr>
        <p:spPr bwMode="auto">
          <a:xfrm flipV="1">
            <a:off x="5870170" y="2258467"/>
            <a:ext cx="362877" cy="47466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66" name="Oval 6"/>
          <p:cNvSpPr>
            <a:spLocks noChangeArrowheads="1"/>
          </p:cNvSpPr>
          <p:nvPr/>
        </p:nvSpPr>
        <p:spPr bwMode="auto">
          <a:xfrm>
            <a:off x="688438" y="4077741"/>
            <a:ext cx="725752" cy="723900"/>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04167" name="Oval 7"/>
          <p:cNvSpPr>
            <a:spLocks noChangeArrowheads="1"/>
          </p:cNvSpPr>
          <p:nvPr/>
        </p:nvSpPr>
        <p:spPr bwMode="auto">
          <a:xfrm>
            <a:off x="7689709" y="4706391"/>
            <a:ext cx="725752" cy="723900"/>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04168" name="Line 8"/>
          <p:cNvSpPr>
            <a:spLocks noChangeShapeType="1"/>
          </p:cNvSpPr>
          <p:nvPr/>
        </p:nvSpPr>
        <p:spPr bwMode="auto">
          <a:xfrm>
            <a:off x="3696353" y="2874416"/>
            <a:ext cx="725752"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69" name="Line 9"/>
          <p:cNvSpPr>
            <a:spLocks noChangeShapeType="1"/>
          </p:cNvSpPr>
          <p:nvPr/>
        </p:nvSpPr>
        <p:spPr bwMode="auto">
          <a:xfrm flipH="1">
            <a:off x="4855493" y="2874416"/>
            <a:ext cx="871935"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0" name="Line 10"/>
          <p:cNvSpPr>
            <a:spLocks noChangeShapeType="1"/>
          </p:cNvSpPr>
          <p:nvPr/>
        </p:nvSpPr>
        <p:spPr bwMode="auto">
          <a:xfrm flipH="1">
            <a:off x="1233611" y="3657055"/>
            <a:ext cx="636323" cy="4778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1" name="Line 11"/>
          <p:cNvSpPr>
            <a:spLocks noChangeShapeType="1"/>
          </p:cNvSpPr>
          <p:nvPr/>
        </p:nvSpPr>
        <p:spPr bwMode="auto">
          <a:xfrm>
            <a:off x="3806419" y="2764879"/>
            <a:ext cx="1761067" cy="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2" name="Line 12"/>
          <p:cNvSpPr>
            <a:spLocks noChangeShapeType="1"/>
          </p:cNvSpPr>
          <p:nvPr/>
        </p:nvSpPr>
        <p:spPr bwMode="auto">
          <a:xfrm>
            <a:off x="6869369" y="4706391"/>
            <a:ext cx="818621"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3" name="Line 13"/>
          <p:cNvSpPr>
            <a:spLocks noChangeShapeType="1"/>
          </p:cNvSpPr>
          <p:nvPr/>
        </p:nvSpPr>
        <p:spPr bwMode="auto">
          <a:xfrm>
            <a:off x="1415909" y="4515891"/>
            <a:ext cx="816902"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4" name="Line 14"/>
          <p:cNvSpPr>
            <a:spLocks noChangeShapeType="1"/>
          </p:cNvSpPr>
          <p:nvPr/>
        </p:nvSpPr>
        <p:spPr bwMode="auto">
          <a:xfrm flipH="1">
            <a:off x="330440" y="4798095"/>
            <a:ext cx="662120" cy="7191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5" name="Line 15"/>
          <p:cNvSpPr>
            <a:spLocks noChangeShapeType="1"/>
          </p:cNvSpPr>
          <p:nvPr/>
        </p:nvSpPr>
        <p:spPr bwMode="auto">
          <a:xfrm flipV="1">
            <a:off x="7049946" y="5279479"/>
            <a:ext cx="708554" cy="38100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6" name="Line 16"/>
          <p:cNvSpPr>
            <a:spLocks noChangeShapeType="1"/>
          </p:cNvSpPr>
          <p:nvPr/>
        </p:nvSpPr>
        <p:spPr bwMode="auto">
          <a:xfrm>
            <a:off x="8415461" y="5087391"/>
            <a:ext cx="816902"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77" name="Text Box 17"/>
          <p:cNvSpPr txBox="1">
            <a:spLocks noChangeArrowheads="1"/>
          </p:cNvSpPr>
          <p:nvPr/>
        </p:nvSpPr>
        <p:spPr bwMode="auto">
          <a:xfrm>
            <a:off x="1820061" y="3645942"/>
            <a:ext cx="15810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BGP </a:t>
            </a:r>
            <a:r>
              <a:rPr kumimoji="1" lang="zh-CN" altLang="en-US" sz="2000" b="1">
                <a:solidFill>
                  <a:srgbClr val="0000CC"/>
                </a:solidFill>
                <a:latin typeface="+mn-lt"/>
                <a:ea typeface="黑体" panose="02010609060101010101" pitchFamily="2" charset="-122"/>
              </a:rPr>
              <a:t>发言人</a:t>
            </a:r>
          </a:p>
        </p:txBody>
      </p:sp>
      <p:sp>
        <p:nvSpPr>
          <p:cNvPr id="604178" name="Text Box 18"/>
          <p:cNvSpPr txBox="1">
            <a:spLocks noChangeArrowheads="1"/>
          </p:cNvSpPr>
          <p:nvPr/>
        </p:nvSpPr>
        <p:spPr bwMode="auto">
          <a:xfrm>
            <a:off x="3794569" y="2067966"/>
            <a:ext cx="95410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CC"/>
                </a:solidFill>
                <a:latin typeface="+mn-lt"/>
                <a:ea typeface="黑体" panose="02010609060101010101" pitchFamily="2" charset="-122"/>
              </a:rPr>
              <a:t>BGP</a:t>
            </a:r>
          </a:p>
          <a:p>
            <a:pPr algn="ctr">
              <a:lnSpc>
                <a:spcPct val="90000"/>
              </a:lnSpc>
            </a:pPr>
            <a:r>
              <a:rPr kumimoji="1" lang="zh-CN" altLang="en-US" sz="2000" b="1">
                <a:solidFill>
                  <a:srgbClr val="0000CC"/>
                </a:solidFill>
                <a:latin typeface="+mn-lt"/>
                <a:ea typeface="黑体" panose="02010609060101010101" pitchFamily="2" charset="-122"/>
              </a:rPr>
              <a:t>发言人</a:t>
            </a:r>
          </a:p>
        </p:txBody>
      </p:sp>
      <p:sp>
        <p:nvSpPr>
          <p:cNvPr id="604179" name="Text Box 19"/>
          <p:cNvSpPr txBox="1">
            <a:spLocks noChangeArrowheads="1"/>
          </p:cNvSpPr>
          <p:nvPr/>
        </p:nvSpPr>
        <p:spPr bwMode="auto">
          <a:xfrm>
            <a:off x="5049830" y="3285579"/>
            <a:ext cx="1581074" cy="400110"/>
          </a:xfrm>
          <a:prstGeom prst="rect">
            <a:avLst/>
          </a:prstGeom>
          <a:noFill/>
          <a:ln>
            <a:noFill/>
          </a:ln>
          <a:effectLst/>
        </p:spPr>
        <p:txBody>
          <a:bodyPr wrap="none">
            <a:spAutoFit/>
          </a:bodyPr>
          <a:lstStyle/>
          <a:p>
            <a:r>
              <a:rPr kumimoji="1" lang="en-US" altLang="zh-CN" sz="2000" b="1" dirty="0">
                <a:solidFill>
                  <a:srgbClr val="0000CC"/>
                </a:solidFill>
                <a:latin typeface="+mn-lt"/>
                <a:ea typeface="黑体" panose="02010609060101010101" pitchFamily="2" charset="-122"/>
              </a:rPr>
              <a:t>BGP </a:t>
            </a:r>
            <a:r>
              <a:rPr kumimoji="1" lang="zh-CN" altLang="en-US" sz="2000" b="1" dirty="0">
                <a:solidFill>
                  <a:srgbClr val="0000CC"/>
                </a:solidFill>
                <a:latin typeface="+mn-lt"/>
                <a:ea typeface="黑体" panose="02010609060101010101" pitchFamily="2" charset="-122"/>
              </a:rPr>
              <a:t>发言人</a:t>
            </a:r>
          </a:p>
        </p:txBody>
      </p:sp>
      <p:sp>
        <p:nvSpPr>
          <p:cNvPr id="604180" name="Text Box 20"/>
          <p:cNvSpPr txBox="1">
            <a:spLocks noChangeArrowheads="1"/>
          </p:cNvSpPr>
          <p:nvPr/>
        </p:nvSpPr>
        <p:spPr bwMode="auto">
          <a:xfrm>
            <a:off x="6656115" y="4077742"/>
            <a:ext cx="15810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BGP </a:t>
            </a:r>
            <a:r>
              <a:rPr kumimoji="1" lang="zh-CN" altLang="en-US" sz="2000" b="1">
                <a:solidFill>
                  <a:srgbClr val="0000CC"/>
                </a:solidFill>
                <a:latin typeface="+mn-lt"/>
                <a:ea typeface="黑体" panose="02010609060101010101" pitchFamily="2" charset="-122"/>
              </a:rPr>
              <a:t>发言人</a:t>
            </a:r>
          </a:p>
        </p:txBody>
      </p:sp>
      <p:sp>
        <p:nvSpPr>
          <p:cNvPr id="604181" name="Text Box 21"/>
          <p:cNvSpPr txBox="1">
            <a:spLocks noChangeArrowheads="1"/>
          </p:cNvSpPr>
          <p:nvPr/>
        </p:nvSpPr>
        <p:spPr bwMode="auto">
          <a:xfrm>
            <a:off x="4792909" y="1925092"/>
            <a:ext cx="95410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CC"/>
                </a:solidFill>
                <a:latin typeface="+mn-lt"/>
                <a:ea typeface="黑体" panose="02010609060101010101" pitchFamily="2" charset="-122"/>
              </a:rPr>
              <a:t>BGP</a:t>
            </a:r>
          </a:p>
          <a:p>
            <a:pPr algn="ctr">
              <a:lnSpc>
                <a:spcPct val="90000"/>
              </a:lnSpc>
            </a:pPr>
            <a:r>
              <a:rPr kumimoji="1" lang="zh-CN" altLang="en-US" sz="2000" b="1">
                <a:solidFill>
                  <a:srgbClr val="0000CC"/>
                </a:solidFill>
                <a:latin typeface="+mn-lt"/>
                <a:ea typeface="黑体" panose="02010609060101010101" pitchFamily="2" charset="-122"/>
              </a:rPr>
              <a:t>发言人</a:t>
            </a:r>
          </a:p>
        </p:txBody>
      </p:sp>
      <p:sp>
        <p:nvSpPr>
          <p:cNvPr id="604182" name="Line 22"/>
          <p:cNvSpPr>
            <a:spLocks noChangeShapeType="1"/>
          </p:cNvSpPr>
          <p:nvPr/>
        </p:nvSpPr>
        <p:spPr bwMode="auto">
          <a:xfrm>
            <a:off x="5945841" y="2756941"/>
            <a:ext cx="1014677" cy="3587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3" name="Line 23"/>
          <p:cNvSpPr>
            <a:spLocks noChangeShapeType="1"/>
          </p:cNvSpPr>
          <p:nvPr/>
        </p:nvSpPr>
        <p:spPr bwMode="auto">
          <a:xfrm>
            <a:off x="4712750" y="3691980"/>
            <a:ext cx="433388" cy="6699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4" name="Oval 24"/>
          <p:cNvSpPr>
            <a:spLocks noChangeArrowheads="1"/>
          </p:cNvSpPr>
          <p:nvPr/>
        </p:nvSpPr>
        <p:spPr bwMode="auto">
          <a:xfrm>
            <a:off x="2960282" y="3618954"/>
            <a:ext cx="3726789" cy="2043112"/>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04185" name="Line 25"/>
          <p:cNvSpPr>
            <a:spLocks noChangeShapeType="1"/>
          </p:cNvSpPr>
          <p:nvPr/>
        </p:nvSpPr>
        <p:spPr bwMode="auto">
          <a:xfrm>
            <a:off x="5687871" y="4134891"/>
            <a:ext cx="908050" cy="3810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6" name="Line 26"/>
          <p:cNvSpPr>
            <a:spLocks noChangeShapeType="1"/>
          </p:cNvSpPr>
          <p:nvPr/>
        </p:nvSpPr>
        <p:spPr bwMode="auto">
          <a:xfrm flipH="1">
            <a:off x="5687872" y="4515891"/>
            <a:ext cx="1090348" cy="7635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7" name="Line 27"/>
          <p:cNvSpPr>
            <a:spLocks noChangeShapeType="1"/>
          </p:cNvSpPr>
          <p:nvPr/>
        </p:nvSpPr>
        <p:spPr bwMode="auto">
          <a:xfrm>
            <a:off x="4778102" y="4420641"/>
            <a:ext cx="727471" cy="66675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8" name="Line 28"/>
          <p:cNvSpPr>
            <a:spLocks noChangeShapeType="1"/>
          </p:cNvSpPr>
          <p:nvPr/>
        </p:nvSpPr>
        <p:spPr bwMode="auto">
          <a:xfrm flipV="1">
            <a:off x="4870971" y="4228555"/>
            <a:ext cx="724032" cy="1920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89" name="Line 29"/>
          <p:cNvSpPr>
            <a:spLocks noChangeShapeType="1"/>
          </p:cNvSpPr>
          <p:nvPr/>
        </p:nvSpPr>
        <p:spPr bwMode="auto">
          <a:xfrm flipH="1">
            <a:off x="3598326" y="4420642"/>
            <a:ext cx="1179777" cy="1492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0" name="Line 30"/>
          <p:cNvSpPr>
            <a:spLocks noChangeShapeType="1"/>
          </p:cNvSpPr>
          <p:nvPr/>
        </p:nvSpPr>
        <p:spPr bwMode="auto">
          <a:xfrm>
            <a:off x="3598325" y="4612730"/>
            <a:ext cx="724032" cy="7635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1" name="Line 31"/>
          <p:cNvSpPr>
            <a:spLocks noChangeShapeType="1"/>
          </p:cNvSpPr>
          <p:nvPr/>
        </p:nvSpPr>
        <p:spPr bwMode="auto">
          <a:xfrm flipV="1">
            <a:off x="4415226" y="5279480"/>
            <a:ext cx="1090348" cy="968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2" name="Line 32"/>
          <p:cNvSpPr>
            <a:spLocks noChangeShapeType="1"/>
          </p:cNvSpPr>
          <p:nvPr/>
        </p:nvSpPr>
        <p:spPr bwMode="auto">
          <a:xfrm>
            <a:off x="7687990" y="2066380"/>
            <a:ext cx="414469" cy="12096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3" name="Line 33"/>
          <p:cNvSpPr>
            <a:spLocks noChangeShapeType="1"/>
          </p:cNvSpPr>
          <p:nvPr/>
        </p:nvSpPr>
        <p:spPr bwMode="auto">
          <a:xfrm>
            <a:off x="7049947" y="3115716"/>
            <a:ext cx="1000919" cy="1920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4" name="Line 34"/>
          <p:cNvSpPr>
            <a:spLocks noChangeShapeType="1"/>
          </p:cNvSpPr>
          <p:nvPr/>
        </p:nvSpPr>
        <p:spPr bwMode="auto">
          <a:xfrm>
            <a:off x="7777419" y="1842541"/>
            <a:ext cx="818621" cy="968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5" name="Line 35"/>
          <p:cNvSpPr>
            <a:spLocks noChangeShapeType="1"/>
          </p:cNvSpPr>
          <p:nvPr/>
        </p:nvSpPr>
        <p:spPr bwMode="auto">
          <a:xfrm>
            <a:off x="3051431" y="2129880"/>
            <a:ext cx="426508" cy="4460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6" name="Line 36"/>
          <p:cNvSpPr>
            <a:spLocks noChangeShapeType="1"/>
          </p:cNvSpPr>
          <p:nvPr/>
        </p:nvSpPr>
        <p:spPr bwMode="auto">
          <a:xfrm flipV="1">
            <a:off x="2415109" y="2725192"/>
            <a:ext cx="1062831" cy="3587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7" name="Line 37"/>
          <p:cNvSpPr>
            <a:spLocks noChangeShapeType="1"/>
          </p:cNvSpPr>
          <p:nvPr/>
        </p:nvSpPr>
        <p:spPr bwMode="auto">
          <a:xfrm flipH="1">
            <a:off x="2052232" y="3083966"/>
            <a:ext cx="362877" cy="4778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8" name="Line 38"/>
          <p:cNvSpPr>
            <a:spLocks noChangeShapeType="1"/>
          </p:cNvSpPr>
          <p:nvPr/>
        </p:nvSpPr>
        <p:spPr bwMode="auto">
          <a:xfrm flipV="1">
            <a:off x="1142462" y="3083966"/>
            <a:ext cx="1183217"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199" name="Line 39"/>
          <p:cNvSpPr>
            <a:spLocks noChangeShapeType="1"/>
          </p:cNvSpPr>
          <p:nvPr/>
        </p:nvSpPr>
        <p:spPr bwMode="auto">
          <a:xfrm>
            <a:off x="960164" y="2415629"/>
            <a:ext cx="144463" cy="5953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00" name="Line 40"/>
          <p:cNvSpPr>
            <a:spLocks noChangeShapeType="1"/>
          </p:cNvSpPr>
          <p:nvPr/>
        </p:nvSpPr>
        <p:spPr bwMode="auto">
          <a:xfrm flipV="1">
            <a:off x="960165" y="1842541"/>
            <a:ext cx="1000919" cy="4778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01" name="Line 41"/>
          <p:cNvSpPr>
            <a:spLocks noChangeShapeType="1"/>
          </p:cNvSpPr>
          <p:nvPr/>
        </p:nvSpPr>
        <p:spPr bwMode="auto">
          <a:xfrm>
            <a:off x="1961084" y="1842541"/>
            <a:ext cx="909769" cy="2873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02" name="Line 42"/>
          <p:cNvSpPr>
            <a:spLocks noChangeShapeType="1"/>
          </p:cNvSpPr>
          <p:nvPr/>
        </p:nvSpPr>
        <p:spPr bwMode="auto">
          <a:xfrm flipV="1">
            <a:off x="6778220" y="1874291"/>
            <a:ext cx="816902" cy="1920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03" name="Line 43"/>
          <p:cNvSpPr>
            <a:spLocks noChangeShapeType="1"/>
          </p:cNvSpPr>
          <p:nvPr/>
        </p:nvSpPr>
        <p:spPr bwMode="auto">
          <a:xfrm>
            <a:off x="6778219" y="2161630"/>
            <a:ext cx="364596" cy="8604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604204"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78786" y="3371304"/>
            <a:ext cx="497019"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5"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82965" y="2575966"/>
            <a:ext cx="4953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3477" y="2575966"/>
            <a:ext cx="4953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43499" y="5279480"/>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0165" y="2990305"/>
            <a:ext cx="37491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209" name="Group 49"/>
          <p:cNvGrpSpPr/>
          <p:nvPr/>
        </p:nvGrpSpPr>
        <p:grpSpPr bwMode="auto">
          <a:xfrm>
            <a:off x="2597406" y="1842541"/>
            <a:ext cx="653521" cy="522288"/>
            <a:chOff x="2949" y="196"/>
            <a:chExt cx="941" cy="598"/>
          </a:xfrm>
        </p:grpSpPr>
        <p:sp>
          <p:nvSpPr>
            <p:cNvPr id="604210" name="Oval 5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1" name="Oval 5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2" name="Oval 5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3" name="Oval 5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4" name="Oval 5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5" name="Oval 5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6" name="Oval 5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7" name="Oval 5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18" name="Freeform 5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19" name="Freeform 5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20" name="Freeform 6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604221" name="Group 61"/>
          <p:cNvGrpSpPr/>
          <p:nvPr/>
        </p:nvGrpSpPr>
        <p:grpSpPr bwMode="auto">
          <a:xfrm>
            <a:off x="597288" y="2129879"/>
            <a:ext cx="653521" cy="520700"/>
            <a:chOff x="2949" y="196"/>
            <a:chExt cx="941" cy="598"/>
          </a:xfrm>
        </p:grpSpPr>
        <p:sp>
          <p:nvSpPr>
            <p:cNvPr id="604222" name="Oval 6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3" name="Oval 6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4" name="Oval 6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5" name="Oval 6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6" name="Oval 6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7" name="Oval 6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8" name="Oval 6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29" name="Oval 6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0" name="Freeform 7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31" name="Freeform 7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32" name="Freeform 7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604233" name="Group 73"/>
          <p:cNvGrpSpPr/>
          <p:nvPr/>
        </p:nvGrpSpPr>
        <p:grpSpPr bwMode="auto">
          <a:xfrm>
            <a:off x="5232128" y="4992141"/>
            <a:ext cx="655240" cy="522288"/>
            <a:chOff x="2949" y="196"/>
            <a:chExt cx="941" cy="598"/>
          </a:xfrm>
        </p:grpSpPr>
        <p:sp>
          <p:nvSpPr>
            <p:cNvPr id="604234" name="Oval 7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5" name="Oval 7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6" name="Oval 7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7" name="Oval 7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8" name="Oval 7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39" name="Oval 7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0" name="Oval 8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1" name="Oval 8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2" name="Freeform 8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43" name="Freeform 8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44" name="Freeform 8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604245" name="Group 85"/>
          <p:cNvGrpSpPr/>
          <p:nvPr/>
        </p:nvGrpSpPr>
        <p:grpSpPr bwMode="auto">
          <a:xfrm>
            <a:off x="7323394" y="1653630"/>
            <a:ext cx="653521" cy="522287"/>
            <a:chOff x="2949" y="196"/>
            <a:chExt cx="941" cy="598"/>
          </a:xfrm>
        </p:grpSpPr>
        <p:sp>
          <p:nvSpPr>
            <p:cNvPr id="604246" name="Oval 8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7" name="Oval 8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8" name="Oval 8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49" name="Oval 8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0" name="Oval 9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1" name="Oval 9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2" name="Oval 9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3" name="Oval 9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4" name="Freeform 9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55" name="Freeform 9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56" name="Freeform 9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604257" name="Group 97"/>
          <p:cNvGrpSpPr/>
          <p:nvPr/>
        </p:nvGrpSpPr>
        <p:grpSpPr bwMode="auto">
          <a:xfrm>
            <a:off x="6778219" y="2798216"/>
            <a:ext cx="653521" cy="522288"/>
            <a:chOff x="2949" y="196"/>
            <a:chExt cx="941" cy="598"/>
          </a:xfrm>
        </p:grpSpPr>
        <p:sp>
          <p:nvSpPr>
            <p:cNvPr id="604258" name="Oval 98"/>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59" name="Oval 99"/>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0" name="Oval 100"/>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1" name="Oval 101"/>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2" name="Oval 102"/>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3" name="Oval 103"/>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4" name="Oval 104"/>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5" name="Oval 105"/>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66" name="Freeform 106"/>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67" name="Freeform 107"/>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68" name="Freeform 108"/>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604269" name="Text Box 109"/>
          <p:cNvSpPr txBox="1">
            <a:spLocks noChangeArrowheads="1"/>
          </p:cNvSpPr>
          <p:nvPr/>
        </p:nvSpPr>
        <p:spPr bwMode="auto">
          <a:xfrm>
            <a:off x="1415909" y="2110830"/>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1</a:t>
            </a:r>
          </a:p>
        </p:txBody>
      </p:sp>
      <p:sp>
        <p:nvSpPr>
          <p:cNvPr id="604270" name="Text Box 110"/>
          <p:cNvSpPr txBox="1">
            <a:spLocks noChangeArrowheads="1"/>
          </p:cNvSpPr>
          <p:nvPr/>
        </p:nvSpPr>
        <p:spPr bwMode="auto">
          <a:xfrm>
            <a:off x="4040311" y="3923755"/>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3</a:t>
            </a:r>
          </a:p>
        </p:txBody>
      </p:sp>
      <p:sp>
        <p:nvSpPr>
          <p:cNvPr id="604271" name="Text Box 111"/>
          <p:cNvSpPr txBox="1">
            <a:spLocks noChangeArrowheads="1"/>
          </p:cNvSpPr>
          <p:nvPr/>
        </p:nvSpPr>
        <p:spPr bwMode="auto">
          <a:xfrm>
            <a:off x="7959717" y="2175917"/>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2</a:t>
            </a:r>
          </a:p>
        </p:txBody>
      </p:sp>
      <p:sp>
        <p:nvSpPr>
          <p:cNvPr id="604272" name="Text Box 112"/>
          <p:cNvSpPr txBox="1">
            <a:spLocks noChangeArrowheads="1"/>
          </p:cNvSpPr>
          <p:nvPr/>
        </p:nvSpPr>
        <p:spPr bwMode="auto">
          <a:xfrm>
            <a:off x="7782578" y="4869905"/>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5</a:t>
            </a:r>
          </a:p>
        </p:txBody>
      </p:sp>
      <p:sp>
        <p:nvSpPr>
          <p:cNvPr id="604273" name="Text Box 113"/>
          <p:cNvSpPr txBox="1">
            <a:spLocks noChangeArrowheads="1"/>
          </p:cNvSpPr>
          <p:nvPr/>
        </p:nvSpPr>
        <p:spPr bwMode="auto">
          <a:xfrm>
            <a:off x="760669" y="4258716"/>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4</a:t>
            </a:r>
          </a:p>
        </p:txBody>
      </p:sp>
      <p:pic>
        <p:nvPicPr>
          <p:cNvPr id="604274"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15344" y="4420642"/>
            <a:ext cx="497019" cy="341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4275" name="Line 115"/>
          <p:cNvSpPr>
            <a:spLocks noChangeShapeType="1"/>
          </p:cNvSpPr>
          <p:nvPr/>
        </p:nvSpPr>
        <p:spPr bwMode="auto">
          <a:xfrm>
            <a:off x="4712750" y="3691980"/>
            <a:ext cx="885692" cy="3460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nvGrpSpPr>
          <p:cNvPr id="604276" name="Group 116"/>
          <p:cNvGrpSpPr/>
          <p:nvPr/>
        </p:nvGrpSpPr>
        <p:grpSpPr bwMode="auto">
          <a:xfrm>
            <a:off x="5323275" y="3847554"/>
            <a:ext cx="653521" cy="520700"/>
            <a:chOff x="2949" y="196"/>
            <a:chExt cx="941" cy="598"/>
          </a:xfrm>
        </p:grpSpPr>
        <p:sp>
          <p:nvSpPr>
            <p:cNvPr id="604277" name="Oval 117"/>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78" name="Oval 118"/>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79" name="Oval 119"/>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0" name="Oval 120"/>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1" name="Oval 121"/>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2" name="Oval 122"/>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3" name="Oval 123"/>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4" name="Oval 124"/>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85" name="Freeform 125"/>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86" name="Freeform 126"/>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287" name="Freeform 127"/>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pic>
        <p:nvPicPr>
          <p:cNvPr id="604288"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22105" y="3469729"/>
            <a:ext cx="49702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89"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7524" y="4325391"/>
            <a:ext cx="374915" cy="21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290" name="Group 130"/>
          <p:cNvGrpSpPr/>
          <p:nvPr/>
        </p:nvGrpSpPr>
        <p:grpSpPr bwMode="auto">
          <a:xfrm>
            <a:off x="3142580" y="4325391"/>
            <a:ext cx="653521" cy="522288"/>
            <a:chOff x="2949" y="196"/>
            <a:chExt cx="941" cy="598"/>
          </a:xfrm>
        </p:grpSpPr>
        <p:sp>
          <p:nvSpPr>
            <p:cNvPr id="604291" name="Oval 131"/>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2" name="Oval 132"/>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3" name="Oval 133"/>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4" name="Oval 134"/>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5" name="Oval 135"/>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6" name="Oval 136"/>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7" name="Oval 137"/>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8" name="Oval 138"/>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299" name="Freeform 139"/>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00" name="Freeform 140"/>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01" name="Freeform 141"/>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604302" name="Line 142"/>
          <p:cNvSpPr>
            <a:spLocks noChangeShapeType="1"/>
          </p:cNvSpPr>
          <p:nvPr/>
        </p:nvSpPr>
        <p:spPr bwMode="auto">
          <a:xfrm>
            <a:off x="1961084" y="1842542"/>
            <a:ext cx="545173" cy="114776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604303" name="Picture 1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78786" y="1748880"/>
            <a:ext cx="37491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304" name="Group 144"/>
          <p:cNvGrpSpPr/>
          <p:nvPr/>
        </p:nvGrpSpPr>
        <p:grpSpPr bwMode="auto">
          <a:xfrm>
            <a:off x="2143381" y="2798217"/>
            <a:ext cx="653521" cy="519113"/>
            <a:chOff x="2949" y="196"/>
            <a:chExt cx="941" cy="598"/>
          </a:xfrm>
        </p:grpSpPr>
        <p:sp>
          <p:nvSpPr>
            <p:cNvPr id="604305" name="Oval 145"/>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06" name="Oval 146"/>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07" name="Oval 147"/>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08" name="Oval 148"/>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09" name="Oval 149"/>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10" name="Oval 150"/>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11" name="Oval 151"/>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12" name="Oval 152"/>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13" name="Freeform 153"/>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14" name="Freeform 154"/>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15" name="Freeform 155"/>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
        <p:nvSpPr>
          <p:cNvPr id="604316" name="Line 156"/>
          <p:cNvSpPr>
            <a:spLocks noChangeShapeType="1"/>
          </p:cNvSpPr>
          <p:nvPr/>
        </p:nvSpPr>
        <p:spPr bwMode="auto">
          <a:xfrm>
            <a:off x="8687189" y="2034629"/>
            <a:ext cx="636323" cy="5715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17" name="Line 157"/>
          <p:cNvSpPr>
            <a:spLocks noChangeShapeType="1"/>
          </p:cNvSpPr>
          <p:nvPr/>
        </p:nvSpPr>
        <p:spPr bwMode="auto">
          <a:xfrm flipH="1">
            <a:off x="8138576" y="2637879"/>
            <a:ext cx="1090348" cy="6699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18" name="Line 158"/>
          <p:cNvSpPr>
            <a:spLocks noChangeShapeType="1"/>
          </p:cNvSpPr>
          <p:nvPr/>
        </p:nvSpPr>
        <p:spPr bwMode="auto">
          <a:xfrm flipV="1">
            <a:off x="6322476" y="2066380"/>
            <a:ext cx="455744" cy="1920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pic>
        <p:nvPicPr>
          <p:cNvPr id="604319" name="Picture 1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58249" y="3179217"/>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320" name="Picture 1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5461" y="1842542"/>
            <a:ext cx="37663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321" name="Group 161"/>
          <p:cNvGrpSpPr/>
          <p:nvPr/>
        </p:nvGrpSpPr>
        <p:grpSpPr bwMode="auto">
          <a:xfrm>
            <a:off x="8960635" y="2320379"/>
            <a:ext cx="651801" cy="520700"/>
            <a:chOff x="2949" y="196"/>
            <a:chExt cx="941" cy="598"/>
          </a:xfrm>
        </p:grpSpPr>
        <p:sp>
          <p:nvSpPr>
            <p:cNvPr id="604322" name="Oval 16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3" name="Oval 16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4" name="Oval 16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5" name="Oval 16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6" name="Oval 16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7" name="Oval 16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8" name="Oval 16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29" name="Oval 16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0" name="Freeform 17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31" name="Freeform 17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32" name="Freeform 17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nvGrpSpPr>
          <p:cNvPr id="604333" name="Group 173"/>
          <p:cNvGrpSpPr/>
          <p:nvPr/>
        </p:nvGrpSpPr>
        <p:grpSpPr bwMode="auto">
          <a:xfrm>
            <a:off x="5870169" y="1939380"/>
            <a:ext cx="653521" cy="522287"/>
            <a:chOff x="2949" y="196"/>
            <a:chExt cx="941" cy="598"/>
          </a:xfrm>
        </p:grpSpPr>
        <p:sp>
          <p:nvSpPr>
            <p:cNvPr id="604334" name="Oval 17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5" name="Oval 17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6" name="Oval 17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7" name="Oval 17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8" name="Oval 17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39" name="Oval 17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40" name="Oval 18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41" name="Oval 18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04342" name="Freeform 18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43" name="Freeform 18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4344" name="Freeform 18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pic>
        <p:nvPicPr>
          <p:cNvPr id="604345" name="Picture 18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95922" y="1939380"/>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ChangeArrowheads="1"/>
          </p:cNvSpPr>
          <p:nvPr>
            <p:ph type="title"/>
          </p:nvPr>
        </p:nvSpPr>
        <p:spPr/>
        <p:txBody>
          <a:bodyPr/>
          <a:lstStyle/>
          <a:p>
            <a:pPr algn="ctr"/>
            <a:r>
              <a:rPr lang="en-US" altLang="zh-CN" dirty="0"/>
              <a:t>AS </a:t>
            </a:r>
            <a:r>
              <a:rPr lang="zh-CN" altLang="en-US" dirty="0"/>
              <a:t>的连通图举例 </a:t>
            </a:r>
          </a:p>
        </p:txBody>
      </p:sp>
      <p:sp>
        <p:nvSpPr>
          <p:cNvPr id="605187" name="Rectangle 3"/>
          <p:cNvSpPr>
            <a:spLocks noGrp="1" noChangeArrowheads="1"/>
          </p:cNvSpPr>
          <p:nvPr>
            <p:ph idx="1"/>
          </p:nvPr>
        </p:nvSpPr>
        <p:spPr/>
        <p:txBody>
          <a:bodyPr/>
          <a:lstStyle/>
          <a:p>
            <a:r>
              <a:rPr lang="en-US" altLang="zh-CN" sz="2800" dirty="0"/>
              <a:t>BGP </a:t>
            </a:r>
            <a:r>
              <a:rPr lang="zh-CN" altLang="en-US" sz="2800" dirty="0"/>
              <a:t>所交换的网络可达性的信息就是</a:t>
            </a:r>
            <a:r>
              <a:rPr lang="zh-CN" altLang="en-US" sz="2800" dirty="0">
                <a:solidFill>
                  <a:srgbClr val="FF0000"/>
                </a:solidFill>
              </a:rPr>
              <a:t>要到达某个网络所要经过的一系列 </a:t>
            </a:r>
            <a:r>
              <a:rPr lang="en-US" altLang="zh-CN" sz="2800" dirty="0">
                <a:solidFill>
                  <a:srgbClr val="FF0000"/>
                </a:solidFill>
              </a:rPr>
              <a:t>AS</a:t>
            </a:r>
            <a:r>
              <a:rPr lang="zh-CN" altLang="en-US" sz="2800" dirty="0">
                <a:solidFill>
                  <a:srgbClr val="FF0000"/>
                </a:solidFill>
              </a:rPr>
              <a:t>。</a:t>
            </a:r>
          </a:p>
          <a:p>
            <a:r>
              <a:rPr lang="zh-CN" altLang="en-US" sz="2800" dirty="0"/>
              <a:t>当 </a:t>
            </a:r>
            <a:r>
              <a:rPr lang="en-US" altLang="zh-CN" sz="2800" dirty="0"/>
              <a:t>BGP </a:t>
            </a:r>
            <a:r>
              <a:rPr lang="zh-CN" altLang="en-US" sz="2800" dirty="0"/>
              <a:t>发言人互相交换了网络可达性的信息后，各 </a:t>
            </a:r>
            <a:r>
              <a:rPr lang="en-US" altLang="zh-CN" sz="2800" dirty="0"/>
              <a:t>BGP </a:t>
            </a:r>
            <a:r>
              <a:rPr lang="zh-CN" altLang="en-US" sz="2800" dirty="0"/>
              <a:t>发言人就根据所采用的策略从收到的路由信息中找出到达各 </a:t>
            </a:r>
            <a:r>
              <a:rPr lang="en-US" altLang="zh-CN" sz="2800" dirty="0"/>
              <a:t>AS </a:t>
            </a:r>
            <a:r>
              <a:rPr lang="zh-CN" altLang="en-US" sz="2800" dirty="0"/>
              <a:t>的较好路由。 </a:t>
            </a:r>
          </a:p>
        </p:txBody>
      </p:sp>
      <p:grpSp>
        <p:nvGrpSpPr>
          <p:cNvPr id="605217" name="Group 33"/>
          <p:cNvGrpSpPr/>
          <p:nvPr/>
        </p:nvGrpSpPr>
        <p:grpSpPr bwMode="auto">
          <a:xfrm>
            <a:off x="2455863" y="3645024"/>
            <a:ext cx="5382948" cy="2117725"/>
            <a:chOff x="1791" y="2822"/>
            <a:chExt cx="2495" cy="1062"/>
          </a:xfrm>
          <a:solidFill>
            <a:srgbClr val="FF66FF"/>
          </a:solidFill>
        </p:grpSpPr>
        <p:sp>
          <p:nvSpPr>
            <p:cNvPr id="605203" name="Line 19"/>
            <p:cNvSpPr>
              <a:spLocks noChangeShapeType="1"/>
            </p:cNvSpPr>
            <p:nvPr/>
          </p:nvSpPr>
          <p:spPr bwMode="auto">
            <a:xfrm>
              <a:off x="2154" y="3566"/>
              <a:ext cx="363" cy="227"/>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4" name="Line 20"/>
            <p:cNvSpPr>
              <a:spLocks noChangeShapeType="1"/>
            </p:cNvSpPr>
            <p:nvPr/>
          </p:nvSpPr>
          <p:spPr bwMode="auto">
            <a:xfrm flipH="1">
              <a:off x="1791" y="3612"/>
              <a:ext cx="273" cy="227"/>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5" name="Line 21"/>
            <p:cNvSpPr>
              <a:spLocks noChangeShapeType="1"/>
            </p:cNvSpPr>
            <p:nvPr/>
          </p:nvSpPr>
          <p:spPr bwMode="auto">
            <a:xfrm flipH="1">
              <a:off x="3469" y="3657"/>
              <a:ext cx="273" cy="227"/>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6" name="Line 22"/>
            <p:cNvSpPr>
              <a:spLocks noChangeShapeType="1"/>
            </p:cNvSpPr>
            <p:nvPr/>
          </p:nvSpPr>
          <p:spPr bwMode="auto">
            <a:xfrm flipV="1">
              <a:off x="2410" y="2977"/>
              <a:ext cx="1059" cy="36"/>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7" name="Line 23"/>
            <p:cNvSpPr>
              <a:spLocks noChangeShapeType="1"/>
            </p:cNvSpPr>
            <p:nvPr/>
          </p:nvSpPr>
          <p:spPr bwMode="auto">
            <a:xfrm>
              <a:off x="3560" y="2977"/>
              <a:ext cx="544" cy="181"/>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8" name="Line 24"/>
            <p:cNvSpPr>
              <a:spLocks noChangeShapeType="1"/>
            </p:cNvSpPr>
            <p:nvPr/>
          </p:nvSpPr>
          <p:spPr bwMode="auto">
            <a:xfrm>
              <a:off x="2387" y="3044"/>
              <a:ext cx="538" cy="295"/>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09" name="Line 25"/>
            <p:cNvSpPr>
              <a:spLocks noChangeShapeType="1"/>
            </p:cNvSpPr>
            <p:nvPr/>
          </p:nvSpPr>
          <p:spPr bwMode="auto">
            <a:xfrm>
              <a:off x="3016" y="3385"/>
              <a:ext cx="726" cy="227"/>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10" name="Line 26"/>
            <p:cNvSpPr>
              <a:spLocks noChangeShapeType="1"/>
            </p:cNvSpPr>
            <p:nvPr/>
          </p:nvSpPr>
          <p:spPr bwMode="auto">
            <a:xfrm>
              <a:off x="3878" y="3612"/>
              <a:ext cx="408" cy="46"/>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11" name="Line 27"/>
            <p:cNvSpPr>
              <a:spLocks noChangeShapeType="1"/>
            </p:cNvSpPr>
            <p:nvPr/>
          </p:nvSpPr>
          <p:spPr bwMode="auto">
            <a:xfrm flipV="1">
              <a:off x="2109" y="3067"/>
              <a:ext cx="226" cy="454"/>
            </a:xfrm>
            <a:prstGeom prst="line">
              <a:avLst/>
            </a:prstGeom>
            <a:grpFill/>
            <a:ln w="2857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5212" name="Oval 28"/>
            <p:cNvSpPr>
              <a:spLocks noChangeArrowheads="1"/>
            </p:cNvSpPr>
            <p:nvPr/>
          </p:nvSpPr>
          <p:spPr bwMode="auto">
            <a:xfrm>
              <a:off x="2199" y="2841"/>
              <a:ext cx="336" cy="336"/>
            </a:xfrm>
            <a:prstGeom prst="ellipse">
              <a:avLst/>
            </a:prstGeom>
            <a:grpFill/>
            <a:ln w="19050">
              <a:solidFill>
                <a:schemeClr val="tx1"/>
              </a:solidFill>
              <a:rou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anose="02010609060101010101" pitchFamily="2" charset="-122"/>
                </a:rPr>
                <a:t>AS</a:t>
              </a:r>
              <a:r>
                <a:rPr kumimoji="1" lang="en-US" altLang="zh-CN" sz="2400" b="1" baseline="-25000">
                  <a:solidFill>
                    <a:srgbClr val="0000CC"/>
                  </a:solidFill>
                  <a:latin typeface="+mn-lt"/>
                  <a:ea typeface="黑体" panose="02010609060101010101" pitchFamily="2" charset="-122"/>
                </a:rPr>
                <a:t>1</a:t>
              </a:r>
            </a:p>
          </p:txBody>
        </p:sp>
        <p:sp>
          <p:nvSpPr>
            <p:cNvPr id="605213" name="Oval 29"/>
            <p:cNvSpPr>
              <a:spLocks noChangeArrowheads="1"/>
            </p:cNvSpPr>
            <p:nvPr/>
          </p:nvSpPr>
          <p:spPr bwMode="auto">
            <a:xfrm>
              <a:off x="3360" y="2822"/>
              <a:ext cx="336" cy="336"/>
            </a:xfrm>
            <a:prstGeom prst="ellipse">
              <a:avLst/>
            </a:prstGeom>
            <a:grpFill/>
            <a:ln w="19050">
              <a:solidFill>
                <a:schemeClr val="tx1"/>
              </a:solidFill>
              <a:rou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anose="02010609060101010101" pitchFamily="2" charset="-122"/>
                </a:rPr>
                <a:t>AS</a:t>
              </a:r>
              <a:r>
                <a:rPr kumimoji="1" lang="en-US" altLang="zh-CN" sz="2400" b="1" baseline="-25000">
                  <a:solidFill>
                    <a:srgbClr val="0000CC"/>
                  </a:solidFill>
                  <a:latin typeface="+mn-lt"/>
                  <a:ea typeface="黑体" panose="02010609060101010101" pitchFamily="2" charset="-122"/>
                </a:rPr>
                <a:t>2</a:t>
              </a:r>
            </a:p>
          </p:txBody>
        </p:sp>
        <p:sp>
          <p:nvSpPr>
            <p:cNvPr id="605214" name="Oval 30"/>
            <p:cNvSpPr>
              <a:spLocks noChangeArrowheads="1"/>
            </p:cNvSpPr>
            <p:nvPr/>
          </p:nvSpPr>
          <p:spPr bwMode="auto">
            <a:xfrm>
              <a:off x="2819" y="3203"/>
              <a:ext cx="336" cy="336"/>
            </a:xfrm>
            <a:prstGeom prst="ellipse">
              <a:avLst/>
            </a:prstGeom>
            <a:grpFill/>
            <a:ln w="19050">
              <a:solidFill>
                <a:schemeClr val="tx1"/>
              </a:solidFill>
              <a:rou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anose="02010609060101010101" pitchFamily="2" charset="-122"/>
                </a:rPr>
                <a:t>AS</a:t>
              </a:r>
              <a:r>
                <a:rPr kumimoji="1" lang="en-US" altLang="zh-CN" sz="2400" b="1" baseline="-25000">
                  <a:solidFill>
                    <a:srgbClr val="0000CC"/>
                  </a:solidFill>
                  <a:latin typeface="+mn-lt"/>
                  <a:ea typeface="黑体" panose="02010609060101010101" pitchFamily="2" charset="-122"/>
                </a:rPr>
                <a:t>3</a:t>
              </a:r>
            </a:p>
          </p:txBody>
        </p:sp>
        <p:sp>
          <p:nvSpPr>
            <p:cNvPr id="605215" name="Oval 31"/>
            <p:cNvSpPr>
              <a:spLocks noChangeArrowheads="1"/>
            </p:cNvSpPr>
            <p:nvPr/>
          </p:nvSpPr>
          <p:spPr bwMode="auto">
            <a:xfrm>
              <a:off x="1927" y="3385"/>
              <a:ext cx="336" cy="336"/>
            </a:xfrm>
            <a:prstGeom prst="ellipse">
              <a:avLst/>
            </a:prstGeom>
            <a:grpFill/>
            <a:ln w="19050">
              <a:solidFill>
                <a:schemeClr val="tx1"/>
              </a:solidFill>
              <a:rou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anose="02010609060101010101" pitchFamily="2" charset="-122"/>
                </a:rPr>
                <a:t>AS</a:t>
              </a:r>
              <a:r>
                <a:rPr kumimoji="1" lang="en-US" altLang="zh-CN" sz="2400" b="1" baseline="-25000">
                  <a:solidFill>
                    <a:srgbClr val="0000CC"/>
                  </a:solidFill>
                  <a:latin typeface="+mn-lt"/>
                  <a:ea typeface="黑体" panose="02010609060101010101" pitchFamily="2" charset="-122"/>
                </a:rPr>
                <a:t>4</a:t>
              </a:r>
            </a:p>
          </p:txBody>
        </p:sp>
        <p:sp>
          <p:nvSpPr>
            <p:cNvPr id="605216" name="Oval 32"/>
            <p:cNvSpPr>
              <a:spLocks noChangeArrowheads="1"/>
            </p:cNvSpPr>
            <p:nvPr/>
          </p:nvSpPr>
          <p:spPr bwMode="auto">
            <a:xfrm>
              <a:off x="3632" y="3430"/>
              <a:ext cx="336" cy="336"/>
            </a:xfrm>
            <a:prstGeom prst="ellipse">
              <a:avLst/>
            </a:prstGeom>
            <a:grpFill/>
            <a:ln w="19050">
              <a:solidFill>
                <a:schemeClr val="tx1"/>
              </a:solidFill>
              <a:rou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anose="02010609060101010101" pitchFamily="2" charset="-122"/>
                </a:rPr>
                <a:t>AS</a:t>
              </a:r>
              <a:r>
                <a:rPr kumimoji="1" lang="en-US" altLang="zh-CN" sz="2400" b="1" baseline="-25000">
                  <a:solidFill>
                    <a:srgbClr val="0000CC"/>
                  </a:solidFill>
                  <a:latin typeface="+mn-lt"/>
                  <a:ea typeface="黑体" panose="02010609060101010101" pitchFamily="2" charset="-122"/>
                </a:rPr>
                <a:t>5</a:t>
              </a:r>
            </a:p>
          </p:txBody>
        </p:sp>
      </p:gr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ChangeArrowheads="1"/>
          </p:cNvSpPr>
          <p:nvPr>
            <p:ph type="title"/>
          </p:nvPr>
        </p:nvSpPr>
        <p:spPr/>
        <p:txBody>
          <a:bodyPr/>
          <a:lstStyle/>
          <a:p>
            <a:pPr algn="ctr"/>
            <a:r>
              <a:rPr lang="en-US" altLang="zh-CN" dirty="0"/>
              <a:t>BGP </a:t>
            </a:r>
            <a:r>
              <a:rPr lang="zh-CN" altLang="en-US" dirty="0"/>
              <a:t>发言人交换</a:t>
            </a:r>
            <a:r>
              <a:rPr lang="zh-CN" altLang="en-US" dirty="0">
                <a:solidFill>
                  <a:srgbClr val="FF0000"/>
                </a:solidFill>
              </a:rPr>
              <a:t>路径向量 </a:t>
            </a:r>
          </a:p>
        </p:txBody>
      </p:sp>
      <p:sp>
        <p:nvSpPr>
          <p:cNvPr id="606211" name="Line 3"/>
          <p:cNvSpPr>
            <a:spLocks noChangeShapeType="1"/>
          </p:cNvSpPr>
          <p:nvPr/>
        </p:nvSpPr>
        <p:spPr bwMode="auto">
          <a:xfrm flipV="1">
            <a:off x="2019036" y="3121372"/>
            <a:ext cx="1327679" cy="5349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2" name="Line 4"/>
          <p:cNvSpPr>
            <a:spLocks noChangeShapeType="1"/>
          </p:cNvSpPr>
          <p:nvPr/>
        </p:nvSpPr>
        <p:spPr bwMode="auto">
          <a:xfrm>
            <a:off x="2019036" y="4194523"/>
            <a:ext cx="1239970" cy="7651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3" name="Line 5"/>
          <p:cNvSpPr>
            <a:spLocks noChangeShapeType="1"/>
          </p:cNvSpPr>
          <p:nvPr/>
        </p:nvSpPr>
        <p:spPr bwMode="auto">
          <a:xfrm flipV="1">
            <a:off x="5204090" y="2586386"/>
            <a:ext cx="1150541" cy="3825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4" name="Line 6"/>
          <p:cNvSpPr>
            <a:spLocks noChangeShapeType="1"/>
          </p:cNvSpPr>
          <p:nvPr/>
        </p:nvSpPr>
        <p:spPr bwMode="auto">
          <a:xfrm>
            <a:off x="5116381" y="3121373"/>
            <a:ext cx="1150540" cy="4603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5" name="Line 7"/>
          <p:cNvSpPr>
            <a:spLocks noChangeShapeType="1"/>
          </p:cNvSpPr>
          <p:nvPr/>
        </p:nvSpPr>
        <p:spPr bwMode="auto">
          <a:xfrm flipV="1">
            <a:off x="5204090" y="4499322"/>
            <a:ext cx="1150541" cy="3825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6" name="Line 8"/>
          <p:cNvSpPr>
            <a:spLocks noChangeShapeType="1"/>
          </p:cNvSpPr>
          <p:nvPr/>
        </p:nvSpPr>
        <p:spPr bwMode="auto">
          <a:xfrm>
            <a:off x="5381229" y="5034310"/>
            <a:ext cx="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7" name="Line 9"/>
          <p:cNvSpPr>
            <a:spLocks noChangeShapeType="1"/>
          </p:cNvSpPr>
          <p:nvPr/>
        </p:nvSpPr>
        <p:spPr bwMode="auto">
          <a:xfrm>
            <a:off x="5204090" y="5189885"/>
            <a:ext cx="1150541" cy="3048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6218" name="Oval 10"/>
          <p:cNvSpPr>
            <a:spLocks noChangeArrowheads="1"/>
          </p:cNvSpPr>
          <p:nvPr/>
        </p:nvSpPr>
        <p:spPr bwMode="auto">
          <a:xfrm>
            <a:off x="2725870" y="2670522"/>
            <a:ext cx="2834217" cy="688975"/>
          </a:xfrm>
          <a:prstGeom prst="ellipse">
            <a:avLst/>
          </a:prstGeom>
          <a:solidFill>
            <a:srgbClr val="66FF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6219" name="Oval 11"/>
          <p:cNvSpPr>
            <a:spLocks noChangeArrowheads="1"/>
          </p:cNvSpPr>
          <p:nvPr/>
        </p:nvSpPr>
        <p:spPr bwMode="auto">
          <a:xfrm>
            <a:off x="2725870" y="4646961"/>
            <a:ext cx="2834217" cy="688975"/>
          </a:xfrm>
          <a:prstGeom prst="ellipse">
            <a:avLst/>
          </a:prstGeom>
          <a:solidFill>
            <a:srgbClr val="66FF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6220" name="Oval 12"/>
          <p:cNvSpPr>
            <a:spLocks noChangeArrowheads="1"/>
          </p:cNvSpPr>
          <p:nvPr/>
        </p:nvSpPr>
        <p:spPr bwMode="auto">
          <a:xfrm>
            <a:off x="247650" y="3429348"/>
            <a:ext cx="2565929" cy="1147763"/>
          </a:xfrm>
          <a:prstGeom prst="ellipse">
            <a:avLst/>
          </a:prstGeom>
          <a:solidFill>
            <a:srgbClr val="FF99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6221" name="Oval 13"/>
          <p:cNvSpPr>
            <a:spLocks noChangeArrowheads="1"/>
          </p:cNvSpPr>
          <p:nvPr/>
        </p:nvSpPr>
        <p:spPr bwMode="auto">
          <a:xfrm>
            <a:off x="5936721" y="2203798"/>
            <a:ext cx="3541052" cy="842963"/>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anose="02010609060101010101" pitchFamily="2" charset="-122"/>
            </a:endParaRPr>
          </a:p>
        </p:txBody>
      </p:sp>
      <p:sp>
        <p:nvSpPr>
          <p:cNvPr id="606222" name="Oval 14"/>
          <p:cNvSpPr>
            <a:spLocks noChangeArrowheads="1"/>
          </p:cNvSpPr>
          <p:nvPr/>
        </p:nvSpPr>
        <p:spPr bwMode="auto">
          <a:xfrm>
            <a:off x="5912644" y="3148361"/>
            <a:ext cx="3541052" cy="839787"/>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anose="02010609060101010101" pitchFamily="2" charset="-122"/>
            </a:endParaRPr>
          </a:p>
        </p:txBody>
      </p:sp>
      <p:sp>
        <p:nvSpPr>
          <p:cNvPr id="606223" name="Oval 15"/>
          <p:cNvSpPr>
            <a:spLocks noChangeArrowheads="1"/>
          </p:cNvSpPr>
          <p:nvPr/>
        </p:nvSpPr>
        <p:spPr bwMode="auto">
          <a:xfrm>
            <a:off x="5912644" y="4092922"/>
            <a:ext cx="3541052" cy="839788"/>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6224" name="Oval 16"/>
          <p:cNvSpPr>
            <a:spLocks noChangeArrowheads="1"/>
          </p:cNvSpPr>
          <p:nvPr/>
        </p:nvSpPr>
        <p:spPr bwMode="auto">
          <a:xfrm>
            <a:off x="5912644" y="5034310"/>
            <a:ext cx="3541052" cy="842962"/>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6225" name="Text Box 17"/>
          <p:cNvSpPr txBox="1">
            <a:spLocks noChangeArrowheads="1"/>
          </p:cNvSpPr>
          <p:nvPr/>
        </p:nvSpPr>
        <p:spPr bwMode="auto">
          <a:xfrm>
            <a:off x="896012" y="3645248"/>
            <a:ext cx="11528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主干网</a:t>
            </a:r>
          </a:p>
          <a:p>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a:t>
            </a:r>
          </a:p>
        </p:txBody>
      </p:sp>
      <p:sp>
        <p:nvSpPr>
          <p:cNvPr id="606226" name="Text Box 18"/>
          <p:cNvSpPr txBox="1">
            <a:spLocks noChangeArrowheads="1"/>
          </p:cNvSpPr>
          <p:nvPr/>
        </p:nvSpPr>
        <p:spPr bwMode="auto">
          <a:xfrm>
            <a:off x="3537175" y="2664172"/>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地区 </a:t>
            </a:r>
            <a:r>
              <a:rPr kumimoji="1" lang="en-US" altLang="zh-CN" sz="2000" b="1">
                <a:solidFill>
                  <a:srgbClr val="0000CC"/>
                </a:solidFill>
                <a:latin typeface="+mn-lt"/>
                <a:ea typeface="黑体" panose="02010609060101010101" pitchFamily="2" charset="-122"/>
              </a:rPr>
              <a:t>ISP</a:t>
            </a:r>
          </a:p>
          <a:p>
            <a:pPr algn="ct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2</a:t>
            </a:r>
            <a:r>
              <a:rPr kumimoji="1" lang="zh-CN" altLang="en-US" sz="2000" b="1">
                <a:solidFill>
                  <a:srgbClr val="0000CC"/>
                </a:solidFill>
                <a:latin typeface="+mn-lt"/>
                <a:ea typeface="黑体" panose="02010609060101010101" pitchFamily="2" charset="-122"/>
              </a:rPr>
              <a:t>）</a:t>
            </a:r>
          </a:p>
        </p:txBody>
      </p:sp>
      <p:sp>
        <p:nvSpPr>
          <p:cNvPr id="606227" name="Text Box 19"/>
          <p:cNvSpPr txBox="1">
            <a:spLocks noChangeArrowheads="1"/>
          </p:cNvSpPr>
          <p:nvPr/>
        </p:nvSpPr>
        <p:spPr bwMode="auto">
          <a:xfrm>
            <a:off x="3537175" y="4640610"/>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地区 </a:t>
            </a:r>
            <a:r>
              <a:rPr kumimoji="1" lang="en-US" altLang="zh-CN" sz="2000" b="1">
                <a:solidFill>
                  <a:srgbClr val="0000CC"/>
                </a:solidFill>
                <a:latin typeface="+mn-lt"/>
                <a:ea typeface="黑体" panose="02010609060101010101" pitchFamily="2" charset="-122"/>
              </a:rPr>
              <a:t>ISP</a:t>
            </a:r>
          </a:p>
          <a:p>
            <a:pPr algn="ct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3</a:t>
            </a:r>
            <a:r>
              <a:rPr kumimoji="1" lang="zh-CN" altLang="en-US" sz="2000" b="1">
                <a:solidFill>
                  <a:srgbClr val="0000CC"/>
                </a:solidFill>
                <a:latin typeface="+mn-lt"/>
                <a:ea typeface="黑体" panose="02010609060101010101" pitchFamily="2" charset="-122"/>
              </a:rPr>
              <a:t>）</a:t>
            </a:r>
          </a:p>
        </p:txBody>
      </p:sp>
      <p:grpSp>
        <p:nvGrpSpPr>
          <p:cNvPr id="606228" name="Group 20"/>
          <p:cNvGrpSpPr/>
          <p:nvPr/>
        </p:nvGrpSpPr>
        <p:grpSpPr bwMode="auto">
          <a:xfrm>
            <a:off x="6617761" y="2257773"/>
            <a:ext cx="2158338" cy="1666875"/>
            <a:chOff x="3848" y="1740"/>
            <a:chExt cx="1255" cy="1050"/>
          </a:xfrm>
        </p:grpSpPr>
        <p:sp>
          <p:nvSpPr>
            <p:cNvPr id="606229" name="Text Box 21"/>
            <p:cNvSpPr txBox="1">
              <a:spLocks noChangeArrowheads="1"/>
            </p:cNvSpPr>
            <p:nvPr/>
          </p:nvSpPr>
          <p:spPr bwMode="auto">
            <a:xfrm>
              <a:off x="3863" y="1740"/>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4</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606230" name="Text Box 22"/>
            <p:cNvSpPr txBox="1">
              <a:spLocks noChangeArrowheads="1"/>
            </p:cNvSpPr>
            <p:nvPr/>
          </p:nvSpPr>
          <p:spPr bwMode="auto">
            <a:xfrm>
              <a:off x="3848" y="2344"/>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5</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3</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4</a:t>
              </a:r>
              <a:endParaRPr kumimoji="1" lang="en-US" altLang="zh-CN" sz="2000" b="1">
                <a:solidFill>
                  <a:srgbClr val="0000CC"/>
                </a:solidFill>
                <a:latin typeface="+mn-lt"/>
                <a:ea typeface="黑体" panose="02010609060101010101" pitchFamily="2" charset="-122"/>
              </a:endParaRPr>
            </a:p>
          </p:txBody>
        </p:sp>
      </p:grpSp>
      <p:sp>
        <p:nvSpPr>
          <p:cNvPr id="606231" name="Text Box 23"/>
          <p:cNvSpPr txBox="1">
            <a:spLocks noChangeArrowheads="1"/>
          </p:cNvSpPr>
          <p:nvPr/>
        </p:nvSpPr>
        <p:spPr bwMode="auto">
          <a:xfrm>
            <a:off x="6606593" y="414213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6</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5</a:t>
            </a:r>
            <a:endParaRPr kumimoji="1" lang="en-US" altLang="zh-CN" sz="2000" b="1">
              <a:solidFill>
                <a:srgbClr val="0000CC"/>
              </a:solidFill>
              <a:latin typeface="+mn-lt"/>
              <a:ea typeface="黑体" panose="02010609060101010101" pitchFamily="2" charset="-122"/>
            </a:endParaRPr>
          </a:p>
        </p:txBody>
      </p:sp>
      <p:sp>
        <p:nvSpPr>
          <p:cNvPr id="606232" name="Text Box 24"/>
          <p:cNvSpPr txBox="1">
            <a:spLocks noChangeArrowheads="1"/>
          </p:cNvSpPr>
          <p:nvPr/>
        </p:nvSpPr>
        <p:spPr bwMode="auto">
          <a:xfrm>
            <a:off x="6625510" y="5123211"/>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7</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6</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7</a:t>
            </a:r>
            <a:endParaRPr kumimoji="1" lang="en-US" altLang="zh-CN" sz="2000" b="1">
              <a:solidFill>
                <a:srgbClr val="0000CC"/>
              </a:solidFill>
              <a:latin typeface="+mn-lt"/>
              <a:ea typeface="黑体" panose="02010609060101010101" pitchFamily="2" charset="-122"/>
            </a:endParaRPr>
          </a:p>
        </p:txBody>
      </p:sp>
      <p:sp>
        <p:nvSpPr>
          <p:cNvPr id="606233" name="Text Box 25"/>
          <p:cNvSpPr txBox="1">
            <a:spLocks noChangeArrowheads="1"/>
          </p:cNvSpPr>
          <p:nvPr/>
        </p:nvSpPr>
        <p:spPr bwMode="auto">
          <a:xfrm>
            <a:off x="662120" y="1124744"/>
            <a:ext cx="8915400" cy="830997"/>
          </a:xfrm>
          <a:prstGeom prst="rect">
            <a:avLst/>
          </a:prstGeom>
          <a:solidFill>
            <a:srgbClr val="66FF66"/>
          </a:solidFill>
          <a:ln w="9525">
            <a:solidFill>
              <a:srgbClr val="333399"/>
            </a:solidFill>
            <a:miter lim="800000"/>
          </a:ln>
          <a:effectLst/>
        </p:spPr>
        <p:txBody>
          <a:bodyPr>
            <a:spAutoFit/>
          </a:bodyPr>
          <a:lstStyle/>
          <a:p>
            <a:r>
              <a:rPr lang="zh-CN" altLang="en-US" sz="2400" b="1" dirty="0">
                <a:solidFill>
                  <a:srgbClr val="000066"/>
                </a:solidFill>
                <a:latin typeface="+mn-lt"/>
                <a:ea typeface="黑体" panose="02010609060101010101" pitchFamily="2" charset="-122"/>
              </a:rPr>
              <a:t>自治系统 </a:t>
            </a:r>
            <a:r>
              <a:rPr lang="en-US" altLang="zh-CN" sz="2400" b="1" dirty="0">
                <a:solidFill>
                  <a:srgbClr val="000066"/>
                </a:solidFill>
                <a:latin typeface="+mn-lt"/>
                <a:ea typeface="黑体" panose="02010609060101010101" pitchFamily="2" charset="-122"/>
              </a:rPr>
              <a:t>AS</a:t>
            </a:r>
            <a:r>
              <a:rPr lang="en-US" altLang="zh-CN" sz="2400" b="1" baseline="-25000" dirty="0">
                <a:solidFill>
                  <a:srgbClr val="000066"/>
                </a:solidFill>
                <a:latin typeface="+mn-lt"/>
                <a:ea typeface="黑体" panose="02010609060101010101" pitchFamily="2" charset="-122"/>
              </a:rPr>
              <a:t>2</a:t>
            </a:r>
            <a:r>
              <a:rPr lang="en-US" altLang="zh-CN" sz="2400" b="1" dirty="0">
                <a:solidFill>
                  <a:srgbClr val="000066"/>
                </a:solidFill>
                <a:latin typeface="+mn-lt"/>
                <a:ea typeface="黑体" panose="02010609060101010101" pitchFamily="2" charset="-122"/>
              </a:rPr>
              <a:t> </a:t>
            </a:r>
            <a:r>
              <a:rPr lang="zh-CN" altLang="en-US" sz="2400" b="1" dirty="0">
                <a:solidFill>
                  <a:srgbClr val="000066"/>
                </a:solidFill>
                <a:latin typeface="+mn-lt"/>
                <a:ea typeface="黑体" panose="02010609060101010101" pitchFamily="2" charset="-122"/>
              </a:rPr>
              <a:t>的 </a:t>
            </a:r>
            <a:r>
              <a:rPr lang="en-US" altLang="zh-CN" sz="2400" b="1" dirty="0">
                <a:solidFill>
                  <a:srgbClr val="000066"/>
                </a:solidFill>
                <a:latin typeface="+mn-lt"/>
                <a:ea typeface="黑体" panose="02010609060101010101" pitchFamily="2" charset="-122"/>
              </a:rPr>
              <a:t>BGP </a:t>
            </a:r>
            <a:r>
              <a:rPr lang="zh-CN" altLang="en-US" sz="2400" b="1" dirty="0">
                <a:solidFill>
                  <a:srgbClr val="000066"/>
                </a:solidFill>
                <a:latin typeface="+mn-lt"/>
                <a:ea typeface="黑体" panose="02010609060101010101" pitchFamily="2" charset="-122"/>
              </a:rPr>
              <a:t>发言人通知主干网 </a:t>
            </a:r>
            <a:r>
              <a:rPr lang="en-US" altLang="zh-CN" sz="2400" b="1" dirty="0">
                <a:solidFill>
                  <a:srgbClr val="000066"/>
                </a:solidFill>
                <a:latin typeface="+mn-lt"/>
                <a:ea typeface="黑体" panose="02010609060101010101" pitchFamily="2" charset="-122"/>
              </a:rPr>
              <a:t>AS</a:t>
            </a:r>
            <a:r>
              <a:rPr lang="en-US" altLang="zh-CN" sz="2400" b="1" baseline="-25000" dirty="0">
                <a:solidFill>
                  <a:srgbClr val="000066"/>
                </a:solidFill>
                <a:latin typeface="+mn-lt"/>
                <a:ea typeface="黑体" panose="02010609060101010101" pitchFamily="2" charset="-122"/>
              </a:rPr>
              <a:t>1</a:t>
            </a:r>
            <a:r>
              <a:rPr lang="en-US" altLang="zh-CN" sz="2400" b="1" dirty="0">
                <a:solidFill>
                  <a:srgbClr val="000066"/>
                </a:solidFill>
                <a:latin typeface="+mn-lt"/>
                <a:ea typeface="黑体" panose="02010609060101010101" pitchFamily="2" charset="-122"/>
              </a:rPr>
              <a:t> </a:t>
            </a:r>
            <a:r>
              <a:rPr lang="zh-CN" altLang="en-US" sz="2400" b="1" dirty="0">
                <a:solidFill>
                  <a:srgbClr val="000066"/>
                </a:solidFill>
                <a:latin typeface="+mn-lt"/>
                <a:ea typeface="黑体" panose="02010609060101010101" pitchFamily="2" charset="-122"/>
              </a:rPr>
              <a:t>的 </a:t>
            </a:r>
            <a:r>
              <a:rPr lang="en-US" altLang="zh-CN" sz="2400" b="1" dirty="0">
                <a:solidFill>
                  <a:srgbClr val="000066"/>
                </a:solidFill>
                <a:latin typeface="+mn-lt"/>
                <a:ea typeface="黑体" panose="02010609060101010101" pitchFamily="2" charset="-122"/>
              </a:rPr>
              <a:t>BGP </a:t>
            </a:r>
            <a:r>
              <a:rPr lang="zh-CN" altLang="en-US" sz="2400" b="1" dirty="0">
                <a:solidFill>
                  <a:srgbClr val="000066"/>
                </a:solidFill>
                <a:latin typeface="+mn-lt"/>
                <a:ea typeface="黑体" panose="02010609060101010101" pitchFamily="2" charset="-122"/>
              </a:rPr>
              <a:t>发言人：“要到达网络 </a:t>
            </a:r>
            <a:r>
              <a:rPr lang="en-US" altLang="zh-CN" sz="2400" b="1" dirty="0">
                <a:solidFill>
                  <a:srgbClr val="000066"/>
                </a:solidFill>
                <a:latin typeface="+mn-lt"/>
                <a:ea typeface="黑体" panose="02010609060101010101" pitchFamily="2" charset="-122"/>
              </a:rPr>
              <a:t>N</a:t>
            </a:r>
            <a:r>
              <a:rPr lang="en-US" altLang="zh-CN" sz="2400" b="1" baseline="-25000" dirty="0">
                <a:solidFill>
                  <a:srgbClr val="000066"/>
                </a:solidFill>
                <a:latin typeface="+mn-lt"/>
                <a:ea typeface="黑体" panose="02010609060101010101" pitchFamily="2" charset="-122"/>
              </a:rPr>
              <a:t>1</a:t>
            </a:r>
            <a:r>
              <a:rPr lang="zh-CN" altLang="en-US" sz="2400" b="1" baseline="-25000" dirty="0">
                <a:solidFill>
                  <a:srgbClr val="000066"/>
                </a:solidFill>
                <a:latin typeface="+mn-lt"/>
                <a:ea typeface="黑体" panose="02010609060101010101" pitchFamily="2" charset="-122"/>
              </a:rPr>
              <a:t>、</a:t>
            </a:r>
            <a:r>
              <a:rPr lang="en-US" altLang="zh-CN" sz="2400" b="1" dirty="0">
                <a:solidFill>
                  <a:srgbClr val="000066"/>
                </a:solidFill>
                <a:latin typeface="+mn-lt"/>
                <a:ea typeface="黑体" panose="02010609060101010101" pitchFamily="2" charset="-122"/>
              </a:rPr>
              <a:t> N</a:t>
            </a:r>
            <a:r>
              <a:rPr lang="en-US" altLang="zh-CN" sz="2400" b="1" baseline="-25000" dirty="0">
                <a:solidFill>
                  <a:srgbClr val="000066"/>
                </a:solidFill>
                <a:latin typeface="+mn-lt"/>
                <a:ea typeface="黑体" panose="02010609060101010101" pitchFamily="2" charset="-122"/>
              </a:rPr>
              <a:t>2</a:t>
            </a:r>
            <a:r>
              <a:rPr lang="zh-CN" altLang="en-US" sz="2400" b="1" baseline="-25000" dirty="0">
                <a:solidFill>
                  <a:srgbClr val="000066"/>
                </a:solidFill>
                <a:latin typeface="+mn-lt"/>
                <a:ea typeface="黑体" panose="02010609060101010101" pitchFamily="2" charset="-122"/>
              </a:rPr>
              <a:t>、</a:t>
            </a:r>
            <a:r>
              <a:rPr lang="en-US" altLang="zh-CN" sz="2400" b="1" dirty="0">
                <a:solidFill>
                  <a:srgbClr val="000066"/>
                </a:solidFill>
                <a:latin typeface="+mn-lt"/>
                <a:ea typeface="黑体" panose="02010609060101010101" pitchFamily="2" charset="-122"/>
              </a:rPr>
              <a:t>N</a:t>
            </a:r>
            <a:r>
              <a:rPr lang="en-US" altLang="zh-CN" sz="2400" b="1" baseline="-25000" dirty="0">
                <a:solidFill>
                  <a:srgbClr val="000066"/>
                </a:solidFill>
                <a:latin typeface="+mn-lt"/>
                <a:ea typeface="黑体" panose="02010609060101010101" pitchFamily="2" charset="-122"/>
              </a:rPr>
              <a:t>3 </a:t>
            </a:r>
            <a:r>
              <a:rPr lang="zh-CN" altLang="en-US" sz="2400" b="1" dirty="0">
                <a:solidFill>
                  <a:srgbClr val="000066"/>
                </a:solidFill>
                <a:latin typeface="+mn-lt"/>
                <a:ea typeface="黑体" panose="02010609060101010101" pitchFamily="2" charset="-122"/>
              </a:rPr>
              <a:t>和 </a:t>
            </a:r>
            <a:r>
              <a:rPr lang="en-US" altLang="zh-CN" sz="2400" b="1" dirty="0">
                <a:solidFill>
                  <a:srgbClr val="000066"/>
                </a:solidFill>
                <a:latin typeface="+mn-lt"/>
                <a:ea typeface="黑体" panose="02010609060101010101" pitchFamily="2" charset="-122"/>
              </a:rPr>
              <a:t>N</a:t>
            </a:r>
            <a:r>
              <a:rPr lang="en-US" altLang="zh-CN" sz="2400" b="1" baseline="-25000" dirty="0">
                <a:solidFill>
                  <a:srgbClr val="000066"/>
                </a:solidFill>
                <a:latin typeface="+mn-lt"/>
                <a:ea typeface="黑体" panose="02010609060101010101" pitchFamily="2" charset="-122"/>
              </a:rPr>
              <a:t>4 </a:t>
            </a:r>
            <a:r>
              <a:rPr lang="zh-CN" altLang="en-US" sz="2400" b="1" dirty="0">
                <a:solidFill>
                  <a:srgbClr val="000066"/>
                </a:solidFill>
                <a:latin typeface="+mn-lt"/>
                <a:ea typeface="黑体" panose="02010609060101010101" pitchFamily="2" charset="-122"/>
              </a:rPr>
              <a:t>可经过 </a:t>
            </a:r>
            <a:r>
              <a:rPr lang="en-US" altLang="zh-CN" sz="2400" b="1" dirty="0">
                <a:solidFill>
                  <a:srgbClr val="000066"/>
                </a:solidFill>
                <a:latin typeface="+mn-lt"/>
                <a:ea typeface="黑体" panose="02010609060101010101" pitchFamily="2" charset="-122"/>
              </a:rPr>
              <a:t>AS</a:t>
            </a:r>
            <a:r>
              <a:rPr lang="en-US" altLang="zh-CN" sz="2400" b="1" baseline="-25000" dirty="0">
                <a:solidFill>
                  <a:srgbClr val="000066"/>
                </a:solidFill>
                <a:latin typeface="+mn-lt"/>
                <a:ea typeface="黑体" panose="02010609060101010101" pitchFamily="2" charset="-122"/>
              </a:rPr>
              <a:t>2</a:t>
            </a:r>
            <a:r>
              <a:rPr lang="zh-CN" altLang="en-US" sz="2400" b="1" dirty="0">
                <a:solidFill>
                  <a:srgbClr val="000066"/>
                </a:solidFill>
                <a:latin typeface="+mn-lt"/>
                <a:ea typeface="黑体" panose="02010609060101010101" pitchFamily="2" charset="-122"/>
              </a:rPr>
              <a:t>。” </a:t>
            </a:r>
          </a:p>
        </p:txBody>
      </p:sp>
      <p:sp>
        <p:nvSpPr>
          <p:cNvPr id="606235" name="AutoShape 27"/>
          <p:cNvSpPr>
            <a:spLocks noChangeArrowheads="1"/>
          </p:cNvSpPr>
          <p:nvPr/>
        </p:nvSpPr>
        <p:spPr bwMode="auto">
          <a:xfrm rot="9284754">
            <a:off x="1833299" y="2995961"/>
            <a:ext cx="1793743" cy="720725"/>
          </a:xfrm>
          <a:custGeom>
            <a:avLst/>
            <a:gdLst>
              <a:gd name="G0" fmla="+- 13627 0 0"/>
              <a:gd name="G1" fmla="+- 4853 0 0"/>
              <a:gd name="G2" fmla="+- 21600 0 4853"/>
              <a:gd name="G3" fmla="+- 10800 0 4853"/>
              <a:gd name="G4" fmla="+- 21600 0 13627"/>
              <a:gd name="G5" fmla="*/ G4 G3 10800"/>
              <a:gd name="G6" fmla="+- 21600 0 G5"/>
              <a:gd name="T0" fmla="*/ 13627 w 21600"/>
              <a:gd name="T1" fmla="*/ 0 h 21600"/>
              <a:gd name="T2" fmla="*/ 0 w 21600"/>
              <a:gd name="T3" fmla="*/ 10800 h 21600"/>
              <a:gd name="T4" fmla="*/ 13627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3627" y="0"/>
                </a:moveTo>
                <a:lnTo>
                  <a:pt x="13627" y="4853"/>
                </a:lnTo>
                <a:lnTo>
                  <a:pt x="3375" y="4853"/>
                </a:lnTo>
                <a:lnTo>
                  <a:pt x="3375" y="16747"/>
                </a:lnTo>
                <a:lnTo>
                  <a:pt x="13627" y="16747"/>
                </a:lnTo>
                <a:lnTo>
                  <a:pt x="13627" y="21600"/>
                </a:lnTo>
                <a:lnTo>
                  <a:pt x="21600" y="10800"/>
                </a:lnTo>
                <a:close/>
              </a:path>
              <a:path w="21600" h="21600">
                <a:moveTo>
                  <a:pt x="1350" y="4853"/>
                </a:moveTo>
                <a:lnTo>
                  <a:pt x="1350" y="16747"/>
                </a:lnTo>
                <a:lnTo>
                  <a:pt x="2700" y="16747"/>
                </a:lnTo>
                <a:lnTo>
                  <a:pt x="2700" y="4853"/>
                </a:lnTo>
                <a:close/>
              </a:path>
              <a:path w="21600" h="21600">
                <a:moveTo>
                  <a:pt x="0" y="4853"/>
                </a:moveTo>
                <a:lnTo>
                  <a:pt x="0" y="16747"/>
                </a:lnTo>
                <a:lnTo>
                  <a:pt x="675" y="16747"/>
                </a:lnTo>
                <a:lnTo>
                  <a:pt x="675" y="4853"/>
                </a:lnTo>
                <a:close/>
              </a:path>
            </a:pathLst>
          </a:cu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606228"/>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22" presetClass="entr" presetSubtype="2" repeatCount="3000" fill="hold" grpId="0" nodeType="afterEffect">
                                  <p:stCondLst>
                                    <p:cond delay="0"/>
                                  </p:stCondLst>
                                  <p:childTnLst>
                                    <p:set>
                                      <p:cBhvr>
                                        <p:cTn id="9" dur="1" fill="hold">
                                          <p:stCondLst>
                                            <p:cond delay="0"/>
                                          </p:stCondLst>
                                        </p:cTn>
                                        <p:tgtEl>
                                          <p:spTgt spid="606235"/>
                                        </p:tgtEl>
                                        <p:attrNameLst>
                                          <p:attrName>style.visibility</p:attrName>
                                        </p:attrNameLst>
                                      </p:cBhvr>
                                      <p:to>
                                        <p:strVal val="visible"/>
                                      </p:to>
                                    </p:set>
                                    <p:animEffect transition="in" filter="wipe(right)">
                                      <p:cBhvr>
                                        <p:cTn id="10" dur="1000"/>
                                        <p:tgtEl>
                                          <p:spTgt spid="606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6235"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ChangeArrowheads="1"/>
          </p:cNvSpPr>
          <p:nvPr>
            <p:ph type="title"/>
          </p:nvPr>
        </p:nvSpPr>
        <p:spPr/>
        <p:txBody>
          <a:bodyPr/>
          <a:lstStyle/>
          <a:p>
            <a:pPr algn="ctr"/>
            <a:r>
              <a:rPr lang="en-US" altLang="zh-CN" dirty="0"/>
              <a:t>BGP </a:t>
            </a:r>
            <a:r>
              <a:rPr lang="zh-CN" altLang="en-US" dirty="0"/>
              <a:t>发言人交换</a:t>
            </a:r>
            <a:r>
              <a:rPr lang="zh-CN" altLang="en-US" dirty="0">
                <a:solidFill>
                  <a:srgbClr val="FF0000"/>
                </a:solidFill>
              </a:rPr>
              <a:t>路径向量 </a:t>
            </a:r>
            <a:endParaRPr lang="zh-CN" altLang="en-US" dirty="0"/>
          </a:p>
        </p:txBody>
      </p:sp>
      <p:sp>
        <p:nvSpPr>
          <p:cNvPr id="607235" name="Line 3"/>
          <p:cNvSpPr>
            <a:spLocks noChangeShapeType="1"/>
          </p:cNvSpPr>
          <p:nvPr/>
        </p:nvSpPr>
        <p:spPr bwMode="auto">
          <a:xfrm flipV="1">
            <a:off x="2019036" y="3049165"/>
            <a:ext cx="1327679" cy="5349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36" name="Line 4"/>
          <p:cNvSpPr>
            <a:spLocks noChangeShapeType="1"/>
          </p:cNvSpPr>
          <p:nvPr/>
        </p:nvSpPr>
        <p:spPr bwMode="auto">
          <a:xfrm>
            <a:off x="2019036" y="4122316"/>
            <a:ext cx="1239970" cy="7651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37" name="Line 5"/>
          <p:cNvSpPr>
            <a:spLocks noChangeShapeType="1"/>
          </p:cNvSpPr>
          <p:nvPr/>
        </p:nvSpPr>
        <p:spPr bwMode="auto">
          <a:xfrm flipV="1">
            <a:off x="5204090" y="2514179"/>
            <a:ext cx="1150541" cy="3825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38" name="Line 6"/>
          <p:cNvSpPr>
            <a:spLocks noChangeShapeType="1"/>
          </p:cNvSpPr>
          <p:nvPr/>
        </p:nvSpPr>
        <p:spPr bwMode="auto">
          <a:xfrm>
            <a:off x="5116381" y="3049166"/>
            <a:ext cx="1150540" cy="4603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39" name="Line 7"/>
          <p:cNvSpPr>
            <a:spLocks noChangeShapeType="1"/>
          </p:cNvSpPr>
          <p:nvPr/>
        </p:nvSpPr>
        <p:spPr bwMode="auto">
          <a:xfrm flipV="1">
            <a:off x="5204090" y="4427115"/>
            <a:ext cx="1150541" cy="3825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40" name="Line 8"/>
          <p:cNvSpPr>
            <a:spLocks noChangeShapeType="1"/>
          </p:cNvSpPr>
          <p:nvPr/>
        </p:nvSpPr>
        <p:spPr bwMode="auto">
          <a:xfrm>
            <a:off x="5381229" y="4962103"/>
            <a:ext cx="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41" name="Line 9"/>
          <p:cNvSpPr>
            <a:spLocks noChangeShapeType="1"/>
          </p:cNvSpPr>
          <p:nvPr/>
        </p:nvSpPr>
        <p:spPr bwMode="auto">
          <a:xfrm>
            <a:off x="5204090" y="5117678"/>
            <a:ext cx="1150541" cy="3048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42" name="Oval 10"/>
          <p:cNvSpPr>
            <a:spLocks noChangeArrowheads="1"/>
          </p:cNvSpPr>
          <p:nvPr/>
        </p:nvSpPr>
        <p:spPr bwMode="auto">
          <a:xfrm>
            <a:off x="2725870" y="2598315"/>
            <a:ext cx="2834217" cy="688975"/>
          </a:xfrm>
          <a:prstGeom prst="ellipse">
            <a:avLst/>
          </a:prstGeom>
          <a:solidFill>
            <a:srgbClr val="66FF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7243" name="Oval 11"/>
          <p:cNvSpPr>
            <a:spLocks noChangeArrowheads="1"/>
          </p:cNvSpPr>
          <p:nvPr/>
        </p:nvSpPr>
        <p:spPr bwMode="auto">
          <a:xfrm>
            <a:off x="2725870" y="4574754"/>
            <a:ext cx="2834217" cy="688975"/>
          </a:xfrm>
          <a:prstGeom prst="ellipse">
            <a:avLst/>
          </a:prstGeom>
          <a:solidFill>
            <a:srgbClr val="66FF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7244" name="Oval 12"/>
          <p:cNvSpPr>
            <a:spLocks noChangeArrowheads="1"/>
          </p:cNvSpPr>
          <p:nvPr/>
        </p:nvSpPr>
        <p:spPr bwMode="auto">
          <a:xfrm>
            <a:off x="247650" y="3357141"/>
            <a:ext cx="2565929" cy="1147763"/>
          </a:xfrm>
          <a:prstGeom prst="ellipse">
            <a:avLst/>
          </a:prstGeom>
          <a:solidFill>
            <a:srgbClr val="FF99FF"/>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grpSp>
        <p:nvGrpSpPr>
          <p:cNvPr id="607245" name="Group 13"/>
          <p:cNvGrpSpPr/>
          <p:nvPr/>
        </p:nvGrpSpPr>
        <p:grpSpPr bwMode="auto">
          <a:xfrm>
            <a:off x="5912644" y="2131590"/>
            <a:ext cx="3565129" cy="1784350"/>
            <a:chOff x="3438" y="1706"/>
            <a:chExt cx="2073" cy="1124"/>
          </a:xfrm>
        </p:grpSpPr>
        <p:sp>
          <p:nvSpPr>
            <p:cNvPr id="607246" name="Oval 14"/>
            <p:cNvSpPr>
              <a:spLocks noChangeArrowheads="1"/>
            </p:cNvSpPr>
            <p:nvPr/>
          </p:nvSpPr>
          <p:spPr bwMode="auto">
            <a:xfrm>
              <a:off x="3452" y="1706"/>
              <a:ext cx="2059" cy="531"/>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anose="02010609060101010101" pitchFamily="2" charset="-122"/>
              </a:endParaRPr>
            </a:p>
          </p:txBody>
        </p:sp>
        <p:sp>
          <p:nvSpPr>
            <p:cNvPr id="607247" name="Oval 15"/>
            <p:cNvSpPr>
              <a:spLocks noChangeArrowheads="1"/>
            </p:cNvSpPr>
            <p:nvPr/>
          </p:nvSpPr>
          <p:spPr bwMode="auto">
            <a:xfrm>
              <a:off x="3438" y="2301"/>
              <a:ext cx="2059" cy="529"/>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anose="02010609060101010101" pitchFamily="2" charset="-122"/>
              </a:endParaRPr>
            </a:p>
          </p:txBody>
        </p:sp>
      </p:grpSp>
      <p:sp>
        <p:nvSpPr>
          <p:cNvPr id="607248" name="Oval 16"/>
          <p:cNvSpPr>
            <a:spLocks noChangeArrowheads="1"/>
          </p:cNvSpPr>
          <p:nvPr/>
        </p:nvSpPr>
        <p:spPr bwMode="auto">
          <a:xfrm>
            <a:off x="5912644" y="4020715"/>
            <a:ext cx="3541052" cy="839788"/>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7249" name="Oval 17"/>
          <p:cNvSpPr>
            <a:spLocks noChangeArrowheads="1"/>
          </p:cNvSpPr>
          <p:nvPr/>
        </p:nvSpPr>
        <p:spPr bwMode="auto">
          <a:xfrm>
            <a:off x="5912644" y="4962103"/>
            <a:ext cx="3541052" cy="842962"/>
          </a:xfrm>
          <a:prstGeom prst="ellipse">
            <a:avLst/>
          </a:prstGeom>
          <a:solidFill>
            <a:srgbClr val="FFFF66"/>
          </a:solidFill>
          <a:ln w="9525">
            <a:solidFill>
              <a:schemeClr val="tx1"/>
            </a:solidFill>
            <a:rou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anose="02010609060101010101" pitchFamily="2" charset="-122"/>
            </a:endParaRPr>
          </a:p>
        </p:txBody>
      </p:sp>
      <p:sp>
        <p:nvSpPr>
          <p:cNvPr id="607250" name="Text Box 18"/>
          <p:cNvSpPr txBox="1">
            <a:spLocks noChangeArrowheads="1"/>
          </p:cNvSpPr>
          <p:nvPr/>
        </p:nvSpPr>
        <p:spPr bwMode="auto">
          <a:xfrm>
            <a:off x="896012" y="3573041"/>
            <a:ext cx="11528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anose="02010609060101010101" pitchFamily="2" charset="-122"/>
              </a:rPr>
              <a:t>主干网</a:t>
            </a:r>
          </a:p>
          <a:p>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a:t>
            </a:r>
          </a:p>
        </p:txBody>
      </p:sp>
      <p:sp>
        <p:nvSpPr>
          <p:cNvPr id="607251" name="Text Box 19"/>
          <p:cNvSpPr txBox="1">
            <a:spLocks noChangeArrowheads="1"/>
          </p:cNvSpPr>
          <p:nvPr/>
        </p:nvSpPr>
        <p:spPr bwMode="auto">
          <a:xfrm>
            <a:off x="3537175" y="2591965"/>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地区 </a:t>
            </a:r>
            <a:r>
              <a:rPr kumimoji="1" lang="en-US" altLang="zh-CN" sz="2000" b="1">
                <a:solidFill>
                  <a:srgbClr val="0000CC"/>
                </a:solidFill>
                <a:latin typeface="+mn-lt"/>
                <a:ea typeface="黑体" panose="02010609060101010101" pitchFamily="2" charset="-122"/>
              </a:rPr>
              <a:t>ISP</a:t>
            </a:r>
          </a:p>
          <a:p>
            <a:pPr algn="ct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2</a:t>
            </a:r>
            <a:r>
              <a:rPr kumimoji="1" lang="zh-CN" altLang="en-US" sz="2000" b="1">
                <a:solidFill>
                  <a:srgbClr val="0000CC"/>
                </a:solidFill>
                <a:latin typeface="+mn-lt"/>
                <a:ea typeface="黑体" panose="02010609060101010101" pitchFamily="2" charset="-122"/>
              </a:rPr>
              <a:t>）</a:t>
            </a:r>
          </a:p>
        </p:txBody>
      </p:sp>
      <p:sp>
        <p:nvSpPr>
          <p:cNvPr id="607252" name="Text Box 20"/>
          <p:cNvSpPr txBox="1">
            <a:spLocks noChangeArrowheads="1"/>
          </p:cNvSpPr>
          <p:nvPr/>
        </p:nvSpPr>
        <p:spPr bwMode="auto">
          <a:xfrm>
            <a:off x="3537175" y="4568403"/>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地区 </a:t>
            </a:r>
            <a:r>
              <a:rPr kumimoji="1" lang="en-US" altLang="zh-CN" sz="2000" b="1">
                <a:solidFill>
                  <a:srgbClr val="0000CC"/>
                </a:solidFill>
                <a:latin typeface="+mn-lt"/>
                <a:ea typeface="黑体" panose="02010609060101010101" pitchFamily="2" charset="-122"/>
              </a:rPr>
              <a:t>ISP</a:t>
            </a:r>
          </a:p>
          <a:p>
            <a:pPr algn="ct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3</a:t>
            </a:r>
            <a:r>
              <a:rPr kumimoji="1" lang="zh-CN" altLang="en-US" sz="2000" b="1">
                <a:solidFill>
                  <a:srgbClr val="0000CC"/>
                </a:solidFill>
                <a:latin typeface="+mn-lt"/>
                <a:ea typeface="黑体" panose="02010609060101010101" pitchFamily="2" charset="-122"/>
              </a:rPr>
              <a:t>）</a:t>
            </a:r>
          </a:p>
        </p:txBody>
      </p:sp>
      <p:sp>
        <p:nvSpPr>
          <p:cNvPr id="607253" name="Text Box 21"/>
          <p:cNvSpPr txBox="1">
            <a:spLocks noChangeArrowheads="1"/>
          </p:cNvSpPr>
          <p:nvPr/>
        </p:nvSpPr>
        <p:spPr bwMode="auto">
          <a:xfrm>
            <a:off x="6632389" y="218556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4</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1</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2</a:t>
            </a:r>
            <a:endParaRPr kumimoji="1" lang="en-US" altLang="zh-CN" sz="2000" b="1">
              <a:solidFill>
                <a:srgbClr val="0000CC"/>
              </a:solidFill>
              <a:latin typeface="+mn-lt"/>
              <a:ea typeface="黑体" panose="02010609060101010101" pitchFamily="2" charset="-122"/>
            </a:endParaRPr>
          </a:p>
        </p:txBody>
      </p:sp>
      <p:sp>
        <p:nvSpPr>
          <p:cNvPr id="607254" name="Text Box 22"/>
          <p:cNvSpPr txBox="1">
            <a:spLocks noChangeArrowheads="1"/>
          </p:cNvSpPr>
          <p:nvPr/>
        </p:nvSpPr>
        <p:spPr bwMode="auto">
          <a:xfrm>
            <a:off x="6607453" y="314441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5</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3</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4</a:t>
            </a:r>
            <a:endParaRPr kumimoji="1" lang="en-US" altLang="zh-CN" sz="2000" b="1">
              <a:solidFill>
                <a:srgbClr val="0000CC"/>
              </a:solidFill>
              <a:latin typeface="+mn-lt"/>
              <a:ea typeface="黑体" panose="02010609060101010101" pitchFamily="2" charset="-122"/>
            </a:endParaRPr>
          </a:p>
        </p:txBody>
      </p:sp>
      <p:grpSp>
        <p:nvGrpSpPr>
          <p:cNvPr id="607255" name="Group 23"/>
          <p:cNvGrpSpPr/>
          <p:nvPr/>
        </p:nvGrpSpPr>
        <p:grpSpPr bwMode="auto">
          <a:xfrm>
            <a:off x="6617760" y="4069928"/>
            <a:ext cx="2151459" cy="1689100"/>
            <a:chOff x="3848" y="2927"/>
            <a:chExt cx="1251" cy="1064"/>
          </a:xfrm>
        </p:grpSpPr>
        <p:sp>
          <p:nvSpPr>
            <p:cNvPr id="607256" name="Text Box 24"/>
            <p:cNvSpPr txBox="1">
              <a:spLocks noChangeArrowheads="1"/>
            </p:cNvSpPr>
            <p:nvPr/>
          </p:nvSpPr>
          <p:spPr bwMode="auto">
            <a:xfrm>
              <a:off x="3848" y="2927"/>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6</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5</a:t>
              </a:r>
              <a:endParaRPr kumimoji="1" lang="en-US" altLang="zh-CN" sz="2000" b="1">
                <a:solidFill>
                  <a:srgbClr val="0000CC"/>
                </a:solidFill>
                <a:latin typeface="+mn-lt"/>
                <a:ea typeface="黑体" panose="02010609060101010101" pitchFamily="2" charset="-122"/>
              </a:endParaRPr>
            </a:p>
          </p:txBody>
        </p:sp>
        <p:sp>
          <p:nvSpPr>
            <p:cNvPr id="607257" name="Text Box 25"/>
            <p:cNvSpPr txBox="1">
              <a:spLocks noChangeArrowheads="1"/>
            </p:cNvSpPr>
            <p:nvPr/>
          </p:nvSpPr>
          <p:spPr bwMode="auto">
            <a:xfrm>
              <a:off x="3859" y="3545"/>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anose="02010609060101010101" pitchFamily="2" charset="-122"/>
                </a:rPr>
                <a:t>本地 </a:t>
              </a:r>
              <a:r>
                <a:rPr kumimoji="1" lang="en-US" altLang="zh-CN" sz="2000" b="1">
                  <a:solidFill>
                    <a:srgbClr val="0000CC"/>
                  </a:solidFill>
                  <a:latin typeface="+mn-lt"/>
                  <a:ea typeface="黑体" panose="02010609060101010101" pitchFamily="2" charset="-122"/>
                </a:rPr>
                <a:t>ISP</a:t>
              </a:r>
              <a:r>
                <a:rPr kumimoji="1" lang="zh-CN" altLang="en-US" sz="2000" b="1">
                  <a:solidFill>
                    <a:srgbClr val="0000CC"/>
                  </a:solidFill>
                  <a:latin typeface="+mn-lt"/>
                  <a:ea typeface="黑体" panose="02010609060101010101" pitchFamily="2" charset="-122"/>
                </a:rPr>
                <a:t>（</a:t>
              </a:r>
              <a:r>
                <a:rPr kumimoji="1" lang="en-US" altLang="zh-CN" sz="2000" b="1">
                  <a:solidFill>
                    <a:srgbClr val="0000CC"/>
                  </a:solidFill>
                  <a:latin typeface="+mn-lt"/>
                  <a:ea typeface="黑体" panose="02010609060101010101" pitchFamily="2" charset="-122"/>
                </a:rPr>
                <a:t>AS</a:t>
              </a:r>
              <a:r>
                <a:rPr kumimoji="1" lang="en-US" altLang="zh-CN" sz="2000" b="1" baseline="-25000">
                  <a:solidFill>
                    <a:srgbClr val="0000CC"/>
                  </a:solidFill>
                  <a:latin typeface="+mn-lt"/>
                  <a:ea typeface="黑体" panose="02010609060101010101" pitchFamily="2" charset="-122"/>
                </a:rPr>
                <a:t>7</a:t>
              </a:r>
              <a:r>
                <a:rPr kumimoji="1" lang="zh-CN" altLang="en-US" sz="2000" b="1">
                  <a:solidFill>
                    <a:srgbClr val="0000CC"/>
                  </a:solidFill>
                  <a:latin typeface="+mn-lt"/>
                  <a:ea typeface="黑体" panose="02010609060101010101" pitchFamily="2" charset="-122"/>
                </a:rPr>
                <a:t>）</a:t>
              </a:r>
            </a:p>
            <a:p>
              <a:pPr algn="ct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6</a:t>
              </a:r>
              <a:r>
                <a:rPr kumimoji="1" lang="zh-CN" altLang="en-US" sz="2000" b="1">
                  <a:solidFill>
                    <a:srgbClr val="0000CC"/>
                  </a:solidFill>
                  <a:latin typeface="+mn-lt"/>
                  <a:ea typeface="黑体" panose="02010609060101010101" pitchFamily="2" charset="-122"/>
                </a:rPr>
                <a:t>， </a:t>
              </a:r>
              <a:r>
                <a:rPr kumimoji="1" lang="en-US" altLang="zh-CN" sz="2000" b="1">
                  <a:solidFill>
                    <a:srgbClr val="0000CC"/>
                  </a:solidFill>
                  <a:latin typeface="+mn-lt"/>
                  <a:ea typeface="黑体" panose="02010609060101010101" pitchFamily="2" charset="-122"/>
                </a:rPr>
                <a:t>N</a:t>
              </a:r>
              <a:r>
                <a:rPr kumimoji="1" lang="en-US" altLang="zh-CN" sz="2000" b="1" baseline="-25000">
                  <a:solidFill>
                    <a:srgbClr val="0000CC"/>
                  </a:solidFill>
                  <a:latin typeface="+mn-lt"/>
                  <a:ea typeface="黑体" panose="02010609060101010101" pitchFamily="2" charset="-122"/>
                </a:rPr>
                <a:t>7</a:t>
              </a:r>
              <a:endParaRPr kumimoji="1" lang="en-US" altLang="zh-CN" sz="2000" b="1">
                <a:solidFill>
                  <a:srgbClr val="0000CC"/>
                </a:solidFill>
                <a:latin typeface="+mn-lt"/>
                <a:ea typeface="黑体" panose="02010609060101010101" pitchFamily="2" charset="-122"/>
              </a:endParaRPr>
            </a:p>
          </p:txBody>
        </p:sp>
      </p:grpSp>
      <p:sp>
        <p:nvSpPr>
          <p:cNvPr id="607258" name="Text Box 26"/>
          <p:cNvSpPr txBox="1">
            <a:spLocks noChangeArrowheads="1"/>
          </p:cNvSpPr>
          <p:nvPr/>
        </p:nvSpPr>
        <p:spPr bwMode="auto">
          <a:xfrm>
            <a:off x="662120" y="1124744"/>
            <a:ext cx="8915400" cy="830997"/>
          </a:xfrm>
          <a:prstGeom prst="rect">
            <a:avLst/>
          </a:prstGeom>
          <a:solidFill>
            <a:srgbClr val="66FF66"/>
          </a:solidFill>
          <a:ln w="9525">
            <a:solidFill>
              <a:srgbClr val="333399"/>
            </a:solidFill>
            <a:miter lim="800000"/>
          </a:ln>
          <a:effectLst/>
        </p:spPr>
        <p:txBody>
          <a:bodyPr>
            <a:spAutoFit/>
          </a:bodyPr>
          <a:lstStyle>
            <a:defPPr>
              <a:defRPr lang="en-US"/>
            </a:defPPr>
            <a:lvl1pPr>
              <a:defRPr sz="2400" b="1">
                <a:solidFill>
                  <a:srgbClr val="000066"/>
                </a:solidFill>
                <a:latin typeface="+mn-lt"/>
                <a:ea typeface="黑体" panose="02010609060101010101" pitchFamily="2" charset="-122"/>
              </a:defRPr>
            </a:lvl1pPr>
          </a:lstStyle>
          <a:p>
            <a:r>
              <a:rPr lang="zh-CN" altLang="en-US" dirty="0"/>
              <a:t>主干网还可发出通知：“要到达网络 </a:t>
            </a:r>
            <a:r>
              <a:rPr lang="en-US" altLang="zh-CN" dirty="0"/>
              <a:t>N5</a:t>
            </a:r>
            <a:r>
              <a:rPr lang="zh-CN" altLang="en-US" dirty="0"/>
              <a:t>、</a:t>
            </a:r>
            <a:r>
              <a:rPr lang="en-US" altLang="zh-CN" dirty="0"/>
              <a:t>N6 </a:t>
            </a:r>
            <a:r>
              <a:rPr lang="zh-CN" altLang="en-US" dirty="0"/>
              <a:t>和 </a:t>
            </a:r>
            <a:r>
              <a:rPr lang="en-US" altLang="zh-CN" dirty="0"/>
              <a:t>N7 </a:t>
            </a:r>
            <a:r>
              <a:rPr lang="zh-CN" altLang="en-US" dirty="0"/>
              <a:t>可沿路径（</a:t>
            </a:r>
            <a:r>
              <a:rPr lang="en-US" altLang="zh-CN" dirty="0"/>
              <a:t>AS1, AS3</a:t>
            </a:r>
            <a:r>
              <a:rPr lang="zh-CN" altLang="en-US" dirty="0"/>
              <a:t>）。” </a:t>
            </a:r>
          </a:p>
        </p:txBody>
      </p:sp>
      <p:grpSp>
        <p:nvGrpSpPr>
          <p:cNvPr id="607260" name="Group 28"/>
          <p:cNvGrpSpPr/>
          <p:nvPr/>
        </p:nvGrpSpPr>
        <p:grpSpPr bwMode="auto">
          <a:xfrm>
            <a:off x="1910690" y="3068216"/>
            <a:ext cx="1716352" cy="1966913"/>
            <a:chOff x="1111" y="2296"/>
            <a:chExt cx="998" cy="1239"/>
          </a:xfrm>
        </p:grpSpPr>
        <p:sp>
          <p:nvSpPr>
            <p:cNvPr id="607261" name="Line 29"/>
            <p:cNvSpPr>
              <a:spLocks noChangeShapeType="1"/>
            </p:cNvSpPr>
            <p:nvPr/>
          </p:nvSpPr>
          <p:spPr bwMode="auto">
            <a:xfrm rot="10800000" flipH="1">
              <a:off x="1156" y="2296"/>
              <a:ext cx="953" cy="408"/>
            </a:xfrm>
            <a:prstGeom prst="line">
              <a:avLst/>
            </a:prstGeom>
            <a:noFill/>
            <a:ln w="7620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07262" name="Line 30"/>
            <p:cNvSpPr>
              <a:spLocks noChangeShapeType="1"/>
            </p:cNvSpPr>
            <p:nvPr/>
          </p:nvSpPr>
          <p:spPr bwMode="auto">
            <a:xfrm rot="10800000" flipH="1" flipV="1">
              <a:off x="1111" y="2976"/>
              <a:ext cx="843" cy="559"/>
            </a:xfrm>
            <a:prstGeom prst="line">
              <a:avLst/>
            </a:prstGeom>
            <a:noFill/>
            <a:ln w="7620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607255"/>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nodeType="afterEffect">
                                  <p:stCondLst>
                                    <p:cond delay="0"/>
                                  </p:stCondLst>
                                  <p:childTnLst>
                                    <p:set>
                                      <p:cBhvr>
                                        <p:cTn id="9" dur="1" fill="hold">
                                          <p:stCondLst>
                                            <p:cond delay="0"/>
                                          </p:stCondLst>
                                        </p:cTn>
                                        <p:tgtEl>
                                          <p:spTgt spid="607260"/>
                                        </p:tgtEl>
                                        <p:attrNameLst>
                                          <p:attrName>style.visibility</p:attrName>
                                        </p:attrNameLst>
                                      </p:cBhvr>
                                      <p:to>
                                        <p:strVal val="visible"/>
                                      </p:to>
                                    </p:set>
                                    <p:animEffect transition="in" filter="wipe(left)">
                                      <p:cBhvr>
                                        <p:cTn id="10" dur="1000"/>
                                        <p:tgtEl>
                                          <p:spTgt spid="607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ChangeArrowheads="1"/>
          </p:cNvSpPr>
          <p:nvPr>
            <p:ph type="title"/>
          </p:nvPr>
        </p:nvSpPr>
        <p:spPr/>
        <p:txBody>
          <a:bodyPr/>
          <a:lstStyle/>
          <a:p>
            <a:pPr algn="ctr"/>
            <a:r>
              <a:rPr lang="en-US" altLang="zh-CN"/>
              <a:t>BGP </a:t>
            </a:r>
            <a:r>
              <a:rPr lang="zh-CN" altLang="en-US"/>
              <a:t>协议的特点</a:t>
            </a:r>
          </a:p>
        </p:txBody>
      </p:sp>
      <p:sp>
        <p:nvSpPr>
          <p:cNvPr id="608259" name="Rectangle 3"/>
          <p:cNvSpPr>
            <a:spLocks noGrp="1" noChangeArrowheads="1"/>
          </p:cNvSpPr>
          <p:nvPr>
            <p:ph idx="1"/>
          </p:nvPr>
        </p:nvSpPr>
        <p:spPr/>
        <p:txBody>
          <a:bodyPr/>
          <a:lstStyle/>
          <a:p>
            <a:pPr>
              <a:spcBef>
                <a:spcPts val="1200"/>
              </a:spcBef>
            </a:pPr>
            <a:r>
              <a:rPr lang="en-US" altLang="zh-CN" dirty="0"/>
              <a:t>BGP </a:t>
            </a:r>
            <a:r>
              <a:rPr lang="zh-CN" altLang="en-US" dirty="0"/>
              <a:t>协议交换路由信息的结点数量级是</a:t>
            </a:r>
            <a:r>
              <a:rPr lang="zh-CN" altLang="en-US" dirty="0">
                <a:solidFill>
                  <a:srgbClr val="FF0000"/>
                </a:solidFill>
              </a:rPr>
              <a:t>自治系统数的量级，</a:t>
            </a:r>
            <a:r>
              <a:rPr lang="zh-CN" altLang="en-US" dirty="0"/>
              <a:t>这要比这些自治系统中的网络数少很多。</a:t>
            </a:r>
          </a:p>
          <a:p>
            <a:pPr>
              <a:spcBef>
                <a:spcPts val="1200"/>
              </a:spcBef>
            </a:pPr>
            <a:r>
              <a:rPr lang="zh-CN" altLang="en-US" dirty="0"/>
              <a:t>每一个自治系统中 </a:t>
            </a:r>
            <a:r>
              <a:rPr lang="en-US" altLang="zh-CN" dirty="0"/>
              <a:t>BGP </a:t>
            </a:r>
            <a:r>
              <a:rPr lang="zh-CN" altLang="en-US" dirty="0"/>
              <a:t>发言人（或边界路由器）的数目是很少的。这样就使得自治系统之间的路由选择不致过分复杂。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8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title"/>
          </p:nvPr>
        </p:nvSpPr>
        <p:spPr/>
        <p:txBody>
          <a:bodyPr/>
          <a:lstStyle/>
          <a:p>
            <a:pPr algn="ctr"/>
            <a:r>
              <a:rPr lang="en-US" altLang="zh-CN"/>
              <a:t>BGP </a:t>
            </a:r>
            <a:r>
              <a:rPr lang="zh-CN" altLang="en-US"/>
              <a:t>协议的特点</a:t>
            </a:r>
          </a:p>
        </p:txBody>
      </p:sp>
      <p:sp>
        <p:nvSpPr>
          <p:cNvPr id="609283" name="Rectangle 3"/>
          <p:cNvSpPr>
            <a:spLocks noGrp="1" noChangeArrowheads="1"/>
          </p:cNvSpPr>
          <p:nvPr>
            <p:ph idx="1"/>
          </p:nvPr>
        </p:nvSpPr>
        <p:spPr/>
        <p:txBody>
          <a:bodyPr/>
          <a:lstStyle/>
          <a:p>
            <a:pPr>
              <a:spcBef>
                <a:spcPts val="1200"/>
              </a:spcBef>
            </a:pPr>
            <a:r>
              <a:rPr lang="en-US" altLang="zh-CN" dirty="0">
                <a:solidFill>
                  <a:srgbClr val="FF0000"/>
                </a:solidFill>
              </a:rPr>
              <a:t>BGP </a:t>
            </a:r>
            <a:r>
              <a:rPr lang="zh-CN" altLang="en-US" dirty="0">
                <a:solidFill>
                  <a:srgbClr val="FF0000"/>
                </a:solidFill>
              </a:rPr>
              <a:t>支持 </a:t>
            </a:r>
            <a:r>
              <a:rPr lang="en-US" altLang="zh-CN" dirty="0">
                <a:solidFill>
                  <a:srgbClr val="FF0000"/>
                </a:solidFill>
              </a:rPr>
              <a:t>CIDR</a:t>
            </a:r>
            <a:r>
              <a:rPr lang="zh-CN" altLang="en-US" dirty="0">
                <a:solidFill>
                  <a:srgbClr val="FF0000"/>
                </a:solidFill>
              </a:rPr>
              <a:t>，</a:t>
            </a:r>
            <a:r>
              <a:rPr lang="zh-CN" altLang="en-US" dirty="0"/>
              <a:t>因此 </a:t>
            </a:r>
            <a:r>
              <a:rPr lang="en-US" altLang="zh-CN" dirty="0"/>
              <a:t>BGP </a:t>
            </a:r>
            <a:r>
              <a:rPr lang="zh-CN" altLang="en-US" dirty="0"/>
              <a:t>的路由表也就应当包括目的网络前缀、下一跳路由器，以及到达该目的网络所要经过的各个自治系统序列。</a:t>
            </a:r>
          </a:p>
          <a:p>
            <a:pPr>
              <a:spcBef>
                <a:spcPts val="1200"/>
              </a:spcBef>
            </a:pPr>
            <a:r>
              <a:rPr lang="zh-CN" altLang="en-US" dirty="0"/>
              <a:t>在</a:t>
            </a:r>
            <a:r>
              <a:rPr lang="en-US" altLang="zh-CN" dirty="0"/>
              <a:t>BGP </a:t>
            </a:r>
            <a:r>
              <a:rPr lang="zh-CN" altLang="en-US" dirty="0"/>
              <a:t>刚刚运行时，</a:t>
            </a:r>
            <a:r>
              <a:rPr lang="en-US" altLang="zh-CN" dirty="0"/>
              <a:t>BGP </a:t>
            </a:r>
            <a:r>
              <a:rPr lang="zh-CN" altLang="en-US" dirty="0"/>
              <a:t>的邻站是交换整个的 </a:t>
            </a:r>
            <a:r>
              <a:rPr lang="en-US" altLang="zh-CN" dirty="0"/>
              <a:t>BGP </a:t>
            </a:r>
            <a:r>
              <a:rPr lang="zh-CN" altLang="en-US" dirty="0"/>
              <a:t>路由表。但以后只需要在发生变化时</a:t>
            </a:r>
            <a:r>
              <a:rPr lang="zh-CN" altLang="en-US" dirty="0">
                <a:solidFill>
                  <a:srgbClr val="FF0000"/>
                </a:solidFill>
              </a:rPr>
              <a:t>更新有变化的部分。这样做对节省网络带宽和减少路由器的处理开销都有好处。</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928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2"/>
          <p:cNvSpPr>
            <a:spLocks noGrp="1" noChangeArrowheads="1"/>
          </p:cNvSpPr>
          <p:nvPr>
            <p:ph type="title"/>
          </p:nvPr>
        </p:nvSpPr>
        <p:spPr/>
        <p:txBody>
          <a:bodyPr/>
          <a:lstStyle/>
          <a:p>
            <a:pPr algn="ctr"/>
            <a:r>
              <a:rPr lang="en-US" altLang="zh-CN" dirty="0"/>
              <a:t>BGP-4 </a:t>
            </a:r>
            <a:r>
              <a:rPr lang="zh-CN" altLang="en-US" dirty="0"/>
              <a:t>共使用</a:t>
            </a:r>
            <a:r>
              <a:rPr lang="zh-CN" altLang="en-US" dirty="0">
                <a:solidFill>
                  <a:srgbClr val="FF0000"/>
                </a:solidFill>
              </a:rPr>
              <a:t>四种报文 </a:t>
            </a:r>
          </a:p>
        </p:txBody>
      </p:sp>
      <p:sp>
        <p:nvSpPr>
          <p:cNvPr id="61030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en-US" altLang="zh-CN" dirty="0"/>
              <a:t>(1) </a:t>
            </a:r>
            <a:r>
              <a:rPr lang="zh-CN" altLang="en-US" dirty="0">
                <a:solidFill>
                  <a:srgbClr val="FF0000"/>
                </a:solidFill>
              </a:rPr>
              <a:t>打开 </a:t>
            </a:r>
            <a:r>
              <a:rPr lang="en-US" altLang="zh-CN" dirty="0"/>
              <a:t>(OPEN) </a:t>
            </a:r>
            <a:r>
              <a:rPr lang="zh-CN" altLang="en-US" dirty="0"/>
              <a:t>报文，用来与相邻的另一个</a:t>
            </a:r>
            <a:r>
              <a:rPr lang="en-US" altLang="zh-CN" dirty="0"/>
              <a:t>BGP</a:t>
            </a:r>
            <a:r>
              <a:rPr lang="zh-CN" altLang="en-US" dirty="0"/>
              <a:t>发言人建立关系。</a:t>
            </a:r>
          </a:p>
          <a:p>
            <a:r>
              <a:rPr lang="en-US" altLang="zh-CN" dirty="0"/>
              <a:t>(2) </a:t>
            </a:r>
            <a:r>
              <a:rPr lang="zh-CN" altLang="en-US" dirty="0">
                <a:solidFill>
                  <a:srgbClr val="FF0000"/>
                </a:solidFill>
              </a:rPr>
              <a:t>更新</a:t>
            </a:r>
            <a:r>
              <a:rPr lang="zh-CN" altLang="en-US" dirty="0"/>
              <a:t> </a:t>
            </a:r>
            <a:r>
              <a:rPr lang="en-US" altLang="zh-CN" dirty="0"/>
              <a:t>(UPDATE) </a:t>
            </a:r>
            <a:r>
              <a:rPr lang="zh-CN" altLang="en-US" dirty="0"/>
              <a:t>报文，用来发送某一路由的信息，以及列出要撤消的多条路由。</a:t>
            </a:r>
          </a:p>
          <a:p>
            <a:r>
              <a:rPr lang="en-US" altLang="zh-CN" dirty="0"/>
              <a:t>(3) </a:t>
            </a:r>
            <a:r>
              <a:rPr lang="zh-CN" altLang="en-US" dirty="0">
                <a:solidFill>
                  <a:srgbClr val="FF0000"/>
                </a:solidFill>
              </a:rPr>
              <a:t>保活</a:t>
            </a:r>
            <a:r>
              <a:rPr lang="zh-CN" altLang="en-US" dirty="0"/>
              <a:t> </a:t>
            </a:r>
            <a:r>
              <a:rPr lang="en-US" altLang="zh-CN" dirty="0"/>
              <a:t>(KEEPALIVE) </a:t>
            </a:r>
            <a:r>
              <a:rPr lang="zh-CN" altLang="en-US" dirty="0"/>
              <a:t>报文，用来确认打开报文和周期性地证实邻站关系。</a:t>
            </a:r>
          </a:p>
          <a:p>
            <a:r>
              <a:rPr lang="en-US" altLang="zh-CN" dirty="0"/>
              <a:t>(4) </a:t>
            </a:r>
            <a:r>
              <a:rPr lang="zh-CN" altLang="en-US" dirty="0">
                <a:solidFill>
                  <a:srgbClr val="FF0000"/>
                </a:solidFill>
              </a:rPr>
              <a:t>通知</a:t>
            </a:r>
            <a:r>
              <a:rPr lang="zh-CN" altLang="en-US" dirty="0"/>
              <a:t> </a:t>
            </a:r>
            <a:r>
              <a:rPr lang="en-US" altLang="zh-CN" dirty="0"/>
              <a:t>(NOTIFICATION) </a:t>
            </a:r>
            <a:r>
              <a:rPr lang="zh-CN" altLang="en-US" dirty="0"/>
              <a:t>报文，用来发送检测到的差错。</a:t>
            </a: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406" name="Rectangle 78"/>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en-US" altLang="zh-CN" dirty="0"/>
              <a:t>BGP </a:t>
            </a:r>
            <a:r>
              <a:rPr lang="zh-CN" altLang="en-US" dirty="0"/>
              <a:t>报文具有</a:t>
            </a:r>
            <a:r>
              <a:rPr lang="zh-CN" altLang="en-US" dirty="0">
                <a:solidFill>
                  <a:srgbClr val="FF0000"/>
                </a:solidFill>
              </a:rPr>
              <a:t>通用首部</a:t>
            </a:r>
          </a:p>
        </p:txBody>
      </p:sp>
      <p:sp>
        <p:nvSpPr>
          <p:cNvPr id="611369" name="Rectangle 41"/>
          <p:cNvSpPr>
            <a:spLocks noChangeArrowheads="1"/>
          </p:cNvSpPr>
          <p:nvPr/>
        </p:nvSpPr>
        <p:spPr bwMode="auto">
          <a:xfrm>
            <a:off x="3288762" y="2831430"/>
            <a:ext cx="2332038" cy="465138"/>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11370" name="Rectangle 42"/>
          <p:cNvSpPr>
            <a:spLocks noChangeArrowheads="1"/>
          </p:cNvSpPr>
          <p:nvPr/>
        </p:nvSpPr>
        <p:spPr bwMode="auto">
          <a:xfrm>
            <a:off x="3223410" y="2853655"/>
            <a:ext cx="2353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BGP </a:t>
            </a:r>
            <a:r>
              <a:rPr kumimoji="1" lang="zh-CN" altLang="en-US" sz="2000" b="1">
                <a:solidFill>
                  <a:srgbClr val="0000CC"/>
                </a:solidFill>
                <a:latin typeface="+mn-lt"/>
                <a:ea typeface="黑体" panose="02010609060101010101" pitchFamily="2" charset="-122"/>
              </a:rPr>
              <a:t>报文通用首部</a:t>
            </a:r>
          </a:p>
        </p:txBody>
      </p:sp>
      <p:sp>
        <p:nvSpPr>
          <p:cNvPr id="611365" name="AutoShape 37"/>
          <p:cNvSpPr>
            <a:spLocks noChangeArrowheads="1"/>
          </p:cNvSpPr>
          <p:nvPr/>
        </p:nvSpPr>
        <p:spPr bwMode="auto">
          <a:xfrm rot="5400000">
            <a:off x="547679" y="4699390"/>
            <a:ext cx="295275" cy="632883"/>
          </a:xfrm>
          <a:prstGeom prst="downArrow">
            <a:avLst>
              <a:gd name="adj1" fmla="val 50000"/>
              <a:gd name="adj2" fmla="val 49462"/>
            </a:avLst>
          </a:prstGeom>
          <a:solidFill>
            <a:srgbClr val="C00000"/>
          </a:solidFill>
          <a:ln w="9525">
            <a:solidFill>
              <a:srgbClr val="C00000"/>
            </a:solidFill>
            <a:miter lim="800000"/>
          </a:ln>
          <a:effec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611366" name="Freeform 38"/>
          <p:cNvSpPr/>
          <p:nvPr/>
        </p:nvSpPr>
        <p:spPr bwMode="auto">
          <a:xfrm>
            <a:off x="2277525" y="2215481"/>
            <a:ext cx="4607321" cy="588963"/>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66"/>
              </a:gs>
            </a:gsLst>
            <a:lin ang="5400000" scaled="1"/>
          </a:gradFill>
          <a:ln>
            <a:noFill/>
          </a:ln>
          <a:effectLst/>
        </p:spPr>
        <p:txBody>
          <a:bodyPr/>
          <a:lstStyle/>
          <a:p>
            <a:endParaRPr lang="zh-CN" altLang="en-US" b="1">
              <a:solidFill>
                <a:srgbClr val="0000CC"/>
              </a:solidFill>
              <a:latin typeface="+mn-lt"/>
              <a:ea typeface="黑体" panose="02010609060101010101" pitchFamily="2" charset="-122"/>
            </a:endParaRPr>
          </a:p>
        </p:txBody>
      </p:sp>
      <p:sp>
        <p:nvSpPr>
          <p:cNvPr id="611367" name="Rectangle 39"/>
          <p:cNvSpPr>
            <a:spLocks noChangeArrowheads="1"/>
          </p:cNvSpPr>
          <p:nvPr/>
        </p:nvSpPr>
        <p:spPr bwMode="auto">
          <a:xfrm>
            <a:off x="1429668" y="1340768"/>
            <a:ext cx="486671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字节               </a:t>
            </a:r>
            <a:r>
              <a:rPr kumimoji="1" lang="en-US" altLang="zh-CN" sz="2000" b="1">
                <a:solidFill>
                  <a:srgbClr val="0000CC"/>
                </a:solidFill>
                <a:latin typeface="+mn-lt"/>
                <a:ea typeface="黑体" panose="02010609060101010101" pitchFamily="2" charset="-122"/>
              </a:rPr>
              <a:t>16                       2             1</a:t>
            </a:r>
          </a:p>
        </p:txBody>
      </p:sp>
      <p:sp>
        <p:nvSpPr>
          <p:cNvPr id="611368" name="Rectangle 40"/>
          <p:cNvSpPr>
            <a:spLocks noChangeArrowheads="1"/>
          </p:cNvSpPr>
          <p:nvPr/>
        </p:nvSpPr>
        <p:spPr bwMode="auto">
          <a:xfrm>
            <a:off x="3271565" y="2807618"/>
            <a:ext cx="6505971" cy="488950"/>
          </a:xfrm>
          <a:prstGeom prst="rect">
            <a:avLst/>
          </a:prstGeom>
          <a:noFill/>
          <a:ln w="9525">
            <a:solidFill>
              <a:schemeClr val="tx1"/>
            </a:solidFill>
            <a:miter lim="800000"/>
          </a:ln>
          <a:effectLst>
            <a:outerShdw dist="35921" dir="2700000" algn="ctr" rotWithShape="0">
              <a:schemeClr val="bg2"/>
            </a:outerShdw>
          </a:effectLst>
          <a:extLst>
            <a:ext uri="{909E8E84-426E-40DD-AFC4-6F175D3DCCD1}">
              <a14:hiddenFill xmlns:a14="http://schemas.microsoft.com/office/drawing/2010/main">
                <a:solidFill>
                  <a:schemeClr val="bg1"/>
                </a:solidFill>
              </a14:hiddenFill>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11371" name="Rectangle 43"/>
          <p:cNvSpPr>
            <a:spLocks noChangeArrowheads="1"/>
          </p:cNvSpPr>
          <p:nvPr/>
        </p:nvSpPr>
        <p:spPr bwMode="auto">
          <a:xfrm>
            <a:off x="6377508" y="2853655"/>
            <a:ext cx="2353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BGP </a:t>
            </a:r>
            <a:r>
              <a:rPr kumimoji="1" lang="zh-CN" altLang="en-US" sz="2000" b="1">
                <a:solidFill>
                  <a:srgbClr val="0000CC"/>
                </a:solidFill>
                <a:latin typeface="+mn-lt"/>
                <a:ea typeface="黑体" panose="02010609060101010101" pitchFamily="2" charset="-122"/>
              </a:rPr>
              <a:t>报文主体部分</a:t>
            </a:r>
          </a:p>
        </p:txBody>
      </p:sp>
      <p:sp>
        <p:nvSpPr>
          <p:cNvPr id="611372" name="Line 44"/>
          <p:cNvSpPr>
            <a:spLocks noChangeShapeType="1"/>
          </p:cNvSpPr>
          <p:nvPr/>
        </p:nvSpPr>
        <p:spPr bwMode="auto">
          <a:xfrm>
            <a:off x="5620800" y="2804444"/>
            <a:ext cx="0" cy="4921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73" name="Rectangle 45"/>
          <p:cNvSpPr>
            <a:spLocks noChangeArrowheads="1"/>
          </p:cNvSpPr>
          <p:nvPr/>
        </p:nvSpPr>
        <p:spPr bwMode="auto">
          <a:xfrm>
            <a:off x="2277525" y="1723355"/>
            <a:ext cx="4607321" cy="490538"/>
          </a:xfrm>
          <a:prstGeom prst="rect">
            <a:avLst/>
          </a:prstGeom>
          <a:solidFill>
            <a:srgbClr val="FFFF66"/>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11374" name="Rectangle 46"/>
          <p:cNvSpPr>
            <a:spLocks noChangeArrowheads="1"/>
          </p:cNvSpPr>
          <p:nvPr/>
        </p:nvSpPr>
        <p:spPr bwMode="auto">
          <a:xfrm>
            <a:off x="6073105" y="174081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类 型</a:t>
            </a:r>
          </a:p>
        </p:txBody>
      </p:sp>
      <p:sp>
        <p:nvSpPr>
          <p:cNvPr id="611375" name="Rectangle 47"/>
          <p:cNvSpPr>
            <a:spLocks noChangeArrowheads="1"/>
          </p:cNvSpPr>
          <p:nvPr/>
        </p:nvSpPr>
        <p:spPr bwMode="auto">
          <a:xfrm>
            <a:off x="4896768" y="1740818"/>
            <a:ext cx="8399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长  度</a:t>
            </a:r>
          </a:p>
        </p:txBody>
      </p:sp>
      <p:sp>
        <p:nvSpPr>
          <p:cNvPr id="611376" name="Line 48"/>
          <p:cNvSpPr>
            <a:spLocks noChangeShapeType="1"/>
          </p:cNvSpPr>
          <p:nvPr/>
        </p:nvSpPr>
        <p:spPr bwMode="auto">
          <a:xfrm>
            <a:off x="6073105" y="1723356"/>
            <a:ext cx="0" cy="4921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77" name="Line 49"/>
          <p:cNvSpPr>
            <a:spLocks noChangeShapeType="1"/>
          </p:cNvSpPr>
          <p:nvPr/>
        </p:nvSpPr>
        <p:spPr bwMode="auto">
          <a:xfrm>
            <a:off x="4626760" y="1723356"/>
            <a:ext cx="0" cy="4921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78" name="Rectangle 50"/>
          <p:cNvSpPr>
            <a:spLocks noChangeArrowheads="1"/>
          </p:cNvSpPr>
          <p:nvPr/>
        </p:nvSpPr>
        <p:spPr bwMode="auto">
          <a:xfrm>
            <a:off x="2819260" y="1740818"/>
            <a:ext cx="126316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记</a:t>
            </a:r>
          </a:p>
        </p:txBody>
      </p:sp>
      <p:grpSp>
        <p:nvGrpSpPr>
          <p:cNvPr id="611379" name="Group 51"/>
          <p:cNvGrpSpPr/>
          <p:nvPr/>
        </p:nvGrpSpPr>
        <p:grpSpPr bwMode="auto">
          <a:xfrm rot="5400000">
            <a:off x="3302786" y="1674408"/>
            <a:ext cx="192087" cy="96308"/>
            <a:chOff x="1008" y="2046"/>
            <a:chExt cx="102" cy="60"/>
          </a:xfrm>
        </p:grpSpPr>
        <p:sp>
          <p:nvSpPr>
            <p:cNvPr id="611380"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11381" name="Group 53"/>
            <p:cNvGrpSpPr/>
            <p:nvPr/>
          </p:nvGrpSpPr>
          <p:grpSpPr bwMode="auto">
            <a:xfrm>
              <a:off x="1026" y="2046"/>
              <a:ext cx="72" cy="48"/>
              <a:chOff x="1440" y="2016"/>
              <a:chExt cx="72" cy="48"/>
            </a:xfrm>
          </p:grpSpPr>
          <p:sp>
            <p:nvSpPr>
              <p:cNvPr id="611382" name="Line 54"/>
              <p:cNvSpPr>
                <a:spLocks noChangeShapeType="1"/>
              </p:cNvSpPr>
              <p:nvPr/>
            </p:nvSpPr>
            <p:spPr bwMode="auto">
              <a:xfrm>
                <a:off x="1440" y="2016"/>
                <a:ext cx="72" cy="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83" name="Line 55"/>
              <p:cNvSpPr>
                <a:spLocks noChangeShapeType="1"/>
              </p:cNvSpPr>
              <p:nvPr/>
            </p:nvSpPr>
            <p:spPr bwMode="auto">
              <a:xfrm>
                <a:off x="1440" y="2064"/>
                <a:ext cx="72" cy="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grpSp>
        <p:nvGrpSpPr>
          <p:cNvPr id="611384" name="Group 56"/>
          <p:cNvGrpSpPr/>
          <p:nvPr/>
        </p:nvGrpSpPr>
        <p:grpSpPr bwMode="auto">
          <a:xfrm rot="5400000">
            <a:off x="3313104" y="2166533"/>
            <a:ext cx="192087" cy="96308"/>
            <a:chOff x="1008" y="2046"/>
            <a:chExt cx="102" cy="60"/>
          </a:xfrm>
        </p:grpSpPr>
        <p:sp>
          <p:nvSpPr>
            <p:cNvPr id="611385"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611386" name="Group 58"/>
            <p:cNvGrpSpPr/>
            <p:nvPr/>
          </p:nvGrpSpPr>
          <p:grpSpPr bwMode="auto">
            <a:xfrm>
              <a:off x="1026" y="2046"/>
              <a:ext cx="72" cy="48"/>
              <a:chOff x="1440" y="2016"/>
              <a:chExt cx="72" cy="48"/>
            </a:xfrm>
          </p:grpSpPr>
          <p:sp>
            <p:nvSpPr>
              <p:cNvPr id="611387" name="Line 59"/>
              <p:cNvSpPr>
                <a:spLocks noChangeShapeType="1"/>
              </p:cNvSpPr>
              <p:nvPr/>
            </p:nvSpPr>
            <p:spPr bwMode="auto">
              <a:xfrm>
                <a:off x="1440" y="2016"/>
                <a:ext cx="72" cy="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88" name="Line 60"/>
              <p:cNvSpPr>
                <a:spLocks noChangeShapeType="1"/>
              </p:cNvSpPr>
              <p:nvPr/>
            </p:nvSpPr>
            <p:spPr bwMode="auto">
              <a:xfrm>
                <a:off x="1440" y="2064"/>
                <a:ext cx="72" cy="0"/>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grpSp>
      </p:grpSp>
      <p:sp>
        <p:nvSpPr>
          <p:cNvPr id="611391" name="Rectangle 63"/>
          <p:cNvSpPr>
            <a:spLocks noChangeArrowheads="1"/>
          </p:cNvSpPr>
          <p:nvPr/>
        </p:nvSpPr>
        <p:spPr bwMode="auto">
          <a:xfrm>
            <a:off x="2095227" y="3788694"/>
            <a:ext cx="7682309" cy="490537"/>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11392" name="Line 64"/>
          <p:cNvSpPr>
            <a:spLocks noChangeShapeType="1"/>
          </p:cNvSpPr>
          <p:nvPr/>
        </p:nvSpPr>
        <p:spPr bwMode="auto">
          <a:xfrm>
            <a:off x="3271565" y="3787106"/>
            <a:ext cx="0" cy="4921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93" name="Rectangle 65"/>
          <p:cNvSpPr>
            <a:spLocks noChangeArrowheads="1"/>
          </p:cNvSpPr>
          <p:nvPr/>
        </p:nvSpPr>
        <p:spPr bwMode="auto">
          <a:xfrm>
            <a:off x="2083341" y="3861718"/>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anose="02010609060101010101" pitchFamily="2" charset="-122"/>
              </a:rPr>
              <a:t>TCP</a:t>
            </a:r>
            <a:r>
              <a:rPr kumimoji="1" lang="zh-CN" altLang="en-US" sz="2000" b="1" dirty="0">
                <a:solidFill>
                  <a:srgbClr val="0000CC"/>
                </a:solidFill>
                <a:latin typeface="+mn-lt"/>
                <a:ea typeface="黑体" panose="02010609060101010101" pitchFamily="2" charset="-122"/>
              </a:rPr>
              <a:t>首部</a:t>
            </a:r>
          </a:p>
        </p:txBody>
      </p:sp>
      <p:sp>
        <p:nvSpPr>
          <p:cNvPr id="611394" name="AutoShape 66"/>
          <p:cNvSpPr>
            <a:spLocks noChangeArrowheads="1"/>
          </p:cNvSpPr>
          <p:nvPr/>
        </p:nvSpPr>
        <p:spPr bwMode="auto">
          <a:xfrm>
            <a:off x="6162534" y="3198144"/>
            <a:ext cx="270008" cy="688975"/>
          </a:xfrm>
          <a:prstGeom prst="downArrow">
            <a:avLst>
              <a:gd name="adj1" fmla="val 50000"/>
              <a:gd name="adj2" fmla="val 69108"/>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611395" name="Rectangle 67"/>
          <p:cNvSpPr>
            <a:spLocks noChangeArrowheads="1"/>
          </p:cNvSpPr>
          <p:nvPr/>
        </p:nvSpPr>
        <p:spPr bwMode="auto">
          <a:xfrm>
            <a:off x="920609" y="4772944"/>
            <a:ext cx="8856927" cy="490537"/>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611396" name="Rectangle 68"/>
          <p:cNvSpPr>
            <a:spLocks noChangeArrowheads="1"/>
          </p:cNvSpPr>
          <p:nvPr/>
        </p:nvSpPr>
        <p:spPr bwMode="auto">
          <a:xfrm>
            <a:off x="979082" y="4807868"/>
            <a:ext cx="100688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首部</a:t>
            </a:r>
          </a:p>
        </p:txBody>
      </p:sp>
      <p:sp>
        <p:nvSpPr>
          <p:cNvPr id="611397" name="Line 69"/>
          <p:cNvSpPr>
            <a:spLocks noChangeShapeType="1"/>
          </p:cNvSpPr>
          <p:nvPr/>
        </p:nvSpPr>
        <p:spPr bwMode="auto">
          <a:xfrm>
            <a:off x="2095227" y="4771356"/>
            <a:ext cx="0" cy="4921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611398" name="AutoShape 70"/>
          <p:cNvSpPr>
            <a:spLocks noChangeArrowheads="1"/>
          </p:cNvSpPr>
          <p:nvPr/>
        </p:nvSpPr>
        <p:spPr bwMode="auto">
          <a:xfrm>
            <a:off x="5801378" y="4182394"/>
            <a:ext cx="271727" cy="688975"/>
          </a:xfrm>
          <a:prstGeom prst="downArrow">
            <a:avLst>
              <a:gd name="adj1" fmla="val 50000"/>
              <a:gd name="adj2" fmla="val 68671"/>
            </a:avLst>
          </a:prstGeom>
          <a:solidFill>
            <a:srgbClr val="9933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anose="02010609060101010101" pitchFamily="2" charset="-122"/>
            </a:endParaRPr>
          </a:p>
        </p:txBody>
      </p:sp>
      <p:sp>
        <p:nvSpPr>
          <p:cNvPr id="611399" name="Rectangle 71"/>
          <p:cNvSpPr>
            <a:spLocks noChangeArrowheads="1"/>
          </p:cNvSpPr>
          <p:nvPr/>
        </p:nvSpPr>
        <p:spPr bwMode="auto">
          <a:xfrm>
            <a:off x="5679273" y="3823618"/>
            <a:ext cx="132106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BGP </a:t>
            </a:r>
            <a:r>
              <a:rPr kumimoji="1" lang="zh-CN" altLang="en-US" sz="2000" b="1">
                <a:solidFill>
                  <a:srgbClr val="0000CC"/>
                </a:solidFill>
                <a:latin typeface="+mn-lt"/>
                <a:ea typeface="黑体" panose="02010609060101010101" pitchFamily="2" charset="-122"/>
              </a:rPr>
              <a:t>报文</a:t>
            </a:r>
          </a:p>
        </p:txBody>
      </p:sp>
      <p:sp>
        <p:nvSpPr>
          <p:cNvPr id="611400" name="Rectangle 72"/>
          <p:cNvSpPr>
            <a:spLocks noChangeArrowheads="1"/>
          </p:cNvSpPr>
          <p:nvPr/>
        </p:nvSpPr>
        <p:spPr bwMode="auto">
          <a:xfrm>
            <a:off x="5349073" y="4807868"/>
            <a:ext cx="12793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TCP </a:t>
            </a:r>
            <a:r>
              <a:rPr kumimoji="1" lang="zh-CN" altLang="en-US" sz="2000" b="1">
                <a:solidFill>
                  <a:srgbClr val="0000CC"/>
                </a:solidFill>
                <a:latin typeface="+mn-lt"/>
                <a:ea typeface="黑体" panose="02010609060101010101" pitchFamily="2" charset="-122"/>
              </a:rPr>
              <a:t>报文</a:t>
            </a:r>
          </a:p>
        </p:txBody>
      </p:sp>
      <p:cxnSp>
        <p:nvCxnSpPr>
          <p:cNvPr id="3" name="直接连接符 2"/>
          <p:cNvCxnSpPr/>
          <p:nvPr/>
        </p:nvCxnSpPr>
        <p:spPr bwMode="auto">
          <a:xfrm>
            <a:off x="3288762" y="3296569"/>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a:off x="9777536" y="3296569"/>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42"/>
          <p:cNvCxnSpPr/>
          <p:nvPr/>
        </p:nvCxnSpPr>
        <p:spPr bwMode="auto">
          <a:xfrm>
            <a:off x="3288762"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p:nvPr/>
        </p:nvCxnSpPr>
        <p:spPr bwMode="auto">
          <a:xfrm>
            <a:off x="9777536"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44"/>
          <p:cNvCxnSpPr/>
          <p:nvPr/>
        </p:nvCxnSpPr>
        <p:spPr bwMode="auto">
          <a:xfrm>
            <a:off x="2107782"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文本框 99"/>
          <p:cNvSpPr txBox="1"/>
          <p:nvPr/>
        </p:nvSpPr>
        <p:spPr>
          <a:xfrm>
            <a:off x="854710" y="1104265"/>
            <a:ext cx="8196580" cy="1476375"/>
          </a:xfrm>
          <a:prstGeom prst="rect">
            <a:avLst/>
          </a:prstGeom>
          <a:noFill/>
          <a:ln w="9525">
            <a:noFill/>
          </a:ln>
        </p:spPr>
        <p:txBody>
          <a:bodyPr wrap="square">
            <a:spAutoFit/>
          </a:bodyPr>
          <a:lstStyle/>
          <a:p>
            <a:pPr marL="0" indent="0"/>
            <a:r>
              <a:rPr lang="zh-CN" sz="1800" b="0">
                <a:ea typeface="宋体" panose="02010600030101010101" pitchFamily="2" charset="-122"/>
              </a:rPr>
              <a:t>某公司网络拓扑如下图所示，路由器</a:t>
            </a:r>
            <a:r>
              <a:rPr lang="en-US" sz="1800" b="0">
                <a:latin typeface="宋体" panose="02010600030101010101" pitchFamily="2" charset="-122"/>
              </a:rPr>
              <a:t>R1</a:t>
            </a:r>
            <a:r>
              <a:rPr lang="zh-CN" sz="1800" b="0">
                <a:ea typeface="宋体" panose="02010600030101010101" pitchFamily="2" charset="-122"/>
              </a:rPr>
              <a:t>通过接口E1、E2分别连接局域网1、局域网2， 通过接口L0连接路由器R2，并通过路由器R2连接域名服务器与互联网。R1的L0接口的IP地址是 202.118.2.1；R2的L0接口的IP地址是202.118.2.2，L1接口的IP地址是130.11.120.1，E0接口的 IP地址是202.118.3.1；域名服务器的IP地址是202.118.3.2。</a:t>
            </a:r>
            <a:endParaRPr lang="zh-CN" altLang="en-US" sz="1800" b="0">
              <a:ea typeface="宋体" panose="02010600030101010101" pitchFamily="2" charset="-122"/>
            </a:endParaRPr>
          </a:p>
        </p:txBody>
      </p:sp>
      <p:pic>
        <p:nvPicPr>
          <p:cNvPr id="4" name="图片 3"/>
          <p:cNvPicPr>
            <a:picLocks noChangeAspect="1"/>
          </p:cNvPicPr>
          <p:nvPr/>
        </p:nvPicPr>
        <p:blipFill>
          <a:blip r:embed="rId2"/>
          <a:stretch>
            <a:fillRect/>
          </a:stretch>
        </p:blipFill>
        <p:spPr>
          <a:xfrm>
            <a:off x="1419225" y="2505710"/>
            <a:ext cx="6667500" cy="2305050"/>
          </a:xfrm>
          <a:prstGeom prst="rect">
            <a:avLst/>
          </a:prstGeom>
        </p:spPr>
      </p:pic>
      <p:sp>
        <p:nvSpPr>
          <p:cNvPr id="5" name="文本框 4"/>
          <p:cNvSpPr txBox="1"/>
          <p:nvPr/>
        </p:nvSpPr>
        <p:spPr>
          <a:xfrm>
            <a:off x="391160" y="5315585"/>
            <a:ext cx="5080000" cy="1198880"/>
          </a:xfrm>
          <a:prstGeom prst="rect">
            <a:avLst/>
          </a:prstGeom>
          <a:noFill/>
          <a:ln w="9525">
            <a:noFill/>
          </a:ln>
        </p:spPr>
        <p:txBody>
          <a:bodyPr>
            <a:spAutoFit/>
          </a:bodyPr>
          <a:lstStyle/>
          <a:p>
            <a:pPr marL="0" indent="0" algn="just"/>
            <a:r>
              <a:rPr lang="en-US" altLang="zh-CN" sz="1800" b="0">
                <a:ea typeface="宋体" panose="02010600030101010101" pitchFamily="2" charset="-122"/>
              </a:rPr>
              <a:t>1.</a:t>
            </a:r>
            <a:r>
              <a:rPr lang="zh-CN" sz="1800" b="0">
                <a:ea typeface="宋体" panose="02010600030101010101" pitchFamily="2" charset="-122"/>
              </a:rPr>
              <a:t>将</a:t>
            </a:r>
            <a:r>
              <a:rPr lang="en-US" sz="1800" b="0">
                <a:latin typeface="宋体" panose="02010600030101010101" pitchFamily="2" charset="-122"/>
              </a:rPr>
              <a:t>IP</a:t>
            </a:r>
            <a:r>
              <a:rPr lang="zh-CN" sz="1800" b="0">
                <a:ea typeface="宋体" panose="02010600030101010101" pitchFamily="2" charset="-122"/>
              </a:rPr>
              <a:t>地址空间202.118.1.0/24划分为两个子网，分配给局域网1、局域网2，每个局域网分配的IP地址数不少于120个。请给出子网划分结果，说明理由或给出必要的计算过程。</a:t>
            </a:r>
            <a:endParaRPr lang="zh-CN" altLang="en-US" sz="1800" b="0">
              <a:ea typeface="宋体" panose="02010600030101010101" pitchFamily="2" charset="-122"/>
            </a:endParaRPr>
          </a:p>
        </p:txBody>
      </p:sp>
      <p:sp>
        <p:nvSpPr>
          <p:cNvPr id="6" name="文本框 5"/>
          <p:cNvSpPr txBox="1"/>
          <p:nvPr/>
        </p:nvSpPr>
        <p:spPr>
          <a:xfrm>
            <a:off x="6034405" y="4116705"/>
            <a:ext cx="3644265" cy="1198880"/>
          </a:xfrm>
          <a:prstGeom prst="rect">
            <a:avLst/>
          </a:prstGeom>
          <a:noFill/>
          <a:ln w="9525">
            <a:noFill/>
          </a:ln>
        </p:spPr>
        <p:txBody>
          <a:bodyPr wrap="square">
            <a:spAutoFit/>
          </a:bodyPr>
          <a:lstStyle/>
          <a:p>
            <a:pPr algn="just">
              <a:buClrTx/>
              <a:buSzTx/>
              <a:buFontTx/>
            </a:pPr>
            <a:r>
              <a:rPr lang="en-US" altLang="zh-CN" sz="1800">
                <a:ea typeface="宋体" panose="02010600030101010101" pitchFamily="2" charset="-122"/>
                <a:sym typeface="+mn-ea"/>
              </a:rPr>
              <a:t>2.请给出R1的路由表，使其明确包括到局域网1的路由、局域网2的路由、域名服务器的主机路由和互联网的路由。</a:t>
            </a:r>
            <a:r>
              <a:rPr lang="en-US" altLang="zh-CN" sz="1600">
                <a:ea typeface="宋体" panose="02010600030101010101" pitchFamily="2" charset="-122"/>
                <a:sym typeface="+mn-ea"/>
              </a:rPr>
              <a:t> </a:t>
            </a:r>
          </a:p>
        </p:txBody>
      </p:sp>
      <p:sp>
        <p:nvSpPr>
          <p:cNvPr id="7" name="文本框 6"/>
          <p:cNvSpPr txBox="1"/>
          <p:nvPr/>
        </p:nvSpPr>
        <p:spPr>
          <a:xfrm>
            <a:off x="6034405" y="5790565"/>
            <a:ext cx="3643630" cy="645160"/>
          </a:xfrm>
          <a:prstGeom prst="rect">
            <a:avLst/>
          </a:prstGeom>
          <a:noFill/>
          <a:ln w="9525">
            <a:noFill/>
          </a:ln>
        </p:spPr>
        <p:txBody>
          <a:bodyPr wrap="square">
            <a:spAutoFit/>
          </a:bodyPr>
          <a:lstStyle/>
          <a:p>
            <a:pPr lvl="0" algn="just">
              <a:buClrTx/>
              <a:buSzTx/>
              <a:buFontTx/>
            </a:pPr>
            <a:r>
              <a:rPr lang="en-US" altLang="zh-CN" sz="1800">
                <a:ea typeface="宋体" panose="02010600030101010101" pitchFamily="2" charset="-122"/>
                <a:sym typeface="+mn-ea"/>
              </a:rPr>
              <a:t>3.请采用路由聚合技术，给出R2到局域网1和局域网2的路由。</a:t>
            </a: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2"/>
          <a:stretch>
            <a:fillRect/>
          </a:stretch>
        </p:blipFill>
        <p:spPr>
          <a:xfrm>
            <a:off x="1326515" y="1215390"/>
            <a:ext cx="6257925" cy="1695450"/>
          </a:xfrm>
          <a:prstGeom prst="rect">
            <a:avLst/>
          </a:prstGeom>
        </p:spPr>
      </p:pic>
      <p:pic>
        <p:nvPicPr>
          <p:cNvPr id="4" name="图片 3"/>
          <p:cNvPicPr>
            <a:picLocks noChangeAspect="1"/>
          </p:cNvPicPr>
          <p:nvPr/>
        </p:nvPicPr>
        <p:blipFill>
          <a:blip r:embed="rId3"/>
          <a:stretch>
            <a:fillRect/>
          </a:stretch>
        </p:blipFill>
        <p:spPr>
          <a:xfrm>
            <a:off x="1470025" y="3345815"/>
            <a:ext cx="6353175" cy="1590675"/>
          </a:xfrm>
          <a:prstGeom prst="rect">
            <a:avLst/>
          </a:prstGeom>
        </p:spPr>
      </p:pic>
      <p:pic>
        <p:nvPicPr>
          <p:cNvPr id="6" name="图片 5"/>
          <p:cNvPicPr>
            <a:picLocks noChangeAspect="1"/>
          </p:cNvPicPr>
          <p:nvPr/>
        </p:nvPicPr>
        <p:blipFill>
          <a:blip r:embed="rId4"/>
          <a:stretch>
            <a:fillRect/>
          </a:stretch>
        </p:blipFill>
        <p:spPr>
          <a:xfrm>
            <a:off x="1616075" y="4864735"/>
            <a:ext cx="6111875" cy="400050"/>
          </a:xfrm>
          <a:prstGeom prst="rect">
            <a:avLst/>
          </a:prstGeom>
        </p:spPr>
      </p:pic>
      <p:pic>
        <p:nvPicPr>
          <p:cNvPr id="7" name="图片 6"/>
          <p:cNvPicPr>
            <a:picLocks noChangeAspect="1"/>
          </p:cNvPicPr>
          <p:nvPr/>
        </p:nvPicPr>
        <p:blipFill>
          <a:blip r:embed="rId5"/>
          <a:stretch>
            <a:fillRect/>
          </a:stretch>
        </p:blipFill>
        <p:spPr>
          <a:xfrm>
            <a:off x="1476375" y="5800090"/>
            <a:ext cx="6391275" cy="828675"/>
          </a:xfrm>
          <a:prstGeom prst="rect">
            <a:avLst/>
          </a:prstGeom>
        </p:spPr>
      </p:pic>
      <p:sp>
        <p:nvSpPr>
          <p:cNvPr id="8" name="文本框 7"/>
          <p:cNvSpPr txBox="1"/>
          <p:nvPr/>
        </p:nvSpPr>
        <p:spPr>
          <a:xfrm>
            <a:off x="1123950" y="1117600"/>
            <a:ext cx="443865" cy="368300"/>
          </a:xfrm>
          <a:prstGeom prst="rect">
            <a:avLst/>
          </a:prstGeom>
          <a:noFill/>
        </p:spPr>
        <p:txBody>
          <a:bodyPr wrap="square" rtlCol="0">
            <a:spAutoFit/>
          </a:bodyPr>
          <a:lstStyle/>
          <a:p>
            <a:r>
              <a:rPr lang="en-US" altLang="zh-CN"/>
              <a:t>1.</a:t>
            </a:r>
          </a:p>
        </p:txBody>
      </p:sp>
      <p:sp>
        <p:nvSpPr>
          <p:cNvPr id="9" name="文本框 8"/>
          <p:cNvSpPr txBox="1"/>
          <p:nvPr/>
        </p:nvSpPr>
        <p:spPr>
          <a:xfrm>
            <a:off x="1123950" y="3244850"/>
            <a:ext cx="443865" cy="368300"/>
          </a:xfrm>
          <a:prstGeom prst="rect">
            <a:avLst/>
          </a:prstGeom>
          <a:noFill/>
        </p:spPr>
        <p:txBody>
          <a:bodyPr wrap="square" rtlCol="0">
            <a:spAutoFit/>
          </a:bodyPr>
          <a:lstStyle/>
          <a:p>
            <a:r>
              <a:rPr lang="en-US" altLang="zh-CN"/>
              <a:t>2.</a:t>
            </a:r>
          </a:p>
        </p:txBody>
      </p:sp>
      <p:sp>
        <p:nvSpPr>
          <p:cNvPr id="10" name="文本框 9"/>
          <p:cNvSpPr txBox="1"/>
          <p:nvPr/>
        </p:nvSpPr>
        <p:spPr>
          <a:xfrm>
            <a:off x="1123950" y="5626735"/>
            <a:ext cx="443865" cy="368300"/>
          </a:xfrm>
          <a:prstGeom prst="rect">
            <a:avLst/>
          </a:prstGeom>
          <a:noFill/>
        </p:spPr>
        <p:txBody>
          <a:bodyPr wrap="square" rtlCol="0">
            <a:spAutoFit/>
          </a:bodyPr>
          <a:lstStyle/>
          <a:p>
            <a:r>
              <a:rPr lang="en-US" altLang="zh-CN"/>
              <a:t>3.</a:t>
            </a:r>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0001.中国网络电视台-IPV6将解决IP地址枯竭危机">
            <a:hlinkClick r:id="" action="ppaction://media"/>
          </p:cNvPr>
          <p:cNvPicPr/>
          <p:nvPr>
            <a:videoFile r:link="rId2"/>
            <p:extLst>
              <p:ext uri="{DAA4B4D4-6D71-4841-9C94-3DE7FCFB9230}">
                <p14:media xmlns:p14="http://schemas.microsoft.com/office/powerpoint/2010/main" r:embed="rId1"/>
              </p:ext>
            </p:extLst>
          </p:nvPr>
        </p:nvPicPr>
        <p:blipFill>
          <a:blip r:embed="rId5"/>
          <a:stretch>
            <a:fillRect/>
          </a:stretch>
        </p:blipFill>
        <p:spPr>
          <a:xfrm>
            <a:off x="4445" y="-10795"/>
            <a:ext cx="9914255" cy="6889115"/>
          </a:xfrm>
          <a:prstGeom prst="rect">
            <a:avLst/>
          </a:prstGeom>
        </p:spPr>
      </p:pic>
    </p:spTree>
  </p:cSld>
  <p:clrMapOvr>
    <a:masterClrMapping/>
  </p:clrMapOvr>
  <p:timing>
    <p:tnLst>
      <p:par>
        <p:cTn id="1" dur="indefinite" restart="never" nodeType="tmRoot">
          <p:childTnLst>
            <p:video>
              <p:cMediaNode>
                <p:cTn id="2" fill="hold" display="1">
                  <p:stCondLst>
                    <p:cond delay="indefinite"/>
                  </p:stCondLst>
                  <p:endCondLst>
                    <p:cond evt="onNext" delay="0">
                      <p:tgtEl>
                        <p:sldTgt/>
                      </p:tgtEl>
                    </p:cond>
                    <p:cond evt="onPrev" delay="0">
                      <p:tgtEl>
                        <p:sldTgt/>
                      </p:tgtEl>
                    </p:cond>
                  </p:endCondLst>
                </p:cTn>
                <p:tgtEl>
                  <p:spTgt spid="3"/>
                </p:tgtEl>
              </p:cMediaNode>
            </p:video>
            <p:seq concurrent="1" nextAc="seek">
              <p:cTn id="3" restart="whenNotActive" fill="hold" evtFilter="cancelBubble" nodeType="interactiveSeq">
                <p:stCondLst>
                  <p:cond evt="onClick" delay="0">
                    <p:tgtEl>
                      <p:spTgt spid="3"/>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405782959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sz="3400" dirty="0"/>
              <a:t>4.8  </a:t>
            </a:r>
            <a:r>
              <a:rPr lang="zh-CN" altLang="zh-CN" sz="3400" dirty="0"/>
              <a:t>虚拟专用网</a:t>
            </a:r>
            <a:r>
              <a:rPr lang="en-US" altLang="zh-CN" sz="3400" dirty="0"/>
              <a:t> VPN</a:t>
            </a:r>
            <a:r>
              <a:rPr lang="zh-CN" altLang="zh-CN" sz="3400" dirty="0"/>
              <a:t>和网络地址转换</a:t>
            </a:r>
            <a:r>
              <a:rPr lang="en-US" altLang="zh-CN" sz="3400" dirty="0"/>
              <a:t> NAT</a:t>
            </a:r>
            <a:endParaRPr lang="zh-CN" altLang="zh-CN" sz="3400" dirty="0"/>
          </a:p>
        </p:txBody>
      </p:sp>
      <p:sp>
        <p:nvSpPr>
          <p:cNvPr id="931843" name="Rectangle 3"/>
          <p:cNvSpPr>
            <a:spLocks noGrp="1" noChangeArrowheads="1"/>
          </p:cNvSpPr>
          <p:nvPr>
            <p:ph idx="1"/>
          </p:nvPr>
        </p:nvSpPr>
        <p:spPr/>
        <p:txBody>
          <a:bodyPr/>
          <a:lstStyle/>
          <a:p>
            <a:r>
              <a:rPr lang="en-US" altLang="zh-CN" dirty="0"/>
              <a:t>4.8.1  </a:t>
            </a:r>
            <a:r>
              <a:rPr lang="zh-CN" altLang="zh-CN" dirty="0"/>
              <a:t>虚拟专用网</a:t>
            </a:r>
            <a:r>
              <a:rPr lang="en-US" altLang="zh-CN" dirty="0"/>
              <a:t> VPN</a:t>
            </a:r>
            <a:endParaRPr lang="zh-CN" altLang="zh-CN" dirty="0"/>
          </a:p>
          <a:p>
            <a:r>
              <a:rPr lang="en-US" altLang="zh-CN" dirty="0"/>
              <a:t>4.8.2  </a:t>
            </a:r>
            <a:r>
              <a:rPr lang="zh-CN" altLang="zh-CN" dirty="0"/>
              <a:t>网络地址转换</a:t>
            </a:r>
            <a:r>
              <a:rPr lang="en-US" altLang="zh-CN" dirty="0"/>
              <a:t> NAT</a:t>
            </a:r>
            <a:endParaRPr lang="zh-CN" altLang="zh-CN" dirty="0"/>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4.8.1  </a:t>
            </a:r>
            <a:r>
              <a:rPr lang="zh-CN" altLang="zh-CN" dirty="0"/>
              <a:t>虚拟专用网</a:t>
            </a:r>
            <a:r>
              <a:rPr lang="en-US" altLang="zh-CN" dirty="0"/>
              <a:t> VPN</a:t>
            </a:r>
            <a:endParaRPr lang="zh-CN" altLang="en-US" dirty="0"/>
          </a:p>
        </p:txBody>
      </p:sp>
      <p:sp>
        <p:nvSpPr>
          <p:cNvPr id="3" name="内容占位符 2"/>
          <p:cNvSpPr>
            <a:spLocks noGrp="1"/>
          </p:cNvSpPr>
          <p:nvPr>
            <p:ph idx="1"/>
          </p:nvPr>
        </p:nvSpPr>
        <p:spPr/>
        <p:txBody>
          <a:bodyPr/>
          <a:lstStyle/>
          <a:p>
            <a:r>
              <a:rPr lang="zh-CN" altLang="zh-CN" dirty="0"/>
              <a:t>由于</a:t>
            </a:r>
            <a:r>
              <a:rPr lang="en-US" altLang="zh-CN" dirty="0"/>
              <a:t> </a:t>
            </a:r>
            <a:r>
              <a:rPr lang="en-US" altLang="zh-CN" dirty="0">
                <a:solidFill>
                  <a:srgbClr val="FF0000"/>
                </a:solidFill>
              </a:rPr>
              <a:t>IP </a:t>
            </a:r>
            <a:r>
              <a:rPr lang="zh-CN" altLang="zh-CN" dirty="0">
                <a:solidFill>
                  <a:srgbClr val="FF0000"/>
                </a:solidFill>
              </a:rPr>
              <a:t>地址的紧缺，</a:t>
            </a:r>
            <a:r>
              <a:rPr lang="zh-CN" altLang="zh-CN" dirty="0"/>
              <a:t>一个机构能够申请到的</a:t>
            </a:r>
            <a:r>
              <a:rPr lang="en-US" altLang="zh-CN" dirty="0"/>
              <a:t>IP</a:t>
            </a:r>
            <a:r>
              <a:rPr lang="zh-CN" altLang="zh-CN" dirty="0"/>
              <a:t>地址数往往远小于本机构所拥有的主机数。</a:t>
            </a:r>
            <a:endParaRPr lang="en-US" altLang="zh-CN" dirty="0"/>
          </a:p>
          <a:p>
            <a:r>
              <a:rPr lang="zh-CN" altLang="zh-CN" dirty="0"/>
              <a:t>考虑到</a:t>
            </a:r>
            <a:r>
              <a:rPr lang="zh-CN" altLang="zh-CN" dirty="0">
                <a:solidFill>
                  <a:srgbClr val="FF0000"/>
                </a:solidFill>
              </a:rPr>
              <a:t>互联网并不很安全，</a:t>
            </a:r>
            <a:r>
              <a:rPr lang="zh-CN" altLang="zh-CN" dirty="0"/>
              <a:t>一个机构内也并不需要把所有的主机接入到外部的互联网。</a:t>
            </a:r>
            <a:endParaRPr lang="en-US" altLang="zh-CN" dirty="0"/>
          </a:p>
          <a:p>
            <a:r>
              <a:rPr lang="zh-CN" altLang="zh-CN" dirty="0"/>
              <a:t>假定在一个机构内部的计算机通信也是采用</a:t>
            </a:r>
            <a:r>
              <a:rPr lang="en-US" altLang="zh-CN" dirty="0"/>
              <a:t> TCP/IP </a:t>
            </a:r>
            <a:r>
              <a:rPr lang="zh-CN" altLang="zh-CN" dirty="0"/>
              <a:t>协议，那么从原则上讲，对于这些仅在</a:t>
            </a:r>
            <a:r>
              <a:rPr lang="zh-CN" altLang="zh-CN" dirty="0">
                <a:solidFill>
                  <a:srgbClr val="FF0000"/>
                </a:solidFill>
              </a:rPr>
              <a:t>机构内部使用</a:t>
            </a:r>
            <a:r>
              <a:rPr lang="zh-CN" altLang="zh-CN" dirty="0"/>
              <a:t>的计算机就可以由本机构</a:t>
            </a:r>
            <a:r>
              <a:rPr lang="zh-CN" altLang="zh-CN" dirty="0">
                <a:solidFill>
                  <a:srgbClr val="FF0000"/>
                </a:solidFill>
              </a:rPr>
              <a:t>自行分配其</a:t>
            </a:r>
            <a:r>
              <a:rPr lang="en-US" altLang="zh-CN" dirty="0">
                <a:solidFill>
                  <a:srgbClr val="FF0000"/>
                </a:solidFill>
              </a:rPr>
              <a:t> IP </a:t>
            </a:r>
            <a:r>
              <a:rPr lang="zh-CN" altLang="zh-CN" dirty="0">
                <a:solidFill>
                  <a:srgbClr val="FF0000"/>
                </a:solidFill>
              </a:rPr>
              <a:t>地址。</a:t>
            </a:r>
            <a:endParaRPr lang="zh-CN" altLang="en-US" dirty="0">
              <a:solidFill>
                <a:srgbClr val="FF0000"/>
              </a:solidFill>
            </a:endParaRP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本地地址与全球地址</a:t>
            </a:r>
          </a:p>
        </p:txBody>
      </p:sp>
      <p:sp>
        <p:nvSpPr>
          <p:cNvPr id="3" name="内容占位符 2"/>
          <p:cNvSpPr>
            <a:spLocks noGrp="1"/>
          </p:cNvSpPr>
          <p:nvPr>
            <p:ph idx="1"/>
          </p:nvPr>
        </p:nvSpPr>
        <p:spPr/>
        <p:txBody>
          <a:bodyPr/>
          <a:lstStyle/>
          <a:p>
            <a:r>
              <a:rPr lang="zh-CN" altLang="en-US" dirty="0">
                <a:solidFill>
                  <a:srgbClr val="FF0000"/>
                </a:solidFill>
              </a:rPr>
              <a:t>本地地址</a:t>
            </a:r>
            <a:r>
              <a:rPr lang="en-US" altLang="zh-CN" dirty="0"/>
              <a:t>——</a:t>
            </a:r>
            <a:r>
              <a:rPr lang="zh-CN" altLang="en-US" dirty="0"/>
              <a:t>仅在机构内部使用的 </a:t>
            </a:r>
            <a:r>
              <a:rPr lang="en-US" altLang="zh-CN" dirty="0"/>
              <a:t>IP </a:t>
            </a:r>
            <a:r>
              <a:rPr lang="zh-CN" altLang="en-US" dirty="0"/>
              <a:t>地址，可以由本机构自行分配，而不需要向互联网的管理机构申请。</a:t>
            </a:r>
          </a:p>
          <a:p>
            <a:r>
              <a:rPr lang="zh-CN" altLang="en-US" dirty="0">
                <a:solidFill>
                  <a:srgbClr val="FF0000"/>
                </a:solidFill>
              </a:rPr>
              <a:t>全球地址</a:t>
            </a:r>
            <a:r>
              <a:rPr lang="en-US" altLang="zh-CN" dirty="0"/>
              <a:t>——</a:t>
            </a:r>
            <a:r>
              <a:rPr lang="zh-CN" altLang="en-US" dirty="0"/>
              <a:t>全球唯一的 </a:t>
            </a:r>
            <a:r>
              <a:rPr lang="en-US" altLang="zh-CN" dirty="0"/>
              <a:t>IP </a:t>
            </a:r>
            <a:r>
              <a:rPr lang="zh-CN" altLang="en-US" dirty="0"/>
              <a:t>地址，必须向互联网的管理机构申请。 </a:t>
            </a:r>
            <a:endParaRPr lang="en-US" altLang="zh-CN" dirty="0"/>
          </a:p>
          <a:p>
            <a:r>
              <a:rPr lang="zh-CN" altLang="en-US" dirty="0">
                <a:solidFill>
                  <a:srgbClr val="FF0000"/>
                </a:solidFill>
              </a:rPr>
              <a:t>问题：</a:t>
            </a:r>
            <a:r>
              <a:rPr lang="zh-CN" altLang="zh-CN" dirty="0"/>
              <a:t>在内部使用的本地地址就有可能和互联网中某个</a:t>
            </a:r>
            <a:r>
              <a:rPr lang="en-US" altLang="zh-CN" dirty="0"/>
              <a:t> IP </a:t>
            </a:r>
            <a:r>
              <a:rPr lang="zh-CN" altLang="zh-CN" dirty="0"/>
              <a:t>地址重合，这样就会出现地址的二义性问题。</a:t>
            </a:r>
            <a:endParaRPr lang="zh-CN" altLang="en-US" dirty="0"/>
          </a:p>
          <a:p>
            <a:endParaRPr lang="zh-CN" altLang="en-US" dirty="0"/>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本地地址与全球地址</a:t>
            </a:r>
          </a:p>
        </p:txBody>
      </p:sp>
      <p:sp>
        <p:nvSpPr>
          <p:cNvPr id="3" name="内容占位符 2"/>
          <p:cNvSpPr>
            <a:spLocks noGrp="1"/>
          </p:cNvSpPr>
          <p:nvPr>
            <p:ph idx="1"/>
          </p:nvPr>
        </p:nvSpPr>
        <p:spPr/>
        <p:txBody>
          <a:bodyPr/>
          <a:lstStyle/>
          <a:p>
            <a:pPr>
              <a:spcBef>
                <a:spcPts val="1200"/>
              </a:spcBef>
            </a:pPr>
            <a:r>
              <a:rPr lang="zh-CN" altLang="en-US" dirty="0">
                <a:solidFill>
                  <a:srgbClr val="FF0000"/>
                </a:solidFill>
              </a:rPr>
              <a:t>问题：</a:t>
            </a:r>
            <a:r>
              <a:rPr lang="zh-CN" altLang="zh-CN" dirty="0"/>
              <a:t>在内部使用的本地地址就有可能和互联网中某个</a:t>
            </a:r>
            <a:r>
              <a:rPr lang="en-US" altLang="zh-CN" dirty="0"/>
              <a:t> IP </a:t>
            </a:r>
            <a:r>
              <a:rPr lang="zh-CN" altLang="zh-CN" dirty="0"/>
              <a:t>地址重合，这样就会出现地址的</a:t>
            </a:r>
            <a:r>
              <a:rPr lang="zh-CN" altLang="zh-CN" dirty="0">
                <a:solidFill>
                  <a:srgbClr val="FF0000"/>
                </a:solidFill>
              </a:rPr>
              <a:t>二义性</a:t>
            </a:r>
            <a:r>
              <a:rPr lang="zh-CN" altLang="zh-CN" dirty="0"/>
              <a:t>问题。</a:t>
            </a:r>
            <a:endParaRPr lang="en-US" altLang="zh-CN" dirty="0"/>
          </a:p>
          <a:p>
            <a:pPr>
              <a:spcBef>
                <a:spcPts val="1200"/>
              </a:spcBef>
            </a:pPr>
            <a:r>
              <a:rPr lang="zh-CN" altLang="en-US" dirty="0">
                <a:solidFill>
                  <a:srgbClr val="0000FF"/>
                </a:solidFill>
              </a:rPr>
              <a:t>解决：</a:t>
            </a:r>
            <a:r>
              <a:rPr lang="en-US" altLang="zh-CN" dirty="0"/>
              <a:t>RFC 1918</a:t>
            </a:r>
            <a:r>
              <a:rPr lang="zh-CN" altLang="zh-CN" dirty="0"/>
              <a:t>指明了一些</a:t>
            </a:r>
            <a:r>
              <a:rPr lang="zh-CN" altLang="zh-CN" dirty="0">
                <a:solidFill>
                  <a:srgbClr val="FF0000"/>
                </a:solidFill>
              </a:rPr>
              <a:t>专用地址</a:t>
            </a:r>
            <a:r>
              <a:rPr lang="en-US" altLang="zh-CN" dirty="0">
                <a:solidFill>
                  <a:srgbClr val="FF0000"/>
                </a:solidFill>
              </a:rPr>
              <a:t> </a:t>
            </a:r>
            <a:r>
              <a:rPr lang="en-US" altLang="zh-CN" dirty="0"/>
              <a:t>(private address)</a:t>
            </a:r>
            <a:r>
              <a:rPr lang="zh-CN" altLang="zh-CN" dirty="0"/>
              <a:t>。</a:t>
            </a:r>
            <a:r>
              <a:rPr lang="zh-CN" altLang="zh-CN" dirty="0">
                <a:solidFill>
                  <a:srgbClr val="0000FF"/>
                </a:solidFill>
              </a:rPr>
              <a:t>专用地址只能用作本地地址</a:t>
            </a:r>
            <a:r>
              <a:rPr lang="zh-CN" altLang="zh-CN" dirty="0"/>
              <a:t>而不能用作全球地址。</a:t>
            </a:r>
            <a:r>
              <a:rPr lang="zh-CN" altLang="zh-CN" dirty="0">
                <a:solidFill>
                  <a:srgbClr val="FF0000"/>
                </a:solidFill>
              </a:rPr>
              <a:t>在互联网中的所有路由器，对目的地址是专用地址的数据报一律不进行转发。</a:t>
            </a:r>
            <a:endParaRPr lang="zh-CN" altLang="en-US" dirty="0">
              <a:solidFill>
                <a:srgbClr val="FF0000"/>
              </a:solidFill>
            </a:endParaRPr>
          </a:p>
          <a:p>
            <a:pPr>
              <a:spcBef>
                <a:spcPts val="1200"/>
              </a:spcBef>
            </a:pPr>
            <a:endParaRPr lang="zh-CN" altLang="en-US" dirty="0"/>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en-US" altLang="zh-CN" dirty="0"/>
              <a:t>RFC 1918 </a:t>
            </a:r>
            <a:r>
              <a:rPr lang="zh-CN" altLang="en-US" dirty="0"/>
              <a:t>指明的专用 </a:t>
            </a:r>
            <a:r>
              <a:rPr lang="en-US" altLang="zh-CN" dirty="0"/>
              <a:t>IP </a:t>
            </a:r>
            <a:r>
              <a:rPr lang="zh-CN" altLang="en-US" dirty="0"/>
              <a:t>地址</a:t>
            </a:r>
            <a:endParaRPr lang="en-US" altLang="zh-CN" dirty="0"/>
          </a:p>
        </p:txBody>
      </p:sp>
      <p:sp>
        <p:nvSpPr>
          <p:cNvPr id="3" name="矩形 2"/>
          <p:cNvSpPr/>
          <p:nvPr/>
        </p:nvSpPr>
        <p:spPr>
          <a:xfrm>
            <a:off x="632520" y="1196752"/>
            <a:ext cx="4088555" cy="584775"/>
          </a:xfrm>
          <a:prstGeom prst="rect">
            <a:avLst/>
          </a:prstGeom>
        </p:spPr>
        <p:txBody>
          <a:bodyPr wrap="none">
            <a:spAutoFit/>
          </a:bodyPr>
          <a:lstStyle/>
          <a:p>
            <a:pPr marL="360680" indent="-360680">
              <a:buNone/>
            </a:pPr>
            <a:r>
              <a:rPr lang="zh-CN" altLang="zh-CN" sz="3200" b="1" dirty="0">
                <a:solidFill>
                  <a:srgbClr val="0000FF"/>
                </a:solidFill>
                <a:latin typeface="+mn-lt"/>
                <a:ea typeface="黑体" panose="02010609060101010101" pitchFamily="2" charset="-122"/>
              </a:rPr>
              <a:t>三个专用</a:t>
            </a:r>
            <a:r>
              <a:rPr lang="en-US" altLang="zh-CN" sz="3200" b="1" dirty="0">
                <a:solidFill>
                  <a:srgbClr val="0000FF"/>
                </a:solidFill>
                <a:latin typeface="+mn-lt"/>
                <a:ea typeface="黑体" panose="02010609060101010101" pitchFamily="2" charset="-122"/>
              </a:rPr>
              <a:t> IP </a:t>
            </a:r>
            <a:r>
              <a:rPr lang="zh-CN" altLang="zh-CN" sz="3200" b="1" dirty="0">
                <a:solidFill>
                  <a:srgbClr val="0000FF"/>
                </a:solidFill>
                <a:latin typeface="+mn-lt"/>
                <a:ea typeface="黑体" panose="02010609060101010101" pitchFamily="2" charset="-122"/>
              </a:rPr>
              <a:t>地址块</a:t>
            </a:r>
            <a:r>
              <a:rPr lang="zh-CN" altLang="en-US" sz="3200" b="1" dirty="0">
                <a:solidFill>
                  <a:srgbClr val="0000FF"/>
                </a:solidFill>
                <a:latin typeface="+mn-lt"/>
                <a:ea typeface="黑体" panose="02010609060101010101" pitchFamily="2" charset="-122"/>
              </a:rPr>
              <a:t>：</a:t>
            </a:r>
            <a:endParaRPr lang="en-US" altLang="zh-CN" sz="3200" b="1" dirty="0">
              <a:solidFill>
                <a:srgbClr val="0000FF"/>
              </a:solidFill>
              <a:latin typeface="+mn-lt"/>
              <a:ea typeface="黑体" panose="02010609060101010101" pitchFamily="2" charset="-122"/>
            </a:endParaRPr>
          </a:p>
        </p:txBody>
      </p:sp>
      <p:sp>
        <p:nvSpPr>
          <p:cNvPr id="4" name="矩形 3"/>
          <p:cNvSpPr/>
          <p:nvPr/>
        </p:nvSpPr>
        <p:spPr>
          <a:xfrm>
            <a:off x="560512" y="1844824"/>
            <a:ext cx="9000000" cy="584775"/>
          </a:xfrm>
          <a:prstGeom prst="rect">
            <a:avLst/>
          </a:prstGeom>
          <a:solidFill>
            <a:srgbClr val="FFFF66"/>
          </a:solidFill>
        </p:spPr>
        <p:txBody>
          <a:bodyPr wrap="square">
            <a:spAutoFit/>
          </a:bodyPr>
          <a:lstStyle/>
          <a:p>
            <a:r>
              <a:rPr lang="en-US" altLang="zh-CN" sz="3200" b="1" dirty="0">
                <a:latin typeface="+mn-lt"/>
                <a:ea typeface="黑体" panose="02010609060101010101" pitchFamily="2" charset="-122"/>
              </a:rPr>
              <a:t>(1) 10.0.0.0 </a:t>
            </a:r>
            <a:r>
              <a:rPr lang="zh-CN" altLang="en-US" sz="3200" b="1" dirty="0">
                <a:latin typeface="+mn-lt"/>
                <a:ea typeface="黑体" panose="02010609060101010101" pitchFamily="2" charset="-122"/>
              </a:rPr>
              <a:t>到 </a:t>
            </a:r>
            <a:r>
              <a:rPr lang="en-US" altLang="zh-CN" sz="3200" b="1" dirty="0">
                <a:latin typeface="+mn-lt"/>
                <a:ea typeface="黑体" panose="02010609060101010101" pitchFamily="2" charset="-122"/>
              </a:rPr>
              <a:t>10.255.255.255</a:t>
            </a:r>
          </a:p>
        </p:txBody>
      </p:sp>
      <p:sp>
        <p:nvSpPr>
          <p:cNvPr id="6" name="矩形 5"/>
          <p:cNvSpPr/>
          <p:nvPr/>
        </p:nvSpPr>
        <p:spPr>
          <a:xfrm>
            <a:off x="560512" y="3143290"/>
            <a:ext cx="9000000" cy="584775"/>
          </a:xfrm>
          <a:prstGeom prst="rect">
            <a:avLst/>
          </a:prstGeom>
          <a:solidFill>
            <a:srgbClr val="FFFF66"/>
          </a:solidFill>
        </p:spPr>
        <p:txBody>
          <a:bodyPr wrap="square">
            <a:spAutoFit/>
          </a:bodyPr>
          <a:lstStyle/>
          <a:p>
            <a:r>
              <a:rPr lang="en-US" altLang="zh-CN" sz="3200" b="1" dirty="0">
                <a:latin typeface="+mn-lt"/>
                <a:ea typeface="黑体" panose="02010609060101010101" pitchFamily="2" charset="-122"/>
              </a:rPr>
              <a:t>(2) 172.16.0.0 </a:t>
            </a:r>
            <a:r>
              <a:rPr lang="zh-CN" altLang="en-US" sz="3200" b="1" dirty="0">
                <a:latin typeface="+mn-lt"/>
                <a:ea typeface="黑体" panose="02010609060101010101" pitchFamily="2" charset="-122"/>
              </a:rPr>
              <a:t>到 </a:t>
            </a:r>
            <a:r>
              <a:rPr lang="en-US" altLang="zh-CN" sz="3200" b="1" dirty="0">
                <a:latin typeface="+mn-lt"/>
                <a:ea typeface="黑体" panose="02010609060101010101" pitchFamily="2" charset="-122"/>
              </a:rPr>
              <a:t>172.31.255.255</a:t>
            </a:r>
          </a:p>
        </p:txBody>
      </p:sp>
      <p:sp>
        <p:nvSpPr>
          <p:cNvPr id="7" name="矩形 6"/>
          <p:cNvSpPr/>
          <p:nvPr/>
        </p:nvSpPr>
        <p:spPr>
          <a:xfrm>
            <a:off x="560512" y="4405754"/>
            <a:ext cx="9000000" cy="584775"/>
          </a:xfrm>
          <a:prstGeom prst="rect">
            <a:avLst/>
          </a:prstGeom>
          <a:solidFill>
            <a:srgbClr val="FFFF66"/>
          </a:solidFill>
        </p:spPr>
        <p:txBody>
          <a:bodyPr wrap="square">
            <a:spAutoFit/>
          </a:bodyPr>
          <a:lstStyle/>
          <a:p>
            <a:r>
              <a:rPr lang="en-US" altLang="zh-CN" sz="3200" b="1" dirty="0">
                <a:latin typeface="+mn-lt"/>
                <a:ea typeface="黑体" panose="02010609060101010101" pitchFamily="2" charset="-122"/>
              </a:rPr>
              <a:t>(3) 192.168.0.0 </a:t>
            </a:r>
            <a:r>
              <a:rPr lang="zh-CN" altLang="en-US" sz="3200" b="1" dirty="0">
                <a:latin typeface="+mn-lt"/>
                <a:ea typeface="黑体" panose="02010609060101010101" pitchFamily="2" charset="-122"/>
              </a:rPr>
              <a:t>到 </a:t>
            </a:r>
            <a:r>
              <a:rPr lang="en-US" altLang="zh-CN" sz="3200" b="1" dirty="0">
                <a:latin typeface="+mn-lt"/>
                <a:ea typeface="黑体" panose="02010609060101010101" pitchFamily="2" charset="-122"/>
              </a:rPr>
              <a:t>192.168.255.255</a:t>
            </a:r>
          </a:p>
        </p:txBody>
      </p:sp>
      <p:sp>
        <p:nvSpPr>
          <p:cNvPr id="8" name="矩形 7"/>
          <p:cNvSpPr/>
          <p:nvPr/>
        </p:nvSpPr>
        <p:spPr>
          <a:xfrm>
            <a:off x="1712640" y="2442374"/>
            <a:ext cx="6773008" cy="523220"/>
          </a:xfrm>
          <a:prstGeom prst="rect">
            <a:avLst/>
          </a:prstGeom>
        </p:spPr>
        <p:txBody>
          <a:bodyPr wrap="none">
            <a:spAutoFit/>
          </a:bodyPr>
          <a:lstStyle/>
          <a:p>
            <a:r>
              <a:rPr lang="en-US" altLang="zh-CN" sz="2800" b="1" dirty="0">
                <a:latin typeface="+mn-lt"/>
                <a:ea typeface="黑体" panose="02010609060101010101" pitchFamily="2" charset="-122"/>
              </a:rPr>
              <a:t>A</a:t>
            </a:r>
            <a:r>
              <a:rPr lang="zh-CN" altLang="en-US" sz="2800" b="1" dirty="0">
                <a:latin typeface="+mn-lt"/>
                <a:ea typeface="黑体" panose="02010609060101010101" pitchFamily="2" charset="-122"/>
              </a:rPr>
              <a:t>类，</a:t>
            </a:r>
            <a:r>
              <a:rPr lang="zh-CN" altLang="zh-CN" sz="2800" b="1" dirty="0">
                <a:latin typeface="+mn-lt"/>
                <a:ea typeface="黑体" panose="02010609060101010101" pitchFamily="2" charset="-122"/>
              </a:rPr>
              <a:t>或记为</a:t>
            </a:r>
            <a:r>
              <a:rPr lang="en-US" altLang="zh-CN" sz="2800" b="1" dirty="0">
                <a:latin typeface="+mn-lt"/>
                <a:ea typeface="黑体" panose="02010609060101010101" pitchFamily="2" charset="-122"/>
              </a:rPr>
              <a:t>10.0.0.0/8</a:t>
            </a:r>
            <a:r>
              <a:rPr lang="zh-CN" altLang="zh-CN" sz="2800" b="1" dirty="0">
                <a:latin typeface="+mn-lt"/>
                <a:ea typeface="黑体" panose="02010609060101010101" pitchFamily="2" charset="-122"/>
              </a:rPr>
              <a:t>，它又称为</a:t>
            </a:r>
            <a:r>
              <a:rPr lang="en-US" altLang="zh-CN" sz="2800" b="1" dirty="0">
                <a:latin typeface="+mn-lt"/>
                <a:ea typeface="黑体" panose="02010609060101010101" pitchFamily="2" charset="-122"/>
              </a:rPr>
              <a:t>24</a:t>
            </a:r>
            <a:r>
              <a:rPr lang="zh-CN" altLang="zh-CN" sz="2800" b="1" dirty="0">
                <a:latin typeface="+mn-lt"/>
                <a:ea typeface="黑体" panose="02010609060101010101" pitchFamily="2" charset="-122"/>
              </a:rPr>
              <a:t>位块</a:t>
            </a:r>
            <a:endParaRPr lang="zh-CN" altLang="en-US" sz="2800" b="1" dirty="0">
              <a:latin typeface="+mn-lt"/>
              <a:ea typeface="黑体" panose="02010609060101010101" pitchFamily="2" charset="-122"/>
            </a:endParaRPr>
          </a:p>
        </p:txBody>
      </p:sp>
      <p:sp>
        <p:nvSpPr>
          <p:cNvPr id="9" name="矩形 8"/>
          <p:cNvSpPr/>
          <p:nvPr/>
        </p:nvSpPr>
        <p:spPr>
          <a:xfrm>
            <a:off x="1712640" y="3738518"/>
            <a:ext cx="7374135" cy="523220"/>
          </a:xfrm>
          <a:prstGeom prst="rect">
            <a:avLst/>
          </a:prstGeom>
        </p:spPr>
        <p:txBody>
          <a:bodyPr wrap="none">
            <a:spAutoFit/>
          </a:bodyPr>
          <a:lstStyle/>
          <a:p>
            <a:r>
              <a:rPr lang="en-US" altLang="zh-CN" sz="2800" b="1" dirty="0">
                <a:latin typeface="+mn-lt"/>
                <a:ea typeface="黑体" panose="02010609060101010101" pitchFamily="2" charset="-122"/>
              </a:rPr>
              <a:t>B</a:t>
            </a:r>
            <a:r>
              <a:rPr lang="zh-CN" altLang="en-US" sz="2800" b="1" dirty="0">
                <a:latin typeface="+mn-lt"/>
                <a:ea typeface="黑体" panose="02010609060101010101" pitchFamily="2" charset="-122"/>
              </a:rPr>
              <a:t>类，</a:t>
            </a:r>
            <a:r>
              <a:rPr lang="zh-CN" altLang="zh-CN" sz="2800" b="1" dirty="0">
                <a:latin typeface="+mn-lt"/>
                <a:ea typeface="黑体" panose="02010609060101010101" pitchFamily="2" charset="-122"/>
              </a:rPr>
              <a:t>或记为</a:t>
            </a:r>
            <a:r>
              <a:rPr lang="en-US" altLang="zh-CN" sz="2800" b="1" dirty="0">
                <a:latin typeface="+mn-lt"/>
                <a:ea typeface="黑体" panose="02010609060101010101" pitchFamily="2" charset="-122"/>
              </a:rPr>
              <a:t>172.16.0.0/12</a:t>
            </a:r>
            <a:r>
              <a:rPr lang="zh-CN" altLang="zh-CN" sz="2800" b="1" dirty="0">
                <a:latin typeface="+mn-lt"/>
                <a:ea typeface="黑体" panose="02010609060101010101" pitchFamily="2" charset="-122"/>
              </a:rPr>
              <a:t>，它又称为</a:t>
            </a:r>
            <a:r>
              <a:rPr lang="en-US" altLang="zh-CN" sz="2800" b="1" dirty="0">
                <a:latin typeface="+mn-lt"/>
                <a:ea typeface="黑体" panose="02010609060101010101" pitchFamily="2" charset="-122"/>
              </a:rPr>
              <a:t>20</a:t>
            </a:r>
            <a:r>
              <a:rPr lang="zh-CN" altLang="zh-CN" sz="2800" b="1" dirty="0">
                <a:latin typeface="+mn-lt"/>
                <a:ea typeface="黑体" panose="02010609060101010101" pitchFamily="2" charset="-122"/>
              </a:rPr>
              <a:t>位块</a:t>
            </a:r>
            <a:endParaRPr lang="zh-CN" altLang="en-US" sz="2800" b="1" dirty="0">
              <a:latin typeface="+mn-lt"/>
              <a:ea typeface="黑体" panose="02010609060101010101" pitchFamily="2" charset="-122"/>
            </a:endParaRPr>
          </a:p>
        </p:txBody>
      </p:sp>
      <p:sp>
        <p:nvSpPr>
          <p:cNvPr id="10" name="矩形 9"/>
          <p:cNvSpPr/>
          <p:nvPr/>
        </p:nvSpPr>
        <p:spPr>
          <a:xfrm>
            <a:off x="1738288" y="4981818"/>
            <a:ext cx="7574509" cy="523220"/>
          </a:xfrm>
          <a:prstGeom prst="rect">
            <a:avLst/>
          </a:prstGeom>
        </p:spPr>
        <p:txBody>
          <a:bodyPr wrap="none">
            <a:spAutoFit/>
          </a:bodyPr>
          <a:lstStyle/>
          <a:p>
            <a:r>
              <a:rPr lang="en-US" altLang="zh-CN" sz="2800" b="1" dirty="0">
                <a:latin typeface="+mn-lt"/>
                <a:ea typeface="黑体" panose="02010609060101010101" pitchFamily="2" charset="-122"/>
              </a:rPr>
              <a:t>C</a:t>
            </a:r>
            <a:r>
              <a:rPr lang="zh-CN" altLang="en-US" sz="2800" b="1" dirty="0">
                <a:latin typeface="+mn-lt"/>
                <a:ea typeface="黑体" panose="02010609060101010101" pitchFamily="2" charset="-122"/>
              </a:rPr>
              <a:t>类，</a:t>
            </a:r>
            <a:r>
              <a:rPr lang="zh-CN" altLang="zh-CN" sz="2800" b="1" dirty="0">
                <a:latin typeface="+mn-lt"/>
                <a:ea typeface="黑体" panose="02010609060101010101" pitchFamily="2" charset="-122"/>
              </a:rPr>
              <a:t>或记为</a:t>
            </a:r>
            <a:r>
              <a:rPr lang="en-US" altLang="zh-CN" sz="2800" b="1" dirty="0">
                <a:latin typeface="+mn-lt"/>
                <a:ea typeface="黑体" panose="02010609060101010101" pitchFamily="2" charset="-122"/>
              </a:rPr>
              <a:t>192.168.0.0/16</a:t>
            </a:r>
            <a:r>
              <a:rPr lang="zh-CN" altLang="zh-CN" sz="2800" b="1" dirty="0">
                <a:latin typeface="+mn-lt"/>
                <a:ea typeface="黑体" panose="02010609060101010101" pitchFamily="2" charset="-122"/>
              </a:rPr>
              <a:t>，它又称为</a:t>
            </a:r>
            <a:r>
              <a:rPr lang="en-US" altLang="zh-CN" sz="2800" b="1" dirty="0">
                <a:latin typeface="+mn-lt"/>
                <a:ea typeface="黑体" panose="02010609060101010101" pitchFamily="2" charset="-122"/>
              </a:rPr>
              <a:t>16</a:t>
            </a:r>
            <a:r>
              <a:rPr lang="zh-CN" altLang="zh-CN" sz="2800" b="1" dirty="0">
                <a:latin typeface="+mn-lt"/>
                <a:ea typeface="黑体" panose="02010609060101010101" pitchFamily="2" charset="-122"/>
              </a:rPr>
              <a:t>位块</a:t>
            </a:r>
            <a:endParaRPr lang="zh-CN" altLang="en-US" sz="2800" b="1" dirty="0">
              <a:latin typeface="+mn-lt"/>
              <a:ea typeface="黑体" panose="02010609060101010101" pitchFamily="2" charset="-122"/>
            </a:endParaRP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专用网</a:t>
            </a:r>
            <a:endParaRPr lang="en-US" altLang="zh-CN" dirty="0"/>
          </a:p>
        </p:txBody>
      </p:sp>
      <p:sp>
        <p:nvSpPr>
          <p:cNvPr id="2" name="内容占位符 1"/>
          <p:cNvSpPr>
            <a:spLocks noGrp="1"/>
          </p:cNvSpPr>
          <p:nvPr>
            <p:ph idx="1"/>
          </p:nvPr>
        </p:nvSpPr>
        <p:spPr/>
        <p:txBody>
          <a:bodyPr/>
          <a:lstStyle/>
          <a:p>
            <a:r>
              <a:rPr lang="zh-CN" altLang="zh-CN" dirty="0"/>
              <a:t>采用这样的专用</a:t>
            </a:r>
            <a:r>
              <a:rPr lang="en-US" altLang="zh-CN" dirty="0"/>
              <a:t> IP </a:t>
            </a:r>
            <a:r>
              <a:rPr lang="zh-CN" altLang="zh-CN" dirty="0"/>
              <a:t>地址的互连网络称为</a:t>
            </a:r>
            <a:r>
              <a:rPr lang="zh-CN" altLang="zh-CN" dirty="0">
                <a:solidFill>
                  <a:srgbClr val="FF0000"/>
                </a:solidFill>
              </a:rPr>
              <a:t>专用互联网</a:t>
            </a:r>
            <a:r>
              <a:rPr lang="zh-CN" altLang="zh-CN" dirty="0"/>
              <a:t>或</a:t>
            </a:r>
            <a:r>
              <a:rPr lang="zh-CN" altLang="zh-CN" dirty="0">
                <a:solidFill>
                  <a:srgbClr val="FF0000"/>
                </a:solidFill>
              </a:rPr>
              <a:t>本地互联网，</a:t>
            </a:r>
            <a:r>
              <a:rPr lang="zh-CN" altLang="zh-CN" dirty="0"/>
              <a:t>或更简单些，就叫</a:t>
            </a:r>
            <a:r>
              <a:rPr lang="zh-CN" altLang="en-US" dirty="0"/>
              <a:t>作</a:t>
            </a:r>
            <a:r>
              <a:rPr lang="zh-CN" altLang="zh-CN" dirty="0">
                <a:solidFill>
                  <a:srgbClr val="FF0000"/>
                </a:solidFill>
              </a:rPr>
              <a:t>专用网。</a:t>
            </a:r>
            <a:endParaRPr lang="en-US" altLang="zh-CN" dirty="0">
              <a:solidFill>
                <a:srgbClr val="FF0000"/>
              </a:solidFill>
            </a:endParaRPr>
          </a:p>
          <a:p>
            <a:r>
              <a:rPr lang="zh-CN" altLang="zh-CN" dirty="0"/>
              <a:t>因为这些专用地址仅在本机构内部使用。专用</a:t>
            </a:r>
            <a:r>
              <a:rPr lang="en-US" altLang="zh-CN" dirty="0"/>
              <a:t>IP</a:t>
            </a:r>
            <a:r>
              <a:rPr lang="zh-CN" altLang="zh-CN" dirty="0"/>
              <a:t>地址也叫</a:t>
            </a:r>
            <a:r>
              <a:rPr lang="zh-CN" altLang="en-US" dirty="0"/>
              <a:t>作</a:t>
            </a:r>
            <a:r>
              <a:rPr lang="zh-CN" altLang="zh-CN" dirty="0">
                <a:solidFill>
                  <a:srgbClr val="FF0000"/>
                </a:solidFill>
              </a:rPr>
              <a:t>可重用地址</a:t>
            </a:r>
            <a:r>
              <a:rPr lang="en-US" altLang="zh-CN" dirty="0"/>
              <a:t>(reusable address)</a:t>
            </a:r>
            <a:r>
              <a:rPr lang="zh-CN" altLang="zh-CN" dirty="0"/>
              <a:t>。</a:t>
            </a:r>
            <a:endParaRPr lang="zh-CN" altLang="en-US" dirty="0"/>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虚拟专用网 </a:t>
            </a:r>
            <a:r>
              <a:rPr lang="en-US" altLang="zh-CN" dirty="0"/>
              <a:t>VPN</a:t>
            </a:r>
          </a:p>
        </p:txBody>
      </p:sp>
      <p:sp>
        <p:nvSpPr>
          <p:cNvPr id="2" name="内容占位符 1"/>
          <p:cNvSpPr>
            <a:spLocks noGrp="1"/>
          </p:cNvSpPr>
          <p:nvPr>
            <p:ph idx="1"/>
          </p:nvPr>
        </p:nvSpPr>
        <p:spPr/>
        <p:txBody>
          <a:bodyPr/>
          <a:lstStyle/>
          <a:p>
            <a:r>
              <a:rPr lang="zh-CN" altLang="zh-CN" dirty="0"/>
              <a:t>利用公用的互联网作为本机构各专用网之间的通信载体，这样的专用网又称为</a:t>
            </a:r>
            <a:r>
              <a:rPr lang="zh-CN" altLang="zh-CN" dirty="0">
                <a:solidFill>
                  <a:srgbClr val="FF0000"/>
                </a:solidFill>
              </a:rPr>
              <a:t>虚拟专用网</a:t>
            </a:r>
            <a:r>
              <a:rPr lang="en-US" altLang="zh-CN" dirty="0"/>
              <a:t>VPN (Virtual Private Network)</a:t>
            </a:r>
            <a:r>
              <a:rPr lang="zh-CN" altLang="zh-CN" dirty="0"/>
              <a:t>。</a:t>
            </a:r>
            <a:endParaRPr lang="en-US" altLang="zh-CN" dirty="0"/>
          </a:p>
          <a:p>
            <a:r>
              <a:rPr lang="zh-CN" altLang="zh-CN" dirty="0"/>
              <a:t>“</a:t>
            </a:r>
            <a:r>
              <a:rPr lang="zh-CN" altLang="zh-CN" dirty="0">
                <a:solidFill>
                  <a:srgbClr val="FF0000"/>
                </a:solidFill>
              </a:rPr>
              <a:t>专用网</a:t>
            </a:r>
            <a:r>
              <a:rPr lang="zh-CN" altLang="zh-CN" dirty="0"/>
              <a:t>”是因为这种网络是为本机构的主机用于</a:t>
            </a:r>
            <a:r>
              <a:rPr lang="zh-CN" altLang="zh-CN" dirty="0">
                <a:solidFill>
                  <a:srgbClr val="0000FF"/>
                </a:solidFill>
              </a:rPr>
              <a:t>机构内部的通信</a:t>
            </a:r>
            <a:r>
              <a:rPr lang="zh-CN" altLang="zh-CN" dirty="0"/>
              <a:t>，而不是用于和网络外非本机构的主机通信。</a:t>
            </a:r>
            <a:endParaRPr lang="en-US" altLang="zh-CN" dirty="0"/>
          </a:p>
          <a:p>
            <a:r>
              <a:rPr lang="zh-CN" altLang="zh-CN" dirty="0"/>
              <a:t>“</a:t>
            </a:r>
            <a:r>
              <a:rPr lang="zh-CN" altLang="zh-CN" dirty="0">
                <a:solidFill>
                  <a:srgbClr val="FF0000"/>
                </a:solidFill>
              </a:rPr>
              <a:t>虚拟</a:t>
            </a:r>
            <a:r>
              <a:rPr lang="zh-CN" altLang="zh-CN" dirty="0"/>
              <a:t>”表示“好像是”，但实际上并不是，因为现在并</a:t>
            </a:r>
            <a:r>
              <a:rPr lang="zh-CN" altLang="zh-CN" dirty="0">
                <a:solidFill>
                  <a:srgbClr val="0000FF"/>
                </a:solidFill>
              </a:rPr>
              <a:t>没有真正使用通信专线</a:t>
            </a:r>
            <a:r>
              <a:rPr lang="zh-CN" altLang="zh-CN" dirty="0"/>
              <a:t>，而</a:t>
            </a:r>
            <a:r>
              <a:rPr lang="en-US" altLang="zh-CN" dirty="0"/>
              <a:t>VPN</a:t>
            </a:r>
            <a:r>
              <a:rPr lang="zh-CN" altLang="zh-CN" dirty="0"/>
              <a:t>只是在效果上和真正的专用网一样。</a:t>
            </a:r>
            <a:endParaRPr lang="en-US" altLang="zh-CN" dirty="0"/>
          </a:p>
          <a:p>
            <a:endParaRPr lang="zh-CN" altLang="en-US" dirty="0"/>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虚拟专用网 </a:t>
            </a:r>
            <a:r>
              <a:rPr lang="en-US" altLang="zh-CN" dirty="0"/>
              <a:t>VPN </a:t>
            </a:r>
            <a:r>
              <a:rPr lang="zh-CN" altLang="en-US" dirty="0"/>
              <a:t>构建</a:t>
            </a:r>
            <a:endParaRPr lang="en-US" altLang="zh-CN" dirty="0"/>
          </a:p>
        </p:txBody>
      </p:sp>
      <p:sp>
        <p:nvSpPr>
          <p:cNvPr id="2" name="内容占位符 1"/>
          <p:cNvSpPr>
            <a:spLocks noGrp="1"/>
          </p:cNvSpPr>
          <p:nvPr>
            <p:ph idx="1"/>
          </p:nvPr>
        </p:nvSpPr>
        <p:spPr/>
        <p:txBody>
          <a:bodyPr/>
          <a:lstStyle/>
          <a:p>
            <a:r>
              <a:rPr lang="zh-CN" altLang="zh-CN" dirty="0"/>
              <a:t>如果专用网不同网点之间的通信必须经过公用的互联网，但又有保密的要求，那么所有通过互联网传送的</a:t>
            </a:r>
            <a:r>
              <a:rPr lang="zh-CN" altLang="zh-CN" dirty="0">
                <a:solidFill>
                  <a:srgbClr val="FF0000"/>
                </a:solidFill>
              </a:rPr>
              <a:t>数据都必须加密</a:t>
            </a:r>
            <a:r>
              <a:rPr lang="zh-CN" altLang="en-US" dirty="0">
                <a:solidFill>
                  <a:srgbClr val="FF0000"/>
                </a:solidFill>
              </a:rPr>
              <a:t>。</a:t>
            </a:r>
            <a:endParaRPr lang="en-US" altLang="zh-CN" dirty="0">
              <a:solidFill>
                <a:srgbClr val="FF0000"/>
              </a:solidFill>
            </a:endParaRPr>
          </a:p>
          <a:p>
            <a:r>
              <a:rPr lang="zh-CN" altLang="zh-CN" dirty="0"/>
              <a:t>一个机构要构建自己的</a:t>
            </a:r>
            <a:r>
              <a:rPr lang="en-US" altLang="zh-CN" dirty="0"/>
              <a:t> VPN </a:t>
            </a:r>
            <a:r>
              <a:rPr lang="zh-CN" altLang="zh-CN" dirty="0"/>
              <a:t>就必须为它的每一个场所购买专门的硬件和软件，并进行配置，使每一个场所的</a:t>
            </a:r>
            <a:r>
              <a:rPr lang="en-US" altLang="zh-CN" dirty="0"/>
              <a:t> VPN </a:t>
            </a:r>
            <a:r>
              <a:rPr lang="zh-CN" altLang="zh-CN" dirty="0"/>
              <a:t>系统都知道其他场所的地址。</a:t>
            </a:r>
          </a:p>
          <a:p>
            <a:endParaRPr lang="zh-CN" altLang="en-US" dirty="0"/>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75" name="Rectangle 11"/>
          <p:cNvSpPr>
            <a:spLocks noGrp="1" noChangeArrowheads="1"/>
          </p:cNvSpPr>
          <p:nvPr>
            <p:ph type="title"/>
          </p:nvPr>
        </p:nvSpPr>
        <p:spPr/>
        <p:txBody>
          <a:bodyPr/>
          <a:lstStyle/>
          <a:p>
            <a:pPr algn="ctr"/>
            <a:r>
              <a:rPr lang="zh-CN" altLang="en-US" dirty="0"/>
              <a:t>用隧道技术实现虚拟专用网 </a:t>
            </a:r>
          </a:p>
        </p:txBody>
      </p:sp>
      <p:grpSp>
        <p:nvGrpSpPr>
          <p:cNvPr id="625666" name="Group 2"/>
          <p:cNvGrpSpPr/>
          <p:nvPr/>
        </p:nvGrpSpPr>
        <p:grpSpPr bwMode="auto">
          <a:xfrm>
            <a:off x="341263" y="2065040"/>
            <a:ext cx="1666478" cy="1789113"/>
            <a:chOff x="87" y="1384"/>
            <a:chExt cx="969" cy="1127"/>
          </a:xfrm>
        </p:grpSpPr>
        <p:sp>
          <p:nvSpPr>
            <p:cNvPr id="625667" name="Line 3"/>
            <p:cNvSpPr>
              <a:spLocks noChangeShapeType="1"/>
            </p:cNvSpPr>
            <p:nvPr/>
          </p:nvSpPr>
          <p:spPr bwMode="auto">
            <a:xfrm flipV="1">
              <a:off x="816" y="2248"/>
              <a:ext cx="240" cy="19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668" name="Line 4"/>
            <p:cNvSpPr>
              <a:spLocks noChangeShapeType="1"/>
            </p:cNvSpPr>
            <p:nvPr/>
          </p:nvSpPr>
          <p:spPr bwMode="auto">
            <a:xfrm>
              <a:off x="624" y="1576"/>
              <a:ext cx="240" cy="144"/>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669" name="Line 5"/>
            <p:cNvSpPr>
              <a:spLocks noChangeShapeType="1"/>
            </p:cNvSpPr>
            <p:nvPr/>
          </p:nvSpPr>
          <p:spPr bwMode="auto">
            <a:xfrm flipV="1">
              <a:off x="432" y="1967"/>
              <a:ext cx="288"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pic>
          <p:nvPicPr>
            <p:cNvPr id="625670"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5671" name="Text Box 7"/>
            <p:cNvSpPr txBox="1">
              <a:spLocks noChangeArrowheads="1"/>
            </p:cNvSpPr>
            <p:nvPr/>
          </p:nvSpPr>
          <p:spPr bwMode="auto">
            <a:xfrm>
              <a:off x="113" y="1797"/>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X</a:t>
              </a:r>
            </a:p>
          </p:txBody>
        </p:sp>
        <p:sp>
          <p:nvSpPr>
            <p:cNvPr id="625672" name="Text Box 8"/>
            <p:cNvSpPr txBox="1">
              <a:spLocks noChangeArrowheads="1"/>
            </p:cNvSpPr>
            <p:nvPr/>
          </p:nvSpPr>
          <p:spPr bwMode="auto">
            <a:xfrm>
              <a:off x="87" y="2031"/>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10.1.0.1</a:t>
              </a:r>
            </a:p>
          </p:txBody>
        </p:sp>
        <p:pic>
          <p:nvPicPr>
            <p:cNvPr id="625673" name="Picture 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5674" name="Picture 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25676" name="Group 12"/>
          <p:cNvGrpSpPr/>
          <p:nvPr/>
        </p:nvGrpSpPr>
        <p:grpSpPr bwMode="auto">
          <a:xfrm>
            <a:off x="1245873" y="2252364"/>
            <a:ext cx="1637242" cy="1225550"/>
            <a:chOff x="385" y="2795"/>
            <a:chExt cx="1769" cy="816"/>
          </a:xfrm>
        </p:grpSpPr>
        <p:sp>
          <p:nvSpPr>
            <p:cNvPr id="625677" name="Oval 1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78" name="Oval 1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79" name="Oval 1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0" name="Oval 1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1" name="Oval 1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2" name="Oval 1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3" name="Oval 1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4" name="Oval 2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5" name="Oval 2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6" name="Oval 2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7" name="Oval 2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8" name="Oval 2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89" name="Oval 2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0" name="Oval 2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1" name="Oval 2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2" name="Oval 2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3" name="Freeform 29"/>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625694" name="Group 30"/>
          <p:cNvGrpSpPr/>
          <p:nvPr/>
        </p:nvGrpSpPr>
        <p:grpSpPr bwMode="auto">
          <a:xfrm>
            <a:off x="6938383" y="2182514"/>
            <a:ext cx="1637242" cy="1225550"/>
            <a:chOff x="385" y="2795"/>
            <a:chExt cx="1769" cy="816"/>
          </a:xfrm>
        </p:grpSpPr>
        <p:sp>
          <p:nvSpPr>
            <p:cNvPr id="625695" name="Oval 3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6" name="Oval 3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7" name="Oval 3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8" name="Oval 3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699" name="Oval 3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0" name="Oval 3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1" name="Oval 3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2" name="Oval 3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3" name="Oval 3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4" name="Oval 4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5" name="Oval 4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6" name="Oval 4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7" name="Oval 4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8" name="Oval 4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09" name="Oval 4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10" name="Oval 4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5711" name="Freeform 47"/>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aphicFrame>
        <p:nvGraphicFramePr>
          <p:cNvPr id="625712" name="Object 48"/>
          <p:cNvGraphicFramePr>
            <a:graphicFrameLocks noChangeAspect="1"/>
          </p:cNvGraphicFramePr>
          <p:nvPr/>
        </p:nvGraphicFramePr>
        <p:xfrm>
          <a:off x="3576190" y="2090439"/>
          <a:ext cx="2971800" cy="1703388"/>
        </p:xfrm>
        <a:graphic>
          <a:graphicData uri="http://schemas.openxmlformats.org/presentationml/2006/ole">
            <mc:AlternateContent xmlns:mc="http://schemas.openxmlformats.org/markup-compatibility/2006">
              <mc:Choice xmlns:v="urn:schemas-microsoft-com:vml" Requires="v">
                <p:oleObj spid="_x0000_s5123" name="VISIO" r:id="rId5" imgW="1687195" imgH="964565" progId="Visio.Drawing.11">
                  <p:embed/>
                </p:oleObj>
              </mc:Choice>
              <mc:Fallback>
                <p:oleObj name="VISIO" r:id="rId5" imgW="1687195" imgH="964565" progId="Visio.Drawing.11">
                  <p:embed/>
                  <p:pic>
                    <p:nvPicPr>
                      <p:cNvPr id="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6190" y="2090439"/>
                        <a:ext cx="2971800" cy="170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25713" name="Picture 4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37419" y="2625428"/>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5714" name="Picture 5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18014" y="2627015"/>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5715" name="Text Box 51"/>
          <p:cNvSpPr txBox="1">
            <a:spLocks noChangeArrowheads="1"/>
          </p:cNvSpPr>
          <p:nvPr/>
        </p:nvSpPr>
        <p:spPr bwMode="auto">
          <a:xfrm>
            <a:off x="1568624" y="2564904"/>
            <a:ext cx="94782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FF"/>
                </a:solidFill>
                <a:latin typeface="+mn-lt"/>
                <a:ea typeface="黑体" panose="02010609060101010101" pitchFamily="2" charset="-122"/>
              </a:rPr>
              <a:t>部门 </a:t>
            </a:r>
            <a:r>
              <a:rPr kumimoji="1" lang="en-US" altLang="zh-CN" sz="2000" b="1" dirty="0">
                <a:solidFill>
                  <a:srgbClr val="0000FF"/>
                </a:solidFill>
                <a:latin typeface="+mn-lt"/>
                <a:ea typeface="黑体" panose="02010609060101010101" pitchFamily="2" charset="-122"/>
              </a:rPr>
              <a:t>A</a:t>
            </a:r>
          </a:p>
          <a:p>
            <a:pPr algn="ctr"/>
            <a:r>
              <a:rPr kumimoji="1" lang="zh-CN" altLang="en-US" sz="2000" b="1" dirty="0">
                <a:solidFill>
                  <a:srgbClr val="0000FF"/>
                </a:solidFill>
                <a:latin typeface="+mn-lt"/>
                <a:ea typeface="黑体" panose="02010609060101010101" pitchFamily="2" charset="-122"/>
              </a:rPr>
              <a:t>网络</a:t>
            </a:r>
            <a:endParaRPr kumimoji="1" lang="en-US" altLang="zh-CN" sz="2000" b="1" dirty="0">
              <a:solidFill>
                <a:srgbClr val="0000FF"/>
              </a:solidFill>
              <a:latin typeface="+mn-lt"/>
              <a:ea typeface="黑体" panose="02010609060101010101" pitchFamily="2" charset="-122"/>
            </a:endParaRPr>
          </a:p>
        </p:txBody>
      </p:sp>
      <p:sp>
        <p:nvSpPr>
          <p:cNvPr id="625716" name="AutoShape 52"/>
          <p:cNvSpPr>
            <a:spLocks noChangeArrowheads="1"/>
          </p:cNvSpPr>
          <p:nvPr/>
        </p:nvSpPr>
        <p:spPr bwMode="auto">
          <a:xfrm rot="-5400000">
            <a:off x="4737446" y="1394321"/>
            <a:ext cx="360363" cy="2724150"/>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25717" name="Text Box 53"/>
          <p:cNvSpPr txBox="1">
            <a:spLocks noChangeArrowheads="1"/>
          </p:cNvSpPr>
          <p:nvPr/>
        </p:nvSpPr>
        <p:spPr bwMode="auto">
          <a:xfrm>
            <a:off x="4520952" y="2996952"/>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99"/>
                </a:solidFill>
                <a:latin typeface="+mn-lt"/>
                <a:ea typeface="黑体" panose="02010609060101010101" pitchFamily="2" charset="-122"/>
              </a:rPr>
              <a:t>互联网</a:t>
            </a:r>
          </a:p>
        </p:txBody>
      </p:sp>
      <p:sp>
        <p:nvSpPr>
          <p:cNvPr id="625718" name="Text Box 54"/>
          <p:cNvSpPr txBox="1">
            <a:spLocks noChangeArrowheads="1"/>
          </p:cNvSpPr>
          <p:nvPr/>
        </p:nvSpPr>
        <p:spPr bwMode="auto">
          <a:xfrm>
            <a:off x="7329264" y="2492896"/>
            <a:ext cx="9573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FF"/>
                </a:solidFill>
                <a:latin typeface="+mn-lt"/>
                <a:ea typeface="黑体" panose="02010609060101010101" pitchFamily="2" charset="-122"/>
              </a:rPr>
              <a:t>部门 </a:t>
            </a:r>
            <a:r>
              <a:rPr kumimoji="1" lang="en-US" altLang="zh-CN" sz="2000" b="1" dirty="0">
                <a:solidFill>
                  <a:srgbClr val="0000FF"/>
                </a:solidFill>
                <a:latin typeface="+mn-lt"/>
                <a:ea typeface="黑体" panose="02010609060101010101" pitchFamily="2" charset="-122"/>
              </a:rPr>
              <a:t>B</a:t>
            </a:r>
          </a:p>
          <a:p>
            <a:pPr algn="ctr"/>
            <a:r>
              <a:rPr kumimoji="1" lang="zh-CN" altLang="en-US" sz="2000" b="1" dirty="0">
                <a:solidFill>
                  <a:srgbClr val="0000FF"/>
                </a:solidFill>
                <a:latin typeface="+mn-lt"/>
                <a:ea typeface="黑体" panose="02010609060101010101" pitchFamily="2" charset="-122"/>
              </a:rPr>
              <a:t>网络</a:t>
            </a:r>
            <a:endParaRPr kumimoji="1" lang="en-US" altLang="zh-CN" sz="2000" b="1" dirty="0">
              <a:solidFill>
                <a:srgbClr val="0000FF"/>
              </a:solidFill>
              <a:latin typeface="+mn-lt"/>
              <a:ea typeface="黑体" panose="02010609060101010101" pitchFamily="2" charset="-122"/>
            </a:endParaRPr>
          </a:p>
        </p:txBody>
      </p:sp>
      <p:sp>
        <p:nvSpPr>
          <p:cNvPr id="625719" name="Text Box 55"/>
          <p:cNvSpPr txBox="1">
            <a:spLocks noChangeArrowheads="1"/>
          </p:cNvSpPr>
          <p:nvPr/>
        </p:nvSpPr>
        <p:spPr bwMode="auto">
          <a:xfrm>
            <a:off x="2868933" y="2930227"/>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1</a:t>
            </a:r>
            <a:endParaRPr kumimoji="1" lang="en-US" altLang="zh-CN" sz="2000" b="1">
              <a:solidFill>
                <a:srgbClr val="000099"/>
              </a:solidFill>
              <a:latin typeface="+mn-lt"/>
              <a:ea typeface="黑体" panose="02010609060101010101" pitchFamily="2" charset="-122"/>
            </a:endParaRPr>
          </a:p>
        </p:txBody>
      </p:sp>
      <p:sp>
        <p:nvSpPr>
          <p:cNvPr id="625720" name="Text Box 56"/>
          <p:cNvSpPr txBox="1">
            <a:spLocks noChangeArrowheads="1"/>
          </p:cNvSpPr>
          <p:nvPr/>
        </p:nvSpPr>
        <p:spPr bwMode="auto">
          <a:xfrm>
            <a:off x="6643875" y="2858790"/>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2</a:t>
            </a:r>
            <a:endParaRPr kumimoji="1" lang="en-US" altLang="zh-CN" sz="2000" b="1">
              <a:solidFill>
                <a:srgbClr val="000099"/>
              </a:solidFill>
              <a:latin typeface="+mn-lt"/>
              <a:ea typeface="黑体" panose="02010609060101010101" pitchFamily="2" charset="-122"/>
            </a:endParaRPr>
          </a:p>
        </p:txBody>
      </p:sp>
      <p:sp>
        <p:nvSpPr>
          <p:cNvPr id="625721" name="Text Box 57"/>
          <p:cNvSpPr txBox="1">
            <a:spLocks noChangeArrowheads="1"/>
          </p:cNvSpPr>
          <p:nvPr/>
        </p:nvSpPr>
        <p:spPr bwMode="auto">
          <a:xfrm>
            <a:off x="4664000" y="253441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chemeClr val="bg1"/>
                </a:solidFill>
                <a:latin typeface="+mn-lt"/>
                <a:ea typeface="黑体" panose="02010609060101010101" pitchFamily="2" charset="-122"/>
              </a:rPr>
              <a:t>隧道</a:t>
            </a:r>
          </a:p>
        </p:txBody>
      </p:sp>
      <p:sp>
        <p:nvSpPr>
          <p:cNvPr id="625722" name="Line 58"/>
          <p:cNvSpPr>
            <a:spLocks noChangeShapeType="1"/>
          </p:cNvSpPr>
          <p:nvPr/>
        </p:nvSpPr>
        <p:spPr bwMode="auto">
          <a:xfrm>
            <a:off x="3225353" y="2750839"/>
            <a:ext cx="412750"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723" name="Line 59"/>
          <p:cNvSpPr>
            <a:spLocks noChangeShapeType="1"/>
          </p:cNvSpPr>
          <p:nvPr/>
        </p:nvSpPr>
        <p:spPr bwMode="auto">
          <a:xfrm>
            <a:off x="6279703" y="2750839"/>
            <a:ext cx="412750"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625724" name="Group 60"/>
          <p:cNvGrpSpPr/>
          <p:nvPr/>
        </p:nvGrpSpPr>
        <p:grpSpPr bwMode="auto">
          <a:xfrm>
            <a:off x="2616548" y="2107903"/>
            <a:ext cx="4588405" cy="642937"/>
            <a:chOff x="1410" y="1411"/>
            <a:chExt cx="2668" cy="405"/>
          </a:xfrm>
        </p:grpSpPr>
        <p:sp>
          <p:nvSpPr>
            <p:cNvPr id="625725" name="Text Box 61"/>
            <p:cNvSpPr txBox="1">
              <a:spLocks noChangeArrowheads="1"/>
            </p:cNvSpPr>
            <p:nvPr/>
          </p:nvSpPr>
          <p:spPr bwMode="auto">
            <a:xfrm>
              <a:off x="1410" y="1411"/>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125.1.2.3</a:t>
              </a:r>
            </a:p>
          </p:txBody>
        </p:sp>
        <p:sp>
          <p:nvSpPr>
            <p:cNvPr id="625726" name="Line 62"/>
            <p:cNvSpPr>
              <a:spLocks noChangeShapeType="1"/>
            </p:cNvSpPr>
            <p:nvPr/>
          </p:nvSpPr>
          <p:spPr bwMode="auto">
            <a:xfrm>
              <a:off x="1837" y="1616"/>
              <a:ext cx="23" cy="200"/>
            </a:xfrm>
            <a:prstGeom prst="line">
              <a:avLst/>
            </a:prstGeom>
            <a:noFill/>
            <a:ln w="3810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727" name="Text Box 63"/>
            <p:cNvSpPr txBox="1">
              <a:spLocks noChangeArrowheads="1"/>
            </p:cNvSpPr>
            <p:nvPr/>
          </p:nvSpPr>
          <p:spPr bwMode="auto">
            <a:xfrm>
              <a:off x="3350" y="1430"/>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194.4.5.6</a:t>
              </a:r>
            </a:p>
          </p:txBody>
        </p:sp>
        <p:sp>
          <p:nvSpPr>
            <p:cNvPr id="625728" name="Line 64"/>
            <p:cNvSpPr>
              <a:spLocks noChangeShapeType="1"/>
            </p:cNvSpPr>
            <p:nvPr/>
          </p:nvSpPr>
          <p:spPr bwMode="auto">
            <a:xfrm flipH="1">
              <a:off x="3636" y="1616"/>
              <a:ext cx="60" cy="200"/>
            </a:xfrm>
            <a:prstGeom prst="line">
              <a:avLst/>
            </a:prstGeom>
            <a:noFill/>
            <a:ln w="3810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625729" name="Group 65"/>
          <p:cNvGrpSpPr/>
          <p:nvPr/>
        </p:nvGrpSpPr>
        <p:grpSpPr bwMode="auto">
          <a:xfrm>
            <a:off x="8198990" y="1988840"/>
            <a:ext cx="1506538" cy="1712913"/>
            <a:chOff x="4656" y="1336"/>
            <a:chExt cx="876" cy="1079"/>
          </a:xfrm>
        </p:grpSpPr>
        <p:sp>
          <p:nvSpPr>
            <p:cNvPr id="625730" name="Line 66"/>
            <p:cNvSpPr>
              <a:spLocks noChangeShapeType="1"/>
            </p:cNvSpPr>
            <p:nvPr/>
          </p:nvSpPr>
          <p:spPr bwMode="auto">
            <a:xfrm flipH="1" flipV="1">
              <a:off x="4800" y="1912"/>
              <a:ext cx="348"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731" name="Line 67"/>
            <p:cNvSpPr>
              <a:spLocks noChangeShapeType="1"/>
            </p:cNvSpPr>
            <p:nvPr/>
          </p:nvSpPr>
          <p:spPr bwMode="auto">
            <a:xfrm flipH="1" flipV="1">
              <a:off x="4656" y="2152"/>
              <a:ext cx="336" cy="19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5732" name="Line 68"/>
            <p:cNvSpPr>
              <a:spLocks noChangeShapeType="1"/>
            </p:cNvSpPr>
            <p:nvPr/>
          </p:nvSpPr>
          <p:spPr bwMode="auto">
            <a:xfrm flipH="1">
              <a:off x="4800" y="1528"/>
              <a:ext cx="240" cy="96"/>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pic>
          <p:nvPicPr>
            <p:cNvPr id="625733"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5734" name="Text Box 70"/>
            <p:cNvSpPr txBox="1">
              <a:spLocks noChangeArrowheads="1"/>
            </p:cNvSpPr>
            <p:nvPr/>
          </p:nvSpPr>
          <p:spPr bwMode="auto">
            <a:xfrm>
              <a:off x="5284" y="1729"/>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Y</a:t>
              </a:r>
            </a:p>
          </p:txBody>
        </p:sp>
        <p:sp>
          <p:nvSpPr>
            <p:cNvPr id="625735" name="Text Box 71"/>
            <p:cNvSpPr txBox="1">
              <a:spLocks noChangeArrowheads="1"/>
            </p:cNvSpPr>
            <p:nvPr/>
          </p:nvSpPr>
          <p:spPr bwMode="auto">
            <a:xfrm>
              <a:off x="4887" y="195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10.2.0.3</a:t>
              </a:r>
            </a:p>
          </p:txBody>
        </p:sp>
        <p:pic>
          <p:nvPicPr>
            <p:cNvPr id="625736" name="Picture 7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5737" name="Picture 7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25738" name="Text Box 74"/>
          <p:cNvSpPr txBox="1">
            <a:spLocks noChangeArrowheads="1"/>
          </p:cNvSpPr>
          <p:nvPr/>
        </p:nvSpPr>
        <p:spPr bwMode="auto">
          <a:xfrm>
            <a:off x="4088904" y="3714452"/>
            <a:ext cx="20409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C00000"/>
                </a:solidFill>
                <a:latin typeface="+mn-lt"/>
                <a:ea typeface="黑体" panose="02010609060101010101" pitchFamily="2" charset="-122"/>
              </a:rPr>
              <a:t>使用隧道技术</a:t>
            </a:r>
          </a:p>
        </p:txBody>
      </p:sp>
      <p:sp>
        <p:nvSpPr>
          <p:cNvPr id="625739" name="Text Box 75"/>
          <p:cNvSpPr txBox="1">
            <a:spLocks noChangeArrowheads="1"/>
          </p:cNvSpPr>
          <p:nvPr/>
        </p:nvSpPr>
        <p:spPr bwMode="auto">
          <a:xfrm>
            <a:off x="1064568" y="1365697"/>
            <a:ext cx="1415772" cy="461665"/>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a:solidFill>
                  <a:srgbClr val="000099"/>
                </a:solidFill>
                <a:latin typeface="+mn-lt"/>
                <a:ea typeface="黑体" panose="02010609060101010101" pitchFamily="2" charset="-122"/>
              </a:rPr>
              <a:t>本地地址</a:t>
            </a:r>
          </a:p>
        </p:txBody>
      </p:sp>
      <p:sp>
        <p:nvSpPr>
          <p:cNvPr id="625740" name="Text Box 76"/>
          <p:cNvSpPr txBox="1">
            <a:spLocks noChangeArrowheads="1"/>
          </p:cNvSpPr>
          <p:nvPr/>
        </p:nvSpPr>
        <p:spPr bwMode="auto">
          <a:xfrm>
            <a:off x="7095877" y="1383159"/>
            <a:ext cx="1415772" cy="461665"/>
          </a:xfrm>
          <a:prstGeom prst="rect">
            <a:avLst/>
          </a:prstGeom>
          <a:solidFill>
            <a:srgbClr val="FFFF99"/>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a:solidFill>
                  <a:srgbClr val="000099"/>
                </a:solidFill>
                <a:latin typeface="+mn-lt"/>
                <a:ea typeface="黑体" panose="02010609060101010101" pitchFamily="2" charset="-122"/>
              </a:rPr>
              <a:t>本地地址</a:t>
            </a:r>
          </a:p>
        </p:txBody>
      </p:sp>
      <p:sp>
        <p:nvSpPr>
          <p:cNvPr id="625741" name="Text Box 77"/>
          <p:cNvSpPr txBox="1">
            <a:spLocks noChangeArrowheads="1"/>
          </p:cNvSpPr>
          <p:nvPr/>
        </p:nvSpPr>
        <p:spPr bwMode="auto">
          <a:xfrm>
            <a:off x="4304928" y="1383159"/>
            <a:ext cx="1415772" cy="461665"/>
          </a:xfrm>
          <a:prstGeom prst="rect">
            <a:avLst/>
          </a:prstGeom>
          <a:solidFill>
            <a:srgbClr val="FF99FF"/>
          </a:solidFill>
          <a:ln w="9525">
            <a:solidFill>
              <a:srgbClr val="333399"/>
            </a:solidFill>
            <a:miter lim="800000"/>
          </a:ln>
          <a:effectLst/>
        </p:spPr>
        <p:txBody>
          <a:bodyPr wrap="none">
            <a:spAutoFit/>
          </a:bodyPr>
          <a:lstStyle/>
          <a:p>
            <a:pPr algn="ctr" eaLnBrk="0" hangingPunct="0"/>
            <a:r>
              <a:rPr kumimoji="1" lang="zh-CN" altLang="en-US" sz="2400" b="1" dirty="0">
                <a:solidFill>
                  <a:srgbClr val="000099"/>
                </a:solidFill>
                <a:latin typeface="+mn-lt"/>
                <a:ea typeface="黑体" panose="02010609060101010101" pitchFamily="2" charset="-122"/>
              </a:rPr>
              <a:t>全球地址</a:t>
            </a:r>
          </a:p>
        </p:txBody>
      </p:sp>
      <p:sp>
        <p:nvSpPr>
          <p:cNvPr id="625742" name="AutoShape 78"/>
          <p:cNvSpPr>
            <a:spLocks noChangeArrowheads="1"/>
          </p:cNvSpPr>
          <p:nvPr/>
        </p:nvSpPr>
        <p:spPr bwMode="auto">
          <a:xfrm>
            <a:off x="1166763" y="4449465"/>
            <a:ext cx="3821377" cy="856396"/>
          </a:xfrm>
          <a:prstGeom prst="wedgeRoundRectCallout">
            <a:avLst>
              <a:gd name="adj1" fmla="val -24394"/>
              <a:gd name="adj2" fmla="val -166065"/>
              <a:gd name="adj3" fmla="val 16667"/>
            </a:avLst>
          </a:prstGeom>
          <a:solidFill>
            <a:srgbClr val="FFFF66"/>
          </a:solidFill>
          <a:ln w="9525">
            <a:solidFill>
              <a:schemeClr val="tx1"/>
            </a:solidFill>
            <a:miter lim="800000"/>
          </a:ln>
          <a:effectLst/>
        </p:spPr>
        <p:txBody>
          <a:bodyPr/>
          <a:lstStyle/>
          <a:p>
            <a:pPr algn="ctr"/>
            <a:endParaRPr lang="zh-CN" altLang="zh-CN" sz="2400" b="1">
              <a:solidFill>
                <a:srgbClr val="000099"/>
              </a:solidFill>
              <a:latin typeface="+mn-lt"/>
              <a:ea typeface="黑体" panose="02010609060101010101" pitchFamily="2" charset="-122"/>
            </a:endParaRPr>
          </a:p>
        </p:txBody>
      </p:sp>
      <p:sp>
        <p:nvSpPr>
          <p:cNvPr id="625745" name="Text Box 81"/>
          <p:cNvSpPr txBox="1">
            <a:spLocks noChangeArrowheads="1"/>
          </p:cNvSpPr>
          <p:nvPr/>
        </p:nvSpPr>
        <p:spPr bwMode="auto">
          <a:xfrm>
            <a:off x="1625071" y="4474864"/>
            <a:ext cx="288412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99"/>
                </a:solidFill>
                <a:latin typeface="+mn-lt"/>
                <a:ea typeface="黑体" panose="02010609060101010101" pitchFamily="2" charset="-122"/>
              </a:rPr>
              <a:t>网络地址 </a:t>
            </a:r>
            <a:r>
              <a:rPr lang="en-US" altLang="zh-CN" sz="2400" b="1" dirty="0">
                <a:solidFill>
                  <a:srgbClr val="000099"/>
                </a:solidFill>
                <a:latin typeface="+mn-lt"/>
                <a:ea typeface="黑体" panose="02010609060101010101" pitchFamily="2" charset="-122"/>
              </a:rPr>
              <a:t>= 10.1.0.0</a:t>
            </a:r>
          </a:p>
          <a:p>
            <a:pPr algn="ctr"/>
            <a:r>
              <a:rPr lang="zh-CN" altLang="en-US" sz="2400" b="1" dirty="0">
                <a:solidFill>
                  <a:srgbClr val="000099"/>
                </a:solidFill>
                <a:latin typeface="+mn-lt"/>
                <a:ea typeface="黑体" panose="02010609060101010101" pitchFamily="2" charset="-122"/>
              </a:rPr>
              <a:t>（本地地址）</a:t>
            </a:r>
          </a:p>
        </p:txBody>
      </p:sp>
      <p:sp>
        <p:nvSpPr>
          <p:cNvPr id="625747" name="AutoShape 83"/>
          <p:cNvSpPr>
            <a:spLocks noChangeArrowheads="1"/>
          </p:cNvSpPr>
          <p:nvPr/>
        </p:nvSpPr>
        <p:spPr bwMode="auto">
          <a:xfrm>
            <a:off x="5768926" y="4449465"/>
            <a:ext cx="3821377" cy="856396"/>
          </a:xfrm>
          <a:prstGeom prst="wedgeRoundRectCallout">
            <a:avLst>
              <a:gd name="adj1" fmla="val -2116"/>
              <a:gd name="adj2" fmla="val -191574"/>
              <a:gd name="adj3" fmla="val 16667"/>
            </a:avLst>
          </a:prstGeom>
          <a:solidFill>
            <a:srgbClr val="99FF66"/>
          </a:solidFill>
          <a:ln w="9525">
            <a:solidFill>
              <a:schemeClr val="tx1"/>
            </a:solidFill>
            <a:miter lim="800000"/>
          </a:ln>
          <a:effectLst/>
        </p:spPr>
        <p:txBody>
          <a:bodyPr/>
          <a:lstStyle/>
          <a:p>
            <a:pPr algn="ctr"/>
            <a:endParaRPr lang="zh-CN" altLang="zh-CN" sz="2400" b="1">
              <a:solidFill>
                <a:srgbClr val="000099"/>
              </a:solidFill>
              <a:latin typeface="+mn-lt"/>
              <a:ea typeface="黑体" panose="02010609060101010101" pitchFamily="2" charset="-122"/>
            </a:endParaRPr>
          </a:p>
        </p:txBody>
      </p:sp>
      <p:sp>
        <p:nvSpPr>
          <p:cNvPr id="625746" name="Text Box 82"/>
          <p:cNvSpPr txBox="1">
            <a:spLocks noChangeArrowheads="1"/>
          </p:cNvSpPr>
          <p:nvPr/>
        </p:nvSpPr>
        <p:spPr bwMode="auto">
          <a:xfrm>
            <a:off x="6227234" y="4470102"/>
            <a:ext cx="288412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a:solidFill>
                  <a:srgbClr val="000099"/>
                </a:solidFill>
                <a:latin typeface="+mn-lt"/>
                <a:ea typeface="黑体" panose="02010609060101010101" pitchFamily="2" charset="-122"/>
              </a:rPr>
              <a:t>网络地址 </a:t>
            </a:r>
            <a:r>
              <a:rPr lang="en-US" altLang="zh-CN" sz="2400" b="1">
                <a:solidFill>
                  <a:srgbClr val="000099"/>
                </a:solidFill>
                <a:latin typeface="+mn-lt"/>
                <a:ea typeface="黑体" panose="02010609060101010101" pitchFamily="2" charset="-122"/>
              </a:rPr>
              <a:t>= 10.2.0.0</a:t>
            </a:r>
          </a:p>
          <a:p>
            <a:pPr algn="ctr"/>
            <a:r>
              <a:rPr lang="zh-CN" altLang="en-US" sz="2400" b="1">
                <a:solidFill>
                  <a:srgbClr val="000099"/>
                </a:solidFill>
                <a:latin typeface="+mn-lt"/>
                <a:ea typeface="黑体" panose="02010609060101010101" pitchFamily="2" charset="-122"/>
              </a:rPr>
              <a:t>（本地地址）</a:t>
            </a:r>
          </a:p>
        </p:txBody>
      </p:sp>
      <p:sp>
        <p:nvSpPr>
          <p:cNvPr id="84" name="矩形 83"/>
          <p:cNvSpPr/>
          <p:nvPr/>
        </p:nvSpPr>
        <p:spPr>
          <a:xfrm>
            <a:off x="2558173" y="5722976"/>
            <a:ext cx="5590032" cy="461665"/>
          </a:xfrm>
          <a:prstGeom prst="rect">
            <a:avLst/>
          </a:prstGeom>
        </p:spPr>
        <p:txBody>
          <a:bodyPr wrap="square">
            <a:spAutoFit/>
          </a:bodyPr>
          <a:lstStyle/>
          <a:p>
            <a:pPr algn="ctr"/>
            <a:r>
              <a:rPr lang="zh-CN" altLang="zh-CN" sz="2400" b="1" dirty="0">
                <a:latin typeface="+mn-lt"/>
                <a:ea typeface="黑体" panose="02010609060101010101" pitchFamily="2" charset="-122"/>
              </a:rPr>
              <a:t>隧道技术</a:t>
            </a:r>
            <a:endParaRPr lang="zh-CN" altLang="en-US" sz="2400" b="1" dirty="0">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57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25666"/>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ntr" presetSubtype="0" fill="hold" grpId="0" nodeType="afterEffect">
                                  <p:stCondLst>
                                    <p:cond delay="500"/>
                                  </p:stCondLst>
                                  <p:childTnLst>
                                    <p:set>
                                      <p:cBhvr>
                                        <p:cTn id="12" dur="1" fill="hold">
                                          <p:stCondLst>
                                            <p:cond delay="0"/>
                                          </p:stCondLst>
                                        </p:cTn>
                                        <p:tgtEl>
                                          <p:spTgt spid="625740"/>
                                        </p:tgtEl>
                                        <p:attrNameLst>
                                          <p:attrName>style.visibility</p:attrName>
                                        </p:attrNameLst>
                                      </p:cBhvr>
                                      <p:to>
                                        <p:strVal val="visible"/>
                                      </p:to>
                                    </p:set>
                                  </p:childTnLst>
                                </p:cTn>
                              </p:par>
                            </p:childTnLst>
                          </p:cTn>
                        </p:par>
                        <p:par>
                          <p:cTn id="13" fill="hold">
                            <p:stCondLst>
                              <p:cond delay="2000"/>
                            </p:stCondLst>
                            <p:childTnLst>
                              <p:par>
                                <p:cTn id="14" presetID="35" presetClass="emph" presetSubtype="0" repeatCount="3000" fill="hold" nodeType="afterEffect">
                                  <p:stCondLst>
                                    <p:cond delay="500"/>
                                  </p:stCondLst>
                                  <p:childTnLst>
                                    <p:anim calcmode="discrete" valueType="str">
                                      <p:cBhvr>
                                        <p:cTn id="15" dur="1000" fill="hold"/>
                                        <p:tgtEl>
                                          <p:spTgt spid="625729"/>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5741"/>
                                        </p:tgtEl>
                                        <p:attrNameLst>
                                          <p:attrName>style.visibility</p:attrName>
                                        </p:attrNameLst>
                                      </p:cBhvr>
                                      <p:to>
                                        <p:strVal val="visible"/>
                                      </p:to>
                                    </p:set>
                                  </p:childTnLst>
                                </p:cTn>
                              </p:par>
                            </p:childTnLst>
                          </p:cTn>
                        </p:par>
                        <p:par>
                          <p:cTn id="20" fill="hold">
                            <p:stCondLst>
                              <p:cond delay="0"/>
                            </p:stCondLst>
                            <p:childTnLst>
                              <p:par>
                                <p:cTn id="21" presetID="35" presetClass="emph" presetSubtype="0" repeatCount="3000" fill="hold" nodeType="afterEffect">
                                  <p:stCondLst>
                                    <p:cond delay="500"/>
                                  </p:stCondLst>
                                  <p:childTnLst>
                                    <p:anim calcmode="discrete" valueType="str">
                                      <p:cBhvr>
                                        <p:cTn id="22" dur="1000" fill="hold"/>
                                        <p:tgtEl>
                                          <p:spTgt spid="6257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739" grpId="0" animBg="1"/>
      <p:bldP spid="625740" grpId="0" animBg="1"/>
      <p:bldP spid="625741"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6690" name="Group 2"/>
          <p:cNvGrpSpPr/>
          <p:nvPr/>
        </p:nvGrpSpPr>
        <p:grpSpPr bwMode="auto">
          <a:xfrm>
            <a:off x="351358" y="1551856"/>
            <a:ext cx="1666478" cy="1789113"/>
            <a:chOff x="87" y="1384"/>
            <a:chExt cx="969" cy="1127"/>
          </a:xfrm>
        </p:grpSpPr>
        <p:sp>
          <p:nvSpPr>
            <p:cNvPr id="626691" name="Line 3"/>
            <p:cNvSpPr>
              <a:spLocks noChangeShapeType="1"/>
            </p:cNvSpPr>
            <p:nvPr/>
          </p:nvSpPr>
          <p:spPr bwMode="auto">
            <a:xfrm flipV="1">
              <a:off x="816" y="2248"/>
              <a:ext cx="240" cy="19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692" name="Line 4"/>
            <p:cNvSpPr>
              <a:spLocks noChangeShapeType="1"/>
            </p:cNvSpPr>
            <p:nvPr/>
          </p:nvSpPr>
          <p:spPr bwMode="auto">
            <a:xfrm>
              <a:off x="624" y="1576"/>
              <a:ext cx="240" cy="144"/>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693" name="Line 5"/>
            <p:cNvSpPr>
              <a:spLocks noChangeShapeType="1"/>
            </p:cNvSpPr>
            <p:nvPr/>
          </p:nvSpPr>
          <p:spPr bwMode="auto">
            <a:xfrm flipV="1">
              <a:off x="432" y="1967"/>
              <a:ext cx="288"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pic>
          <p:nvPicPr>
            <p:cNvPr id="626694"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695" name="Text Box 7"/>
            <p:cNvSpPr txBox="1">
              <a:spLocks noChangeArrowheads="1"/>
            </p:cNvSpPr>
            <p:nvPr/>
          </p:nvSpPr>
          <p:spPr bwMode="auto">
            <a:xfrm>
              <a:off x="113" y="1797"/>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X</a:t>
              </a:r>
            </a:p>
          </p:txBody>
        </p:sp>
        <p:sp>
          <p:nvSpPr>
            <p:cNvPr id="626696" name="Text Box 8"/>
            <p:cNvSpPr txBox="1">
              <a:spLocks noChangeArrowheads="1"/>
            </p:cNvSpPr>
            <p:nvPr/>
          </p:nvSpPr>
          <p:spPr bwMode="auto">
            <a:xfrm>
              <a:off x="87" y="2031"/>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10.1.0.1</a:t>
              </a:r>
            </a:p>
          </p:txBody>
        </p:sp>
        <p:pic>
          <p:nvPicPr>
            <p:cNvPr id="626697" name="Picture 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698" name="Picture 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26700" name="Group 12"/>
          <p:cNvGrpSpPr/>
          <p:nvPr/>
        </p:nvGrpSpPr>
        <p:grpSpPr bwMode="auto">
          <a:xfrm>
            <a:off x="1255968" y="1739180"/>
            <a:ext cx="1637242" cy="1225550"/>
            <a:chOff x="385" y="2795"/>
            <a:chExt cx="1769" cy="816"/>
          </a:xfrm>
        </p:grpSpPr>
        <p:sp>
          <p:nvSpPr>
            <p:cNvPr id="626701" name="Oval 1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2" name="Oval 1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3" name="Oval 1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4" name="Oval 1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5" name="Oval 1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6" name="Oval 1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7" name="Oval 1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8" name="Oval 2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09" name="Oval 2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0" name="Oval 2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1" name="Oval 2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2" name="Oval 2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3" name="Oval 2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4" name="Oval 2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5" name="Oval 2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6" name="Oval 2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17" name="Freeform 29"/>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626718" name="Group 30"/>
          <p:cNvGrpSpPr/>
          <p:nvPr/>
        </p:nvGrpSpPr>
        <p:grpSpPr bwMode="auto">
          <a:xfrm>
            <a:off x="6948478" y="1669330"/>
            <a:ext cx="1637242" cy="1225550"/>
            <a:chOff x="385" y="2795"/>
            <a:chExt cx="1769" cy="816"/>
          </a:xfrm>
        </p:grpSpPr>
        <p:sp>
          <p:nvSpPr>
            <p:cNvPr id="626719" name="Oval 3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0" name="Oval 3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1" name="Oval 3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2" name="Oval 3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3" name="Oval 3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4" name="Oval 3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5" name="Oval 3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6" name="Oval 3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7" name="Oval 3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8" name="Oval 4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29" name="Oval 4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0" name="Oval 4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1" name="Oval 4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2" name="Oval 4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3" name="Oval 4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4" name="Oval 4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35" name="Freeform 47"/>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aphicFrame>
        <p:nvGraphicFramePr>
          <p:cNvPr id="626736" name="Object 48"/>
          <p:cNvGraphicFramePr>
            <a:graphicFrameLocks noChangeAspect="1"/>
          </p:cNvGraphicFramePr>
          <p:nvPr/>
        </p:nvGraphicFramePr>
        <p:xfrm>
          <a:off x="3586285" y="1577255"/>
          <a:ext cx="2971800" cy="1703388"/>
        </p:xfrm>
        <a:graphic>
          <a:graphicData uri="http://schemas.openxmlformats.org/presentationml/2006/ole">
            <mc:AlternateContent xmlns:mc="http://schemas.openxmlformats.org/markup-compatibility/2006">
              <mc:Choice xmlns:v="urn:schemas-microsoft-com:vml" Requires="v">
                <p:oleObj spid="_x0000_s6147" name="VISIO" r:id="rId5" imgW="1687195" imgH="964565" progId="Visio.Drawing.11">
                  <p:embed/>
                </p:oleObj>
              </mc:Choice>
              <mc:Fallback>
                <p:oleObj name="VISIO" r:id="rId5" imgW="1687195" imgH="964565" progId="Visio.Drawing.11">
                  <p:embed/>
                  <p:pic>
                    <p:nvPicPr>
                      <p:cNvPr id="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86285" y="1577255"/>
                        <a:ext cx="2971800" cy="170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26737" name="Picture 4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47514" y="2112244"/>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738" name="Picture 5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28109" y="2113831"/>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6739" name="Text Box 51"/>
          <p:cNvSpPr txBox="1">
            <a:spLocks noChangeArrowheads="1"/>
          </p:cNvSpPr>
          <p:nvPr/>
        </p:nvSpPr>
        <p:spPr bwMode="auto">
          <a:xfrm>
            <a:off x="1628912" y="1988840"/>
            <a:ext cx="94782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A</a:t>
            </a:r>
          </a:p>
          <a:p>
            <a:pPr algn="ctr"/>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sp>
        <p:nvSpPr>
          <p:cNvPr id="626740" name="AutoShape 52"/>
          <p:cNvSpPr>
            <a:spLocks noChangeArrowheads="1"/>
          </p:cNvSpPr>
          <p:nvPr/>
        </p:nvSpPr>
        <p:spPr bwMode="auto">
          <a:xfrm rot="-5400000">
            <a:off x="4747541" y="881137"/>
            <a:ext cx="360363" cy="2724150"/>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26741" name="Text Box 53"/>
          <p:cNvSpPr txBox="1">
            <a:spLocks noChangeArrowheads="1"/>
          </p:cNvSpPr>
          <p:nvPr/>
        </p:nvSpPr>
        <p:spPr bwMode="auto">
          <a:xfrm>
            <a:off x="4592960" y="2566269"/>
            <a:ext cx="9589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互联网</a:t>
            </a:r>
          </a:p>
        </p:txBody>
      </p:sp>
      <p:sp>
        <p:nvSpPr>
          <p:cNvPr id="626742" name="Text Box 54"/>
          <p:cNvSpPr txBox="1">
            <a:spLocks noChangeArrowheads="1"/>
          </p:cNvSpPr>
          <p:nvPr/>
        </p:nvSpPr>
        <p:spPr bwMode="auto">
          <a:xfrm>
            <a:off x="7236047" y="1916832"/>
            <a:ext cx="9573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B</a:t>
            </a:r>
          </a:p>
          <a:p>
            <a:pPr algn="ctr"/>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sp>
        <p:nvSpPr>
          <p:cNvPr id="626743" name="Text Box 55"/>
          <p:cNvSpPr txBox="1">
            <a:spLocks noChangeArrowheads="1"/>
          </p:cNvSpPr>
          <p:nvPr/>
        </p:nvSpPr>
        <p:spPr bwMode="auto">
          <a:xfrm>
            <a:off x="2879028" y="2417043"/>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1</a:t>
            </a:r>
            <a:endParaRPr kumimoji="1" lang="en-US" altLang="zh-CN" sz="2000" b="1">
              <a:solidFill>
                <a:srgbClr val="000099"/>
              </a:solidFill>
              <a:latin typeface="+mn-lt"/>
              <a:ea typeface="黑体" panose="02010609060101010101" pitchFamily="2" charset="-122"/>
            </a:endParaRPr>
          </a:p>
        </p:txBody>
      </p:sp>
      <p:sp>
        <p:nvSpPr>
          <p:cNvPr id="626744" name="Text Box 56"/>
          <p:cNvSpPr txBox="1">
            <a:spLocks noChangeArrowheads="1"/>
          </p:cNvSpPr>
          <p:nvPr/>
        </p:nvSpPr>
        <p:spPr bwMode="auto">
          <a:xfrm>
            <a:off x="6653970" y="2345606"/>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2</a:t>
            </a:r>
            <a:endParaRPr kumimoji="1" lang="en-US" altLang="zh-CN" sz="2000" b="1">
              <a:solidFill>
                <a:srgbClr val="000099"/>
              </a:solidFill>
              <a:latin typeface="+mn-lt"/>
              <a:ea typeface="黑体" panose="02010609060101010101" pitchFamily="2" charset="-122"/>
            </a:endParaRPr>
          </a:p>
        </p:txBody>
      </p:sp>
      <p:sp>
        <p:nvSpPr>
          <p:cNvPr id="626745" name="Text Box 57"/>
          <p:cNvSpPr txBox="1">
            <a:spLocks noChangeArrowheads="1"/>
          </p:cNvSpPr>
          <p:nvPr/>
        </p:nvSpPr>
        <p:spPr bwMode="auto">
          <a:xfrm>
            <a:off x="4693413" y="2020863"/>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chemeClr val="bg1"/>
                </a:solidFill>
                <a:latin typeface="+mn-lt"/>
                <a:ea typeface="黑体" panose="02010609060101010101" pitchFamily="2" charset="-122"/>
              </a:rPr>
              <a:t>隧道</a:t>
            </a:r>
          </a:p>
        </p:txBody>
      </p:sp>
      <p:sp>
        <p:nvSpPr>
          <p:cNvPr id="626746" name="Line 58"/>
          <p:cNvSpPr>
            <a:spLocks noChangeShapeType="1"/>
          </p:cNvSpPr>
          <p:nvPr/>
        </p:nvSpPr>
        <p:spPr bwMode="auto">
          <a:xfrm>
            <a:off x="3235448" y="2237655"/>
            <a:ext cx="412750"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47" name="Line 59"/>
          <p:cNvSpPr>
            <a:spLocks noChangeShapeType="1"/>
          </p:cNvSpPr>
          <p:nvPr/>
        </p:nvSpPr>
        <p:spPr bwMode="auto">
          <a:xfrm>
            <a:off x="6289798" y="2237655"/>
            <a:ext cx="412750" cy="0"/>
          </a:xfrm>
          <a:prstGeom prst="line">
            <a:avLst/>
          </a:prstGeom>
          <a:noFill/>
          <a:ln w="3810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626748" name="Group 60"/>
          <p:cNvGrpSpPr/>
          <p:nvPr/>
        </p:nvGrpSpPr>
        <p:grpSpPr bwMode="auto">
          <a:xfrm>
            <a:off x="2626643" y="1594719"/>
            <a:ext cx="4588405" cy="642937"/>
            <a:chOff x="1410" y="1411"/>
            <a:chExt cx="2668" cy="405"/>
          </a:xfrm>
        </p:grpSpPr>
        <p:sp>
          <p:nvSpPr>
            <p:cNvPr id="626749" name="Text Box 61"/>
            <p:cNvSpPr txBox="1">
              <a:spLocks noChangeArrowheads="1"/>
            </p:cNvSpPr>
            <p:nvPr/>
          </p:nvSpPr>
          <p:spPr bwMode="auto">
            <a:xfrm>
              <a:off x="1410" y="1411"/>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125.1.2.3</a:t>
              </a:r>
            </a:p>
          </p:txBody>
        </p:sp>
        <p:sp>
          <p:nvSpPr>
            <p:cNvPr id="626750" name="Line 62"/>
            <p:cNvSpPr>
              <a:spLocks noChangeShapeType="1"/>
            </p:cNvSpPr>
            <p:nvPr/>
          </p:nvSpPr>
          <p:spPr bwMode="auto">
            <a:xfrm>
              <a:off x="1837" y="1616"/>
              <a:ext cx="23" cy="200"/>
            </a:xfrm>
            <a:prstGeom prst="line">
              <a:avLst/>
            </a:prstGeom>
            <a:noFill/>
            <a:ln w="3810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51" name="Text Box 63"/>
            <p:cNvSpPr txBox="1">
              <a:spLocks noChangeArrowheads="1"/>
            </p:cNvSpPr>
            <p:nvPr/>
          </p:nvSpPr>
          <p:spPr bwMode="auto">
            <a:xfrm>
              <a:off x="3350" y="1430"/>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194.4.5.6</a:t>
              </a:r>
            </a:p>
          </p:txBody>
        </p:sp>
        <p:sp>
          <p:nvSpPr>
            <p:cNvPr id="626752" name="Line 64"/>
            <p:cNvSpPr>
              <a:spLocks noChangeShapeType="1"/>
            </p:cNvSpPr>
            <p:nvPr/>
          </p:nvSpPr>
          <p:spPr bwMode="auto">
            <a:xfrm flipH="1">
              <a:off x="3636" y="1616"/>
              <a:ext cx="60" cy="200"/>
            </a:xfrm>
            <a:prstGeom prst="line">
              <a:avLst/>
            </a:prstGeom>
            <a:noFill/>
            <a:ln w="3810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626753" name="Group 65"/>
          <p:cNvGrpSpPr/>
          <p:nvPr/>
        </p:nvGrpSpPr>
        <p:grpSpPr bwMode="auto">
          <a:xfrm>
            <a:off x="8209085" y="1475656"/>
            <a:ext cx="1506538" cy="1712913"/>
            <a:chOff x="4656" y="1336"/>
            <a:chExt cx="876" cy="1079"/>
          </a:xfrm>
        </p:grpSpPr>
        <p:sp>
          <p:nvSpPr>
            <p:cNvPr id="626754" name="Line 66"/>
            <p:cNvSpPr>
              <a:spLocks noChangeShapeType="1"/>
            </p:cNvSpPr>
            <p:nvPr/>
          </p:nvSpPr>
          <p:spPr bwMode="auto">
            <a:xfrm flipH="1" flipV="1">
              <a:off x="4800" y="1912"/>
              <a:ext cx="348" cy="0"/>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55" name="Line 67"/>
            <p:cNvSpPr>
              <a:spLocks noChangeShapeType="1"/>
            </p:cNvSpPr>
            <p:nvPr/>
          </p:nvSpPr>
          <p:spPr bwMode="auto">
            <a:xfrm flipH="1" flipV="1">
              <a:off x="4656" y="2152"/>
              <a:ext cx="336" cy="192"/>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56" name="Line 68"/>
            <p:cNvSpPr>
              <a:spLocks noChangeShapeType="1"/>
            </p:cNvSpPr>
            <p:nvPr/>
          </p:nvSpPr>
          <p:spPr bwMode="auto">
            <a:xfrm flipH="1">
              <a:off x="4800" y="1528"/>
              <a:ext cx="240" cy="96"/>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pic>
          <p:nvPicPr>
            <p:cNvPr id="626757"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758" name="Text Box 70"/>
            <p:cNvSpPr txBox="1">
              <a:spLocks noChangeArrowheads="1"/>
            </p:cNvSpPr>
            <p:nvPr/>
          </p:nvSpPr>
          <p:spPr bwMode="auto">
            <a:xfrm>
              <a:off x="5284" y="1729"/>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Y</a:t>
              </a:r>
            </a:p>
          </p:txBody>
        </p:sp>
        <p:sp>
          <p:nvSpPr>
            <p:cNvPr id="626759" name="Text Box 71"/>
            <p:cNvSpPr txBox="1">
              <a:spLocks noChangeArrowheads="1"/>
            </p:cNvSpPr>
            <p:nvPr/>
          </p:nvSpPr>
          <p:spPr bwMode="auto">
            <a:xfrm>
              <a:off x="4887" y="195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10.2.0.3</a:t>
              </a:r>
            </a:p>
          </p:txBody>
        </p:sp>
        <p:pic>
          <p:nvPicPr>
            <p:cNvPr id="626760" name="Picture 7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761" name="Picture 7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26762" name="Text Box 74"/>
          <p:cNvSpPr txBox="1">
            <a:spLocks noChangeArrowheads="1"/>
          </p:cNvSpPr>
          <p:nvPr/>
        </p:nvSpPr>
        <p:spPr bwMode="auto">
          <a:xfrm>
            <a:off x="4136193" y="3183359"/>
            <a:ext cx="20409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C00000"/>
                </a:solidFill>
                <a:latin typeface="+mn-lt"/>
                <a:ea typeface="黑体" panose="02010609060101010101" pitchFamily="2" charset="-122"/>
              </a:rPr>
              <a:t>使用隧道技术</a:t>
            </a:r>
          </a:p>
        </p:txBody>
      </p:sp>
      <p:sp>
        <p:nvSpPr>
          <p:cNvPr id="626763" name="AutoShape 75"/>
          <p:cNvSpPr>
            <a:spLocks noChangeArrowheads="1"/>
          </p:cNvSpPr>
          <p:nvPr/>
        </p:nvSpPr>
        <p:spPr bwMode="auto">
          <a:xfrm>
            <a:off x="6246803" y="1107355"/>
            <a:ext cx="495300" cy="152400"/>
          </a:xfrm>
          <a:prstGeom prst="rightArrow">
            <a:avLst>
              <a:gd name="adj1" fmla="val 50000"/>
              <a:gd name="adj2" fmla="val 75000"/>
            </a:avLst>
          </a:prstGeom>
          <a:solidFill>
            <a:schemeClr val="hlink"/>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26764" name="Rectangle 76"/>
          <p:cNvSpPr>
            <a:spLocks noChangeArrowheads="1"/>
          </p:cNvSpPr>
          <p:nvPr/>
        </p:nvSpPr>
        <p:spPr bwMode="auto">
          <a:xfrm>
            <a:off x="1020356" y="332656"/>
            <a:ext cx="3666596" cy="434975"/>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pPr algn="ctr"/>
            <a:r>
              <a:rPr kumimoji="1" lang="zh-CN" altLang="en-US" sz="2000" b="1" dirty="0">
                <a:solidFill>
                  <a:srgbClr val="C00000"/>
                </a:solidFill>
                <a:latin typeface="+mn-lt"/>
                <a:ea typeface="黑体" panose="02010609060101010101" pitchFamily="2" charset="-122"/>
              </a:rPr>
              <a:t>加密的从</a:t>
            </a:r>
            <a:r>
              <a:rPr kumimoji="1" lang="zh-CN" altLang="en-US" sz="1200" b="1" dirty="0">
                <a:solidFill>
                  <a:srgbClr val="C00000"/>
                </a:solidFill>
                <a:latin typeface="+mn-lt"/>
                <a:ea typeface="黑体" panose="02010609060101010101" pitchFamily="2" charset="-122"/>
              </a:rPr>
              <a:t> </a:t>
            </a:r>
            <a:r>
              <a:rPr kumimoji="1" lang="en-US" altLang="zh-CN" sz="2000" b="1" dirty="0">
                <a:solidFill>
                  <a:srgbClr val="C00000"/>
                </a:solidFill>
                <a:latin typeface="+mn-lt"/>
                <a:ea typeface="黑体" panose="02010609060101010101" pitchFamily="2" charset="-122"/>
              </a:rPr>
              <a:t>X</a:t>
            </a:r>
            <a:r>
              <a:rPr kumimoji="1" lang="en-US" altLang="zh-CN" sz="1000" b="1" dirty="0">
                <a:solidFill>
                  <a:srgbClr val="C00000"/>
                </a:solidFill>
                <a:latin typeface="+mn-lt"/>
                <a:ea typeface="黑体" panose="02010609060101010101" pitchFamily="2" charset="-122"/>
              </a:rPr>
              <a:t> </a:t>
            </a:r>
            <a:r>
              <a:rPr kumimoji="1" lang="zh-CN" altLang="en-US" sz="2000" b="1" dirty="0">
                <a:solidFill>
                  <a:srgbClr val="C00000"/>
                </a:solidFill>
                <a:latin typeface="+mn-lt"/>
                <a:ea typeface="黑体" panose="02010609060101010101" pitchFamily="2" charset="-122"/>
              </a:rPr>
              <a:t>到</a:t>
            </a:r>
            <a:r>
              <a:rPr kumimoji="1" lang="zh-CN" altLang="en-US" sz="1000" b="1" dirty="0">
                <a:solidFill>
                  <a:srgbClr val="C00000"/>
                </a:solidFill>
                <a:latin typeface="+mn-lt"/>
                <a:ea typeface="黑体" panose="02010609060101010101" pitchFamily="2" charset="-122"/>
              </a:rPr>
              <a:t> </a:t>
            </a:r>
            <a:r>
              <a:rPr kumimoji="1" lang="en-US" altLang="zh-CN" sz="2000" b="1" dirty="0">
                <a:solidFill>
                  <a:srgbClr val="C00000"/>
                </a:solidFill>
                <a:latin typeface="+mn-lt"/>
                <a:ea typeface="黑体" panose="02010609060101010101" pitchFamily="2" charset="-122"/>
              </a:rPr>
              <a:t>Y</a:t>
            </a:r>
            <a:r>
              <a:rPr kumimoji="1" lang="en-US" altLang="zh-CN" sz="900" b="1" dirty="0">
                <a:solidFill>
                  <a:srgbClr val="C00000"/>
                </a:solidFill>
                <a:latin typeface="+mn-lt"/>
                <a:ea typeface="黑体" panose="02010609060101010101" pitchFamily="2" charset="-122"/>
              </a:rPr>
              <a:t> </a:t>
            </a:r>
            <a:r>
              <a:rPr kumimoji="1" lang="zh-CN" altLang="en-US" sz="2000" b="1" dirty="0">
                <a:solidFill>
                  <a:srgbClr val="C00000"/>
                </a:solidFill>
                <a:latin typeface="+mn-lt"/>
                <a:ea typeface="黑体" panose="02010609060101010101" pitchFamily="2" charset="-122"/>
              </a:rPr>
              <a:t>的内部数据报</a:t>
            </a:r>
          </a:p>
        </p:txBody>
      </p:sp>
      <p:sp>
        <p:nvSpPr>
          <p:cNvPr id="626765" name="Rectangle 77"/>
          <p:cNvSpPr>
            <a:spLocks noChangeArrowheads="1"/>
          </p:cNvSpPr>
          <p:nvPr/>
        </p:nvSpPr>
        <p:spPr bwMode="auto">
          <a:xfrm>
            <a:off x="1020356" y="983530"/>
            <a:ext cx="3709591" cy="396875"/>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anose="02010609060101010101" pitchFamily="2" charset="-122"/>
              </a:rPr>
              <a:t>外部数据报的数据部分</a:t>
            </a:r>
          </a:p>
        </p:txBody>
      </p:sp>
      <p:sp>
        <p:nvSpPr>
          <p:cNvPr id="626766" name="AutoShape 78"/>
          <p:cNvSpPr>
            <a:spLocks noChangeArrowheads="1"/>
          </p:cNvSpPr>
          <p:nvPr/>
        </p:nvSpPr>
        <p:spPr bwMode="auto">
          <a:xfrm>
            <a:off x="3751385" y="637455"/>
            <a:ext cx="165100" cy="457200"/>
          </a:xfrm>
          <a:prstGeom prst="downArrow">
            <a:avLst>
              <a:gd name="adj1" fmla="val 50000"/>
              <a:gd name="adj2" fmla="val 75000"/>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99"/>
              </a:solidFill>
              <a:latin typeface="+mn-lt"/>
              <a:ea typeface="黑体" panose="02010609060101010101" pitchFamily="2" charset="-122"/>
            </a:endParaRPr>
          </a:p>
        </p:txBody>
      </p:sp>
      <p:sp>
        <p:nvSpPr>
          <p:cNvPr id="626767" name="Text Box 79"/>
          <p:cNvSpPr txBox="1">
            <a:spLocks noChangeArrowheads="1"/>
          </p:cNvSpPr>
          <p:nvPr/>
        </p:nvSpPr>
        <p:spPr bwMode="auto">
          <a:xfrm>
            <a:off x="6105128" y="188640"/>
            <a:ext cx="2643672" cy="646331"/>
          </a:xfrm>
          <a:prstGeom prst="rect">
            <a:avLst/>
          </a:prstGeom>
          <a:noFill/>
          <a:ln w="9525">
            <a:solidFill>
              <a:srgbClr val="333399"/>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lnSpc>
                <a:spcPct val="90000"/>
              </a:lnSpc>
            </a:pPr>
            <a:r>
              <a:rPr kumimoji="1" lang="zh-CN" altLang="en-US" sz="2000" b="1">
                <a:solidFill>
                  <a:srgbClr val="000099"/>
                </a:solidFill>
                <a:latin typeface="+mn-lt"/>
                <a:ea typeface="黑体" panose="02010609060101010101" pitchFamily="2" charset="-122"/>
              </a:rPr>
              <a:t>源地址：</a:t>
            </a:r>
            <a:r>
              <a:rPr kumimoji="1" lang="en-US" altLang="zh-CN" sz="2000" b="1">
                <a:solidFill>
                  <a:srgbClr val="000099"/>
                </a:solidFill>
                <a:latin typeface="+mn-lt"/>
                <a:ea typeface="黑体" panose="02010609060101010101" pitchFamily="2" charset="-122"/>
              </a:rPr>
              <a:t>125.1.2.3</a:t>
            </a:r>
          </a:p>
          <a:p>
            <a:pPr algn="r">
              <a:lnSpc>
                <a:spcPct val="90000"/>
              </a:lnSpc>
            </a:pPr>
            <a:r>
              <a:rPr kumimoji="1" lang="zh-CN" altLang="en-US" sz="2000" b="1">
                <a:solidFill>
                  <a:srgbClr val="000099"/>
                </a:solidFill>
                <a:latin typeface="+mn-lt"/>
                <a:ea typeface="黑体" panose="02010609060101010101" pitchFamily="2" charset="-122"/>
              </a:rPr>
              <a:t>目的地址：</a:t>
            </a:r>
            <a:r>
              <a:rPr kumimoji="1" lang="en-US" altLang="zh-CN" sz="2000" b="1">
                <a:solidFill>
                  <a:srgbClr val="000099"/>
                </a:solidFill>
                <a:latin typeface="+mn-lt"/>
                <a:ea typeface="黑体" panose="02010609060101010101" pitchFamily="2" charset="-122"/>
              </a:rPr>
              <a:t>194.4.5.6</a:t>
            </a:r>
          </a:p>
        </p:txBody>
      </p:sp>
      <p:sp>
        <p:nvSpPr>
          <p:cNvPr id="626768" name="Freeform 80"/>
          <p:cNvSpPr/>
          <p:nvPr/>
        </p:nvSpPr>
        <p:spPr bwMode="auto">
          <a:xfrm>
            <a:off x="4054068" y="1488355"/>
            <a:ext cx="502179" cy="762000"/>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69" name="Rectangle 81"/>
          <p:cNvSpPr>
            <a:spLocks noChangeArrowheads="1"/>
          </p:cNvSpPr>
          <p:nvPr/>
        </p:nvSpPr>
        <p:spPr bwMode="auto">
          <a:xfrm>
            <a:off x="4686952" y="983530"/>
            <a:ext cx="1559852" cy="396875"/>
          </a:xfrm>
          <a:prstGeom prst="rect">
            <a:avLst/>
          </a:prstGeom>
          <a:solidFill>
            <a:srgbClr val="FFCCFF"/>
          </a:solidFill>
          <a:ln w="9525">
            <a:solidFill>
              <a:schemeClr val="tx1"/>
            </a:solidFill>
            <a:miter lim="800000"/>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anose="02010609060101010101" pitchFamily="2" charset="-122"/>
              </a:rPr>
              <a:t>数据报首部</a:t>
            </a:r>
          </a:p>
        </p:txBody>
      </p:sp>
      <p:sp>
        <p:nvSpPr>
          <p:cNvPr id="626770" name="Line 82"/>
          <p:cNvSpPr>
            <a:spLocks noChangeShapeType="1"/>
          </p:cNvSpPr>
          <p:nvPr/>
        </p:nvSpPr>
        <p:spPr bwMode="auto">
          <a:xfrm flipH="1">
            <a:off x="5637345" y="767630"/>
            <a:ext cx="467783" cy="287338"/>
          </a:xfrm>
          <a:prstGeom prst="line">
            <a:avLst/>
          </a:prstGeom>
          <a:noFill/>
          <a:ln w="28575">
            <a:solidFill>
              <a:srgbClr val="333399"/>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71" name="Line 83"/>
          <p:cNvSpPr>
            <a:spLocks noChangeShapeType="1"/>
          </p:cNvSpPr>
          <p:nvPr/>
        </p:nvSpPr>
        <p:spPr bwMode="auto">
          <a:xfrm>
            <a:off x="1020357" y="1488355"/>
            <a:ext cx="5226447" cy="0"/>
          </a:xfrm>
          <a:prstGeom prst="line">
            <a:avLst/>
          </a:prstGeom>
          <a:noFill/>
          <a:ln w="57150">
            <a:solidFill>
              <a:srgbClr val="FF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626772" name="Group 84"/>
          <p:cNvGrpSpPr/>
          <p:nvPr/>
        </p:nvGrpSpPr>
        <p:grpSpPr bwMode="auto">
          <a:xfrm>
            <a:off x="351358" y="3812430"/>
            <a:ext cx="9426178" cy="2057400"/>
            <a:chOff x="87" y="2872"/>
            <a:chExt cx="5481" cy="1296"/>
          </a:xfrm>
        </p:grpSpPr>
        <p:sp>
          <p:nvSpPr>
            <p:cNvPr id="626773" name="AutoShape 85"/>
            <p:cNvSpPr>
              <a:spLocks noChangeArrowheads="1"/>
            </p:cNvSpPr>
            <p:nvPr/>
          </p:nvSpPr>
          <p:spPr bwMode="auto">
            <a:xfrm>
              <a:off x="96" y="2872"/>
              <a:ext cx="5472" cy="1296"/>
            </a:xfrm>
            <a:prstGeom prst="roundRect">
              <a:avLst>
                <a:gd name="adj" fmla="val 16667"/>
              </a:avLst>
            </a:prstGeom>
            <a:solidFill>
              <a:srgbClr val="FF99FF"/>
            </a:solidFill>
            <a:ln w="9525" cap="rnd">
              <a:solidFill>
                <a:schemeClr val="tx1"/>
              </a:solidFill>
              <a:prstDash val="sysDot"/>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26774" name="Line 86"/>
            <p:cNvSpPr>
              <a:spLocks noChangeShapeType="1"/>
            </p:cNvSpPr>
            <p:nvPr/>
          </p:nvSpPr>
          <p:spPr bwMode="auto">
            <a:xfrm>
              <a:off x="1764" y="3400"/>
              <a:ext cx="2076" cy="0"/>
            </a:xfrm>
            <a:prstGeom prst="line">
              <a:avLst/>
            </a:prstGeom>
            <a:noFill/>
            <a:ln w="571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75" name="Line 87"/>
            <p:cNvSpPr>
              <a:spLocks noChangeShapeType="1"/>
            </p:cNvSpPr>
            <p:nvPr/>
          </p:nvSpPr>
          <p:spPr bwMode="auto">
            <a:xfrm flipV="1">
              <a:off x="816" y="3832"/>
              <a:ext cx="240" cy="19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76" name="Line 88"/>
            <p:cNvSpPr>
              <a:spLocks noChangeShapeType="1"/>
            </p:cNvSpPr>
            <p:nvPr/>
          </p:nvSpPr>
          <p:spPr bwMode="auto">
            <a:xfrm>
              <a:off x="624" y="3160"/>
              <a:ext cx="240" cy="144"/>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77" name="Line 89"/>
            <p:cNvSpPr>
              <a:spLocks noChangeShapeType="1"/>
            </p:cNvSpPr>
            <p:nvPr/>
          </p:nvSpPr>
          <p:spPr bwMode="auto">
            <a:xfrm flipV="1">
              <a:off x="432" y="3551"/>
              <a:ext cx="288"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626778" name="Group 90"/>
            <p:cNvGrpSpPr/>
            <p:nvPr/>
          </p:nvGrpSpPr>
          <p:grpSpPr bwMode="auto">
            <a:xfrm>
              <a:off x="657" y="3091"/>
              <a:ext cx="952" cy="772"/>
              <a:chOff x="385" y="2795"/>
              <a:chExt cx="1769" cy="816"/>
            </a:xfrm>
          </p:grpSpPr>
          <p:sp>
            <p:nvSpPr>
              <p:cNvPr id="626779" name="Oval 9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0" name="Oval 9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1" name="Oval 9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2" name="Oval 9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3" name="Oval 9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4" name="Oval 9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5" name="Oval 9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6" name="Oval 9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7" name="Oval 9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8" name="Oval 10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89" name="Oval 10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0" name="Oval 10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1" name="Oval 10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2" name="Oval 10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3" name="Oval 10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4" name="Oval 10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795" name="Freeform 107"/>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sp>
          <p:nvSpPr>
            <p:cNvPr id="626796" name="Line 108"/>
            <p:cNvSpPr>
              <a:spLocks noChangeShapeType="1"/>
            </p:cNvSpPr>
            <p:nvPr/>
          </p:nvSpPr>
          <p:spPr bwMode="auto">
            <a:xfrm flipH="1">
              <a:off x="4800" y="3112"/>
              <a:ext cx="240" cy="96"/>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97" name="Line 109"/>
            <p:cNvSpPr>
              <a:spLocks noChangeShapeType="1"/>
            </p:cNvSpPr>
            <p:nvPr/>
          </p:nvSpPr>
          <p:spPr bwMode="auto">
            <a:xfrm flipH="1" flipV="1">
              <a:off x="4656" y="3736"/>
              <a:ext cx="336" cy="19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798" name="Line 110"/>
            <p:cNvSpPr>
              <a:spLocks noChangeShapeType="1"/>
            </p:cNvSpPr>
            <p:nvPr/>
          </p:nvSpPr>
          <p:spPr bwMode="auto">
            <a:xfrm flipH="1" flipV="1">
              <a:off x="4800" y="3496"/>
              <a:ext cx="348"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626799" name="Group 111"/>
            <p:cNvGrpSpPr/>
            <p:nvPr/>
          </p:nvGrpSpPr>
          <p:grpSpPr bwMode="auto">
            <a:xfrm>
              <a:off x="3969" y="3046"/>
              <a:ext cx="952" cy="772"/>
              <a:chOff x="385" y="2795"/>
              <a:chExt cx="1769" cy="816"/>
            </a:xfrm>
          </p:grpSpPr>
          <p:sp>
            <p:nvSpPr>
              <p:cNvPr id="626800" name="Oval 11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1" name="Oval 11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2" name="Oval 11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3" name="Oval 11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4" name="Oval 11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5" name="Oval 11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6" name="Oval 11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7" name="Oval 11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8" name="Oval 12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09" name="Oval 12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0" name="Oval 12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1" name="Oval 12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2" name="Oval 12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3" name="Oval 12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4" name="Oval 12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5" name="Oval 12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26816" name="Freeform 128"/>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pic>
          <p:nvPicPr>
            <p:cNvPr id="626817" name="Picture 12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818" name="Picture 1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819" name="Picture 1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20" name="Text Box 132"/>
            <p:cNvSpPr txBox="1">
              <a:spLocks noChangeArrowheads="1"/>
            </p:cNvSpPr>
            <p:nvPr/>
          </p:nvSpPr>
          <p:spPr bwMode="auto">
            <a:xfrm>
              <a:off x="864" y="3247"/>
              <a:ext cx="551"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A</a:t>
              </a:r>
            </a:p>
            <a:p>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pic>
          <p:nvPicPr>
            <p:cNvPr id="626821" name="Picture 1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22" name="Text Box 134"/>
            <p:cNvSpPr txBox="1">
              <a:spLocks noChangeArrowheads="1"/>
            </p:cNvSpPr>
            <p:nvPr/>
          </p:nvSpPr>
          <p:spPr bwMode="auto">
            <a:xfrm>
              <a:off x="4174" y="3201"/>
              <a:ext cx="557"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B</a:t>
              </a:r>
            </a:p>
            <a:p>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sp>
          <p:nvSpPr>
            <p:cNvPr id="626823" name="Text Box 135"/>
            <p:cNvSpPr txBox="1">
              <a:spLocks noChangeArrowheads="1"/>
            </p:cNvSpPr>
            <p:nvPr/>
          </p:nvSpPr>
          <p:spPr bwMode="auto">
            <a:xfrm>
              <a:off x="309" y="3176"/>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X</a:t>
              </a:r>
            </a:p>
          </p:txBody>
        </p:sp>
        <p:sp>
          <p:nvSpPr>
            <p:cNvPr id="626824" name="Text Box 136"/>
            <p:cNvSpPr txBox="1">
              <a:spLocks noChangeArrowheads="1"/>
            </p:cNvSpPr>
            <p:nvPr/>
          </p:nvSpPr>
          <p:spPr bwMode="auto">
            <a:xfrm>
              <a:off x="5072" y="3128"/>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Y</a:t>
              </a:r>
            </a:p>
          </p:txBody>
        </p:sp>
        <p:sp>
          <p:nvSpPr>
            <p:cNvPr id="626825" name="Text Box 137"/>
            <p:cNvSpPr txBox="1">
              <a:spLocks noChangeArrowheads="1"/>
            </p:cNvSpPr>
            <p:nvPr/>
          </p:nvSpPr>
          <p:spPr bwMode="auto">
            <a:xfrm>
              <a:off x="1523" y="3132"/>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1</a:t>
              </a:r>
              <a:endParaRPr kumimoji="1" lang="en-US" altLang="zh-CN" sz="2000" b="1">
                <a:solidFill>
                  <a:srgbClr val="000099"/>
                </a:solidFill>
                <a:latin typeface="+mn-lt"/>
                <a:ea typeface="黑体" panose="02010609060101010101" pitchFamily="2" charset="-122"/>
              </a:endParaRPr>
            </a:p>
          </p:txBody>
        </p:sp>
        <p:sp>
          <p:nvSpPr>
            <p:cNvPr id="626826" name="Text Box 138"/>
            <p:cNvSpPr txBox="1">
              <a:spLocks noChangeArrowheads="1"/>
            </p:cNvSpPr>
            <p:nvPr/>
          </p:nvSpPr>
          <p:spPr bwMode="auto">
            <a:xfrm>
              <a:off x="3815" y="3084"/>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2</a:t>
              </a:r>
              <a:endParaRPr kumimoji="1" lang="en-US" altLang="zh-CN" sz="2000" b="1">
                <a:solidFill>
                  <a:srgbClr val="000099"/>
                </a:solidFill>
                <a:latin typeface="+mn-lt"/>
                <a:ea typeface="黑体" panose="02010609060101010101" pitchFamily="2" charset="-122"/>
              </a:endParaRPr>
            </a:p>
          </p:txBody>
        </p:sp>
        <p:sp>
          <p:nvSpPr>
            <p:cNvPr id="626827" name="Text Box 139"/>
            <p:cNvSpPr txBox="1">
              <a:spLocks noChangeArrowheads="1"/>
            </p:cNvSpPr>
            <p:nvPr/>
          </p:nvSpPr>
          <p:spPr bwMode="auto">
            <a:xfrm>
              <a:off x="1410" y="2888"/>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125.1.2.3</a:t>
              </a:r>
            </a:p>
          </p:txBody>
        </p:sp>
        <p:sp>
          <p:nvSpPr>
            <p:cNvPr id="626828" name="Line 140"/>
            <p:cNvSpPr>
              <a:spLocks noChangeShapeType="1"/>
            </p:cNvSpPr>
            <p:nvPr/>
          </p:nvSpPr>
          <p:spPr bwMode="auto">
            <a:xfrm>
              <a:off x="1812" y="3112"/>
              <a:ext cx="48" cy="288"/>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829" name="Text Box 141"/>
            <p:cNvSpPr txBox="1">
              <a:spLocks noChangeArrowheads="1"/>
            </p:cNvSpPr>
            <p:nvPr/>
          </p:nvSpPr>
          <p:spPr bwMode="auto">
            <a:xfrm>
              <a:off x="3186" y="2892"/>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194.4.5.6</a:t>
              </a:r>
            </a:p>
          </p:txBody>
        </p:sp>
        <p:sp>
          <p:nvSpPr>
            <p:cNvPr id="626830" name="Line 142"/>
            <p:cNvSpPr>
              <a:spLocks noChangeShapeType="1"/>
            </p:cNvSpPr>
            <p:nvPr/>
          </p:nvSpPr>
          <p:spPr bwMode="auto">
            <a:xfrm>
              <a:off x="3588" y="3112"/>
              <a:ext cx="48" cy="288"/>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26831" name="Text Box 143"/>
            <p:cNvSpPr txBox="1">
              <a:spLocks noChangeArrowheads="1"/>
            </p:cNvSpPr>
            <p:nvPr/>
          </p:nvSpPr>
          <p:spPr bwMode="auto">
            <a:xfrm>
              <a:off x="87" y="361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10.1.0.1</a:t>
              </a:r>
            </a:p>
          </p:txBody>
        </p:sp>
        <p:sp>
          <p:nvSpPr>
            <p:cNvPr id="626832" name="Text Box 144"/>
            <p:cNvSpPr txBox="1">
              <a:spLocks noChangeArrowheads="1"/>
            </p:cNvSpPr>
            <p:nvPr/>
          </p:nvSpPr>
          <p:spPr bwMode="auto">
            <a:xfrm>
              <a:off x="4887" y="3512"/>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10.2.0.3</a:t>
              </a:r>
            </a:p>
          </p:txBody>
        </p:sp>
        <p:pic>
          <p:nvPicPr>
            <p:cNvPr id="626833" name="Picture 14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4" name="Picture 1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5" name="Picture 1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6" name="Picture 1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37" name="Text Box 149"/>
            <p:cNvSpPr txBox="1">
              <a:spLocks noChangeArrowheads="1"/>
            </p:cNvSpPr>
            <p:nvPr/>
          </p:nvSpPr>
          <p:spPr bwMode="auto">
            <a:xfrm>
              <a:off x="2113" y="3848"/>
              <a:ext cx="142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000099"/>
                  </a:solidFill>
                  <a:latin typeface="+mn-lt"/>
                  <a:ea typeface="黑体" panose="02010609060101010101" pitchFamily="2" charset="-122"/>
                </a:rPr>
                <a:t>虚拟专用网 </a:t>
              </a:r>
              <a:r>
                <a:rPr kumimoji="1" lang="en-US" altLang="zh-CN" sz="2400" b="1" dirty="0">
                  <a:solidFill>
                    <a:srgbClr val="000099"/>
                  </a:solidFill>
                  <a:latin typeface="+mn-lt"/>
                  <a:ea typeface="黑体" panose="02010609060101010101" pitchFamily="2" charset="-122"/>
                </a:rPr>
                <a:t>VPN</a:t>
              </a:r>
            </a:p>
          </p:txBody>
        </p:sp>
      </p:grpSp>
      <p:sp>
        <p:nvSpPr>
          <p:cNvPr id="2" name="矩形 1"/>
          <p:cNvSpPr/>
          <p:nvPr/>
        </p:nvSpPr>
        <p:spPr>
          <a:xfrm>
            <a:off x="2558173" y="6063679"/>
            <a:ext cx="5590032" cy="461665"/>
          </a:xfrm>
          <a:prstGeom prst="rect">
            <a:avLst/>
          </a:prstGeom>
        </p:spPr>
        <p:txBody>
          <a:bodyPr wrap="square">
            <a:spAutoFit/>
          </a:bodyPr>
          <a:lstStyle/>
          <a:p>
            <a:pPr algn="ctr"/>
            <a:r>
              <a:rPr lang="zh-CN" altLang="zh-CN" sz="2400" b="1" dirty="0">
                <a:latin typeface="+mn-lt"/>
                <a:ea typeface="黑体" panose="02010609060101010101" pitchFamily="2" charset="-122"/>
              </a:rPr>
              <a:t>用隧道技术实现虚拟专用网</a:t>
            </a:r>
            <a:endParaRPr lang="zh-CN" altLang="en-US" sz="2400" b="1" dirty="0">
              <a:latin typeface="+mn-lt"/>
              <a:ea typeface="黑体" panose="02010609060101010101"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ChangeArrowheads="1"/>
          </p:cNvSpPr>
          <p:nvPr>
            <p:ph type="title"/>
          </p:nvPr>
        </p:nvSpPr>
        <p:spPr/>
        <p:txBody>
          <a:bodyPr/>
          <a:lstStyle/>
          <a:p>
            <a:pPr algn="ctr"/>
            <a:r>
              <a:rPr lang="zh-CN" altLang="en-US" sz="3600" dirty="0"/>
              <a:t>内联网 </a:t>
            </a:r>
            <a:r>
              <a:rPr lang="en-US" altLang="zh-CN" sz="3600" dirty="0"/>
              <a:t>intranet </a:t>
            </a:r>
            <a:r>
              <a:rPr lang="zh-CN" altLang="en-US" sz="3600" dirty="0"/>
              <a:t>和外联网 </a:t>
            </a:r>
            <a:r>
              <a:rPr lang="en-US" altLang="zh-CN" sz="3600" dirty="0"/>
              <a:t>extranet</a:t>
            </a:r>
            <a:endParaRPr lang="zh-CN" altLang="en-US" sz="3600" dirty="0"/>
          </a:p>
        </p:txBody>
      </p:sp>
      <p:sp>
        <p:nvSpPr>
          <p:cNvPr id="627715" name="Rectangle 3"/>
          <p:cNvSpPr>
            <a:spLocks noGrp="1" noChangeArrowheads="1"/>
          </p:cNvSpPr>
          <p:nvPr>
            <p:ph idx="1"/>
          </p:nvPr>
        </p:nvSpPr>
        <p:spPr/>
        <p:txBody>
          <a:bodyPr/>
          <a:lstStyle/>
          <a:p>
            <a:r>
              <a:rPr lang="zh-CN" altLang="en-US" sz="2800" dirty="0"/>
              <a:t>它们都是基于 </a:t>
            </a:r>
            <a:r>
              <a:rPr lang="en-US" altLang="zh-CN" sz="2800" dirty="0"/>
              <a:t>TCP/IP </a:t>
            </a:r>
            <a:r>
              <a:rPr lang="zh-CN" altLang="en-US" sz="2800" dirty="0"/>
              <a:t>协议的。</a:t>
            </a:r>
            <a:endParaRPr lang="en-US" altLang="zh-CN" sz="2800" dirty="0"/>
          </a:p>
          <a:p>
            <a:r>
              <a:rPr lang="zh-CN" altLang="en-US" sz="2800" dirty="0"/>
              <a:t>由部门 </a:t>
            </a:r>
            <a:r>
              <a:rPr lang="en-US" altLang="zh-CN" sz="2800" dirty="0"/>
              <a:t>A </a:t>
            </a:r>
            <a:r>
              <a:rPr lang="zh-CN" altLang="en-US" sz="2800" dirty="0"/>
              <a:t>和 </a:t>
            </a:r>
            <a:r>
              <a:rPr lang="en-US" altLang="zh-CN" sz="2800" dirty="0"/>
              <a:t>B </a:t>
            </a:r>
            <a:r>
              <a:rPr lang="zh-CN" altLang="en-US" sz="2800" dirty="0"/>
              <a:t>的内部网络所构成的虚拟专用网 </a:t>
            </a:r>
            <a:r>
              <a:rPr lang="en-US" altLang="zh-CN" sz="2800" dirty="0"/>
              <a:t>VPN </a:t>
            </a:r>
            <a:r>
              <a:rPr lang="zh-CN" altLang="en-US" sz="2800" dirty="0"/>
              <a:t>又称为</a:t>
            </a:r>
            <a:r>
              <a:rPr lang="zh-CN" altLang="en-US" sz="2800" dirty="0">
                <a:solidFill>
                  <a:srgbClr val="FF0000"/>
                </a:solidFill>
              </a:rPr>
              <a:t>内联网 </a:t>
            </a:r>
            <a:r>
              <a:rPr lang="en-US" altLang="zh-CN" sz="2800" dirty="0"/>
              <a:t>(intranet)</a:t>
            </a:r>
            <a:r>
              <a:rPr lang="zh-CN" altLang="en-US" sz="2800" dirty="0"/>
              <a:t>，表示部门 </a:t>
            </a:r>
            <a:r>
              <a:rPr lang="en-US" altLang="zh-CN" sz="2800" dirty="0"/>
              <a:t>A </a:t>
            </a:r>
            <a:r>
              <a:rPr lang="zh-CN" altLang="en-US" sz="2800" dirty="0"/>
              <a:t>和 </a:t>
            </a:r>
            <a:r>
              <a:rPr lang="en-US" altLang="zh-CN" sz="2800" dirty="0"/>
              <a:t>B </a:t>
            </a:r>
            <a:r>
              <a:rPr lang="zh-CN" altLang="en-US" sz="2800" dirty="0"/>
              <a:t>都是在</a:t>
            </a:r>
            <a:r>
              <a:rPr lang="zh-CN" altLang="en-US" sz="2800" dirty="0">
                <a:solidFill>
                  <a:srgbClr val="FF0000"/>
                </a:solidFill>
              </a:rPr>
              <a:t>同一个机构的内部。</a:t>
            </a:r>
          </a:p>
          <a:p>
            <a:r>
              <a:rPr lang="zh-CN" altLang="en-US" sz="2800" dirty="0"/>
              <a:t>一个机构和某些</a:t>
            </a:r>
            <a:r>
              <a:rPr lang="zh-CN" altLang="en-US" sz="2800" dirty="0">
                <a:solidFill>
                  <a:srgbClr val="0000FF"/>
                </a:solidFill>
              </a:rPr>
              <a:t>外部机构</a:t>
            </a:r>
            <a:r>
              <a:rPr lang="zh-CN" altLang="en-US" sz="2800" dirty="0"/>
              <a:t>共同建立的虚拟专用网 </a:t>
            </a:r>
            <a:r>
              <a:rPr lang="en-US" altLang="zh-CN" sz="2800" dirty="0"/>
              <a:t>VPN </a:t>
            </a:r>
            <a:r>
              <a:rPr lang="zh-CN" altLang="en-US" sz="2800" dirty="0"/>
              <a:t>又称为</a:t>
            </a:r>
            <a:r>
              <a:rPr lang="zh-CN" altLang="en-US" sz="2800" dirty="0">
                <a:solidFill>
                  <a:srgbClr val="FF0000"/>
                </a:solidFill>
              </a:rPr>
              <a:t>外联网 </a:t>
            </a:r>
            <a:r>
              <a:rPr lang="en-US" altLang="zh-CN" sz="2800" dirty="0"/>
              <a:t>(extranet)</a:t>
            </a:r>
            <a:r>
              <a:rPr lang="zh-CN" altLang="en-US" sz="2800" dirty="0"/>
              <a:t>。</a:t>
            </a:r>
            <a:r>
              <a:rPr lang="zh-CN" altLang="en-US" dirty="0"/>
              <a:t> </a:t>
            </a:r>
            <a:r>
              <a:rPr lang="zh-CN" altLang="en-US" sz="2800" dirty="0"/>
              <a:t> </a:t>
            </a:r>
          </a:p>
        </p:txBody>
      </p:sp>
      <p:grpSp>
        <p:nvGrpSpPr>
          <p:cNvPr id="72" name="Group 84"/>
          <p:cNvGrpSpPr/>
          <p:nvPr/>
        </p:nvGrpSpPr>
        <p:grpSpPr bwMode="auto">
          <a:xfrm>
            <a:off x="351358" y="4323928"/>
            <a:ext cx="9426178" cy="2057400"/>
            <a:chOff x="87" y="2872"/>
            <a:chExt cx="5481" cy="1296"/>
          </a:xfrm>
        </p:grpSpPr>
        <p:sp>
          <p:nvSpPr>
            <p:cNvPr id="73" name="AutoShape 85"/>
            <p:cNvSpPr>
              <a:spLocks noChangeArrowheads="1"/>
            </p:cNvSpPr>
            <p:nvPr/>
          </p:nvSpPr>
          <p:spPr bwMode="auto">
            <a:xfrm>
              <a:off x="96" y="2872"/>
              <a:ext cx="5472" cy="1296"/>
            </a:xfrm>
            <a:prstGeom prst="roundRect">
              <a:avLst>
                <a:gd name="adj" fmla="val 16667"/>
              </a:avLst>
            </a:prstGeom>
            <a:solidFill>
              <a:srgbClr val="FF99FF"/>
            </a:solidFill>
            <a:ln w="9525" cap="rnd">
              <a:solidFill>
                <a:schemeClr val="tx1"/>
              </a:solidFill>
              <a:prstDash val="sysDot"/>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74" name="Line 86"/>
            <p:cNvSpPr>
              <a:spLocks noChangeShapeType="1"/>
            </p:cNvSpPr>
            <p:nvPr/>
          </p:nvSpPr>
          <p:spPr bwMode="auto">
            <a:xfrm>
              <a:off x="1764" y="3400"/>
              <a:ext cx="2076" cy="0"/>
            </a:xfrm>
            <a:prstGeom prst="line">
              <a:avLst/>
            </a:prstGeom>
            <a:noFill/>
            <a:ln w="571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75" name="Line 87"/>
            <p:cNvSpPr>
              <a:spLocks noChangeShapeType="1"/>
            </p:cNvSpPr>
            <p:nvPr/>
          </p:nvSpPr>
          <p:spPr bwMode="auto">
            <a:xfrm flipV="1">
              <a:off x="816" y="3832"/>
              <a:ext cx="240" cy="19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76" name="Line 88"/>
            <p:cNvSpPr>
              <a:spLocks noChangeShapeType="1"/>
            </p:cNvSpPr>
            <p:nvPr/>
          </p:nvSpPr>
          <p:spPr bwMode="auto">
            <a:xfrm>
              <a:off x="624" y="3160"/>
              <a:ext cx="240" cy="144"/>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77" name="Line 89"/>
            <p:cNvSpPr>
              <a:spLocks noChangeShapeType="1"/>
            </p:cNvSpPr>
            <p:nvPr/>
          </p:nvSpPr>
          <p:spPr bwMode="auto">
            <a:xfrm flipV="1">
              <a:off x="432" y="3551"/>
              <a:ext cx="288"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78" name="Group 90"/>
            <p:cNvGrpSpPr/>
            <p:nvPr/>
          </p:nvGrpSpPr>
          <p:grpSpPr bwMode="auto">
            <a:xfrm>
              <a:off x="657" y="3091"/>
              <a:ext cx="952" cy="772"/>
              <a:chOff x="385" y="2795"/>
              <a:chExt cx="1769" cy="816"/>
            </a:xfrm>
          </p:grpSpPr>
          <p:sp>
            <p:nvSpPr>
              <p:cNvPr id="121" name="Oval 9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2" name="Oval 9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3" name="Oval 9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4" name="Oval 9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5" name="Oval 9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6" name="Oval 9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7" name="Oval 9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8" name="Oval 9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9" name="Oval 9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0" name="Oval 10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1" name="Oval 10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2" name="Oval 10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3" name="Oval 10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4" name="Oval 10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5" name="Oval 10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6" name="Oval 10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37" name="Freeform 107"/>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sp>
          <p:nvSpPr>
            <p:cNvPr id="79" name="Line 108"/>
            <p:cNvSpPr>
              <a:spLocks noChangeShapeType="1"/>
            </p:cNvSpPr>
            <p:nvPr/>
          </p:nvSpPr>
          <p:spPr bwMode="auto">
            <a:xfrm flipH="1">
              <a:off x="4800" y="3112"/>
              <a:ext cx="240" cy="96"/>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80" name="Line 109"/>
            <p:cNvSpPr>
              <a:spLocks noChangeShapeType="1"/>
            </p:cNvSpPr>
            <p:nvPr/>
          </p:nvSpPr>
          <p:spPr bwMode="auto">
            <a:xfrm flipH="1" flipV="1">
              <a:off x="4656" y="3736"/>
              <a:ext cx="336" cy="192"/>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81" name="Line 110"/>
            <p:cNvSpPr>
              <a:spLocks noChangeShapeType="1"/>
            </p:cNvSpPr>
            <p:nvPr/>
          </p:nvSpPr>
          <p:spPr bwMode="auto">
            <a:xfrm flipH="1" flipV="1">
              <a:off x="4800" y="3496"/>
              <a:ext cx="348"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nvGrpSpPr>
            <p:cNvPr id="82" name="Group 111"/>
            <p:cNvGrpSpPr/>
            <p:nvPr/>
          </p:nvGrpSpPr>
          <p:grpSpPr bwMode="auto">
            <a:xfrm>
              <a:off x="3969" y="3046"/>
              <a:ext cx="952" cy="772"/>
              <a:chOff x="385" y="2795"/>
              <a:chExt cx="1769" cy="816"/>
            </a:xfrm>
          </p:grpSpPr>
          <p:sp>
            <p:nvSpPr>
              <p:cNvPr id="104" name="Oval 11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05" name="Oval 11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06" name="Oval 11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07" name="Oval 11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08" name="Oval 11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09" name="Oval 11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0" name="Oval 11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1" name="Oval 11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2" name="Oval 12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3" name="Oval 12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4" name="Oval 12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5" name="Oval 12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6" name="Oval 12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7" name="Oval 12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8" name="Oval 12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19" name="Oval 12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120" name="Freeform 128"/>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pic>
          <p:nvPicPr>
            <p:cNvPr id="83"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4" name="Picture 1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5" name="Picture 1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 name="Text Box 132"/>
            <p:cNvSpPr txBox="1">
              <a:spLocks noChangeArrowheads="1"/>
            </p:cNvSpPr>
            <p:nvPr/>
          </p:nvSpPr>
          <p:spPr bwMode="auto">
            <a:xfrm>
              <a:off x="864" y="3247"/>
              <a:ext cx="551"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A</a:t>
              </a:r>
            </a:p>
            <a:p>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pic>
          <p:nvPicPr>
            <p:cNvPr id="87" name="Picture 1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 Box 134"/>
            <p:cNvSpPr txBox="1">
              <a:spLocks noChangeArrowheads="1"/>
            </p:cNvSpPr>
            <p:nvPr/>
          </p:nvSpPr>
          <p:spPr bwMode="auto">
            <a:xfrm>
              <a:off x="4174" y="3201"/>
              <a:ext cx="557"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anose="02010609060101010101" pitchFamily="2" charset="-122"/>
                </a:rPr>
                <a:t>部门 </a:t>
              </a:r>
              <a:r>
                <a:rPr kumimoji="1" lang="en-US" altLang="zh-CN" sz="2000" b="1" dirty="0">
                  <a:solidFill>
                    <a:srgbClr val="000099"/>
                  </a:solidFill>
                  <a:latin typeface="+mn-lt"/>
                  <a:ea typeface="黑体" panose="02010609060101010101" pitchFamily="2" charset="-122"/>
                </a:rPr>
                <a:t>B</a:t>
              </a:r>
            </a:p>
            <a:p>
              <a:r>
                <a:rPr kumimoji="1" lang="zh-CN" altLang="en-US" sz="2000" b="1" dirty="0">
                  <a:solidFill>
                    <a:srgbClr val="000099"/>
                  </a:solidFill>
                  <a:latin typeface="+mn-lt"/>
                  <a:ea typeface="黑体" panose="02010609060101010101" pitchFamily="2" charset="-122"/>
                </a:rPr>
                <a:t>网络</a:t>
              </a:r>
              <a:endParaRPr kumimoji="1" lang="en-US" altLang="zh-CN" sz="2000" b="1" dirty="0">
                <a:solidFill>
                  <a:srgbClr val="000099"/>
                </a:solidFill>
                <a:latin typeface="+mn-lt"/>
                <a:ea typeface="黑体" panose="02010609060101010101" pitchFamily="2" charset="-122"/>
              </a:endParaRPr>
            </a:p>
          </p:txBody>
        </p:sp>
        <p:sp>
          <p:nvSpPr>
            <p:cNvPr id="89" name="Text Box 135"/>
            <p:cNvSpPr txBox="1">
              <a:spLocks noChangeArrowheads="1"/>
            </p:cNvSpPr>
            <p:nvPr/>
          </p:nvSpPr>
          <p:spPr bwMode="auto">
            <a:xfrm>
              <a:off x="309" y="3176"/>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X</a:t>
              </a:r>
            </a:p>
          </p:txBody>
        </p:sp>
        <p:sp>
          <p:nvSpPr>
            <p:cNvPr id="90" name="Text Box 136"/>
            <p:cNvSpPr txBox="1">
              <a:spLocks noChangeArrowheads="1"/>
            </p:cNvSpPr>
            <p:nvPr/>
          </p:nvSpPr>
          <p:spPr bwMode="auto">
            <a:xfrm>
              <a:off x="5072" y="3128"/>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Y</a:t>
              </a:r>
            </a:p>
          </p:txBody>
        </p:sp>
        <p:sp>
          <p:nvSpPr>
            <p:cNvPr id="91" name="Text Box 137"/>
            <p:cNvSpPr txBox="1">
              <a:spLocks noChangeArrowheads="1"/>
            </p:cNvSpPr>
            <p:nvPr/>
          </p:nvSpPr>
          <p:spPr bwMode="auto">
            <a:xfrm>
              <a:off x="1523" y="3132"/>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1</a:t>
              </a:r>
              <a:endParaRPr kumimoji="1" lang="en-US" altLang="zh-CN" sz="2000" b="1">
                <a:solidFill>
                  <a:srgbClr val="000099"/>
                </a:solidFill>
                <a:latin typeface="+mn-lt"/>
                <a:ea typeface="黑体" panose="02010609060101010101" pitchFamily="2" charset="-122"/>
              </a:endParaRPr>
            </a:p>
          </p:txBody>
        </p:sp>
        <p:sp>
          <p:nvSpPr>
            <p:cNvPr id="92" name="Text Box 138"/>
            <p:cNvSpPr txBox="1">
              <a:spLocks noChangeArrowheads="1"/>
            </p:cNvSpPr>
            <p:nvPr/>
          </p:nvSpPr>
          <p:spPr bwMode="auto">
            <a:xfrm>
              <a:off x="3815" y="3084"/>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R</a:t>
              </a:r>
              <a:r>
                <a:rPr kumimoji="1" lang="en-US" altLang="zh-CN" sz="2000" b="1" baseline="-25000">
                  <a:solidFill>
                    <a:srgbClr val="000099"/>
                  </a:solidFill>
                  <a:latin typeface="+mn-lt"/>
                  <a:ea typeface="黑体" panose="02010609060101010101" pitchFamily="2" charset="-122"/>
                </a:rPr>
                <a:t>2</a:t>
              </a:r>
              <a:endParaRPr kumimoji="1" lang="en-US" altLang="zh-CN" sz="2000" b="1">
                <a:solidFill>
                  <a:srgbClr val="000099"/>
                </a:solidFill>
                <a:latin typeface="+mn-lt"/>
                <a:ea typeface="黑体" panose="02010609060101010101" pitchFamily="2" charset="-122"/>
              </a:endParaRPr>
            </a:p>
          </p:txBody>
        </p:sp>
        <p:sp>
          <p:nvSpPr>
            <p:cNvPr id="93" name="Text Box 139"/>
            <p:cNvSpPr txBox="1">
              <a:spLocks noChangeArrowheads="1"/>
            </p:cNvSpPr>
            <p:nvPr/>
          </p:nvSpPr>
          <p:spPr bwMode="auto">
            <a:xfrm>
              <a:off x="1410" y="2888"/>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125.1.2.3</a:t>
              </a:r>
            </a:p>
          </p:txBody>
        </p:sp>
        <p:sp>
          <p:nvSpPr>
            <p:cNvPr id="94" name="Line 140"/>
            <p:cNvSpPr>
              <a:spLocks noChangeShapeType="1"/>
            </p:cNvSpPr>
            <p:nvPr/>
          </p:nvSpPr>
          <p:spPr bwMode="auto">
            <a:xfrm>
              <a:off x="1812" y="3112"/>
              <a:ext cx="48" cy="288"/>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5" name="Text Box 141"/>
            <p:cNvSpPr txBox="1">
              <a:spLocks noChangeArrowheads="1"/>
            </p:cNvSpPr>
            <p:nvPr/>
          </p:nvSpPr>
          <p:spPr bwMode="auto">
            <a:xfrm>
              <a:off x="3186" y="2892"/>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anose="02010609060101010101" pitchFamily="2" charset="-122"/>
                </a:rPr>
                <a:t>194.4.5.6</a:t>
              </a:r>
            </a:p>
          </p:txBody>
        </p:sp>
        <p:sp>
          <p:nvSpPr>
            <p:cNvPr id="96" name="Line 142"/>
            <p:cNvSpPr>
              <a:spLocks noChangeShapeType="1"/>
            </p:cNvSpPr>
            <p:nvPr/>
          </p:nvSpPr>
          <p:spPr bwMode="auto">
            <a:xfrm>
              <a:off x="3588" y="3112"/>
              <a:ext cx="48" cy="288"/>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97" name="Text Box 143"/>
            <p:cNvSpPr txBox="1">
              <a:spLocks noChangeArrowheads="1"/>
            </p:cNvSpPr>
            <p:nvPr/>
          </p:nvSpPr>
          <p:spPr bwMode="auto">
            <a:xfrm>
              <a:off x="87" y="361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10.1.0.1</a:t>
              </a:r>
            </a:p>
          </p:txBody>
        </p:sp>
        <p:sp>
          <p:nvSpPr>
            <p:cNvPr id="98" name="Text Box 144"/>
            <p:cNvSpPr txBox="1">
              <a:spLocks noChangeArrowheads="1"/>
            </p:cNvSpPr>
            <p:nvPr/>
          </p:nvSpPr>
          <p:spPr bwMode="auto">
            <a:xfrm>
              <a:off x="4887" y="3512"/>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anose="02010609060101010101" pitchFamily="2" charset="-122"/>
                </a:rPr>
                <a:t>10.2.0.3</a:t>
              </a:r>
            </a:p>
          </p:txBody>
        </p:sp>
        <p:pic>
          <p:nvPicPr>
            <p:cNvPr id="99" name="Picture 14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 name="Picture 1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1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 name="Picture 1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 Box 149"/>
            <p:cNvSpPr txBox="1">
              <a:spLocks noChangeArrowheads="1"/>
            </p:cNvSpPr>
            <p:nvPr/>
          </p:nvSpPr>
          <p:spPr bwMode="auto">
            <a:xfrm>
              <a:off x="1757" y="3848"/>
              <a:ext cx="213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000099"/>
                  </a:solidFill>
                  <a:latin typeface="+mn-lt"/>
                  <a:ea typeface="黑体" panose="02010609060101010101" pitchFamily="2" charset="-122"/>
                </a:rPr>
                <a:t>内联网 </a:t>
              </a:r>
              <a:r>
                <a:rPr kumimoji="1" lang="en-US" altLang="zh-CN" sz="2400" b="1" dirty="0">
                  <a:solidFill>
                    <a:srgbClr val="000099"/>
                  </a:solidFill>
                  <a:latin typeface="+mn-lt"/>
                  <a:ea typeface="黑体" panose="02010609060101010101" pitchFamily="2" charset="-122"/>
                </a:rPr>
                <a:t>(</a:t>
              </a:r>
              <a:r>
                <a:rPr kumimoji="1" lang="zh-CN" altLang="en-US" sz="2400" b="1" dirty="0">
                  <a:solidFill>
                    <a:srgbClr val="000099"/>
                  </a:solidFill>
                  <a:latin typeface="+mn-lt"/>
                  <a:ea typeface="黑体" panose="02010609060101010101" pitchFamily="2" charset="-122"/>
                </a:rPr>
                <a:t>虚拟专用网 </a:t>
              </a:r>
              <a:r>
                <a:rPr kumimoji="1" lang="en-US" altLang="zh-CN" sz="2400" b="1" dirty="0">
                  <a:solidFill>
                    <a:srgbClr val="000099"/>
                  </a:solidFill>
                  <a:latin typeface="+mn-lt"/>
                  <a:ea typeface="黑体" panose="02010609060101010101" pitchFamily="2" charset="-122"/>
                </a:rPr>
                <a:t>VPN)</a:t>
              </a:r>
            </a:p>
          </p:txBody>
        </p:sp>
      </p:gr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2"/>
          <p:cNvSpPr>
            <a:spLocks noGrp="1" noChangeArrowheads="1"/>
          </p:cNvSpPr>
          <p:nvPr>
            <p:ph type="title"/>
          </p:nvPr>
        </p:nvSpPr>
        <p:spPr/>
        <p:txBody>
          <a:bodyPr/>
          <a:lstStyle/>
          <a:p>
            <a:pPr algn="ctr"/>
            <a:r>
              <a:rPr lang="zh-CN" altLang="en-US" dirty="0"/>
              <a:t>远程接入 </a:t>
            </a:r>
            <a:r>
              <a:rPr lang="en-US" altLang="zh-CN" dirty="0"/>
              <a:t>VPN</a:t>
            </a:r>
          </a:p>
        </p:txBody>
      </p:sp>
      <p:sp>
        <p:nvSpPr>
          <p:cNvPr id="1028099" name="Rectangle 3"/>
          <p:cNvSpPr>
            <a:spLocks noGrp="1" noChangeArrowheads="1"/>
          </p:cNvSpPr>
          <p:nvPr>
            <p:ph idx="1"/>
          </p:nvPr>
        </p:nvSpPr>
        <p:spPr/>
        <p:txBody>
          <a:bodyPr/>
          <a:lstStyle/>
          <a:p>
            <a:r>
              <a:rPr lang="zh-CN" altLang="en-US" dirty="0">
                <a:solidFill>
                  <a:srgbClr val="FF0000"/>
                </a:solidFill>
              </a:rPr>
              <a:t>远程接入 </a:t>
            </a:r>
            <a:r>
              <a:rPr lang="en-US" altLang="zh-CN" dirty="0">
                <a:solidFill>
                  <a:srgbClr val="FF0000"/>
                </a:solidFill>
              </a:rPr>
              <a:t>VPN </a:t>
            </a:r>
            <a:r>
              <a:rPr lang="en-US" altLang="zh-CN" dirty="0"/>
              <a:t>(remote access VPN)</a:t>
            </a:r>
            <a:r>
              <a:rPr lang="zh-CN" altLang="en-US" dirty="0"/>
              <a:t>可以满足外部流动员工访问公司网络的需求。</a:t>
            </a:r>
          </a:p>
          <a:p>
            <a:r>
              <a:rPr lang="zh-CN" altLang="en-US" dirty="0"/>
              <a:t>在外地工作的员工拨号接入互联网，而驻留在员工 </a:t>
            </a:r>
            <a:r>
              <a:rPr lang="en-US" altLang="zh-CN" dirty="0"/>
              <a:t>PC </a:t>
            </a:r>
            <a:r>
              <a:rPr lang="zh-CN" altLang="en-US" dirty="0"/>
              <a:t>机中的 </a:t>
            </a:r>
            <a:r>
              <a:rPr lang="en-US" altLang="zh-CN" dirty="0"/>
              <a:t>VPN </a:t>
            </a:r>
            <a:r>
              <a:rPr lang="zh-CN" altLang="en-US" dirty="0"/>
              <a:t>软件可在员工的 </a:t>
            </a:r>
            <a:r>
              <a:rPr lang="en-US" altLang="zh-CN" dirty="0"/>
              <a:t>PC </a:t>
            </a:r>
            <a:r>
              <a:rPr lang="zh-CN" altLang="en-US" dirty="0"/>
              <a:t>机和公司的主机之间建立 </a:t>
            </a:r>
            <a:r>
              <a:rPr lang="en-US" altLang="zh-CN" dirty="0"/>
              <a:t>VPN </a:t>
            </a:r>
            <a:r>
              <a:rPr lang="zh-CN" altLang="en-US" dirty="0"/>
              <a:t>隧道，因而外地员工与公司通信的内容是保密的，员工们感到好像就是使用公司内部的本地网络。 </a:t>
            </a: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r>
              <a:rPr lang="en-US" altLang="zh-CN" dirty="0"/>
              <a:t>4.8.2   </a:t>
            </a:r>
            <a:r>
              <a:rPr lang="zh-CN" altLang="en-US" dirty="0"/>
              <a:t>网络地址转换 </a:t>
            </a:r>
            <a:r>
              <a:rPr lang="en-US" altLang="zh-CN" dirty="0"/>
              <a:t>NAT</a:t>
            </a:r>
            <a:endParaRPr lang="en-US" altLang="zh-CN" sz="3600" dirty="0"/>
          </a:p>
        </p:txBody>
      </p:sp>
      <p:sp>
        <p:nvSpPr>
          <p:cNvPr id="628739" name="Rectangle 3"/>
          <p:cNvSpPr>
            <a:spLocks noGrp="1" noChangeArrowheads="1"/>
          </p:cNvSpPr>
          <p:nvPr>
            <p:ph idx="1"/>
          </p:nvPr>
        </p:nvSpPr>
        <p:spPr/>
        <p:txBody>
          <a:bodyPr/>
          <a:lstStyle/>
          <a:p>
            <a:r>
              <a:rPr lang="zh-CN" altLang="en-US" dirty="0">
                <a:solidFill>
                  <a:srgbClr val="FF0000"/>
                </a:solidFill>
              </a:rPr>
              <a:t>问题：</a:t>
            </a:r>
            <a:r>
              <a:rPr lang="zh-CN" altLang="zh-CN" dirty="0"/>
              <a:t>在专用网</a:t>
            </a:r>
            <a:r>
              <a:rPr lang="zh-CN" altLang="en-US" dirty="0"/>
              <a:t>上使用</a:t>
            </a:r>
            <a:r>
              <a:rPr lang="zh-CN" altLang="zh-CN" dirty="0"/>
              <a:t>专用地址</a:t>
            </a:r>
            <a:r>
              <a:rPr lang="zh-CN" altLang="en-US" dirty="0"/>
              <a:t>的主机如何与</a:t>
            </a:r>
            <a:r>
              <a:rPr lang="zh-CN" altLang="zh-CN" dirty="0"/>
              <a:t>互联网上的主机通信（并不需要加密）</a:t>
            </a:r>
            <a:r>
              <a:rPr lang="zh-CN" altLang="en-US" dirty="0"/>
              <a:t>？</a:t>
            </a:r>
            <a:endParaRPr lang="en-US" altLang="zh-CN" dirty="0"/>
          </a:p>
          <a:p>
            <a:r>
              <a:rPr lang="zh-CN" altLang="en-US" dirty="0">
                <a:solidFill>
                  <a:srgbClr val="0000FF"/>
                </a:solidFill>
              </a:rPr>
              <a:t>解决：</a:t>
            </a:r>
            <a:endParaRPr lang="en-US" altLang="zh-CN" dirty="0">
              <a:solidFill>
                <a:srgbClr val="0000FF"/>
              </a:solidFill>
            </a:endParaRPr>
          </a:p>
          <a:p>
            <a:pPr lvl="1"/>
            <a:r>
              <a:rPr lang="en-US" altLang="zh-CN" dirty="0"/>
              <a:t>(1) </a:t>
            </a:r>
            <a:r>
              <a:rPr lang="zh-CN" altLang="zh-CN" dirty="0"/>
              <a:t>再申请一些全球</a:t>
            </a:r>
            <a:r>
              <a:rPr lang="en-US" altLang="zh-CN" dirty="0"/>
              <a:t> IP </a:t>
            </a:r>
            <a:r>
              <a:rPr lang="zh-CN" altLang="zh-CN" dirty="0"/>
              <a:t>地址。但这在很多情况下是不容易做到</a:t>
            </a:r>
            <a:r>
              <a:rPr lang="zh-CN" altLang="en-US" dirty="0"/>
              <a:t>的。</a:t>
            </a:r>
            <a:endParaRPr lang="en-US" altLang="zh-CN" dirty="0"/>
          </a:p>
          <a:p>
            <a:pPr lvl="1"/>
            <a:r>
              <a:rPr lang="en-US" altLang="zh-CN" dirty="0"/>
              <a:t>(2)</a:t>
            </a:r>
            <a:r>
              <a:rPr lang="zh-CN" altLang="zh-CN" dirty="0"/>
              <a:t>采用网络地址转换</a:t>
            </a:r>
            <a:r>
              <a:rPr lang="en-US" altLang="zh-CN" dirty="0"/>
              <a:t> NAT</a:t>
            </a:r>
            <a:r>
              <a:rPr lang="zh-CN" altLang="en-US" dirty="0"/>
              <a:t>。这是</a:t>
            </a:r>
            <a:r>
              <a:rPr lang="zh-CN" altLang="zh-CN" dirty="0"/>
              <a:t>目前使用得最多的方法</a:t>
            </a:r>
            <a:r>
              <a:rPr lang="zh-CN" altLang="en-US" dirty="0"/>
              <a:t>。</a:t>
            </a:r>
            <a:endParaRPr lang="zh-CN" altLang="zh-CN" dirty="0"/>
          </a:p>
          <a:p>
            <a:endParaRPr lang="en-US" altLang="zh-CN" dirty="0"/>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pPr algn="ctr"/>
            <a:r>
              <a:rPr lang="zh-CN" altLang="en-US" dirty="0"/>
              <a:t>网络地址转换 </a:t>
            </a:r>
            <a:r>
              <a:rPr lang="en-US" altLang="zh-CN" dirty="0"/>
              <a:t>NAT</a:t>
            </a:r>
            <a:endParaRPr lang="en-US" altLang="zh-CN" sz="3600" dirty="0"/>
          </a:p>
        </p:txBody>
      </p:sp>
      <p:sp>
        <p:nvSpPr>
          <p:cNvPr id="628739" name="Rectangle 3"/>
          <p:cNvSpPr>
            <a:spLocks noGrp="1" noChangeArrowheads="1"/>
          </p:cNvSpPr>
          <p:nvPr>
            <p:ph idx="1"/>
          </p:nvPr>
        </p:nvSpPr>
        <p:spPr/>
        <p:txBody>
          <a:bodyPr/>
          <a:lstStyle/>
          <a:p>
            <a:r>
              <a:rPr lang="zh-CN" altLang="en-US" dirty="0"/>
              <a:t>网络地址转换 </a:t>
            </a:r>
            <a:r>
              <a:rPr lang="en-US" altLang="zh-CN" dirty="0"/>
              <a:t>NAT (Network Address Translation)  </a:t>
            </a:r>
            <a:r>
              <a:rPr lang="zh-CN" altLang="en-US" dirty="0"/>
              <a:t>方法于</a:t>
            </a:r>
            <a:r>
              <a:rPr lang="en-US" altLang="zh-CN" dirty="0"/>
              <a:t>1994</a:t>
            </a:r>
            <a:r>
              <a:rPr lang="zh-CN" altLang="en-US" dirty="0"/>
              <a:t>年提出。</a:t>
            </a:r>
          </a:p>
          <a:p>
            <a:r>
              <a:rPr lang="zh-CN" altLang="en-US" dirty="0"/>
              <a:t>需要在专用网连接到互联网的路由器上安装 </a:t>
            </a:r>
            <a:r>
              <a:rPr lang="en-US" altLang="zh-CN" dirty="0"/>
              <a:t>NAT </a:t>
            </a:r>
            <a:r>
              <a:rPr lang="zh-CN" altLang="en-US" dirty="0"/>
              <a:t>软件。装有 </a:t>
            </a:r>
            <a:r>
              <a:rPr lang="en-US" altLang="zh-CN" dirty="0"/>
              <a:t>NAT </a:t>
            </a:r>
            <a:r>
              <a:rPr lang="zh-CN" altLang="en-US" dirty="0"/>
              <a:t>软件的路由器叫作 </a:t>
            </a:r>
            <a:r>
              <a:rPr lang="en-US" altLang="zh-CN" dirty="0">
                <a:solidFill>
                  <a:srgbClr val="FF0000"/>
                </a:solidFill>
              </a:rPr>
              <a:t>NAT</a:t>
            </a:r>
            <a:r>
              <a:rPr lang="zh-CN" altLang="en-US" dirty="0">
                <a:solidFill>
                  <a:srgbClr val="FF0000"/>
                </a:solidFill>
              </a:rPr>
              <a:t>路由器，</a:t>
            </a:r>
            <a:r>
              <a:rPr lang="zh-CN" altLang="en-US" dirty="0">
                <a:solidFill>
                  <a:srgbClr val="0000FF"/>
                </a:solidFill>
              </a:rPr>
              <a:t>它至少有一个有效的外部全球</a:t>
            </a:r>
            <a:r>
              <a:rPr lang="en-US" altLang="zh-CN" dirty="0">
                <a:solidFill>
                  <a:srgbClr val="0000FF"/>
                </a:solidFill>
              </a:rPr>
              <a:t>IP</a:t>
            </a:r>
            <a:r>
              <a:rPr lang="zh-CN" altLang="en-US" dirty="0">
                <a:solidFill>
                  <a:srgbClr val="0000FF"/>
                </a:solidFill>
              </a:rPr>
              <a:t>地址。</a:t>
            </a:r>
          </a:p>
          <a:p>
            <a:r>
              <a:rPr lang="zh-CN" altLang="en-US" dirty="0"/>
              <a:t>所有使用本地地址的主机在和外界通信时，都要在 </a:t>
            </a:r>
            <a:r>
              <a:rPr lang="en-US" altLang="zh-CN" dirty="0"/>
              <a:t>NAT </a:t>
            </a:r>
            <a:r>
              <a:rPr lang="zh-CN" altLang="en-US" dirty="0"/>
              <a:t>路由器</a:t>
            </a:r>
            <a:r>
              <a:rPr lang="zh-CN" altLang="en-US" dirty="0">
                <a:solidFill>
                  <a:srgbClr val="FF0000"/>
                </a:solidFill>
              </a:rPr>
              <a:t>上将其本地地址转换成</a:t>
            </a:r>
            <a:r>
              <a:rPr lang="zh-CN" altLang="zh-CN" dirty="0">
                <a:solidFill>
                  <a:srgbClr val="FF0000"/>
                </a:solidFill>
              </a:rPr>
              <a:t>全球</a:t>
            </a:r>
            <a:r>
              <a:rPr lang="en-US" altLang="zh-CN" dirty="0">
                <a:solidFill>
                  <a:srgbClr val="FF0000"/>
                </a:solidFill>
              </a:rPr>
              <a:t> IP </a:t>
            </a:r>
            <a:r>
              <a:rPr lang="zh-CN" altLang="zh-CN" dirty="0">
                <a:solidFill>
                  <a:srgbClr val="FF0000"/>
                </a:solidFill>
              </a:rPr>
              <a:t>地址</a:t>
            </a:r>
            <a:r>
              <a:rPr lang="zh-CN" altLang="en-US" dirty="0">
                <a:solidFill>
                  <a:srgbClr val="FF0000"/>
                </a:solidFill>
              </a:rPr>
              <a:t>，</a:t>
            </a:r>
            <a:r>
              <a:rPr lang="zh-CN" altLang="en-US" dirty="0"/>
              <a:t>才能和互联网连接。</a:t>
            </a:r>
            <a:r>
              <a:rPr lang="zh-CN" altLang="en-US" sz="3600" dirty="0"/>
              <a:t> </a:t>
            </a:r>
            <a:r>
              <a:rPr lang="zh-CN" altLang="en-US"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 name="Line 74"/>
          <p:cNvSpPr>
            <a:spLocks noChangeShapeType="1"/>
          </p:cNvSpPr>
          <p:nvPr/>
        </p:nvSpPr>
        <p:spPr bwMode="auto">
          <a:xfrm>
            <a:off x="8827252" y="3582234"/>
            <a:ext cx="638905" cy="17290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7" name="Line 73"/>
          <p:cNvSpPr>
            <a:spLocks noChangeShapeType="1"/>
          </p:cNvSpPr>
          <p:nvPr/>
        </p:nvSpPr>
        <p:spPr bwMode="auto">
          <a:xfrm>
            <a:off x="8429477" y="4184546"/>
            <a:ext cx="637145" cy="43130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8" name="Line 72"/>
          <p:cNvSpPr>
            <a:spLocks noChangeShapeType="1"/>
          </p:cNvSpPr>
          <p:nvPr/>
        </p:nvSpPr>
        <p:spPr bwMode="auto">
          <a:xfrm flipV="1">
            <a:off x="8508680" y="2807018"/>
            <a:ext cx="557941" cy="34390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pSp>
        <p:nvGrpSpPr>
          <p:cNvPr id="9" name="Group 61"/>
          <p:cNvGrpSpPr/>
          <p:nvPr/>
        </p:nvGrpSpPr>
        <p:grpSpPr bwMode="auto">
          <a:xfrm flipH="1">
            <a:off x="1721858" y="3755137"/>
            <a:ext cx="1038440" cy="258405"/>
            <a:chOff x="521" y="2478"/>
            <a:chExt cx="1044" cy="136"/>
          </a:xfrm>
        </p:grpSpPr>
        <p:sp>
          <p:nvSpPr>
            <p:cNvPr id="10" name="AutoShape 62"/>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1" name="Rectangle 63"/>
            <p:cNvSpPr>
              <a:spLocks noChangeArrowheads="1"/>
            </p:cNvSpPr>
            <p:nvPr/>
          </p:nvSpPr>
          <p:spPr bwMode="auto">
            <a:xfrm>
              <a:off x="521" y="2478"/>
              <a:ext cx="635" cy="13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2" name="Rectangle 64"/>
            <p:cNvSpPr>
              <a:spLocks noChangeArrowheads="1"/>
            </p:cNvSpPr>
            <p:nvPr/>
          </p:nvSpPr>
          <p:spPr bwMode="auto">
            <a:xfrm>
              <a:off x="1156" y="2478"/>
              <a:ext cx="227" cy="136"/>
            </a:xfrm>
            <a:prstGeom prst="rect">
              <a:avLst/>
            </a:prstGeom>
            <a:solidFill>
              <a:srgbClr val="66FF66"/>
            </a:solidFill>
            <a:ln w="9525">
              <a:solidFill>
                <a:schemeClr val="tx1"/>
              </a:solidFill>
              <a:miter lim="800000"/>
            </a:ln>
          </p:spPr>
          <p:txBody>
            <a:bodyPr wrap="none" anchor="ctr"/>
            <a:lstStyle/>
            <a:p>
              <a:endParaRPr lang="zh-CN" altLang="en-US" sz="2000" b="1">
                <a:solidFill>
                  <a:srgbClr val="000099"/>
                </a:solidFill>
                <a:latin typeface="+mn-ea"/>
              </a:endParaRPr>
            </a:p>
          </p:txBody>
        </p:sp>
      </p:grpSp>
      <p:sp>
        <p:nvSpPr>
          <p:cNvPr id="13" name="Rectangle 43"/>
          <p:cNvSpPr>
            <a:spLocks noChangeArrowheads="1"/>
          </p:cNvSpPr>
          <p:nvPr/>
        </p:nvSpPr>
        <p:spPr bwMode="auto">
          <a:xfrm>
            <a:off x="875265" y="2117304"/>
            <a:ext cx="2684104" cy="2154644"/>
          </a:xfrm>
          <a:prstGeom prst="rect">
            <a:avLst/>
          </a:prstGeom>
          <a:noFill/>
          <a:ln w="28575">
            <a:solidFill>
              <a:schemeClr val="tx1"/>
            </a:solidFill>
            <a:prstDash val="dash"/>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4" name="Line 37"/>
          <p:cNvSpPr>
            <a:spLocks noChangeShapeType="1"/>
          </p:cNvSpPr>
          <p:nvPr/>
        </p:nvSpPr>
        <p:spPr bwMode="auto">
          <a:xfrm>
            <a:off x="1003750" y="3667736"/>
            <a:ext cx="3034357"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15" name="Line 34"/>
          <p:cNvSpPr>
            <a:spLocks noChangeShapeType="1"/>
          </p:cNvSpPr>
          <p:nvPr/>
        </p:nvSpPr>
        <p:spPr bwMode="auto">
          <a:xfrm>
            <a:off x="4117310" y="3667736"/>
            <a:ext cx="215608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aphicFrame>
        <p:nvGraphicFramePr>
          <p:cNvPr id="16" name="Object 4"/>
          <p:cNvGraphicFramePr>
            <a:graphicFrameLocks noChangeAspect="1"/>
          </p:cNvGraphicFramePr>
          <p:nvPr/>
        </p:nvGraphicFramePr>
        <p:xfrm>
          <a:off x="6113227" y="2548613"/>
          <a:ext cx="3041397" cy="2038741"/>
        </p:xfrm>
        <a:graphic>
          <a:graphicData uri="http://schemas.openxmlformats.org/presentationml/2006/ole">
            <mc:AlternateContent xmlns:mc="http://schemas.openxmlformats.org/markup-compatibility/2006">
              <mc:Choice xmlns:v="urn:schemas-microsoft-com:vml" Requires="v">
                <p:oleObj spid="_x0000_s7171" name="VISIO" r:id="rId4" imgW="1687195" imgH="964565" progId="Visio.Drawing.11">
                  <p:embed/>
                </p:oleObj>
              </mc:Choice>
              <mc:Fallback>
                <p:oleObj name="VISIO" r:id="rId4" imgW="1687195" imgH="964565" progId="Visio.Drawing.11">
                  <p:embed/>
                  <p:pic>
                    <p:nvPicPr>
                      <p:cNvPr id="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3227" y="2548613"/>
                        <a:ext cx="3041397" cy="20387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7" name="Picture 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877941" y="3540434"/>
            <a:ext cx="577302" cy="300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8" name="Text Box 7"/>
          <p:cNvSpPr txBox="1">
            <a:spLocks noChangeArrowheads="1"/>
          </p:cNvSpPr>
          <p:nvPr/>
        </p:nvSpPr>
        <p:spPr bwMode="auto">
          <a:xfrm>
            <a:off x="3634043" y="2892520"/>
            <a:ext cx="9589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2000" b="1" dirty="0">
                <a:solidFill>
                  <a:srgbClr val="FF0000"/>
                </a:solidFill>
                <a:latin typeface="+mn-ea"/>
                <a:ea typeface="+mn-ea"/>
              </a:rPr>
              <a:t>NAT</a:t>
            </a:r>
          </a:p>
          <a:p>
            <a:pPr algn="ctr" eaLnBrk="1" hangingPunct="1">
              <a:lnSpc>
                <a:spcPct val="90000"/>
              </a:lnSpc>
            </a:pPr>
            <a:r>
              <a:rPr kumimoji="1" lang="zh-CN" altLang="en-US" sz="2000" b="1" dirty="0">
                <a:solidFill>
                  <a:srgbClr val="FF0000"/>
                </a:solidFill>
                <a:latin typeface="+mn-ea"/>
                <a:ea typeface="+mn-ea"/>
              </a:rPr>
              <a:t>路由器</a:t>
            </a:r>
          </a:p>
        </p:txBody>
      </p:sp>
      <p:pic>
        <p:nvPicPr>
          <p:cNvPr id="19" name="Picture 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915255" y="2548613"/>
            <a:ext cx="373134" cy="408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3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48049" y="4271948"/>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3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14791" y="3496732"/>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35"/>
          <p:cNvSpPr txBox="1">
            <a:spLocks noChangeArrowheads="1"/>
          </p:cNvSpPr>
          <p:nvPr/>
        </p:nvSpPr>
        <p:spPr bwMode="auto">
          <a:xfrm>
            <a:off x="1064568" y="1676282"/>
            <a:ext cx="23823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2000" b="1" dirty="0">
                <a:solidFill>
                  <a:srgbClr val="0000FF"/>
                </a:solidFill>
                <a:latin typeface="+mn-ea"/>
                <a:ea typeface="+mn-ea"/>
              </a:rPr>
              <a:t>专用网 </a:t>
            </a:r>
            <a:r>
              <a:rPr kumimoji="1" lang="en-US" altLang="zh-CN" sz="2000" b="1" dirty="0">
                <a:solidFill>
                  <a:srgbClr val="0000FF"/>
                </a:solidFill>
                <a:latin typeface="+mn-ea"/>
                <a:ea typeface="+mn-ea"/>
              </a:rPr>
              <a:t>192.168.0.0</a:t>
            </a:r>
          </a:p>
        </p:txBody>
      </p:sp>
      <p:sp>
        <p:nvSpPr>
          <p:cNvPr id="23" name="Text Box 36"/>
          <p:cNvSpPr txBox="1">
            <a:spLocks noChangeArrowheads="1"/>
          </p:cNvSpPr>
          <p:nvPr/>
        </p:nvSpPr>
        <p:spPr bwMode="auto">
          <a:xfrm>
            <a:off x="7002760" y="2846818"/>
            <a:ext cx="9589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2000" b="1" dirty="0">
                <a:solidFill>
                  <a:srgbClr val="000099"/>
                </a:solidFill>
                <a:latin typeface="+mn-ea"/>
                <a:ea typeface="+mn-ea"/>
              </a:rPr>
              <a:t>互联网</a:t>
            </a:r>
          </a:p>
        </p:txBody>
      </p:sp>
      <p:sp>
        <p:nvSpPr>
          <p:cNvPr id="24" name="Line 38"/>
          <p:cNvSpPr>
            <a:spLocks noChangeShapeType="1"/>
          </p:cNvSpPr>
          <p:nvPr/>
        </p:nvSpPr>
        <p:spPr bwMode="auto">
          <a:xfrm rot="5400000">
            <a:off x="1156692" y="3381781"/>
            <a:ext cx="602312" cy="0"/>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pic>
        <p:nvPicPr>
          <p:cNvPr id="25" name="Picture 2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269520" y="2953321"/>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 name="Group 42"/>
          <p:cNvGrpSpPr/>
          <p:nvPr/>
        </p:nvGrpSpPr>
        <p:grpSpPr bwMode="auto">
          <a:xfrm>
            <a:off x="2281560" y="3323829"/>
            <a:ext cx="1038440" cy="258405"/>
            <a:chOff x="521" y="2478"/>
            <a:chExt cx="1044" cy="136"/>
          </a:xfrm>
        </p:grpSpPr>
        <p:sp>
          <p:nvSpPr>
            <p:cNvPr id="27"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28" name="Rectangle 39"/>
            <p:cNvSpPr>
              <a:spLocks noChangeArrowheads="1"/>
            </p:cNvSpPr>
            <p:nvPr/>
          </p:nvSpPr>
          <p:spPr bwMode="auto">
            <a:xfrm>
              <a:off x="521" y="2478"/>
              <a:ext cx="635" cy="13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29" name="Rectangle 40"/>
            <p:cNvSpPr>
              <a:spLocks noChangeArrowheads="1"/>
            </p:cNvSpPr>
            <p:nvPr/>
          </p:nvSpPr>
          <p:spPr bwMode="auto">
            <a:xfrm>
              <a:off x="1156" y="2478"/>
              <a:ext cx="227" cy="136"/>
            </a:xfrm>
            <a:prstGeom prst="rect">
              <a:avLst/>
            </a:prstGeom>
            <a:solidFill>
              <a:srgbClr val="66FF66"/>
            </a:solidFill>
            <a:ln w="9525">
              <a:solidFill>
                <a:schemeClr val="tx1"/>
              </a:solidFill>
              <a:miter lim="800000"/>
            </a:ln>
          </p:spPr>
          <p:txBody>
            <a:bodyPr wrap="none" anchor="ctr"/>
            <a:lstStyle/>
            <a:p>
              <a:endParaRPr lang="zh-CN" altLang="en-US" sz="2000" b="1">
                <a:solidFill>
                  <a:srgbClr val="000099"/>
                </a:solidFill>
                <a:latin typeface="+mn-ea"/>
              </a:endParaRPr>
            </a:p>
          </p:txBody>
        </p:sp>
      </p:grpSp>
      <p:sp>
        <p:nvSpPr>
          <p:cNvPr id="30" name="Text Box 44"/>
          <p:cNvSpPr txBox="1">
            <a:spLocks noChangeArrowheads="1"/>
          </p:cNvSpPr>
          <p:nvPr/>
        </p:nvSpPr>
        <p:spPr bwMode="auto">
          <a:xfrm>
            <a:off x="2144688" y="2168605"/>
            <a:ext cx="140294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990000"/>
                </a:solidFill>
                <a:latin typeface="+mn-ea"/>
                <a:ea typeface="+mn-ea"/>
              </a:rPr>
              <a:t>源 </a:t>
            </a:r>
            <a:r>
              <a:rPr kumimoji="1" lang="en-US" altLang="zh-CN" b="1" dirty="0">
                <a:solidFill>
                  <a:srgbClr val="990000"/>
                </a:solidFill>
                <a:latin typeface="+mn-ea"/>
                <a:ea typeface="+mn-ea"/>
              </a:rPr>
              <a:t>IP </a:t>
            </a:r>
            <a:r>
              <a:rPr kumimoji="1" lang="zh-CN" altLang="en-US" b="1" dirty="0">
                <a:solidFill>
                  <a:srgbClr val="990000"/>
                </a:solidFill>
                <a:latin typeface="+mn-ea"/>
                <a:ea typeface="+mn-ea"/>
              </a:rPr>
              <a:t>地址</a:t>
            </a:r>
          </a:p>
          <a:p>
            <a:pPr algn="ctr" eaLnBrk="1" hangingPunct="1">
              <a:lnSpc>
                <a:spcPct val="90000"/>
              </a:lnSpc>
            </a:pPr>
            <a:r>
              <a:rPr kumimoji="1" lang="en-US" altLang="zh-CN" b="1" dirty="0">
                <a:solidFill>
                  <a:srgbClr val="990000"/>
                </a:solidFill>
                <a:latin typeface="+mn-ea"/>
                <a:ea typeface="+mn-ea"/>
              </a:rPr>
              <a:t>192.168.0.3</a:t>
            </a:r>
          </a:p>
        </p:txBody>
      </p:sp>
      <p:sp>
        <p:nvSpPr>
          <p:cNvPr id="31" name="Text Box 45"/>
          <p:cNvSpPr txBox="1">
            <a:spLocks noChangeArrowheads="1"/>
          </p:cNvSpPr>
          <p:nvPr/>
        </p:nvSpPr>
        <p:spPr bwMode="auto">
          <a:xfrm>
            <a:off x="740533" y="2389010"/>
            <a:ext cx="140294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0000FF"/>
                </a:solidFill>
                <a:latin typeface="+mn-ea"/>
                <a:ea typeface="+mn-ea"/>
              </a:rPr>
              <a:t>主机 </a:t>
            </a:r>
            <a:r>
              <a:rPr kumimoji="1" lang="en-US" altLang="zh-CN" b="1" dirty="0">
                <a:solidFill>
                  <a:srgbClr val="0000FF"/>
                </a:solidFill>
                <a:latin typeface="+mn-ea"/>
                <a:ea typeface="+mn-ea"/>
              </a:rPr>
              <a:t>A</a:t>
            </a:r>
          </a:p>
          <a:p>
            <a:pPr algn="ctr" eaLnBrk="1" hangingPunct="1">
              <a:lnSpc>
                <a:spcPct val="90000"/>
              </a:lnSpc>
            </a:pPr>
            <a:r>
              <a:rPr kumimoji="1" lang="en-US" altLang="zh-CN" b="1" dirty="0">
                <a:solidFill>
                  <a:srgbClr val="0000FF"/>
                </a:solidFill>
                <a:latin typeface="+mn-ea"/>
                <a:ea typeface="+mn-ea"/>
              </a:rPr>
              <a:t>192.168.0.3</a:t>
            </a:r>
          </a:p>
        </p:txBody>
      </p:sp>
      <p:grpSp>
        <p:nvGrpSpPr>
          <p:cNvPr id="32" name="Group 46"/>
          <p:cNvGrpSpPr/>
          <p:nvPr/>
        </p:nvGrpSpPr>
        <p:grpSpPr bwMode="auto">
          <a:xfrm>
            <a:off x="4756215" y="3323829"/>
            <a:ext cx="1038440" cy="258405"/>
            <a:chOff x="521" y="2478"/>
            <a:chExt cx="1044" cy="136"/>
          </a:xfrm>
        </p:grpSpPr>
        <p:sp>
          <p:nvSpPr>
            <p:cNvPr id="33" name="AutoShape 47"/>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34" name="Rectangle 48"/>
            <p:cNvSpPr>
              <a:spLocks noChangeArrowheads="1"/>
            </p:cNvSpPr>
            <p:nvPr/>
          </p:nvSpPr>
          <p:spPr bwMode="auto">
            <a:xfrm>
              <a:off x="521" y="2478"/>
              <a:ext cx="635" cy="13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35" name="Rectangle 49"/>
            <p:cNvSpPr>
              <a:spLocks noChangeArrowheads="1"/>
            </p:cNvSpPr>
            <p:nvPr/>
          </p:nvSpPr>
          <p:spPr bwMode="auto">
            <a:xfrm>
              <a:off x="1156" y="2478"/>
              <a:ext cx="227" cy="136"/>
            </a:xfrm>
            <a:prstGeom prst="rect">
              <a:avLst/>
            </a:prstGeom>
            <a:solidFill>
              <a:srgbClr val="FF66FF"/>
            </a:solidFill>
            <a:ln w="9525">
              <a:solidFill>
                <a:schemeClr val="tx1"/>
              </a:solidFill>
              <a:miter lim="800000"/>
            </a:ln>
          </p:spPr>
          <p:txBody>
            <a:bodyPr wrap="none" anchor="ctr"/>
            <a:lstStyle/>
            <a:p>
              <a:endParaRPr lang="zh-CN" altLang="en-US" sz="2000" b="1">
                <a:solidFill>
                  <a:srgbClr val="000099"/>
                </a:solidFill>
                <a:latin typeface="+mn-ea"/>
              </a:endParaRPr>
            </a:p>
          </p:txBody>
        </p:sp>
      </p:grpSp>
      <p:sp>
        <p:nvSpPr>
          <p:cNvPr id="36" name="Text Box 50"/>
          <p:cNvSpPr txBox="1">
            <a:spLocks noChangeArrowheads="1"/>
          </p:cNvSpPr>
          <p:nvPr/>
        </p:nvSpPr>
        <p:spPr bwMode="auto">
          <a:xfrm>
            <a:off x="5190460" y="2339609"/>
            <a:ext cx="127470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990099"/>
                </a:solidFill>
                <a:latin typeface="+mn-lt"/>
                <a:ea typeface="黑体" panose="02010609060101010101" pitchFamily="2" charset="-122"/>
              </a:rPr>
              <a:t>源 </a:t>
            </a:r>
            <a:r>
              <a:rPr kumimoji="1" lang="en-US" altLang="zh-CN" b="1" dirty="0">
                <a:solidFill>
                  <a:srgbClr val="990099"/>
                </a:solidFill>
                <a:latin typeface="+mn-lt"/>
                <a:ea typeface="黑体" panose="02010609060101010101" pitchFamily="2" charset="-122"/>
              </a:rPr>
              <a:t>IP </a:t>
            </a:r>
            <a:r>
              <a:rPr kumimoji="1" lang="zh-CN" altLang="en-US" b="1" dirty="0">
                <a:solidFill>
                  <a:srgbClr val="990099"/>
                </a:solidFill>
                <a:latin typeface="+mn-lt"/>
                <a:ea typeface="黑体" panose="02010609060101010101" pitchFamily="2" charset="-122"/>
              </a:rPr>
              <a:t>地址</a:t>
            </a:r>
          </a:p>
          <a:p>
            <a:pPr algn="ctr" eaLnBrk="1" hangingPunct="1">
              <a:lnSpc>
                <a:spcPct val="90000"/>
              </a:lnSpc>
            </a:pPr>
            <a:r>
              <a:rPr kumimoji="1" lang="en-US" altLang="zh-CN" b="1" dirty="0">
                <a:solidFill>
                  <a:srgbClr val="990099"/>
                </a:solidFill>
                <a:latin typeface="+mn-lt"/>
                <a:ea typeface="黑体" panose="02010609060101010101" pitchFamily="2" charset="-122"/>
              </a:rPr>
              <a:t>172.38.1.5</a:t>
            </a:r>
          </a:p>
        </p:txBody>
      </p:sp>
      <p:sp>
        <p:nvSpPr>
          <p:cNvPr id="37" name="Line 51"/>
          <p:cNvSpPr>
            <a:spLocks noChangeShapeType="1"/>
          </p:cNvSpPr>
          <p:nvPr/>
        </p:nvSpPr>
        <p:spPr bwMode="auto">
          <a:xfrm>
            <a:off x="2999668" y="2719617"/>
            <a:ext cx="0" cy="777115"/>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38" name="Text Box 52"/>
          <p:cNvSpPr txBox="1">
            <a:spLocks noChangeArrowheads="1"/>
          </p:cNvSpPr>
          <p:nvPr/>
        </p:nvSpPr>
        <p:spPr bwMode="auto">
          <a:xfrm>
            <a:off x="8487349" y="1957700"/>
            <a:ext cx="127470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000099"/>
                </a:solidFill>
                <a:latin typeface="+mn-ea"/>
                <a:ea typeface="+mn-ea"/>
              </a:rPr>
              <a:t>主机 </a:t>
            </a:r>
            <a:r>
              <a:rPr kumimoji="1" lang="en-US" altLang="zh-CN" b="1" dirty="0">
                <a:solidFill>
                  <a:srgbClr val="000099"/>
                </a:solidFill>
                <a:latin typeface="+mn-ea"/>
                <a:ea typeface="+mn-ea"/>
              </a:rPr>
              <a:t>B</a:t>
            </a:r>
          </a:p>
          <a:p>
            <a:pPr algn="ctr" eaLnBrk="1" hangingPunct="1">
              <a:lnSpc>
                <a:spcPct val="90000"/>
              </a:lnSpc>
            </a:pPr>
            <a:r>
              <a:rPr kumimoji="1" lang="en-US" altLang="zh-CN" b="1" dirty="0">
                <a:solidFill>
                  <a:srgbClr val="000099"/>
                </a:solidFill>
                <a:latin typeface="+mn-ea"/>
                <a:ea typeface="+mn-ea"/>
              </a:rPr>
              <a:t>213.18.2.4</a:t>
            </a:r>
          </a:p>
        </p:txBody>
      </p:sp>
      <p:sp>
        <p:nvSpPr>
          <p:cNvPr id="39" name="Line 53"/>
          <p:cNvSpPr>
            <a:spLocks noChangeShapeType="1"/>
          </p:cNvSpPr>
          <p:nvPr/>
        </p:nvSpPr>
        <p:spPr bwMode="auto">
          <a:xfrm flipH="1">
            <a:off x="5474323" y="2892520"/>
            <a:ext cx="239369" cy="60421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40" name="Freeform 54"/>
          <p:cNvSpPr/>
          <p:nvPr/>
        </p:nvSpPr>
        <p:spPr bwMode="auto">
          <a:xfrm>
            <a:off x="5953062" y="2719617"/>
            <a:ext cx="2955154" cy="784716"/>
          </a:xfrm>
          <a:custGeom>
            <a:avLst/>
            <a:gdLst>
              <a:gd name="T0" fmla="*/ 0 w 1679"/>
              <a:gd name="T1" fmla="*/ 409 h 413"/>
              <a:gd name="T2" fmla="*/ 475 w 1679"/>
              <a:gd name="T3" fmla="*/ 401 h 413"/>
              <a:gd name="T4" fmla="*/ 843 w 1679"/>
              <a:gd name="T5" fmla="*/ 337 h 413"/>
              <a:gd name="T6" fmla="*/ 1147 w 1679"/>
              <a:gd name="T7" fmla="*/ 241 h 413"/>
              <a:gd name="T8" fmla="*/ 1387 w 1679"/>
              <a:gd name="T9" fmla="*/ 145 h 413"/>
              <a:gd name="T10" fmla="*/ 1679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CC00CC"/>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sz="2000" b="1">
              <a:solidFill>
                <a:srgbClr val="000099"/>
              </a:solidFill>
              <a:latin typeface="+mn-ea"/>
            </a:endParaRPr>
          </a:p>
        </p:txBody>
      </p:sp>
      <p:sp>
        <p:nvSpPr>
          <p:cNvPr id="41" name="Text Box 59"/>
          <p:cNvSpPr txBox="1">
            <a:spLocks noChangeArrowheads="1"/>
          </p:cNvSpPr>
          <p:nvPr/>
        </p:nvSpPr>
        <p:spPr bwMode="auto">
          <a:xfrm>
            <a:off x="1224182" y="4494253"/>
            <a:ext cx="1456489"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990000"/>
                </a:solidFill>
                <a:latin typeface="+mn-ea"/>
                <a:ea typeface="+mn-ea"/>
              </a:rPr>
              <a:t>目的 </a:t>
            </a:r>
            <a:r>
              <a:rPr kumimoji="1" lang="en-US" altLang="zh-CN" b="1" dirty="0">
                <a:solidFill>
                  <a:srgbClr val="990000"/>
                </a:solidFill>
                <a:latin typeface="+mn-ea"/>
                <a:ea typeface="+mn-ea"/>
              </a:rPr>
              <a:t>IP </a:t>
            </a:r>
            <a:r>
              <a:rPr kumimoji="1" lang="zh-CN" altLang="en-US" b="1" dirty="0">
                <a:solidFill>
                  <a:srgbClr val="990000"/>
                </a:solidFill>
                <a:latin typeface="+mn-ea"/>
                <a:ea typeface="+mn-ea"/>
              </a:rPr>
              <a:t>地址</a:t>
            </a:r>
          </a:p>
          <a:p>
            <a:pPr algn="ctr" eaLnBrk="1" hangingPunct="1">
              <a:lnSpc>
                <a:spcPct val="90000"/>
              </a:lnSpc>
            </a:pPr>
            <a:r>
              <a:rPr kumimoji="1" lang="en-US" altLang="zh-CN" b="1" dirty="0">
                <a:solidFill>
                  <a:srgbClr val="990000"/>
                </a:solidFill>
                <a:latin typeface="+mn-ea"/>
                <a:ea typeface="+mn-ea"/>
              </a:rPr>
              <a:t>192.168.0.3</a:t>
            </a:r>
          </a:p>
        </p:txBody>
      </p:sp>
      <p:sp>
        <p:nvSpPr>
          <p:cNvPr id="42" name="Line 60"/>
          <p:cNvSpPr>
            <a:spLocks noChangeShapeType="1"/>
          </p:cNvSpPr>
          <p:nvPr/>
        </p:nvSpPr>
        <p:spPr bwMode="auto">
          <a:xfrm flipH="1">
            <a:off x="2042189" y="3840640"/>
            <a:ext cx="0" cy="65361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pSp>
        <p:nvGrpSpPr>
          <p:cNvPr id="43" name="Group 65"/>
          <p:cNvGrpSpPr/>
          <p:nvPr/>
        </p:nvGrpSpPr>
        <p:grpSpPr bwMode="auto">
          <a:xfrm flipH="1">
            <a:off x="4995585" y="3755137"/>
            <a:ext cx="1038440" cy="258405"/>
            <a:chOff x="521" y="2478"/>
            <a:chExt cx="1044" cy="136"/>
          </a:xfrm>
        </p:grpSpPr>
        <p:sp>
          <p:nvSpPr>
            <p:cNvPr id="44" name="AutoShape 66"/>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45" name="Rectangle 67"/>
            <p:cNvSpPr>
              <a:spLocks noChangeArrowheads="1"/>
            </p:cNvSpPr>
            <p:nvPr/>
          </p:nvSpPr>
          <p:spPr bwMode="auto">
            <a:xfrm>
              <a:off x="521" y="2478"/>
              <a:ext cx="635" cy="13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46" name="Rectangle 68"/>
            <p:cNvSpPr>
              <a:spLocks noChangeArrowheads="1"/>
            </p:cNvSpPr>
            <p:nvPr/>
          </p:nvSpPr>
          <p:spPr bwMode="auto">
            <a:xfrm>
              <a:off x="1156" y="2478"/>
              <a:ext cx="227" cy="136"/>
            </a:xfrm>
            <a:prstGeom prst="rect">
              <a:avLst/>
            </a:prstGeom>
            <a:solidFill>
              <a:srgbClr val="FF66FF"/>
            </a:solidFill>
            <a:ln w="9525">
              <a:solidFill>
                <a:schemeClr val="tx1"/>
              </a:solidFill>
              <a:miter lim="800000"/>
            </a:ln>
          </p:spPr>
          <p:txBody>
            <a:bodyPr wrap="none" anchor="ctr"/>
            <a:lstStyle/>
            <a:p>
              <a:endParaRPr lang="zh-CN" altLang="en-US" sz="2000" b="1">
                <a:solidFill>
                  <a:srgbClr val="000099"/>
                </a:solidFill>
                <a:latin typeface="+mn-ea"/>
              </a:endParaRPr>
            </a:p>
          </p:txBody>
        </p:sp>
      </p:grpSp>
      <p:sp>
        <p:nvSpPr>
          <p:cNvPr id="47" name="Text Box 69"/>
          <p:cNvSpPr txBox="1">
            <a:spLocks noChangeArrowheads="1"/>
          </p:cNvSpPr>
          <p:nvPr/>
        </p:nvSpPr>
        <p:spPr bwMode="auto">
          <a:xfrm>
            <a:off x="5080688" y="4494253"/>
            <a:ext cx="145648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b="1" dirty="0">
                <a:solidFill>
                  <a:srgbClr val="990099"/>
                </a:solidFill>
                <a:latin typeface="+mn-lt"/>
                <a:ea typeface="黑体" panose="02010609060101010101" pitchFamily="2" charset="-122"/>
              </a:rPr>
              <a:t>目的 </a:t>
            </a:r>
            <a:r>
              <a:rPr kumimoji="1" lang="en-US" altLang="zh-CN" b="1" dirty="0">
                <a:solidFill>
                  <a:srgbClr val="990099"/>
                </a:solidFill>
                <a:latin typeface="+mn-lt"/>
                <a:ea typeface="黑体" panose="02010609060101010101" pitchFamily="2" charset="-122"/>
              </a:rPr>
              <a:t>IP </a:t>
            </a:r>
            <a:r>
              <a:rPr kumimoji="1" lang="zh-CN" altLang="en-US" b="1" dirty="0">
                <a:solidFill>
                  <a:srgbClr val="990099"/>
                </a:solidFill>
                <a:latin typeface="+mn-lt"/>
                <a:ea typeface="黑体" panose="02010609060101010101" pitchFamily="2" charset="-122"/>
              </a:rPr>
              <a:t>地址</a:t>
            </a:r>
          </a:p>
          <a:p>
            <a:pPr algn="ctr" eaLnBrk="1" hangingPunct="1">
              <a:lnSpc>
                <a:spcPct val="90000"/>
              </a:lnSpc>
            </a:pPr>
            <a:r>
              <a:rPr kumimoji="1" lang="en-US" altLang="zh-CN" b="1" dirty="0">
                <a:solidFill>
                  <a:srgbClr val="990099"/>
                </a:solidFill>
                <a:latin typeface="+mn-lt"/>
                <a:ea typeface="黑体" panose="02010609060101010101" pitchFamily="2" charset="-122"/>
              </a:rPr>
              <a:t>172.38.1.5</a:t>
            </a:r>
          </a:p>
        </p:txBody>
      </p:sp>
      <p:sp>
        <p:nvSpPr>
          <p:cNvPr id="48" name="Line 70"/>
          <p:cNvSpPr>
            <a:spLocks noChangeShapeType="1"/>
          </p:cNvSpPr>
          <p:nvPr/>
        </p:nvSpPr>
        <p:spPr bwMode="auto">
          <a:xfrm>
            <a:off x="5314156" y="3938896"/>
            <a:ext cx="480499" cy="55535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49" name="Freeform 71"/>
          <p:cNvSpPr/>
          <p:nvPr/>
        </p:nvSpPr>
        <p:spPr bwMode="auto">
          <a:xfrm>
            <a:off x="6113227" y="3025522"/>
            <a:ext cx="2970995" cy="811317"/>
          </a:xfrm>
          <a:custGeom>
            <a:avLst/>
            <a:gdLst>
              <a:gd name="T0" fmla="*/ 0 w 1688"/>
              <a:gd name="T1" fmla="*/ 425 h 427"/>
              <a:gd name="T2" fmla="*/ 456 w 1688"/>
              <a:gd name="T3" fmla="*/ 416 h 427"/>
              <a:gd name="T4" fmla="*/ 816 w 1688"/>
              <a:gd name="T5" fmla="*/ 360 h 427"/>
              <a:gd name="T6" fmla="*/ 1080 w 1688"/>
              <a:gd name="T7" fmla="*/ 288 h 427"/>
              <a:gd name="T8" fmla="*/ 1336 w 1688"/>
              <a:gd name="T9" fmla="*/ 192 h 427"/>
              <a:gd name="T10" fmla="*/ 1688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CC00CC"/>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sz="2000" b="1">
              <a:solidFill>
                <a:srgbClr val="000099"/>
              </a:solidFill>
              <a:latin typeface="+mn-ea"/>
            </a:endParaRPr>
          </a:p>
        </p:txBody>
      </p:sp>
      <p:sp>
        <p:nvSpPr>
          <p:cNvPr id="50" name="AutoShape 75"/>
          <p:cNvSpPr>
            <a:spLocks noChangeArrowheads="1"/>
          </p:cNvSpPr>
          <p:nvPr/>
        </p:nvSpPr>
        <p:spPr bwMode="auto">
          <a:xfrm>
            <a:off x="4677012" y="1244234"/>
            <a:ext cx="1860164" cy="748228"/>
          </a:xfrm>
          <a:prstGeom prst="wedgeRoundRectCallout">
            <a:avLst>
              <a:gd name="adj1" fmla="val -61990"/>
              <a:gd name="adj2" fmla="val 265089"/>
              <a:gd name="adj3" fmla="val 16667"/>
            </a:avLst>
          </a:prstGeom>
          <a:solidFill>
            <a:srgbClr val="FFFF66"/>
          </a:solidFill>
          <a:ln w="9525">
            <a:solidFill>
              <a:schemeClr val="tx1"/>
            </a:solidFill>
            <a:miter lim="800000"/>
          </a:ln>
        </p:spPr>
        <p:txBody>
          <a:bodyPr/>
          <a:lstStyle/>
          <a:p>
            <a:pPr algn="ctr"/>
            <a:endParaRPr lang="zh-CN" altLang="zh-CN" sz="2000" b="1">
              <a:solidFill>
                <a:srgbClr val="000099"/>
              </a:solidFill>
              <a:latin typeface="+mn-ea"/>
            </a:endParaRPr>
          </a:p>
        </p:txBody>
      </p:sp>
      <p:sp>
        <p:nvSpPr>
          <p:cNvPr id="51" name="Text Box 76"/>
          <p:cNvSpPr txBox="1">
            <a:spLocks noChangeArrowheads="1"/>
          </p:cNvSpPr>
          <p:nvPr/>
        </p:nvSpPr>
        <p:spPr bwMode="auto">
          <a:xfrm>
            <a:off x="4797660" y="1316242"/>
            <a:ext cx="15955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2000" b="1" dirty="0">
                <a:solidFill>
                  <a:srgbClr val="000099"/>
                </a:solidFill>
                <a:latin typeface="+mn-ea"/>
                <a:ea typeface="+mn-ea"/>
              </a:rPr>
              <a:t>全球 </a:t>
            </a:r>
            <a:r>
              <a:rPr kumimoji="1" lang="en-US" altLang="zh-CN" sz="2000" b="1" dirty="0">
                <a:solidFill>
                  <a:srgbClr val="000099"/>
                </a:solidFill>
                <a:latin typeface="+mn-ea"/>
                <a:ea typeface="+mn-ea"/>
              </a:rPr>
              <a:t>IP </a:t>
            </a:r>
            <a:r>
              <a:rPr kumimoji="1" lang="zh-CN" altLang="en-US" sz="2000" b="1" dirty="0">
                <a:solidFill>
                  <a:srgbClr val="000099"/>
                </a:solidFill>
                <a:latin typeface="+mn-ea"/>
                <a:ea typeface="+mn-ea"/>
              </a:rPr>
              <a:t>地址</a:t>
            </a:r>
          </a:p>
          <a:p>
            <a:pPr algn="ctr" eaLnBrk="1" hangingPunct="1">
              <a:lnSpc>
                <a:spcPct val="90000"/>
              </a:lnSpc>
            </a:pPr>
            <a:r>
              <a:rPr kumimoji="1" lang="en-US" altLang="zh-CN" sz="2000" b="1" dirty="0">
                <a:solidFill>
                  <a:srgbClr val="000099"/>
                </a:solidFill>
                <a:latin typeface="+mn-ea"/>
                <a:ea typeface="+mn-ea"/>
              </a:rPr>
              <a:t>172.38.1.5</a:t>
            </a:r>
          </a:p>
        </p:txBody>
      </p:sp>
      <p:sp>
        <p:nvSpPr>
          <p:cNvPr id="4" name="矩形 3"/>
          <p:cNvSpPr/>
          <p:nvPr/>
        </p:nvSpPr>
        <p:spPr>
          <a:xfrm>
            <a:off x="2520928" y="5373216"/>
            <a:ext cx="5600424" cy="461665"/>
          </a:xfrm>
          <a:prstGeom prst="rect">
            <a:avLst/>
          </a:prstGeom>
        </p:spPr>
        <p:txBody>
          <a:bodyPr wrap="square">
            <a:spAutoFit/>
          </a:bodyPr>
          <a:lstStyle/>
          <a:p>
            <a:pPr algn="ctr"/>
            <a:r>
              <a:rPr lang="en-US" altLang="zh-CN" sz="2400" b="1" dirty="0">
                <a:latin typeface="+mn-lt"/>
                <a:ea typeface="黑体" panose="02010609060101010101" pitchFamily="2" charset="-122"/>
              </a:rPr>
              <a:t>NAT </a:t>
            </a:r>
            <a:r>
              <a:rPr lang="zh-CN" altLang="zh-CN" sz="2400" b="1" dirty="0">
                <a:latin typeface="+mn-lt"/>
                <a:ea typeface="黑体" panose="02010609060101010101" pitchFamily="2" charset="-122"/>
              </a:rPr>
              <a:t>路由器的工作原理</a:t>
            </a:r>
            <a:endParaRPr lang="zh-CN" altLang="en-US" sz="2400" b="1" dirty="0">
              <a:latin typeface="+mn-lt"/>
              <a:ea typeface="黑体" panose="02010609060101010101" pitchFamily="2" charset="-122"/>
            </a:endParaRPr>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29763" name="Rectangle 3"/>
          <p:cNvSpPr>
            <a:spLocks noGrp="1" noChangeArrowheads="1"/>
          </p:cNvSpPr>
          <p:nvPr>
            <p:ph idx="1"/>
          </p:nvPr>
        </p:nvSpPr>
        <p:spPr/>
        <p:txBody>
          <a:bodyPr/>
          <a:lstStyle/>
          <a:p>
            <a:pPr>
              <a:lnSpc>
                <a:spcPct val="120000"/>
              </a:lnSpc>
            </a:pPr>
            <a:r>
              <a:rPr lang="zh-CN" altLang="en-US" sz="2800" dirty="0"/>
              <a:t>内部主机 </a:t>
            </a:r>
            <a:r>
              <a:rPr lang="en-US" altLang="zh-CN" sz="2800" dirty="0"/>
              <a:t>A </a:t>
            </a:r>
            <a:r>
              <a:rPr lang="zh-CN" altLang="en-US" sz="2800" dirty="0"/>
              <a:t>用</a:t>
            </a:r>
            <a:r>
              <a:rPr lang="zh-CN" altLang="en-US" sz="2800" dirty="0">
                <a:solidFill>
                  <a:srgbClr val="FF0000"/>
                </a:solidFill>
              </a:rPr>
              <a:t>本地地址 </a:t>
            </a:r>
            <a:r>
              <a:rPr lang="en-US" altLang="zh-CN" sz="2800" dirty="0">
                <a:solidFill>
                  <a:srgbClr val="FF0000"/>
                </a:solidFill>
              </a:rPr>
              <a:t>IP</a:t>
            </a:r>
            <a:r>
              <a:rPr lang="en-US" altLang="zh-CN" sz="2800" i="1" baseline="-25000" dirty="0">
                <a:solidFill>
                  <a:srgbClr val="FF0000"/>
                </a:solidFill>
              </a:rPr>
              <a:t>A </a:t>
            </a:r>
            <a:r>
              <a:rPr lang="zh-CN" altLang="en-US" sz="2800" dirty="0"/>
              <a:t>和互联网上主机 </a:t>
            </a:r>
            <a:r>
              <a:rPr lang="en-US" altLang="zh-CN" sz="2800" dirty="0"/>
              <a:t>B </a:t>
            </a:r>
            <a:r>
              <a:rPr lang="zh-CN" altLang="en-US" sz="2800" dirty="0"/>
              <a:t>通信所发送的数据报必须经过 </a:t>
            </a:r>
            <a:r>
              <a:rPr lang="en-US" altLang="zh-CN" sz="2800" dirty="0"/>
              <a:t>NAT </a:t>
            </a:r>
            <a:r>
              <a:rPr lang="zh-CN" altLang="en-US" sz="2800" dirty="0"/>
              <a:t>路由器。</a:t>
            </a:r>
          </a:p>
          <a:p>
            <a:pPr>
              <a:lnSpc>
                <a:spcPct val="120000"/>
              </a:lnSpc>
            </a:pPr>
            <a:r>
              <a:rPr lang="en-US" altLang="zh-CN" sz="2800" dirty="0"/>
              <a:t>NAT </a:t>
            </a:r>
            <a:r>
              <a:rPr lang="zh-CN" altLang="en-US" sz="2800" dirty="0"/>
              <a:t>路由器</a:t>
            </a:r>
            <a:r>
              <a:rPr lang="zh-CN" altLang="en-US" sz="2800" dirty="0">
                <a:solidFill>
                  <a:srgbClr val="FF0000"/>
                </a:solidFill>
              </a:rPr>
              <a:t>将数据报的源地址 </a:t>
            </a:r>
            <a:r>
              <a:rPr lang="en-US" altLang="zh-CN" sz="2800" dirty="0">
                <a:solidFill>
                  <a:srgbClr val="FF0000"/>
                </a:solidFill>
              </a:rPr>
              <a:t>IP</a:t>
            </a:r>
            <a:r>
              <a:rPr lang="en-US" altLang="zh-CN" sz="2800" i="1" baseline="-25000" dirty="0">
                <a:solidFill>
                  <a:srgbClr val="FF0000"/>
                </a:solidFill>
              </a:rPr>
              <a:t>A </a:t>
            </a:r>
            <a:r>
              <a:rPr lang="zh-CN" altLang="en-US" sz="2800" dirty="0">
                <a:solidFill>
                  <a:srgbClr val="FF0000"/>
                </a:solidFill>
              </a:rPr>
              <a:t>转换成全球地址 </a:t>
            </a:r>
            <a:r>
              <a:rPr lang="en-US" altLang="zh-CN" sz="2800" dirty="0">
                <a:solidFill>
                  <a:srgbClr val="FF0000"/>
                </a:solidFill>
              </a:rPr>
              <a:t>IP</a:t>
            </a:r>
            <a:r>
              <a:rPr lang="en-US" altLang="zh-CN" sz="2800" i="1" baseline="-25000" dirty="0">
                <a:solidFill>
                  <a:srgbClr val="FF0000"/>
                </a:solidFill>
              </a:rPr>
              <a:t>G</a:t>
            </a:r>
            <a:r>
              <a:rPr lang="zh-CN" altLang="en-US" sz="2800" dirty="0">
                <a:solidFill>
                  <a:srgbClr val="FF0000"/>
                </a:solidFill>
              </a:rPr>
              <a:t>，</a:t>
            </a:r>
            <a:r>
              <a:rPr lang="zh-CN" altLang="en-US" sz="2800" dirty="0"/>
              <a:t>并把转换结果记录到</a:t>
            </a:r>
            <a:r>
              <a:rPr lang="en-US" altLang="zh-CN" sz="2800" dirty="0">
                <a:solidFill>
                  <a:srgbClr val="FF0000"/>
                </a:solidFill>
              </a:rPr>
              <a:t>NAT</a:t>
            </a:r>
            <a:r>
              <a:rPr lang="zh-CN" altLang="en-US" sz="2800" dirty="0">
                <a:solidFill>
                  <a:srgbClr val="FF0000"/>
                </a:solidFill>
              </a:rPr>
              <a:t>地址转换表</a:t>
            </a:r>
            <a:r>
              <a:rPr lang="zh-CN" altLang="en-US" sz="2800" dirty="0"/>
              <a:t>中，目的地址 </a:t>
            </a:r>
            <a:r>
              <a:rPr lang="en-US" altLang="zh-CN" sz="2800" dirty="0"/>
              <a:t>IP</a:t>
            </a:r>
            <a:r>
              <a:rPr lang="en-US" altLang="zh-CN" sz="2800" i="1" baseline="-25000" dirty="0"/>
              <a:t>B </a:t>
            </a:r>
            <a:r>
              <a:rPr lang="zh-CN" altLang="en-US" sz="2800" dirty="0"/>
              <a:t>保持不变，然后发送到互联网。</a:t>
            </a:r>
          </a:p>
          <a:p>
            <a:pPr>
              <a:lnSpc>
                <a:spcPct val="120000"/>
              </a:lnSpc>
            </a:pPr>
            <a:r>
              <a:rPr lang="en-US" altLang="zh-CN" sz="2800" dirty="0"/>
              <a:t>NAT </a:t>
            </a:r>
            <a:r>
              <a:rPr lang="zh-CN" altLang="en-US" sz="2800" dirty="0"/>
              <a:t>路由器收到主机 </a:t>
            </a:r>
            <a:r>
              <a:rPr lang="en-US" altLang="zh-CN" sz="2800" dirty="0"/>
              <a:t>B </a:t>
            </a:r>
            <a:r>
              <a:rPr lang="zh-CN" altLang="en-US" sz="2800" dirty="0"/>
              <a:t>发回的数据报时，知道数据报中的源地址是 </a:t>
            </a:r>
            <a:r>
              <a:rPr lang="en-US" altLang="zh-CN" sz="2800" dirty="0"/>
              <a:t>IP</a:t>
            </a:r>
            <a:r>
              <a:rPr lang="en-US" altLang="zh-CN" sz="2800" i="1" baseline="-25000" dirty="0"/>
              <a:t>B </a:t>
            </a:r>
            <a:r>
              <a:rPr lang="zh-CN" altLang="en-US" sz="2800" dirty="0"/>
              <a:t>而目的地址是 </a:t>
            </a:r>
            <a:r>
              <a:rPr lang="en-US" altLang="zh-CN" sz="2800" dirty="0"/>
              <a:t>IP</a:t>
            </a:r>
            <a:r>
              <a:rPr lang="en-US" altLang="zh-CN" sz="2800" i="1" baseline="-25000" dirty="0"/>
              <a:t>G</a:t>
            </a:r>
            <a:r>
              <a:rPr lang="zh-CN" altLang="en-US" sz="2800" dirty="0"/>
              <a:t>。</a:t>
            </a:r>
          </a:p>
          <a:p>
            <a:pPr>
              <a:lnSpc>
                <a:spcPct val="120000"/>
              </a:lnSpc>
            </a:pPr>
            <a:r>
              <a:rPr lang="zh-CN" altLang="en-US" sz="2800" dirty="0">
                <a:solidFill>
                  <a:srgbClr val="FF0000"/>
                </a:solidFill>
              </a:rPr>
              <a:t>根据 </a:t>
            </a:r>
            <a:r>
              <a:rPr lang="en-US" altLang="zh-CN" sz="2800" dirty="0">
                <a:solidFill>
                  <a:srgbClr val="FF0000"/>
                </a:solidFill>
              </a:rPr>
              <a:t>NAT </a:t>
            </a:r>
            <a:r>
              <a:rPr lang="zh-CN" altLang="en-US" sz="2800" dirty="0">
                <a:solidFill>
                  <a:srgbClr val="FF0000"/>
                </a:solidFill>
              </a:rPr>
              <a:t>转换表，</a:t>
            </a:r>
            <a:r>
              <a:rPr lang="en-US" altLang="zh-CN" sz="2800" dirty="0"/>
              <a:t>NAT </a:t>
            </a:r>
            <a:r>
              <a:rPr lang="zh-CN" altLang="en-US" sz="2800" dirty="0"/>
              <a:t>路由器</a:t>
            </a:r>
            <a:r>
              <a:rPr lang="zh-CN" altLang="en-US" sz="2800" dirty="0">
                <a:solidFill>
                  <a:srgbClr val="FF0000"/>
                </a:solidFill>
              </a:rPr>
              <a:t>将目的地址 </a:t>
            </a:r>
            <a:r>
              <a:rPr lang="en-US" altLang="zh-CN" sz="2800" dirty="0">
                <a:solidFill>
                  <a:srgbClr val="FF0000"/>
                </a:solidFill>
              </a:rPr>
              <a:t>IP</a:t>
            </a:r>
            <a:r>
              <a:rPr lang="en-US" altLang="zh-CN" sz="2800" i="1" baseline="-25000" dirty="0">
                <a:solidFill>
                  <a:srgbClr val="FF0000"/>
                </a:solidFill>
              </a:rPr>
              <a:t>G </a:t>
            </a:r>
            <a:r>
              <a:rPr lang="zh-CN" altLang="en-US" sz="2800" dirty="0">
                <a:solidFill>
                  <a:srgbClr val="FF0000"/>
                </a:solidFill>
              </a:rPr>
              <a:t>转换为 </a:t>
            </a:r>
            <a:r>
              <a:rPr lang="en-US" altLang="zh-CN" sz="2800" dirty="0">
                <a:solidFill>
                  <a:srgbClr val="FF0000"/>
                </a:solidFill>
              </a:rPr>
              <a:t>IP</a:t>
            </a:r>
            <a:r>
              <a:rPr lang="en-US" altLang="zh-CN" sz="2800" i="1" baseline="-25000" dirty="0">
                <a:solidFill>
                  <a:srgbClr val="FF0000"/>
                </a:solidFill>
              </a:rPr>
              <a:t>A</a:t>
            </a:r>
            <a:r>
              <a:rPr lang="zh-CN" altLang="en-US" sz="2800" dirty="0">
                <a:solidFill>
                  <a:srgbClr val="FF0000"/>
                </a:solidFill>
              </a:rPr>
              <a:t>，</a:t>
            </a:r>
            <a:r>
              <a:rPr lang="zh-CN" altLang="en-US" sz="2800" dirty="0"/>
              <a:t>转发给最终的内部主机 </a:t>
            </a:r>
            <a:r>
              <a:rPr lang="en-US" altLang="zh-CN" sz="2800" dirty="0"/>
              <a:t>A</a:t>
            </a:r>
            <a:r>
              <a:rPr lang="zh-CN" altLang="en-US" sz="2800" dirty="0"/>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976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2976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297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29763" name="Rectangle 3"/>
          <p:cNvSpPr>
            <a:spLocks noGrp="1" noChangeArrowheads="1"/>
          </p:cNvSpPr>
          <p:nvPr>
            <p:ph idx="1"/>
          </p:nvPr>
        </p:nvSpPr>
        <p:spPr/>
        <p:txBody>
          <a:bodyPr/>
          <a:lstStyle/>
          <a:p>
            <a:r>
              <a:rPr lang="zh-CN" altLang="en-US" sz="2800" dirty="0"/>
              <a:t>可以看出，在内部主机与外部主机通信时，在</a:t>
            </a:r>
            <a:r>
              <a:rPr lang="en-US" altLang="zh-CN" sz="2800" dirty="0"/>
              <a:t>NAT</a:t>
            </a:r>
            <a:r>
              <a:rPr lang="zh-CN" altLang="en-US" sz="2800" dirty="0"/>
              <a:t>路由器上发生了</a:t>
            </a:r>
            <a:r>
              <a:rPr lang="zh-CN" altLang="en-US" sz="2800" dirty="0">
                <a:solidFill>
                  <a:srgbClr val="FF0000"/>
                </a:solidFill>
              </a:rPr>
              <a:t>两次地址转换：</a:t>
            </a:r>
            <a:endParaRPr lang="en-US" altLang="zh-CN" sz="2800" dirty="0">
              <a:solidFill>
                <a:srgbClr val="FF0000"/>
              </a:solidFill>
            </a:endParaRPr>
          </a:p>
          <a:p>
            <a:pPr lvl="1"/>
            <a:r>
              <a:rPr lang="zh-CN" altLang="en-US" sz="2400" dirty="0">
                <a:solidFill>
                  <a:srgbClr val="0000FF"/>
                </a:solidFill>
              </a:rPr>
              <a:t>离开专用网时：</a:t>
            </a:r>
            <a:r>
              <a:rPr lang="zh-CN" altLang="en-US" sz="2400" dirty="0"/>
              <a:t>替换源地址，将内部地址替换为全球地址；</a:t>
            </a:r>
            <a:endParaRPr lang="en-US" altLang="zh-CN" sz="2400" dirty="0"/>
          </a:p>
          <a:p>
            <a:pPr lvl="1"/>
            <a:r>
              <a:rPr lang="zh-CN" altLang="en-US" sz="2400" dirty="0">
                <a:solidFill>
                  <a:srgbClr val="0000FF"/>
                </a:solidFill>
              </a:rPr>
              <a:t>进入专用网时：</a:t>
            </a:r>
            <a:r>
              <a:rPr lang="zh-CN" altLang="en-US" sz="2400" dirty="0"/>
              <a:t>替换目的地址，将全球地址替换为内部地址；</a:t>
            </a:r>
          </a:p>
        </p:txBody>
      </p:sp>
      <p:graphicFrame>
        <p:nvGraphicFramePr>
          <p:cNvPr id="2" name="表格 1"/>
          <p:cNvGraphicFramePr>
            <a:graphicFrameLocks noGrp="1"/>
          </p:cNvGraphicFramePr>
          <p:nvPr>
            <p:custDataLst>
              <p:tags r:id="rId1"/>
            </p:custDataLst>
          </p:nvPr>
        </p:nvGraphicFramePr>
        <p:xfrm>
          <a:off x="848544" y="3789042"/>
          <a:ext cx="8496943" cy="2088230"/>
        </p:xfrm>
        <a:graphic>
          <a:graphicData uri="http://schemas.openxmlformats.org/drawingml/2006/table">
            <a:tbl>
              <a:tblPr firstRow="1" firstCol="1" lastRow="1" lastCol="1" bandRow="1" bandCol="1">
                <a:tableStyleId>{5C22544A-7EE6-4342-B048-85BDC9FD1C3A}</a:tableStyleId>
              </a:tblPr>
              <a:tblGrid>
                <a:gridCol w="1763516">
                  <a:extLst>
                    <a:ext uri="{9D8B030D-6E8A-4147-A177-3AD203B41FA5}">
                      <a16:colId xmlns:a16="http://schemas.microsoft.com/office/drawing/2014/main" val="20000"/>
                    </a:ext>
                  </a:extLst>
                </a:gridCol>
                <a:gridCol w="2545266">
                  <a:extLst>
                    <a:ext uri="{9D8B030D-6E8A-4147-A177-3AD203B41FA5}">
                      <a16:colId xmlns:a16="http://schemas.microsoft.com/office/drawing/2014/main" val="20001"/>
                    </a:ext>
                  </a:extLst>
                </a:gridCol>
                <a:gridCol w="2104005">
                  <a:extLst>
                    <a:ext uri="{9D8B030D-6E8A-4147-A177-3AD203B41FA5}">
                      <a16:colId xmlns:a16="http://schemas.microsoft.com/office/drawing/2014/main" val="20002"/>
                    </a:ext>
                  </a:extLst>
                </a:gridCol>
                <a:gridCol w="2084156">
                  <a:extLst>
                    <a:ext uri="{9D8B030D-6E8A-4147-A177-3AD203B41FA5}">
                      <a16:colId xmlns:a16="http://schemas.microsoft.com/office/drawing/2014/main" val="20003"/>
                    </a:ext>
                  </a:extLst>
                </a:gridCol>
              </a:tblGrid>
              <a:tr h="417646">
                <a:tc>
                  <a:txBody>
                    <a:bodyPr/>
                    <a:lstStyle/>
                    <a:p>
                      <a:pPr algn="ctr">
                        <a:lnSpc>
                          <a:spcPct val="100000"/>
                        </a:lnSpc>
                        <a:spcAft>
                          <a:spcPts val="0"/>
                        </a:spcAft>
                        <a:tabLst>
                          <a:tab pos="3886200" algn="l"/>
                        </a:tabLst>
                      </a:pPr>
                      <a:r>
                        <a:rPr lang="zh-CN" sz="2400" b="1" dirty="0">
                          <a:solidFill>
                            <a:schemeClr val="tx1"/>
                          </a:solidFill>
                          <a:effectLst/>
                          <a:latin typeface="+mn-lt"/>
                          <a:ea typeface="黑体" panose="02010609060101010101" pitchFamily="2" charset="-122"/>
                        </a:rPr>
                        <a:t>方向</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anose="02010609060101010101" pitchFamily="2"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anose="02010609060101010101" pitchFamily="2" charset="-122"/>
                        </a:rPr>
                        <a:t>旧的</a:t>
                      </a:r>
                      <a:r>
                        <a:rPr lang="en-US" sz="2400" b="1" dirty="0">
                          <a:solidFill>
                            <a:schemeClr val="tx1"/>
                          </a:solidFill>
                          <a:effectLst/>
                          <a:latin typeface="+mn-lt"/>
                          <a:ea typeface="黑体" panose="02010609060101010101" pitchFamily="2" charset="-122"/>
                        </a:rPr>
                        <a:t>IP</a:t>
                      </a:r>
                      <a:r>
                        <a:rPr lang="zh-CN" sz="2400" b="1" dirty="0">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anose="02010609060101010101" pitchFamily="2" charset="-122"/>
                        </a:rPr>
                        <a:t>新的</a:t>
                      </a:r>
                      <a:r>
                        <a:rPr lang="en-US" sz="2400" b="1" dirty="0">
                          <a:solidFill>
                            <a:schemeClr val="tx1"/>
                          </a:solidFill>
                          <a:effectLst/>
                          <a:latin typeface="+mn-lt"/>
                          <a:ea typeface="黑体" panose="02010609060101010101" pitchFamily="2" charset="-122"/>
                        </a:rPr>
                        <a:t>IP</a:t>
                      </a:r>
                      <a:r>
                        <a:rPr lang="zh-CN" sz="2400" b="1" dirty="0">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源</a:t>
                      </a:r>
                      <a:r>
                        <a:rPr lang="en-US" sz="2400" b="1">
                          <a:solidFill>
                            <a:schemeClr val="tx1"/>
                          </a:solidFill>
                          <a:effectLst/>
                          <a:latin typeface="+mn-lt"/>
                          <a:ea typeface="黑体" panose="02010609060101010101" pitchFamily="2" charset="-122"/>
                        </a:rPr>
                        <a:t>IP</a:t>
                      </a:r>
                      <a:r>
                        <a:rPr lang="zh-CN" sz="2400" b="1">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anose="02010609060101010101" pitchFamily="2" charset="-122"/>
                        </a:rPr>
                        <a:t>192.168.0.3</a:t>
                      </a:r>
                      <a:endParaRPr lang="zh-CN" sz="24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anose="02010609060101010101" pitchFamily="2" charset="-122"/>
                        </a:rPr>
                        <a:t>172.38.1.5</a:t>
                      </a:r>
                      <a:endParaRPr lang="zh-CN" sz="24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目的</a:t>
                      </a:r>
                      <a:r>
                        <a:rPr lang="en-US" sz="2400" b="1">
                          <a:solidFill>
                            <a:schemeClr val="tx1"/>
                          </a:solidFill>
                          <a:effectLst/>
                          <a:latin typeface="+mn-lt"/>
                          <a:ea typeface="黑体" panose="02010609060101010101" pitchFamily="2" charset="-122"/>
                        </a:rPr>
                        <a:t>IP</a:t>
                      </a:r>
                      <a:r>
                        <a:rPr lang="zh-CN" sz="2400" b="1">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anose="02010609060101010101" pitchFamily="2" charset="-122"/>
                        </a:rPr>
                        <a:t>172.38.1.5</a:t>
                      </a:r>
                      <a:endParaRPr lang="zh-CN" sz="24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anose="02010609060101010101" pitchFamily="2" charset="-122"/>
                        </a:rPr>
                        <a:t>192.168.0.3</a:t>
                      </a:r>
                      <a:endParaRPr lang="zh-CN" sz="24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源</a:t>
                      </a:r>
                      <a:r>
                        <a:rPr lang="en-US" sz="2400" b="1">
                          <a:solidFill>
                            <a:schemeClr val="tx1"/>
                          </a:solidFill>
                          <a:effectLst/>
                          <a:latin typeface="+mn-lt"/>
                          <a:ea typeface="黑体" panose="02010609060101010101" pitchFamily="2" charset="-122"/>
                        </a:rPr>
                        <a:t>IP</a:t>
                      </a:r>
                      <a:r>
                        <a:rPr lang="zh-CN" sz="2400" b="1">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anose="02010609060101010101" pitchFamily="2" charset="-122"/>
                        </a:rPr>
                        <a:t>192.168.0.7</a:t>
                      </a:r>
                      <a:endParaRPr lang="zh-CN" sz="24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anose="02010609060101010101" pitchFamily="2" charset="-122"/>
                        </a:rPr>
                        <a:t>172.38.1.6</a:t>
                      </a:r>
                      <a:endParaRPr lang="zh-CN" sz="24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anose="02010609060101010101"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anose="02010609060101010101" pitchFamily="2" charset="-122"/>
                        </a:rPr>
                        <a:t>目的</a:t>
                      </a:r>
                      <a:r>
                        <a:rPr lang="en-US" sz="2400" b="1" dirty="0">
                          <a:solidFill>
                            <a:schemeClr val="tx1"/>
                          </a:solidFill>
                          <a:effectLst/>
                          <a:latin typeface="+mn-lt"/>
                          <a:ea typeface="黑体" panose="02010609060101010101" pitchFamily="2" charset="-122"/>
                        </a:rPr>
                        <a:t>IP</a:t>
                      </a:r>
                      <a:r>
                        <a:rPr lang="zh-CN" sz="2400" b="1" dirty="0">
                          <a:solidFill>
                            <a:schemeClr val="tx1"/>
                          </a:solidFill>
                          <a:effectLst/>
                          <a:latin typeface="+mn-lt"/>
                          <a:ea typeface="黑体" panose="02010609060101010101"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anose="02010609060101010101" pitchFamily="2" charset="-122"/>
                        </a:rPr>
                        <a:t>172.38.1.6</a:t>
                      </a:r>
                      <a:endParaRPr lang="zh-CN" sz="24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anose="02010609060101010101" pitchFamily="2" charset="-122"/>
                        </a:rPr>
                        <a:t>192.168.0.7</a:t>
                      </a:r>
                      <a:endParaRPr lang="zh-CN" sz="24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3" name="矩形 2"/>
          <p:cNvSpPr/>
          <p:nvPr/>
        </p:nvSpPr>
        <p:spPr>
          <a:xfrm>
            <a:off x="3080792" y="3284984"/>
            <a:ext cx="3528392" cy="461665"/>
          </a:xfrm>
          <a:prstGeom prst="rect">
            <a:avLst/>
          </a:prstGeom>
        </p:spPr>
        <p:txBody>
          <a:bodyPr wrap="square">
            <a:spAutoFit/>
          </a:bodyPr>
          <a:lstStyle/>
          <a:p>
            <a:pPr algn="ctr"/>
            <a:r>
              <a:rPr lang="en-US" altLang="zh-CN" sz="2400" b="1" dirty="0">
                <a:latin typeface="+mn-lt"/>
                <a:ea typeface="黑体" panose="02010609060101010101" pitchFamily="2" charset="-122"/>
              </a:rPr>
              <a:t>NAT</a:t>
            </a:r>
            <a:r>
              <a:rPr lang="zh-CN" altLang="zh-CN" sz="2400" b="1" dirty="0">
                <a:latin typeface="+mn-lt"/>
                <a:ea typeface="黑体" panose="02010609060101010101" pitchFamily="2" charset="-122"/>
              </a:rPr>
              <a:t>地址转换表举例</a:t>
            </a:r>
            <a:endParaRPr lang="zh-CN" altLang="en-US" sz="2400" b="1" dirty="0">
              <a:latin typeface="+mn-lt"/>
              <a:ea typeface="黑体" panose="02010609060101010101" pitchFamily="2" charset="-122"/>
            </a:endParaRP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网络地址转换 </a:t>
            </a:r>
            <a:r>
              <a:rPr lang="en-US" altLang="zh-CN" dirty="0"/>
              <a:t>NAT</a:t>
            </a:r>
            <a:endParaRPr lang="zh-CN" altLang="en-US" dirty="0"/>
          </a:p>
        </p:txBody>
      </p:sp>
      <p:sp>
        <p:nvSpPr>
          <p:cNvPr id="3" name="内容占位符 2"/>
          <p:cNvSpPr>
            <a:spLocks noGrp="1"/>
          </p:cNvSpPr>
          <p:nvPr>
            <p:ph idx="1"/>
          </p:nvPr>
        </p:nvSpPr>
        <p:spPr/>
        <p:txBody>
          <a:bodyPr/>
          <a:lstStyle/>
          <a:p>
            <a:r>
              <a:rPr lang="zh-CN" altLang="zh-CN" dirty="0"/>
              <a:t>当</a:t>
            </a:r>
            <a:r>
              <a:rPr lang="en-US" altLang="zh-CN" dirty="0"/>
              <a:t> NAT </a:t>
            </a:r>
            <a:r>
              <a:rPr lang="zh-CN" altLang="zh-CN" dirty="0"/>
              <a:t>路由器具有</a:t>
            </a:r>
            <a:r>
              <a:rPr lang="en-US" altLang="zh-CN" dirty="0"/>
              <a:t> </a:t>
            </a:r>
            <a:r>
              <a:rPr lang="en-US" altLang="zh-CN" i="1" dirty="0"/>
              <a:t>n </a:t>
            </a:r>
            <a:r>
              <a:rPr lang="zh-CN" altLang="zh-CN" dirty="0"/>
              <a:t>个全球</a:t>
            </a:r>
            <a:r>
              <a:rPr lang="en-US" altLang="zh-CN" dirty="0"/>
              <a:t> IP </a:t>
            </a:r>
            <a:r>
              <a:rPr lang="zh-CN" altLang="zh-CN" dirty="0"/>
              <a:t>地址时，专用网内</a:t>
            </a:r>
            <a:r>
              <a:rPr lang="zh-CN" altLang="zh-CN" dirty="0">
                <a:solidFill>
                  <a:srgbClr val="FF0000"/>
                </a:solidFill>
              </a:rPr>
              <a:t>最多可以同时有</a:t>
            </a:r>
            <a:r>
              <a:rPr lang="en-US" altLang="zh-CN" dirty="0">
                <a:solidFill>
                  <a:srgbClr val="FF0000"/>
                </a:solidFill>
              </a:rPr>
              <a:t> </a:t>
            </a:r>
            <a:r>
              <a:rPr lang="en-US" altLang="zh-CN" i="1" dirty="0">
                <a:solidFill>
                  <a:srgbClr val="FF0000"/>
                </a:solidFill>
              </a:rPr>
              <a:t>n </a:t>
            </a:r>
            <a:r>
              <a:rPr lang="zh-CN" altLang="zh-CN" dirty="0">
                <a:solidFill>
                  <a:srgbClr val="FF0000"/>
                </a:solidFill>
              </a:rPr>
              <a:t>台主机接入到互联网。</a:t>
            </a:r>
            <a:r>
              <a:rPr lang="zh-CN" altLang="zh-CN" dirty="0"/>
              <a:t>这样就可以使专用网内较多数量的主机，轮流使用</a:t>
            </a:r>
            <a:r>
              <a:rPr lang="en-US" altLang="zh-CN" dirty="0"/>
              <a:t> NAT </a:t>
            </a:r>
            <a:r>
              <a:rPr lang="zh-CN" altLang="zh-CN" dirty="0"/>
              <a:t>路由器有限数量的全球</a:t>
            </a:r>
            <a:r>
              <a:rPr lang="en-US" altLang="zh-CN" dirty="0"/>
              <a:t> IP </a:t>
            </a:r>
            <a:r>
              <a:rPr lang="zh-CN" altLang="zh-CN" dirty="0"/>
              <a:t>地址。</a:t>
            </a:r>
            <a:endParaRPr lang="en-US" altLang="zh-CN" dirty="0"/>
          </a:p>
          <a:p>
            <a:r>
              <a:rPr lang="zh-CN" altLang="zh-CN" dirty="0"/>
              <a:t>通过</a:t>
            </a:r>
            <a:r>
              <a:rPr lang="en-US" altLang="zh-CN" dirty="0"/>
              <a:t> NAT </a:t>
            </a:r>
            <a:r>
              <a:rPr lang="zh-CN" altLang="zh-CN" dirty="0"/>
              <a:t>路由器的通信必须由专用网内的主机发起。</a:t>
            </a:r>
            <a:r>
              <a:rPr lang="zh-CN" altLang="zh-CN" dirty="0">
                <a:solidFill>
                  <a:srgbClr val="FF0000"/>
                </a:solidFill>
              </a:rPr>
              <a:t>专用网内部的主机不能充当服务器用，</a:t>
            </a:r>
            <a:r>
              <a:rPr lang="zh-CN" altLang="zh-CN" dirty="0"/>
              <a:t>因为互联网上的客户无法请求专用网内的服务器提供服务。</a:t>
            </a:r>
            <a:endParaRPr lang="zh-CN" altLang="en-US" dirty="0"/>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网络地址与端口号转换</a:t>
            </a:r>
            <a:r>
              <a:rPr lang="en-US" altLang="zh-CN" dirty="0"/>
              <a:t> NAPT </a:t>
            </a:r>
            <a:endParaRPr lang="zh-CN" altLang="en-US" dirty="0"/>
          </a:p>
        </p:txBody>
      </p:sp>
      <p:sp>
        <p:nvSpPr>
          <p:cNvPr id="3" name="内容占位符 2"/>
          <p:cNvSpPr>
            <a:spLocks noGrp="1"/>
          </p:cNvSpPr>
          <p:nvPr>
            <p:ph idx="1"/>
          </p:nvPr>
        </p:nvSpPr>
        <p:spPr/>
        <p:txBody>
          <a:bodyPr/>
          <a:lstStyle/>
          <a:p>
            <a:r>
              <a:rPr lang="zh-CN" altLang="zh-CN" sz="3000" dirty="0"/>
              <a:t>为了更加有效地利用</a:t>
            </a:r>
            <a:r>
              <a:rPr lang="en-US" altLang="zh-CN" sz="3000" dirty="0"/>
              <a:t> NAT </a:t>
            </a:r>
            <a:r>
              <a:rPr lang="zh-CN" altLang="zh-CN" sz="3000" dirty="0"/>
              <a:t>路由器上的全球</a:t>
            </a:r>
            <a:r>
              <a:rPr lang="en-US" altLang="zh-CN" sz="3000" dirty="0"/>
              <a:t>IP</a:t>
            </a:r>
            <a:r>
              <a:rPr lang="zh-CN" altLang="zh-CN" sz="3000" dirty="0"/>
              <a:t>地址，现在常用的</a:t>
            </a:r>
            <a:r>
              <a:rPr lang="en-US" altLang="zh-CN" sz="3000" dirty="0"/>
              <a:t> NAT </a:t>
            </a:r>
            <a:r>
              <a:rPr lang="zh-CN" altLang="zh-CN" sz="3000" dirty="0"/>
              <a:t>转换表</a:t>
            </a:r>
            <a:r>
              <a:rPr lang="zh-CN" altLang="zh-CN" sz="3000" dirty="0">
                <a:solidFill>
                  <a:srgbClr val="FF0000"/>
                </a:solidFill>
              </a:rPr>
              <a:t>把运输层的端口号也利用上。</a:t>
            </a:r>
            <a:r>
              <a:rPr lang="zh-CN" altLang="zh-CN" sz="3000" dirty="0"/>
              <a:t>这样，就可以使多个拥有本地地址的主机，</a:t>
            </a:r>
            <a:r>
              <a:rPr lang="zh-CN" altLang="zh-CN" sz="3000" dirty="0">
                <a:solidFill>
                  <a:srgbClr val="FF0000"/>
                </a:solidFill>
              </a:rPr>
              <a:t>共用一个</a:t>
            </a:r>
            <a:r>
              <a:rPr lang="en-US" altLang="zh-CN" sz="3000" dirty="0">
                <a:solidFill>
                  <a:srgbClr val="FF0000"/>
                </a:solidFill>
              </a:rPr>
              <a:t> NAT </a:t>
            </a:r>
            <a:r>
              <a:rPr lang="zh-CN" altLang="zh-CN" sz="3000" dirty="0">
                <a:solidFill>
                  <a:srgbClr val="FF0000"/>
                </a:solidFill>
              </a:rPr>
              <a:t>路由器上的全球</a:t>
            </a:r>
            <a:r>
              <a:rPr lang="en-US" altLang="zh-CN" sz="3000" dirty="0">
                <a:solidFill>
                  <a:srgbClr val="FF0000"/>
                </a:solidFill>
              </a:rPr>
              <a:t> IP </a:t>
            </a:r>
            <a:r>
              <a:rPr lang="zh-CN" altLang="zh-CN" sz="3000" dirty="0">
                <a:solidFill>
                  <a:srgbClr val="FF0000"/>
                </a:solidFill>
              </a:rPr>
              <a:t>地址，</a:t>
            </a:r>
            <a:r>
              <a:rPr lang="zh-CN" altLang="zh-CN" sz="3000" dirty="0"/>
              <a:t>因而可以同时和互联网上的不同主机进行通信</a:t>
            </a:r>
            <a:r>
              <a:rPr lang="zh-CN" altLang="en-US" sz="3000" dirty="0"/>
              <a:t>。</a:t>
            </a:r>
            <a:endParaRPr lang="en-US" altLang="zh-CN" sz="3000" dirty="0"/>
          </a:p>
          <a:p>
            <a:r>
              <a:rPr lang="zh-CN" altLang="zh-CN" sz="3000" dirty="0"/>
              <a:t>使用端口号的</a:t>
            </a:r>
            <a:r>
              <a:rPr lang="en-US" altLang="zh-CN" sz="3000" dirty="0"/>
              <a:t> NAT </a:t>
            </a:r>
            <a:r>
              <a:rPr lang="zh-CN" altLang="zh-CN" sz="3000" dirty="0"/>
              <a:t>叫</a:t>
            </a:r>
            <a:r>
              <a:rPr lang="zh-CN" altLang="en-US" sz="3000" dirty="0"/>
              <a:t>作</a:t>
            </a:r>
            <a:r>
              <a:rPr lang="zh-CN" altLang="zh-CN" sz="3000" dirty="0">
                <a:solidFill>
                  <a:srgbClr val="FF0000"/>
                </a:solidFill>
              </a:rPr>
              <a:t>网络地址与端口号转换</a:t>
            </a:r>
            <a:r>
              <a:rPr lang="en-US" altLang="zh-CN" sz="3000" dirty="0">
                <a:solidFill>
                  <a:srgbClr val="FF0000"/>
                </a:solidFill>
              </a:rPr>
              <a:t>NAPT</a:t>
            </a:r>
            <a:r>
              <a:rPr lang="en-US" altLang="zh-CN" sz="3000" dirty="0"/>
              <a:t> (Network Address and Port Translation)</a:t>
            </a:r>
            <a:r>
              <a:rPr lang="zh-CN" altLang="zh-CN" sz="3000" dirty="0"/>
              <a:t>，而不使用端口号的</a:t>
            </a:r>
            <a:r>
              <a:rPr lang="en-US" altLang="zh-CN" sz="3000" dirty="0"/>
              <a:t> NAT </a:t>
            </a:r>
            <a:r>
              <a:rPr lang="zh-CN" altLang="zh-CN" sz="3000" dirty="0"/>
              <a:t>就叫</a:t>
            </a:r>
            <a:r>
              <a:rPr lang="zh-CN" altLang="en-US" sz="3000" dirty="0"/>
              <a:t>作</a:t>
            </a:r>
            <a:r>
              <a:rPr lang="zh-CN" altLang="zh-CN" sz="3000" dirty="0">
                <a:solidFill>
                  <a:srgbClr val="FF0000"/>
                </a:solidFill>
              </a:rPr>
              <a:t>传统的</a:t>
            </a:r>
            <a:r>
              <a:rPr lang="en-US" altLang="zh-CN" sz="3000" dirty="0">
                <a:solidFill>
                  <a:srgbClr val="FF0000"/>
                </a:solidFill>
              </a:rPr>
              <a:t> NAT </a:t>
            </a:r>
            <a:r>
              <a:rPr lang="en-US" altLang="zh-CN" sz="3000" dirty="0"/>
              <a:t>(traditional NAT)</a:t>
            </a:r>
            <a:r>
              <a:rPr lang="zh-CN" altLang="zh-CN" sz="3000" dirty="0"/>
              <a:t>。</a:t>
            </a:r>
            <a:endParaRPr lang="zh-CN" altLang="en-US" sz="30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NAPT </a:t>
            </a:r>
            <a:r>
              <a:rPr lang="zh-CN" altLang="zh-CN" dirty="0"/>
              <a:t>地址转换表</a:t>
            </a:r>
            <a:endParaRPr lang="zh-CN" altLang="en-US" dirty="0"/>
          </a:p>
        </p:txBody>
      </p:sp>
      <p:graphicFrame>
        <p:nvGraphicFramePr>
          <p:cNvPr id="4" name="内容占位符 3"/>
          <p:cNvGraphicFramePr>
            <a:graphicFrameLocks noGrp="1"/>
          </p:cNvGraphicFramePr>
          <p:nvPr>
            <p:ph idx="1"/>
          </p:nvPr>
        </p:nvGraphicFramePr>
        <p:xfrm>
          <a:off x="560512" y="1700808"/>
          <a:ext cx="9145016" cy="2520280"/>
        </p:xfrm>
        <a:graphic>
          <a:graphicData uri="http://schemas.openxmlformats.org/drawingml/2006/table">
            <a:tbl>
              <a:tblPr firstRow="1" firstCol="1" lastRow="1" lastCol="1" bandRow="1" bandCol="1">
                <a:tableStyleId>{5C22544A-7EE6-4342-B048-85BDC9FD1C3A}</a:tableStyleId>
              </a:tblPr>
              <a:tblGrid>
                <a:gridCol w="792088">
                  <a:extLst>
                    <a:ext uri="{9D8B030D-6E8A-4147-A177-3AD203B41FA5}">
                      <a16:colId xmlns:a16="http://schemas.microsoft.com/office/drawing/2014/main" val="20000"/>
                    </a:ext>
                  </a:extLst>
                </a:gridCol>
                <a:gridCol w="3106629">
                  <a:extLst>
                    <a:ext uri="{9D8B030D-6E8A-4147-A177-3AD203B41FA5}">
                      <a16:colId xmlns:a16="http://schemas.microsoft.com/office/drawing/2014/main" val="20001"/>
                    </a:ext>
                  </a:extLst>
                </a:gridCol>
                <a:gridCol w="2520580">
                  <a:extLst>
                    <a:ext uri="{9D8B030D-6E8A-4147-A177-3AD203B41FA5}">
                      <a16:colId xmlns:a16="http://schemas.microsoft.com/office/drawing/2014/main" val="20002"/>
                    </a:ext>
                  </a:extLst>
                </a:gridCol>
                <a:gridCol w="2725719">
                  <a:extLst>
                    <a:ext uri="{9D8B030D-6E8A-4147-A177-3AD203B41FA5}">
                      <a16:colId xmlns:a16="http://schemas.microsoft.com/office/drawing/2014/main" val="20003"/>
                    </a:ext>
                  </a:extLst>
                </a:gridCol>
              </a:tblGrid>
              <a:tr h="504056">
                <a:tc>
                  <a:txBody>
                    <a:bodyPr/>
                    <a:lstStyle/>
                    <a:p>
                      <a:pPr algn="ctr">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方向</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a:solidFill>
                            <a:schemeClr val="tx1"/>
                          </a:solidFill>
                          <a:effectLst/>
                          <a:latin typeface="+mn-lt"/>
                          <a:ea typeface="黑体" panose="02010609060101010101" pitchFamily="2" charset="-122"/>
                        </a:rPr>
                        <a:t>旧的</a:t>
                      </a:r>
                      <a:r>
                        <a:rPr lang="en-US" sz="2000" b="1">
                          <a:solidFill>
                            <a:schemeClr val="tx1"/>
                          </a:solidFill>
                          <a:effectLst/>
                          <a:latin typeface="+mn-lt"/>
                          <a:ea typeface="黑体" panose="02010609060101010101" pitchFamily="2" charset="-122"/>
                        </a:rPr>
                        <a:t>IP</a:t>
                      </a:r>
                      <a:r>
                        <a:rPr lang="zh-CN" sz="2000" b="1">
                          <a:solidFill>
                            <a:schemeClr val="tx1"/>
                          </a:solidFill>
                          <a:effectLst/>
                          <a:latin typeface="+mn-lt"/>
                          <a:ea typeface="黑体" panose="02010609060101010101" pitchFamily="2"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新的</a:t>
                      </a:r>
                      <a:r>
                        <a:rPr lang="en-US" sz="2000" b="1" dirty="0">
                          <a:solidFill>
                            <a:schemeClr val="tx1"/>
                          </a:solidFill>
                          <a:effectLst/>
                          <a:latin typeface="+mn-lt"/>
                          <a:ea typeface="黑体" panose="02010609060101010101" pitchFamily="2" charset="-122"/>
                        </a:rPr>
                        <a:t>IP</a:t>
                      </a:r>
                      <a:r>
                        <a:rPr lang="zh-CN" sz="2000" b="1" dirty="0">
                          <a:solidFill>
                            <a:schemeClr val="tx1"/>
                          </a:solidFill>
                          <a:effectLst/>
                          <a:latin typeface="+mn-lt"/>
                          <a:ea typeface="黑体" panose="02010609060101010101" pitchFamily="2" charset="-122"/>
                        </a:rPr>
                        <a:t>地址和端口号</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anose="02010609060101010101"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源</a:t>
                      </a:r>
                      <a:r>
                        <a:rPr lang="en-US" sz="2000" b="1" dirty="0">
                          <a:solidFill>
                            <a:schemeClr val="tx1"/>
                          </a:solidFill>
                          <a:effectLst/>
                          <a:latin typeface="+mn-lt"/>
                          <a:ea typeface="黑体" panose="02010609060101010101" pitchFamily="2" charset="-122"/>
                        </a:rPr>
                        <a:t>IP</a:t>
                      </a:r>
                      <a:r>
                        <a:rPr lang="zh-CN" sz="2000" b="1" dirty="0">
                          <a:solidFill>
                            <a:schemeClr val="tx1"/>
                          </a:solidFill>
                          <a:effectLst/>
                          <a:latin typeface="+mn-lt"/>
                          <a:ea typeface="黑体" panose="02010609060101010101" pitchFamily="2" charset="-122"/>
                        </a:rPr>
                        <a:t>地址</a:t>
                      </a:r>
                      <a:r>
                        <a:rPr lang="en-US" sz="2000" b="1" dirty="0">
                          <a:solidFill>
                            <a:schemeClr val="tx1"/>
                          </a:solidFill>
                          <a:effectLst/>
                          <a:latin typeface="+mn-lt"/>
                          <a:ea typeface="黑体" panose="02010609060101010101" pitchFamily="2" charset="-122"/>
                        </a:rPr>
                        <a:t>:TCP</a:t>
                      </a:r>
                      <a:r>
                        <a:rPr lang="zh-CN" sz="2000" b="1" dirty="0">
                          <a:solidFill>
                            <a:schemeClr val="tx1"/>
                          </a:solidFill>
                          <a:effectLst/>
                          <a:latin typeface="+mn-lt"/>
                          <a:ea typeface="黑体" panose="02010609060101010101" pitchFamily="2"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anose="02010609060101010101" pitchFamily="2" charset="-122"/>
                        </a:rPr>
                        <a:t>192.168.0.3:30000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anose="02010609060101010101" pitchFamily="2" charset="-122"/>
                        </a:rPr>
                        <a:t>172.38.1.5:40001</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anose="02010609060101010101"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a:solidFill>
                            <a:schemeClr val="tx1"/>
                          </a:solidFill>
                          <a:effectLst/>
                          <a:latin typeface="+mn-lt"/>
                          <a:ea typeface="黑体" panose="02010609060101010101" pitchFamily="2" charset="-122"/>
                        </a:rPr>
                        <a:t>源</a:t>
                      </a:r>
                      <a:r>
                        <a:rPr lang="en-US" sz="2000" b="1">
                          <a:solidFill>
                            <a:schemeClr val="tx1"/>
                          </a:solidFill>
                          <a:effectLst/>
                          <a:latin typeface="+mn-lt"/>
                          <a:ea typeface="黑体" panose="02010609060101010101" pitchFamily="2" charset="-122"/>
                        </a:rPr>
                        <a:t>IP</a:t>
                      </a:r>
                      <a:r>
                        <a:rPr lang="zh-CN" sz="2000" b="1">
                          <a:solidFill>
                            <a:schemeClr val="tx1"/>
                          </a:solidFill>
                          <a:effectLst/>
                          <a:latin typeface="+mn-lt"/>
                          <a:ea typeface="黑体" panose="02010609060101010101" pitchFamily="2" charset="-122"/>
                        </a:rPr>
                        <a:t>地址</a:t>
                      </a:r>
                      <a:r>
                        <a:rPr lang="en-US" sz="2000" b="1">
                          <a:solidFill>
                            <a:schemeClr val="tx1"/>
                          </a:solidFill>
                          <a:effectLst/>
                          <a:latin typeface="+mn-lt"/>
                          <a:ea typeface="黑体" panose="02010609060101010101" pitchFamily="2" charset="-122"/>
                        </a:rPr>
                        <a:t>:TCP</a:t>
                      </a:r>
                      <a:r>
                        <a:rPr lang="zh-CN" sz="2000" b="1">
                          <a:solidFill>
                            <a:schemeClr val="tx1"/>
                          </a:solidFill>
                          <a:effectLst/>
                          <a:latin typeface="+mn-lt"/>
                          <a:ea typeface="黑体" panose="02010609060101010101" pitchFamily="2"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anose="02010609060101010101" pitchFamily="2" charset="-122"/>
                        </a:rPr>
                        <a:t>192.168.0.4:30000</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anose="02010609060101010101" pitchFamily="2" charset="-122"/>
                        </a:rPr>
                        <a:t>172.38.1.5:40002</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anose="02010609060101010101"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目的</a:t>
                      </a:r>
                      <a:r>
                        <a:rPr lang="en-US" sz="2000" b="1" dirty="0">
                          <a:solidFill>
                            <a:schemeClr val="tx1"/>
                          </a:solidFill>
                          <a:effectLst/>
                          <a:latin typeface="+mn-lt"/>
                          <a:ea typeface="黑体" panose="02010609060101010101" pitchFamily="2" charset="-122"/>
                        </a:rPr>
                        <a:t>IP</a:t>
                      </a:r>
                      <a:r>
                        <a:rPr lang="zh-CN" sz="2000" b="1" dirty="0">
                          <a:solidFill>
                            <a:schemeClr val="tx1"/>
                          </a:solidFill>
                          <a:effectLst/>
                          <a:latin typeface="+mn-lt"/>
                          <a:ea typeface="黑体" panose="02010609060101010101" pitchFamily="2" charset="-122"/>
                        </a:rPr>
                        <a:t>地址</a:t>
                      </a:r>
                      <a:r>
                        <a:rPr lang="en-US" sz="2000" b="1" dirty="0">
                          <a:solidFill>
                            <a:schemeClr val="tx1"/>
                          </a:solidFill>
                          <a:effectLst/>
                          <a:latin typeface="+mn-lt"/>
                          <a:ea typeface="黑体" panose="02010609060101010101" pitchFamily="2" charset="-122"/>
                        </a:rPr>
                        <a:t>:TCP</a:t>
                      </a:r>
                      <a:r>
                        <a:rPr lang="zh-CN" sz="2000" b="1" dirty="0">
                          <a:solidFill>
                            <a:schemeClr val="tx1"/>
                          </a:solidFill>
                          <a:effectLst/>
                          <a:latin typeface="+mn-lt"/>
                          <a:ea typeface="黑体" panose="02010609060101010101" pitchFamily="2"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anose="02010609060101010101" pitchFamily="2" charset="-122"/>
                        </a:rPr>
                        <a:t>172.38.1.5:40001</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anose="02010609060101010101" pitchFamily="2" charset="-122"/>
                        </a:rPr>
                        <a:t>192.168.0.3:30000</a:t>
                      </a:r>
                      <a:endParaRPr lang="zh-CN" sz="2000" b="1">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04056">
                <a:tc>
                  <a:txBody>
                    <a:bodyPr/>
                    <a:lstStyle/>
                    <a:p>
                      <a:pPr algn="ctr">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anose="02010609060101010101" pitchFamily="2" charset="-122"/>
                        </a:rPr>
                        <a:t>目的</a:t>
                      </a:r>
                      <a:r>
                        <a:rPr lang="en-US" sz="2000" b="1" dirty="0">
                          <a:solidFill>
                            <a:schemeClr val="tx1"/>
                          </a:solidFill>
                          <a:effectLst/>
                          <a:latin typeface="+mn-lt"/>
                          <a:ea typeface="黑体" panose="02010609060101010101" pitchFamily="2" charset="-122"/>
                        </a:rPr>
                        <a:t>IP</a:t>
                      </a:r>
                      <a:r>
                        <a:rPr lang="zh-CN" sz="2000" b="1" dirty="0">
                          <a:solidFill>
                            <a:schemeClr val="tx1"/>
                          </a:solidFill>
                          <a:effectLst/>
                          <a:latin typeface="+mn-lt"/>
                          <a:ea typeface="黑体" panose="02010609060101010101" pitchFamily="2" charset="-122"/>
                        </a:rPr>
                        <a:t>地址</a:t>
                      </a:r>
                      <a:r>
                        <a:rPr lang="en-US" sz="2000" b="1" dirty="0">
                          <a:solidFill>
                            <a:schemeClr val="tx1"/>
                          </a:solidFill>
                          <a:effectLst/>
                          <a:latin typeface="+mn-lt"/>
                          <a:ea typeface="黑体" panose="02010609060101010101" pitchFamily="2" charset="-122"/>
                        </a:rPr>
                        <a:t>:TCP</a:t>
                      </a:r>
                      <a:r>
                        <a:rPr lang="zh-CN" sz="2000" b="1" dirty="0">
                          <a:solidFill>
                            <a:schemeClr val="tx1"/>
                          </a:solidFill>
                          <a:effectLst/>
                          <a:latin typeface="+mn-lt"/>
                          <a:ea typeface="黑体" panose="02010609060101010101" pitchFamily="2"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anose="02010609060101010101" pitchFamily="2" charset="-122"/>
                        </a:rPr>
                        <a:t>172.38.1.5:40002</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anose="02010609060101010101" pitchFamily="2" charset="-122"/>
                        </a:rPr>
                        <a:t>192.168.0.4:30000</a:t>
                      </a:r>
                      <a:endParaRPr lang="zh-CN" sz="2000" b="1" dirty="0">
                        <a:solidFill>
                          <a:schemeClr val="tx1"/>
                        </a:solidFill>
                        <a:effectLst/>
                        <a:latin typeface="+mn-lt"/>
                        <a:ea typeface="黑体" panose="02010609060101010101"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5" name="矩形 4"/>
          <p:cNvSpPr/>
          <p:nvPr/>
        </p:nvSpPr>
        <p:spPr>
          <a:xfrm>
            <a:off x="2936776" y="1196752"/>
            <a:ext cx="4248472" cy="461665"/>
          </a:xfrm>
          <a:prstGeom prst="rect">
            <a:avLst/>
          </a:prstGeom>
        </p:spPr>
        <p:txBody>
          <a:bodyPr wrap="square">
            <a:spAutoFit/>
          </a:bodyPr>
          <a:lstStyle/>
          <a:p>
            <a:pPr algn="ctr"/>
            <a:r>
              <a:rPr lang="en-US" altLang="zh-CN" sz="2400" b="1" dirty="0">
                <a:latin typeface="+mn-lt"/>
                <a:ea typeface="黑体" panose="02010609060101010101" pitchFamily="2" charset="-122"/>
              </a:rPr>
              <a:t>NAPT </a:t>
            </a:r>
            <a:r>
              <a:rPr lang="zh-CN" altLang="zh-CN" sz="2400" b="1" dirty="0">
                <a:latin typeface="+mn-lt"/>
                <a:ea typeface="黑体" panose="02010609060101010101" pitchFamily="2" charset="-122"/>
              </a:rPr>
              <a:t>地址转换表举例</a:t>
            </a:r>
            <a:endParaRPr lang="zh-CN" altLang="en-US" sz="2400" b="1" dirty="0">
              <a:latin typeface="+mn-lt"/>
              <a:ea typeface="黑体" panose="02010609060101010101" pitchFamily="2" charset="-122"/>
            </a:endParaRPr>
          </a:p>
        </p:txBody>
      </p:sp>
      <p:sp>
        <p:nvSpPr>
          <p:cNvPr id="6" name="矩形 5"/>
          <p:cNvSpPr/>
          <p:nvPr/>
        </p:nvSpPr>
        <p:spPr>
          <a:xfrm>
            <a:off x="488504" y="4437112"/>
            <a:ext cx="9289032" cy="1938992"/>
          </a:xfrm>
          <a:prstGeom prst="rect">
            <a:avLst/>
          </a:prstGeom>
          <a:solidFill>
            <a:srgbClr val="66FF66"/>
          </a:solidFill>
          <a:ln>
            <a:solidFill>
              <a:srgbClr val="000066"/>
            </a:solidFill>
          </a:ln>
        </p:spPr>
        <p:txBody>
          <a:bodyPr wrap="square">
            <a:spAutoFit/>
          </a:bodyPr>
          <a:lstStyle/>
          <a:p>
            <a:r>
              <a:rPr lang="en-US" altLang="zh-CN" sz="2400" b="1" dirty="0">
                <a:solidFill>
                  <a:srgbClr val="C00000"/>
                </a:solidFill>
                <a:latin typeface="+mn-lt"/>
                <a:ea typeface="黑体" panose="02010609060101010101" pitchFamily="2" charset="-122"/>
              </a:rPr>
              <a:t>NAPT</a:t>
            </a:r>
            <a:r>
              <a:rPr lang="zh-CN" altLang="zh-CN" sz="2400" b="1" dirty="0">
                <a:solidFill>
                  <a:srgbClr val="C00000"/>
                </a:solidFill>
                <a:latin typeface="+mn-lt"/>
                <a:ea typeface="黑体" panose="02010609060101010101" pitchFamily="2" charset="-122"/>
              </a:rPr>
              <a:t>把专用网内不同的源</a:t>
            </a:r>
            <a:r>
              <a:rPr lang="en-US" altLang="zh-CN" sz="2400" b="1" dirty="0">
                <a:solidFill>
                  <a:srgbClr val="C00000"/>
                </a:solidFill>
                <a:latin typeface="+mn-lt"/>
                <a:ea typeface="黑体" panose="02010609060101010101" pitchFamily="2" charset="-122"/>
              </a:rPr>
              <a:t> IP </a:t>
            </a:r>
            <a:r>
              <a:rPr lang="zh-CN" altLang="zh-CN" sz="2400" b="1" dirty="0">
                <a:solidFill>
                  <a:srgbClr val="C00000"/>
                </a:solidFill>
                <a:latin typeface="+mn-lt"/>
                <a:ea typeface="黑体" panose="02010609060101010101" pitchFamily="2" charset="-122"/>
              </a:rPr>
              <a:t>地址，都转换为同样的全球</a:t>
            </a:r>
            <a:r>
              <a:rPr lang="en-US" altLang="zh-CN" sz="2400" b="1" dirty="0">
                <a:solidFill>
                  <a:srgbClr val="C00000"/>
                </a:solidFill>
                <a:latin typeface="+mn-lt"/>
                <a:ea typeface="黑体" panose="02010609060101010101" pitchFamily="2" charset="-122"/>
              </a:rPr>
              <a:t> IP </a:t>
            </a:r>
            <a:r>
              <a:rPr lang="zh-CN" altLang="zh-CN" sz="2400" b="1" dirty="0">
                <a:solidFill>
                  <a:srgbClr val="C00000"/>
                </a:solidFill>
                <a:latin typeface="+mn-lt"/>
                <a:ea typeface="黑体" panose="02010609060101010101" pitchFamily="2" charset="-122"/>
              </a:rPr>
              <a:t>地址。</a:t>
            </a:r>
            <a:r>
              <a:rPr lang="zh-CN" altLang="zh-CN" sz="2400" b="1" dirty="0">
                <a:solidFill>
                  <a:srgbClr val="000066"/>
                </a:solidFill>
                <a:latin typeface="+mn-lt"/>
                <a:ea typeface="黑体" panose="02010609060101010101" pitchFamily="2" charset="-122"/>
              </a:rPr>
              <a:t>但对源主机所采用的</a:t>
            </a:r>
            <a:r>
              <a:rPr lang="en-US" altLang="zh-CN" sz="2400" b="1" dirty="0">
                <a:solidFill>
                  <a:srgbClr val="000066"/>
                </a:solidFill>
                <a:latin typeface="+mn-lt"/>
                <a:ea typeface="黑体" panose="02010609060101010101" pitchFamily="2" charset="-122"/>
              </a:rPr>
              <a:t> TCP </a:t>
            </a:r>
            <a:r>
              <a:rPr lang="zh-CN" altLang="zh-CN" sz="2400" b="1" dirty="0">
                <a:solidFill>
                  <a:srgbClr val="000066"/>
                </a:solidFill>
                <a:latin typeface="+mn-lt"/>
                <a:ea typeface="黑体" panose="02010609060101010101" pitchFamily="2" charset="-122"/>
              </a:rPr>
              <a:t>端口号（不管相同或不同），则转换为不同的新的端口号。因此，当</a:t>
            </a:r>
            <a:r>
              <a:rPr lang="en-US" altLang="zh-CN" sz="2400" b="1" dirty="0">
                <a:solidFill>
                  <a:srgbClr val="000066"/>
                </a:solidFill>
                <a:latin typeface="+mn-lt"/>
                <a:ea typeface="黑体" panose="02010609060101010101" pitchFamily="2" charset="-122"/>
              </a:rPr>
              <a:t> NAPT </a:t>
            </a:r>
            <a:r>
              <a:rPr lang="zh-CN" altLang="zh-CN" sz="2400" b="1" dirty="0">
                <a:solidFill>
                  <a:srgbClr val="000066"/>
                </a:solidFill>
                <a:latin typeface="+mn-lt"/>
                <a:ea typeface="黑体" panose="02010609060101010101" pitchFamily="2" charset="-122"/>
              </a:rPr>
              <a:t>路由器收到从互联网发来的应答时，就可以从</a:t>
            </a:r>
            <a:r>
              <a:rPr lang="en-US" altLang="zh-CN" sz="2400" b="1" dirty="0">
                <a:solidFill>
                  <a:srgbClr val="000066"/>
                </a:solidFill>
                <a:latin typeface="+mn-lt"/>
                <a:ea typeface="黑体" panose="02010609060101010101" pitchFamily="2" charset="-122"/>
              </a:rPr>
              <a:t> IP </a:t>
            </a:r>
            <a:r>
              <a:rPr lang="zh-CN" altLang="zh-CN" sz="2400" b="1" dirty="0">
                <a:solidFill>
                  <a:srgbClr val="000066"/>
                </a:solidFill>
                <a:latin typeface="+mn-lt"/>
                <a:ea typeface="黑体" panose="02010609060101010101" pitchFamily="2" charset="-122"/>
              </a:rPr>
              <a:t>数据报的数据部分找出运输层的端口号，然后根据不同的目的端口号，从</a:t>
            </a:r>
            <a:r>
              <a:rPr lang="en-US" altLang="zh-CN" sz="2400" b="1" dirty="0">
                <a:solidFill>
                  <a:srgbClr val="000066"/>
                </a:solidFill>
                <a:latin typeface="+mn-lt"/>
                <a:ea typeface="黑体" panose="02010609060101010101" pitchFamily="2" charset="-122"/>
              </a:rPr>
              <a:t> NAPT </a:t>
            </a:r>
            <a:r>
              <a:rPr lang="zh-CN" altLang="zh-CN" sz="2400" b="1" dirty="0">
                <a:solidFill>
                  <a:srgbClr val="000066"/>
                </a:solidFill>
                <a:latin typeface="+mn-lt"/>
                <a:ea typeface="黑体" panose="02010609060101010101" pitchFamily="2" charset="-122"/>
              </a:rPr>
              <a:t>转换表中找到正确的目的主机。</a:t>
            </a:r>
            <a:endParaRPr lang="zh-CN" altLang="en-US" sz="2400" b="1" dirty="0">
              <a:solidFill>
                <a:srgbClr val="000066"/>
              </a:solidFill>
              <a:latin typeface="+mn-lt"/>
              <a:ea typeface="黑体" panose="02010609060101010101" pitchFamily="2" charset="-122"/>
            </a:endParaRPr>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561340" y="2343150"/>
            <a:ext cx="8435975" cy="1198880"/>
          </a:xfrm>
          <a:prstGeom prst="rect">
            <a:avLst/>
          </a:prstGeom>
          <a:noFill/>
          <a:ln w="9525">
            <a:noFill/>
          </a:ln>
        </p:spPr>
        <p:txBody>
          <a:bodyPr wrap="square">
            <a:spAutoFit/>
          </a:bodyPr>
          <a:lstStyle/>
          <a:p>
            <a:pPr marL="0" indent="0"/>
            <a:r>
              <a:rPr lang="en-US" altLang="zh-CN" sz="2400" b="0">
                <a:latin typeface="Times New Roman" panose="02020603050405020304" pitchFamily="18" charset="0"/>
                <a:ea typeface="宋体" panose="02010600030101010101" pitchFamily="2" charset="-122"/>
              </a:rPr>
              <a:t>2. </a:t>
            </a:r>
            <a:r>
              <a:rPr lang="zh-CN" sz="2400" b="0">
                <a:latin typeface="Times New Roman" panose="02020603050405020304" pitchFamily="18" charset="0"/>
                <a:ea typeface="宋体" panose="02010600030101010101" pitchFamily="2" charset="-122"/>
              </a:rPr>
              <a:t>某网络的IP地址为192.168.5.0/24采用定长子网划分，子网掩码为255.255.255.248，则每个子网内最大可分配给主机的地址个数为  (</a:t>
            </a:r>
            <a:r>
              <a:rPr lang="en-US" altLang="zh-CN" sz="2400" b="0">
                <a:latin typeface="Times New Roman" panose="02020603050405020304" pitchFamily="18" charset="0"/>
                <a:ea typeface="宋体" panose="02010600030101010101" pitchFamily="2" charset="-122"/>
              </a:rPr>
              <a:t> </a:t>
            </a:r>
            <a:r>
              <a:rPr lang="zh-CN" sz="2400" b="0">
                <a:latin typeface="Times New Roman" panose="02020603050405020304" pitchFamily="18" charset="0"/>
                <a:ea typeface="宋体" panose="02010600030101010101" pitchFamily="2" charset="-122"/>
              </a:rPr>
              <a:t>)  。</a:t>
            </a:r>
            <a:endParaRPr lang="zh-CN" sz="2400">
              <a:latin typeface="Times New Roman" panose="02020603050405020304" pitchFamily="18" charset="0"/>
              <a:ea typeface="宋体" panose="02010600030101010101" pitchFamily="2" charset="-122"/>
            </a:endParaRPr>
          </a:p>
        </p:txBody>
      </p:sp>
      <p:sp>
        <p:nvSpPr>
          <p:cNvPr id="7" name="文本框 6"/>
          <p:cNvSpPr txBox="1"/>
          <p:nvPr/>
        </p:nvSpPr>
        <p:spPr>
          <a:xfrm>
            <a:off x="633095" y="45720"/>
            <a:ext cx="8477885" cy="1938020"/>
          </a:xfrm>
          <a:prstGeom prst="rect">
            <a:avLst/>
          </a:prstGeom>
          <a:noFill/>
          <a:ln w="9525">
            <a:noFill/>
          </a:ln>
        </p:spPr>
        <p:txBody>
          <a:bodyPr wrap="square">
            <a:spAutoFit/>
          </a:bodyPr>
          <a:lstStyle/>
          <a:p>
            <a:pPr marL="0" indent="0"/>
            <a:r>
              <a:rPr lang="en-US" altLang="zh-CN" sz="2400" b="0">
                <a:latin typeface="Times New Roman" panose="02020603050405020304" pitchFamily="18" charset="0"/>
                <a:ea typeface="宋体" panose="02010600030101010101" pitchFamily="2" charset="-122"/>
              </a:rPr>
              <a:t>1. </a:t>
            </a:r>
            <a:r>
              <a:rPr lang="zh-CN" sz="2400" b="0">
                <a:latin typeface="Times New Roman" panose="02020603050405020304" pitchFamily="18" charset="0"/>
                <a:ea typeface="宋体" panose="02010600030101010101" pitchFamily="2" charset="-122"/>
              </a:rPr>
              <a:t>对</a:t>
            </a:r>
            <a:r>
              <a:rPr lang="en-US" sz="2400" b="0">
                <a:latin typeface="Times New Roman" panose="02020603050405020304" pitchFamily="18" charset="0"/>
                <a:ea typeface="宋体" panose="02010600030101010101" pitchFamily="2" charset="-122"/>
              </a:rPr>
              <a:t>Internet</a:t>
            </a:r>
            <a:r>
              <a:rPr lang="zh-CN" sz="2400" b="0">
                <a:latin typeface="Times New Roman" panose="02020603050405020304" pitchFamily="18" charset="0"/>
                <a:ea typeface="宋体" panose="02010600030101010101" pitchFamily="2" charset="-122"/>
              </a:rPr>
              <a:t>的访问过程中，每台主机都需要分配</a:t>
            </a:r>
            <a:r>
              <a:rPr lang="en-US" sz="2400" b="0">
                <a:latin typeface="Times New Roman" panose="02020603050405020304" pitchFamily="18" charset="0"/>
                <a:ea typeface="宋体" panose="02010600030101010101" pitchFamily="2" charset="-122"/>
              </a:rPr>
              <a:t>IP</a:t>
            </a:r>
            <a:r>
              <a:rPr lang="zh-CN" sz="2400" b="0">
                <a:latin typeface="Times New Roman" panose="02020603050405020304" pitchFamily="18" charset="0"/>
                <a:ea typeface="宋体" panose="02010600030101010101" pitchFamily="2" charset="-122"/>
              </a:rPr>
              <a:t>地址（假定采用有类的缺省子网掩码），以下哪个</a:t>
            </a:r>
            <a:r>
              <a:rPr lang="en-US" sz="2400" b="0">
                <a:latin typeface="Times New Roman" panose="02020603050405020304" pitchFamily="18" charset="0"/>
                <a:ea typeface="宋体" panose="02010600030101010101" pitchFamily="2" charset="-122"/>
              </a:rPr>
              <a:t>IP</a:t>
            </a:r>
            <a:r>
              <a:rPr lang="zh-CN" sz="2400" b="0">
                <a:latin typeface="Times New Roman" panose="02020603050405020304" pitchFamily="18" charset="0"/>
                <a:ea typeface="宋体" panose="02010600030101010101" pitchFamily="2" charset="-122"/>
              </a:rPr>
              <a:t>地址分配给主机是正确的：</a:t>
            </a:r>
            <a:r>
              <a:rPr lang="en-US" sz="2400" b="0">
                <a:latin typeface="Times New Roman" panose="02020603050405020304" pitchFamily="18" charset="0"/>
                <a:ea typeface="宋体" panose="02010600030101010101" pitchFamily="2" charset="-122"/>
              </a:rPr>
              <a:t>(  )</a:t>
            </a:r>
            <a:r>
              <a:rPr lang="zh-CN" sz="2400" b="0">
                <a:latin typeface="Times New Roman" panose="02020603050405020304" pitchFamily="18" charset="0"/>
                <a:ea typeface="宋体" panose="02010600030101010101" pitchFamily="2" charset="-122"/>
              </a:rPr>
              <a:t>。</a:t>
            </a:r>
            <a:endParaRPr lang="en-US" sz="2400" b="0">
              <a:latin typeface="Times New Roman" panose="02020603050405020304" pitchFamily="18" charset="0"/>
              <a:ea typeface="宋体" panose="02010600030101010101" pitchFamily="2" charset="-122"/>
            </a:endParaRPr>
          </a:p>
          <a:p>
            <a:pPr marL="0" indent="0"/>
            <a:r>
              <a:rPr lang="en-US" sz="2400" b="0">
                <a:latin typeface="Times New Roman" panose="02020603050405020304" pitchFamily="18" charset="0"/>
                <a:ea typeface="宋体" panose="02010600030101010101" pitchFamily="2" charset="-122"/>
              </a:rPr>
              <a:t>A</a:t>
            </a:r>
            <a:r>
              <a:rPr lang="zh-CN" sz="2400" b="0">
                <a:latin typeface="Times New Roman" panose="02020603050405020304" pitchFamily="18" charset="0"/>
                <a:ea typeface="宋体" panose="02010600030101010101" pitchFamily="2" charset="-122"/>
              </a:rPr>
              <a:t>、</a:t>
            </a:r>
            <a:r>
              <a:rPr lang="en-US" sz="2400" b="0">
                <a:latin typeface="Times New Roman" panose="02020603050405020304" pitchFamily="18" charset="0"/>
                <a:ea typeface="宋体" panose="02010600030101010101" pitchFamily="2" charset="-122"/>
              </a:rPr>
              <a:t>196.46.10.0</a:t>
            </a:r>
            <a:r>
              <a:rPr lang="en-US" sz="2400" b="0">
                <a:latin typeface="Times New Roman" panose="02020603050405020304" pitchFamily="18" charset="0"/>
                <a:ea typeface="宋体" panose="02010600030101010101" pitchFamily="2" charset="-122"/>
                <a:cs typeface="Times New Roman" panose="02020603050405020304" pitchFamily="18" charset="0"/>
              </a:rPr>
              <a:t>		                           </a:t>
            </a:r>
            <a:r>
              <a:rPr lang="en-US" sz="2400" b="0">
                <a:latin typeface="Times New Roman" panose="02020603050405020304" pitchFamily="18" charset="0"/>
                <a:ea typeface="宋体" panose="02010600030101010101" pitchFamily="2" charset="-122"/>
              </a:rPr>
              <a:t>B</a:t>
            </a:r>
            <a:r>
              <a:rPr lang="zh-CN" sz="2400" b="0">
                <a:latin typeface="Times New Roman" panose="02020603050405020304" pitchFamily="18" charset="0"/>
                <a:ea typeface="宋体" panose="02010600030101010101" pitchFamily="2" charset="-122"/>
              </a:rPr>
              <a:t>、</a:t>
            </a:r>
            <a:r>
              <a:rPr lang="en-US" sz="2400" b="0">
                <a:latin typeface="Times New Roman" panose="02020603050405020304" pitchFamily="18" charset="0"/>
                <a:ea typeface="宋体" panose="02010600030101010101" pitchFamily="2" charset="-122"/>
              </a:rPr>
              <a:t>109.47.13.0</a:t>
            </a:r>
          </a:p>
          <a:p>
            <a:pPr marL="0" indent="0"/>
            <a:r>
              <a:rPr lang="en-US" sz="2400" b="0">
                <a:latin typeface="Times New Roman" panose="02020603050405020304" pitchFamily="18" charset="0"/>
                <a:ea typeface="宋体" panose="02010600030101010101" pitchFamily="2" charset="-122"/>
              </a:rPr>
              <a:t>C</a:t>
            </a:r>
            <a:r>
              <a:rPr lang="zh-CN" sz="2400" b="0">
                <a:latin typeface="Times New Roman" panose="02020603050405020304" pitchFamily="18" charset="0"/>
                <a:ea typeface="宋体" panose="02010600030101010101" pitchFamily="2" charset="-122"/>
              </a:rPr>
              <a:t>、</a:t>
            </a:r>
            <a:r>
              <a:rPr lang="en-US" sz="2400" b="0">
                <a:latin typeface="Times New Roman" panose="02020603050405020304" pitchFamily="18" charset="0"/>
                <a:ea typeface="宋体" panose="02010600030101010101" pitchFamily="2" charset="-122"/>
              </a:rPr>
              <a:t>192.168.25.21</a:t>
            </a:r>
            <a:r>
              <a:rPr lang="en-US" sz="2400" b="0">
                <a:latin typeface="Times New Roman" panose="02020603050405020304" pitchFamily="18" charset="0"/>
                <a:ea typeface="宋体" panose="02010600030101010101" pitchFamily="2" charset="-122"/>
                <a:cs typeface="Times New Roman" panose="02020603050405020304" pitchFamily="18" charset="0"/>
              </a:rPr>
              <a:t>		                           </a:t>
            </a:r>
            <a:r>
              <a:rPr lang="en-US" sz="2400" b="0">
                <a:latin typeface="Times New Roman" panose="02020603050405020304" pitchFamily="18" charset="0"/>
                <a:ea typeface="宋体" panose="02010600030101010101" pitchFamily="2" charset="-122"/>
              </a:rPr>
              <a:t>D</a:t>
            </a:r>
            <a:r>
              <a:rPr lang="zh-CN" sz="2400" b="0">
                <a:latin typeface="Times New Roman" panose="02020603050405020304" pitchFamily="18" charset="0"/>
                <a:ea typeface="宋体" panose="02010600030101010101" pitchFamily="2" charset="-122"/>
              </a:rPr>
              <a:t>、</a:t>
            </a:r>
            <a:r>
              <a:rPr lang="en-US" sz="2400" b="0">
                <a:latin typeface="Times New Roman" panose="02020603050405020304" pitchFamily="18" charset="0"/>
                <a:ea typeface="宋体" panose="02010600030101010101" pitchFamily="2" charset="-122"/>
              </a:rPr>
              <a:t>127.11.25.19</a:t>
            </a:r>
            <a:endParaRPr lang="en-US" altLang="en-US" sz="2400" b="0">
              <a:latin typeface="Times New Roman" panose="02020603050405020304" pitchFamily="18" charset="0"/>
              <a:ea typeface="宋体" panose="02010600030101010101" pitchFamily="2" charset="-122"/>
            </a:endParaRPr>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文本框 99"/>
          <p:cNvSpPr txBox="1"/>
          <p:nvPr/>
        </p:nvSpPr>
        <p:spPr>
          <a:xfrm>
            <a:off x="488315" y="765810"/>
            <a:ext cx="8970010" cy="1014730"/>
          </a:xfrm>
          <a:prstGeom prst="rect">
            <a:avLst/>
          </a:prstGeom>
          <a:noFill/>
          <a:ln w="9525">
            <a:noFill/>
          </a:ln>
        </p:spPr>
        <p:txBody>
          <a:bodyPr wrap="square">
            <a:spAutoFit/>
          </a:bodyPr>
          <a:lstStyle/>
          <a:p>
            <a:pPr marL="0" indent="0"/>
            <a:r>
              <a:rPr lang="en-US" sz="2000" b="0">
                <a:latin typeface="Times New Roman" panose="02020603050405020304" pitchFamily="18" charset="0"/>
                <a:ea typeface="宋体" panose="02010600030101010101" pitchFamily="2" charset="-122"/>
              </a:rPr>
              <a:t>4</a:t>
            </a:r>
            <a:r>
              <a:rPr lang="zh-CN" sz="2000" b="0">
                <a:ea typeface="宋体" panose="02010600030101010101" pitchFamily="2" charset="-122"/>
              </a:rPr>
              <a:t>、假设</a:t>
            </a:r>
            <a:r>
              <a:rPr lang="en-US" sz="2000" b="0">
                <a:latin typeface="Times New Roman" panose="02020603050405020304" pitchFamily="18" charset="0"/>
                <a:ea typeface="宋体" panose="02010600030101010101" pitchFamily="2" charset="-122"/>
              </a:rPr>
              <a:t>Internet</a:t>
            </a:r>
            <a:r>
              <a:rPr lang="zh-CN" sz="2000" b="0">
                <a:ea typeface="宋体" panose="02010600030101010101" pitchFamily="2" charset="-122"/>
              </a:rPr>
              <a:t>的两个自治系统构成的网络如图所示，自治系统</a:t>
            </a:r>
            <a:r>
              <a:rPr lang="en-US" sz="2000" b="0">
                <a:latin typeface="Times New Roman" panose="02020603050405020304" pitchFamily="18" charset="0"/>
                <a:ea typeface="宋体" panose="02010600030101010101" pitchFamily="2" charset="-122"/>
              </a:rPr>
              <a:t>AS1</a:t>
            </a:r>
            <a:r>
              <a:rPr lang="zh-CN" sz="2000" b="0">
                <a:ea typeface="宋体" panose="02010600030101010101" pitchFamily="2" charset="-122"/>
              </a:rPr>
              <a:t>由路由器</a:t>
            </a:r>
            <a:r>
              <a:rPr lang="en-US" sz="2000" b="0">
                <a:latin typeface="Times New Roman" panose="02020603050405020304" pitchFamily="18" charset="0"/>
                <a:ea typeface="宋体" panose="02010600030101010101" pitchFamily="2" charset="-122"/>
              </a:rPr>
              <a:t>R1</a:t>
            </a:r>
            <a:r>
              <a:rPr lang="zh-CN" sz="2000" b="0">
                <a:ea typeface="宋体" panose="02010600030101010101" pitchFamily="2" charset="-122"/>
              </a:rPr>
              <a:t>连接两个子网构成；自治系统</a:t>
            </a:r>
            <a:r>
              <a:rPr lang="en-US" sz="2000" b="0">
                <a:latin typeface="Times New Roman" panose="02020603050405020304" pitchFamily="18" charset="0"/>
                <a:ea typeface="宋体" panose="02010600030101010101" pitchFamily="2" charset="-122"/>
              </a:rPr>
              <a:t>AS2</a:t>
            </a:r>
            <a:r>
              <a:rPr lang="zh-CN" sz="2000" b="0">
                <a:ea typeface="宋体" panose="02010600030101010101" pitchFamily="2" charset="-122"/>
              </a:rPr>
              <a:t>由路由器</a:t>
            </a:r>
            <a:r>
              <a:rPr lang="en-US" sz="2000" b="0">
                <a:latin typeface="Times New Roman" panose="02020603050405020304" pitchFamily="18" charset="0"/>
                <a:ea typeface="宋体" panose="02010600030101010101" pitchFamily="2" charset="-122"/>
              </a:rPr>
              <a:t>R2</a:t>
            </a:r>
            <a:r>
              <a:rPr lang="zh-CN" sz="2000" b="0">
                <a:ea typeface="宋体" panose="02010600030101010101" pitchFamily="2" charset="-122"/>
              </a:rPr>
              <a:t>、</a:t>
            </a:r>
            <a:r>
              <a:rPr lang="en-US" sz="2000" b="0">
                <a:latin typeface="Times New Roman" panose="02020603050405020304" pitchFamily="18" charset="0"/>
                <a:ea typeface="宋体" panose="02010600030101010101" pitchFamily="2" charset="-122"/>
              </a:rPr>
              <a:t>R3</a:t>
            </a:r>
            <a:r>
              <a:rPr lang="zh-CN" sz="2000" b="0">
                <a:ea typeface="宋体" panose="02010600030101010101" pitchFamily="2" charset="-122"/>
              </a:rPr>
              <a:t>互联并连接</a:t>
            </a:r>
            <a:r>
              <a:rPr lang="en-US" sz="2000" b="0">
                <a:latin typeface="Times New Roman" panose="02020603050405020304" pitchFamily="18" charset="0"/>
                <a:ea typeface="宋体" panose="02010600030101010101" pitchFamily="2" charset="-122"/>
              </a:rPr>
              <a:t>3</a:t>
            </a:r>
            <a:r>
              <a:rPr lang="zh-CN" sz="2000" b="0">
                <a:ea typeface="宋体" panose="02010600030101010101" pitchFamily="2" charset="-122"/>
              </a:rPr>
              <a:t>个子网构成。各子网地址、</a:t>
            </a:r>
            <a:r>
              <a:rPr lang="en-US" sz="2000" b="0">
                <a:latin typeface="Times New Roman" panose="02020603050405020304" pitchFamily="18" charset="0"/>
                <a:ea typeface="宋体" panose="02010600030101010101" pitchFamily="2" charset="-122"/>
              </a:rPr>
              <a:t>R2</a:t>
            </a:r>
            <a:r>
              <a:rPr lang="zh-CN" sz="2000" b="0">
                <a:ea typeface="宋体" panose="02010600030101010101" pitchFamily="2" charset="-122"/>
              </a:rPr>
              <a:t>的接口名、</a:t>
            </a:r>
            <a:r>
              <a:rPr lang="en-US" sz="2000" b="0">
                <a:latin typeface="Times New Roman" panose="02020603050405020304" pitchFamily="18" charset="0"/>
                <a:ea typeface="宋体" panose="02010600030101010101" pitchFamily="2" charset="-122"/>
              </a:rPr>
              <a:t>R1</a:t>
            </a:r>
            <a:r>
              <a:rPr lang="zh-CN" sz="2000" b="0">
                <a:ea typeface="宋体" panose="02010600030101010101" pitchFamily="2" charset="-122"/>
              </a:rPr>
              <a:t>与</a:t>
            </a:r>
            <a:r>
              <a:rPr lang="en-US" sz="2000" b="0">
                <a:latin typeface="Times New Roman" panose="02020603050405020304" pitchFamily="18" charset="0"/>
                <a:ea typeface="宋体" panose="02010600030101010101" pitchFamily="2" charset="-122"/>
              </a:rPr>
              <a:t>R3</a:t>
            </a:r>
            <a:r>
              <a:rPr lang="zh-CN" sz="2000" b="0">
                <a:ea typeface="宋体" panose="02010600030101010101" pitchFamily="2" charset="-122"/>
              </a:rPr>
              <a:t>的部分接口</a:t>
            </a:r>
            <a:r>
              <a:rPr lang="en-US" sz="2000" b="0">
                <a:latin typeface="Times New Roman" panose="02020603050405020304" pitchFamily="18" charset="0"/>
                <a:ea typeface="宋体" panose="02010600030101010101" pitchFamily="2" charset="-122"/>
              </a:rPr>
              <a:t>IP</a:t>
            </a:r>
            <a:r>
              <a:rPr lang="zh-CN" sz="2000" b="0">
                <a:ea typeface="宋体" panose="02010600030101010101" pitchFamily="2" charset="-122"/>
              </a:rPr>
              <a:t>地址如图所示？</a:t>
            </a:r>
            <a:endParaRPr lang="zh-CN" altLang="en-US" sz="2000" b="0">
              <a:ea typeface="宋体" panose="02010600030101010101" pitchFamily="2" charset="-122"/>
            </a:endParaRPr>
          </a:p>
        </p:txBody>
      </p:sp>
      <p:pic>
        <p:nvPicPr>
          <p:cNvPr id="4" name="图片 2"/>
          <p:cNvPicPr>
            <a:picLocks noChangeAspect="1"/>
          </p:cNvPicPr>
          <p:nvPr/>
        </p:nvPicPr>
        <p:blipFill>
          <a:blip r:embed="rId2"/>
          <a:stretch>
            <a:fillRect/>
          </a:stretch>
        </p:blipFill>
        <p:spPr>
          <a:xfrm>
            <a:off x="191135" y="1780540"/>
            <a:ext cx="6049010" cy="3449955"/>
          </a:xfrm>
          <a:prstGeom prst="rect">
            <a:avLst/>
          </a:prstGeom>
          <a:noFill/>
          <a:ln>
            <a:noFill/>
          </a:ln>
        </p:spPr>
      </p:pic>
      <p:sp>
        <p:nvSpPr>
          <p:cNvPr id="5" name="文本框 4"/>
          <p:cNvSpPr txBox="1"/>
          <p:nvPr/>
        </p:nvSpPr>
        <p:spPr>
          <a:xfrm>
            <a:off x="416560" y="5230495"/>
            <a:ext cx="5729605" cy="922020"/>
          </a:xfrm>
          <a:prstGeom prst="rect">
            <a:avLst/>
          </a:prstGeom>
          <a:noFill/>
          <a:ln w="9525">
            <a:noFill/>
          </a:ln>
        </p:spPr>
        <p:txBody>
          <a:bodyPr wrap="square">
            <a:spAutoFit/>
          </a:bodyPr>
          <a:lstStyle/>
          <a:p>
            <a:pPr marL="0" indent="0"/>
            <a:r>
              <a:rPr lang="en-US" altLang="zh-CN" sz="1800" b="0">
                <a:latin typeface="Times New Roman" panose="02020603050405020304" pitchFamily="18" charset="0"/>
                <a:ea typeface="宋体" panose="02010600030101010101" pitchFamily="2" charset="-122"/>
              </a:rPr>
              <a:t>1. </a:t>
            </a:r>
            <a:r>
              <a:rPr lang="zh-CN" sz="1800" b="0">
                <a:latin typeface="Times New Roman" panose="02020603050405020304" pitchFamily="18" charset="0"/>
                <a:ea typeface="宋体" panose="02010600030101010101" pitchFamily="2" charset="-122"/>
              </a:rPr>
              <a:t>假设路由表结构如下表所示，请利用路由聚合技术，给出</a:t>
            </a:r>
            <a:r>
              <a:rPr lang="en-US" sz="1800" b="0">
                <a:latin typeface="Times New Roman" panose="02020603050405020304" pitchFamily="18" charset="0"/>
                <a:ea typeface="宋体" panose="02010600030101010101" pitchFamily="2" charset="-122"/>
                <a:cs typeface="Times New Roman" panose="02020603050405020304" pitchFamily="18" charset="0"/>
              </a:rPr>
              <a:t>R2</a:t>
            </a:r>
            <a:r>
              <a:rPr lang="zh-CN" sz="1800" b="0">
                <a:latin typeface="Times New Roman" panose="02020603050405020304" pitchFamily="18" charset="0"/>
                <a:ea typeface="宋体" panose="02010600030101010101" pitchFamily="2" charset="-122"/>
              </a:rPr>
              <a:t>的路由表，要求包括到达图中所有子网的路由，且路由表中的路由项尽可能少。</a:t>
            </a:r>
            <a:endParaRPr lang="zh-CN" altLang="en-US" sz="1800" b="0">
              <a:latin typeface="Times New Roman" panose="02020603050405020304" pitchFamily="18" charset="0"/>
              <a:ea typeface="宋体" panose="02010600030101010101" pitchFamily="2" charset="-122"/>
            </a:endParaRPr>
          </a:p>
        </p:txBody>
      </p:sp>
      <p:graphicFrame>
        <p:nvGraphicFramePr>
          <p:cNvPr id="6" name="表格 5"/>
          <p:cNvGraphicFramePr/>
          <p:nvPr/>
        </p:nvGraphicFramePr>
        <p:xfrm>
          <a:off x="488315" y="6309360"/>
          <a:ext cx="5308600" cy="213360"/>
        </p:xfrm>
        <a:graphic>
          <a:graphicData uri="http://schemas.openxmlformats.org/drawingml/2006/table">
            <a:tbl>
              <a:tblPr firstRow="1" bandRow="1">
                <a:tableStyleId>{5940675A-B579-460E-94D1-54222C63F5DA}</a:tableStyleId>
              </a:tblPr>
              <a:tblGrid>
                <a:gridCol w="168275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784350">
                  <a:extLst>
                    <a:ext uri="{9D8B030D-6E8A-4147-A177-3AD203B41FA5}">
                      <a16:colId xmlns:a16="http://schemas.microsoft.com/office/drawing/2014/main" val="20002"/>
                    </a:ext>
                  </a:extLst>
                </a:gridCol>
              </a:tblGrid>
              <a:tr h="213360">
                <a:tc>
                  <a:txBody>
                    <a:bodyPr/>
                    <a:lstStyle/>
                    <a:p>
                      <a:pPr indent="0" algn="ctr">
                        <a:buNone/>
                      </a:pPr>
                      <a:r>
                        <a:rPr lang="en-US" sz="1400" b="0">
                          <a:latin typeface="宋体" panose="02010600030101010101" pitchFamily="2" charset="-122"/>
                          <a:ea typeface="宋体" panose="02010600030101010101" pitchFamily="2" charset="-122"/>
                          <a:cs typeface="宋体" panose="02010600030101010101" pitchFamily="2" charset="-122"/>
                        </a:rPr>
                        <a:t>目的网络</a:t>
                      </a:r>
                      <a:endParaRPr lang="en-US" altLang="en-US" sz="14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a:lstStyle/>
                    <a:p>
                      <a:pPr indent="0" algn="ctr">
                        <a:buNone/>
                      </a:pPr>
                      <a:r>
                        <a:rPr lang="en-US" sz="1400" b="0">
                          <a:latin typeface="宋体" panose="02010600030101010101" pitchFamily="2" charset="-122"/>
                          <a:ea typeface="宋体" panose="02010600030101010101" pitchFamily="2" charset="-122"/>
                          <a:cs typeface="宋体" panose="02010600030101010101" pitchFamily="2" charset="-122"/>
                        </a:rPr>
                        <a:t>下一跳</a:t>
                      </a:r>
                      <a:endParaRPr lang="en-US" altLang="en-US" sz="14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a:lstStyle/>
                    <a:p>
                      <a:pPr indent="0" algn="ctr">
                        <a:buNone/>
                      </a:pPr>
                      <a:r>
                        <a:rPr lang="en-US" sz="1400" b="0">
                          <a:latin typeface="宋体" panose="02010600030101010101" pitchFamily="2" charset="-122"/>
                          <a:ea typeface="宋体" panose="02010600030101010101" pitchFamily="2" charset="-122"/>
                          <a:cs typeface="宋体" panose="02010600030101010101" pitchFamily="2" charset="-122"/>
                        </a:rPr>
                        <a:t>接口</a:t>
                      </a:r>
                      <a:endParaRPr lang="en-US" altLang="en-US" sz="1400" b="0">
                        <a:latin typeface="宋体" panose="02010600030101010101" pitchFamily="2" charset="-122"/>
                        <a:ea typeface="宋体" panose="02010600030101010101" pitchFamily="2" charset="-122"/>
                        <a:cs typeface="宋体" panose="02010600030101010101" pitchFamily="2" charset="-122"/>
                      </a:endParaRPr>
                    </a:p>
                  </a:txBody>
                  <a:tcPr marL="68580" marR="68580" marT="0" marB="0">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文本框 6"/>
          <p:cNvSpPr txBox="1"/>
          <p:nvPr/>
        </p:nvSpPr>
        <p:spPr>
          <a:xfrm>
            <a:off x="6464935" y="2348865"/>
            <a:ext cx="3209290" cy="1322070"/>
          </a:xfrm>
          <a:prstGeom prst="rect">
            <a:avLst/>
          </a:prstGeom>
          <a:noFill/>
          <a:ln w="9525">
            <a:noFill/>
          </a:ln>
        </p:spPr>
        <p:txBody>
          <a:bodyPr wrap="square">
            <a:spAutoFit/>
          </a:bodyPr>
          <a:lstStyle/>
          <a:p>
            <a:pPr marL="0" indent="0"/>
            <a:r>
              <a:rPr lang="en-US" altLang="zh-CN" sz="2000" b="0">
                <a:latin typeface="Times New Roman" panose="02020603050405020304" pitchFamily="18" charset="0"/>
                <a:ea typeface="宋体" panose="02010600030101010101" pitchFamily="2" charset="-122"/>
              </a:rPr>
              <a:t>2. </a:t>
            </a:r>
            <a:r>
              <a:rPr lang="zh-CN" sz="2000" b="0">
                <a:latin typeface="Times New Roman" panose="02020603050405020304" pitchFamily="18" charset="0"/>
                <a:ea typeface="宋体" panose="02010600030101010101" pitchFamily="2" charset="-122"/>
              </a:rPr>
              <a:t>若</a:t>
            </a:r>
            <a:r>
              <a:rPr lang="en-US" sz="2000" b="0">
                <a:latin typeface="Times New Roman" panose="02020603050405020304" pitchFamily="18" charset="0"/>
                <a:ea typeface="宋体" panose="02010600030101010101" pitchFamily="2" charset="-122"/>
                <a:cs typeface="Times New Roman" panose="02020603050405020304" pitchFamily="18" charset="0"/>
              </a:rPr>
              <a:t>R2</a:t>
            </a:r>
            <a:r>
              <a:rPr lang="zh-CN" sz="2000" b="0">
                <a:latin typeface="Times New Roman" panose="02020603050405020304" pitchFamily="18" charset="0"/>
                <a:ea typeface="宋体" panose="02010600030101010101" pitchFamily="2" charset="-122"/>
              </a:rPr>
              <a:t>收到一个目的地址为</a:t>
            </a:r>
            <a:r>
              <a:rPr lang="en-US" sz="2000" b="0">
                <a:latin typeface="Times New Roman" panose="02020603050405020304" pitchFamily="18" charset="0"/>
                <a:ea typeface="宋体" panose="02010600030101010101" pitchFamily="2" charset="-122"/>
              </a:rPr>
              <a:t>194.17.20.200</a:t>
            </a:r>
            <a:r>
              <a:rPr lang="zh-CN" sz="2000" b="0">
                <a:latin typeface="Times New Roman" panose="02020603050405020304" pitchFamily="18" charset="0"/>
                <a:ea typeface="宋体" panose="02010600030101010101" pitchFamily="2" charset="-122"/>
              </a:rPr>
              <a:t>的</a:t>
            </a:r>
            <a:r>
              <a:rPr lang="en-US" sz="2000" b="0">
                <a:latin typeface="Times New Roman" panose="02020603050405020304" pitchFamily="18" charset="0"/>
                <a:ea typeface="宋体" panose="02010600030101010101" pitchFamily="2" charset="-122"/>
              </a:rPr>
              <a:t>IP</a:t>
            </a:r>
            <a:r>
              <a:rPr lang="zh-CN" sz="2000" b="0">
                <a:latin typeface="Times New Roman" panose="02020603050405020304" pitchFamily="18" charset="0"/>
                <a:ea typeface="宋体" panose="02010600030101010101" pitchFamily="2" charset="-122"/>
              </a:rPr>
              <a:t>分组，</a:t>
            </a:r>
            <a:r>
              <a:rPr lang="en-US" sz="2000" b="0">
                <a:latin typeface="Times New Roman" panose="02020603050405020304" pitchFamily="18" charset="0"/>
                <a:ea typeface="宋体" panose="02010600030101010101" pitchFamily="2" charset="-122"/>
              </a:rPr>
              <a:t>R2</a:t>
            </a:r>
            <a:r>
              <a:rPr lang="zh-CN" sz="2000" b="0">
                <a:latin typeface="Times New Roman" panose="02020603050405020304" pitchFamily="18" charset="0"/>
                <a:ea typeface="宋体" panose="02010600030101010101" pitchFamily="2" charset="-122"/>
              </a:rPr>
              <a:t>会通过哪个接口转发该分组？</a:t>
            </a:r>
            <a:endParaRPr lang="zh-CN" altLang="en-US" sz="2000" b="0">
              <a:latin typeface="Times New Roman" panose="02020603050405020304" pitchFamily="18" charset="0"/>
              <a:ea typeface="宋体" panose="02010600030101010101" pitchFamily="2" charset="-122"/>
            </a:endParaRPr>
          </a:p>
        </p:txBody>
      </p:sp>
      <p:sp>
        <p:nvSpPr>
          <p:cNvPr id="8" name="文本框 7"/>
          <p:cNvSpPr txBox="1"/>
          <p:nvPr/>
        </p:nvSpPr>
        <p:spPr>
          <a:xfrm>
            <a:off x="6465570" y="4365625"/>
            <a:ext cx="3190875" cy="1322070"/>
          </a:xfrm>
          <a:prstGeom prst="rect">
            <a:avLst/>
          </a:prstGeom>
          <a:noFill/>
          <a:ln w="9525">
            <a:noFill/>
          </a:ln>
        </p:spPr>
        <p:txBody>
          <a:bodyPr wrap="square">
            <a:spAutoFit/>
          </a:bodyPr>
          <a:lstStyle/>
          <a:p>
            <a:pPr marL="0" algn="l">
              <a:buClrTx/>
              <a:buSzTx/>
              <a:buFontTx/>
            </a:pPr>
            <a:r>
              <a:rPr lang="en-US" altLang="zh-CN" sz="2000" b="0">
                <a:latin typeface="Times New Roman" panose="02020603050405020304" pitchFamily="18" charset="0"/>
                <a:ea typeface="宋体" panose="02010600030101010101" pitchFamily="2" charset="-122"/>
              </a:rPr>
              <a:t>3. R1和R2之间利用哪个路由协议交换信息？该路由协议的报文被封装到哪个协议的分组中进行传输？</a:t>
            </a:r>
            <a:endParaRPr lang="en-US" altLang="zh-CN" sz="2000">
              <a:latin typeface="Times New Roman" panose="02020603050405020304" pitchFamily="18" charset="0"/>
              <a:ea typeface="宋体" panose="02010600030101010101" pitchFamily="2" charset="-122"/>
            </a:endParaRPr>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1442763873"/>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4.1  </a:t>
            </a:r>
            <a:r>
              <a:rPr lang="zh-CN" altLang="en-US" dirty="0"/>
              <a:t>网络层提供的两种服务 </a:t>
            </a:r>
          </a:p>
        </p:txBody>
      </p:sp>
      <p:sp>
        <p:nvSpPr>
          <p:cNvPr id="931843" name="Rectangle 3"/>
          <p:cNvSpPr>
            <a:spLocks noGrp="1" noChangeArrowheads="1"/>
          </p:cNvSpPr>
          <p:nvPr>
            <p:ph idx="1"/>
          </p:nvPr>
        </p:nvSpPr>
        <p:spPr/>
        <p:txBody>
          <a:bodyPr/>
          <a:lstStyle/>
          <a:p>
            <a:r>
              <a:rPr lang="zh-CN" altLang="en-US" dirty="0"/>
              <a:t>在计算机网络领域，网络层应该向运输层提供怎样的服务（“</a:t>
            </a:r>
            <a:r>
              <a:rPr lang="zh-CN" altLang="en-US" dirty="0">
                <a:solidFill>
                  <a:srgbClr val="FF0000"/>
                </a:solidFill>
              </a:rPr>
              <a:t>面向连接</a:t>
            </a:r>
            <a:r>
              <a:rPr lang="zh-CN" altLang="en-US" dirty="0"/>
              <a:t>”还是“</a:t>
            </a:r>
            <a:r>
              <a:rPr lang="zh-CN" altLang="en-US" dirty="0">
                <a:solidFill>
                  <a:srgbClr val="FF0000"/>
                </a:solidFill>
              </a:rPr>
              <a:t>无连接</a:t>
            </a:r>
            <a:r>
              <a:rPr lang="zh-CN" altLang="en-US" dirty="0"/>
              <a:t>”）曾引起了长期的争论。</a:t>
            </a:r>
          </a:p>
          <a:p>
            <a:r>
              <a:rPr lang="zh-CN" altLang="en-US" dirty="0"/>
              <a:t>争论焦点的实质就是：</a:t>
            </a:r>
            <a:r>
              <a:rPr lang="zh-CN" altLang="en-US" dirty="0">
                <a:solidFill>
                  <a:srgbClr val="0000CC"/>
                </a:solidFill>
              </a:rPr>
              <a:t>在计算机通信中，可靠交付应当由谁来负责？是</a:t>
            </a:r>
            <a:r>
              <a:rPr lang="zh-CN" altLang="en-US" dirty="0">
                <a:solidFill>
                  <a:srgbClr val="FF0000"/>
                </a:solidFill>
              </a:rPr>
              <a:t>网络</a:t>
            </a:r>
            <a:r>
              <a:rPr lang="zh-CN" altLang="en-US" dirty="0">
                <a:solidFill>
                  <a:srgbClr val="0000CC"/>
                </a:solidFill>
              </a:rPr>
              <a:t>还是</a:t>
            </a:r>
            <a:r>
              <a:rPr lang="zh-CN" altLang="en-US" dirty="0">
                <a:solidFill>
                  <a:srgbClr val="FF0000"/>
                </a:solidFill>
              </a:rPr>
              <a:t>端系统</a:t>
            </a:r>
            <a:r>
              <a:rPr lang="zh-CN" altLang="en-US" dirty="0">
                <a:solidFill>
                  <a:srgbClr val="0000CC"/>
                </a:solidFill>
              </a:rPr>
              <a:t>？ </a:t>
            </a:r>
          </a:p>
        </p:txBody>
      </p:sp>
    </p:spTree>
    <p:extLst>
      <p:ext uri="{BB962C8B-B14F-4D97-AF65-F5344CB8AC3E}">
        <p14:creationId xmlns:p14="http://schemas.microsoft.com/office/powerpoint/2010/main" val="3405752383"/>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pPr algn="ctr"/>
            <a:r>
              <a:rPr lang="zh-CN" altLang="en-US" dirty="0"/>
              <a:t>一种观点：让网络负责可靠交付 </a:t>
            </a:r>
          </a:p>
        </p:txBody>
      </p:sp>
      <p:sp>
        <p:nvSpPr>
          <p:cNvPr id="932867" name="Rectangle 3"/>
          <p:cNvSpPr>
            <a:spLocks noGrp="1" noChangeArrowheads="1"/>
          </p:cNvSpPr>
          <p:nvPr>
            <p:ph idx="1"/>
          </p:nvPr>
        </p:nvSpPr>
        <p:spPr/>
        <p:txBody>
          <a:bodyPr/>
          <a:lstStyle/>
          <a:p>
            <a:r>
              <a:rPr lang="zh-CN" altLang="en-US" dirty="0"/>
              <a:t>这种观点认为，应</a:t>
            </a:r>
            <a:r>
              <a:rPr lang="zh-CN" altLang="zh-CN" dirty="0"/>
              <a:t>借助于电信网的成功经验，让网络负责可靠交付</a:t>
            </a:r>
            <a:r>
              <a:rPr lang="zh-CN" altLang="en-US" dirty="0"/>
              <a:t>，</a:t>
            </a:r>
            <a:r>
              <a:rPr lang="zh-CN" altLang="zh-CN" dirty="0"/>
              <a:t>计算机网络应模仿</a:t>
            </a:r>
            <a:r>
              <a:rPr lang="zh-CN" altLang="en-US" dirty="0"/>
              <a:t>电信网络，使用</a:t>
            </a:r>
            <a:r>
              <a:rPr lang="zh-CN" altLang="zh-CN" dirty="0">
                <a:solidFill>
                  <a:srgbClr val="FF0000"/>
                </a:solidFill>
              </a:rPr>
              <a:t>面向连接</a:t>
            </a:r>
            <a:r>
              <a:rPr lang="zh-CN" altLang="zh-CN" dirty="0"/>
              <a:t>的通信方式</a:t>
            </a:r>
            <a:r>
              <a:rPr lang="zh-CN" altLang="en-US" dirty="0"/>
              <a:t>。</a:t>
            </a:r>
          </a:p>
          <a:p>
            <a:r>
              <a:rPr lang="zh-CN" altLang="en-US" dirty="0"/>
              <a:t>通信之前先建立</a:t>
            </a:r>
            <a:r>
              <a:rPr lang="zh-CN" altLang="en-US" dirty="0">
                <a:solidFill>
                  <a:srgbClr val="FF0000"/>
                </a:solidFill>
              </a:rPr>
              <a:t>虚电路 </a:t>
            </a:r>
            <a:r>
              <a:rPr lang="en-US" altLang="zh-CN" dirty="0"/>
              <a:t>(Virtual Circuit)</a:t>
            </a:r>
            <a:r>
              <a:rPr lang="zh-CN" altLang="en-US" dirty="0"/>
              <a:t>，以保证双方通信所需的一切网络资源。 </a:t>
            </a:r>
          </a:p>
          <a:p>
            <a:r>
              <a:rPr lang="zh-CN" altLang="en-US" dirty="0"/>
              <a:t>如果再使用可靠传输的网络协议，就可使所发送的分组无差错按序到达终点，</a:t>
            </a:r>
            <a:r>
              <a:rPr lang="zh-CN" altLang="zh-CN" dirty="0"/>
              <a:t>不丢失、不重复</a:t>
            </a:r>
            <a:r>
              <a:rPr lang="zh-CN" altLang="en-US" dirty="0"/>
              <a:t>。</a:t>
            </a:r>
          </a:p>
        </p:txBody>
      </p:sp>
    </p:spTree>
    <p:extLst>
      <p:ext uri="{BB962C8B-B14F-4D97-AF65-F5344CB8AC3E}">
        <p14:creationId xmlns:p14="http://schemas.microsoft.com/office/powerpoint/2010/main" val="64076264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dirty="0"/>
              <a:t>虚电路服务</a:t>
            </a:r>
          </a:p>
        </p:txBody>
      </p:sp>
      <p:grpSp>
        <p:nvGrpSpPr>
          <p:cNvPr id="4" name="组合 3"/>
          <p:cNvGrpSpPr/>
          <p:nvPr/>
        </p:nvGrpSpPr>
        <p:grpSpPr>
          <a:xfrm>
            <a:off x="632520" y="1844824"/>
            <a:ext cx="8928992" cy="3076988"/>
            <a:chOff x="632520" y="1844824"/>
            <a:chExt cx="8928992" cy="3076988"/>
          </a:xfrm>
        </p:grpSpPr>
        <p:sp>
          <p:nvSpPr>
            <p:cNvPr id="77" name="Rectangle 2"/>
            <p:cNvSpPr>
              <a:spLocks noChangeArrowheads="1"/>
            </p:cNvSpPr>
            <p:nvPr/>
          </p:nvSpPr>
          <p:spPr bwMode="auto">
            <a:xfrm>
              <a:off x="7964736" y="2588842"/>
              <a:ext cx="1484258" cy="309562"/>
            </a:xfrm>
            <a:prstGeom prst="rect">
              <a:avLst/>
            </a:prstGeom>
            <a:solidFill>
              <a:srgbClr val="FF66FF"/>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8" name="Text Box 3"/>
            <p:cNvSpPr txBox="1">
              <a:spLocks noChangeArrowheads="1"/>
            </p:cNvSpPr>
            <p:nvPr/>
          </p:nvSpPr>
          <p:spPr bwMode="auto">
            <a:xfrm>
              <a:off x="7901882" y="1930549"/>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物理层</a:t>
              </a:r>
            </a:p>
          </p:txBody>
        </p:sp>
        <p:sp>
          <p:nvSpPr>
            <p:cNvPr id="79" name="Rectangle 4"/>
            <p:cNvSpPr>
              <a:spLocks noChangeArrowheads="1"/>
            </p:cNvSpPr>
            <p:nvPr/>
          </p:nvSpPr>
          <p:spPr bwMode="auto">
            <a:xfrm>
              <a:off x="695374" y="2503117"/>
              <a:ext cx="1484257" cy="309562"/>
            </a:xfrm>
            <a:prstGeom prst="rect">
              <a:avLst/>
            </a:prstGeom>
            <a:solidFill>
              <a:srgbClr val="FF66FF"/>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0" name="Text Box 5"/>
            <p:cNvSpPr txBox="1">
              <a:spLocks noChangeArrowheads="1"/>
            </p:cNvSpPr>
            <p:nvPr/>
          </p:nvSpPr>
          <p:spPr bwMode="auto">
            <a:xfrm>
              <a:off x="632520" y="1844824"/>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物理层</a:t>
              </a:r>
            </a:p>
          </p:txBody>
        </p:sp>
        <p:sp>
          <p:nvSpPr>
            <p:cNvPr id="81" name="Line 7"/>
            <p:cNvSpPr>
              <a:spLocks noChangeShapeType="1"/>
            </p:cNvSpPr>
            <p:nvPr/>
          </p:nvSpPr>
          <p:spPr bwMode="auto">
            <a:xfrm>
              <a:off x="5085011" y="2130054"/>
              <a:ext cx="58738" cy="5619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2" name="Line 8"/>
            <p:cNvSpPr>
              <a:spLocks noChangeShapeType="1"/>
            </p:cNvSpPr>
            <p:nvPr/>
          </p:nvSpPr>
          <p:spPr bwMode="auto">
            <a:xfrm>
              <a:off x="2492624" y="2996829"/>
              <a:ext cx="508000" cy="25876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3" name="Rectangle 9"/>
            <p:cNvSpPr>
              <a:spLocks noChangeArrowheads="1"/>
            </p:cNvSpPr>
            <p:nvPr/>
          </p:nvSpPr>
          <p:spPr bwMode="auto">
            <a:xfrm>
              <a:off x="674736" y="1880817"/>
              <a:ext cx="1523553" cy="1493837"/>
            </a:xfrm>
            <a:prstGeom prst="rect">
              <a:avLst/>
            </a:prstGeom>
            <a:noFill/>
            <a:ln w="28575">
              <a:solidFill>
                <a:srgbClr val="3333CC"/>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4" name="Line 10"/>
            <p:cNvSpPr>
              <a:spLocks noChangeShapeType="1"/>
            </p:cNvSpPr>
            <p:nvPr/>
          </p:nvSpPr>
          <p:spPr bwMode="auto">
            <a:xfrm>
              <a:off x="674736" y="2223717"/>
              <a:ext cx="152355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5" name="Line 11"/>
            <p:cNvSpPr>
              <a:spLocks noChangeShapeType="1"/>
            </p:cNvSpPr>
            <p:nvPr/>
          </p:nvSpPr>
          <p:spPr bwMode="auto">
            <a:xfrm>
              <a:off x="674736" y="2512642"/>
              <a:ext cx="152355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6" name="Line 12"/>
            <p:cNvSpPr>
              <a:spLocks noChangeShapeType="1"/>
            </p:cNvSpPr>
            <p:nvPr/>
          </p:nvSpPr>
          <p:spPr bwMode="auto">
            <a:xfrm>
              <a:off x="674736" y="2801567"/>
              <a:ext cx="152355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7" name="Line 13"/>
            <p:cNvSpPr>
              <a:spLocks noChangeShapeType="1"/>
            </p:cNvSpPr>
            <p:nvPr/>
          </p:nvSpPr>
          <p:spPr bwMode="auto">
            <a:xfrm>
              <a:off x="674736" y="3090492"/>
              <a:ext cx="152355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8" name="Rectangle 14"/>
            <p:cNvSpPr>
              <a:spLocks noChangeArrowheads="1"/>
            </p:cNvSpPr>
            <p:nvPr/>
          </p:nvSpPr>
          <p:spPr bwMode="auto">
            <a:xfrm>
              <a:off x="7944099" y="1950667"/>
              <a:ext cx="1523551" cy="1509712"/>
            </a:xfrm>
            <a:prstGeom prst="rect">
              <a:avLst/>
            </a:prstGeom>
            <a:noFill/>
            <a:ln w="28575">
              <a:solidFill>
                <a:srgbClr val="3333CC"/>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9" name="Line 15"/>
            <p:cNvSpPr>
              <a:spLocks noChangeShapeType="1"/>
            </p:cNvSpPr>
            <p:nvPr/>
          </p:nvSpPr>
          <p:spPr bwMode="auto">
            <a:xfrm>
              <a:off x="7944099" y="2309442"/>
              <a:ext cx="152355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0" name="Line 16"/>
            <p:cNvSpPr>
              <a:spLocks noChangeShapeType="1"/>
            </p:cNvSpPr>
            <p:nvPr/>
          </p:nvSpPr>
          <p:spPr bwMode="auto">
            <a:xfrm>
              <a:off x="7944099" y="2598367"/>
              <a:ext cx="152355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1" name="Line 17"/>
            <p:cNvSpPr>
              <a:spLocks noChangeShapeType="1"/>
            </p:cNvSpPr>
            <p:nvPr/>
          </p:nvSpPr>
          <p:spPr bwMode="auto">
            <a:xfrm>
              <a:off x="7944099" y="2887292"/>
              <a:ext cx="152355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2" name="Line 18"/>
            <p:cNvSpPr>
              <a:spLocks noChangeShapeType="1"/>
            </p:cNvSpPr>
            <p:nvPr/>
          </p:nvSpPr>
          <p:spPr bwMode="auto">
            <a:xfrm>
              <a:off x="7944099" y="3176217"/>
              <a:ext cx="1523551"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3" name="Text Box 19"/>
            <p:cNvSpPr txBox="1">
              <a:spLocks noChangeArrowheads="1"/>
            </p:cNvSpPr>
            <p:nvPr/>
          </p:nvSpPr>
          <p:spPr bwMode="auto">
            <a:xfrm>
              <a:off x="2276724" y="2061792"/>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rgbClr val="000099"/>
                  </a:solidFill>
                  <a:effectLst/>
                  <a:uLnTx/>
                  <a:uFillTx/>
                  <a:latin typeface="+mn-lt"/>
                  <a:ea typeface="黑体" panose="02010609060101010101"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anose="02010609060101010101" pitchFamily="2" charset="-122"/>
                </a:rPr>
                <a:t>1</a:t>
              </a:r>
            </a:p>
          </p:txBody>
        </p:sp>
        <p:pic>
          <p:nvPicPr>
            <p:cNvPr id="9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8624" y="2447554"/>
              <a:ext cx="592137" cy="65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Line 21"/>
            <p:cNvSpPr>
              <a:spLocks noChangeShapeType="1"/>
            </p:cNvSpPr>
            <p:nvPr/>
          </p:nvSpPr>
          <p:spPr bwMode="auto">
            <a:xfrm>
              <a:off x="3337174" y="3255592"/>
              <a:ext cx="1608137" cy="6064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6" name="Line 22"/>
            <p:cNvSpPr>
              <a:spLocks noChangeShapeType="1"/>
            </p:cNvSpPr>
            <p:nvPr/>
          </p:nvSpPr>
          <p:spPr bwMode="auto">
            <a:xfrm flipV="1">
              <a:off x="3253036" y="2822204"/>
              <a:ext cx="1862138" cy="433388"/>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7" name="Line 23"/>
            <p:cNvSpPr>
              <a:spLocks noChangeShapeType="1"/>
            </p:cNvSpPr>
            <p:nvPr/>
          </p:nvSpPr>
          <p:spPr bwMode="auto">
            <a:xfrm>
              <a:off x="5283449" y="2822204"/>
              <a:ext cx="1524000" cy="5191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8" name="Line 24"/>
            <p:cNvSpPr>
              <a:spLocks noChangeShapeType="1"/>
            </p:cNvSpPr>
            <p:nvPr/>
          </p:nvSpPr>
          <p:spPr bwMode="auto">
            <a:xfrm flipV="1">
              <a:off x="5115174" y="3430217"/>
              <a:ext cx="1692275" cy="43180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9" name="Line 25"/>
            <p:cNvSpPr>
              <a:spLocks noChangeShapeType="1"/>
            </p:cNvSpPr>
            <p:nvPr/>
          </p:nvSpPr>
          <p:spPr bwMode="auto">
            <a:xfrm flipV="1">
              <a:off x="6891586" y="2996829"/>
              <a:ext cx="676275" cy="344488"/>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00" name="Group 26"/>
            <p:cNvGrpSpPr/>
            <p:nvPr/>
          </p:nvGrpSpPr>
          <p:grpSpPr bwMode="auto">
            <a:xfrm>
              <a:off x="7312274" y="2082429"/>
              <a:ext cx="593725" cy="1042988"/>
              <a:chOff x="5283" y="1002"/>
              <a:chExt cx="318" cy="545"/>
            </a:xfrm>
          </p:grpSpPr>
          <p:sp>
            <p:nvSpPr>
              <p:cNvPr id="101" name="Text Box 27"/>
              <p:cNvSpPr txBox="1">
                <a:spLocks noChangeArrowheads="1"/>
              </p:cNvSpPr>
              <p:nvPr/>
            </p:nvSpPr>
            <p:spPr bwMode="auto">
              <a:xfrm>
                <a:off x="5283" y="1002"/>
                <a:ext cx="287" cy="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rgbClr val="000099"/>
                    </a:solidFill>
                    <a:effectLst/>
                    <a:uLnTx/>
                    <a:uFillTx/>
                    <a:latin typeface="+mn-lt"/>
                    <a:ea typeface="黑体" panose="02010609060101010101"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anose="02010609060101010101" pitchFamily="2" charset="-122"/>
                  </a:rPr>
                  <a:t>2</a:t>
                </a:r>
              </a:p>
            </p:txBody>
          </p:sp>
          <p:pic>
            <p:nvPicPr>
              <p:cNvPr id="102"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3" name="Line 29"/>
            <p:cNvSpPr>
              <a:spLocks noChangeShapeType="1"/>
            </p:cNvSpPr>
            <p:nvPr/>
          </p:nvSpPr>
          <p:spPr bwMode="auto">
            <a:xfrm flipV="1">
              <a:off x="3253036" y="2042742"/>
              <a:ext cx="1776413" cy="112712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4" name="Line 30"/>
            <p:cNvSpPr>
              <a:spLocks noChangeShapeType="1"/>
            </p:cNvSpPr>
            <p:nvPr/>
          </p:nvSpPr>
          <p:spPr bwMode="auto">
            <a:xfrm>
              <a:off x="5199311" y="2042742"/>
              <a:ext cx="1692275" cy="121285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05"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95849" y="3082554"/>
              <a:ext cx="611187"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61174" y="2649167"/>
              <a:ext cx="612775"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1311" y="3688979"/>
              <a:ext cx="612775" cy="34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53449" y="316986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9"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75449" y="186811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10" name="Freeform 36"/>
            <p:cNvSpPr/>
            <p:nvPr/>
          </p:nvSpPr>
          <p:spPr bwMode="auto">
            <a:xfrm>
              <a:off x="1979861" y="2672979"/>
              <a:ext cx="6181725" cy="828675"/>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1" name="Text Box 37"/>
            <p:cNvSpPr txBox="1">
              <a:spLocks noChangeArrowheads="1"/>
            </p:cNvSpPr>
            <p:nvPr/>
          </p:nvSpPr>
          <p:spPr bwMode="auto">
            <a:xfrm>
              <a:off x="4689724" y="3092079"/>
              <a:ext cx="88197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rPr>
                <a:t>虚电路</a:t>
              </a:r>
              <a:endParaRPr kumimoji="0" lang="zh-CN" altLang="en-US" sz="1800" b="1" i="0" u="none" strike="noStrike" kern="0" cap="none" spc="0" normalizeH="0" baseline="-25000" noProof="0">
                <a:ln>
                  <a:noFill/>
                </a:ln>
                <a:solidFill>
                  <a:srgbClr val="000099"/>
                </a:solidFill>
                <a:effectLst/>
                <a:uLnTx/>
                <a:uFillTx/>
                <a:latin typeface="+mn-lt"/>
                <a:ea typeface="黑体" panose="02010609060101010101" pitchFamily="2" charset="-122"/>
              </a:endParaRPr>
            </a:p>
          </p:txBody>
        </p:sp>
        <p:sp>
          <p:nvSpPr>
            <p:cNvPr id="112" name="Text Box 38"/>
            <p:cNvSpPr txBox="1">
              <a:spLocks noChangeArrowheads="1"/>
            </p:cNvSpPr>
            <p:nvPr/>
          </p:nvSpPr>
          <p:spPr bwMode="auto">
            <a:xfrm>
              <a:off x="1159124" y="4398592"/>
              <a:ext cx="8121134" cy="523220"/>
            </a:xfrm>
            <a:prstGeom prst="rect">
              <a:avLst/>
            </a:prstGeom>
            <a:solidFill>
              <a:srgbClr val="FFFF99"/>
            </a:solidFill>
            <a:ln w="9525">
              <a:solidFill>
                <a:srgbClr val="3333CC"/>
              </a:solidFill>
              <a:miter lim="800000"/>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anose="02010609060101010101"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anose="02010609060101010101"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anose="02010609060101010101"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anose="02010609060101010101" pitchFamily="2" charset="-122"/>
                </a:rPr>
                <a:t>的所有分组都沿着同一条虚电路传送</a:t>
              </a:r>
            </a:p>
          </p:txBody>
        </p:sp>
      </p:grpSp>
    </p:spTree>
    <p:extLst>
      <p:ext uri="{BB962C8B-B14F-4D97-AF65-F5344CB8AC3E}">
        <p14:creationId xmlns:p14="http://schemas.microsoft.com/office/powerpoint/2010/main" val="420080628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9010" name="Rectangle 2"/>
          <p:cNvSpPr>
            <a:spLocks noGrp="1" noChangeArrowheads="1"/>
          </p:cNvSpPr>
          <p:nvPr>
            <p:ph type="title"/>
          </p:nvPr>
        </p:nvSpPr>
        <p:spPr/>
        <p:txBody>
          <a:bodyPr/>
          <a:lstStyle/>
          <a:p>
            <a:pPr algn="ctr"/>
            <a:r>
              <a:rPr lang="zh-CN" altLang="en-US" dirty="0"/>
              <a:t>虚电路是逻辑连接</a:t>
            </a:r>
          </a:p>
        </p:txBody>
      </p:sp>
      <p:sp>
        <p:nvSpPr>
          <p:cNvPr id="939011" name="Rectangle 3"/>
          <p:cNvSpPr>
            <a:spLocks noGrp="1" noChangeArrowheads="1"/>
          </p:cNvSpPr>
          <p:nvPr>
            <p:ph idx="1"/>
          </p:nvPr>
        </p:nvSpPr>
        <p:spPr/>
        <p:txBody>
          <a:bodyPr/>
          <a:lstStyle/>
          <a:p>
            <a:r>
              <a:rPr lang="zh-CN" altLang="en-US" dirty="0"/>
              <a:t>虚电路表示这只是一条</a:t>
            </a:r>
            <a:r>
              <a:rPr lang="zh-CN" altLang="en-US" dirty="0">
                <a:solidFill>
                  <a:srgbClr val="FF0000"/>
                </a:solidFill>
              </a:rPr>
              <a:t>逻辑上的连接，</a:t>
            </a:r>
            <a:r>
              <a:rPr lang="zh-CN" altLang="en-US" dirty="0"/>
              <a:t>分组都沿着这条逻辑连接</a:t>
            </a:r>
            <a:r>
              <a:rPr lang="zh-CN" altLang="en-US" dirty="0">
                <a:solidFill>
                  <a:srgbClr val="FF0000"/>
                </a:solidFill>
              </a:rPr>
              <a:t>按照存储转发方式传送，</a:t>
            </a:r>
            <a:r>
              <a:rPr lang="zh-CN" altLang="en-US" dirty="0"/>
              <a:t>而并不是真正建立了一条物理连接。</a:t>
            </a:r>
          </a:p>
          <a:p>
            <a:r>
              <a:rPr lang="zh-CN" altLang="en-US" dirty="0"/>
              <a:t>请注意，电路交换的电话通信是先建立了一条</a:t>
            </a:r>
            <a:r>
              <a:rPr lang="zh-CN" altLang="en-US" dirty="0">
                <a:solidFill>
                  <a:srgbClr val="FF0000"/>
                </a:solidFill>
              </a:rPr>
              <a:t>真正的连接。</a:t>
            </a:r>
            <a:endParaRPr lang="en-US" altLang="zh-CN" dirty="0">
              <a:solidFill>
                <a:srgbClr val="FF0000"/>
              </a:solidFill>
            </a:endParaRPr>
          </a:p>
          <a:p>
            <a:r>
              <a:rPr lang="zh-CN" altLang="en-US" dirty="0"/>
              <a:t>因此分组交换的虚连接和电路交换的连接只是类似，但并不完全一样。 </a:t>
            </a:r>
          </a:p>
        </p:txBody>
      </p:sp>
    </p:spTree>
    <p:extLst>
      <p:ext uri="{BB962C8B-B14F-4D97-AF65-F5344CB8AC3E}">
        <p14:creationId xmlns:p14="http://schemas.microsoft.com/office/powerpoint/2010/main" val="2035140349"/>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灯片编号占位符 6"/>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CC055130-DC1B-4789-B6B6-DD665A7A5401}" type="slidenum">
              <a:rPr lang="en-US" altLang="zh-CN"/>
              <a:t>258</a:t>
            </a:fld>
            <a:endParaRPr lang="en-US" altLang="zh-CN"/>
          </a:p>
        </p:txBody>
      </p:sp>
      <p:sp>
        <p:nvSpPr>
          <p:cNvPr id="88067" name="Rectangle 2"/>
          <p:cNvSpPr>
            <a:spLocks noGrp="1" noChangeArrowheads="1"/>
          </p:cNvSpPr>
          <p:nvPr>
            <p:ph type="title"/>
          </p:nvPr>
        </p:nvSpPr>
        <p:spPr/>
        <p:txBody>
          <a:bodyPr/>
          <a:lstStyle/>
          <a:p>
            <a:pPr eaLnBrk="1" hangingPunct="1"/>
            <a:r>
              <a:rPr lang="zh-CN" altLang="en-US" b="0">
                <a:solidFill>
                  <a:srgbClr val="0033CC"/>
                </a:solidFill>
                <a:latin typeface="Comic Sans MS" panose="030F0702030302020204" pitchFamily="66" charset="0"/>
                <a:ea typeface="华文新魏" panose="02010800040101010101" pitchFamily="2" charset="-122"/>
              </a:rPr>
              <a:t>虚电路建立</a:t>
            </a:r>
          </a:p>
        </p:txBody>
      </p:sp>
      <p:sp>
        <p:nvSpPr>
          <p:cNvPr id="88068" name="Rectangle 3"/>
          <p:cNvSpPr>
            <a:spLocks noGrp="1" noChangeArrowheads="1"/>
          </p:cNvSpPr>
          <p:nvPr>
            <p:ph type="body" sz="half" idx="1"/>
          </p:nvPr>
        </p:nvSpPr>
        <p:spPr>
          <a:xfrm>
            <a:off x="838200" y="1719263"/>
            <a:ext cx="3733800" cy="4411662"/>
          </a:xfrm>
        </p:spPr>
        <p:txBody>
          <a:bodyPr/>
          <a:lstStyle/>
          <a:p>
            <a:pPr eaLnBrk="1" hangingPunct="1"/>
            <a:r>
              <a:rPr lang="zh-CN" altLang="en-US" sz="2800" dirty="0">
                <a:latin typeface="Comic Sans MS" panose="030F0702030302020204" pitchFamily="66" charset="0"/>
                <a:ea typeface="华文新魏" panose="02010800040101010101" pitchFamily="2" charset="-122"/>
              </a:rPr>
              <a:t>在</a:t>
            </a:r>
            <a:r>
              <a:rPr lang="en-US" altLang="zh-CN" sz="2800" dirty="0">
                <a:latin typeface="Comic Sans MS" panose="030F0702030302020204" pitchFamily="66" charset="0"/>
                <a:ea typeface="华文新魏" panose="02010800040101010101" pitchFamily="2" charset="-122"/>
              </a:rPr>
              <a:t>A</a:t>
            </a:r>
            <a:r>
              <a:rPr lang="zh-CN" altLang="en-US" sz="2800" dirty="0">
                <a:latin typeface="Comic Sans MS" panose="030F0702030302020204" pitchFamily="66" charset="0"/>
                <a:ea typeface="华文新魏" panose="02010800040101010101" pitchFamily="2" charset="-122"/>
              </a:rPr>
              <a:t>站和</a:t>
            </a:r>
            <a:r>
              <a:rPr lang="en-US" altLang="zh-CN" sz="2800" dirty="0">
                <a:latin typeface="Comic Sans MS" panose="030F0702030302020204" pitchFamily="66" charset="0"/>
                <a:ea typeface="华文新魏" panose="02010800040101010101" pitchFamily="2" charset="-122"/>
              </a:rPr>
              <a:t>B</a:t>
            </a:r>
            <a:r>
              <a:rPr lang="zh-CN" altLang="en-US" sz="2800" dirty="0">
                <a:latin typeface="Comic Sans MS" panose="030F0702030302020204" pitchFamily="66" charset="0"/>
                <a:ea typeface="华文新魏" panose="02010800040101010101" pitchFamily="2" charset="-122"/>
              </a:rPr>
              <a:t>站之间建立了一条</a:t>
            </a:r>
            <a:r>
              <a:rPr lang="zh-CN" altLang="en-US" sz="2800" dirty="0">
                <a:solidFill>
                  <a:srgbClr val="0033CC"/>
                </a:solidFill>
                <a:latin typeface="Comic Sans MS" panose="030F0702030302020204" pitchFamily="66" charset="0"/>
                <a:ea typeface="华文新魏" panose="02010800040101010101" pitchFamily="2" charset="-122"/>
              </a:rPr>
              <a:t>逻辑连接</a:t>
            </a:r>
            <a:r>
              <a:rPr lang="zh-CN" altLang="en-US" sz="2800" dirty="0">
                <a:latin typeface="Comic Sans MS" panose="030F0702030302020204" pitchFamily="66" charset="0"/>
                <a:ea typeface="华文新魏" panose="02010800040101010101" pitchFamily="2" charset="-122"/>
              </a:rPr>
              <a:t>即虚拟电路。</a:t>
            </a:r>
          </a:p>
          <a:p>
            <a:pPr eaLnBrk="1" hangingPunct="1"/>
            <a:endParaRPr lang="zh-CN" altLang="en-US" sz="2800" dirty="0">
              <a:latin typeface="Comic Sans MS" panose="030F0702030302020204" pitchFamily="66" charset="0"/>
              <a:ea typeface="华文新魏" panose="02010800040101010101" pitchFamily="2" charset="-122"/>
            </a:endParaRPr>
          </a:p>
          <a:p>
            <a:pPr eaLnBrk="1" hangingPunct="1"/>
            <a:r>
              <a:rPr lang="zh-CN" altLang="en-US" sz="2800" dirty="0">
                <a:latin typeface="Comic Sans MS" panose="030F0702030302020204" pitchFamily="66" charset="0"/>
                <a:ea typeface="华文新魏" panose="02010800040101010101" pitchFamily="2" charset="-122"/>
              </a:rPr>
              <a:t>以后的数据分组将沿着这条虚拟电路</a:t>
            </a:r>
            <a:r>
              <a:rPr lang="zh-CN" altLang="en-US" sz="2800" dirty="0">
                <a:solidFill>
                  <a:srgbClr val="0033CC"/>
                </a:solidFill>
                <a:latin typeface="Comic Sans MS" panose="030F0702030302020204" pitchFamily="66" charset="0"/>
                <a:ea typeface="华文新魏" panose="02010800040101010101" pitchFamily="2" charset="-122"/>
              </a:rPr>
              <a:t>双向</a:t>
            </a:r>
            <a:r>
              <a:rPr lang="zh-CN" altLang="en-US" sz="2800" dirty="0">
                <a:latin typeface="Comic Sans MS" panose="030F0702030302020204" pitchFamily="66" charset="0"/>
                <a:ea typeface="华文新魏" panose="02010800040101010101" pitchFamily="2" charset="-122"/>
              </a:rPr>
              <a:t>传输。</a:t>
            </a:r>
          </a:p>
        </p:txBody>
      </p:sp>
      <p:pic>
        <p:nvPicPr>
          <p:cNvPr id="88069" name="Object 4"/>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5026026" y="2719388"/>
            <a:ext cx="4041775" cy="2411412"/>
          </a:xfrm>
          <a:noFill/>
        </p:spPr>
      </p:pic>
    </p:spTree>
    <p:extLst>
      <p:ext uri="{BB962C8B-B14F-4D97-AF65-F5344CB8AC3E}">
        <p14:creationId xmlns:p14="http://schemas.microsoft.com/office/powerpoint/2010/main" val="2074211393"/>
      </p:ext>
    </p:extLst>
  </p:cSld>
  <p:clrMapOvr>
    <a:masterClrMapping/>
  </p:clrMapOvr>
  <p:transition spd="slow"/>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F5072815-49F5-4762-BDF4-05A551CC98D6}" type="slidenum">
              <a:rPr lang="en-US" altLang="zh-CN"/>
              <a:t>259</a:t>
            </a:fld>
            <a:endParaRPr lang="en-US" altLang="zh-CN"/>
          </a:p>
        </p:txBody>
      </p:sp>
      <p:sp>
        <p:nvSpPr>
          <p:cNvPr id="89091" name="Rectangle 2"/>
          <p:cNvSpPr>
            <a:spLocks noGrp="1" noChangeArrowheads="1"/>
          </p:cNvSpPr>
          <p:nvPr>
            <p:ph type="title"/>
          </p:nvPr>
        </p:nvSpPr>
        <p:spPr/>
        <p:txBody>
          <a:bodyPr/>
          <a:lstStyle/>
          <a:p>
            <a:pPr algn="ctr" eaLnBrk="1" hangingPunct="1"/>
            <a:r>
              <a:rPr lang="zh-CN" altLang="en-US" dirty="0"/>
              <a:t>虚电路的分类</a:t>
            </a:r>
          </a:p>
        </p:txBody>
      </p:sp>
      <p:sp>
        <p:nvSpPr>
          <p:cNvPr id="521219" name="Rectangle 3"/>
          <p:cNvSpPr>
            <a:spLocks noGrp="1" noChangeArrowheads="1"/>
          </p:cNvSpPr>
          <p:nvPr>
            <p:ph type="body" sz="half" idx="1"/>
          </p:nvPr>
        </p:nvSpPr>
        <p:spPr>
          <a:xfrm>
            <a:off x="838200" y="1719264"/>
            <a:ext cx="8229600" cy="2852737"/>
          </a:xfrm>
        </p:spPr>
        <p:txBody>
          <a:bodyPr/>
          <a:lstStyle/>
          <a:p>
            <a:pPr eaLnBrk="1" hangingPunct="1"/>
            <a:r>
              <a:rPr lang="zh-CN" altLang="en-US" sz="2800" dirty="0">
                <a:latin typeface="黑体" panose="02010609060101010101" pitchFamily="2" charset="-122"/>
              </a:rPr>
              <a:t>每个交换节点保留一张</a:t>
            </a:r>
            <a:r>
              <a:rPr lang="zh-CN" altLang="en-US" sz="2800" dirty="0">
                <a:solidFill>
                  <a:srgbClr val="0033CC"/>
                </a:solidFill>
                <a:latin typeface="黑体" panose="02010609060101010101" pitchFamily="2" charset="-122"/>
              </a:rPr>
              <a:t>虚电路表</a:t>
            </a:r>
            <a:r>
              <a:rPr lang="zh-CN" altLang="en-US" sz="2800" dirty="0">
                <a:latin typeface="黑体" panose="02010609060101010101" pitchFamily="2" charset="-122"/>
              </a:rPr>
              <a:t>，经过自身的一条虚电路由</a:t>
            </a:r>
            <a:r>
              <a:rPr lang="zh-CN" altLang="en-US" sz="2800" dirty="0">
                <a:solidFill>
                  <a:srgbClr val="0033CC"/>
                </a:solidFill>
                <a:latin typeface="黑体" panose="02010609060101010101" pitchFamily="2" charset="-122"/>
              </a:rPr>
              <a:t>入口号</a:t>
            </a:r>
            <a:r>
              <a:rPr lang="zh-CN" altLang="en-US" sz="2800" dirty="0">
                <a:latin typeface="黑体" panose="02010609060101010101" pitchFamily="2" charset="-122"/>
              </a:rPr>
              <a:t>和</a:t>
            </a:r>
            <a:r>
              <a:rPr lang="zh-CN" altLang="en-US" sz="2800" dirty="0">
                <a:solidFill>
                  <a:srgbClr val="0033CC"/>
                </a:solidFill>
                <a:latin typeface="黑体" panose="02010609060101010101" pitchFamily="2" charset="-122"/>
              </a:rPr>
              <a:t>出口号</a:t>
            </a:r>
            <a:r>
              <a:rPr lang="zh-CN" altLang="en-US" sz="2800" dirty="0">
                <a:latin typeface="黑体" panose="02010609060101010101" pitchFamily="2" charset="-122"/>
              </a:rPr>
              <a:t>共同标识，入口号由自身确定，出口号通过反馈方式由下游节点告知</a:t>
            </a:r>
            <a:endParaRPr lang="zh-CN" altLang="en-US" sz="2800" dirty="0">
              <a:latin typeface="Comic Sans MS" panose="030F0702030302020204" pitchFamily="66" charset="0"/>
              <a:ea typeface="华文新魏" panose="02010800040101010101" pitchFamily="2" charset="-122"/>
            </a:endParaRPr>
          </a:p>
          <a:p>
            <a:pPr eaLnBrk="1" hangingPunct="1"/>
            <a:endParaRPr lang="zh-CN" altLang="en-US" sz="2800" dirty="0">
              <a:latin typeface="Comic Sans MS" panose="030F0702030302020204" pitchFamily="66" charset="0"/>
              <a:ea typeface="华文新魏" panose="02010800040101010101" pitchFamily="2" charset="-122"/>
            </a:endParaRPr>
          </a:p>
          <a:p>
            <a:pPr eaLnBrk="1" hangingPunct="1"/>
            <a:r>
              <a:rPr lang="zh-CN" altLang="en-US" sz="2800" dirty="0">
                <a:solidFill>
                  <a:srgbClr val="0033CC"/>
                </a:solidFill>
                <a:latin typeface="黑体" panose="02010609060101010101" pitchFamily="2" charset="-122"/>
                <a:cs typeface="黑体" panose="02010609060101010101" pitchFamily="2" charset="-122"/>
              </a:rPr>
              <a:t>虚电路标识</a:t>
            </a:r>
            <a:r>
              <a:rPr lang="zh-CN" altLang="en-US" sz="2800" dirty="0">
                <a:latin typeface="黑体" panose="02010609060101010101" pitchFamily="2" charset="-122"/>
                <a:cs typeface="黑体" panose="02010609060101010101" pitchFamily="2" charset="-122"/>
              </a:rPr>
              <a:t>（</a:t>
            </a:r>
            <a:r>
              <a:rPr lang="en-US" altLang="zh-CN" sz="2800" dirty="0">
                <a:latin typeface="黑体" panose="02010609060101010101" pitchFamily="2" charset="-122"/>
                <a:cs typeface="黑体" panose="02010609060101010101" pitchFamily="2" charset="-122"/>
              </a:rPr>
              <a:t>VCI</a:t>
            </a:r>
            <a:r>
              <a:rPr lang="zh-CN" altLang="en-US" sz="2800" dirty="0">
                <a:latin typeface="黑体" panose="02010609060101010101" pitchFamily="2" charset="-122"/>
                <a:cs typeface="黑体" panose="02010609060101010101" pitchFamily="2" charset="-122"/>
              </a:rPr>
              <a:t>）</a:t>
            </a:r>
            <a:r>
              <a:rPr lang="zh-CN" altLang="en-US" sz="2800" dirty="0">
                <a:latin typeface="Comic Sans MS" panose="030F0702030302020204" pitchFamily="66" charset="0"/>
                <a:ea typeface="华文新魏" panose="02010800040101010101" pitchFamily="2" charset="-122"/>
              </a:rPr>
              <a:t> ：</a:t>
            </a:r>
            <a:r>
              <a:rPr lang="zh-CN" altLang="en-US" sz="2800" dirty="0"/>
              <a:t>输入VCI与输出VCI用于标识数据包的通路号，局部标识。</a:t>
            </a:r>
          </a:p>
        </p:txBody>
      </p:sp>
      <p:sp>
        <p:nvSpPr>
          <p:cNvPr id="521220" name="AutoShape 52"/>
          <p:cNvSpPr>
            <a:spLocks noChangeArrowheads="1"/>
          </p:cNvSpPr>
          <p:nvPr/>
        </p:nvSpPr>
        <p:spPr bwMode="auto">
          <a:xfrm>
            <a:off x="4724400" y="122555"/>
            <a:ext cx="4800600" cy="1325245"/>
          </a:xfrm>
          <a:prstGeom prst="wedgeRoundRectCallout">
            <a:avLst>
              <a:gd name="adj1" fmla="val -29333"/>
              <a:gd name="adj2" fmla="val 82352"/>
              <a:gd name="adj3" fmla="val 16667"/>
            </a:avLst>
          </a:prstGeom>
          <a:solidFill>
            <a:schemeClr val="accent1"/>
          </a:soli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latin typeface="黑体" panose="02010609060101010101" pitchFamily="2" charset="-122"/>
                <a:ea typeface="黑体" panose="02010609060101010101" pitchFamily="2" charset="-122"/>
                <a:cs typeface="黑体" panose="02010609060101010101" pitchFamily="2" charset="-122"/>
              </a:rPr>
              <a:t>VC</a:t>
            </a:r>
            <a:r>
              <a:rPr lang="zh-CN" altLang="en-US" sz="2000" b="1">
                <a:latin typeface="黑体" panose="02010609060101010101" pitchFamily="2" charset="-122"/>
                <a:ea typeface="黑体" panose="02010609060101010101" pitchFamily="2" charset="-122"/>
                <a:cs typeface="黑体" panose="02010609060101010101" pitchFamily="2" charset="-122"/>
              </a:rPr>
              <a:t>表记录：</a:t>
            </a:r>
          </a:p>
          <a:p>
            <a:pPr eaLnBrk="1" hangingPunct="1"/>
            <a:r>
              <a:rPr lang="zh-CN" altLang="en-US" sz="2000" b="1">
                <a:latin typeface="黑体" panose="02010609060101010101" pitchFamily="2" charset="-122"/>
                <a:ea typeface="黑体" panose="02010609060101010101" pitchFamily="2" charset="-122"/>
                <a:cs typeface="黑体" panose="02010609060101010101" pitchFamily="2" charset="-122"/>
              </a:rPr>
              <a:t>输入端口</a:t>
            </a:r>
            <a:r>
              <a:rPr lang="en-US" altLang="zh-CN" sz="2000" b="1">
                <a:latin typeface="黑体" panose="02010609060101010101" pitchFamily="2" charset="-122"/>
                <a:ea typeface="黑体" panose="02010609060101010101" pitchFamily="2" charset="-122"/>
                <a:cs typeface="黑体" panose="02010609060101010101" pitchFamily="2" charset="-122"/>
              </a:rPr>
              <a:t>+</a:t>
            </a:r>
            <a:r>
              <a:rPr lang="zh-CN" altLang="en-US" sz="2000" b="1">
                <a:latin typeface="黑体" panose="02010609060101010101" pitchFamily="2" charset="-122"/>
                <a:ea typeface="黑体" panose="02010609060101010101" pitchFamily="2" charset="-122"/>
                <a:cs typeface="黑体" panose="02010609060101010101" pitchFamily="2" charset="-122"/>
              </a:rPr>
              <a:t>分组输入时的</a:t>
            </a:r>
            <a:r>
              <a:rPr lang="en-US" altLang="zh-CN" sz="2000" b="1">
                <a:latin typeface="黑体" panose="02010609060101010101" pitchFamily="2" charset="-122"/>
                <a:ea typeface="黑体" panose="02010609060101010101" pitchFamily="2" charset="-122"/>
                <a:cs typeface="黑体" panose="02010609060101010101" pitchFamily="2" charset="-122"/>
              </a:rPr>
              <a:t>VCI</a:t>
            </a:r>
          </a:p>
          <a:p>
            <a:pPr eaLnBrk="1" hangingPunct="1"/>
            <a:r>
              <a:rPr lang="en-US" altLang="zh-CN" sz="2000" b="1">
                <a:latin typeface="黑体" panose="02010609060101010101" pitchFamily="2" charset="-122"/>
                <a:ea typeface="黑体" panose="02010609060101010101" pitchFamily="2" charset="-122"/>
                <a:cs typeface="黑体" panose="02010609060101010101" pitchFamily="2" charset="-122"/>
              </a:rPr>
              <a:t>+VC</a:t>
            </a:r>
            <a:r>
              <a:rPr lang="zh-CN" altLang="en-US" sz="2000" b="1">
                <a:latin typeface="黑体" panose="02010609060101010101" pitchFamily="2" charset="-122"/>
                <a:ea typeface="黑体" panose="02010609060101010101" pitchFamily="2" charset="-122"/>
                <a:cs typeface="黑体" panose="02010609060101010101" pitchFamily="2" charset="-122"/>
              </a:rPr>
              <a:t>离开交换机的分组的输出端口</a:t>
            </a:r>
          </a:p>
          <a:p>
            <a:pPr eaLnBrk="1" hangingPunct="1"/>
            <a:r>
              <a:rPr lang="en-US" altLang="zh-CN" sz="2000" b="1">
                <a:latin typeface="黑体" panose="02010609060101010101" pitchFamily="2" charset="-122"/>
                <a:ea typeface="黑体" panose="02010609060101010101" pitchFamily="2" charset="-122"/>
                <a:cs typeface="黑体" panose="02010609060101010101" pitchFamily="2" charset="-122"/>
              </a:rPr>
              <a:t>+</a:t>
            </a:r>
            <a:r>
              <a:rPr lang="zh-CN" altLang="en-US" sz="2000" b="1">
                <a:latin typeface="黑体" panose="02010609060101010101" pitchFamily="2" charset="-122"/>
                <a:ea typeface="黑体" panose="02010609060101010101" pitchFamily="2" charset="-122"/>
                <a:cs typeface="黑体" panose="02010609060101010101" pitchFamily="2" charset="-122"/>
              </a:rPr>
              <a:t>输出分组的另一个可能不同的</a:t>
            </a:r>
            <a:r>
              <a:rPr lang="en-US" altLang="zh-CN" sz="2000" b="1">
                <a:latin typeface="黑体" panose="02010609060101010101" pitchFamily="2" charset="-122"/>
                <a:ea typeface="黑体" panose="02010609060101010101" pitchFamily="2" charset="-122"/>
                <a:cs typeface="黑体" panose="02010609060101010101" pitchFamily="2" charset="-122"/>
              </a:rPr>
              <a:t>VCI</a:t>
            </a:r>
          </a:p>
        </p:txBody>
      </p:sp>
      <p:pic>
        <p:nvPicPr>
          <p:cNvPr id="90118" name="Object 12"/>
          <p:cNvPicPr>
            <a:picLocks noGrp="1"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362201" y="4939665"/>
            <a:ext cx="5205413" cy="148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1960280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21219">
                                            <p:txEl>
                                              <p:pRg st="0" end="0"/>
                                            </p:txEl>
                                          </p:spTgt>
                                        </p:tgtEl>
                                        <p:attrNameLst>
                                          <p:attrName>style.visibility</p:attrName>
                                        </p:attrNameLst>
                                      </p:cBhvr>
                                      <p:to>
                                        <p:strVal val="visible"/>
                                      </p:to>
                                    </p:set>
                                    <p:animEffect transition="in" filter="blinds(horizontal)">
                                      <p:cBhvr>
                                        <p:cTn id="7" dur="500"/>
                                        <p:tgtEl>
                                          <p:spTgt spid="52121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521219">
                                            <p:txEl>
                                              <p:pRg st="2" end="2"/>
                                            </p:txEl>
                                          </p:spTgt>
                                        </p:tgtEl>
                                        <p:attrNameLst>
                                          <p:attrName>style.visibility</p:attrName>
                                        </p:attrNameLst>
                                      </p:cBhvr>
                                      <p:to>
                                        <p:strVal val="visible"/>
                                      </p:to>
                                    </p:set>
                                    <p:animEffect transition="in" filter="blinds(horizontal)">
                                      <p:cBhvr>
                                        <p:cTn id="12" dur="500"/>
                                        <p:tgtEl>
                                          <p:spTgt spid="521219">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521220"/>
                                        </p:tgtEl>
                                        <p:attrNameLst>
                                          <p:attrName>style.visibility</p:attrName>
                                        </p:attrNameLst>
                                      </p:cBhvr>
                                      <p:to>
                                        <p:strVal val="visible"/>
                                      </p:to>
                                    </p:set>
                                    <p:animEffect transition="in" filter="fade">
                                      <p:cBhvr>
                                        <p:cTn id="17" dur="800" decel="100000"/>
                                        <p:tgtEl>
                                          <p:spTgt spid="521220"/>
                                        </p:tgtEl>
                                      </p:cBhvr>
                                    </p:animEffect>
                                    <p:anim calcmode="lin" valueType="num">
                                      <p:cBhvr>
                                        <p:cTn id="18" dur="800" decel="100000" fill="hold"/>
                                        <p:tgtEl>
                                          <p:spTgt spid="521220"/>
                                        </p:tgtEl>
                                        <p:attrNameLst>
                                          <p:attrName>style.rotation</p:attrName>
                                        </p:attrNameLst>
                                      </p:cBhvr>
                                      <p:tavLst>
                                        <p:tav tm="0">
                                          <p:val>
                                            <p:fltVal val="-90"/>
                                          </p:val>
                                        </p:tav>
                                        <p:tav tm="100000">
                                          <p:val>
                                            <p:fltVal val="0"/>
                                          </p:val>
                                        </p:tav>
                                      </p:tavLst>
                                    </p:anim>
                                    <p:anim calcmode="lin" valueType="num">
                                      <p:cBhvr>
                                        <p:cTn id="19" dur="800" decel="100000" fill="hold"/>
                                        <p:tgtEl>
                                          <p:spTgt spid="521220"/>
                                        </p:tgtEl>
                                        <p:attrNameLst>
                                          <p:attrName>ppt_x</p:attrName>
                                        </p:attrNameLst>
                                      </p:cBhvr>
                                      <p:tavLst>
                                        <p:tav tm="0">
                                          <p:val>
                                            <p:strVal val="#ppt_x+0.4"/>
                                          </p:val>
                                        </p:tav>
                                        <p:tav tm="100000">
                                          <p:val>
                                            <p:strVal val="#ppt_x-0.05"/>
                                          </p:val>
                                        </p:tav>
                                      </p:tavLst>
                                    </p:anim>
                                    <p:anim calcmode="lin" valueType="num">
                                      <p:cBhvr>
                                        <p:cTn id="20" dur="800" decel="100000" fill="hold"/>
                                        <p:tgtEl>
                                          <p:spTgt spid="5212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5212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521220"/>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220" grpId="0" bldLvl="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F5072815-49F5-4762-BDF4-05A551CC98D6}" type="slidenum">
              <a:rPr lang="en-US" altLang="zh-CN"/>
              <a:t>260</a:t>
            </a:fld>
            <a:endParaRPr lang="en-US" altLang="zh-CN"/>
          </a:p>
        </p:txBody>
      </p:sp>
      <p:sp>
        <p:nvSpPr>
          <p:cNvPr id="89091" name="Rectangle 2"/>
          <p:cNvSpPr>
            <a:spLocks noGrp="1" noChangeArrowheads="1"/>
          </p:cNvSpPr>
          <p:nvPr>
            <p:ph type="title"/>
          </p:nvPr>
        </p:nvSpPr>
        <p:spPr/>
        <p:txBody>
          <a:bodyPr/>
          <a:lstStyle/>
          <a:p>
            <a:pPr algn="ctr" eaLnBrk="1" hangingPunct="1"/>
            <a:r>
              <a:rPr lang="zh-CN" altLang="en-US" dirty="0"/>
              <a:t>虚电路</a:t>
            </a:r>
          </a:p>
        </p:txBody>
      </p:sp>
      <p:grpSp>
        <p:nvGrpSpPr>
          <p:cNvPr id="91140" name="Group 5"/>
          <p:cNvGrpSpPr/>
          <p:nvPr/>
        </p:nvGrpSpPr>
        <p:grpSpPr bwMode="auto">
          <a:xfrm>
            <a:off x="1131570" y="1141730"/>
            <a:ext cx="7997825" cy="3573780"/>
            <a:chOff x="480" y="2252"/>
            <a:chExt cx="4018" cy="2068"/>
          </a:xfrm>
        </p:grpSpPr>
        <p:pic>
          <p:nvPicPr>
            <p:cNvPr id="91141" name="Object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0" y="2252"/>
              <a:ext cx="4018" cy="2068"/>
            </a:xfrm>
            <a:prstGeom prst="rect">
              <a:avLst/>
            </a:prstGeom>
            <a:noFill/>
            <a:ln>
              <a:noFill/>
            </a:ln>
            <a:effectLst/>
            <a:extLst>
              <a:ext uri="{909E8E84-426E-40DD-AFC4-6F175D3DCCD1}">
                <a14:hiddenFill xmlns:a14="http://schemas.microsoft.com/office/drawing/2010/main">
                  <a:solidFill>
                    <a:srgbClr val="CCCC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142" name="Text Box 7"/>
            <p:cNvSpPr txBox="1">
              <a:spLocks noChangeArrowheads="1"/>
            </p:cNvSpPr>
            <p:nvPr/>
          </p:nvSpPr>
          <p:spPr bwMode="auto">
            <a:xfrm>
              <a:off x="1490" y="3523"/>
              <a:ext cx="478"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1000" b="1" dirty="0">
                  <a:solidFill>
                    <a:srgbClr val="000000"/>
                  </a:solidFill>
                </a:rPr>
                <a:t>交换机</a:t>
              </a:r>
              <a:r>
                <a:rPr lang="en-US" altLang="zh-CN" sz="1000" b="1" dirty="0">
                  <a:solidFill>
                    <a:srgbClr val="000000"/>
                  </a:solidFill>
                </a:rPr>
                <a:t>1</a:t>
              </a:r>
            </a:p>
          </p:txBody>
        </p:sp>
        <p:sp>
          <p:nvSpPr>
            <p:cNvPr id="91143" name="Text Box 8"/>
            <p:cNvSpPr txBox="1">
              <a:spLocks noChangeArrowheads="1"/>
            </p:cNvSpPr>
            <p:nvPr/>
          </p:nvSpPr>
          <p:spPr bwMode="auto">
            <a:xfrm>
              <a:off x="2400" y="2803"/>
              <a:ext cx="480"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1000" b="1">
                  <a:solidFill>
                    <a:srgbClr val="000000"/>
                  </a:solidFill>
                </a:rPr>
                <a:t>交换机</a:t>
              </a:r>
              <a:r>
                <a:rPr lang="en-US" altLang="zh-CN" sz="1000" b="1">
                  <a:solidFill>
                    <a:srgbClr val="000000"/>
                  </a:solidFill>
                </a:rPr>
                <a:t>2</a:t>
              </a:r>
            </a:p>
          </p:txBody>
        </p:sp>
        <p:sp>
          <p:nvSpPr>
            <p:cNvPr id="91144" name="Text Box 9"/>
            <p:cNvSpPr txBox="1">
              <a:spLocks noChangeArrowheads="1"/>
            </p:cNvSpPr>
            <p:nvPr/>
          </p:nvSpPr>
          <p:spPr bwMode="auto">
            <a:xfrm>
              <a:off x="2208" y="3800"/>
              <a:ext cx="481"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1000" b="1">
                  <a:solidFill>
                    <a:srgbClr val="000000"/>
                  </a:solidFill>
                </a:rPr>
                <a:t>交换机</a:t>
              </a:r>
              <a:r>
                <a:rPr lang="en-US" altLang="zh-CN" sz="1000" b="1">
                  <a:solidFill>
                    <a:srgbClr val="000000"/>
                  </a:solidFill>
                </a:rPr>
                <a:t>3</a:t>
              </a:r>
            </a:p>
          </p:txBody>
        </p:sp>
        <p:sp>
          <p:nvSpPr>
            <p:cNvPr id="91145" name="Text Box 10"/>
            <p:cNvSpPr txBox="1">
              <a:spLocks noChangeArrowheads="1"/>
            </p:cNvSpPr>
            <p:nvPr/>
          </p:nvSpPr>
          <p:spPr bwMode="auto">
            <a:xfrm>
              <a:off x="2977" y="3514"/>
              <a:ext cx="479"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1000" b="1">
                  <a:solidFill>
                    <a:srgbClr val="000000"/>
                  </a:solidFill>
                </a:rPr>
                <a:t>交换机</a:t>
              </a:r>
              <a:r>
                <a:rPr lang="en-US" altLang="zh-CN" sz="1000" b="1">
                  <a:solidFill>
                    <a:srgbClr val="000000"/>
                  </a:solidFill>
                </a:rPr>
                <a:t>4</a:t>
              </a:r>
            </a:p>
          </p:txBody>
        </p:sp>
      </p:grpSp>
      <p:pic>
        <p:nvPicPr>
          <p:cNvPr id="522242" name="Picture 2"/>
          <p:cNvPicPr>
            <a:picLocks noGrp="1" noChangeAspect="1" noChangeArrowheads="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1942465" y="4402455"/>
            <a:ext cx="6172200" cy="2287588"/>
          </a:xfrm>
        </p:spPr>
      </p:pic>
    </p:spTree>
    <p:extLst>
      <p:ext uri="{BB962C8B-B14F-4D97-AF65-F5344CB8AC3E}">
        <p14:creationId xmlns:p14="http://schemas.microsoft.com/office/powerpoint/2010/main" val="210247068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22242"/>
                                        </p:tgtEl>
                                        <p:attrNameLst>
                                          <p:attrName>style.visibility</p:attrName>
                                        </p:attrNameLst>
                                      </p:cBhvr>
                                      <p:to>
                                        <p:strVal val="visible"/>
                                      </p:to>
                                    </p:set>
                                    <p:animEffect transition="in" filter="blinds(horizontal)">
                                      <p:cBhvr>
                                        <p:cTn id="7" dur="500"/>
                                        <p:tgtEl>
                                          <p:spTgt spid="522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F5072815-49F5-4762-BDF4-05A551CC98D6}" type="slidenum">
              <a:rPr lang="en-US" altLang="zh-CN"/>
              <a:t>261</a:t>
            </a:fld>
            <a:endParaRPr lang="en-US" altLang="zh-CN"/>
          </a:p>
        </p:txBody>
      </p:sp>
      <p:sp>
        <p:nvSpPr>
          <p:cNvPr id="89091" name="Rectangle 2"/>
          <p:cNvSpPr>
            <a:spLocks noGrp="1" noChangeArrowheads="1"/>
          </p:cNvSpPr>
          <p:nvPr>
            <p:ph type="title"/>
          </p:nvPr>
        </p:nvSpPr>
        <p:spPr/>
        <p:txBody>
          <a:bodyPr/>
          <a:lstStyle/>
          <a:p>
            <a:pPr algn="ctr" eaLnBrk="1" hangingPunct="1"/>
            <a:r>
              <a:rPr lang="zh-CN" altLang="en-US" dirty="0"/>
              <a:t>虚电路的分类</a:t>
            </a:r>
          </a:p>
        </p:txBody>
      </p:sp>
      <p:sp>
        <p:nvSpPr>
          <p:cNvPr id="520195" name="Rectangle 3"/>
          <p:cNvSpPr>
            <a:spLocks noGrp="1" noChangeArrowheads="1"/>
          </p:cNvSpPr>
          <p:nvPr>
            <p:ph type="body" idx="1"/>
          </p:nvPr>
        </p:nvSpPr>
        <p:spPr/>
        <p:txBody>
          <a:bodyPr/>
          <a:lstStyle/>
          <a:p>
            <a:pPr eaLnBrk="1" hangingPunct="1">
              <a:buFont typeface="Wingdings" panose="05000000000000000000" pitchFamily="2" charset="2"/>
              <a:buNone/>
            </a:pPr>
            <a:r>
              <a:rPr lang="zh-CN" altLang="en-US" sz="2800" dirty="0"/>
              <a:t>① </a:t>
            </a:r>
            <a:r>
              <a:rPr lang="zh-CN" altLang="en-US" sz="2800">
                <a:solidFill>
                  <a:srgbClr val="0033CC"/>
                </a:solidFill>
                <a:latin typeface="黑体" panose="02010609060101010101" pitchFamily="2" charset="-122"/>
              </a:rPr>
              <a:t>永久虚电路</a:t>
            </a:r>
            <a:r>
              <a:rPr lang="zh-CN" altLang="en-US" sz="2800" dirty="0"/>
              <a:t>（PVC：Permanent VC）：用户一开机，一条永久虚电路就自动建立起来了 </a:t>
            </a:r>
            <a:endParaRPr lang="zh-CN" altLang="en-US" sz="2800">
              <a:latin typeface="Comic Sans MS" panose="030F0702030302020204" pitchFamily="66" charset="0"/>
              <a:ea typeface="华文新魏" panose="02010800040101010101" pitchFamily="2" charset="-122"/>
            </a:endParaRPr>
          </a:p>
          <a:p>
            <a:pPr lvl="1" eaLnBrk="1" hangingPunct="1"/>
            <a:r>
              <a:rPr lang="zh-CN" altLang="en-US" sz="2400" dirty="0">
                <a:cs typeface="+mn-cs"/>
              </a:rPr>
              <a:t>管理员配置建立</a:t>
            </a:r>
          </a:p>
          <a:p>
            <a:pPr lvl="1" eaLnBrk="1" hangingPunct="1"/>
            <a:r>
              <a:rPr lang="zh-CN" altLang="en-US" sz="2400" dirty="0">
                <a:cs typeface="+mn-cs"/>
              </a:rPr>
              <a:t>长期存在的连接</a:t>
            </a:r>
            <a:endParaRPr lang="zh-CN" altLang="en-US" sz="2400">
              <a:latin typeface="Comic Sans MS" panose="030F0702030302020204" pitchFamily="66" charset="0"/>
              <a:ea typeface="华文新魏" panose="02010800040101010101" pitchFamily="2" charset="-122"/>
            </a:endParaRPr>
          </a:p>
          <a:p>
            <a:pPr lvl="1" eaLnBrk="1" hangingPunct="1"/>
            <a:endParaRPr lang="zh-CN" altLang="en-US" sz="2400">
              <a:latin typeface="Comic Sans MS" panose="030F0702030302020204" pitchFamily="66" charset="0"/>
              <a:ea typeface="华文新魏" panose="02010800040101010101" pitchFamily="2" charset="-122"/>
            </a:endParaRPr>
          </a:p>
          <a:p>
            <a:pPr eaLnBrk="1" hangingPunct="1">
              <a:buFont typeface="Wingdings" panose="05000000000000000000" pitchFamily="2" charset="2"/>
              <a:buNone/>
            </a:pPr>
            <a:r>
              <a:rPr lang="zh-CN" altLang="en-US" sz="2800" dirty="0"/>
              <a:t>②</a:t>
            </a:r>
            <a:r>
              <a:rPr lang="zh-CN" altLang="en-US" sz="2800">
                <a:latin typeface="Comic Sans MS" panose="030F0702030302020204" pitchFamily="66" charset="0"/>
                <a:ea typeface="华文新魏" panose="02010800040101010101" pitchFamily="2" charset="-122"/>
              </a:rPr>
              <a:t> </a:t>
            </a:r>
            <a:r>
              <a:rPr lang="zh-CN" altLang="en-US" sz="2800">
                <a:solidFill>
                  <a:srgbClr val="0033CC"/>
                </a:solidFill>
                <a:latin typeface="黑体" panose="02010609060101010101" pitchFamily="2" charset="-122"/>
              </a:rPr>
              <a:t>交换虚电路</a:t>
            </a:r>
            <a:r>
              <a:rPr lang="zh-CN" altLang="en-US" sz="2800" dirty="0"/>
              <a:t>（SVC：Switched VC）：在两个用户之间建立的临时逻辑连接 。一旦通信会话完成，便取消虚电路</a:t>
            </a:r>
            <a:endParaRPr lang="zh-CN" altLang="en-US" sz="2800">
              <a:latin typeface="Comic Sans MS" panose="030F0702030302020204" pitchFamily="66" charset="0"/>
              <a:ea typeface="华文新魏" panose="02010800040101010101" pitchFamily="2" charset="-122"/>
            </a:endParaRPr>
          </a:p>
          <a:p>
            <a:pPr lvl="1" algn="l" eaLnBrk="1" hangingPunct="1"/>
            <a:r>
              <a:rPr lang="zh-CN" altLang="en-US" sz="2400" dirty="0">
                <a:cs typeface="+mn-cs"/>
              </a:rPr>
              <a:t>主机通过发起信令建立</a:t>
            </a:r>
          </a:p>
          <a:p>
            <a:pPr lvl="1" algn="l" eaLnBrk="1" hangingPunct="1"/>
            <a:r>
              <a:rPr lang="zh-CN" altLang="en-US" sz="2400" dirty="0">
                <a:cs typeface="+mn-cs"/>
              </a:rPr>
              <a:t>为每个请求动态设置的</a:t>
            </a:r>
          </a:p>
        </p:txBody>
      </p:sp>
    </p:spTree>
    <p:extLst>
      <p:ext uri="{BB962C8B-B14F-4D97-AF65-F5344CB8AC3E}">
        <p14:creationId xmlns:p14="http://schemas.microsoft.com/office/powerpoint/2010/main" val="356712759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20195">
                                            <p:txEl>
                                              <p:pRg st="0" end="0"/>
                                            </p:txEl>
                                          </p:spTgt>
                                        </p:tgtEl>
                                        <p:attrNameLst>
                                          <p:attrName>style.visibility</p:attrName>
                                        </p:attrNameLst>
                                      </p:cBhvr>
                                      <p:to>
                                        <p:strVal val="visible"/>
                                      </p:to>
                                    </p:set>
                                    <p:animEffect transition="in" filter="blinds(horizontal)">
                                      <p:cBhvr>
                                        <p:cTn id="7" dur="500"/>
                                        <p:tgtEl>
                                          <p:spTgt spid="52019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520195">
                                            <p:txEl>
                                              <p:pRg st="4" end="4"/>
                                            </p:txEl>
                                          </p:spTgt>
                                        </p:tgtEl>
                                        <p:attrNameLst>
                                          <p:attrName>style.visibility</p:attrName>
                                        </p:attrNameLst>
                                      </p:cBhvr>
                                      <p:to>
                                        <p:strVal val="visible"/>
                                      </p:to>
                                    </p:set>
                                    <p:animEffect transition="in" filter="blinds(horizontal)">
                                      <p:cBhvr>
                                        <p:cTn id="12" dur="500"/>
                                        <p:tgtEl>
                                          <p:spTgt spid="520195">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520195">
                                            <p:txEl>
                                              <p:pRg st="1" end="1"/>
                                            </p:txEl>
                                          </p:spTgt>
                                        </p:tgtEl>
                                        <p:attrNameLst>
                                          <p:attrName>style.visibility</p:attrName>
                                        </p:attrNameLst>
                                      </p:cBhvr>
                                      <p:to>
                                        <p:strVal val="visible"/>
                                      </p:to>
                                    </p:set>
                                    <p:animEffect transition="in" filter="blinds(horizontal)">
                                      <p:cBhvr>
                                        <p:cTn id="17" dur="500"/>
                                        <p:tgtEl>
                                          <p:spTgt spid="520195">
                                            <p:txEl>
                                              <p:pRg st="1" end="1"/>
                                            </p:txEl>
                                          </p:spTgt>
                                        </p:tgtEl>
                                      </p:cBhvr>
                                    </p:animEffect>
                                  </p:childTnLst>
                                </p:cTn>
                              </p:par>
                              <p:par>
                                <p:cTn id="18" presetID="3" presetClass="entr" presetSubtype="10" fill="hold" nodeType="withEffect">
                                  <p:stCondLst>
                                    <p:cond delay="0"/>
                                  </p:stCondLst>
                                  <p:childTnLst>
                                    <p:set>
                                      <p:cBhvr>
                                        <p:cTn id="19" dur="1" fill="hold">
                                          <p:stCondLst>
                                            <p:cond delay="0"/>
                                          </p:stCondLst>
                                        </p:cTn>
                                        <p:tgtEl>
                                          <p:spTgt spid="520195">
                                            <p:txEl>
                                              <p:pRg st="2" end="2"/>
                                            </p:txEl>
                                          </p:spTgt>
                                        </p:tgtEl>
                                        <p:attrNameLst>
                                          <p:attrName>style.visibility</p:attrName>
                                        </p:attrNameLst>
                                      </p:cBhvr>
                                      <p:to>
                                        <p:strVal val="visible"/>
                                      </p:to>
                                    </p:set>
                                    <p:animEffect transition="in" filter="blinds(horizontal)">
                                      <p:cBhvr>
                                        <p:cTn id="20" dur="500"/>
                                        <p:tgtEl>
                                          <p:spTgt spid="52019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nodeType="clickEffect">
                                  <p:stCondLst>
                                    <p:cond delay="0"/>
                                  </p:stCondLst>
                                  <p:childTnLst>
                                    <p:set>
                                      <p:cBhvr>
                                        <p:cTn id="24" dur="1" fill="hold">
                                          <p:stCondLst>
                                            <p:cond delay="0"/>
                                          </p:stCondLst>
                                        </p:cTn>
                                        <p:tgtEl>
                                          <p:spTgt spid="520195">
                                            <p:txEl>
                                              <p:pRg st="5" end="5"/>
                                            </p:txEl>
                                          </p:spTgt>
                                        </p:tgtEl>
                                        <p:attrNameLst>
                                          <p:attrName>style.visibility</p:attrName>
                                        </p:attrNameLst>
                                      </p:cBhvr>
                                      <p:to>
                                        <p:strVal val="visible"/>
                                      </p:to>
                                    </p:set>
                                    <p:animEffect transition="in" filter="blinds(horizontal)">
                                      <p:cBhvr>
                                        <p:cTn id="25" dur="500"/>
                                        <p:tgtEl>
                                          <p:spTgt spid="520195">
                                            <p:txEl>
                                              <p:pRg st="5" end="5"/>
                                            </p:txEl>
                                          </p:spTgt>
                                        </p:tgtEl>
                                      </p:cBhvr>
                                    </p:animEffect>
                                  </p:childTnLst>
                                </p:cTn>
                              </p:par>
                              <p:par>
                                <p:cTn id="26" presetID="3" presetClass="entr" presetSubtype="10" fill="hold" nodeType="withEffect">
                                  <p:stCondLst>
                                    <p:cond delay="0"/>
                                  </p:stCondLst>
                                  <p:childTnLst>
                                    <p:set>
                                      <p:cBhvr>
                                        <p:cTn id="27" dur="1" fill="hold">
                                          <p:stCondLst>
                                            <p:cond delay="0"/>
                                          </p:stCondLst>
                                        </p:cTn>
                                        <p:tgtEl>
                                          <p:spTgt spid="520195">
                                            <p:txEl>
                                              <p:pRg st="6" end="6"/>
                                            </p:txEl>
                                          </p:spTgt>
                                        </p:tgtEl>
                                        <p:attrNameLst>
                                          <p:attrName>style.visibility</p:attrName>
                                        </p:attrNameLst>
                                      </p:cBhvr>
                                      <p:to>
                                        <p:strVal val="visible"/>
                                      </p:to>
                                    </p:set>
                                    <p:animEffect transition="in" filter="blinds(horizontal)">
                                      <p:cBhvr>
                                        <p:cTn id="28" dur="500"/>
                                        <p:tgtEl>
                                          <p:spTgt spid="52019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2"/>
          <p:cNvSpPr>
            <a:spLocks noGrp="1" noChangeArrowheads="1"/>
          </p:cNvSpPr>
          <p:nvPr>
            <p:ph type="title"/>
          </p:nvPr>
        </p:nvSpPr>
        <p:spPr/>
        <p:txBody>
          <a:bodyPr/>
          <a:lstStyle/>
          <a:p>
            <a:pPr algn="ctr"/>
            <a:r>
              <a:rPr lang="zh-CN" altLang="en-US" dirty="0"/>
              <a:t>另一种观点：网络提供数据报服务</a:t>
            </a:r>
          </a:p>
        </p:txBody>
      </p:sp>
      <p:sp>
        <p:nvSpPr>
          <p:cNvPr id="940035" name="Rectangle 3"/>
          <p:cNvSpPr>
            <a:spLocks noGrp="1" noChangeArrowheads="1"/>
          </p:cNvSpPr>
          <p:nvPr>
            <p:ph idx="1"/>
          </p:nvPr>
        </p:nvSpPr>
        <p:spPr/>
        <p:txBody>
          <a:bodyPr/>
          <a:lstStyle/>
          <a:p>
            <a:r>
              <a:rPr lang="zh-CN" altLang="zh-CN" sz="2800" dirty="0"/>
              <a:t>互联网的先驱者提出</a:t>
            </a:r>
            <a:r>
              <a:rPr lang="zh-CN" altLang="en-US" sz="2800" dirty="0"/>
              <a:t>了</a:t>
            </a:r>
            <a:r>
              <a:rPr lang="zh-CN" altLang="zh-CN" sz="2800" dirty="0"/>
              <a:t>一种崭新的网络设计思路</a:t>
            </a:r>
            <a:r>
              <a:rPr lang="zh-CN" altLang="en-US" sz="2800" dirty="0"/>
              <a:t>。</a:t>
            </a:r>
            <a:endParaRPr lang="en-US" altLang="zh-CN" sz="2800" dirty="0"/>
          </a:p>
          <a:p>
            <a:r>
              <a:rPr lang="zh-CN" altLang="en-US" sz="2800" dirty="0"/>
              <a:t>网络层向上只提供简单灵活的、</a:t>
            </a:r>
            <a:r>
              <a:rPr lang="zh-CN" altLang="en-US" sz="2800" dirty="0">
                <a:solidFill>
                  <a:srgbClr val="FF0000"/>
                </a:solidFill>
              </a:rPr>
              <a:t>无连接的、尽最大努力交付</a:t>
            </a:r>
            <a:r>
              <a:rPr lang="zh-CN" altLang="en-US" sz="2800" dirty="0"/>
              <a:t>的</a:t>
            </a:r>
            <a:r>
              <a:rPr lang="zh-CN" altLang="en-US" sz="2800" dirty="0">
                <a:solidFill>
                  <a:srgbClr val="FF0000"/>
                </a:solidFill>
              </a:rPr>
              <a:t>数据报服务。</a:t>
            </a:r>
          </a:p>
          <a:p>
            <a:r>
              <a:rPr lang="zh-CN" altLang="en-US" sz="2800" dirty="0"/>
              <a:t>网络在发送分组时不需要先建立连接。每一个分组（即 </a:t>
            </a:r>
            <a:r>
              <a:rPr lang="en-US" altLang="zh-CN" sz="2800" dirty="0"/>
              <a:t>IP </a:t>
            </a:r>
            <a:r>
              <a:rPr lang="zh-CN" altLang="en-US" sz="2800" dirty="0"/>
              <a:t>数据报）独立发送，与其前后的分组无关（不进行编号）。</a:t>
            </a:r>
          </a:p>
          <a:p>
            <a:r>
              <a:rPr lang="zh-CN" altLang="en-US" sz="2800" dirty="0">
                <a:solidFill>
                  <a:srgbClr val="FF0000"/>
                </a:solidFill>
              </a:rPr>
              <a:t>网络层不提供服务质量的承诺。</a:t>
            </a:r>
            <a:r>
              <a:rPr lang="zh-CN" altLang="en-US" sz="2800" dirty="0"/>
              <a:t>即所传送的分组可能出错、丢失、重复和失序（不按序到达终点），当然也不保证分组传送的时限。 </a:t>
            </a:r>
          </a:p>
        </p:txBody>
      </p:sp>
    </p:spTree>
    <p:extLst>
      <p:ext uri="{BB962C8B-B14F-4D97-AF65-F5344CB8AC3E}">
        <p14:creationId xmlns:p14="http://schemas.microsoft.com/office/powerpoint/2010/main" val="86103163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2"/>
          <p:cNvSpPr>
            <a:spLocks noGrp="1" noChangeArrowheads="1"/>
          </p:cNvSpPr>
          <p:nvPr>
            <p:ph type="title"/>
          </p:nvPr>
        </p:nvSpPr>
        <p:spPr/>
        <p:txBody>
          <a:bodyPr/>
          <a:lstStyle/>
          <a:p>
            <a:pPr algn="ctr"/>
            <a:r>
              <a:rPr lang="zh-CN" altLang="en-US" dirty="0"/>
              <a:t>尽最大努力交付</a:t>
            </a:r>
          </a:p>
        </p:txBody>
      </p:sp>
      <p:sp>
        <p:nvSpPr>
          <p:cNvPr id="943107" name="Rectangle 3"/>
          <p:cNvSpPr>
            <a:spLocks noGrp="1" noChangeArrowheads="1"/>
          </p:cNvSpPr>
          <p:nvPr>
            <p:ph idx="1"/>
          </p:nvPr>
        </p:nvSpPr>
        <p:spPr/>
        <p:txBody>
          <a:bodyPr/>
          <a:lstStyle/>
          <a:p>
            <a:r>
              <a:rPr lang="zh-CN" altLang="en-US" sz="2800" dirty="0"/>
              <a:t>由于传输</a:t>
            </a:r>
            <a:r>
              <a:rPr lang="zh-CN" altLang="en-US" sz="2800" dirty="0">
                <a:solidFill>
                  <a:srgbClr val="FF0000"/>
                </a:solidFill>
              </a:rPr>
              <a:t>网络不提供端到端的可靠传输服务，</a:t>
            </a:r>
            <a:r>
              <a:rPr lang="zh-CN" altLang="en-US" sz="2800" dirty="0"/>
              <a:t>这就使网络中的路由器可以做得比较简单，而且价格低廉（与电信网的交换机相比较）。</a:t>
            </a:r>
          </a:p>
          <a:p>
            <a:r>
              <a:rPr lang="zh-CN" altLang="en-US" sz="2800" dirty="0"/>
              <a:t>如果主机（即端系统）中的进程之间的通信需要是可靠的，那么就由网络的</a:t>
            </a:r>
            <a:r>
              <a:rPr lang="zh-CN" altLang="en-US" sz="2800" dirty="0">
                <a:solidFill>
                  <a:srgbClr val="FF0000"/>
                </a:solidFill>
              </a:rPr>
              <a:t>主机中的运输层负责可靠交付（包括差错处理、流量控制等）。</a:t>
            </a:r>
          </a:p>
          <a:p>
            <a:r>
              <a:rPr lang="zh-CN" altLang="en-US" sz="2800" dirty="0">
                <a:solidFill>
                  <a:srgbClr val="0000FF"/>
                </a:solidFill>
              </a:rPr>
              <a:t>采用这种设计思路的好处是：</a:t>
            </a:r>
            <a:r>
              <a:rPr lang="zh-CN" altLang="en-US" sz="2800" dirty="0"/>
              <a:t>网络的造价大大降低，运行方式灵活，能够适应多种应用。</a:t>
            </a:r>
          </a:p>
          <a:p>
            <a:r>
              <a:rPr lang="zh-CN" altLang="en-US" sz="2800" dirty="0"/>
              <a:t>互连网能够发展到今日的规模，充分证明了当初采用这种设计思路的正确性。 </a:t>
            </a:r>
          </a:p>
        </p:txBody>
      </p:sp>
    </p:spTree>
    <p:extLst>
      <p:ext uri="{BB962C8B-B14F-4D97-AF65-F5344CB8AC3E}">
        <p14:creationId xmlns:p14="http://schemas.microsoft.com/office/powerpoint/2010/main" val="3708808624"/>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p>
            <a:pPr algn="ctr"/>
            <a:r>
              <a:rPr lang="zh-CN" altLang="en-US"/>
              <a:t>数据报服务</a:t>
            </a:r>
          </a:p>
        </p:txBody>
      </p:sp>
      <p:grpSp>
        <p:nvGrpSpPr>
          <p:cNvPr id="3" name="组合 2"/>
          <p:cNvGrpSpPr/>
          <p:nvPr/>
        </p:nvGrpSpPr>
        <p:grpSpPr>
          <a:xfrm>
            <a:off x="704528" y="1772816"/>
            <a:ext cx="8568952" cy="3187516"/>
            <a:chOff x="704528" y="1772816"/>
            <a:chExt cx="8568952" cy="3187516"/>
          </a:xfrm>
        </p:grpSpPr>
        <p:sp>
          <p:nvSpPr>
            <p:cNvPr id="74" name="Rectangle 2"/>
            <p:cNvSpPr>
              <a:spLocks noChangeArrowheads="1"/>
            </p:cNvSpPr>
            <p:nvPr/>
          </p:nvSpPr>
          <p:spPr bwMode="auto">
            <a:xfrm>
              <a:off x="7698556" y="25364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5" name="Text Box 3"/>
            <p:cNvSpPr txBox="1">
              <a:spLocks noChangeArrowheads="1"/>
            </p:cNvSpPr>
            <p:nvPr/>
          </p:nvSpPr>
          <p:spPr bwMode="auto">
            <a:xfrm>
              <a:off x="7592838" y="1845841"/>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物理层</a:t>
              </a:r>
            </a:p>
          </p:txBody>
        </p:sp>
        <p:sp>
          <p:nvSpPr>
            <p:cNvPr id="76" name="Rectangle 4"/>
            <p:cNvSpPr>
              <a:spLocks noChangeArrowheads="1"/>
            </p:cNvSpPr>
            <p:nvPr/>
          </p:nvSpPr>
          <p:spPr bwMode="auto">
            <a:xfrm>
              <a:off x="808658" y="24475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7" name="Text Box 5"/>
            <p:cNvSpPr txBox="1">
              <a:spLocks noChangeArrowheads="1"/>
            </p:cNvSpPr>
            <p:nvPr/>
          </p:nvSpPr>
          <p:spPr bwMode="auto">
            <a:xfrm>
              <a:off x="704528" y="1772816"/>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000099"/>
                  </a:solidFill>
                  <a:effectLst/>
                  <a:uLnTx/>
                  <a:uFillTx/>
                  <a:latin typeface="+mn-lt"/>
                  <a:ea typeface="黑体" panose="02010609060101010101" pitchFamily="2" charset="-122"/>
                </a:rPr>
                <a:t>物理层</a:t>
              </a:r>
            </a:p>
          </p:txBody>
        </p:sp>
        <p:sp>
          <p:nvSpPr>
            <p:cNvPr id="78" name="Line 7"/>
            <p:cNvSpPr>
              <a:spLocks noChangeShapeType="1"/>
            </p:cNvSpPr>
            <p:nvPr/>
          </p:nvSpPr>
          <p:spPr bwMode="auto">
            <a:xfrm>
              <a:off x="5012506" y="2060154"/>
              <a:ext cx="53975" cy="58102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9" name="AutoShape 8"/>
            <p:cNvSpPr>
              <a:spLocks noChangeArrowheads="1"/>
            </p:cNvSpPr>
            <p:nvPr/>
          </p:nvSpPr>
          <p:spPr bwMode="auto">
            <a:xfrm>
              <a:off x="4144144" y="3226966"/>
              <a:ext cx="636587" cy="627063"/>
            </a:xfrm>
            <a:prstGeom prst="irregularSeal2">
              <a:avLst/>
            </a:prstGeom>
            <a:solidFill>
              <a:srgbClr val="FFCCCC"/>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0" name="Line 9"/>
            <p:cNvSpPr>
              <a:spLocks noChangeShapeType="1"/>
            </p:cNvSpPr>
            <p:nvPr/>
          </p:nvSpPr>
          <p:spPr bwMode="auto">
            <a:xfrm>
              <a:off x="2553469" y="2958679"/>
              <a:ext cx="477837" cy="26828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1" name="Rectangle 10"/>
            <p:cNvSpPr>
              <a:spLocks noChangeArrowheads="1"/>
            </p:cNvSpPr>
            <p:nvPr/>
          </p:nvSpPr>
          <p:spPr bwMode="auto">
            <a:xfrm>
              <a:off x="788020" y="1836316"/>
              <a:ext cx="1452405" cy="1512888"/>
            </a:xfrm>
            <a:prstGeom prst="rect">
              <a:avLst/>
            </a:prstGeom>
            <a:noFill/>
            <a:ln w="2857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2" name="Line 11"/>
            <p:cNvSpPr>
              <a:spLocks noChangeShapeType="1"/>
            </p:cNvSpPr>
            <p:nvPr/>
          </p:nvSpPr>
          <p:spPr bwMode="auto">
            <a:xfrm>
              <a:off x="788020" y="2158579"/>
              <a:ext cx="145240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3" name="Line 12"/>
            <p:cNvSpPr>
              <a:spLocks noChangeShapeType="1"/>
            </p:cNvSpPr>
            <p:nvPr/>
          </p:nvSpPr>
          <p:spPr bwMode="auto">
            <a:xfrm>
              <a:off x="788020" y="2457029"/>
              <a:ext cx="145240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4" name="Line 13"/>
            <p:cNvSpPr>
              <a:spLocks noChangeShapeType="1"/>
            </p:cNvSpPr>
            <p:nvPr/>
          </p:nvSpPr>
          <p:spPr bwMode="auto">
            <a:xfrm>
              <a:off x="788020" y="2755479"/>
              <a:ext cx="145240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5" name="Line 14"/>
            <p:cNvSpPr>
              <a:spLocks noChangeShapeType="1"/>
            </p:cNvSpPr>
            <p:nvPr/>
          </p:nvSpPr>
          <p:spPr bwMode="auto">
            <a:xfrm>
              <a:off x="788020" y="3057104"/>
              <a:ext cx="1452405"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6" name="Rectangle 15"/>
            <p:cNvSpPr>
              <a:spLocks noChangeArrowheads="1"/>
            </p:cNvSpPr>
            <p:nvPr/>
          </p:nvSpPr>
          <p:spPr bwMode="auto">
            <a:xfrm>
              <a:off x="7679506" y="1925216"/>
              <a:ext cx="1450596" cy="1512888"/>
            </a:xfrm>
            <a:prstGeom prst="rect">
              <a:avLst/>
            </a:prstGeom>
            <a:noFill/>
            <a:ln w="2857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7" name="Line 16"/>
            <p:cNvSpPr>
              <a:spLocks noChangeShapeType="1"/>
            </p:cNvSpPr>
            <p:nvPr/>
          </p:nvSpPr>
          <p:spPr bwMode="auto">
            <a:xfrm>
              <a:off x="7679506" y="2247479"/>
              <a:ext cx="1450596"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8" name="Line 17"/>
            <p:cNvSpPr>
              <a:spLocks noChangeShapeType="1"/>
            </p:cNvSpPr>
            <p:nvPr/>
          </p:nvSpPr>
          <p:spPr bwMode="auto">
            <a:xfrm>
              <a:off x="7679506" y="2545929"/>
              <a:ext cx="1450596"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9" name="Line 18"/>
            <p:cNvSpPr>
              <a:spLocks noChangeShapeType="1"/>
            </p:cNvSpPr>
            <p:nvPr/>
          </p:nvSpPr>
          <p:spPr bwMode="auto">
            <a:xfrm>
              <a:off x="7679506" y="2844379"/>
              <a:ext cx="1450596"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0" name="Line 19"/>
            <p:cNvSpPr>
              <a:spLocks noChangeShapeType="1"/>
            </p:cNvSpPr>
            <p:nvPr/>
          </p:nvSpPr>
          <p:spPr bwMode="auto">
            <a:xfrm>
              <a:off x="7679506" y="3146004"/>
              <a:ext cx="1450596"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1" name="Text Box 20"/>
            <p:cNvSpPr txBox="1">
              <a:spLocks noChangeArrowheads="1"/>
            </p:cNvSpPr>
            <p:nvPr/>
          </p:nvSpPr>
          <p:spPr bwMode="auto">
            <a:xfrm>
              <a:off x="2394719" y="20125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rgbClr val="000099"/>
                  </a:solidFill>
                  <a:effectLst/>
                  <a:uLnTx/>
                  <a:uFillTx/>
                  <a:latin typeface="+mn-lt"/>
                  <a:ea typeface="黑体" panose="02010609060101010101"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anose="02010609060101010101" pitchFamily="2" charset="-122"/>
                </a:rPr>
                <a:t>1</a:t>
              </a:r>
            </a:p>
          </p:txBody>
        </p:sp>
        <p:pic>
          <p:nvPicPr>
            <p:cNvPr id="92"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15344" y="2390354"/>
              <a:ext cx="555625" cy="67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 name="Line 22"/>
            <p:cNvSpPr>
              <a:spLocks noChangeShapeType="1"/>
            </p:cNvSpPr>
            <p:nvPr/>
          </p:nvSpPr>
          <p:spPr bwMode="auto">
            <a:xfrm>
              <a:off x="3348806" y="3226966"/>
              <a:ext cx="1511300" cy="627063"/>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4" name="Line 23"/>
            <p:cNvSpPr>
              <a:spLocks noChangeShapeType="1"/>
            </p:cNvSpPr>
            <p:nvPr/>
          </p:nvSpPr>
          <p:spPr bwMode="auto">
            <a:xfrm flipV="1">
              <a:off x="3269431" y="2777704"/>
              <a:ext cx="1751013" cy="4492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5" name="Line 24"/>
            <p:cNvSpPr>
              <a:spLocks noChangeShapeType="1"/>
            </p:cNvSpPr>
            <p:nvPr/>
          </p:nvSpPr>
          <p:spPr bwMode="auto">
            <a:xfrm>
              <a:off x="5177606" y="2777704"/>
              <a:ext cx="1433513" cy="53816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6" name="Line 25"/>
            <p:cNvSpPr>
              <a:spLocks noChangeShapeType="1"/>
            </p:cNvSpPr>
            <p:nvPr/>
          </p:nvSpPr>
          <p:spPr bwMode="auto">
            <a:xfrm flipV="1">
              <a:off x="5020444" y="3406354"/>
              <a:ext cx="1590675" cy="447675"/>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7" name="Line 26"/>
            <p:cNvSpPr>
              <a:spLocks noChangeShapeType="1"/>
            </p:cNvSpPr>
            <p:nvPr/>
          </p:nvSpPr>
          <p:spPr bwMode="auto">
            <a:xfrm flipV="1">
              <a:off x="6688906" y="2958679"/>
              <a:ext cx="636588" cy="35718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98" name="Group 27"/>
            <p:cNvGrpSpPr/>
            <p:nvPr/>
          </p:nvGrpSpPr>
          <p:grpSpPr bwMode="auto">
            <a:xfrm>
              <a:off x="7087369" y="2012529"/>
              <a:ext cx="555625" cy="1077912"/>
              <a:chOff x="5284" y="1002"/>
              <a:chExt cx="317" cy="545"/>
            </a:xfrm>
          </p:grpSpPr>
          <p:sp>
            <p:nvSpPr>
              <p:cNvPr id="99" name="Text Box 28"/>
              <p:cNvSpPr txBox="1">
                <a:spLocks noChangeArrowheads="1"/>
              </p:cNvSpPr>
              <p:nvPr/>
            </p:nvSpPr>
            <p:spPr bwMode="auto">
              <a:xfrm>
                <a:off x="5284" y="1002"/>
                <a:ext cx="303" cy="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rgbClr val="000099"/>
                    </a:solidFill>
                    <a:effectLst/>
                    <a:uLnTx/>
                    <a:uFillTx/>
                    <a:latin typeface="+mn-lt"/>
                    <a:ea typeface="黑体" panose="02010609060101010101"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anose="02010609060101010101" pitchFamily="2" charset="-122"/>
                  </a:rPr>
                  <a:t>2</a:t>
                </a:r>
              </a:p>
            </p:txBody>
          </p:sp>
          <p:pic>
            <p:nvPicPr>
              <p:cNvPr id="100"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1" name="Line 30"/>
            <p:cNvSpPr>
              <a:spLocks noChangeShapeType="1"/>
            </p:cNvSpPr>
            <p:nvPr/>
          </p:nvSpPr>
          <p:spPr bwMode="auto">
            <a:xfrm flipV="1">
              <a:off x="3269431" y="1971254"/>
              <a:ext cx="1670050" cy="116681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2" name="Line 31"/>
            <p:cNvSpPr>
              <a:spLocks noChangeShapeType="1"/>
            </p:cNvSpPr>
            <p:nvPr/>
          </p:nvSpPr>
          <p:spPr bwMode="auto">
            <a:xfrm>
              <a:off x="5098231" y="1971254"/>
              <a:ext cx="1590675" cy="125571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03"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32881" y="304757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4"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80731" y="2599904"/>
              <a:ext cx="576263" cy="35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21981" y="367622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71406" y="3138066"/>
              <a:ext cx="576263"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9769" y="1791866"/>
              <a:ext cx="576262"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8" name="Group 37"/>
            <p:cNvGrpSpPr/>
            <p:nvPr/>
          </p:nvGrpSpPr>
          <p:grpSpPr bwMode="auto">
            <a:xfrm rot="1386369">
              <a:off x="2632844" y="3136479"/>
              <a:ext cx="300037" cy="130175"/>
              <a:chOff x="2064" y="1776"/>
              <a:chExt cx="171" cy="66"/>
            </a:xfrm>
          </p:grpSpPr>
          <p:sp>
            <p:nvSpPr>
              <p:cNvPr id="109" name="Rectangle 38"/>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0" name="Line 39"/>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11" name="Group 40"/>
            <p:cNvGrpSpPr/>
            <p:nvPr/>
          </p:nvGrpSpPr>
          <p:grpSpPr bwMode="auto">
            <a:xfrm rot="-875997">
              <a:off x="5496694" y="3495254"/>
              <a:ext cx="300037" cy="130175"/>
              <a:chOff x="2064" y="1776"/>
              <a:chExt cx="171" cy="66"/>
            </a:xfrm>
          </p:grpSpPr>
          <p:sp>
            <p:nvSpPr>
              <p:cNvPr id="112" name="Rectangle 41"/>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3" name="Line 42"/>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14" name="Group 43"/>
            <p:cNvGrpSpPr/>
            <p:nvPr/>
          </p:nvGrpSpPr>
          <p:grpSpPr bwMode="auto">
            <a:xfrm rot="-1515501">
              <a:off x="6849244" y="2958679"/>
              <a:ext cx="300037" cy="130175"/>
              <a:chOff x="2064" y="1776"/>
              <a:chExt cx="171" cy="66"/>
            </a:xfrm>
          </p:grpSpPr>
          <p:sp>
            <p:nvSpPr>
              <p:cNvPr id="115" name="Rectangle 44"/>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6" name="Line 45"/>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17" name="Group 46"/>
            <p:cNvGrpSpPr/>
            <p:nvPr/>
          </p:nvGrpSpPr>
          <p:grpSpPr bwMode="auto">
            <a:xfrm rot="-1937444">
              <a:off x="3906019" y="2330029"/>
              <a:ext cx="300037" cy="130175"/>
              <a:chOff x="2064" y="1776"/>
              <a:chExt cx="171" cy="66"/>
            </a:xfrm>
          </p:grpSpPr>
          <p:sp>
            <p:nvSpPr>
              <p:cNvPr id="118" name="Rectangle 47"/>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9" name="Line 48"/>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20" name="Group 49"/>
            <p:cNvGrpSpPr/>
            <p:nvPr/>
          </p:nvGrpSpPr>
          <p:grpSpPr bwMode="auto">
            <a:xfrm rot="2078388">
              <a:off x="5576069" y="2239541"/>
              <a:ext cx="300037" cy="131763"/>
              <a:chOff x="2064" y="1776"/>
              <a:chExt cx="171" cy="66"/>
            </a:xfrm>
          </p:grpSpPr>
          <p:sp>
            <p:nvSpPr>
              <p:cNvPr id="121" name="Rectangle 50"/>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2" name="Line 51"/>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23" name="Group 52"/>
            <p:cNvGrpSpPr/>
            <p:nvPr/>
          </p:nvGrpSpPr>
          <p:grpSpPr bwMode="auto">
            <a:xfrm rot="1117181">
              <a:off x="4302894" y="3495254"/>
              <a:ext cx="300037" cy="130175"/>
              <a:chOff x="2064" y="1776"/>
              <a:chExt cx="171" cy="66"/>
            </a:xfrm>
          </p:grpSpPr>
          <p:sp>
            <p:nvSpPr>
              <p:cNvPr id="124" name="Rectangle 53"/>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5" name="Line 54"/>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26" name="Group 55"/>
            <p:cNvGrpSpPr/>
            <p:nvPr/>
          </p:nvGrpSpPr>
          <p:grpSpPr bwMode="auto">
            <a:xfrm rot="-930274">
              <a:off x="4401319" y="2688804"/>
              <a:ext cx="298450" cy="130175"/>
              <a:chOff x="2064" y="1776"/>
              <a:chExt cx="171" cy="66"/>
            </a:xfrm>
          </p:grpSpPr>
          <p:sp>
            <p:nvSpPr>
              <p:cNvPr id="127" name="Rectangle 56"/>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8" name="Line 57"/>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29" name="Group 58"/>
            <p:cNvGrpSpPr/>
            <p:nvPr/>
          </p:nvGrpSpPr>
          <p:grpSpPr bwMode="auto">
            <a:xfrm rot="1197535">
              <a:off x="3667894" y="3226966"/>
              <a:ext cx="300037" cy="130175"/>
              <a:chOff x="2064" y="1776"/>
              <a:chExt cx="171" cy="66"/>
            </a:xfrm>
          </p:grpSpPr>
          <p:sp>
            <p:nvSpPr>
              <p:cNvPr id="130" name="Rectangle 59"/>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1" name="Line 60"/>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132" name="Line 61"/>
            <p:cNvSpPr>
              <a:spLocks noChangeShapeType="1"/>
            </p:cNvSpPr>
            <p:nvPr/>
          </p:nvSpPr>
          <p:spPr bwMode="auto">
            <a:xfrm>
              <a:off x="1892920" y="2688804"/>
              <a:ext cx="700235" cy="484875"/>
            </a:xfrm>
            <a:prstGeom prst="line">
              <a:avLst/>
            </a:prstGeom>
            <a:noFill/>
            <a:ln w="28575">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33" name="Group 62"/>
            <p:cNvGrpSpPr/>
            <p:nvPr/>
          </p:nvGrpSpPr>
          <p:grpSpPr bwMode="auto">
            <a:xfrm rot="1022761">
              <a:off x="5734819" y="2866604"/>
              <a:ext cx="300037" cy="130175"/>
              <a:chOff x="2064" y="1776"/>
              <a:chExt cx="171" cy="66"/>
            </a:xfrm>
          </p:grpSpPr>
          <p:sp>
            <p:nvSpPr>
              <p:cNvPr id="134" name="Rectangle 63"/>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5" name="Line 64"/>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136" name="Line 65"/>
            <p:cNvSpPr>
              <a:spLocks noChangeShapeType="1"/>
            </p:cNvSpPr>
            <p:nvPr/>
          </p:nvSpPr>
          <p:spPr bwMode="auto">
            <a:xfrm flipV="1">
              <a:off x="6849244" y="2688804"/>
              <a:ext cx="1035050" cy="715962"/>
            </a:xfrm>
            <a:prstGeom prst="line">
              <a:avLst/>
            </a:prstGeom>
            <a:noFill/>
            <a:ln w="28575">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7" name="Text Box 66"/>
            <p:cNvSpPr txBox="1">
              <a:spLocks noChangeArrowheads="1"/>
            </p:cNvSpPr>
            <p:nvPr/>
          </p:nvSpPr>
          <p:spPr bwMode="auto">
            <a:xfrm>
              <a:off x="3194819" y="1952204"/>
              <a:ext cx="12715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a:ln>
                    <a:noFill/>
                  </a:ln>
                  <a:solidFill>
                    <a:srgbClr val="000099"/>
                  </a:solidFill>
                  <a:effectLst/>
                  <a:uLnTx/>
                  <a:uFillTx/>
                  <a:latin typeface="+mn-lt"/>
                  <a:ea typeface="黑体" panose="02010609060101010101" pitchFamily="2" charset="-122"/>
                </a:rPr>
                <a:t>IP </a:t>
              </a: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数据报</a:t>
              </a:r>
              <a:endParaRPr kumimoji="0" lang="zh-CN" altLang="en-US" sz="2000" b="1" i="0" u="none" strike="noStrike" kern="0" cap="none" spc="0" normalizeH="0" baseline="-25000" noProof="0">
                <a:ln>
                  <a:noFill/>
                </a:ln>
                <a:solidFill>
                  <a:srgbClr val="000099"/>
                </a:solidFill>
                <a:effectLst/>
                <a:uLnTx/>
                <a:uFillTx/>
                <a:latin typeface="+mn-lt"/>
                <a:ea typeface="黑体" panose="02010609060101010101" pitchFamily="2" charset="-122"/>
              </a:endParaRPr>
            </a:p>
          </p:txBody>
        </p:sp>
        <p:sp>
          <p:nvSpPr>
            <p:cNvPr id="138" name="Text Box 67"/>
            <p:cNvSpPr txBox="1">
              <a:spLocks noChangeArrowheads="1"/>
            </p:cNvSpPr>
            <p:nvPr/>
          </p:nvSpPr>
          <p:spPr bwMode="auto">
            <a:xfrm>
              <a:off x="4685481" y="3204741"/>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a:ln>
                    <a:noFill/>
                  </a:ln>
                  <a:solidFill>
                    <a:srgbClr val="000099"/>
                  </a:solidFill>
                  <a:effectLst/>
                  <a:uLnTx/>
                  <a:uFillTx/>
                  <a:latin typeface="+mn-lt"/>
                  <a:ea typeface="黑体" panose="02010609060101010101" pitchFamily="2" charset="-122"/>
                </a:rPr>
                <a:t>丢失</a:t>
              </a:r>
              <a:endParaRPr kumimoji="0" lang="zh-CN" altLang="en-US" sz="2000" b="1" i="0" u="none" strike="noStrike" kern="0" cap="none" spc="0" normalizeH="0" baseline="-25000" noProof="0">
                <a:ln>
                  <a:noFill/>
                </a:ln>
                <a:solidFill>
                  <a:srgbClr val="000099"/>
                </a:solidFill>
                <a:effectLst/>
                <a:uLnTx/>
                <a:uFillTx/>
                <a:latin typeface="+mn-lt"/>
                <a:ea typeface="黑体" panose="02010609060101010101" pitchFamily="2" charset="-122"/>
              </a:endParaRPr>
            </a:p>
          </p:txBody>
        </p:sp>
        <p:grpSp>
          <p:nvGrpSpPr>
            <p:cNvPr id="139" name="Group 68"/>
            <p:cNvGrpSpPr/>
            <p:nvPr/>
          </p:nvGrpSpPr>
          <p:grpSpPr bwMode="auto">
            <a:xfrm rot="5035623">
              <a:off x="4979169" y="2299866"/>
              <a:ext cx="338138" cy="115887"/>
              <a:chOff x="2064" y="1776"/>
              <a:chExt cx="171" cy="66"/>
            </a:xfrm>
          </p:grpSpPr>
          <p:sp>
            <p:nvSpPr>
              <p:cNvPr id="140" name="Rectangle 69"/>
              <p:cNvSpPr>
                <a:spLocks noChangeArrowheads="1"/>
              </p:cNvSpPr>
              <p:nvPr/>
            </p:nvSpPr>
            <p:spPr bwMode="auto">
              <a:xfrm>
                <a:off x="2064" y="1776"/>
                <a:ext cx="90" cy="66"/>
              </a:xfrm>
              <a:prstGeom prst="rect">
                <a:avLst/>
              </a:prstGeom>
              <a:solidFill>
                <a:srgbClr val="FF0000"/>
              </a:solidFill>
              <a:ln w="9525">
                <a:solidFill>
                  <a:srgbClr val="FF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1" name="Line 70"/>
              <p:cNvSpPr>
                <a:spLocks noChangeShapeType="1"/>
              </p:cNvSpPr>
              <p:nvPr/>
            </p:nvSpPr>
            <p:spPr bwMode="auto">
              <a:xfrm flipV="1">
                <a:off x="2118" y="1808"/>
                <a:ext cx="117" cy="3"/>
              </a:xfrm>
              <a:prstGeom prst="line">
                <a:avLst/>
              </a:prstGeom>
              <a:noFill/>
              <a:ln w="9525">
                <a:solidFill>
                  <a:srgbClr val="FF0000"/>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142" name="Text Box 71"/>
            <p:cNvSpPr txBox="1">
              <a:spLocks noChangeArrowheads="1"/>
            </p:cNvSpPr>
            <p:nvPr/>
          </p:nvSpPr>
          <p:spPr bwMode="auto">
            <a:xfrm>
              <a:off x="1561281" y="4437112"/>
              <a:ext cx="7039106" cy="523220"/>
            </a:xfrm>
            <a:prstGeom prst="rect">
              <a:avLst/>
            </a:prstGeom>
            <a:solidFill>
              <a:srgbClr val="FFFF99"/>
            </a:solidFill>
            <a:ln w="9525">
              <a:solidFill>
                <a:srgbClr val="3333CC"/>
              </a:solidFill>
              <a:miter lim="800000"/>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anose="02010609060101010101"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anose="02010609060101010101"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anose="02010609060101010101"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anose="02010609060101010101"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anose="02010609060101010101" pitchFamily="2" charset="-122"/>
                </a:rPr>
                <a:t>的分组可能沿着不同路径传送</a:t>
              </a:r>
            </a:p>
          </p:txBody>
        </p:sp>
      </p:grpSp>
    </p:spTree>
    <p:extLst>
      <p:ext uri="{BB962C8B-B14F-4D97-AF65-F5344CB8AC3E}">
        <p14:creationId xmlns:p14="http://schemas.microsoft.com/office/powerpoint/2010/main" val="2849476082"/>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47371" name="Group 171"/>
          <p:cNvGraphicFramePr>
            <a:graphicFrameLocks noGrp="1"/>
          </p:cNvGraphicFramePr>
          <p:nvPr/>
        </p:nvGraphicFramePr>
        <p:xfrm>
          <a:off x="488503" y="1290155"/>
          <a:ext cx="9217025" cy="4803141"/>
        </p:xfrm>
        <a:graphic>
          <a:graphicData uri="http://schemas.openxmlformats.org/drawingml/2006/table">
            <a:tbl>
              <a:tblPr firstRow="1" bandRow="1">
                <a:tableStyleId>{073A0DAA-6AF3-43AB-8588-CEC1D06C72B9}</a:tableStyleId>
              </a:tblPr>
              <a:tblGrid>
                <a:gridCol w="2016225">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3888432">
                  <a:extLst>
                    <a:ext uri="{9D8B030D-6E8A-4147-A177-3AD203B41FA5}">
                      <a16:colId xmlns:a16="http://schemas.microsoft.com/office/drawing/2014/main" val="20002"/>
                    </a:ext>
                  </a:extLst>
                </a:gridCol>
              </a:tblGrid>
              <a:tr h="62388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400" b="1" u="none" strike="noStrike" cap="none" normalizeH="0" baseline="0" dirty="0">
                          <a:ln>
                            <a:noFill/>
                          </a:ln>
                          <a:solidFill>
                            <a:schemeClr val="tx1"/>
                          </a:solidFill>
                          <a:effectLst/>
                          <a:latin typeface="+mn-lt"/>
                          <a:ea typeface="黑体" panose="02010609060101010101" pitchFamily="2" charset="-122"/>
                        </a:rPr>
                        <a:t>对比的方面</a:t>
                      </a:r>
                      <a:endParaRPr kumimoji="0" lang="zh-CN" altLang="en-US" sz="24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400" b="1" u="none" strike="noStrike" cap="none" normalizeH="0" baseline="0" dirty="0">
                          <a:ln>
                            <a:noFill/>
                          </a:ln>
                          <a:solidFill>
                            <a:schemeClr val="tx1"/>
                          </a:solidFill>
                          <a:effectLst/>
                          <a:latin typeface="+mn-lt"/>
                          <a:ea typeface="黑体" panose="02010609060101010101" pitchFamily="2" charset="-122"/>
                        </a:rPr>
                        <a:t>虚电路服务</a:t>
                      </a:r>
                      <a:endParaRPr kumimoji="0" lang="zh-CN" altLang="en-US" sz="24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400" b="1" u="none" strike="noStrike" cap="none" normalizeH="0" baseline="0" dirty="0">
                          <a:ln>
                            <a:noFill/>
                          </a:ln>
                          <a:solidFill>
                            <a:schemeClr val="tx1"/>
                          </a:solidFill>
                          <a:effectLst/>
                          <a:latin typeface="+mn-lt"/>
                          <a:ea typeface="黑体" panose="02010609060101010101" pitchFamily="2" charset="-122"/>
                        </a:rPr>
                        <a:t>数据报服务</a:t>
                      </a:r>
                      <a:endParaRPr kumimoji="0" lang="zh-CN" altLang="en-US" sz="24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思路</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可靠通信应当由网络来保证</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可靠通信应当由用户主机来保证</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950">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连接的建立</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必须有</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不需要</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终点地址</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仅在连接建立阶段使用，每个分组使用短的虚电路号</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每个分组都有终点的完整地址</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分组的转发</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属于同一条虚电路的分组均按照同一路由进行转发</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a:ln>
                            <a:noFill/>
                          </a:ln>
                          <a:effectLst/>
                          <a:latin typeface="+mn-lt"/>
                          <a:ea typeface="黑体" panose="02010609060101010101" pitchFamily="2" charset="-122"/>
                        </a:rPr>
                        <a:t>每个分组独立选择路由进行转发</a:t>
                      </a:r>
                      <a:endParaRPr kumimoji="0" lang="zh-CN" altLang="en-US" sz="2000" b="1" i="0" u="none" strike="noStrike" cap="none" normalizeH="0" baseline="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当结点出故障时</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a:ln>
                            <a:noFill/>
                          </a:ln>
                          <a:effectLst/>
                          <a:latin typeface="+mn-lt"/>
                          <a:ea typeface="黑体" panose="02010609060101010101" pitchFamily="2" charset="-122"/>
                        </a:rPr>
                        <a:t>所有通过出故障的结点的虚电路均不能工作</a:t>
                      </a:r>
                      <a:endParaRPr kumimoji="0" lang="zh-CN" altLang="en-US" sz="2000" b="1" i="0" u="none" strike="noStrike" cap="none" normalizeH="0" baseline="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a:ln>
                            <a:noFill/>
                          </a:ln>
                          <a:effectLst/>
                          <a:latin typeface="+mn-lt"/>
                          <a:ea typeface="黑体" panose="02010609060101010101" pitchFamily="2" charset="-122"/>
                        </a:rPr>
                        <a:t>出故障的结点可能会丢失分组，一些路由可能会发生变化</a:t>
                      </a:r>
                      <a:endParaRPr kumimoji="0" lang="zh-CN" altLang="en-US" sz="2000" b="1" i="0" u="none" strike="noStrike" cap="none" normalizeH="0" baseline="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分组的顺序</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总是按发送顺序到达终点</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到达终点时不一定按发送顺序</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88741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端到端的差错处理和流量控制</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可以由网络负责，也可以由用户主机负责</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1" u="none" strike="noStrike" cap="none" normalizeH="0" baseline="0" dirty="0">
                          <a:ln>
                            <a:noFill/>
                          </a:ln>
                          <a:effectLst/>
                          <a:latin typeface="+mn-lt"/>
                          <a:ea typeface="黑体" panose="02010609060101010101" pitchFamily="2" charset="-122"/>
                        </a:rPr>
                        <a:t>由用户主机负责</a:t>
                      </a:r>
                      <a:endParaRPr kumimoji="0" lang="zh-CN" altLang="en-US" sz="2000" b="1" i="0" u="none" strike="noStrike" cap="none" normalizeH="0" baseline="0" dirty="0">
                        <a:ln>
                          <a:noFill/>
                        </a:ln>
                        <a:solidFill>
                          <a:schemeClr val="tx1"/>
                        </a:solidFill>
                        <a:effectLst/>
                        <a:latin typeface="+mn-lt"/>
                        <a:ea typeface="黑体" panose="02010609060101010101" pitchFamily="2" charset="-122"/>
                        <a:cs typeface="Times New Roman" panose="02020603050405020304"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bl>
          </a:graphicData>
        </a:graphic>
      </p:graphicFrame>
      <p:sp>
        <p:nvSpPr>
          <p:cNvPr id="3" name="标题 2"/>
          <p:cNvSpPr>
            <a:spLocks noGrp="1"/>
          </p:cNvSpPr>
          <p:nvPr>
            <p:ph type="title"/>
          </p:nvPr>
        </p:nvSpPr>
        <p:spPr/>
        <p:txBody>
          <a:bodyPr/>
          <a:lstStyle/>
          <a:p>
            <a:pPr lvl="0" algn="ctr"/>
            <a:r>
              <a:rPr lang="zh-CN" altLang="en-US" sz="4000" dirty="0">
                <a:latin typeface="黑体" panose="02010609060101010101" pitchFamily="2" charset="-122"/>
                <a:cs typeface="Times New Roman" panose="02020603050405020304" pitchFamily="18" charset="0"/>
              </a:rPr>
              <a:t>虚电路服务与数据报服务的对比</a:t>
            </a:r>
            <a:endParaRPr lang="zh-CN" altLang="en-US" sz="4000" dirty="0"/>
          </a:p>
        </p:txBody>
      </p:sp>
    </p:spTree>
    <p:extLst>
      <p:ext uri="{BB962C8B-B14F-4D97-AF65-F5344CB8AC3E}">
        <p14:creationId xmlns:p14="http://schemas.microsoft.com/office/powerpoint/2010/main" val="342168170"/>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p:txBody>
          <a:bodyPr/>
          <a:lstStyle/>
          <a:p>
            <a:r>
              <a:rPr lang="en-US" altLang="zh-CN" dirty="0"/>
              <a:t>4.2.1  </a:t>
            </a:r>
            <a:r>
              <a:rPr lang="zh-CN" altLang="en-US" dirty="0"/>
              <a:t>虚拟互连网络 </a:t>
            </a:r>
          </a:p>
        </p:txBody>
      </p:sp>
      <p:sp>
        <p:nvSpPr>
          <p:cNvPr id="140291" name="Rectangle 3"/>
          <p:cNvSpPr>
            <a:spLocks noGrp="1" noChangeArrowheads="1"/>
          </p:cNvSpPr>
          <p:nvPr>
            <p:ph idx="1"/>
          </p:nvPr>
        </p:nvSpPr>
        <p:spPr/>
        <p:txBody>
          <a:bodyPr/>
          <a:lstStyle/>
          <a:p>
            <a:pPr>
              <a:lnSpc>
                <a:spcPct val="100000"/>
              </a:lnSpc>
            </a:pPr>
            <a:r>
              <a:rPr lang="zh-CN" altLang="en-US" sz="2400" dirty="0"/>
              <a:t>将</a:t>
            </a:r>
            <a:r>
              <a:rPr lang="zh-CN" altLang="zh-CN" sz="2400" dirty="0"/>
              <a:t>网络互连并能够互相通信</a:t>
            </a:r>
            <a:r>
              <a:rPr lang="zh-CN" altLang="en-US" sz="2400" dirty="0"/>
              <a:t>，会遇到许多问题需要解决，如：</a:t>
            </a:r>
          </a:p>
          <a:p>
            <a:pPr lvl="1">
              <a:lnSpc>
                <a:spcPct val="100000"/>
              </a:lnSpc>
            </a:pPr>
            <a:r>
              <a:rPr lang="zh-CN" altLang="en-US" sz="2400" dirty="0">
                <a:latin typeface="Arial" panose="020B0604020202020204" pitchFamily="34" charset="0"/>
                <a:ea typeface="黑体" panose="02010609060101010101" pitchFamily="2" charset="-122"/>
              </a:rPr>
              <a:t>不同的寻址方案（</a:t>
            </a:r>
            <a:r>
              <a:rPr lang="zh-CN" altLang="en-US" sz="2400" dirty="0">
                <a:latin typeface="Arial" panose="020B0604020202020204" pitchFamily="34" charset="0"/>
              </a:rPr>
              <a:t>广播寻址，点对点寻址</a:t>
            </a:r>
            <a:r>
              <a:rPr lang="zh-CN" altLang="en-US" sz="2400" dirty="0">
                <a:latin typeface="Arial" panose="020B0604020202020204" pitchFamily="34" charset="0"/>
                <a:ea typeface="黑体" panose="02010609060101010101" pitchFamily="2" charset="-122"/>
              </a:rPr>
              <a:t>）</a:t>
            </a:r>
          </a:p>
          <a:p>
            <a:pPr lvl="1">
              <a:lnSpc>
                <a:spcPct val="100000"/>
              </a:lnSpc>
            </a:pPr>
            <a:r>
              <a:rPr lang="zh-CN" altLang="en-US" sz="2400" dirty="0">
                <a:latin typeface="Arial" panose="020B0604020202020204" pitchFamily="34" charset="0"/>
                <a:ea typeface="黑体" panose="02010609060101010101" pitchFamily="2" charset="-122"/>
              </a:rPr>
              <a:t>不同的最大分组长度（带宽不同，分组长度也不同）</a:t>
            </a:r>
          </a:p>
          <a:p>
            <a:pPr lvl="1">
              <a:lnSpc>
                <a:spcPct val="100000"/>
              </a:lnSpc>
            </a:pPr>
            <a:r>
              <a:rPr lang="zh-CN" altLang="en-US" sz="2400" dirty="0">
                <a:latin typeface="Arial" panose="020B0604020202020204" pitchFamily="34" charset="0"/>
                <a:ea typeface="黑体" panose="02010609060101010101" pitchFamily="2" charset="-122"/>
              </a:rPr>
              <a:t>不同的网络接入机制（</a:t>
            </a:r>
            <a:r>
              <a:rPr lang="en-US" altLang="zh-CN" sz="2400" dirty="0">
                <a:latin typeface="Arial" panose="020B0604020202020204" pitchFamily="34" charset="0"/>
                <a:ea typeface="黑体" panose="02010609060101010101" pitchFamily="2" charset="-122"/>
              </a:rPr>
              <a:t>ADSL</a:t>
            </a:r>
            <a:r>
              <a:rPr lang="zh-CN" altLang="en-US" sz="2400" dirty="0">
                <a:latin typeface="Arial" panose="020B0604020202020204" pitchFamily="34" charset="0"/>
                <a:ea typeface="黑体" panose="02010609060101010101" pitchFamily="2" charset="-122"/>
              </a:rPr>
              <a:t>，光纤</a:t>
            </a:r>
            <a:r>
              <a:rPr lang="en-US" altLang="zh-CN" sz="2400" dirty="0">
                <a:latin typeface="Arial" panose="020B0604020202020204" pitchFamily="34" charset="0"/>
                <a:ea typeface="黑体" panose="02010609060101010101" pitchFamily="2" charset="-122"/>
              </a:rPr>
              <a:t>-</a:t>
            </a:r>
            <a:r>
              <a:rPr lang="zh-CN" altLang="en-US" sz="2400" dirty="0">
                <a:latin typeface="Arial" panose="020B0604020202020204" pitchFamily="34" charset="0"/>
                <a:ea typeface="黑体" panose="02010609060101010101" pitchFamily="2" charset="-122"/>
              </a:rPr>
              <a:t>电缆接入（</a:t>
            </a:r>
            <a:r>
              <a:rPr lang="en-US" altLang="zh-CN" sz="2400" dirty="0">
                <a:latin typeface="Arial" panose="020B0604020202020204" pitchFamily="34" charset="0"/>
                <a:ea typeface="黑体" panose="02010609060101010101" pitchFamily="2" charset="-122"/>
              </a:rPr>
              <a:t>HFC</a:t>
            </a:r>
            <a:r>
              <a:rPr lang="zh-CN" altLang="en-US" sz="2400" dirty="0">
                <a:latin typeface="Arial" panose="020B0604020202020204" pitchFamily="34" charset="0"/>
                <a:ea typeface="黑体" panose="02010609060101010101" pitchFamily="2" charset="-122"/>
              </a:rPr>
              <a:t>））</a:t>
            </a:r>
          </a:p>
          <a:p>
            <a:pPr lvl="1">
              <a:lnSpc>
                <a:spcPct val="100000"/>
              </a:lnSpc>
            </a:pPr>
            <a:r>
              <a:rPr lang="zh-CN" altLang="en-US" sz="2400" dirty="0">
                <a:latin typeface="Arial" panose="020B0604020202020204" pitchFamily="34" charset="0"/>
                <a:ea typeface="黑体" panose="02010609060101010101" pitchFamily="2" charset="-122"/>
              </a:rPr>
              <a:t>不同的超时控制</a:t>
            </a:r>
          </a:p>
          <a:p>
            <a:pPr lvl="1">
              <a:lnSpc>
                <a:spcPct val="100000"/>
              </a:lnSpc>
            </a:pPr>
            <a:r>
              <a:rPr lang="zh-CN" altLang="en-US" sz="2400" dirty="0">
                <a:latin typeface="Arial" panose="020B0604020202020204" pitchFamily="34" charset="0"/>
                <a:ea typeface="黑体" panose="02010609060101010101" pitchFamily="2" charset="-122"/>
              </a:rPr>
              <a:t>不同的差错恢复方法</a:t>
            </a:r>
          </a:p>
          <a:p>
            <a:pPr lvl="1">
              <a:lnSpc>
                <a:spcPct val="100000"/>
              </a:lnSpc>
            </a:pPr>
            <a:r>
              <a:rPr lang="zh-CN" altLang="en-US" sz="2400" dirty="0">
                <a:latin typeface="Arial" panose="020B0604020202020204" pitchFamily="34" charset="0"/>
                <a:ea typeface="黑体" panose="02010609060101010101" pitchFamily="2" charset="-122"/>
              </a:rPr>
              <a:t>不同的状态报告方法</a:t>
            </a:r>
          </a:p>
          <a:p>
            <a:pPr lvl="1">
              <a:lnSpc>
                <a:spcPct val="100000"/>
              </a:lnSpc>
            </a:pPr>
            <a:r>
              <a:rPr lang="zh-CN" altLang="en-US" sz="2400" dirty="0">
                <a:latin typeface="Arial" panose="020B0604020202020204" pitchFamily="34" charset="0"/>
                <a:ea typeface="黑体" panose="02010609060101010101" pitchFamily="2" charset="-122"/>
              </a:rPr>
              <a:t>不同的路由选择技术</a:t>
            </a:r>
          </a:p>
          <a:p>
            <a:pPr lvl="1">
              <a:lnSpc>
                <a:spcPct val="100000"/>
              </a:lnSpc>
            </a:pPr>
            <a:r>
              <a:rPr lang="zh-CN" altLang="en-US" sz="2400" dirty="0">
                <a:latin typeface="Arial" panose="020B0604020202020204" pitchFamily="34" charset="0"/>
                <a:ea typeface="黑体" panose="02010609060101010101" pitchFamily="2" charset="-122"/>
              </a:rPr>
              <a:t>不同的用户接入控制</a:t>
            </a:r>
          </a:p>
          <a:p>
            <a:pPr lvl="1">
              <a:lnSpc>
                <a:spcPct val="100000"/>
              </a:lnSpc>
            </a:pPr>
            <a:r>
              <a:rPr lang="zh-CN" altLang="en-US" sz="2400" dirty="0">
                <a:latin typeface="Arial" panose="020B0604020202020204" pitchFamily="34" charset="0"/>
                <a:ea typeface="黑体" panose="02010609060101010101" pitchFamily="2" charset="-122"/>
              </a:rPr>
              <a:t>不同的服务（面向连接服务和无连接服务）</a:t>
            </a:r>
          </a:p>
          <a:p>
            <a:pPr lvl="1">
              <a:lnSpc>
                <a:spcPct val="100000"/>
              </a:lnSpc>
            </a:pPr>
            <a:r>
              <a:rPr lang="zh-CN" altLang="en-US" sz="2400" dirty="0">
                <a:latin typeface="Arial" panose="020B0604020202020204" pitchFamily="34" charset="0"/>
                <a:ea typeface="黑体" panose="02010609060101010101" pitchFamily="2" charset="-122"/>
              </a:rPr>
              <a:t>不同的管理与控制方式等</a:t>
            </a:r>
          </a:p>
        </p:txBody>
      </p:sp>
      <p:sp>
        <p:nvSpPr>
          <p:cNvPr id="2" name="矩形 1"/>
          <p:cNvSpPr/>
          <p:nvPr/>
        </p:nvSpPr>
        <p:spPr>
          <a:xfrm>
            <a:off x="5601072" y="2996952"/>
            <a:ext cx="3744416" cy="1077218"/>
          </a:xfrm>
          <a:prstGeom prst="rect">
            <a:avLst/>
          </a:prstGeom>
          <a:solidFill>
            <a:srgbClr val="FF0000"/>
          </a:solidFill>
        </p:spPr>
        <p:txBody>
          <a:bodyPr wrap="square">
            <a:spAutoFit/>
          </a:bodyPr>
          <a:lstStyle/>
          <a:p>
            <a:pPr algn="ctr"/>
            <a:r>
              <a:rPr lang="zh-CN" altLang="en-US" sz="3200" b="1" dirty="0">
                <a:solidFill>
                  <a:schemeClr val="bg1"/>
                </a:solidFill>
                <a:latin typeface="+mn-lt"/>
                <a:ea typeface="黑体" panose="02010609060101010101" pitchFamily="2" charset="-122"/>
              </a:rPr>
              <a:t>如何</a:t>
            </a:r>
            <a:r>
              <a:rPr lang="zh-CN" altLang="zh-CN" sz="3200" b="1" dirty="0">
                <a:solidFill>
                  <a:schemeClr val="bg1"/>
                </a:solidFill>
                <a:latin typeface="+mn-lt"/>
                <a:ea typeface="黑体" panose="02010609060101010101" pitchFamily="2" charset="-122"/>
              </a:rPr>
              <a:t>将</a:t>
            </a:r>
            <a:r>
              <a:rPr lang="zh-CN" altLang="en-US" sz="3200" b="1" dirty="0">
                <a:solidFill>
                  <a:schemeClr val="bg1"/>
                </a:solidFill>
                <a:latin typeface="+mn-lt"/>
                <a:ea typeface="黑体" panose="02010609060101010101" pitchFamily="2" charset="-122"/>
              </a:rPr>
              <a:t>异构的</a:t>
            </a:r>
            <a:r>
              <a:rPr lang="zh-CN" altLang="zh-CN" sz="3200" b="1" dirty="0">
                <a:solidFill>
                  <a:schemeClr val="bg1"/>
                </a:solidFill>
                <a:latin typeface="+mn-lt"/>
                <a:ea typeface="黑体" panose="02010609060101010101" pitchFamily="2" charset="-122"/>
              </a:rPr>
              <a:t>网络</a:t>
            </a:r>
            <a:endParaRPr lang="en-US" altLang="zh-CN" sz="3200" b="1" dirty="0">
              <a:solidFill>
                <a:schemeClr val="bg1"/>
              </a:solidFill>
              <a:latin typeface="+mn-lt"/>
              <a:ea typeface="黑体" panose="02010609060101010101" pitchFamily="2" charset="-122"/>
            </a:endParaRPr>
          </a:p>
          <a:p>
            <a:pPr algn="ctr"/>
            <a:r>
              <a:rPr lang="zh-CN" altLang="zh-CN" sz="3200" b="1" dirty="0">
                <a:solidFill>
                  <a:schemeClr val="bg1"/>
                </a:solidFill>
                <a:latin typeface="+mn-lt"/>
                <a:ea typeface="黑体" panose="02010609060101010101" pitchFamily="2" charset="-122"/>
              </a:rPr>
              <a:t>互相连接起来</a:t>
            </a:r>
            <a:r>
              <a:rPr lang="zh-CN" altLang="en-US" sz="3200" b="1" dirty="0">
                <a:solidFill>
                  <a:schemeClr val="bg1"/>
                </a:solidFill>
                <a:latin typeface="+mn-lt"/>
                <a:ea typeface="黑体" panose="02010609060101010101" pitchFamily="2" charset="-122"/>
              </a:rPr>
              <a:t>？</a:t>
            </a:r>
          </a:p>
        </p:txBody>
      </p:sp>
    </p:spTree>
    <p:extLst>
      <p:ext uri="{BB962C8B-B14F-4D97-AF65-F5344CB8AC3E}">
        <p14:creationId xmlns:p14="http://schemas.microsoft.com/office/powerpoint/2010/main" val="1062358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5" name="Rectangle 3"/>
          <p:cNvSpPr>
            <a:spLocks noGrp="1" noChangeArrowheads="1"/>
          </p:cNvSpPr>
          <p:nvPr>
            <p:ph type="title"/>
          </p:nvPr>
        </p:nvSpPr>
        <p:spPr/>
        <p:txBody>
          <a:bodyPr/>
          <a:lstStyle/>
          <a:p>
            <a:pPr algn="ctr"/>
            <a:r>
              <a:rPr lang="zh-CN" altLang="en-US" dirty="0"/>
              <a:t>使用一些中间设备进行互连 </a:t>
            </a:r>
          </a:p>
        </p:txBody>
      </p:sp>
      <p:sp>
        <p:nvSpPr>
          <p:cNvPr id="351234" name="Rectangle 2"/>
          <p:cNvSpPr>
            <a:spLocks noGrp="1" noChangeArrowheads="1"/>
          </p:cNvSpPr>
          <p:nvPr>
            <p:ph idx="1"/>
          </p:nvPr>
        </p:nvSpPr>
        <p:spPr/>
        <p:txBody>
          <a:bodyPr/>
          <a:lstStyle/>
          <a:p>
            <a:pPr>
              <a:lnSpc>
                <a:spcPct val="120000"/>
              </a:lnSpc>
            </a:pPr>
            <a:r>
              <a:rPr lang="zh-CN" altLang="en-US" dirty="0"/>
              <a:t>将网络互相连接起来要使用一些中间设备。 </a:t>
            </a:r>
            <a:endParaRPr lang="en-US" altLang="zh-CN" dirty="0">
              <a:solidFill>
                <a:schemeClr val="hlink"/>
              </a:solidFill>
            </a:endParaRPr>
          </a:p>
          <a:p>
            <a:pPr>
              <a:lnSpc>
                <a:spcPct val="120000"/>
              </a:lnSpc>
            </a:pPr>
            <a:r>
              <a:rPr lang="zh-CN" altLang="en-US" dirty="0"/>
              <a:t>中间设备又称为</a:t>
            </a:r>
            <a:r>
              <a:rPr lang="zh-CN" altLang="en-US" dirty="0">
                <a:solidFill>
                  <a:srgbClr val="FF0000"/>
                </a:solidFill>
              </a:rPr>
              <a:t>中间系统</a:t>
            </a:r>
            <a:r>
              <a:rPr lang="zh-CN" altLang="en-US" dirty="0"/>
              <a:t>或</a:t>
            </a:r>
            <a:r>
              <a:rPr lang="zh-CN" altLang="en-US" dirty="0">
                <a:solidFill>
                  <a:srgbClr val="FF0000"/>
                </a:solidFill>
              </a:rPr>
              <a:t>中继 </a:t>
            </a:r>
            <a:r>
              <a:rPr lang="en-US" altLang="zh-CN" dirty="0">
                <a:solidFill>
                  <a:srgbClr val="FF0000"/>
                </a:solidFill>
              </a:rPr>
              <a:t>(relay)</a:t>
            </a:r>
            <a:r>
              <a:rPr lang="zh-CN" altLang="en-US" dirty="0">
                <a:solidFill>
                  <a:srgbClr val="FF0000"/>
                </a:solidFill>
              </a:rPr>
              <a:t>系统。</a:t>
            </a:r>
            <a:endParaRPr lang="en-US" altLang="zh-CN" dirty="0">
              <a:solidFill>
                <a:srgbClr val="FF0000"/>
              </a:solidFill>
            </a:endParaRPr>
          </a:p>
          <a:p>
            <a:pPr>
              <a:lnSpc>
                <a:spcPct val="120000"/>
              </a:lnSpc>
            </a:pPr>
            <a:r>
              <a:rPr lang="zh-CN" altLang="zh-CN" dirty="0"/>
              <a:t>有以下</a:t>
            </a:r>
            <a:r>
              <a:rPr lang="zh-CN" altLang="en-US" dirty="0"/>
              <a:t>五</a:t>
            </a:r>
            <a:r>
              <a:rPr lang="zh-CN" altLang="zh-CN" dirty="0"/>
              <a:t>种不同的中间设备：</a:t>
            </a:r>
            <a:endParaRPr lang="zh-CN" altLang="en-US" dirty="0"/>
          </a:p>
          <a:p>
            <a:pPr lvl="1">
              <a:lnSpc>
                <a:spcPct val="120000"/>
              </a:lnSpc>
            </a:pPr>
            <a:r>
              <a:rPr lang="zh-CN" altLang="en-US" dirty="0">
                <a:solidFill>
                  <a:srgbClr val="0000FF"/>
                </a:solidFill>
                <a:latin typeface="Arial" panose="020B0604020202020204" pitchFamily="34" charset="0"/>
                <a:ea typeface="黑体" panose="02010609060101010101" pitchFamily="2" charset="-122"/>
              </a:rPr>
              <a:t>物理层</a:t>
            </a:r>
            <a:r>
              <a:rPr lang="zh-CN" altLang="en-US" dirty="0">
                <a:latin typeface="Arial" panose="020B0604020202020204" pitchFamily="34" charset="0"/>
                <a:ea typeface="黑体" panose="02010609060101010101" pitchFamily="2" charset="-122"/>
              </a:rPr>
              <a:t>中继系统：</a:t>
            </a:r>
            <a:r>
              <a:rPr lang="zh-CN" altLang="en-US" dirty="0">
                <a:solidFill>
                  <a:srgbClr val="FF0000"/>
                </a:solidFill>
                <a:latin typeface="Arial" panose="020B0604020202020204" pitchFamily="34" charset="0"/>
                <a:ea typeface="黑体" panose="02010609060101010101" pitchFamily="2" charset="-122"/>
              </a:rPr>
              <a:t>转发器 </a:t>
            </a:r>
            <a:r>
              <a:rPr lang="en-US" altLang="zh-CN" dirty="0">
                <a:latin typeface="Arial" panose="020B0604020202020204" pitchFamily="34" charset="0"/>
                <a:ea typeface="黑体" panose="02010609060101010101" pitchFamily="2" charset="-122"/>
              </a:rPr>
              <a:t>(repeater)</a:t>
            </a:r>
            <a:r>
              <a:rPr lang="zh-CN" altLang="en-US" dirty="0">
                <a:latin typeface="Arial" panose="020B0604020202020204" pitchFamily="34" charset="0"/>
                <a:ea typeface="黑体" panose="02010609060101010101" pitchFamily="2" charset="-122"/>
              </a:rPr>
              <a:t>。</a:t>
            </a:r>
          </a:p>
          <a:p>
            <a:pPr lvl="1">
              <a:lnSpc>
                <a:spcPct val="120000"/>
              </a:lnSpc>
            </a:pPr>
            <a:r>
              <a:rPr lang="zh-CN" altLang="en-US" dirty="0">
                <a:solidFill>
                  <a:srgbClr val="0000FF"/>
                </a:solidFill>
                <a:latin typeface="Arial" panose="020B0604020202020204" pitchFamily="34" charset="0"/>
                <a:ea typeface="黑体" panose="02010609060101010101" pitchFamily="2" charset="-122"/>
              </a:rPr>
              <a:t>数据链路层</a:t>
            </a:r>
            <a:r>
              <a:rPr lang="zh-CN" altLang="en-US" dirty="0">
                <a:latin typeface="Arial" panose="020B0604020202020204" pitchFamily="34" charset="0"/>
                <a:ea typeface="黑体" panose="02010609060101010101" pitchFamily="2" charset="-122"/>
              </a:rPr>
              <a:t>中继系统：</a:t>
            </a:r>
            <a:r>
              <a:rPr lang="zh-CN" altLang="en-US" dirty="0">
                <a:solidFill>
                  <a:srgbClr val="FF0000"/>
                </a:solidFill>
                <a:latin typeface="Arial" panose="020B0604020202020204" pitchFamily="34" charset="0"/>
                <a:ea typeface="黑体" panose="02010609060101010101" pitchFamily="2" charset="-122"/>
              </a:rPr>
              <a:t>网桥 </a:t>
            </a:r>
            <a:r>
              <a:rPr lang="zh-CN" altLang="en-US" dirty="0">
                <a:latin typeface="Arial" panose="020B0604020202020204" pitchFamily="34" charset="0"/>
                <a:ea typeface="黑体" panose="02010609060101010101" pitchFamily="2" charset="-122"/>
              </a:rPr>
              <a:t>或 </a:t>
            </a:r>
            <a:r>
              <a:rPr lang="zh-CN" altLang="en-US" dirty="0">
                <a:solidFill>
                  <a:srgbClr val="FF0000"/>
                </a:solidFill>
                <a:latin typeface="Arial" panose="020B0604020202020204" pitchFamily="34" charset="0"/>
                <a:ea typeface="黑体" panose="02010609060101010101" pitchFamily="2" charset="-122"/>
              </a:rPr>
              <a:t>桥接器 </a:t>
            </a:r>
            <a:r>
              <a:rPr lang="en-US" altLang="zh-CN" dirty="0">
                <a:latin typeface="Arial" panose="020B0604020202020204" pitchFamily="34" charset="0"/>
                <a:ea typeface="黑体" panose="02010609060101010101" pitchFamily="2" charset="-122"/>
              </a:rPr>
              <a:t>(bridge)</a:t>
            </a:r>
            <a:r>
              <a:rPr lang="zh-CN" altLang="en-US" dirty="0">
                <a:latin typeface="Arial" panose="020B0604020202020204" pitchFamily="34" charset="0"/>
                <a:ea typeface="黑体" panose="02010609060101010101" pitchFamily="2" charset="-122"/>
              </a:rPr>
              <a:t>。</a:t>
            </a:r>
          </a:p>
          <a:p>
            <a:pPr lvl="1">
              <a:lnSpc>
                <a:spcPct val="120000"/>
              </a:lnSpc>
            </a:pPr>
            <a:r>
              <a:rPr lang="zh-CN" altLang="en-US" dirty="0">
                <a:solidFill>
                  <a:srgbClr val="0000FF"/>
                </a:solidFill>
                <a:latin typeface="Arial" panose="020B0604020202020204" pitchFamily="34" charset="0"/>
                <a:ea typeface="黑体" panose="02010609060101010101" pitchFamily="2" charset="-122"/>
              </a:rPr>
              <a:t>网络层</a:t>
            </a:r>
            <a:r>
              <a:rPr lang="zh-CN" altLang="en-US" dirty="0">
                <a:latin typeface="Arial" panose="020B0604020202020204" pitchFamily="34" charset="0"/>
                <a:ea typeface="黑体" panose="02010609060101010101" pitchFamily="2" charset="-122"/>
              </a:rPr>
              <a:t>中继系统：</a:t>
            </a:r>
            <a:r>
              <a:rPr lang="zh-CN" altLang="en-US" dirty="0">
                <a:solidFill>
                  <a:srgbClr val="FF0000"/>
                </a:solidFill>
                <a:latin typeface="Arial" panose="020B0604020202020204" pitchFamily="34" charset="0"/>
                <a:ea typeface="黑体" panose="02010609060101010101" pitchFamily="2" charset="-122"/>
              </a:rPr>
              <a:t>路由器 </a:t>
            </a:r>
            <a:r>
              <a:rPr lang="en-US" altLang="zh-CN" dirty="0">
                <a:latin typeface="Arial" panose="020B0604020202020204" pitchFamily="34" charset="0"/>
                <a:ea typeface="黑体" panose="02010609060101010101" pitchFamily="2" charset="-122"/>
              </a:rPr>
              <a:t>(router)</a:t>
            </a:r>
            <a:r>
              <a:rPr lang="zh-CN" altLang="en-US" dirty="0">
                <a:latin typeface="Arial" panose="020B0604020202020204" pitchFamily="34" charset="0"/>
                <a:ea typeface="黑体" panose="02010609060101010101" pitchFamily="2" charset="-122"/>
              </a:rPr>
              <a:t>。</a:t>
            </a:r>
          </a:p>
          <a:p>
            <a:pPr lvl="1">
              <a:lnSpc>
                <a:spcPct val="120000"/>
              </a:lnSpc>
            </a:pPr>
            <a:r>
              <a:rPr lang="zh-CN" altLang="en-US" dirty="0">
                <a:latin typeface="Arial" panose="020B0604020202020204" pitchFamily="34" charset="0"/>
                <a:ea typeface="黑体" panose="02010609060101010101" pitchFamily="2" charset="-122"/>
              </a:rPr>
              <a:t>网桥和路由器的</a:t>
            </a:r>
            <a:r>
              <a:rPr lang="zh-CN" altLang="en-US" dirty="0">
                <a:solidFill>
                  <a:srgbClr val="0000FF"/>
                </a:solidFill>
                <a:latin typeface="Arial" panose="020B0604020202020204" pitchFamily="34" charset="0"/>
                <a:ea typeface="黑体" panose="02010609060101010101" pitchFamily="2" charset="-122"/>
              </a:rPr>
              <a:t>混合物</a:t>
            </a:r>
            <a:r>
              <a:rPr lang="zh-CN" altLang="en-US" dirty="0">
                <a:latin typeface="Arial" panose="020B0604020202020204" pitchFamily="34" charset="0"/>
                <a:ea typeface="黑体" panose="02010609060101010101" pitchFamily="2" charset="-122"/>
              </a:rPr>
              <a:t>：</a:t>
            </a:r>
            <a:r>
              <a:rPr lang="zh-CN" altLang="en-US" dirty="0">
                <a:solidFill>
                  <a:srgbClr val="FF0000"/>
                </a:solidFill>
                <a:latin typeface="Arial" panose="020B0604020202020204" pitchFamily="34" charset="0"/>
                <a:ea typeface="黑体" panose="02010609060101010101" pitchFamily="2" charset="-122"/>
              </a:rPr>
              <a:t>桥路器 </a:t>
            </a:r>
            <a:r>
              <a:rPr lang="en-US" altLang="zh-CN" dirty="0">
                <a:latin typeface="Arial" panose="020B0604020202020204" pitchFamily="34" charset="0"/>
                <a:ea typeface="黑体" panose="02010609060101010101" pitchFamily="2" charset="-122"/>
              </a:rPr>
              <a:t>(</a:t>
            </a:r>
            <a:r>
              <a:rPr lang="en-US" altLang="zh-CN" dirty="0" err="1">
                <a:latin typeface="Arial" panose="020B0604020202020204" pitchFamily="34" charset="0"/>
                <a:ea typeface="黑体" panose="02010609060101010101" pitchFamily="2" charset="-122"/>
              </a:rPr>
              <a:t>brouter</a:t>
            </a:r>
            <a:r>
              <a:rPr lang="en-US" altLang="zh-CN" dirty="0">
                <a:latin typeface="Arial" panose="020B0604020202020204" pitchFamily="34" charset="0"/>
                <a:ea typeface="黑体" panose="02010609060101010101" pitchFamily="2" charset="-122"/>
              </a:rPr>
              <a:t>)</a:t>
            </a:r>
            <a:r>
              <a:rPr lang="zh-CN" altLang="en-US" dirty="0">
                <a:latin typeface="Arial" panose="020B0604020202020204" pitchFamily="34" charset="0"/>
                <a:ea typeface="黑体" panose="02010609060101010101" pitchFamily="2" charset="-122"/>
              </a:rPr>
              <a:t>。</a:t>
            </a:r>
          </a:p>
          <a:p>
            <a:pPr lvl="1">
              <a:lnSpc>
                <a:spcPct val="120000"/>
              </a:lnSpc>
            </a:pPr>
            <a:r>
              <a:rPr lang="zh-CN" altLang="en-US" dirty="0">
                <a:solidFill>
                  <a:srgbClr val="0000FF"/>
                </a:solidFill>
                <a:latin typeface="Arial" panose="020B0604020202020204" pitchFamily="34" charset="0"/>
                <a:ea typeface="黑体" panose="02010609060101010101" pitchFamily="2" charset="-122"/>
              </a:rPr>
              <a:t>网络层以上</a:t>
            </a:r>
            <a:r>
              <a:rPr lang="zh-CN" altLang="en-US" dirty="0">
                <a:latin typeface="Arial" panose="020B0604020202020204" pitchFamily="34" charset="0"/>
                <a:ea typeface="黑体" panose="02010609060101010101" pitchFamily="2" charset="-122"/>
              </a:rPr>
              <a:t>的中继系统：</a:t>
            </a:r>
            <a:r>
              <a:rPr lang="zh-CN" altLang="en-US" dirty="0">
                <a:solidFill>
                  <a:srgbClr val="FF0000"/>
                </a:solidFill>
                <a:latin typeface="Arial" panose="020B0604020202020204" pitchFamily="34" charset="0"/>
                <a:ea typeface="黑体" panose="02010609060101010101" pitchFamily="2" charset="-122"/>
              </a:rPr>
              <a:t>网关 </a:t>
            </a:r>
            <a:r>
              <a:rPr lang="en-US" altLang="zh-CN" dirty="0">
                <a:latin typeface="Arial" panose="020B0604020202020204" pitchFamily="34" charset="0"/>
                <a:ea typeface="黑体" panose="02010609060101010101" pitchFamily="2" charset="-122"/>
              </a:rPr>
              <a:t>(gateway)</a:t>
            </a:r>
            <a:r>
              <a:rPr lang="zh-CN" altLang="en-US" dirty="0">
                <a:latin typeface="Arial" panose="020B0604020202020204" pitchFamily="34" charset="0"/>
                <a:ea typeface="黑体" panose="02010609060101010101" pitchFamily="2" charset="-122"/>
              </a:rPr>
              <a:t>。</a:t>
            </a:r>
            <a:r>
              <a:rPr lang="zh-CN" altLang="en-US" dirty="0"/>
              <a:t>  </a:t>
            </a:r>
          </a:p>
        </p:txBody>
      </p:sp>
    </p:spTree>
    <p:extLst>
      <p:ext uri="{BB962C8B-B14F-4D97-AF65-F5344CB8AC3E}">
        <p14:creationId xmlns:p14="http://schemas.microsoft.com/office/powerpoint/2010/main" val="2635339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123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1234">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51234">
                                            <p:txEl>
                                              <p:pRg st="3" end="3"/>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51234">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1234">
                                            <p:txEl>
                                              <p:pRg st="5" end="5"/>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51234">
                                            <p:txEl>
                                              <p:pRg st="6" end="6"/>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1234">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9" name="Rectangle 3"/>
          <p:cNvSpPr>
            <a:spLocks noGrp="1" noChangeArrowheads="1"/>
          </p:cNvSpPr>
          <p:nvPr>
            <p:ph type="title"/>
          </p:nvPr>
        </p:nvSpPr>
        <p:spPr/>
        <p:txBody>
          <a:bodyPr/>
          <a:lstStyle/>
          <a:p>
            <a:pPr algn="ctr"/>
            <a:r>
              <a:rPr lang="zh-CN" altLang="en-US"/>
              <a:t>网络互连使用路由器 </a:t>
            </a:r>
          </a:p>
        </p:txBody>
      </p:sp>
      <p:sp>
        <p:nvSpPr>
          <p:cNvPr id="352258" name="Rectangle 2"/>
          <p:cNvSpPr>
            <a:spLocks noGrp="1" noChangeArrowheads="1"/>
          </p:cNvSpPr>
          <p:nvPr>
            <p:ph idx="1"/>
          </p:nvPr>
        </p:nvSpPr>
        <p:spPr/>
        <p:txBody>
          <a:bodyPr/>
          <a:lstStyle/>
          <a:p>
            <a:r>
              <a:rPr lang="zh-CN" altLang="en-US" dirty="0"/>
              <a:t>当中继系统是转发器或网桥时，一般并不称之为网络互连，因为这仅仅是把一个网络扩大了，而这仍然是一个网络。 </a:t>
            </a:r>
          </a:p>
          <a:p>
            <a:r>
              <a:rPr lang="zh-CN" altLang="en-US" dirty="0"/>
              <a:t>网关由于比较复杂，目前使用得较少。</a:t>
            </a:r>
          </a:p>
          <a:p>
            <a:r>
              <a:rPr lang="zh-CN" altLang="zh-CN" dirty="0">
                <a:solidFill>
                  <a:srgbClr val="FF0000"/>
                </a:solidFill>
              </a:rPr>
              <a:t>网络互连</a:t>
            </a:r>
            <a:r>
              <a:rPr lang="zh-CN" altLang="en-US" dirty="0">
                <a:solidFill>
                  <a:srgbClr val="FF0000"/>
                </a:solidFill>
              </a:rPr>
              <a:t>都是指用路由器进行</a:t>
            </a:r>
            <a:r>
              <a:rPr lang="zh-CN" altLang="zh-CN" dirty="0">
                <a:solidFill>
                  <a:srgbClr val="FF0000"/>
                </a:solidFill>
              </a:rPr>
              <a:t>网络互连和路由选择</a:t>
            </a:r>
            <a:r>
              <a:rPr lang="zh-CN" altLang="en-US" dirty="0">
                <a:solidFill>
                  <a:srgbClr val="FF0000"/>
                </a:solidFill>
              </a:rPr>
              <a:t>。</a:t>
            </a:r>
          </a:p>
          <a:p>
            <a:r>
              <a:rPr lang="zh-CN" altLang="en-US" dirty="0"/>
              <a:t>由于历史的原因，许多有关 </a:t>
            </a:r>
            <a:r>
              <a:rPr lang="en-US" altLang="zh-CN" dirty="0"/>
              <a:t>TCP/IP</a:t>
            </a:r>
            <a:r>
              <a:rPr lang="en-US" altLang="zh-CN" b="1" dirty="0"/>
              <a:t> </a:t>
            </a:r>
            <a:r>
              <a:rPr lang="zh-CN" altLang="en-US" dirty="0"/>
              <a:t>的文献将网络层使用的路由器称为</a:t>
            </a:r>
            <a:r>
              <a:rPr lang="zh-CN" altLang="en-US" dirty="0">
                <a:solidFill>
                  <a:srgbClr val="FF0000"/>
                </a:solidFill>
              </a:rPr>
              <a:t>网关。 </a:t>
            </a:r>
            <a:r>
              <a:rPr lang="zh-CN" altLang="en-US" dirty="0"/>
              <a:t>  </a:t>
            </a:r>
          </a:p>
          <a:p>
            <a:endParaRPr lang="en-US" altLang="zh-CN" dirty="0"/>
          </a:p>
        </p:txBody>
      </p:sp>
    </p:spTree>
    <p:extLst>
      <p:ext uri="{BB962C8B-B14F-4D97-AF65-F5344CB8AC3E}">
        <p14:creationId xmlns:p14="http://schemas.microsoft.com/office/powerpoint/2010/main" val="787436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225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225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2258">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5225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8" grpId="0" build="p"/>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7" name="Rectangle 3"/>
          <p:cNvSpPr>
            <a:spLocks noGrp="1" noChangeArrowheads="1"/>
          </p:cNvSpPr>
          <p:nvPr>
            <p:ph type="title"/>
          </p:nvPr>
        </p:nvSpPr>
        <p:spPr/>
        <p:txBody>
          <a:bodyPr/>
          <a:lstStyle/>
          <a:p>
            <a:pPr algn="ctr"/>
            <a:r>
              <a:rPr lang="zh-CN" altLang="en-US"/>
              <a:t>互连网络与虚拟互连网络 </a:t>
            </a:r>
          </a:p>
        </p:txBody>
      </p:sp>
      <p:grpSp>
        <p:nvGrpSpPr>
          <p:cNvPr id="5" name="组合 4"/>
          <p:cNvGrpSpPr/>
          <p:nvPr/>
        </p:nvGrpSpPr>
        <p:grpSpPr>
          <a:xfrm>
            <a:off x="472116" y="1268760"/>
            <a:ext cx="9103164" cy="4566121"/>
            <a:chOff x="472116" y="1268760"/>
            <a:chExt cx="9103164" cy="4566121"/>
          </a:xfrm>
        </p:grpSpPr>
        <p:grpSp>
          <p:nvGrpSpPr>
            <p:cNvPr id="4" name="组合 3"/>
            <p:cNvGrpSpPr/>
            <p:nvPr/>
          </p:nvGrpSpPr>
          <p:grpSpPr>
            <a:xfrm>
              <a:off x="472116" y="1268760"/>
              <a:ext cx="4192852" cy="4566121"/>
              <a:chOff x="472116" y="1268760"/>
              <a:chExt cx="4192852" cy="4566121"/>
            </a:xfrm>
          </p:grpSpPr>
          <p:sp>
            <p:nvSpPr>
              <p:cNvPr id="354316" name="Oval 12"/>
              <p:cNvSpPr>
                <a:spLocks noChangeArrowheads="1"/>
              </p:cNvSpPr>
              <p:nvPr/>
            </p:nvSpPr>
            <p:spPr bwMode="auto">
              <a:xfrm>
                <a:off x="3204864" y="3000723"/>
                <a:ext cx="1460104" cy="1270000"/>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17" name="Oval 13"/>
              <p:cNvSpPr>
                <a:spLocks noChangeArrowheads="1"/>
              </p:cNvSpPr>
              <p:nvPr/>
            </p:nvSpPr>
            <p:spPr bwMode="auto">
              <a:xfrm>
                <a:off x="472116" y="2594323"/>
                <a:ext cx="1432586" cy="1276350"/>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18" name="Oval 14"/>
              <p:cNvSpPr>
                <a:spLocks noChangeArrowheads="1"/>
              </p:cNvSpPr>
              <p:nvPr/>
            </p:nvSpPr>
            <p:spPr bwMode="auto">
              <a:xfrm>
                <a:off x="2976133" y="2148236"/>
                <a:ext cx="1458383" cy="1230313"/>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19" name="Oval 15"/>
              <p:cNvSpPr>
                <a:spLocks noChangeArrowheads="1"/>
              </p:cNvSpPr>
              <p:nvPr/>
            </p:nvSpPr>
            <p:spPr bwMode="auto">
              <a:xfrm>
                <a:off x="2210825" y="3243610"/>
                <a:ext cx="1458383" cy="1296988"/>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20" name="Oval 16"/>
              <p:cNvSpPr>
                <a:spLocks noChangeArrowheads="1"/>
              </p:cNvSpPr>
              <p:nvPr/>
            </p:nvSpPr>
            <p:spPr bwMode="auto">
              <a:xfrm>
                <a:off x="957097" y="3130898"/>
                <a:ext cx="1456663" cy="1230312"/>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21" name="Oval 17"/>
              <p:cNvSpPr>
                <a:spLocks noChangeArrowheads="1"/>
              </p:cNvSpPr>
              <p:nvPr/>
            </p:nvSpPr>
            <p:spPr bwMode="auto">
              <a:xfrm>
                <a:off x="2081841" y="1970436"/>
                <a:ext cx="1432586" cy="1273175"/>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22" name="Oval 18"/>
              <p:cNvSpPr>
                <a:spLocks noChangeArrowheads="1"/>
              </p:cNvSpPr>
              <p:nvPr/>
            </p:nvSpPr>
            <p:spPr bwMode="auto">
              <a:xfrm>
                <a:off x="1161752" y="1970435"/>
                <a:ext cx="1432587" cy="1225550"/>
              </a:xfrm>
              <a:prstGeom prst="ellipse">
                <a:avLst/>
              </a:prstGeom>
              <a:solidFill>
                <a:srgbClr val="FFFFFF"/>
              </a:solidFill>
              <a:ln w="9525">
                <a:solidFill>
                  <a:srgbClr val="000000"/>
                </a:solidFill>
                <a:prstDash val="dash"/>
                <a:round/>
              </a:ln>
            </p:spPr>
            <p:txBody>
              <a:bodyPr/>
              <a:lstStyle/>
              <a:p>
                <a:endParaRPr lang="zh-CN" altLang="en-US" b="1">
                  <a:solidFill>
                    <a:srgbClr val="000099"/>
                  </a:solidFill>
                  <a:latin typeface="+mn-lt"/>
                  <a:ea typeface="黑体" panose="02010609060101010101" pitchFamily="2" charset="-122"/>
                </a:endParaRPr>
              </a:p>
            </p:txBody>
          </p:sp>
          <p:sp>
            <p:nvSpPr>
              <p:cNvPr id="354323" name="Oval 19"/>
              <p:cNvSpPr>
                <a:spLocks noChangeArrowheads="1"/>
              </p:cNvSpPr>
              <p:nvPr/>
            </p:nvSpPr>
            <p:spPr bwMode="auto">
              <a:xfrm>
                <a:off x="855629" y="2259361"/>
                <a:ext cx="3475700" cy="1768475"/>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324" name="Line 20"/>
              <p:cNvSpPr>
                <a:spLocks noChangeShapeType="1"/>
              </p:cNvSpPr>
              <p:nvPr/>
            </p:nvSpPr>
            <p:spPr bwMode="auto">
              <a:xfrm>
                <a:off x="2945177" y="1637060"/>
                <a:ext cx="221853" cy="7127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25" name="Line 21"/>
              <p:cNvSpPr>
                <a:spLocks noChangeShapeType="1"/>
              </p:cNvSpPr>
              <p:nvPr/>
            </p:nvSpPr>
            <p:spPr bwMode="auto">
              <a:xfrm>
                <a:off x="2929698" y="3332511"/>
                <a:ext cx="373195" cy="365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26" name="Line 22"/>
              <p:cNvSpPr>
                <a:spLocks noChangeShapeType="1"/>
              </p:cNvSpPr>
              <p:nvPr/>
            </p:nvSpPr>
            <p:spPr bwMode="auto">
              <a:xfrm flipH="1" flipV="1">
                <a:off x="3971891" y="4213573"/>
                <a:ext cx="318162" cy="58896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27" name="Line 23"/>
              <p:cNvSpPr>
                <a:spLocks noChangeShapeType="1"/>
              </p:cNvSpPr>
              <p:nvPr/>
            </p:nvSpPr>
            <p:spPr bwMode="auto">
              <a:xfrm flipH="1">
                <a:off x="3634812" y="1932335"/>
                <a:ext cx="655241" cy="5159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28" name="Line 24"/>
              <p:cNvSpPr>
                <a:spLocks noChangeShapeType="1"/>
              </p:cNvSpPr>
              <p:nvPr/>
            </p:nvSpPr>
            <p:spPr bwMode="auto">
              <a:xfrm flipH="1" flipV="1">
                <a:off x="2697527" y="3527773"/>
                <a:ext cx="553773" cy="14224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29" name="Line 25"/>
              <p:cNvSpPr>
                <a:spLocks noChangeShapeType="1"/>
              </p:cNvSpPr>
              <p:nvPr/>
            </p:nvSpPr>
            <p:spPr bwMode="auto">
              <a:xfrm flipH="1" flipV="1">
                <a:off x="1837630" y="4127849"/>
                <a:ext cx="294084" cy="6746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0" name="Line 26"/>
              <p:cNvSpPr>
                <a:spLocks noChangeShapeType="1"/>
              </p:cNvSpPr>
              <p:nvPr/>
            </p:nvSpPr>
            <p:spPr bwMode="auto">
              <a:xfrm flipV="1">
                <a:off x="1012130" y="4177060"/>
                <a:ext cx="411030" cy="7000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1" name="Line 27"/>
              <p:cNvSpPr>
                <a:spLocks noChangeShapeType="1"/>
              </p:cNvSpPr>
              <p:nvPr/>
            </p:nvSpPr>
            <p:spPr bwMode="auto">
              <a:xfrm>
                <a:off x="1170351" y="1857724"/>
                <a:ext cx="266567" cy="3571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2" name="Freeform 28"/>
              <p:cNvSpPr/>
              <p:nvPr/>
            </p:nvSpPr>
            <p:spPr bwMode="auto">
              <a:xfrm>
                <a:off x="2315733" y="2130774"/>
                <a:ext cx="189177" cy="173037"/>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3" name="Freeform 29"/>
              <p:cNvSpPr/>
              <p:nvPr/>
            </p:nvSpPr>
            <p:spPr bwMode="auto">
              <a:xfrm>
                <a:off x="871108" y="3454748"/>
                <a:ext cx="208094" cy="341312"/>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4" name="Line 30"/>
              <p:cNvSpPr>
                <a:spLocks noChangeShapeType="1"/>
              </p:cNvSpPr>
              <p:nvPr/>
            </p:nvSpPr>
            <p:spPr bwMode="auto">
              <a:xfrm>
                <a:off x="998373" y="3110260"/>
                <a:ext cx="319881" cy="51593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5" name="Line 31"/>
              <p:cNvSpPr>
                <a:spLocks noChangeShapeType="1"/>
              </p:cNvSpPr>
              <p:nvPr/>
            </p:nvSpPr>
            <p:spPr bwMode="auto">
              <a:xfrm flipV="1">
                <a:off x="1077483" y="2594323"/>
                <a:ext cx="318161" cy="3683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6" name="Line 32"/>
              <p:cNvSpPr>
                <a:spLocks noChangeShapeType="1"/>
              </p:cNvSpPr>
              <p:nvPr/>
            </p:nvSpPr>
            <p:spPr bwMode="auto">
              <a:xfrm>
                <a:off x="2117956" y="2594323"/>
                <a:ext cx="292365" cy="49212"/>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7" name="Line 33"/>
              <p:cNvSpPr>
                <a:spLocks noChangeShapeType="1"/>
              </p:cNvSpPr>
              <p:nvPr/>
            </p:nvSpPr>
            <p:spPr bwMode="auto">
              <a:xfrm flipV="1">
                <a:off x="2637333" y="2570511"/>
                <a:ext cx="386954" cy="61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8" name="Line 34"/>
              <p:cNvSpPr>
                <a:spLocks noChangeShapeType="1"/>
              </p:cNvSpPr>
              <p:nvPr/>
            </p:nvSpPr>
            <p:spPr bwMode="auto">
              <a:xfrm>
                <a:off x="3756918" y="2729261"/>
                <a:ext cx="240771" cy="24606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39" name="Line 35"/>
              <p:cNvSpPr>
                <a:spLocks noChangeShapeType="1"/>
              </p:cNvSpPr>
              <p:nvPr/>
            </p:nvSpPr>
            <p:spPr bwMode="auto">
              <a:xfrm flipH="1">
                <a:off x="3904820" y="3172174"/>
                <a:ext cx="158221" cy="49053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0" name="Line 36"/>
              <p:cNvSpPr>
                <a:spLocks noChangeShapeType="1"/>
              </p:cNvSpPr>
              <p:nvPr/>
            </p:nvSpPr>
            <p:spPr bwMode="auto">
              <a:xfrm>
                <a:off x="3462833" y="3454748"/>
                <a:ext cx="227013" cy="19685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1" name="Line 37"/>
              <p:cNvSpPr>
                <a:spLocks noChangeShapeType="1"/>
              </p:cNvSpPr>
              <p:nvPr/>
            </p:nvSpPr>
            <p:spPr bwMode="auto">
              <a:xfrm>
                <a:off x="1877185" y="3845274"/>
                <a:ext cx="400712" cy="147637"/>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2" name="Line 38"/>
              <p:cNvSpPr>
                <a:spLocks noChangeShapeType="1"/>
              </p:cNvSpPr>
              <p:nvPr/>
            </p:nvSpPr>
            <p:spPr bwMode="auto">
              <a:xfrm flipV="1">
                <a:off x="2437837" y="3662711"/>
                <a:ext cx="199496" cy="257175"/>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3" name="Line 39"/>
              <p:cNvSpPr>
                <a:spLocks noChangeShapeType="1"/>
              </p:cNvSpPr>
              <p:nvPr/>
            </p:nvSpPr>
            <p:spPr bwMode="auto">
              <a:xfrm>
                <a:off x="3397481" y="2816574"/>
                <a:ext cx="27517" cy="4540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4" name="Line 40"/>
              <p:cNvSpPr>
                <a:spLocks noChangeShapeType="1"/>
              </p:cNvSpPr>
              <p:nvPr/>
            </p:nvSpPr>
            <p:spPr bwMode="auto">
              <a:xfrm flipH="1">
                <a:off x="1677689" y="2668935"/>
                <a:ext cx="839258" cy="9937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nvGrpSpPr>
              <p:cNvPr id="354345" name="Group 41"/>
              <p:cNvGrpSpPr/>
              <p:nvPr/>
            </p:nvGrpSpPr>
            <p:grpSpPr bwMode="auto">
              <a:xfrm>
                <a:off x="2929698" y="2226024"/>
                <a:ext cx="961364" cy="663575"/>
                <a:chOff x="2949" y="196"/>
                <a:chExt cx="941" cy="598"/>
              </a:xfrm>
            </p:grpSpPr>
            <p:sp>
              <p:nvSpPr>
                <p:cNvPr id="354346" name="Oval 42"/>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7" name="Oval 43"/>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8" name="Oval 44"/>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49" name="Oval 45"/>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0" name="Oval 46"/>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1" name="Oval 47"/>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2" name="Oval 48"/>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3" name="Oval 49"/>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4" name="Freeform 50"/>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55" name="Freeform 51"/>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56" name="Freeform 52"/>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354357" name="Group 53"/>
              <p:cNvGrpSpPr/>
              <p:nvPr/>
            </p:nvGrpSpPr>
            <p:grpSpPr bwMode="auto">
              <a:xfrm>
                <a:off x="3411240" y="3553173"/>
                <a:ext cx="959644" cy="660400"/>
                <a:chOff x="2949" y="196"/>
                <a:chExt cx="941" cy="598"/>
              </a:xfrm>
            </p:grpSpPr>
            <p:sp>
              <p:nvSpPr>
                <p:cNvPr id="354358" name="Oval 54"/>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59" name="Oval 55"/>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0" name="Oval 56"/>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1" name="Oval 57"/>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2" name="Oval 58"/>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3" name="Oval 59"/>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4" name="Oval 60"/>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5" name="Oval 61"/>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66" name="Freeform 62"/>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67" name="Freeform 63"/>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68" name="Freeform 64"/>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354369" name="Group 65"/>
              <p:cNvGrpSpPr/>
              <p:nvPr/>
            </p:nvGrpSpPr>
            <p:grpSpPr bwMode="auto">
              <a:xfrm>
                <a:off x="2050885" y="3037236"/>
                <a:ext cx="959644" cy="663575"/>
                <a:chOff x="2949" y="196"/>
                <a:chExt cx="941" cy="598"/>
              </a:xfrm>
            </p:grpSpPr>
            <p:sp>
              <p:nvSpPr>
                <p:cNvPr id="354370" name="Oval 66"/>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1" name="Oval 67"/>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2" name="Oval 68"/>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3" name="Oval 69"/>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4" name="Oval 70"/>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5" name="Oval 71"/>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6" name="Oval 72"/>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7" name="Oval 73"/>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78" name="Freeform 74"/>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79" name="Freeform 75"/>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80" name="Freeform 76"/>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354381" name="Group 77"/>
              <p:cNvGrpSpPr/>
              <p:nvPr/>
            </p:nvGrpSpPr>
            <p:grpSpPr bwMode="auto">
              <a:xfrm>
                <a:off x="1012131" y="3553173"/>
                <a:ext cx="957923" cy="660400"/>
                <a:chOff x="2949" y="196"/>
                <a:chExt cx="941" cy="598"/>
              </a:xfrm>
            </p:grpSpPr>
            <p:sp>
              <p:nvSpPr>
                <p:cNvPr id="354382" name="Oval 78"/>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3" name="Oval 79"/>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4" name="Oval 80"/>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5" name="Oval 81"/>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6" name="Oval 82"/>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7" name="Oval 83"/>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8" name="Oval 84"/>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89" name="Oval 85"/>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0" name="Freeform 86"/>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91" name="Freeform 87"/>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392" name="Freeform 88"/>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grpSp>
            <p:nvGrpSpPr>
              <p:cNvPr id="354393" name="Group 89"/>
              <p:cNvGrpSpPr/>
              <p:nvPr/>
            </p:nvGrpSpPr>
            <p:grpSpPr bwMode="auto">
              <a:xfrm>
                <a:off x="1249462" y="2079974"/>
                <a:ext cx="961363" cy="661987"/>
                <a:chOff x="2949" y="196"/>
                <a:chExt cx="941" cy="598"/>
              </a:xfrm>
            </p:grpSpPr>
            <p:sp>
              <p:nvSpPr>
                <p:cNvPr id="354394" name="Oval 90"/>
                <p:cNvSpPr>
                  <a:spLocks noChangeArrowheads="1"/>
                </p:cNvSpPr>
                <p:nvPr/>
              </p:nvSpPr>
              <p:spPr bwMode="auto">
                <a:xfrm>
                  <a:off x="3168" y="196"/>
                  <a:ext cx="407" cy="162"/>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5" name="Oval 91"/>
                <p:cNvSpPr>
                  <a:spLocks noChangeArrowheads="1"/>
                </p:cNvSpPr>
                <p:nvPr/>
              </p:nvSpPr>
              <p:spPr bwMode="auto">
                <a:xfrm rot="900000">
                  <a:off x="3512" y="252"/>
                  <a:ext cx="275" cy="131"/>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6" name="Oval 92"/>
                <p:cNvSpPr>
                  <a:spLocks noChangeArrowheads="1"/>
                </p:cNvSpPr>
                <p:nvPr/>
              </p:nvSpPr>
              <p:spPr bwMode="auto">
                <a:xfrm rot="1500000">
                  <a:off x="3650" y="385"/>
                  <a:ext cx="240" cy="153"/>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7" name="Oval 93"/>
                <p:cNvSpPr>
                  <a:spLocks noChangeArrowheads="1"/>
                </p:cNvSpPr>
                <p:nvPr/>
              </p:nvSpPr>
              <p:spPr bwMode="auto">
                <a:xfrm rot="20040000">
                  <a:off x="3573" y="537"/>
                  <a:ext cx="291" cy="18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8" name="Oval 94"/>
                <p:cNvSpPr>
                  <a:spLocks noChangeArrowheads="1"/>
                </p:cNvSpPr>
                <p:nvPr/>
              </p:nvSpPr>
              <p:spPr bwMode="auto">
                <a:xfrm>
                  <a:off x="3216" y="555"/>
                  <a:ext cx="471" cy="239"/>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99" name="Oval 95"/>
                <p:cNvSpPr>
                  <a:spLocks noChangeArrowheads="1"/>
                </p:cNvSpPr>
                <p:nvPr/>
              </p:nvSpPr>
              <p:spPr bwMode="auto">
                <a:xfrm rot="1080000">
                  <a:off x="3023" y="555"/>
                  <a:ext cx="26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400" name="Oval 96"/>
                <p:cNvSpPr>
                  <a:spLocks noChangeArrowheads="1"/>
                </p:cNvSpPr>
                <p:nvPr/>
              </p:nvSpPr>
              <p:spPr bwMode="auto">
                <a:xfrm>
                  <a:off x="2949" y="432"/>
                  <a:ext cx="217"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401" name="Oval 97"/>
                <p:cNvSpPr>
                  <a:spLocks noChangeArrowheads="1"/>
                </p:cNvSpPr>
                <p:nvPr/>
              </p:nvSpPr>
              <p:spPr bwMode="auto">
                <a:xfrm rot="19740000">
                  <a:off x="2984" y="310"/>
                  <a:ext cx="295" cy="156"/>
                </a:xfrm>
                <a:prstGeom prst="ellipse">
                  <a:avLst/>
                </a:prstGeom>
                <a:solidFill>
                  <a:srgbClr val="EAEAEA"/>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402" name="Freeform 98"/>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403" name="Freeform 99"/>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354404" name="Freeform 100"/>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sp>
            <p:nvSpPr>
              <p:cNvPr id="354405" name="Text Box 101"/>
              <p:cNvSpPr txBox="1">
                <a:spLocks noChangeArrowheads="1"/>
              </p:cNvSpPr>
              <p:nvPr/>
            </p:nvSpPr>
            <p:spPr bwMode="auto">
              <a:xfrm>
                <a:off x="3504108" y="366906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a:t>
                </a:r>
              </a:p>
            </p:txBody>
          </p:sp>
          <p:sp>
            <p:nvSpPr>
              <p:cNvPr id="354406" name="Text Box 102"/>
              <p:cNvSpPr txBox="1">
                <a:spLocks noChangeArrowheads="1"/>
              </p:cNvSpPr>
              <p:nvPr/>
            </p:nvSpPr>
            <p:spPr bwMode="auto">
              <a:xfrm>
                <a:off x="2112797" y="318011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a:t>
                </a:r>
              </a:p>
            </p:txBody>
          </p:sp>
          <p:sp>
            <p:nvSpPr>
              <p:cNvPr id="354407" name="Text Box 103"/>
              <p:cNvSpPr txBox="1">
                <a:spLocks noChangeArrowheads="1"/>
              </p:cNvSpPr>
              <p:nvPr/>
            </p:nvSpPr>
            <p:spPr bwMode="auto">
              <a:xfrm>
                <a:off x="1103279" y="3683348"/>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a:t>
                </a:r>
              </a:p>
            </p:txBody>
          </p:sp>
          <p:sp>
            <p:nvSpPr>
              <p:cNvPr id="354408" name="Text Box 104"/>
              <p:cNvSpPr txBox="1">
                <a:spLocks noChangeArrowheads="1"/>
              </p:cNvSpPr>
              <p:nvPr/>
            </p:nvSpPr>
            <p:spPr bwMode="auto">
              <a:xfrm>
                <a:off x="3007090" y="235937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a:t>
                </a:r>
              </a:p>
            </p:txBody>
          </p:sp>
          <p:sp>
            <p:nvSpPr>
              <p:cNvPr id="354409" name="Text Box 105"/>
              <p:cNvSpPr txBox="1">
                <a:spLocks noChangeArrowheads="1"/>
              </p:cNvSpPr>
              <p:nvPr/>
            </p:nvSpPr>
            <p:spPr bwMode="auto">
              <a:xfrm>
                <a:off x="1319973" y="2179986"/>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网络</a:t>
                </a:r>
              </a:p>
            </p:txBody>
          </p:sp>
          <p:sp>
            <p:nvSpPr>
              <p:cNvPr id="354410" name="Text Box 106"/>
              <p:cNvSpPr txBox="1">
                <a:spLocks noChangeArrowheads="1"/>
              </p:cNvSpPr>
              <p:nvPr/>
            </p:nvSpPr>
            <p:spPr bwMode="auto">
              <a:xfrm>
                <a:off x="1784648" y="5373216"/>
                <a:ext cx="18838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dirty="0">
                    <a:latin typeface="+mn-lt"/>
                    <a:ea typeface="黑体" panose="02010609060101010101" pitchFamily="2" charset="-122"/>
                  </a:rPr>
                  <a:t>(a) </a:t>
                </a:r>
                <a:r>
                  <a:rPr kumimoji="1" lang="zh-CN" altLang="en-US" sz="2400" dirty="0">
                    <a:latin typeface="+mn-lt"/>
                    <a:ea typeface="黑体" panose="02010609060101010101" pitchFamily="2" charset="-122"/>
                  </a:rPr>
                  <a:t>互连网络</a:t>
                </a:r>
              </a:p>
            </p:txBody>
          </p:sp>
          <p:pic>
            <p:nvPicPr>
              <p:cNvPr id="354412" name="Picture 10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360" y="1489423"/>
                <a:ext cx="55205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3" name="Picture 10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1656" y="2448273"/>
                <a:ext cx="546894"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19" name="Picture 1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10529" y="4802535"/>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0" name="Picture 1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0943" y="4729510"/>
                <a:ext cx="5520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1" name="Picture 1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360" y="4729510"/>
                <a:ext cx="55205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2" name="Picture 1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88927" y="1268760"/>
                <a:ext cx="55549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4" name="Picture 1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51002" y="4656486"/>
                <a:ext cx="553773"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5" name="Picture 1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71891" y="1564036"/>
                <a:ext cx="552054"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6" name="Picture 1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4227" y="3184873"/>
                <a:ext cx="546894"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7" name="Picture 1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91062" y="2889599"/>
                <a:ext cx="54689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8" name="Picture 1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31715" y="3773836"/>
                <a:ext cx="546894" cy="334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9" name="Picture 1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529" y="2889599"/>
                <a:ext cx="54689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4430" name="Text Box 126"/>
              <p:cNvSpPr txBox="1">
                <a:spLocks noChangeArrowheads="1"/>
              </p:cNvSpPr>
              <p:nvPr/>
            </p:nvSpPr>
            <p:spPr bwMode="auto">
              <a:xfrm>
                <a:off x="1588260" y="133226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anose="02010609060101010101" pitchFamily="2" charset="-122"/>
                  </a:rPr>
                  <a:t>路由器</a:t>
                </a:r>
              </a:p>
            </p:txBody>
          </p:sp>
          <p:sp>
            <p:nvSpPr>
              <p:cNvPr id="354431" name="Line 127"/>
              <p:cNvSpPr>
                <a:spLocks noChangeShapeType="1"/>
              </p:cNvSpPr>
              <p:nvPr/>
            </p:nvSpPr>
            <p:spPr bwMode="auto">
              <a:xfrm>
                <a:off x="2131714" y="1784699"/>
                <a:ext cx="398992" cy="663575"/>
              </a:xfrm>
              <a:prstGeom prst="line">
                <a:avLst/>
              </a:prstGeom>
              <a:noFill/>
              <a:ln w="28575">
                <a:solidFill>
                  <a:srgbClr val="333399"/>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grpSp>
        <p:grpSp>
          <p:nvGrpSpPr>
            <p:cNvPr id="3" name="组合 2"/>
            <p:cNvGrpSpPr/>
            <p:nvPr/>
          </p:nvGrpSpPr>
          <p:grpSpPr>
            <a:xfrm>
              <a:off x="5575044" y="1268760"/>
              <a:ext cx="4000236" cy="4566121"/>
              <a:chOff x="5575044" y="1268760"/>
              <a:chExt cx="4000236" cy="4566121"/>
            </a:xfrm>
          </p:grpSpPr>
          <p:sp>
            <p:nvSpPr>
              <p:cNvPr id="354309" name="Line 5"/>
              <p:cNvSpPr>
                <a:spLocks noChangeShapeType="1"/>
              </p:cNvSpPr>
              <p:nvPr/>
            </p:nvSpPr>
            <p:spPr bwMode="auto">
              <a:xfrm>
                <a:off x="7814213" y="1710085"/>
                <a:ext cx="80831" cy="7381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0" name="Line 6"/>
              <p:cNvSpPr>
                <a:spLocks noChangeShapeType="1"/>
              </p:cNvSpPr>
              <p:nvPr/>
            </p:nvSpPr>
            <p:spPr bwMode="auto">
              <a:xfrm flipH="1" flipV="1">
                <a:off x="6720425" y="4140549"/>
                <a:ext cx="295804" cy="6746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1" name="Line 7"/>
              <p:cNvSpPr>
                <a:spLocks noChangeShapeType="1"/>
              </p:cNvSpPr>
              <p:nvPr/>
            </p:nvSpPr>
            <p:spPr bwMode="auto">
              <a:xfrm>
                <a:off x="6054866" y="1857724"/>
                <a:ext cx="479821" cy="66357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2" name="Line 8"/>
              <p:cNvSpPr>
                <a:spLocks noChangeShapeType="1"/>
              </p:cNvSpPr>
              <p:nvPr/>
            </p:nvSpPr>
            <p:spPr bwMode="auto">
              <a:xfrm flipH="1">
                <a:off x="8536525" y="1932335"/>
                <a:ext cx="638043" cy="661988"/>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3" name="Line 9"/>
              <p:cNvSpPr>
                <a:spLocks noChangeShapeType="1"/>
              </p:cNvSpPr>
              <p:nvPr/>
            </p:nvSpPr>
            <p:spPr bwMode="auto">
              <a:xfrm flipV="1">
                <a:off x="5894926" y="4065936"/>
                <a:ext cx="479822" cy="811213"/>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4" name="Line 10"/>
              <p:cNvSpPr>
                <a:spLocks noChangeShapeType="1"/>
              </p:cNvSpPr>
              <p:nvPr/>
            </p:nvSpPr>
            <p:spPr bwMode="auto">
              <a:xfrm flipH="1" flipV="1">
                <a:off x="7975873" y="4140549"/>
                <a:ext cx="159941" cy="809625"/>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315" name="Line 11"/>
              <p:cNvSpPr>
                <a:spLocks noChangeShapeType="1"/>
              </p:cNvSpPr>
              <p:nvPr/>
            </p:nvSpPr>
            <p:spPr bwMode="auto">
              <a:xfrm flipH="1" flipV="1">
                <a:off x="8775576" y="4065935"/>
                <a:ext cx="398992" cy="73660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354411" name="Text Box 107"/>
              <p:cNvSpPr txBox="1">
                <a:spLocks noChangeArrowheads="1"/>
              </p:cNvSpPr>
              <p:nvPr/>
            </p:nvSpPr>
            <p:spPr bwMode="auto">
              <a:xfrm>
                <a:off x="6532968" y="5373216"/>
                <a:ext cx="2518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dirty="0">
                    <a:latin typeface="+mn-lt"/>
                    <a:ea typeface="黑体" panose="02010609060101010101" pitchFamily="2" charset="-122"/>
                  </a:rPr>
                  <a:t>(b) </a:t>
                </a:r>
                <a:r>
                  <a:rPr kumimoji="1" lang="zh-CN" altLang="en-US" sz="2400" dirty="0">
                    <a:latin typeface="+mn-lt"/>
                    <a:ea typeface="黑体" panose="02010609060101010101" pitchFamily="2" charset="-122"/>
                  </a:rPr>
                  <a:t>虚拟互连网络</a:t>
                </a:r>
              </a:p>
            </p:txBody>
          </p:sp>
          <p:pic>
            <p:nvPicPr>
              <p:cNvPr id="354414" name="Picture 1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95043" y="4877148"/>
                <a:ext cx="552053" cy="512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5" name="Picture 1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3797" y="1564036"/>
                <a:ext cx="55549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6" name="Picture 1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4629" y="472951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7" name="Picture 1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044" y="472951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8"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3265" y="1489423"/>
                <a:ext cx="55549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3" name="Picture 1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3797" y="4656486"/>
                <a:ext cx="55549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32"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75162" y="126876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54433" name="Group 129"/>
              <p:cNvGrpSpPr/>
              <p:nvPr/>
            </p:nvGrpSpPr>
            <p:grpSpPr bwMode="auto">
              <a:xfrm>
                <a:off x="5597402" y="2200623"/>
                <a:ext cx="3977878" cy="2381250"/>
                <a:chOff x="3134" y="1375"/>
                <a:chExt cx="2386" cy="1553"/>
              </a:xfrm>
            </p:grpSpPr>
            <p:sp>
              <p:nvSpPr>
                <p:cNvPr id="35443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3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3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3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3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3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grpSp>
          <p:sp>
            <p:nvSpPr>
              <p:cNvPr id="354443" name="Oval 139"/>
              <p:cNvSpPr>
                <a:spLocks noChangeArrowheads="1"/>
              </p:cNvSpPr>
              <p:nvPr/>
            </p:nvSpPr>
            <p:spPr bwMode="auto">
              <a:xfrm>
                <a:off x="6949158" y="2152999"/>
                <a:ext cx="1711192" cy="962025"/>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4" name="Oval 140"/>
              <p:cNvSpPr>
                <a:spLocks noChangeArrowheads="1"/>
              </p:cNvSpPr>
              <p:nvPr/>
            </p:nvSpPr>
            <p:spPr bwMode="auto">
              <a:xfrm>
                <a:off x="5984355" y="2419699"/>
                <a:ext cx="1303602" cy="960437"/>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5" name="Oval 141"/>
              <p:cNvSpPr>
                <a:spLocks noChangeArrowheads="1"/>
              </p:cNvSpPr>
              <p:nvPr/>
            </p:nvSpPr>
            <p:spPr bwMode="auto">
              <a:xfrm>
                <a:off x="5575044" y="3018185"/>
                <a:ext cx="866775" cy="769938"/>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6" name="Oval 142"/>
              <p:cNvSpPr>
                <a:spLocks noChangeArrowheads="1"/>
              </p:cNvSpPr>
              <p:nvPr/>
            </p:nvSpPr>
            <p:spPr bwMode="auto">
              <a:xfrm>
                <a:off x="5839892" y="3380136"/>
                <a:ext cx="1324240" cy="841375"/>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7" name="Oval 143"/>
              <p:cNvSpPr>
                <a:spLocks noChangeArrowheads="1"/>
              </p:cNvSpPr>
              <p:nvPr/>
            </p:nvSpPr>
            <p:spPr bwMode="auto">
              <a:xfrm>
                <a:off x="6802975" y="3524599"/>
                <a:ext cx="2000118" cy="1011237"/>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8" name="Oval 144"/>
              <p:cNvSpPr>
                <a:spLocks noChangeArrowheads="1"/>
              </p:cNvSpPr>
              <p:nvPr/>
            </p:nvSpPr>
            <p:spPr bwMode="auto">
              <a:xfrm>
                <a:off x="8106577" y="2441924"/>
                <a:ext cx="1252008" cy="744537"/>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49" name="Oval 145"/>
              <p:cNvSpPr>
                <a:spLocks noChangeArrowheads="1"/>
              </p:cNvSpPr>
              <p:nvPr/>
            </p:nvSpPr>
            <p:spPr bwMode="auto">
              <a:xfrm>
                <a:off x="8299194" y="2946748"/>
                <a:ext cx="1252008" cy="747712"/>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50" name="Oval 146"/>
              <p:cNvSpPr>
                <a:spLocks noChangeArrowheads="1"/>
              </p:cNvSpPr>
              <p:nvPr/>
            </p:nvSpPr>
            <p:spPr bwMode="auto">
              <a:xfrm>
                <a:off x="8177089" y="3115024"/>
                <a:ext cx="1253728" cy="1252537"/>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51" name="Oval 147"/>
              <p:cNvSpPr>
                <a:spLocks noChangeArrowheads="1"/>
              </p:cNvSpPr>
              <p:nvPr/>
            </p:nvSpPr>
            <p:spPr bwMode="auto">
              <a:xfrm>
                <a:off x="6299076" y="2729260"/>
                <a:ext cx="2577967" cy="1250950"/>
              </a:xfrm>
              <a:prstGeom prst="ellipse">
                <a:avLst/>
              </a:prstGeom>
              <a:solidFill>
                <a:srgbClr val="EAEAE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354452" name="Text Box 148"/>
              <p:cNvSpPr txBox="1">
                <a:spLocks noChangeArrowheads="1"/>
              </p:cNvSpPr>
              <p:nvPr/>
            </p:nvSpPr>
            <p:spPr bwMode="auto">
              <a:xfrm>
                <a:off x="6434474" y="2957861"/>
                <a:ext cx="221086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400" b="1" dirty="0">
                    <a:solidFill>
                      <a:srgbClr val="000099"/>
                    </a:solidFill>
                    <a:latin typeface="+mn-lt"/>
                    <a:ea typeface="黑体" panose="02010609060101010101" pitchFamily="2" charset="-122"/>
                  </a:rPr>
                  <a:t>  </a:t>
                </a:r>
                <a:r>
                  <a:rPr kumimoji="1" lang="zh-CN" altLang="en-US" sz="2400" b="1" dirty="0">
                    <a:solidFill>
                      <a:srgbClr val="000099"/>
                    </a:solidFill>
                    <a:latin typeface="+mn-lt"/>
                    <a:ea typeface="黑体" panose="02010609060101010101" pitchFamily="2" charset="-122"/>
                  </a:rPr>
                  <a:t>虚拟互连网络</a:t>
                </a:r>
              </a:p>
              <a:p>
                <a:pPr algn="ctr"/>
                <a:r>
                  <a:rPr kumimoji="1" lang="zh-CN" altLang="en-US" sz="2400" b="1" dirty="0">
                    <a:solidFill>
                      <a:srgbClr val="000099"/>
                    </a:solidFill>
                    <a:latin typeface="+mn-lt"/>
                    <a:ea typeface="黑体" panose="02010609060101010101" pitchFamily="2" charset="-122"/>
                  </a:rPr>
                  <a:t>（互联网）</a:t>
                </a:r>
              </a:p>
            </p:txBody>
          </p:sp>
        </p:grpSp>
      </p:grpSp>
      <p:sp>
        <p:nvSpPr>
          <p:cNvPr id="2" name="矩形 1"/>
          <p:cNvSpPr/>
          <p:nvPr/>
        </p:nvSpPr>
        <p:spPr>
          <a:xfrm>
            <a:off x="3728863" y="5919663"/>
            <a:ext cx="2805823" cy="461665"/>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2400" b="1" dirty="0">
                <a:latin typeface="+mn-lt"/>
                <a:ea typeface="黑体" panose="02010609060101010101" pitchFamily="2" charset="-122"/>
              </a:rPr>
              <a:t>IP </a:t>
            </a:r>
            <a:r>
              <a:rPr kumimoji="1" lang="zh-CN" altLang="zh-CN" sz="2400" b="1" dirty="0">
                <a:latin typeface="+mn-lt"/>
                <a:ea typeface="黑体" panose="02010609060101010101" pitchFamily="2" charset="-122"/>
              </a:rPr>
              <a:t>网的概念</a:t>
            </a:r>
            <a:endParaRPr kumimoji="1" lang="zh-CN" altLang="en-US" sz="2400" b="1" dirty="0">
              <a:latin typeface="+mn-lt"/>
              <a:ea typeface="黑体" panose="02010609060101010101" pitchFamily="2" charset="-122"/>
            </a:endParaRPr>
          </a:p>
        </p:txBody>
      </p:sp>
    </p:spTree>
    <p:extLst>
      <p:ext uri="{BB962C8B-B14F-4D97-AF65-F5344CB8AC3E}">
        <p14:creationId xmlns:p14="http://schemas.microsoft.com/office/powerpoint/2010/main" val="405484879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3" name="Rectangle 3"/>
          <p:cNvSpPr>
            <a:spLocks noGrp="1" noChangeArrowheads="1"/>
          </p:cNvSpPr>
          <p:nvPr>
            <p:ph type="title"/>
          </p:nvPr>
        </p:nvSpPr>
        <p:spPr/>
        <p:txBody>
          <a:bodyPr/>
          <a:lstStyle/>
          <a:p>
            <a:pPr algn="ctr"/>
            <a:r>
              <a:rPr lang="zh-CN" altLang="en-US"/>
              <a:t>虚拟互连网络的意义 </a:t>
            </a:r>
          </a:p>
        </p:txBody>
      </p:sp>
      <p:sp>
        <p:nvSpPr>
          <p:cNvPr id="353295" name="Rectangle 15"/>
          <p:cNvSpPr>
            <a:spLocks noGrp="1" noChangeArrowheads="1"/>
          </p:cNvSpPr>
          <p:nvPr>
            <p:ph idx="1"/>
          </p:nvPr>
        </p:nvSpPr>
        <p:spPr/>
        <p:txBody>
          <a:bodyPr/>
          <a:lstStyle/>
          <a:p>
            <a:pPr algn="just"/>
            <a:r>
              <a:rPr lang="zh-CN" altLang="en-US" sz="2800" dirty="0">
                <a:solidFill>
                  <a:srgbClr val="FF0000"/>
                </a:solidFill>
              </a:rPr>
              <a:t>所谓虚拟互连网络也就是逻辑互连网络，</a:t>
            </a:r>
            <a:r>
              <a:rPr lang="zh-CN" altLang="en-US" sz="2800" dirty="0"/>
              <a:t>它的意思就是互连起来的各种物理网络的异构性本来是客观存在的，但是我们</a:t>
            </a:r>
            <a:r>
              <a:rPr lang="zh-CN" altLang="en-US" sz="2800" dirty="0">
                <a:solidFill>
                  <a:srgbClr val="FF0000"/>
                </a:solidFill>
              </a:rPr>
              <a:t>利用 </a:t>
            </a:r>
            <a:r>
              <a:rPr lang="en-US" altLang="zh-CN" sz="2800" dirty="0">
                <a:solidFill>
                  <a:srgbClr val="FF0000"/>
                </a:solidFill>
              </a:rPr>
              <a:t>IP </a:t>
            </a:r>
            <a:r>
              <a:rPr lang="zh-CN" altLang="en-US" sz="2800" dirty="0">
                <a:solidFill>
                  <a:srgbClr val="FF0000"/>
                </a:solidFill>
              </a:rPr>
              <a:t>协议就可以使这些性能各异的网络从用户看起来好像是一个统一的网络。</a:t>
            </a:r>
          </a:p>
          <a:p>
            <a:pPr algn="just"/>
            <a:r>
              <a:rPr lang="zh-CN" altLang="en-US" sz="2800" dirty="0"/>
              <a:t>使用 </a:t>
            </a:r>
            <a:r>
              <a:rPr lang="en-US" altLang="zh-CN" sz="2800" dirty="0"/>
              <a:t>IP </a:t>
            </a:r>
            <a:r>
              <a:rPr lang="zh-CN" altLang="en-US" sz="2800" dirty="0"/>
              <a:t>协议的虚拟互连网络可简称为 </a:t>
            </a:r>
            <a:r>
              <a:rPr lang="en-US" altLang="zh-CN" sz="2800" dirty="0">
                <a:solidFill>
                  <a:srgbClr val="FF0000"/>
                </a:solidFill>
              </a:rPr>
              <a:t>IP </a:t>
            </a:r>
            <a:r>
              <a:rPr lang="zh-CN" altLang="en-US" sz="2800" dirty="0">
                <a:solidFill>
                  <a:srgbClr val="FF0000"/>
                </a:solidFill>
              </a:rPr>
              <a:t>网。</a:t>
            </a:r>
          </a:p>
          <a:p>
            <a:pPr algn="just"/>
            <a:r>
              <a:rPr lang="zh-CN" altLang="en-US" sz="2800" dirty="0">
                <a:solidFill>
                  <a:srgbClr val="0000FF"/>
                </a:solidFill>
              </a:rPr>
              <a:t>使用虚拟互连网络的好处是：</a:t>
            </a:r>
            <a:r>
              <a:rPr lang="zh-CN" altLang="en-US" sz="2800" dirty="0"/>
              <a:t>当互联网上的主机进行通信时，就好像在一个网络上通信一样，而看不见互连的各具体的网络异构细节。</a:t>
            </a:r>
            <a:endParaRPr lang="en-US" altLang="zh-CN" sz="2800" dirty="0"/>
          </a:p>
          <a:p>
            <a:pPr algn="just"/>
            <a:r>
              <a:rPr lang="zh-CN" altLang="zh-CN" sz="2800" dirty="0">
                <a:solidFill>
                  <a:srgbClr val="FF0000"/>
                </a:solidFill>
              </a:rPr>
              <a:t>如果在这种覆盖全球的</a:t>
            </a:r>
            <a:r>
              <a:rPr lang="en-US" altLang="zh-CN" sz="2800" dirty="0">
                <a:solidFill>
                  <a:srgbClr val="FF0000"/>
                </a:solidFill>
              </a:rPr>
              <a:t> IP </a:t>
            </a:r>
            <a:r>
              <a:rPr lang="zh-CN" altLang="zh-CN" sz="2800" dirty="0">
                <a:solidFill>
                  <a:srgbClr val="FF0000"/>
                </a:solidFill>
              </a:rPr>
              <a:t>网的上层使用</a:t>
            </a:r>
            <a:r>
              <a:rPr lang="en-US" altLang="zh-CN" sz="2800" dirty="0">
                <a:solidFill>
                  <a:srgbClr val="FF0000"/>
                </a:solidFill>
              </a:rPr>
              <a:t> TCP </a:t>
            </a:r>
            <a:r>
              <a:rPr lang="zh-CN" altLang="zh-CN" sz="2800" dirty="0">
                <a:solidFill>
                  <a:srgbClr val="FF0000"/>
                </a:solidFill>
              </a:rPr>
              <a:t>协议，那么就是现在的互联网</a:t>
            </a:r>
            <a:r>
              <a:rPr lang="en-US" altLang="zh-CN" sz="2800" dirty="0">
                <a:solidFill>
                  <a:srgbClr val="FF0000"/>
                </a:solidFill>
              </a:rPr>
              <a:t> (Internet)</a:t>
            </a:r>
            <a:r>
              <a:rPr lang="zh-CN" altLang="zh-CN" sz="2800" dirty="0">
                <a:solidFill>
                  <a:srgbClr val="FF0000"/>
                </a:solidFill>
              </a:rPr>
              <a:t>。</a:t>
            </a:r>
            <a:endParaRPr lang="zh-CN" altLang="en-US" sz="2800" dirty="0">
              <a:solidFill>
                <a:srgbClr val="FF0000"/>
              </a:solidFill>
            </a:endParaRPr>
          </a:p>
        </p:txBody>
      </p:sp>
    </p:spTree>
    <p:extLst>
      <p:ext uri="{BB962C8B-B14F-4D97-AF65-F5344CB8AC3E}">
        <p14:creationId xmlns:p14="http://schemas.microsoft.com/office/powerpoint/2010/main" val="123742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5329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0" name="组合 289"/>
          <p:cNvGrpSpPr/>
          <p:nvPr/>
        </p:nvGrpSpPr>
        <p:grpSpPr>
          <a:xfrm>
            <a:off x="606872" y="232494"/>
            <a:ext cx="8954640" cy="6292850"/>
            <a:chOff x="174824" y="148034"/>
            <a:chExt cx="8954640" cy="6292850"/>
          </a:xfrm>
        </p:grpSpPr>
        <p:sp>
          <p:nvSpPr>
            <p:cNvPr id="4" name="Rectangle 2"/>
            <p:cNvSpPr>
              <a:spLocks noChangeArrowheads="1"/>
            </p:cNvSpPr>
            <p:nvPr/>
          </p:nvSpPr>
          <p:spPr bwMode="auto">
            <a:xfrm>
              <a:off x="833189" y="562372"/>
              <a:ext cx="639762" cy="1214437"/>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 name="Rectangle 3"/>
            <p:cNvSpPr>
              <a:spLocks noChangeArrowheads="1"/>
            </p:cNvSpPr>
            <p:nvPr/>
          </p:nvSpPr>
          <p:spPr bwMode="auto">
            <a:xfrm>
              <a:off x="842714" y="1052909"/>
              <a:ext cx="623887" cy="257175"/>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 name="Text Box 4"/>
            <p:cNvSpPr txBox="1">
              <a:spLocks noChangeArrowheads="1"/>
            </p:cNvSpPr>
            <p:nvPr/>
          </p:nvSpPr>
          <p:spPr bwMode="auto">
            <a:xfrm>
              <a:off x="1012562" y="514747"/>
              <a:ext cx="298479"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dirty="0">
                  <a:ln>
                    <a:noFill/>
                  </a:ln>
                  <a:solidFill>
                    <a:srgbClr val="000099"/>
                  </a:solidFill>
                  <a:effectLst/>
                  <a:uLnTx/>
                  <a:uFillTx/>
                  <a:latin typeface="+mn-lt"/>
                  <a:ea typeface="黑体" panose="02010609060101010101" pitchFamily="2" charset="-122"/>
                </a:rPr>
                <a:t>5</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dirty="0">
                  <a:ln>
                    <a:noFill/>
                  </a:ln>
                  <a:solidFill>
                    <a:srgbClr val="000099"/>
                  </a:solidFill>
                  <a:effectLst/>
                  <a:uLnTx/>
                  <a:uFillTx/>
                  <a:latin typeface="+mn-lt"/>
                  <a:ea typeface="黑体" panose="02010609060101010101" pitchFamily="2" charset="-122"/>
                </a:rPr>
                <a:t>4</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dirty="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dirty="0">
                  <a:ln>
                    <a:noFill/>
                  </a:ln>
                  <a:solidFill>
                    <a:srgbClr val="000099"/>
                  </a:solidFill>
                  <a:effectLst/>
                  <a:uLnTx/>
                  <a:uFillTx/>
                  <a:latin typeface="+mn-lt"/>
                  <a:ea typeface="黑体" panose="02010609060101010101" pitchFamily="2" charset="-122"/>
                </a:rPr>
                <a:t>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dirty="0">
                  <a:ln>
                    <a:noFill/>
                  </a:ln>
                  <a:solidFill>
                    <a:srgbClr val="000099"/>
                  </a:solidFill>
                  <a:effectLst/>
                  <a:uLnTx/>
                  <a:uFillTx/>
                  <a:latin typeface="+mn-lt"/>
                  <a:ea typeface="黑体" panose="02010609060101010101" pitchFamily="2" charset="-122"/>
                </a:rPr>
                <a:t>1</a:t>
              </a:r>
            </a:p>
          </p:txBody>
        </p:sp>
        <p:sp>
          <p:nvSpPr>
            <p:cNvPr id="7" name="Line 5"/>
            <p:cNvSpPr>
              <a:spLocks noChangeShapeType="1"/>
            </p:cNvSpPr>
            <p:nvPr/>
          </p:nvSpPr>
          <p:spPr bwMode="auto">
            <a:xfrm>
              <a:off x="833189" y="821134"/>
              <a:ext cx="6397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 name="Line 6"/>
            <p:cNvSpPr>
              <a:spLocks noChangeShapeType="1"/>
            </p:cNvSpPr>
            <p:nvPr/>
          </p:nvSpPr>
          <p:spPr bwMode="auto">
            <a:xfrm>
              <a:off x="833189" y="1060847"/>
              <a:ext cx="6397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 name="Line 7"/>
            <p:cNvSpPr>
              <a:spLocks noChangeShapeType="1"/>
            </p:cNvSpPr>
            <p:nvPr/>
          </p:nvSpPr>
          <p:spPr bwMode="auto">
            <a:xfrm>
              <a:off x="833189" y="1300559"/>
              <a:ext cx="6397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 name="Line 8"/>
            <p:cNvSpPr>
              <a:spLocks noChangeShapeType="1"/>
            </p:cNvSpPr>
            <p:nvPr/>
          </p:nvSpPr>
          <p:spPr bwMode="auto">
            <a:xfrm>
              <a:off x="833189" y="1541859"/>
              <a:ext cx="639762"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 name="Freeform 9"/>
            <p:cNvSpPr/>
            <p:nvPr/>
          </p:nvSpPr>
          <p:spPr bwMode="auto">
            <a:xfrm>
              <a:off x="8083301" y="2308622"/>
              <a:ext cx="312738" cy="1800225"/>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2" name="Group 10"/>
            <p:cNvGrpSpPr/>
            <p:nvPr/>
          </p:nvGrpSpPr>
          <p:grpSpPr bwMode="auto">
            <a:xfrm>
              <a:off x="2777876" y="5020072"/>
              <a:ext cx="639763" cy="1323975"/>
              <a:chOff x="617" y="259"/>
              <a:chExt cx="403" cy="834"/>
            </a:xfrm>
          </p:grpSpPr>
          <p:sp>
            <p:nvSpPr>
              <p:cNvPr id="13" name="Rectangle 11"/>
              <p:cNvSpPr>
                <a:spLocks noChangeArrowheads="1"/>
              </p:cNvSpPr>
              <p:nvPr/>
            </p:nvSpPr>
            <p:spPr bwMode="auto">
              <a:xfrm>
                <a:off x="623" y="598"/>
                <a:ext cx="393" cy="162"/>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 name="Text Box 12"/>
              <p:cNvSpPr txBox="1">
                <a:spLocks noChangeArrowheads="1"/>
              </p:cNvSpPr>
              <p:nvPr/>
            </p:nvSpPr>
            <p:spPr bwMode="auto">
              <a:xfrm>
                <a:off x="730" y="259"/>
                <a:ext cx="188" cy="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5</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4</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a:t>
                </a:r>
              </a:p>
            </p:txBody>
          </p:sp>
          <p:sp>
            <p:nvSpPr>
              <p:cNvPr id="15" name="Rectangle 13"/>
              <p:cNvSpPr>
                <a:spLocks noChangeArrowheads="1"/>
              </p:cNvSpPr>
              <p:nvPr/>
            </p:nvSpPr>
            <p:spPr bwMode="auto">
              <a:xfrm>
                <a:off x="617" y="289"/>
                <a:ext cx="403" cy="765"/>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6" name="Line 14"/>
              <p:cNvSpPr>
                <a:spLocks noChangeShapeType="1"/>
              </p:cNvSpPr>
              <p:nvPr/>
            </p:nvSpPr>
            <p:spPr bwMode="auto">
              <a:xfrm>
                <a:off x="617" y="452"/>
                <a:ext cx="4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7" name="Line 15"/>
              <p:cNvSpPr>
                <a:spLocks noChangeShapeType="1"/>
              </p:cNvSpPr>
              <p:nvPr/>
            </p:nvSpPr>
            <p:spPr bwMode="auto">
              <a:xfrm>
                <a:off x="617" y="603"/>
                <a:ext cx="4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8" name="Line 16"/>
              <p:cNvSpPr>
                <a:spLocks noChangeShapeType="1"/>
              </p:cNvSpPr>
              <p:nvPr/>
            </p:nvSpPr>
            <p:spPr bwMode="auto">
              <a:xfrm>
                <a:off x="617" y="754"/>
                <a:ext cx="4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9" name="Line 17"/>
              <p:cNvSpPr>
                <a:spLocks noChangeShapeType="1"/>
              </p:cNvSpPr>
              <p:nvPr/>
            </p:nvSpPr>
            <p:spPr bwMode="auto">
              <a:xfrm>
                <a:off x="617" y="906"/>
                <a:ext cx="403"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20" name="Line 18"/>
            <p:cNvSpPr>
              <a:spLocks noChangeShapeType="1"/>
            </p:cNvSpPr>
            <p:nvPr/>
          </p:nvSpPr>
          <p:spPr bwMode="auto">
            <a:xfrm flipV="1">
              <a:off x="3209676" y="2237184"/>
              <a:ext cx="5040313" cy="0"/>
            </a:xfrm>
            <a:prstGeom prst="line">
              <a:avLst/>
            </a:prstGeom>
            <a:noFill/>
            <a:ln w="19050">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1" name="Line 19"/>
            <p:cNvSpPr>
              <a:spLocks noChangeShapeType="1"/>
            </p:cNvSpPr>
            <p:nvPr/>
          </p:nvSpPr>
          <p:spPr bwMode="auto">
            <a:xfrm flipV="1">
              <a:off x="3857376" y="4108847"/>
              <a:ext cx="865188" cy="1587"/>
            </a:xfrm>
            <a:prstGeom prst="line">
              <a:avLst/>
            </a:prstGeom>
            <a:noFill/>
            <a:ln w="19050">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2" name="Line 20"/>
            <p:cNvSpPr>
              <a:spLocks noChangeShapeType="1"/>
            </p:cNvSpPr>
            <p:nvPr/>
          </p:nvSpPr>
          <p:spPr bwMode="auto">
            <a:xfrm>
              <a:off x="977651" y="2237184"/>
              <a:ext cx="0" cy="360363"/>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2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78101" y="396597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4" name="Group 22"/>
            <p:cNvGrpSpPr/>
            <p:nvPr/>
          </p:nvGrpSpPr>
          <p:grpSpPr bwMode="auto">
            <a:xfrm>
              <a:off x="3714501" y="1876822"/>
              <a:ext cx="1439863" cy="863600"/>
              <a:chOff x="385" y="2795"/>
              <a:chExt cx="1769" cy="816"/>
            </a:xfrm>
          </p:grpSpPr>
          <p:sp>
            <p:nvSpPr>
              <p:cNvPr id="25" name="Oval 2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 name="Oval 2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 name="Oval 2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 name="Oval 2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9" name="Oval 2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0" name="Oval 2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1" name="Oval 2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2" name="Oval 3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3" name="Oval 3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4" name="Oval 3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5" name="Oval 3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6" name="Oval 3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7" name="Oval 3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8" name="Oval 3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39" name="Oval 3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0" name="Oval 3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1" name="Freeform 39"/>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42" name="Text Box 40"/>
            <p:cNvSpPr txBox="1">
              <a:spLocks noChangeArrowheads="1"/>
            </p:cNvSpPr>
            <p:nvPr/>
          </p:nvSpPr>
          <p:spPr bwMode="auto">
            <a:xfrm>
              <a:off x="174824" y="1872059"/>
              <a:ext cx="70083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2000" b="1" i="0" u="none" strike="noStrike" kern="0" cap="none" spc="0" normalizeH="0" baseline="0" noProof="0" dirty="0">
                  <a:ln>
                    <a:noFill/>
                  </a:ln>
                  <a:solidFill>
                    <a:srgbClr val="C00000"/>
                  </a:solidFill>
                  <a:effectLst/>
                  <a:uLnTx/>
                  <a:uFillTx/>
                  <a:latin typeface="+mn-lt"/>
                  <a:ea typeface="黑体" panose="02010609060101010101" pitchFamily="2" charset="-122"/>
                </a:rPr>
                <a:t>主机</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rgbClr val="C00000"/>
                  </a:solidFill>
                  <a:effectLst/>
                  <a:uLnTx/>
                  <a:uFillTx/>
                  <a:latin typeface="+mn-lt"/>
                  <a:ea typeface="黑体" panose="02010609060101010101"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anose="02010609060101010101" pitchFamily="2" charset="-122"/>
                </a:rPr>
                <a:t>1</a:t>
              </a:r>
            </a:p>
          </p:txBody>
        </p:sp>
        <p:pic>
          <p:nvPicPr>
            <p:cNvPr id="43"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61089"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44" name="Group 42"/>
            <p:cNvGrpSpPr/>
            <p:nvPr/>
          </p:nvGrpSpPr>
          <p:grpSpPr bwMode="auto">
            <a:xfrm>
              <a:off x="6233864" y="1876822"/>
              <a:ext cx="1439862" cy="863600"/>
              <a:chOff x="385" y="2795"/>
              <a:chExt cx="1769" cy="816"/>
            </a:xfrm>
          </p:grpSpPr>
          <p:sp>
            <p:nvSpPr>
              <p:cNvPr id="45" name="Oval 4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6" name="Oval 4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7" name="Oval 4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8" name="Oval 4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49" name="Oval 4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0" name="Oval 4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1" name="Oval 4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2" name="Oval 5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3" name="Oval 5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4" name="Oval 5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5" name="Oval 5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6" name="Oval 5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7" name="Oval 5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8" name="Oval 5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59" name="Oval 5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0" name="Oval 5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1" name="Freeform 59"/>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62" name="Group 60"/>
            <p:cNvGrpSpPr/>
            <p:nvPr/>
          </p:nvGrpSpPr>
          <p:grpSpPr bwMode="auto">
            <a:xfrm>
              <a:off x="4649539" y="3532584"/>
              <a:ext cx="415925" cy="504825"/>
              <a:chOff x="4416" y="2717"/>
              <a:chExt cx="404" cy="577"/>
            </a:xfrm>
          </p:grpSpPr>
          <p:sp>
            <p:nvSpPr>
              <p:cNvPr id="63" name="AutoShape 61"/>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64" name="Group 62"/>
              <p:cNvGrpSpPr/>
              <p:nvPr/>
            </p:nvGrpSpPr>
            <p:grpSpPr bwMode="auto">
              <a:xfrm>
                <a:off x="4562" y="3066"/>
                <a:ext cx="13" cy="70"/>
                <a:chOff x="4562" y="3066"/>
                <a:chExt cx="13" cy="70"/>
              </a:xfrm>
            </p:grpSpPr>
            <p:sp>
              <p:nvSpPr>
                <p:cNvPr id="109" name="Rectangle 63"/>
                <p:cNvSpPr>
                  <a:spLocks noChangeArrowheads="1"/>
                </p:cNvSpPr>
                <p:nvPr/>
              </p:nvSpPr>
              <p:spPr bwMode="auto">
                <a:xfrm>
                  <a:off x="4562" y="3067"/>
                  <a:ext cx="13" cy="69"/>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0" name="Line 64"/>
                <p:cNvSpPr>
                  <a:spLocks noChangeShapeType="1"/>
                </p:cNvSpPr>
                <p:nvPr/>
              </p:nvSpPr>
              <p:spPr bwMode="auto">
                <a:xfrm>
                  <a:off x="4568" y="3066"/>
                  <a:ext cx="1" cy="64"/>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65" name="Rectangle 65"/>
              <p:cNvSpPr>
                <a:spLocks noChangeArrowheads="1"/>
              </p:cNvSpPr>
              <p:nvPr/>
            </p:nvSpPr>
            <p:spPr bwMode="auto">
              <a:xfrm>
                <a:off x="4503" y="3022"/>
                <a:ext cx="43" cy="112"/>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6" name="Freeform 66"/>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7" name="Freeform 67"/>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8" name="Freeform 68"/>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69" name="Freeform 69"/>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0" name="Freeform 70"/>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1" name="Freeform 71"/>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2" name="Rectangle 72"/>
              <p:cNvSpPr>
                <a:spLocks noChangeArrowheads="1"/>
              </p:cNvSpPr>
              <p:nvPr/>
            </p:nvSpPr>
            <p:spPr bwMode="auto">
              <a:xfrm>
                <a:off x="4491" y="3193"/>
                <a:ext cx="240" cy="26"/>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3" name="Line 73"/>
              <p:cNvSpPr>
                <a:spLocks noChangeShapeType="1"/>
              </p:cNvSpPr>
              <p:nvPr/>
            </p:nvSpPr>
            <p:spPr bwMode="auto">
              <a:xfrm>
                <a:off x="4479" y="3015"/>
                <a:ext cx="1" cy="50"/>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4" name="Freeform 74"/>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5" name="Freeform 75"/>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6" name="Freeform 76"/>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7" name="Rectangle 77"/>
              <p:cNvSpPr>
                <a:spLocks noChangeArrowheads="1"/>
              </p:cNvSpPr>
              <p:nvPr/>
            </p:nvSpPr>
            <p:spPr bwMode="auto">
              <a:xfrm>
                <a:off x="4420" y="3276"/>
                <a:ext cx="395" cy="14"/>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8" name="Rectangle 78"/>
              <p:cNvSpPr>
                <a:spLocks noChangeArrowheads="1"/>
              </p:cNvSpPr>
              <p:nvPr/>
            </p:nvSpPr>
            <p:spPr bwMode="auto">
              <a:xfrm>
                <a:off x="4420" y="3250"/>
                <a:ext cx="395" cy="24"/>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79" name="Rectangle 79"/>
              <p:cNvSpPr>
                <a:spLocks noChangeArrowheads="1"/>
              </p:cNvSpPr>
              <p:nvPr/>
            </p:nvSpPr>
            <p:spPr bwMode="auto">
              <a:xfrm>
                <a:off x="4420" y="3221"/>
                <a:ext cx="395" cy="27"/>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0" name="Rectangle 80"/>
              <p:cNvSpPr>
                <a:spLocks noChangeArrowheads="1"/>
              </p:cNvSpPr>
              <p:nvPr/>
            </p:nvSpPr>
            <p:spPr bwMode="auto">
              <a:xfrm>
                <a:off x="4763" y="3200"/>
                <a:ext cx="41" cy="12"/>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1" name="Oval 81"/>
              <p:cNvSpPr>
                <a:spLocks noChangeArrowheads="1"/>
              </p:cNvSpPr>
              <p:nvPr/>
            </p:nvSpPr>
            <p:spPr bwMode="auto">
              <a:xfrm>
                <a:off x="4462" y="3092"/>
                <a:ext cx="28" cy="29"/>
              </a:xfrm>
              <a:prstGeom prst="ellipse">
                <a:avLst/>
              </a:prstGeom>
              <a:solidFill>
                <a:srgbClr val="9F9F9F"/>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2" name="Rectangle 82"/>
              <p:cNvSpPr>
                <a:spLocks noChangeArrowheads="1"/>
              </p:cNvSpPr>
              <p:nvPr/>
            </p:nvSpPr>
            <p:spPr bwMode="auto">
              <a:xfrm>
                <a:off x="4562" y="3036"/>
                <a:ext cx="27" cy="26"/>
              </a:xfrm>
              <a:prstGeom prst="rect">
                <a:avLst/>
              </a:prstGeom>
              <a:solidFill>
                <a:srgbClr val="80808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3" name="Freeform 83"/>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84" name="Group 84"/>
              <p:cNvGrpSpPr/>
              <p:nvPr/>
            </p:nvGrpSpPr>
            <p:grpSpPr bwMode="auto">
              <a:xfrm>
                <a:off x="4455" y="2913"/>
                <a:ext cx="126" cy="116"/>
                <a:chOff x="4455" y="2913"/>
                <a:chExt cx="126" cy="116"/>
              </a:xfrm>
            </p:grpSpPr>
            <p:sp>
              <p:nvSpPr>
                <p:cNvPr id="107" name="Oval 85"/>
                <p:cNvSpPr>
                  <a:spLocks noChangeArrowheads="1"/>
                </p:cNvSpPr>
                <p:nvPr/>
              </p:nvSpPr>
              <p:spPr bwMode="auto">
                <a:xfrm>
                  <a:off x="4465" y="2913"/>
                  <a:ext cx="116" cy="116"/>
                </a:xfrm>
                <a:prstGeom prst="ellipse">
                  <a:avLst/>
                </a:prstGeom>
                <a:solidFill>
                  <a:srgbClr val="808080"/>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8" name="Oval 86"/>
                <p:cNvSpPr>
                  <a:spLocks noChangeArrowheads="1"/>
                </p:cNvSpPr>
                <p:nvPr/>
              </p:nvSpPr>
              <p:spPr bwMode="auto">
                <a:xfrm>
                  <a:off x="4455" y="2913"/>
                  <a:ext cx="115" cy="116"/>
                </a:xfrm>
                <a:prstGeom prst="ellipse">
                  <a:avLst/>
                </a:prstGeom>
                <a:solidFill>
                  <a:srgbClr val="C0C0C0"/>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85" name="Group 87"/>
              <p:cNvGrpSpPr/>
              <p:nvPr/>
            </p:nvGrpSpPr>
            <p:grpSpPr bwMode="auto">
              <a:xfrm>
                <a:off x="4504" y="3136"/>
                <a:ext cx="43" cy="112"/>
                <a:chOff x="4504" y="3136"/>
                <a:chExt cx="43" cy="112"/>
              </a:xfrm>
            </p:grpSpPr>
            <p:sp>
              <p:nvSpPr>
                <p:cNvPr id="98" name="Rectangle 88"/>
                <p:cNvSpPr>
                  <a:spLocks noChangeArrowheads="1"/>
                </p:cNvSpPr>
                <p:nvPr/>
              </p:nvSpPr>
              <p:spPr bwMode="auto">
                <a:xfrm>
                  <a:off x="4505" y="3136"/>
                  <a:ext cx="41" cy="112"/>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99" name="Group 89"/>
                <p:cNvGrpSpPr/>
                <p:nvPr/>
              </p:nvGrpSpPr>
              <p:grpSpPr bwMode="auto">
                <a:xfrm>
                  <a:off x="4504" y="3149"/>
                  <a:ext cx="43" cy="87"/>
                  <a:chOff x="4504" y="3149"/>
                  <a:chExt cx="43" cy="87"/>
                </a:xfrm>
              </p:grpSpPr>
              <p:sp>
                <p:nvSpPr>
                  <p:cNvPr id="100" name="Line 90"/>
                  <p:cNvSpPr>
                    <a:spLocks noChangeShapeType="1"/>
                  </p:cNvSpPr>
                  <p:nvPr/>
                </p:nvSpPr>
                <p:spPr bwMode="auto">
                  <a:xfrm>
                    <a:off x="4504" y="3163"/>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1" name="Line 91"/>
                  <p:cNvSpPr>
                    <a:spLocks noChangeShapeType="1"/>
                  </p:cNvSpPr>
                  <p:nvPr/>
                </p:nvSpPr>
                <p:spPr bwMode="auto">
                  <a:xfrm>
                    <a:off x="4504" y="3206"/>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2" name="Line 92"/>
                  <p:cNvSpPr>
                    <a:spLocks noChangeShapeType="1"/>
                  </p:cNvSpPr>
                  <p:nvPr/>
                </p:nvSpPr>
                <p:spPr bwMode="auto">
                  <a:xfrm>
                    <a:off x="4504" y="3192"/>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3" name="Line 93"/>
                  <p:cNvSpPr>
                    <a:spLocks noChangeShapeType="1"/>
                  </p:cNvSpPr>
                  <p:nvPr/>
                </p:nvSpPr>
                <p:spPr bwMode="auto">
                  <a:xfrm>
                    <a:off x="4504" y="3178"/>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4" name="Line 94"/>
                  <p:cNvSpPr>
                    <a:spLocks noChangeShapeType="1"/>
                  </p:cNvSpPr>
                  <p:nvPr/>
                </p:nvSpPr>
                <p:spPr bwMode="auto">
                  <a:xfrm>
                    <a:off x="4504" y="3149"/>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5" name="Line 95"/>
                  <p:cNvSpPr>
                    <a:spLocks noChangeShapeType="1"/>
                  </p:cNvSpPr>
                  <p:nvPr/>
                </p:nvSpPr>
                <p:spPr bwMode="auto">
                  <a:xfrm>
                    <a:off x="4504" y="3220"/>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06" name="Line 96"/>
                  <p:cNvSpPr>
                    <a:spLocks noChangeShapeType="1"/>
                  </p:cNvSpPr>
                  <p:nvPr/>
                </p:nvSpPr>
                <p:spPr bwMode="auto">
                  <a:xfrm>
                    <a:off x="4504" y="3235"/>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sp>
            <p:nvSpPr>
              <p:cNvPr id="86" name="Rectangle 97"/>
              <p:cNvSpPr>
                <a:spLocks noChangeArrowheads="1"/>
              </p:cNvSpPr>
              <p:nvPr/>
            </p:nvSpPr>
            <p:spPr bwMode="auto">
              <a:xfrm>
                <a:off x="4775" y="3164"/>
                <a:ext cx="12" cy="27"/>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7" name="Freeform 98"/>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8" name="Freeform 99"/>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89" name="Freeform 100"/>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0" name="Freeform 101"/>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1" name="Freeform 102"/>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2" name="Freeform 103"/>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3" name="Freeform 104"/>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4" name="Freeform 105"/>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5" name="Freeform 106"/>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6" name="Freeform 107"/>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97" name="Freeform 108"/>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pic>
          <p:nvPicPr>
            <p:cNvPr id="111" name="Picture 10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02064" y="2956322"/>
              <a:ext cx="989012"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2" name="Picture 1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7089" y="3964384"/>
              <a:ext cx="520700"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3" name="Picture 1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68701"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Group 112"/>
            <p:cNvGrpSpPr/>
            <p:nvPr/>
          </p:nvGrpSpPr>
          <p:grpSpPr bwMode="auto">
            <a:xfrm flipH="1">
              <a:off x="8194426" y="3605609"/>
              <a:ext cx="415925" cy="504825"/>
              <a:chOff x="4416" y="2717"/>
              <a:chExt cx="404" cy="577"/>
            </a:xfrm>
          </p:grpSpPr>
          <p:sp>
            <p:nvSpPr>
              <p:cNvPr id="115" name="AutoShape 113"/>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16" name="Group 114"/>
              <p:cNvGrpSpPr/>
              <p:nvPr/>
            </p:nvGrpSpPr>
            <p:grpSpPr bwMode="auto">
              <a:xfrm>
                <a:off x="4562" y="3066"/>
                <a:ext cx="13" cy="70"/>
                <a:chOff x="4562" y="3066"/>
                <a:chExt cx="13" cy="70"/>
              </a:xfrm>
            </p:grpSpPr>
            <p:sp>
              <p:nvSpPr>
                <p:cNvPr id="161" name="Rectangle 115"/>
                <p:cNvSpPr>
                  <a:spLocks noChangeArrowheads="1"/>
                </p:cNvSpPr>
                <p:nvPr/>
              </p:nvSpPr>
              <p:spPr bwMode="auto">
                <a:xfrm>
                  <a:off x="4562" y="3067"/>
                  <a:ext cx="13" cy="69"/>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62" name="Line 116"/>
                <p:cNvSpPr>
                  <a:spLocks noChangeShapeType="1"/>
                </p:cNvSpPr>
                <p:nvPr/>
              </p:nvSpPr>
              <p:spPr bwMode="auto">
                <a:xfrm>
                  <a:off x="4568" y="3066"/>
                  <a:ext cx="1" cy="64"/>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117" name="Rectangle 117"/>
              <p:cNvSpPr>
                <a:spLocks noChangeArrowheads="1"/>
              </p:cNvSpPr>
              <p:nvPr/>
            </p:nvSpPr>
            <p:spPr bwMode="auto">
              <a:xfrm>
                <a:off x="4503" y="3022"/>
                <a:ext cx="43" cy="112"/>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8" name="Freeform 118"/>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19" name="Freeform 119"/>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0" name="Freeform 120"/>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1" name="Freeform 121"/>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2" name="Freeform 122"/>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3" name="Freeform 123"/>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4" name="Rectangle 124"/>
              <p:cNvSpPr>
                <a:spLocks noChangeArrowheads="1"/>
              </p:cNvSpPr>
              <p:nvPr/>
            </p:nvSpPr>
            <p:spPr bwMode="auto">
              <a:xfrm>
                <a:off x="4491" y="3193"/>
                <a:ext cx="240" cy="26"/>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5" name="Line 125"/>
              <p:cNvSpPr>
                <a:spLocks noChangeShapeType="1"/>
              </p:cNvSpPr>
              <p:nvPr/>
            </p:nvSpPr>
            <p:spPr bwMode="auto">
              <a:xfrm>
                <a:off x="4479" y="3015"/>
                <a:ext cx="1" cy="50"/>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6" name="Freeform 126"/>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7" name="Freeform 127"/>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8" name="Freeform 128"/>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29" name="Rectangle 129"/>
              <p:cNvSpPr>
                <a:spLocks noChangeArrowheads="1"/>
              </p:cNvSpPr>
              <p:nvPr/>
            </p:nvSpPr>
            <p:spPr bwMode="auto">
              <a:xfrm>
                <a:off x="4420" y="3276"/>
                <a:ext cx="395" cy="14"/>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0" name="Rectangle 130"/>
              <p:cNvSpPr>
                <a:spLocks noChangeArrowheads="1"/>
              </p:cNvSpPr>
              <p:nvPr/>
            </p:nvSpPr>
            <p:spPr bwMode="auto">
              <a:xfrm>
                <a:off x="4420" y="3250"/>
                <a:ext cx="395" cy="24"/>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1" name="Rectangle 131"/>
              <p:cNvSpPr>
                <a:spLocks noChangeArrowheads="1"/>
              </p:cNvSpPr>
              <p:nvPr/>
            </p:nvSpPr>
            <p:spPr bwMode="auto">
              <a:xfrm>
                <a:off x="4420" y="3221"/>
                <a:ext cx="395" cy="27"/>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2" name="Rectangle 132"/>
              <p:cNvSpPr>
                <a:spLocks noChangeArrowheads="1"/>
              </p:cNvSpPr>
              <p:nvPr/>
            </p:nvSpPr>
            <p:spPr bwMode="auto">
              <a:xfrm>
                <a:off x="4763" y="3200"/>
                <a:ext cx="41" cy="12"/>
              </a:xfrm>
              <a:prstGeom prst="rect">
                <a:avLst/>
              </a:prstGeom>
              <a:solidFill>
                <a:srgbClr val="9F9F9F"/>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3" name="Oval 133"/>
              <p:cNvSpPr>
                <a:spLocks noChangeArrowheads="1"/>
              </p:cNvSpPr>
              <p:nvPr/>
            </p:nvSpPr>
            <p:spPr bwMode="auto">
              <a:xfrm>
                <a:off x="4462" y="3092"/>
                <a:ext cx="28" cy="29"/>
              </a:xfrm>
              <a:prstGeom prst="ellipse">
                <a:avLst/>
              </a:prstGeom>
              <a:solidFill>
                <a:srgbClr val="9F9F9F"/>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4" name="Rectangle 134"/>
              <p:cNvSpPr>
                <a:spLocks noChangeArrowheads="1"/>
              </p:cNvSpPr>
              <p:nvPr/>
            </p:nvSpPr>
            <p:spPr bwMode="auto">
              <a:xfrm>
                <a:off x="4562" y="3036"/>
                <a:ext cx="27" cy="26"/>
              </a:xfrm>
              <a:prstGeom prst="rect">
                <a:avLst/>
              </a:prstGeom>
              <a:solidFill>
                <a:srgbClr val="80808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5" name="Freeform 135"/>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36" name="Group 136"/>
              <p:cNvGrpSpPr/>
              <p:nvPr/>
            </p:nvGrpSpPr>
            <p:grpSpPr bwMode="auto">
              <a:xfrm>
                <a:off x="4455" y="2913"/>
                <a:ext cx="126" cy="116"/>
                <a:chOff x="4455" y="2913"/>
                <a:chExt cx="126" cy="116"/>
              </a:xfrm>
            </p:grpSpPr>
            <p:sp>
              <p:nvSpPr>
                <p:cNvPr id="159" name="Oval 137"/>
                <p:cNvSpPr>
                  <a:spLocks noChangeArrowheads="1"/>
                </p:cNvSpPr>
                <p:nvPr/>
              </p:nvSpPr>
              <p:spPr bwMode="auto">
                <a:xfrm>
                  <a:off x="4465" y="2913"/>
                  <a:ext cx="116" cy="116"/>
                </a:xfrm>
                <a:prstGeom prst="ellipse">
                  <a:avLst/>
                </a:prstGeom>
                <a:solidFill>
                  <a:srgbClr val="808080"/>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60" name="Oval 138"/>
                <p:cNvSpPr>
                  <a:spLocks noChangeArrowheads="1"/>
                </p:cNvSpPr>
                <p:nvPr/>
              </p:nvSpPr>
              <p:spPr bwMode="auto">
                <a:xfrm>
                  <a:off x="4455" y="2913"/>
                  <a:ext cx="115" cy="116"/>
                </a:xfrm>
                <a:prstGeom prst="ellipse">
                  <a:avLst/>
                </a:prstGeom>
                <a:solidFill>
                  <a:srgbClr val="C0C0C0"/>
                </a:solidFill>
                <a:ln w="317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nvGrpSpPr>
              <p:cNvPr id="137" name="Group 139"/>
              <p:cNvGrpSpPr/>
              <p:nvPr/>
            </p:nvGrpSpPr>
            <p:grpSpPr bwMode="auto">
              <a:xfrm>
                <a:off x="4504" y="3136"/>
                <a:ext cx="43" cy="112"/>
                <a:chOff x="4504" y="3136"/>
                <a:chExt cx="43" cy="112"/>
              </a:xfrm>
            </p:grpSpPr>
            <p:sp>
              <p:nvSpPr>
                <p:cNvPr id="150" name="Rectangle 140"/>
                <p:cNvSpPr>
                  <a:spLocks noChangeArrowheads="1"/>
                </p:cNvSpPr>
                <p:nvPr/>
              </p:nvSpPr>
              <p:spPr bwMode="auto">
                <a:xfrm>
                  <a:off x="4505" y="3136"/>
                  <a:ext cx="41" cy="112"/>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51" name="Group 141"/>
                <p:cNvGrpSpPr/>
                <p:nvPr/>
              </p:nvGrpSpPr>
              <p:grpSpPr bwMode="auto">
                <a:xfrm>
                  <a:off x="4504" y="3149"/>
                  <a:ext cx="43" cy="87"/>
                  <a:chOff x="4504" y="3149"/>
                  <a:chExt cx="43" cy="87"/>
                </a:xfrm>
              </p:grpSpPr>
              <p:sp>
                <p:nvSpPr>
                  <p:cNvPr id="152" name="Line 142"/>
                  <p:cNvSpPr>
                    <a:spLocks noChangeShapeType="1"/>
                  </p:cNvSpPr>
                  <p:nvPr/>
                </p:nvSpPr>
                <p:spPr bwMode="auto">
                  <a:xfrm>
                    <a:off x="4504" y="3163"/>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3" name="Line 143"/>
                  <p:cNvSpPr>
                    <a:spLocks noChangeShapeType="1"/>
                  </p:cNvSpPr>
                  <p:nvPr/>
                </p:nvSpPr>
                <p:spPr bwMode="auto">
                  <a:xfrm>
                    <a:off x="4504" y="3206"/>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4" name="Line 144"/>
                  <p:cNvSpPr>
                    <a:spLocks noChangeShapeType="1"/>
                  </p:cNvSpPr>
                  <p:nvPr/>
                </p:nvSpPr>
                <p:spPr bwMode="auto">
                  <a:xfrm>
                    <a:off x="4504" y="3192"/>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5" name="Line 145"/>
                  <p:cNvSpPr>
                    <a:spLocks noChangeShapeType="1"/>
                  </p:cNvSpPr>
                  <p:nvPr/>
                </p:nvSpPr>
                <p:spPr bwMode="auto">
                  <a:xfrm>
                    <a:off x="4504" y="3178"/>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6" name="Line 146"/>
                  <p:cNvSpPr>
                    <a:spLocks noChangeShapeType="1"/>
                  </p:cNvSpPr>
                  <p:nvPr/>
                </p:nvSpPr>
                <p:spPr bwMode="auto">
                  <a:xfrm>
                    <a:off x="4504" y="3149"/>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7" name="Line 147"/>
                  <p:cNvSpPr>
                    <a:spLocks noChangeShapeType="1"/>
                  </p:cNvSpPr>
                  <p:nvPr/>
                </p:nvSpPr>
                <p:spPr bwMode="auto">
                  <a:xfrm>
                    <a:off x="4504" y="3220"/>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58" name="Line 148"/>
                  <p:cNvSpPr>
                    <a:spLocks noChangeShapeType="1"/>
                  </p:cNvSpPr>
                  <p:nvPr/>
                </p:nvSpPr>
                <p:spPr bwMode="auto">
                  <a:xfrm>
                    <a:off x="4504" y="3235"/>
                    <a:ext cx="43" cy="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sp>
            <p:nvSpPr>
              <p:cNvPr id="138" name="Rectangle 149"/>
              <p:cNvSpPr>
                <a:spLocks noChangeArrowheads="1"/>
              </p:cNvSpPr>
              <p:nvPr/>
            </p:nvSpPr>
            <p:spPr bwMode="auto">
              <a:xfrm>
                <a:off x="4775" y="3164"/>
                <a:ext cx="12" cy="27"/>
              </a:xfrm>
              <a:prstGeom prst="rect">
                <a:avLst/>
              </a:prstGeom>
              <a:solidFill>
                <a:srgbClr val="C0C0C0"/>
              </a:solidFill>
              <a:ln w="3175">
                <a:solidFill>
                  <a:srgbClr val="000000"/>
                </a:solid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39" name="Freeform 150"/>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0" name="Freeform 151"/>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1" name="Freeform 152"/>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2" name="Freeform 153"/>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3" name="Freeform 154"/>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4" name="Freeform 155"/>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5" name="Freeform 156"/>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6" name="Freeform 157"/>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7" name="Freeform 158"/>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8" name="Freeform 159"/>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49" name="Freeform 160"/>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pic>
          <p:nvPicPr>
            <p:cNvPr id="163" name="Picture 161"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1739" y="3734197"/>
              <a:ext cx="749300" cy="623887"/>
            </a:xfrm>
            <a:prstGeom prst="rect">
              <a:avLst/>
            </a:prstGeom>
            <a:noFill/>
            <a:extLst>
              <a:ext uri="{909E8E84-426E-40DD-AFC4-6F175D3DCCD1}">
                <a14:hiddenFill xmlns:a14="http://schemas.microsoft.com/office/drawing/2010/main">
                  <a:solidFill>
                    <a:srgbClr val="FFFFFF"/>
                  </a:solidFill>
                </a14:hiddenFill>
              </a:ext>
            </a:extLst>
          </p:spPr>
        </p:pic>
        <p:grpSp>
          <p:nvGrpSpPr>
            <p:cNvPr id="164" name="Group 162"/>
            <p:cNvGrpSpPr/>
            <p:nvPr/>
          </p:nvGrpSpPr>
          <p:grpSpPr bwMode="auto">
            <a:xfrm>
              <a:off x="2201614" y="3892947"/>
              <a:ext cx="671512" cy="495300"/>
              <a:chOff x="762" y="2391"/>
              <a:chExt cx="423" cy="312"/>
            </a:xfrm>
          </p:grpSpPr>
          <p:grpSp>
            <p:nvGrpSpPr>
              <p:cNvPr id="165" name="Group 163"/>
              <p:cNvGrpSpPr/>
              <p:nvPr/>
            </p:nvGrpSpPr>
            <p:grpSpPr bwMode="auto">
              <a:xfrm>
                <a:off x="867" y="2432"/>
                <a:ext cx="318" cy="271"/>
                <a:chOff x="657" y="1570"/>
                <a:chExt cx="318" cy="311"/>
              </a:xfrm>
            </p:grpSpPr>
            <p:sp>
              <p:nvSpPr>
                <p:cNvPr id="173" name="Line 164"/>
                <p:cNvSpPr>
                  <a:spLocks noChangeShapeType="1"/>
                </p:cNvSpPr>
                <p:nvPr/>
              </p:nvSpPr>
              <p:spPr bwMode="auto">
                <a:xfrm flipH="1">
                  <a:off x="703" y="1570"/>
                  <a:ext cx="0" cy="78"/>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74" name="Picture 165"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6" name="Group 166"/>
              <p:cNvGrpSpPr/>
              <p:nvPr/>
            </p:nvGrpSpPr>
            <p:grpSpPr bwMode="auto">
              <a:xfrm>
                <a:off x="762" y="2391"/>
                <a:ext cx="306" cy="90"/>
                <a:chOff x="748" y="2251"/>
                <a:chExt cx="306" cy="90"/>
              </a:xfrm>
            </p:grpSpPr>
            <p:sp>
              <p:nvSpPr>
                <p:cNvPr id="167" name="AutoShape 167"/>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68" name="AutoShape 168"/>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69" name="AutoShape 169"/>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70" name="AutoShape 170"/>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71" name="AutoShape 171"/>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72" name="AutoShape 172"/>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sp>
          <p:nvSpPr>
            <p:cNvPr id="175" name="Freeform 173"/>
            <p:cNvSpPr/>
            <p:nvPr/>
          </p:nvSpPr>
          <p:spPr bwMode="auto">
            <a:xfrm rot="1390605">
              <a:off x="3690689" y="3461147"/>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nvGrpSpPr>
            <p:cNvPr id="176" name="Group 174"/>
            <p:cNvGrpSpPr/>
            <p:nvPr/>
          </p:nvGrpSpPr>
          <p:grpSpPr bwMode="auto">
            <a:xfrm>
              <a:off x="906214" y="2595959"/>
              <a:ext cx="503237" cy="684213"/>
              <a:chOff x="431" y="1479"/>
              <a:chExt cx="317" cy="431"/>
            </a:xfrm>
          </p:grpSpPr>
          <p:sp>
            <p:nvSpPr>
              <p:cNvPr id="177" name="Line 175"/>
              <p:cNvSpPr>
                <a:spLocks noChangeShapeType="1"/>
              </p:cNvSpPr>
              <p:nvPr/>
            </p:nvSpPr>
            <p:spPr bwMode="auto">
              <a:xfrm>
                <a:off x="612" y="1479"/>
                <a:ext cx="0" cy="22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78" name="Picture 176"/>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179" name="Picture 17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1751" y="1913334"/>
              <a:ext cx="503238"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0" name="Line 178"/>
            <p:cNvSpPr>
              <a:spLocks noChangeShapeType="1"/>
            </p:cNvSpPr>
            <p:nvPr/>
          </p:nvSpPr>
          <p:spPr bwMode="auto">
            <a:xfrm flipV="1">
              <a:off x="472826" y="2595959"/>
              <a:ext cx="3025775" cy="0"/>
            </a:xfrm>
            <a:prstGeom prst="line">
              <a:avLst/>
            </a:prstGeom>
            <a:noFill/>
            <a:ln w="19050">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81" name="Line 179"/>
            <p:cNvSpPr>
              <a:spLocks noChangeShapeType="1"/>
            </p:cNvSpPr>
            <p:nvPr/>
          </p:nvSpPr>
          <p:spPr bwMode="auto">
            <a:xfrm>
              <a:off x="3281114" y="2237184"/>
              <a:ext cx="0" cy="360363"/>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82" name="Picture 1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9339"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3" name="Group 181"/>
            <p:cNvGrpSpPr/>
            <p:nvPr/>
          </p:nvGrpSpPr>
          <p:grpSpPr bwMode="auto">
            <a:xfrm>
              <a:off x="1409451" y="4469209"/>
              <a:ext cx="671513" cy="495300"/>
              <a:chOff x="762" y="2391"/>
              <a:chExt cx="423" cy="312"/>
            </a:xfrm>
          </p:grpSpPr>
          <p:grpSp>
            <p:nvGrpSpPr>
              <p:cNvPr id="184" name="Group 182"/>
              <p:cNvGrpSpPr/>
              <p:nvPr/>
            </p:nvGrpSpPr>
            <p:grpSpPr bwMode="auto">
              <a:xfrm>
                <a:off x="867" y="2432"/>
                <a:ext cx="318" cy="271"/>
                <a:chOff x="657" y="1570"/>
                <a:chExt cx="318" cy="311"/>
              </a:xfrm>
            </p:grpSpPr>
            <p:sp>
              <p:nvSpPr>
                <p:cNvPr id="192" name="Line 183"/>
                <p:cNvSpPr>
                  <a:spLocks noChangeShapeType="1"/>
                </p:cNvSpPr>
                <p:nvPr/>
              </p:nvSpPr>
              <p:spPr bwMode="auto">
                <a:xfrm flipH="1">
                  <a:off x="703" y="1570"/>
                  <a:ext cx="0" cy="78"/>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193" name="Picture 184"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85" name="Group 185"/>
              <p:cNvGrpSpPr/>
              <p:nvPr/>
            </p:nvGrpSpPr>
            <p:grpSpPr bwMode="auto">
              <a:xfrm>
                <a:off x="762" y="2391"/>
                <a:ext cx="306" cy="90"/>
                <a:chOff x="748" y="2251"/>
                <a:chExt cx="306" cy="90"/>
              </a:xfrm>
            </p:grpSpPr>
            <p:sp>
              <p:nvSpPr>
                <p:cNvPr id="186" name="AutoShape 186"/>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87" name="AutoShape 187"/>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88" name="AutoShape 188"/>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89" name="AutoShape 189"/>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90" name="AutoShape 190"/>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91" name="AutoShape 191"/>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grpSp>
          <p:nvGrpSpPr>
            <p:cNvPr id="194" name="Group 192"/>
            <p:cNvGrpSpPr/>
            <p:nvPr/>
          </p:nvGrpSpPr>
          <p:grpSpPr bwMode="auto">
            <a:xfrm>
              <a:off x="2273051" y="4901009"/>
              <a:ext cx="671513" cy="495300"/>
              <a:chOff x="762" y="2391"/>
              <a:chExt cx="423" cy="312"/>
            </a:xfrm>
          </p:grpSpPr>
          <p:grpSp>
            <p:nvGrpSpPr>
              <p:cNvPr id="195" name="Group 193"/>
              <p:cNvGrpSpPr/>
              <p:nvPr/>
            </p:nvGrpSpPr>
            <p:grpSpPr bwMode="auto">
              <a:xfrm>
                <a:off x="867" y="2432"/>
                <a:ext cx="318" cy="271"/>
                <a:chOff x="657" y="1570"/>
                <a:chExt cx="318" cy="311"/>
              </a:xfrm>
            </p:grpSpPr>
            <p:sp>
              <p:nvSpPr>
                <p:cNvPr id="203" name="Line 194"/>
                <p:cNvSpPr>
                  <a:spLocks noChangeShapeType="1"/>
                </p:cNvSpPr>
                <p:nvPr/>
              </p:nvSpPr>
              <p:spPr bwMode="auto">
                <a:xfrm flipH="1">
                  <a:off x="703" y="1570"/>
                  <a:ext cx="0" cy="78"/>
                </a:xfrm>
                <a:prstGeom prst="line">
                  <a:avLst/>
                </a:prstGeom>
                <a:noFill/>
                <a:ln w="2857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204" name="Picture 195"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6" name="Group 196"/>
              <p:cNvGrpSpPr/>
              <p:nvPr/>
            </p:nvGrpSpPr>
            <p:grpSpPr bwMode="auto">
              <a:xfrm>
                <a:off x="762" y="2391"/>
                <a:ext cx="306" cy="90"/>
                <a:chOff x="748" y="2251"/>
                <a:chExt cx="306" cy="90"/>
              </a:xfrm>
            </p:grpSpPr>
            <p:sp>
              <p:nvSpPr>
                <p:cNvPr id="197" name="AutoShape 197"/>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98" name="AutoShape 198"/>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199" name="AutoShape 199"/>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0" name="AutoShape 200"/>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1" name="AutoShape 201"/>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2" name="AutoShape 202"/>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grpSp>
        <p:sp>
          <p:nvSpPr>
            <p:cNvPr id="205" name="Line 203"/>
            <p:cNvSpPr>
              <a:spLocks noChangeShapeType="1"/>
            </p:cNvSpPr>
            <p:nvPr/>
          </p:nvSpPr>
          <p:spPr bwMode="auto">
            <a:xfrm>
              <a:off x="6738689" y="3172222"/>
              <a:ext cx="1511300" cy="649287"/>
            </a:xfrm>
            <a:prstGeom prst="line">
              <a:avLst/>
            </a:prstGeom>
            <a:noFill/>
            <a:ln w="38100">
              <a:solidFill>
                <a:srgbClr val="3333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6" name="Line 204"/>
            <p:cNvSpPr>
              <a:spLocks noChangeShapeType="1"/>
            </p:cNvSpPr>
            <p:nvPr/>
          </p:nvSpPr>
          <p:spPr bwMode="auto">
            <a:xfrm flipH="1">
              <a:off x="5081339" y="3245247"/>
              <a:ext cx="719137" cy="431800"/>
            </a:xfrm>
            <a:prstGeom prst="line">
              <a:avLst/>
            </a:prstGeom>
            <a:noFill/>
            <a:ln w="38100">
              <a:solidFill>
                <a:srgbClr val="3333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7" name="Freeform 205"/>
            <p:cNvSpPr/>
            <p:nvPr/>
          </p:nvSpPr>
          <p:spPr bwMode="auto">
            <a:xfrm rot="1901313">
              <a:off x="2898526" y="3821509"/>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8" name="Freeform 206"/>
            <p:cNvSpPr/>
            <p:nvPr/>
          </p:nvSpPr>
          <p:spPr bwMode="auto">
            <a:xfrm rot="18818791" flipH="1">
              <a:off x="2897733" y="3582590"/>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09" name="Freeform 207"/>
            <p:cNvSpPr/>
            <p:nvPr/>
          </p:nvSpPr>
          <p:spPr bwMode="auto">
            <a:xfrm rot="3575381">
              <a:off x="3739108" y="3641328"/>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10" name="Text Box 208"/>
            <p:cNvSpPr txBox="1">
              <a:spLocks noChangeArrowheads="1"/>
            </p:cNvSpPr>
            <p:nvPr/>
          </p:nvSpPr>
          <p:spPr bwMode="auto">
            <a:xfrm>
              <a:off x="1798959" y="5076473"/>
              <a:ext cx="84189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rgbClr val="C00000"/>
                  </a:solidFill>
                  <a:effectLst/>
                  <a:uLnTx/>
                  <a:uFillTx/>
                  <a:latin typeface="+mn-lt"/>
                  <a:ea typeface="黑体" panose="02010609060101010101" pitchFamily="2" charset="-122"/>
                </a:rPr>
                <a:t> </a:t>
              </a:r>
              <a:r>
                <a:rPr kumimoji="0" lang="zh-CN" altLang="en-US" sz="2000" b="1" i="0" u="none" strike="noStrike" kern="0" cap="none" spc="0" normalizeH="0" baseline="0" noProof="0" dirty="0">
                  <a:ln>
                    <a:noFill/>
                  </a:ln>
                  <a:solidFill>
                    <a:srgbClr val="C00000"/>
                  </a:solidFill>
                  <a:effectLst/>
                  <a:uLnTx/>
                  <a:uFillTx/>
                  <a:latin typeface="+mn-lt"/>
                  <a:ea typeface="黑体" panose="02010609060101010101" pitchFamily="2" charset="-122"/>
                </a:rPr>
                <a:t>主机 </a:t>
              </a:r>
              <a:endParaRPr kumimoji="0" lang="en-US" altLang="zh-CN" sz="2000" b="1" i="0" u="none" strike="noStrike" kern="0" cap="none" spc="0" normalizeH="0" baseline="0" noProof="0" dirty="0">
                <a:ln>
                  <a:noFill/>
                </a:ln>
                <a:solidFill>
                  <a:srgbClr val="C00000"/>
                </a:solidFill>
                <a:effectLst/>
                <a:uLnTx/>
                <a:uFillTx/>
                <a:latin typeface="+mn-lt"/>
                <a:ea typeface="黑体" panose="02010609060101010101" pitchFamily="2" charset="-122"/>
              </a:endParaRP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2000" b="1" i="0" u="none" strike="noStrike" kern="0" cap="none" spc="0" normalizeH="0" baseline="0" noProof="0" dirty="0">
                  <a:ln>
                    <a:noFill/>
                  </a:ln>
                  <a:solidFill>
                    <a:srgbClr val="C00000"/>
                  </a:solidFill>
                  <a:effectLst/>
                  <a:uLnTx/>
                  <a:uFillTx/>
                  <a:latin typeface="+mn-lt"/>
                  <a:ea typeface="黑体" panose="02010609060101010101"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anose="02010609060101010101" pitchFamily="2" charset="-122"/>
                </a:rPr>
                <a:t>2</a:t>
              </a:r>
            </a:p>
          </p:txBody>
        </p:sp>
        <p:grpSp>
          <p:nvGrpSpPr>
            <p:cNvPr id="211" name="Group 209"/>
            <p:cNvGrpSpPr/>
            <p:nvPr/>
          </p:nvGrpSpPr>
          <p:grpSpPr bwMode="auto">
            <a:xfrm>
              <a:off x="1698376" y="2597547"/>
              <a:ext cx="503238" cy="684212"/>
              <a:chOff x="431" y="1479"/>
              <a:chExt cx="317" cy="431"/>
            </a:xfrm>
          </p:grpSpPr>
          <p:sp>
            <p:nvSpPr>
              <p:cNvPr id="212" name="Line 210"/>
              <p:cNvSpPr>
                <a:spLocks noChangeShapeType="1"/>
              </p:cNvSpPr>
              <p:nvPr/>
            </p:nvSpPr>
            <p:spPr bwMode="auto">
              <a:xfrm>
                <a:off x="612" y="1479"/>
                <a:ext cx="0" cy="22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213" name="Picture 21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Group 212"/>
            <p:cNvGrpSpPr/>
            <p:nvPr/>
          </p:nvGrpSpPr>
          <p:grpSpPr bwMode="auto">
            <a:xfrm>
              <a:off x="2706439" y="2599134"/>
              <a:ext cx="503237" cy="684213"/>
              <a:chOff x="431" y="1479"/>
              <a:chExt cx="317" cy="431"/>
            </a:xfrm>
          </p:grpSpPr>
          <p:sp>
            <p:nvSpPr>
              <p:cNvPr id="215" name="Line 213"/>
              <p:cNvSpPr>
                <a:spLocks noChangeShapeType="1"/>
              </p:cNvSpPr>
              <p:nvPr/>
            </p:nvSpPr>
            <p:spPr bwMode="auto">
              <a:xfrm>
                <a:off x="612" y="1479"/>
                <a:ext cx="0" cy="227"/>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pic>
            <p:nvPicPr>
              <p:cNvPr id="216" name="Picture 21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7" name="Text Box 215"/>
            <p:cNvSpPr txBox="1">
              <a:spLocks noChangeArrowheads="1"/>
            </p:cNvSpPr>
            <p:nvPr/>
          </p:nvSpPr>
          <p:spPr bwMode="auto">
            <a:xfrm>
              <a:off x="2763589" y="187047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1</a:t>
              </a:r>
            </a:p>
          </p:txBody>
        </p:sp>
        <p:sp>
          <p:nvSpPr>
            <p:cNvPr id="218" name="Text Box 216"/>
            <p:cNvSpPr txBox="1">
              <a:spLocks noChangeArrowheads="1"/>
            </p:cNvSpPr>
            <p:nvPr/>
          </p:nvSpPr>
          <p:spPr bwMode="auto">
            <a:xfrm>
              <a:off x="8019801" y="419774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4</a:t>
              </a:r>
            </a:p>
          </p:txBody>
        </p:sp>
        <p:sp>
          <p:nvSpPr>
            <p:cNvPr id="219" name="Text Box 217"/>
            <p:cNvSpPr txBox="1">
              <a:spLocks noChangeArrowheads="1"/>
            </p:cNvSpPr>
            <p:nvPr/>
          </p:nvSpPr>
          <p:spPr bwMode="auto">
            <a:xfrm>
              <a:off x="4289176" y="3694509"/>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5</a:t>
              </a:r>
            </a:p>
          </p:txBody>
        </p:sp>
        <p:sp>
          <p:nvSpPr>
            <p:cNvPr id="220" name="Text Box 218"/>
            <p:cNvSpPr txBox="1">
              <a:spLocks noChangeArrowheads="1"/>
            </p:cNvSpPr>
            <p:nvPr/>
          </p:nvSpPr>
          <p:spPr bwMode="auto">
            <a:xfrm>
              <a:off x="5211514" y="187047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2</a:t>
              </a:r>
            </a:p>
          </p:txBody>
        </p:sp>
        <p:sp>
          <p:nvSpPr>
            <p:cNvPr id="221" name="Text Box 219"/>
            <p:cNvSpPr txBox="1">
              <a:spLocks noChangeArrowheads="1"/>
            </p:cNvSpPr>
            <p:nvPr/>
          </p:nvSpPr>
          <p:spPr bwMode="auto">
            <a:xfrm>
              <a:off x="7803901" y="1894284"/>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3</a:t>
              </a:r>
            </a:p>
          </p:txBody>
        </p:sp>
        <p:sp>
          <p:nvSpPr>
            <p:cNvPr id="222" name="Text Box 220"/>
            <p:cNvSpPr txBox="1">
              <a:spLocks noChangeArrowheads="1"/>
            </p:cNvSpPr>
            <p:nvPr/>
          </p:nvSpPr>
          <p:spPr bwMode="auto">
            <a:xfrm>
              <a:off x="3138239" y="646509"/>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1</a:t>
              </a:r>
            </a:p>
          </p:txBody>
        </p:sp>
        <p:sp>
          <p:nvSpPr>
            <p:cNvPr id="223" name="Text Box 221"/>
            <p:cNvSpPr txBox="1">
              <a:spLocks noChangeArrowheads="1"/>
            </p:cNvSpPr>
            <p:nvPr/>
          </p:nvSpPr>
          <p:spPr bwMode="auto">
            <a:xfrm>
              <a:off x="5643314" y="67032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2</a:t>
              </a:r>
            </a:p>
          </p:txBody>
        </p:sp>
        <p:sp>
          <p:nvSpPr>
            <p:cNvPr id="224" name="Text Box 222"/>
            <p:cNvSpPr txBox="1">
              <a:spLocks noChangeArrowheads="1"/>
            </p:cNvSpPr>
            <p:nvPr/>
          </p:nvSpPr>
          <p:spPr bwMode="auto">
            <a:xfrm>
              <a:off x="8092826" y="67032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3</a:t>
              </a:r>
            </a:p>
          </p:txBody>
        </p:sp>
        <p:sp>
          <p:nvSpPr>
            <p:cNvPr id="225" name="Text Box 223"/>
            <p:cNvSpPr txBox="1">
              <a:spLocks noChangeArrowheads="1"/>
            </p:cNvSpPr>
            <p:nvPr/>
          </p:nvSpPr>
          <p:spPr bwMode="auto">
            <a:xfrm>
              <a:off x="969714" y="213122"/>
              <a:ext cx="40748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H</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1</a:t>
              </a:r>
            </a:p>
          </p:txBody>
        </p:sp>
        <p:sp>
          <p:nvSpPr>
            <p:cNvPr id="226" name="Text Box 224"/>
            <p:cNvSpPr txBox="1">
              <a:spLocks noChangeArrowheads="1"/>
            </p:cNvSpPr>
            <p:nvPr/>
          </p:nvSpPr>
          <p:spPr bwMode="auto">
            <a:xfrm>
              <a:off x="4649539" y="419774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5</a:t>
              </a:r>
            </a:p>
          </p:txBody>
        </p:sp>
        <p:sp>
          <p:nvSpPr>
            <p:cNvPr id="227" name="Text Box 225"/>
            <p:cNvSpPr txBox="1">
              <a:spLocks noChangeArrowheads="1"/>
            </p:cNvSpPr>
            <p:nvPr/>
          </p:nvSpPr>
          <p:spPr bwMode="auto">
            <a:xfrm>
              <a:off x="3354139" y="4894659"/>
              <a:ext cx="46519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H</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2</a:t>
              </a:r>
            </a:p>
          </p:txBody>
        </p:sp>
        <p:grpSp>
          <p:nvGrpSpPr>
            <p:cNvPr id="228" name="Group 226"/>
            <p:cNvGrpSpPr/>
            <p:nvPr/>
          </p:nvGrpSpPr>
          <p:grpSpPr bwMode="auto">
            <a:xfrm>
              <a:off x="7241926" y="2668984"/>
              <a:ext cx="1439863" cy="863600"/>
              <a:chOff x="385" y="2795"/>
              <a:chExt cx="1769" cy="816"/>
            </a:xfrm>
          </p:grpSpPr>
          <p:sp>
            <p:nvSpPr>
              <p:cNvPr id="229" name="Oval 227"/>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0" name="Oval 228"/>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1" name="Oval 229"/>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2" name="Oval 230"/>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3" name="Oval 231"/>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4" name="Oval 232"/>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5" name="Oval 233"/>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6" name="Oval 234"/>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7" name="Oval 235"/>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8" name="Oval 236"/>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39" name="Oval 237"/>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0" name="Oval 238"/>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1" name="Oval 239"/>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2" name="Oval 240"/>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3" name="Oval 241"/>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4" name="Oval 242"/>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45" name="Freeform 243"/>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a:solidFill>
                      <a:schemeClr val="tx1"/>
                    </a:solidFill>
                    <a:prstDash val="solid"/>
                    <a:rou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grpSp>
        <p:sp>
          <p:nvSpPr>
            <p:cNvPr id="246" name="Text Box 244"/>
            <p:cNvSpPr txBox="1">
              <a:spLocks noChangeArrowheads="1"/>
            </p:cNvSpPr>
            <p:nvPr/>
          </p:nvSpPr>
          <p:spPr bwMode="auto">
            <a:xfrm>
              <a:off x="7673726" y="367069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anose="02010609060101010101" pitchFamily="2" charset="-122"/>
                </a:rPr>
                <a:t>4</a:t>
              </a:r>
            </a:p>
          </p:txBody>
        </p:sp>
        <p:sp>
          <p:nvSpPr>
            <p:cNvPr id="247" name="AutoShape 245"/>
            <p:cNvSpPr>
              <a:spLocks noChangeArrowheads="1"/>
            </p:cNvSpPr>
            <p:nvPr/>
          </p:nvSpPr>
          <p:spPr bwMode="auto">
            <a:xfrm>
              <a:off x="3931989" y="2237184"/>
              <a:ext cx="1366837" cy="381000"/>
            </a:xfrm>
            <a:prstGeom prst="rightArrow">
              <a:avLst>
                <a:gd name="adj1" fmla="val 59778"/>
                <a:gd name="adj2" fmla="val 96979"/>
              </a:avLst>
            </a:prstGeom>
            <a:solidFill>
              <a:srgbClr val="FFFF99"/>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间接交付</a:t>
              </a:r>
            </a:p>
          </p:txBody>
        </p:sp>
        <p:sp>
          <p:nvSpPr>
            <p:cNvPr id="248" name="AutoShape 246"/>
            <p:cNvSpPr>
              <a:spLocks noChangeArrowheads="1"/>
            </p:cNvSpPr>
            <p:nvPr/>
          </p:nvSpPr>
          <p:spPr bwMode="auto">
            <a:xfrm>
              <a:off x="6233864" y="2281634"/>
              <a:ext cx="1584325" cy="387350"/>
            </a:xfrm>
            <a:prstGeom prst="rightArrow">
              <a:avLst>
                <a:gd name="adj1" fmla="val 59778"/>
                <a:gd name="adj2" fmla="val 110567"/>
              </a:avLst>
            </a:prstGeom>
            <a:solidFill>
              <a:srgbClr val="FFFF99"/>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间接交付</a:t>
              </a:r>
            </a:p>
          </p:txBody>
        </p:sp>
        <p:sp>
          <p:nvSpPr>
            <p:cNvPr id="249" name="AutoShape 247"/>
            <p:cNvSpPr>
              <a:spLocks noChangeArrowheads="1"/>
            </p:cNvSpPr>
            <p:nvPr/>
          </p:nvSpPr>
          <p:spPr bwMode="auto">
            <a:xfrm>
              <a:off x="1480889" y="2019697"/>
              <a:ext cx="1227137" cy="360362"/>
            </a:xfrm>
            <a:prstGeom prst="rightArrow">
              <a:avLst>
                <a:gd name="adj1" fmla="val 59778"/>
                <a:gd name="adj2" fmla="val 92053"/>
              </a:avLst>
            </a:prstGeom>
            <a:solidFill>
              <a:srgbClr val="FFFF99"/>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间接交付</a:t>
              </a:r>
            </a:p>
          </p:txBody>
        </p:sp>
        <p:sp>
          <p:nvSpPr>
            <p:cNvPr id="250" name="AutoShape 248"/>
            <p:cNvSpPr>
              <a:spLocks noChangeArrowheads="1"/>
            </p:cNvSpPr>
            <p:nvPr/>
          </p:nvSpPr>
          <p:spPr bwMode="auto">
            <a:xfrm rot="6744589" flipV="1">
              <a:off x="7817395" y="2812653"/>
              <a:ext cx="1368425" cy="360363"/>
            </a:xfrm>
            <a:prstGeom prst="rightArrow">
              <a:avLst>
                <a:gd name="adj1" fmla="val 59778"/>
                <a:gd name="adj2" fmla="val 102652"/>
              </a:avLst>
            </a:prstGeom>
            <a:solidFill>
              <a:srgbClr val="FFFF99"/>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间接交付</a:t>
              </a:r>
            </a:p>
          </p:txBody>
        </p:sp>
        <p:sp>
          <p:nvSpPr>
            <p:cNvPr id="251" name="AutoShape 249"/>
            <p:cNvSpPr>
              <a:spLocks noChangeArrowheads="1"/>
            </p:cNvSpPr>
            <p:nvPr/>
          </p:nvSpPr>
          <p:spPr bwMode="auto">
            <a:xfrm flipH="1">
              <a:off x="5514726" y="3892947"/>
              <a:ext cx="2016125" cy="358775"/>
            </a:xfrm>
            <a:prstGeom prst="rightArrow">
              <a:avLst>
                <a:gd name="adj1" fmla="val 59778"/>
                <a:gd name="adj2" fmla="val 151908"/>
              </a:avLst>
            </a:prstGeom>
            <a:solidFill>
              <a:srgbClr val="FFFF99"/>
            </a:solidFill>
            <a:ln w="9525">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间接交付</a:t>
              </a:r>
            </a:p>
          </p:txBody>
        </p:sp>
        <p:sp>
          <p:nvSpPr>
            <p:cNvPr id="252" name="AutoShape 250"/>
            <p:cNvSpPr>
              <a:spLocks noChangeArrowheads="1"/>
            </p:cNvSpPr>
            <p:nvPr/>
          </p:nvSpPr>
          <p:spPr bwMode="auto">
            <a:xfrm rot="20314671" flipH="1">
              <a:off x="2922339" y="4396184"/>
              <a:ext cx="1511300" cy="358775"/>
            </a:xfrm>
            <a:prstGeom prst="rightArrow">
              <a:avLst>
                <a:gd name="adj1" fmla="val 59778"/>
                <a:gd name="adj2" fmla="val 113871"/>
              </a:avLst>
            </a:prstGeom>
            <a:solidFill>
              <a:srgbClr val="FFCCCC"/>
            </a:solidFill>
            <a:ln w="38100" cmpd="dbl">
              <a:solidFill>
                <a:srgbClr val="000000"/>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zh-CN" altLang="en-US" sz="1600" b="1" i="0" u="none" strike="noStrike" kern="0" cap="none" spc="0" normalizeH="0" baseline="0" noProof="0">
                  <a:ln>
                    <a:noFill/>
                  </a:ln>
                  <a:solidFill>
                    <a:srgbClr val="000099"/>
                  </a:solidFill>
                  <a:effectLst/>
                  <a:uLnTx/>
                  <a:uFillTx/>
                  <a:latin typeface="+mn-lt"/>
                  <a:ea typeface="黑体" panose="02010609060101010101" pitchFamily="2" charset="-122"/>
                </a:rPr>
                <a:t>直接交付</a:t>
              </a:r>
            </a:p>
          </p:txBody>
        </p:sp>
        <p:grpSp>
          <p:nvGrpSpPr>
            <p:cNvPr id="253" name="Group 251"/>
            <p:cNvGrpSpPr/>
            <p:nvPr/>
          </p:nvGrpSpPr>
          <p:grpSpPr bwMode="auto">
            <a:xfrm>
              <a:off x="2954089" y="989410"/>
              <a:ext cx="760412" cy="830263"/>
              <a:chOff x="1721" y="558"/>
              <a:chExt cx="479" cy="523"/>
            </a:xfrm>
          </p:grpSpPr>
          <p:sp>
            <p:nvSpPr>
              <p:cNvPr id="254" name="Rectangle 252"/>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55" name="Rectangle 253"/>
              <p:cNvSpPr>
                <a:spLocks noChangeArrowheads="1"/>
              </p:cNvSpPr>
              <p:nvPr/>
            </p:nvSpPr>
            <p:spPr bwMode="auto">
              <a:xfrm>
                <a:off x="1721" y="585"/>
                <a:ext cx="479" cy="469"/>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56" name="Line 254"/>
              <p:cNvSpPr>
                <a:spLocks noChangeShapeType="1"/>
              </p:cNvSpPr>
              <p:nvPr/>
            </p:nvSpPr>
            <p:spPr bwMode="auto">
              <a:xfrm>
                <a:off x="1721" y="754"/>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57" name="Line 255"/>
              <p:cNvSpPr>
                <a:spLocks noChangeShapeType="1"/>
              </p:cNvSpPr>
              <p:nvPr/>
            </p:nvSpPr>
            <p:spPr bwMode="auto">
              <a:xfrm>
                <a:off x="1721" y="906"/>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58" name="Line 256"/>
              <p:cNvSpPr>
                <a:spLocks noChangeShapeType="1"/>
              </p:cNvSpPr>
              <p:nvPr/>
            </p:nvSpPr>
            <p:spPr bwMode="auto">
              <a:xfrm>
                <a:off x="1961" y="748"/>
                <a:ext cx="1" cy="30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59" name="Text Box 257"/>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2     2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1     1</a:t>
                </a:r>
              </a:p>
            </p:txBody>
          </p:sp>
        </p:grpSp>
        <p:grpSp>
          <p:nvGrpSpPr>
            <p:cNvPr id="260" name="Group 258"/>
            <p:cNvGrpSpPr/>
            <p:nvPr/>
          </p:nvGrpSpPr>
          <p:grpSpPr bwMode="auto">
            <a:xfrm>
              <a:off x="5473451" y="989410"/>
              <a:ext cx="760413" cy="830263"/>
              <a:chOff x="1721" y="558"/>
              <a:chExt cx="479" cy="523"/>
            </a:xfrm>
          </p:grpSpPr>
          <p:sp>
            <p:nvSpPr>
              <p:cNvPr id="261" name="Rectangle 259"/>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2" name="Rectangle 260"/>
              <p:cNvSpPr>
                <a:spLocks noChangeArrowheads="1"/>
              </p:cNvSpPr>
              <p:nvPr/>
            </p:nvSpPr>
            <p:spPr bwMode="auto">
              <a:xfrm>
                <a:off x="1721" y="585"/>
                <a:ext cx="479" cy="469"/>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3" name="Line 261"/>
              <p:cNvSpPr>
                <a:spLocks noChangeShapeType="1"/>
              </p:cNvSpPr>
              <p:nvPr/>
            </p:nvSpPr>
            <p:spPr bwMode="auto">
              <a:xfrm>
                <a:off x="1721" y="754"/>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4" name="Line 262"/>
              <p:cNvSpPr>
                <a:spLocks noChangeShapeType="1"/>
              </p:cNvSpPr>
              <p:nvPr/>
            </p:nvSpPr>
            <p:spPr bwMode="auto">
              <a:xfrm>
                <a:off x="1721" y="906"/>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5" name="Line 263"/>
              <p:cNvSpPr>
                <a:spLocks noChangeShapeType="1"/>
              </p:cNvSpPr>
              <p:nvPr/>
            </p:nvSpPr>
            <p:spPr bwMode="auto">
              <a:xfrm>
                <a:off x="1961" y="748"/>
                <a:ext cx="1" cy="30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6" name="Text Box 264"/>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2     2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1     1</a:t>
                </a:r>
              </a:p>
            </p:txBody>
          </p:sp>
        </p:grpSp>
        <p:grpSp>
          <p:nvGrpSpPr>
            <p:cNvPr id="267" name="Group 265"/>
            <p:cNvGrpSpPr/>
            <p:nvPr/>
          </p:nvGrpSpPr>
          <p:grpSpPr bwMode="auto">
            <a:xfrm>
              <a:off x="8034089" y="989410"/>
              <a:ext cx="760412" cy="830263"/>
              <a:chOff x="1721" y="558"/>
              <a:chExt cx="479" cy="523"/>
            </a:xfrm>
          </p:grpSpPr>
          <p:sp>
            <p:nvSpPr>
              <p:cNvPr id="268" name="Rectangle 266"/>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69" name="Rectangle 267"/>
              <p:cNvSpPr>
                <a:spLocks noChangeArrowheads="1"/>
              </p:cNvSpPr>
              <p:nvPr/>
            </p:nvSpPr>
            <p:spPr bwMode="auto">
              <a:xfrm>
                <a:off x="1721" y="585"/>
                <a:ext cx="479" cy="469"/>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0" name="Line 268"/>
              <p:cNvSpPr>
                <a:spLocks noChangeShapeType="1"/>
              </p:cNvSpPr>
              <p:nvPr/>
            </p:nvSpPr>
            <p:spPr bwMode="auto">
              <a:xfrm>
                <a:off x="1721" y="754"/>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1" name="Line 269"/>
              <p:cNvSpPr>
                <a:spLocks noChangeShapeType="1"/>
              </p:cNvSpPr>
              <p:nvPr/>
            </p:nvSpPr>
            <p:spPr bwMode="auto">
              <a:xfrm>
                <a:off x="1721" y="906"/>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2" name="Line 270"/>
              <p:cNvSpPr>
                <a:spLocks noChangeShapeType="1"/>
              </p:cNvSpPr>
              <p:nvPr/>
            </p:nvSpPr>
            <p:spPr bwMode="auto">
              <a:xfrm>
                <a:off x="1961" y="748"/>
                <a:ext cx="1" cy="30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3" name="Text Box 271"/>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2     2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1     1</a:t>
                </a:r>
              </a:p>
            </p:txBody>
          </p:sp>
        </p:grpSp>
        <p:grpSp>
          <p:nvGrpSpPr>
            <p:cNvPr id="274" name="Group 272"/>
            <p:cNvGrpSpPr/>
            <p:nvPr/>
          </p:nvGrpSpPr>
          <p:grpSpPr bwMode="auto">
            <a:xfrm>
              <a:off x="4465389" y="4500960"/>
              <a:ext cx="760412" cy="830263"/>
              <a:chOff x="1721" y="558"/>
              <a:chExt cx="479" cy="523"/>
            </a:xfrm>
          </p:grpSpPr>
          <p:sp>
            <p:nvSpPr>
              <p:cNvPr id="275" name="Rectangle 273"/>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6" name="Rectangle 274"/>
              <p:cNvSpPr>
                <a:spLocks noChangeArrowheads="1"/>
              </p:cNvSpPr>
              <p:nvPr/>
            </p:nvSpPr>
            <p:spPr bwMode="auto">
              <a:xfrm>
                <a:off x="1721" y="585"/>
                <a:ext cx="479" cy="469"/>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7" name="Line 275"/>
              <p:cNvSpPr>
                <a:spLocks noChangeShapeType="1"/>
              </p:cNvSpPr>
              <p:nvPr/>
            </p:nvSpPr>
            <p:spPr bwMode="auto">
              <a:xfrm>
                <a:off x="1721" y="754"/>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8" name="Line 276"/>
              <p:cNvSpPr>
                <a:spLocks noChangeShapeType="1"/>
              </p:cNvSpPr>
              <p:nvPr/>
            </p:nvSpPr>
            <p:spPr bwMode="auto">
              <a:xfrm>
                <a:off x="1721" y="906"/>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79" name="Line 277"/>
              <p:cNvSpPr>
                <a:spLocks noChangeShapeType="1"/>
              </p:cNvSpPr>
              <p:nvPr/>
            </p:nvSpPr>
            <p:spPr bwMode="auto">
              <a:xfrm>
                <a:off x="1961" y="748"/>
                <a:ext cx="1" cy="30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0" name="Text Box 278"/>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2     2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1     1</a:t>
                </a:r>
              </a:p>
            </p:txBody>
          </p:sp>
        </p:grpSp>
        <p:grpSp>
          <p:nvGrpSpPr>
            <p:cNvPr id="281" name="Group 279"/>
            <p:cNvGrpSpPr/>
            <p:nvPr/>
          </p:nvGrpSpPr>
          <p:grpSpPr bwMode="auto">
            <a:xfrm>
              <a:off x="7849939" y="4500960"/>
              <a:ext cx="760412" cy="830263"/>
              <a:chOff x="1721" y="558"/>
              <a:chExt cx="479" cy="523"/>
            </a:xfrm>
          </p:grpSpPr>
          <p:sp>
            <p:nvSpPr>
              <p:cNvPr id="282" name="Rectangle 280"/>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3" name="Rectangle 281"/>
              <p:cNvSpPr>
                <a:spLocks noChangeArrowheads="1"/>
              </p:cNvSpPr>
              <p:nvPr/>
            </p:nvSpPr>
            <p:spPr bwMode="auto">
              <a:xfrm>
                <a:off x="1721" y="585"/>
                <a:ext cx="479" cy="469"/>
              </a:xfrm>
              <a:prstGeom prst="rect">
                <a:avLst/>
              </a:prstGeom>
              <a:noFill/>
              <a:ln w="9525">
                <a:solidFill>
                  <a:srgbClr val="000000"/>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4" name="Line 282"/>
              <p:cNvSpPr>
                <a:spLocks noChangeShapeType="1"/>
              </p:cNvSpPr>
              <p:nvPr/>
            </p:nvSpPr>
            <p:spPr bwMode="auto">
              <a:xfrm>
                <a:off x="1721" y="754"/>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5" name="Line 283"/>
              <p:cNvSpPr>
                <a:spLocks noChangeShapeType="1"/>
              </p:cNvSpPr>
              <p:nvPr/>
            </p:nvSpPr>
            <p:spPr bwMode="auto">
              <a:xfrm>
                <a:off x="1721" y="906"/>
                <a:ext cx="479" cy="0"/>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6" name="Line 284"/>
              <p:cNvSpPr>
                <a:spLocks noChangeShapeType="1"/>
              </p:cNvSpPr>
              <p:nvPr/>
            </p:nvSpPr>
            <p:spPr bwMode="auto">
              <a:xfrm>
                <a:off x="1961" y="748"/>
                <a:ext cx="1" cy="302"/>
              </a:xfrm>
              <a:prstGeom prst="line">
                <a:avLst/>
              </a:prstGeom>
              <a:noFill/>
              <a:ln w="9525">
                <a:solidFill>
                  <a:srgbClr val="00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7" name="Text Box 285"/>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3</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2     2</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600" b="1" i="0" u="none" strike="noStrike" kern="0" cap="none" spc="0" normalizeH="0" baseline="0" noProof="0">
                    <a:ln>
                      <a:noFill/>
                    </a:ln>
                    <a:solidFill>
                      <a:srgbClr val="000099"/>
                    </a:solidFill>
                    <a:effectLst/>
                    <a:uLnTx/>
                    <a:uFillTx/>
                    <a:latin typeface="+mn-lt"/>
                    <a:ea typeface="黑体" panose="02010609060101010101" pitchFamily="2" charset="-122"/>
                  </a:rPr>
                  <a:t>1     1</a:t>
                </a:r>
              </a:p>
            </p:txBody>
          </p:sp>
        </p:grpSp>
        <p:sp>
          <p:nvSpPr>
            <p:cNvPr id="288" name="Freeform 286"/>
            <p:cNvSpPr/>
            <p:nvPr/>
          </p:nvSpPr>
          <p:spPr bwMode="auto">
            <a:xfrm>
              <a:off x="1338014" y="652859"/>
              <a:ext cx="7791450" cy="5788025"/>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rgbClr val="FF0000"/>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1" i="0" u="none" strike="noStrike" kern="0" cap="none" spc="0" normalizeH="0" baseline="0" noProof="0">
                <a:ln>
                  <a:noFill/>
                </a:ln>
                <a:solidFill>
                  <a:srgbClr val="000099"/>
                </a:solidFill>
                <a:effectLst/>
                <a:uLnTx/>
                <a:uFillTx/>
                <a:latin typeface="+mn-lt"/>
                <a:ea typeface="黑体" panose="02010609060101010101" pitchFamily="2" charset="-122"/>
              </a:endParaRPr>
            </a:p>
          </p:txBody>
        </p:sp>
        <p:sp>
          <p:nvSpPr>
            <p:cNvPr id="289" name="Text Box 287"/>
            <p:cNvSpPr txBox="1">
              <a:spLocks noChangeArrowheads="1"/>
            </p:cNvSpPr>
            <p:nvPr/>
          </p:nvSpPr>
          <p:spPr bwMode="auto">
            <a:xfrm>
              <a:off x="2648744" y="148034"/>
              <a:ext cx="3890809" cy="523220"/>
            </a:xfrm>
            <a:prstGeom prst="rect">
              <a:avLst/>
            </a:prstGeom>
            <a:solidFill>
              <a:srgbClr val="CCECFF"/>
            </a:solidFill>
            <a:ln w="9525">
              <a:solidFill>
                <a:srgbClr val="3333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800" b="1" i="0" u="none" strike="noStrike" kern="0" cap="none" spc="0" normalizeH="0" baseline="0" noProof="0" dirty="0">
                  <a:ln>
                    <a:noFill/>
                  </a:ln>
                  <a:solidFill>
                    <a:srgbClr val="000099"/>
                  </a:solidFill>
                  <a:effectLst/>
                  <a:uLnTx/>
                  <a:uFillTx/>
                  <a:latin typeface="+mn-lt"/>
                  <a:ea typeface="黑体" panose="02010609060101010101" pitchFamily="2" charset="-122"/>
                </a:rPr>
                <a:t>分组在互联网中的传送 </a:t>
              </a:r>
            </a:p>
          </p:txBody>
        </p:sp>
      </p:grpSp>
      <p:sp>
        <p:nvSpPr>
          <p:cNvPr id="292" name="矩形 291"/>
          <p:cNvSpPr/>
          <p:nvPr/>
        </p:nvSpPr>
        <p:spPr>
          <a:xfrm>
            <a:off x="327993" y="3640956"/>
            <a:ext cx="1277511" cy="2308324"/>
          </a:xfrm>
          <a:prstGeom prst="rect">
            <a:avLst/>
          </a:prstGeom>
          <a:solidFill>
            <a:srgbClr val="99FF66"/>
          </a:solidFill>
          <a:ln>
            <a:solidFill>
              <a:srgbClr val="000099"/>
            </a:solidFill>
          </a:ln>
        </p:spPr>
        <p:txBody>
          <a:bodyPr wrap="square">
            <a:spAutoFit/>
          </a:bodyPr>
          <a:lstStyle/>
          <a:p>
            <a:r>
              <a:rPr lang="zh-CN" altLang="zh-CN" sz="2400" b="1" dirty="0">
                <a:solidFill>
                  <a:srgbClr val="000099"/>
                </a:solidFill>
                <a:latin typeface="+mn-lt"/>
                <a:ea typeface="黑体" panose="02010609060101010101" pitchFamily="2" charset="-122"/>
              </a:rPr>
              <a:t>互联网可以由多种异构网络互连组成。</a:t>
            </a:r>
            <a:endParaRPr lang="zh-CN" altLang="en-US" sz="2400" b="1" dirty="0">
              <a:solidFill>
                <a:srgbClr val="000099"/>
              </a:solidFill>
              <a:latin typeface="+mn-lt"/>
              <a:ea typeface="黑体" panose="02010609060101010101" pitchFamily="2" charset="-122"/>
            </a:endParaRPr>
          </a:p>
        </p:txBody>
      </p:sp>
    </p:spTree>
    <p:extLst>
      <p:ext uri="{BB962C8B-B14F-4D97-AF65-F5344CB8AC3E}">
        <p14:creationId xmlns:p14="http://schemas.microsoft.com/office/powerpoint/2010/main" val="4124469681"/>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558007C-AAE4-FD0A-6EFA-6C536EA265A2}"/>
              </a:ext>
            </a:extLst>
          </p:cNvPr>
          <p:cNvSpPr/>
          <p:nvPr/>
        </p:nvSpPr>
        <p:spPr bwMode="auto">
          <a:xfrm>
            <a:off x="1712640" y="2708920"/>
            <a:ext cx="6912768" cy="864096"/>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rtlCol="0"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4400" b="0" i="0" u="none" strike="noStrike" cap="none" normalizeH="0" baseline="0" dirty="0">
                <a:ln>
                  <a:noFill/>
                </a:ln>
                <a:solidFill>
                  <a:schemeClr val="tx1"/>
                </a:solidFill>
                <a:effectLst/>
                <a:latin typeface="Arial" panose="020B0604020202020204" pitchFamily="34" charset="0"/>
              </a:rPr>
              <a:t>分隔符</a:t>
            </a:r>
          </a:p>
        </p:txBody>
      </p:sp>
    </p:spTree>
    <p:extLst>
      <p:ext uri="{BB962C8B-B14F-4D97-AF65-F5344CB8AC3E}">
        <p14:creationId xmlns:p14="http://schemas.microsoft.com/office/powerpoint/2010/main" val="238668282"/>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4.6  IPv6</a:t>
            </a:r>
            <a:endParaRPr lang="zh-CN" altLang="zh-CN" dirty="0"/>
          </a:p>
        </p:txBody>
      </p:sp>
      <p:sp>
        <p:nvSpPr>
          <p:cNvPr id="931843" name="Rectangle 3"/>
          <p:cNvSpPr>
            <a:spLocks noGrp="1" noChangeArrowheads="1"/>
          </p:cNvSpPr>
          <p:nvPr>
            <p:ph idx="1"/>
          </p:nvPr>
        </p:nvSpPr>
        <p:spPr/>
        <p:txBody>
          <a:bodyPr/>
          <a:lstStyle/>
          <a:p>
            <a:r>
              <a:rPr lang="en-US" altLang="zh-CN" dirty="0"/>
              <a:t>4.6.1  IPv6</a:t>
            </a:r>
            <a:r>
              <a:rPr lang="zh-CN" altLang="zh-CN" dirty="0"/>
              <a:t>的基本首部</a:t>
            </a:r>
          </a:p>
          <a:p>
            <a:r>
              <a:rPr lang="en-US" altLang="zh-CN" dirty="0"/>
              <a:t>4.6.2  IPv6</a:t>
            </a:r>
            <a:r>
              <a:rPr lang="zh-CN" altLang="zh-CN" dirty="0"/>
              <a:t>的地址</a:t>
            </a:r>
          </a:p>
          <a:p>
            <a:r>
              <a:rPr lang="en-US" altLang="zh-CN" dirty="0"/>
              <a:t>4.6.3  </a:t>
            </a:r>
            <a:r>
              <a:rPr lang="zh-CN" altLang="zh-CN" dirty="0"/>
              <a:t>从</a:t>
            </a:r>
            <a:r>
              <a:rPr lang="en-US" altLang="zh-CN" dirty="0"/>
              <a:t>IPv4</a:t>
            </a:r>
            <a:r>
              <a:rPr lang="zh-CN" altLang="zh-CN" dirty="0"/>
              <a:t>向</a:t>
            </a:r>
            <a:r>
              <a:rPr lang="en-US" altLang="zh-CN" dirty="0"/>
              <a:t>IPv6</a:t>
            </a:r>
            <a:r>
              <a:rPr lang="zh-CN" altLang="zh-CN" dirty="0"/>
              <a:t>过渡</a:t>
            </a:r>
          </a:p>
          <a:p>
            <a:r>
              <a:rPr lang="en-US" altLang="zh-CN" dirty="0"/>
              <a:t>4.6.4  ICMPv6</a:t>
            </a:r>
            <a:endParaRPr lang="zh-CN" altLang="en-US" dirty="0">
              <a:solidFill>
                <a:srgbClr val="0000CC"/>
              </a:solidFill>
            </a:endParaRPr>
          </a:p>
        </p:txBody>
      </p:sp>
    </p:spTree>
    <p:extLst>
      <p:ext uri="{BB962C8B-B14F-4D97-AF65-F5344CB8AC3E}">
        <p14:creationId xmlns:p14="http://schemas.microsoft.com/office/powerpoint/2010/main" val="2737793788"/>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4.6  IPv6</a:t>
            </a:r>
            <a:endParaRPr lang="zh-CN" altLang="zh-CN" dirty="0"/>
          </a:p>
        </p:txBody>
      </p:sp>
      <p:sp>
        <p:nvSpPr>
          <p:cNvPr id="931843" name="Rectangle 3"/>
          <p:cNvSpPr>
            <a:spLocks noGrp="1" noChangeArrowheads="1"/>
          </p:cNvSpPr>
          <p:nvPr>
            <p:ph idx="1"/>
          </p:nvPr>
        </p:nvSpPr>
        <p:spPr/>
        <p:txBody>
          <a:bodyPr/>
          <a:lstStyle/>
          <a:p>
            <a:r>
              <a:rPr lang="en-US" altLang="zh-CN" dirty="0"/>
              <a:t>IP </a:t>
            </a:r>
            <a:r>
              <a:rPr lang="zh-CN" altLang="zh-CN" dirty="0"/>
              <a:t>是互联网的核心协议。</a:t>
            </a:r>
            <a:endParaRPr lang="en-US" altLang="zh-CN" dirty="0"/>
          </a:p>
          <a:p>
            <a:r>
              <a:rPr lang="zh-CN" altLang="zh-CN" dirty="0"/>
              <a:t>互联网经过几十年的飞速发展，到</a:t>
            </a:r>
            <a:r>
              <a:rPr lang="en-US" altLang="zh-CN" dirty="0"/>
              <a:t>2011</a:t>
            </a:r>
            <a:r>
              <a:rPr lang="zh-CN" altLang="zh-CN" dirty="0"/>
              <a:t>年</a:t>
            </a:r>
            <a:r>
              <a:rPr lang="en-US" altLang="zh-CN" dirty="0"/>
              <a:t>2</a:t>
            </a:r>
            <a:r>
              <a:rPr lang="zh-CN" altLang="zh-CN" dirty="0"/>
              <a:t>月，</a:t>
            </a:r>
            <a:r>
              <a:rPr lang="en-US" altLang="zh-CN" dirty="0"/>
              <a:t>IPv4 </a:t>
            </a:r>
            <a:r>
              <a:rPr lang="zh-CN" altLang="zh-CN" dirty="0"/>
              <a:t>的</a:t>
            </a:r>
            <a:r>
              <a:rPr lang="en-US" altLang="zh-CN" dirty="0"/>
              <a:t> 32 </a:t>
            </a:r>
            <a:r>
              <a:rPr lang="zh-CN" altLang="en-US" dirty="0"/>
              <a:t>位</a:t>
            </a:r>
            <a:r>
              <a:rPr lang="zh-CN" altLang="zh-CN" dirty="0"/>
              <a:t>地址已经耗尽</a:t>
            </a:r>
            <a:r>
              <a:rPr lang="zh-CN" altLang="en-US" dirty="0"/>
              <a:t>。</a:t>
            </a:r>
            <a:endParaRPr lang="en-US" altLang="zh-CN" dirty="0"/>
          </a:p>
          <a:p>
            <a:r>
              <a:rPr lang="en-US" altLang="zh-CN" dirty="0"/>
              <a:t>ISP </a:t>
            </a:r>
            <a:r>
              <a:rPr lang="zh-CN" altLang="zh-CN" dirty="0"/>
              <a:t>已经不能再申请到新的</a:t>
            </a:r>
            <a:r>
              <a:rPr lang="en-US" altLang="zh-CN" dirty="0"/>
              <a:t> IP </a:t>
            </a:r>
            <a:r>
              <a:rPr lang="zh-CN" altLang="zh-CN" dirty="0"/>
              <a:t>地址块了。</a:t>
            </a:r>
            <a:endParaRPr lang="en-US" altLang="zh-CN" dirty="0"/>
          </a:p>
          <a:p>
            <a:r>
              <a:rPr lang="zh-CN" altLang="zh-CN" dirty="0"/>
              <a:t>我国在</a:t>
            </a:r>
            <a:r>
              <a:rPr lang="en-US" altLang="zh-CN" dirty="0"/>
              <a:t>2014-2015</a:t>
            </a:r>
            <a:r>
              <a:rPr lang="zh-CN" altLang="zh-CN" dirty="0"/>
              <a:t>年也逐步停止了向新用户和应用分配</a:t>
            </a:r>
            <a:r>
              <a:rPr lang="en-US" altLang="zh-CN" dirty="0"/>
              <a:t> IPv4 </a:t>
            </a:r>
            <a:r>
              <a:rPr lang="zh-CN" altLang="zh-CN" dirty="0"/>
              <a:t>地址</a:t>
            </a:r>
            <a:r>
              <a:rPr lang="zh-CN" altLang="en-US" dirty="0"/>
              <a:t>。</a:t>
            </a:r>
            <a:endParaRPr lang="en-US" altLang="zh-CN" dirty="0"/>
          </a:p>
          <a:p>
            <a:r>
              <a:rPr lang="zh-CN" altLang="zh-CN" dirty="0"/>
              <a:t>解决</a:t>
            </a:r>
            <a:r>
              <a:rPr lang="en-US" altLang="zh-CN" dirty="0"/>
              <a:t> IP </a:t>
            </a:r>
            <a:r>
              <a:rPr lang="zh-CN" altLang="zh-CN" dirty="0"/>
              <a:t>地址耗尽的根本措施就是采用具有更大地址空间的新版本的</a:t>
            </a:r>
            <a:r>
              <a:rPr lang="en-US" altLang="zh-CN" dirty="0"/>
              <a:t> IP</a:t>
            </a:r>
            <a:r>
              <a:rPr lang="zh-CN" altLang="zh-CN" dirty="0"/>
              <a:t>，即</a:t>
            </a:r>
            <a:r>
              <a:rPr lang="en-US" altLang="zh-CN" dirty="0"/>
              <a:t> IPv6</a:t>
            </a:r>
            <a:r>
              <a:rPr lang="zh-CN" altLang="zh-CN" dirty="0"/>
              <a:t>。</a:t>
            </a:r>
            <a:endParaRPr lang="zh-CN" altLang="en-US" dirty="0">
              <a:solidFill>
                <a:srgbClr val="0000CC"/>
              </a:solidFill>
            </a:endParaRPr>
          </a:p>
        </p:txBody>
      </p:sp>
    </p:spTree>
    <p:extLst>
      <p:ext uri="{BB962C8B-B14F-4D97-AF65-F5344CB8AC3E}">
        <p14:creationId xmlns:p14="http://schemas.microsoft.com/office/powerpoint/2010/main" val="3703849352"/>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4.6.1  IPv6 </a:t>
            </a:r>
            <a:r>
              <a:rPr lang="zh-CN" altLang="zh-CN" dirty="0"/>
              <a:t>的基本首部</a:t>
            </a:r>
            <a:endParaRPr lang="zh-CN" altLang="en-US" dirty="0"/>
          </a:p>
        </p:txBody>
      </p:sp>
      <p:sp>
        <p:nvSpPr>
          <p:cNvPr id="3" name="内容占位符 2"/>
          <p:cNvSpPr>
            <a:spLocks noGrp="1"/>
          </p:cNvSpPr>
          <p:nvPr>
            <p:ph idx="1"/>
          </p:nvPr>
        </p:nvSpPr>
        <p:spPr/>
        <p:txBody>
          <a:bodyPr/>
          <a:lstStyle/>
          <a:p>
            <a:pPr>
              <a:lnSpc>
                <a:spcPct val="100000"/>
              </a:lnSpc>
            </a:pPr>
            <a:r>
              <a:rPr lang="en-US" altLang="zh-CN" dirty="0"/>
              <a:t>IPv6 </a:t>
            </a:r>
            <a:r>
              <a:rPr lang="zh-CN" altLang="zh-CN" dirty="0"/>
              <a:t>仍支持</a:t>
            </a:r>
            <a:r>
              <a:rPr lang="zh-CN" altLang="zh-CN" dirty="0">
                <a:solidFill>
                  <a:srgbClr val="FF0000"/>
                </a:solidFill>
              </a:rPr>
              <a:t>无连接的传送，</a:t>
            </a:r>
            <a:r>
              <a:rPr lang="zh-CN" altLang="zh-CN" dirty="0"/>
              <a:t>但将协议数据单元</a:t>
            </a:r>
            <a:r>
              <a:rPr lang="en-US" altLang="zh-CN" dirty="0"/>
              <a:t> PDU </a:t>
            </a:r>
            <a:r>
              <a:rPr lang="zh-CN" altLang="zh-CN" dirty="0"/>
              <a:t>称为</a:t>
            </a:r>
            <a:r>
              <a:rPr lang="zh-CN" altLang="zh-CN" dirty="0">
                <a:solidFill>
                  <a:srgbClr val="FF0000"/>
                </a:solidFill>
              </a:rPr>
              <a:t>分组</a:t>
            </a:r>
            <a:r>
              <a:rPr lang="zh-CN" altLang="en-US" dirty="0">
                <a:solidFill>
                  <a:srgbClr val="FF0000"/>
                </a:solidFill>
              </a:rPr>
              <a:t>。</a:t>
            </a:r>
            <a:r>
              <a:rPr lang="zh-CN" altLang="zh-CN" dirty="0"/>
              <a:t>为方便起见，本书仍采用数据报这一名词</a:t>
            </a:r>
            <a:r>
              <a:rPr lang="zh-CN" altLang="en-US" dirty="0"/>
              <a:t>。</a:t>
            </a:r>
            <a:endParaRPr lang="en-US" altLang="zh-CN" dirty="0"/>
          </a:p>
          <a:p>
            <a:pPr>
              <a:lnSpc>
                <a:spcPct val="100000"/>
              </a:lnSpc>
            </a:pPr>
            <a:r>
              <a:rPr lang="zh-CN" altLang="en-US" dirty="0"/>
              <a:t>所引进的</a:t>
            </a:r>
            <a:r>
              <a:rPr lang="zh-CN" altLang="en-US" dirty="0">
                <a:solidFill>
                  <a:srgbClr val="FF0000"/>
                </a:solidFill>
              </a:rPr>
              <a:t>主要变化</a:t>
            </a:r>
            <a:r>
              <a:rPr lang="zh-CN" altLang="en-US" dirty="0"/>
              <a:t>如下：</a:t>
            </a:r>
            <a:endParaRPr lang="en-US" altLang="zh-CN" dirty="0"/>
          </a:p>
          <a:p>
            <a:pPr lvl="1">
              <a:lnSpc>
                <a:spcPct val="100000"/>
              </a:lnSpc>
            </a:pPr>
            <a:r>
              <a:rPr lang="zh-CN" altLang="en-US" dirty="0">
                <a:solidFill>
                  <a:srgbClr val="0000FF"/>
                </a:solidFill>
              </a:rPr>
              <a:t>更大的地址空间。</a:t>
            </a:r>
            <a:r>
              <a:rPr lang="en-US" altLang="zh-CN" dirty="0"/>
              <a:t>IPv6 </a:t>
            </a:r>
            <a:r>
              <a:rPr lang="zh-CN" altLang="en-US" dirty="0"/>
              <a:t>将地址从 </a:t>
            </a:r>
            <a:r>
              <a:rPr lang="en-US" altLang="zh-CN" dirty="0"/>
              <a:t>IPv4 </a:t>
            </a:r>
            <a:r>
              <a:rPr lang="zh-CN" altLang="en-US" dirty="0"/>
              <a:t>的 </a:t>
            </a:r>
            <a:r>
              <a:rPr lang="en-US" altLang="zh-CN" dirty="0"/>
              <a:t>32 </a:t>
            </a:r>
            <a:r>
              <a:rPr lang="zh-CN" altLang="en-US" dirty="0"/>
              <a:t>位 增大到了 </a:t>
            </a:r>
            <a:r>
              <a:rPr lang="en-US" altLang="zh-CN" dirty="0"/>
              <a:t>128 </a:t>
            </a:r>
            <a:r>
              <a:rPr lang="zh-CN" altLang="en-US" dirty="0"/>
              <a:t>位。 </a:t>
            </a:r>
          </a:p>
          <a:p>
            <a:pPr lvl="1">
              <a:lnSpc>
                <a:spcPct val="100000"/>
              </a:lnSpc>
            </a:pPr>
            <a:r>
              <a:rPr lang="zh-CN" altLang="en-US" dirty="0">
                <a:solidFill>
                  <a:srgbClr val="0000FF"/>
                </a:solidFill>
              </a:rPr>
              <a:t>扩展的地址层次结构。</a:t>
            </a:r>
            <a:r>
              <a:rPr lang="zh-CN" altLang="en-US" dirty="0">
                <a:cs typeface="+mn-ea"/>
              </a:rPr>
              <a:t>地址空间大，可选扩展首部</a:t>
            </a:r>
            <a:endParaRPr lang="zh-CN" altLang="en-US" dirty="0">
              <a:solidFill>
                <a:srgbClr val="0000FF"/>
              </a:solidFill>
            </a:endParaRPr>
          </a:p>
          <a:p>
            <a:pPr lvl="1">
              <a:lnSpc>
                <a:spcPct val="100000"/>
              </a:lnSpc>
            </a:pPr>
            <a:r>
              <a:rPr lang="zh-CN" altLang="en-US" dirty="0">
                <a:solidFill>
                  <a:srgbClr val="0000FF"/>
                </a:solidFill>
              </a:rPr>
              <a:t>灵活的首部格式。 </a:t>
            </a:r>
            <a:r>
              <a:rPr lang="en-US" altLang="zh-CN" dirty="0"/>
              <a:t>IPv6 </a:t>
            </a:r>
            <a:r>
              <a:rPr lang="zh-CN" altLang="zh-CN" dirty="0"/>
              <a:t>定义了许多可选的扩展首部</a:t>
            </a:r>
            <a:r>
              <a:rPr lang="zh-CN" altLang="en-US" dirty="0"/>
              <a:t>。</a:t>
            </a:r>
          </a:p>
          <a:p>
            <a:pPr lvl="1">
              <a:lnSpc>
                <a:spcPct val="100000"/>
              </a:lnSpc>
            </a:pPr>
            <a:r>
              <a:rPr lang="zh-CN" altLang="en-US" dirty="0">
                <a:solidFill>
                  <a:srgbClr val="0000FF"/>
                </a:solidFill>
              </a:rPr>
              <a:t>改进的选项。 </a:t>
            </a:r>
            <a:r>
              <a:rPr lang="en-US" altLang="zh-CN" dirty="0"/>
              <a:t>IPv6 </a:t>
            </a:r>
            <a:r>
              <a:rPr lang="zh-CN" altLang="zh-CN" dirty="0"/>
              <a:t>允许数据报包含有选项的控制信息</a:t>
            </a:r>
            <a:r>
              <a:rPr lang="zh-CN" altLang="en-US" dirty="0"/>
              <a:t>，</a:t>
            </a:r>
            <a:r>
              <a:rPr lang="zh-CN" altLang="zh-CN" dirty="0"/>
              <a:t>其选项放在有效载荷中</a:t>
            </a:r>
            <a:r>
              <a:rPr lang="zh-CN" altLang="en-US" dirty="0"/>
              <a:t>。</a:t>
            </a:r>
            <a:endParaRPr lang="en-US" altLang="zh-CN" dirty="0"/>
          </a:p>
          <a:p>
            <a:pPr>
              <a:lnSpc>
                <a:spcPct val="100000"/>
              </a:lnSpc>
            </a:pPr>
            <a:endParaRPr lang="zh-CN" altLang="en-US" dirty="0"/>
          </a:p>
        </p:txBody>
      </p:sp>
    </p:spTree>
    <p:extLst>
      <p:ext uri="{BB962C8B-B14F-4D97-AF65-F5344CB8AC3E}">
        <p14:creationId xmlns:p14="http://schemas.microsoft.com/office/powerpoint/2010/main" val="2320491084"/>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4.6.1  IPv6 </a:t>
            </a:r>
            <a:r>
              <a:rPr lang="zh-CN" altLang="zh-CN" dirty="0"/>
              <a:t>的基本首部</a:t>
            </a:r>
            <a:endParaRPr lang="zh-CN" altLang="en-US" dirty="0"/>
          </a:p>
        </p:txBody>
      </p:sp>
      <p:sp>
        <p:nvSpPr>
          <p:cNvPr id="3" name="内容占位符 2"/>
          <p:cNvSpPr>
            <a:spLocks noGrp="1"/>
          </p:cNvSpPr>
          <p:nvPr>
            <p:ph idx="1"/>
          </p:nvPr>
        </p:nvSpPr>
        <p:spPr/>
        <p:txBody>
          <a:bodyPr/>
          <a:lstStyle/>
          <a:p>
            <a:r>
              <a:rPr lang="zh-CN" altLang="en-US" dirty="0"/>
              <a:t>所引进的主要变化如下（续）：</a:t>
            </a:r>
            <a:endParaRPr lang="en-US" altLang="zh-CN" dirty="0"/>
          </a:p>
          <a:p>
            <a:pPr lvl="1"/>
            <a:r>
              <a:rPr lang="zh-CN" altLang="en-US" dirty="0">
                <a:solidFill>
                  <a:srgbClr val="0000FF"/>
                </a:solidFill>
              </a:rPr>
              <a:t>允许协议继续扩充。</a:t>
            </a:r>
            <a:r>
              <a:rPr lang="en-US" altLang="zh-CN" dirty="0">
                <a:cs typeface="+mn-ea"/>
              </a:rPr>
              <a:t>IPv4</a:t>
            </a:r>
            <a:r>
              <a:rPr lang="zh-CN" altLang="en-US" dirty="0">
                <a:cs typeface="+mn-ea"/>
              </a:rPr>
              <a:t>的可变部分</a:t>
            </a:r>
            <a:r>
              <a:rPr lang="en-US" altLang="zh-CN" dirty="0">
                <a:cs typeface="+mn-ea"/>
              </a:rPr>
              <a:t>1-40</a:t>
            </a:r>
            <a:r>
              <a:rPr lang="zh-CN" altLang="en-US" dirty="0">
                <a:cs typeface="+mn-ea"/>
              </a:rPr>
              <a:t>字节</a:t>
            </a:r>
            <a:r>
              <a:rPr lang="en-US" altLang="zh-CN" dirty="0">
                <a:cs typeface="+mn-ea"/>
              </a:rPr>
              <a:t> </a:t>
            </a:r>
            <a:endParaRPr lang="zh-CN" altLang="en-US" dirty="0"/>
          </a:p>
          <a:p>
            <a:pPr lvl="1"/>
            <a:r>
              <a:rPr lang="zh-CN" altLang="en-US" dirty="0">
                <a:solidFill>
                  <a:srgbClr val="0000FF"/>
                </a:solidFill>
              </a:rPr>
              <a:t>支持即插即用（即自动配置）。</a:t>
            </a:r>
            <a:r>
              <a:rPr lang="zh-CN" altLang="zh-CN" dirty="0"/>
              <a:t>因此</a:t>
            </a:r>
            <a:r>
              <a:rPr lang="en-US" altLang="zh-CN" dirty="0"/>
              <a:t> IPv6 </a:t>
            </a:r>
            <a:r>
              <a:rPr lang="zh-CN" altLang="zh-CN" dirty="0"/>
              <a:t>不需要使用</a:t>
            </a:r>
            <a:r>
              <a:rPr lang="en-US" altLang="zh-CN" dirty="0"/>
              <a:t> DHCP</a:t>
            </a:r>
            <a:r>
              <a:rPr lang="zh-CN" altLang="zh-CN" dirty="0"/>
              <a:t>。</a:t>
            </a:r>
            <a:endParaRPr lang="zh-CN" altLang="en-US" dirty="0"/>
          </a:p>
          <a:p>
            <a:pPr lvl="1"/>
            <a:r>
              <a:rPr lang="zh-CN" altLang="en-US" dirty="0">
                <a:solidFill>
                  <a:srgbClr val="0000FF"/>
                </a:solidFill>
              </a:rPr>
              <a:t>支持资源的预分配。  </a:t>
            </a:r>
            <a:r>
              <a:rPr lang="en-US" altLang="zh-CN" dirty="0"/>
              <a:t>IPv6 </a:t>
            </a:r>
            <a:r>
              <a:rPr lang="zh-CN" altLang="zh-CN" dirty="0"/>
              <a:t>支持实时视像等要求</a:t>
            </a:r>
            <a:r>
              <a:rPr lang="zh-CN" altLang="en-US" dirty="0">
                <a:solidFill>
                  <a:srgbClr val="00B050"/>
                </a:solidFill>
              </a:rPr>
              <a:t>，</a:t>
            </a:r>
            <a:r>
              <a:rPr lang="zh-CN" altLang="zh-CN" dirty="0"/>
              <a:t>保证一定的带宽和时延的应用。</a:t>
            </a:r>
            <a:endParaRPr lang="en-US" altLang="zh-CN" dirty="0"/>
          </a:p>
          <a:p>
            <a:pPr lvl="1"/>
            <a:r>
              <a:rPr lang="en-US" altLang="zh-CN" dirty="0">
                <a:solidFill>
                  <a:srgbClr val="0000FF"/>
                </a:solidFill>
              </a:rPr>
              <a:t>IPv6 </a:t>
            </a:r>
            <a:r>
              <a:rPr lang="zh-CN" altLang="zh-CN" dirty="0">
                <a:solidFill>
                  <a:srgbClr val="0000FF"/>
                </a:solidFill>
              </a:rPr>
              <a:t>首部改为</a:t>
            </a:r>
            <a:r>
              <a:rPr lang="en-US" altLang="zh-CN" dirty="0">
                <a:solidFill>
                  <a:srgbClr val="0000FF"/>
                </a:solidFill>
              </a:rPr>
              <a:t> 8 </a:t>
            </a:r>
            <a:r>
              <a:rPr lang="zh-CN" altLang="zh-CN" dirty="0">
                <a:solidFill>
                  <a:srgbClr val="0000FF"/>
                </a:solidFill>
              </a:rPr>
              <a:t>字节对齐</a:t>
            </a:r>
            <a:r>
              <a:rPr lang="zh-CN" altLang="en-US" dirty="0">
                <a:solidFill>
                  <a:srgbClr val="0000FF"/>
                </a:solidFill>
              </a:rPr>
              <a:t>。</a:t>
            </a:r>
            <a:r>
              <a:rPr lang="zh-CN" altLang="zh-CN" dirty="0"/>
              <a:t>首部长度必须是</a:t>
            </a:r>
            <a:r>
              <a:rPr lang="en-US" altLang="zh-CN" dirty="0"/>
              <a:t> 8 </a:t>
            </a:r>
            <a:r>
              <a:rPr lang="zh-CN" altLang="zh-CN" dirty="0"/>
              <a:t>字节的整数倍。原来的</a:t>
            </a:r>
            <a:r>
              <a:rPr lang="en-US" altLang="zh-CN" dirty="0"/>
              <a:t> IPv4 </a:t>
            </a:r>
            <a:r>
              <a:rPr lang="zh-CN" altLang="zh-CN" dirty="0"/>
              <a:t>首部是</a:t>
            </a:r>
            <a:r>
              <a:rPr lang="en-US" altLang="zh-CN" dirty="0"/>
              <a:t> 4 </a:t>
            </a:r>
            <a:r>
              <a:rPr lang="zh-CN" altLang="zh-CN" dirty="0"/>
              <a:t>字节对齐。</a:t>
            </a:r>
            <a:endParaRPr lang="en-US" altLang="zh-CN" dirty="0"/>
          </a:p>
          <a:p>
            <a:endParaRPr lang="zh-CN" altLang="zh-CN" dirty="0"/>
          </a:p>
          <a:p>
            <a:pPr lvl="1"/>
            <a:endParaRPr lang="zh-CN" altLang="en-US" dirty="0"/>
          </a:p>
          <a:p>
            <a:pPr lvl="1"/>
            <a:endParaRPr lang="en-US" altLang="zh-CN" dirty="0"/>
          </a:p>
          <a:p>
            <a:endParaRPr lang="zh-CN" altLang="en-US" dirty="0"/>
          </a:p>
        </p:txBody>
      </p:sp>
    </p:spTree>
    <p:extLst>
      <p:ext uri="{BB962C8B-B14F-4D97-AF65-F5344CB8AC3E}">
        <p14:creationId xmlns:p14="http://schemas.microsoft.com/office/powerpoint/2010/main" val="73945348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IPv6 </a:t>
            </a:r>
            <a:r>
              <a:rPr lang="zh-CN" altLang="zh-CN" dirty="0"/>
              <a:t>数据报</a:t>
            </a:r>
            <a:r>
              <a:rPr lang="zh-CN" altLang="en-US" dirty="0"/>
              <a:t>的一般形式</a:t>
            </a:r>
          </a:p>
        </p:txBody>
      </p:sp>
      <p:sp>
        <p:nvSpPr>
          <p:cNvPr id="3" name="内容占位符 2"/>
          <p:cNvSpPr>
            <a:spLocks noGrp="1"/>
          </p:cNvSpPr>
          <p:nvPr>
            <p:ph idx="1"/>
          </p:nvPr>
        </p:nvSpPr>
        <p:spPr/>
        <p:txBody>
          <a:bodyPr/>
          <a:lstStyle/>
          <a:p>
            <a:r>
              <a:rPr lang="en-US" altLang="zh-CN" sz="2800" dirty="0"/>
              <a:t>IPv6</a:t>
            </a:r>
            <a:r>
              <a:rPr lang="zh-CN" altLang="zh-CN" sz="2800" dirty="0"/>
              <a:t>数据报由两大部分组成</a:t>
            </a:r>
            <a:r>
              <a:rPr lang="zh-CN" altLang="en-US" sz="2800" dirty="0"/>
              <a:t>：</a:t>
            </a:r>
            <a:endParaRPr lang="en-US" altLang="zh-CN" sz="2800" dirty="0"/>
          </a:p>
          <a:p>
            <a:pPr lvl="1"/>
            <a:r>
              <a:rPr lang="zh-CN" altLang="zh-CN" sz="2400" dirty="0">
                <a:solidFill>
                  <a:srgbClr val="FF0000"/>
                </a:solidFill>
              </a:rPr>
              <a:t>基本首部</a:t>
            </a:r>
            <a:r>
              <a:rPr lang="en-US" altLang="zh-CN" sz="2400" dirty="0">
                <a:solidFill>
                  <a:srgbClr val="FF0000"/>
                </a:solidFill>
              </a:rPr>
              <a:t> </a:t>
            </a:r>
            <a:r>
              <a:rPr lang="en-US" altLang="zh-CN" sz="2400" dirty="0"/>
              <a:t>(base header)</a:t>
            </a:r>
          </a:p>
          <a:p>
            <a:pPr lvl="1"/>
            <a:r>
              <a:rPr lang="zh-CN" altLang="zh-CN" sz="2400" dirty="0">
                <a:solidFill>
                  <a:srgbClr val="FF0000"/>
                </a:solidFill>
              </a:rPr>
              <a:t>有效载荷</a:t>
            </a:r>
            <a:r>
              <a:rPr lang="en-US" altLang="zh-CN" sz="2400" dirty="0"/>
              <a:t> (payload)</a:t>
            </a:r>
            <a:r>
              <a:rPr lang="zh-CN" altLang="zh-CN" sz="2400" dirty="0"/>
              <a:t>。有效载荷也称为净负荷。有效载荷允许有零个或多个扩展首部</a:t>
            </a:r>
            <a:r>
              <a:rPr lang="en-US" altLang="zh-CN" sz="2400" dirty="0"/>
              <a:t>(extension header)</a:t>
            </a:r>
            <a:r>
              <a:rPr lang="zh-CN" altLang="zh-CN" sz="2400" dirty="0"/>
              <a:t>，再后面是数据部分</a:t>
            </a:r>
            <a:r>
              <a:rPr lang="zh-CN" altLang="en-US" sz="2400" dirty="0"/>
              <a:t>。</a:t>
            </a:r>
          </a:p>
        </p:txBody>
      </p:sp>
      <p:sp>
        <p:nvSpPr>
          <p:cNvPr id="5" name="Rectangle 2"/>
          <p:cNvSpPr>
            <a:spLocks noChangeArrowheads="1"/>
          </p:cNvSpPr>
          <p:nvPr/>
        </p:nvSpPr>
        <p:spPr bwMode="auto">
          <a:xfrm>
            <a:off x="2373313" y="4005064"/>
            <a:ext cx="5830887" cy="530225"/>
          </a:xfrm>
          <a:prstGeom prst="rect">
            <a:avLst/>
          </a:prstGeom>
          <a:solidFill>
            <a:srgbClr val="FF66CC"/>
          </a:solidFill>
          <a:ln w="19050">
            <a:solidFill>
              <a:schemeClr val="tx1"/>
            </a:solidFill>
            <a:miter lim="800000"/>
          </a:ln>
        </p:spPr>
        <p:txBody>
          <a:bodyPr wrap="none" anchor="ctr"/>
          <a:lstStyle/>
          <a:p>
            <a:endParaRPr lang="zh-CN" altLang="en-US" sz="2000" b="1">
              <a:solidFill>
                <a:srgbClr val="000099"/>
              </a:solidFill>
              <a:latin typeface="+mn-lt"/>
              <a:ea typeface="黑体" panose="02010609060101010101" pitchFamily="2" charset="-122"/>
            </a:endParaRPr>
          </a:p>
        </p:txBody>
      </p:sp>
      <p:sp>
        <p:nvSpPr>
          <p:cNvPr id="6" name="Rectangle 30"/>
          <p:cNvSpPr>
            <a:spLocks noChangeArrowheads="1"/>
          </p:cNvSpPr>
          <p:nvPr/>
        </p:nvSpPr>
        <p:spPr bwMode="auto">
          <a:xfrm>
            <a:off x="3419475" y="4957886"/>
            <a:ext cx="4784725" cy="528638"/>
          </a:xfrm>
          <a:prstGeom prst="rect">
            <a:avLst/>
          </a:prstGeom>
          <a:solidFill>
            <a:srgbClr val="66FFFF"/>
          </a:solidFill>
          <a:ln w="9525">
            <a:solidFill>
              <a:schemeClr val="tx1"/>
            </a:solidFill>
            <a:miter lim="800000"/>
          </a:ln>
        </p:spPr>
        <p:txBody>
          <a:bodyPr wrap="none" anchor="ctr"/>
          <a:lstStyle/>
          <a:p>
            <a:endParaRPr lang="zh-CN" altLang="en-US" sz="2000" b="1">
              <a:solidFill>
                <a:srgbClr val="000099"/>
              </a:solidFill>
              <a:latin typeface="+mn-lt"/>
              <a:ea typeface="黑体" panose="02010609060101010101" pitchFamily="2" charset="-122"/>
            </a:endParaRPr>
          </a:p>
        </p:txBody>
      </p:sp>
      <p:sp>
        <p:nvSpPr>
          <p:cNvPr id="7" name="Line 3"/>
          <p:cNvSpPr>
            <a:spLocks noChangeShapeType="1"/>
          </p:cNvSpPr>
          <p:nvPr/>
        </p:nvSpPr>
        <p:spPr bwMode="auto">
          <a:xfrm>
            <a:off x="3414713" y="4965824"/>
            <a:ext cx="0" cy="5302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8" name="Line 4"/>
          <p:cNvSpPr>
            <a:spLocks noChangeShapeType="1"/>
          </p:cNvSpPr>
          <p:nvPr/>
        </p:nvSpPr>
        <p:spPr bwMode="auto">
          <a:xfrm>
            <a:off x="4100513" y="4965824"/>
            <a:ext cx="0" cy="5302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9" name="Line 5"/>
          <p:cNvSpPr>
            <a:spLocks noChangeShapeType="1"/>
          </p:cNvSpPr>
          <p:nvPr/>
        </p:nvSpPr>
        <p:spPr bwMode="auto">
          <a:xfrm>
            <a:off x="4533900" y="4965824"/>
            <a:ext cx="0" cy="5302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10" name="Line 6"/>
          <p:cNvSpPr>
            <a:spLocks noChangeShapeType="1"/>
          </p:cNvSpPr>
          <p:nvPr/>
        </p:nvSpPr>
        <p:spPr bwMode="auto">
          <a:xfrm>
            <a:off x="5253038" y="4965824"/>
            <a:ext cx="0" cy="5302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11" name="Text Box 15"/>
          <p:cNvSpPr txBox="1">
            <a:spLocks noChangeArrowheads="1"/>
          </p:cNvSpPr>
          <p:nvPr/>
        </p:nvSpPr>
        <p:spPr bwMode="auto">
          <a:xfrm>
            <a:off x="2318552" y="4130799"/>
            <a:ext cx="1114409"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pPr>
            <a:r>
              <a:rPr lang="zh-CN" altLang="en-US" sz="1800" b="1">
                <a:solidFill>
                  <a:srgbClr val="000099"/>
                </a:solidFill>
                <a:latin typeface="+mn-lt"/>
                <a:ea typeface="黑体" panose="02010609060101010101" pitchFamily="2" charset="-122"/>
              </a:rPr>
              <a:t>基本首部</a:t>
            </a:r>
          </a:p>
        </p:txBody>
      </p:sp>
      <p:sp>
        <p:nvSpPr>
          <p:cNvPr id="12" name="Text Box 16"/>
          <p:cNvSpPr txBox="1">
            <a:spLocks noChangeArrowheads="1"/>
          </p:cNvSpPr>
          <p:nvPr/>
        </p:nvSpPr>
        <p:spPr bwMode="auto">
          <a:xfrm>
            <a:off x="3366382" y="4978524"/>
            <a:ext cx="76976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pPr>
            <a:r>
              <a:rPr lang="en-US" altLang="zh-CN" sz="1600" b="1" dirty="0">
                <a:solidFill>
                  <a:srgbClr val="000099"/>
                </a:solidFill>
                <a:latin typeface="+mn-lt"/>
                <a:ea typeface="黑体" panose="02010609060101010101" pitchFamily="2" charset="-122"/>
              </a:rPr>
              <a:t> </a:t>
            </a:r>
            <a:r>
              <a:rPr lang="zh-CN" altLang="en-US" sz="1600" b="1" dirty="0">
                <a:solidFill>
                  <a:srgbClr val="000099"/>
                </a:solidFill>
                <a:latin typeface="+mn-lt"/>
                <a:ea typeface="黑体" panose="02010609060101010101" pitchFamily="2" charset="-122"/>
              </a:rPr>
              <a:t>扩展</a:t>
            </a:r>
          </a:p>
          <a:p>
            <a:pPr algn="ctr" eaLnBrk="1" hangingPunct="1">
              <a:lnSpc>
                <a:spcPct val="90000"/>
              </a:lnSpc>
            </a:pPr>
            <a:r>
              <a:rPr lang="zh-CN" altLang="en-US" sz="1600" b="1" dirty="0">
                <a:solidFill>
                  <a:srgbClr val="000099"/>
                </a:solidFill>
                <a:latin typeface="+mn-lt"/>
                <a:ea typeface="黑体" panose="02010609060101010101" pitchFamily="2" charset="-122"/>
              </a:rPr>
              <a:t>首部 </a:t>
            </a:r>
            <a:r>
              <a:rPr lang="en-US" altLang="zh-CN" sz="1600" b="1" dirty="0">
                <a:solidFill>
                  <a:srgbClr val="000099"/>
                </a:solidFill>
                <a:latin typeface="+mn-lt"/>
                <a:ea typeface="黑体" panose="02010609060101010101" pitchFamily="2" charset="-122"/>
              </a:rPr>
              <a:t>1</a:t>
            </a:r>
          </a:p>
        </p:txBody>
      </p:sp>
      <p:sp>
        <p:nvSpPr>
          <p:cNvPr id="13" name="Text Box 17"/>
          <p:cNvSpPr txBox="1">
            <a:spLocks noChangeArrowheads="1"/>
          </p:cNvSpPr>
          <p:nvPr/>
        </p:nvSpPr>
        <p:spPr bwMode="auto">
          <a:xfrm>
            <a:off x="4451276" y="4965824"/>
            <a:ext cx="80342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pPr>
            <a:r>
              <a:rPr lang="en-US" altLang="zh-CN" sz="1600" b="1" dirty="0">
                <a:solidFill>
                  <a:srgbClr val="000099"/>
                </a:solidFill>
                <a:latin typeface="+mn-lt"/>
                <a:ea typeface="黑体" panose="02010609060101010101" pitchFamily="2" charset="-122"/>
              </a:rPr>
              <a:t> </a:t>
            </a:r>
            <a:r>
              <a:rPr lang="zh-CN" altLang="en-US" sz="1600" b="1" dirty="0">
                <a:solidFill>
                  <a:srgbClr val="000099"/>
                </a:solidFill>
                <a:latin typeface="+mn-lt"/>
                <a:ea typeface="黑体" panose="02010609060101010101" pitchFamily="2" charset="-122"/>
              </a:rPr>
              <a:t>扩展</a:t>
            </a:r>
          </a:p>
          <a:p>
            <a:pPr algn="ctr" eaLnBrk="1" hangingPunct="1">
              <a:lnSpc>
                <a:spcPct val="90000"/>
              </a:lnSpc>
            </a:pPr>
            <a:r>
              <a:rPr lang="zh-CN" altLang="en-US" sz="1600" b="1" dirty="0">
                <a:solidFill>
                  <a:srgbClr val="000099"/>
                </a:solidFill>
                <a:latin typeface="+mn-lt"/>
                <a:ea typeface="黑体" panose="02010609060101010101" pitchFamily="2" charset="-122"/>
              </a:rPr>
              <a:t>首部 </a:t>
            </a:r>
            <a:r>
              <a:rPr lang="en-US" altLang="zh-CN" sz="1600" b="1" dirty="0">
                <a:solidFill>
                  <a:srgbClr val="000099"/>
                </a:solidFill>
                <a:latin typeface="+mn-lt"/>
                <a:ea typeface="黑体" panose="02010609060101010101" pitchFamily="2" charset="-122"/>
              </a:rPr>
              <a:t>N</a:t>
            </a:r>
          </a:p>
        </p:txBody>
      </p:sp>
      <p:sp>
        <p:nvSpPr>
          <p:cNvPr id="14" name="Text Box 18"/>
          <p:cNvSpPr txBox="1">
            <a:spLocks noChangeArrowheads="1"/>
          </p:cNvSpPr>
          <p:nvPr/>
        </p:nvSpPr>
        <p:spPr bwMode="auto">
          <a:xfrm>
            <a:off x="4100513" y="5030911"/>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solidFill>
                  <a:srgbClr val="000099"/>
                </a:solidFill>
                <a:latin typeface="+mn-lt"/>
                <a:ea typeface="黑体" panose="02010609060101010101" pitchFamily="2" charset="-122"/>
              </a:rPr>
              <a:t> …</a:t>
            </a:r>
          </a:p>
        </p:txBody>
      </p:sp>
      <p:sp>
        <p:nvSpPr>
          <p:cNvPr id="15" name="Text Box 19"/>
          <p:cNvSpPr txBox="1">
            <a:spLocks noChangeArrowheads="1"/>
          </p:cNvSpPr>
          <p:nvPr/>
        </p:nvSpPr>
        <p:spPr bwMode="auto">
          <a:xfrm>
            <a:off x="5757863" y="5067424"/>
            <a:ext cx="22685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a:solidFill>
                  <a:srgbClr val="000099"/>
                </a:solidFill>
                <a:latin typeface="+mn-lt"/>
                <a:ea typeface="黑体" panose="02010609060101010101" pitchFamily="2" charset="-122"/>
              </a:rPr>
              <a:t>数      据      部      分</a:t>
            </a:r>
          </a:p>
        </p:txBody>
      </p:sp>
      <p:sp>
        <p:nvSpPr>
          <p:cNvPr id="16" name="Line 22"/>
          <p:cNvSpPr>
            <a:spLocks noChangeShapeType="1"/>
          </p:cNvSpPr>
          <p:nvPr/>
        </p:nvSpPr>
        <p:spPr bwMode="auto">
          <a:xfrm>
            <a:off x="3381375" y="5678611"/>
            <a:ext cx="1871663"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17" name="Text Box 23"/>
          <p:cNvSpPr txBox="1">
            <a:spLocks noChangeArrowheads="1"/>
          </p:cNvSpPr>
          <p:nvPr/>
        </p:nvSpPr>
        <p:spPr bwMode="auto">
          <a:xfrm>
            <a:off x="4024313" y="5510336"/>
            <a:ext cx="649537"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a:solidFill>
                  <a:srgbClr val="000099"/>
                </a:solidFill>
                <a:latin typeface="+mn-lt"/>
                <a:ea typeface="黑体" panose="02010609060101010101" pitchFamily="2" charset="-122"/>
              </a:rPr>
              <a:t>选项</a:t>
            </a:r>
          </a:p>
        </p:txBody>
      </p:sp>
      <p:grpSp>
        <p:nvGrpSpPr>
          <p:cNvPr id="18" name="组合 26"/>
          <p:cNvGrpSpPr/>
          <p:nvPr/>
        </p:nvGrpSpPr>
        <p:grpSpPr bwMode="auto">
          <a:xfrm>
            <a:off x="2373313" y="3686299"/>
            <a:ext cx="5832475" cy="271462"/>
            <a:chOff x="1331640" y="1700808"/>
            <a:chExt cx="5832648" cy="344488"/>
          </a:xfrm>
        </p:grpSpPr>
        <p:sp>
          <p:nvSpPr>
            <p:cNvPr id="19" name="Line 25"/>
            <p:cNvSpPr>
              <a:spLocks noChangeShapeType="1"/>
            </p:cNvSpPr>
            <p:nvPr/>
          </p:nvSpPr>
          <p:spPr bwMode="auto">
            <a:xfrm>
              <a:off x="1331640" y="1700808"/>
              <a:ext cx="0" cy="338138"/>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20" name="Line 26"/>
            <p:cNvSpPr>
              <a:spLocks noChangeShapeType="1"/>
            </p:cNvSpPr>
            <p:nvPr/>
          </p:nvSpPr>
          <p:spPr bwMode="auto">
            <a:xfrm>
              <a:off x="7164288" y="1707158"/>
              <a:ext cx="0" cy="338138"/>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grpSp>
      <p:sp>
        <p:nvSpPr>
          <p:cNvPr id="21" name="Line 27"/>
          <p:cNvSpPr>
            <a:spLocks noChangeShapeType="1"/>
          </p:cNvSpPr>
          <p:nvPr/>
        </p:nvSpPr>
        <p:spPr bwMode="auto">
          <a:xfrm flipV="1">
            <a:off x="2373313" y="3818060"/>
            <a:ext cx="582136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22" name="Text Box 28"/>
          <p:cNvSpPr txBox="1">
            <a:spLocks noChangeArrowheads="1"/>
          </p:cNvSpPr>
          <p:nvPr/>
        </p:nvSpPr>
        <p:spPr bwMode="auto">
          <a:xfrm>
            <a:off x="4632325" y="3573016"/>
            <a:ext cx="1556836" cy="4001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2000" b="1" dirty="0">
                <a:solidFill>
                  <a:srgbClr val="000099"/>
                </a:solidFill>
                <a:latin typeface="+mn-lt"/>
                <a:ea typeface="黑体" panose="02010609060101010101" pitchFamily="2" charset="-122"/>
              </a:rPr>
              <a:t>IPv6 </a:t>
            </a:r>
            <a:r>
              <a:rPr lang="zh-CN" altLang="en-US" sz="2000" b="1" dirty="0">
                <a:solidFill>
                  <a:srgbClr val="000099"/>
                </a:solidFill>
                <a:latin typeface="+mn-lt"/>
                <a:ea typeface="黑体" panose="02010609060101010101" pitchFamily="2" charset="-122"/>
              </a:rPr>
              <a:t>数据报</a:t>
            </a:r>
          </a:p>
        </p:txBody>
      </p:sp>
      <p:cxnSp>
        <p:nvCxnSpPr>
          <p:cNvPr id="25" name="直接连接符 32"/>
          <p:cNvCxnSpPr>
            <a:cxnSpLocks noChangeShapeType="1"/>
          </p:cNvCxnSpPr>
          <p:nvPr/>
        </p:nvCxnSpPr>
        <p:spPr bwMode="auto">
          <a:xfrm>
            <a:off x="3411538" y="4570536"/>
            <a:ext cx="0" cy="431800"/>
          </a:xfrm>
          <a:prstGeom prst="line">
            <a:avLst/>
          </a:prstGeom>
          <a:noFill/>
          <a:ln w="19050" algn="ctr">
            <a:solidFill>
              <a:schemeClr val="tx1"/>
            </a:solidFill>
            <a:prstDash val="dash"/>
            <a:round/>
          </a:ln>
          <a:extLst>
            <a:ext uri="{909E8E84-426E-40DD-AFC4-6F175D3DCCD1}">
              <a14:hiddenFill xmlns:a14="http://schemas.microsoft.com/office/drawing/2010/main">
                <a:noFill/>
              </a14:hiddenFill>
            </a:ext>
          </a:extLst>
        </p:spPr>
      </p:cxnSp>
      <p:cxnSp>
        <p:nvCxnSpPr>
          <p:cNvPr id="26" name="直接连接符 34"/>
          <p:cNvCxnSpPr>
            <a:cxnSpLocks noChangeShapeType="1"/>
          </p:cNvCxnSpPr>
          <p:nvPr/>
        </p:nvCxnSpPr>
        <p:spPr bwMode="auto">
          <a:xfrm>
            <a:off x="8204200" y="4570536"/>
            <a:ext cx="0" cy="433388"/>
          </a:xfrm>
          <a:prstGeom prst="line">
            <a:avLst/>
          </a:prstGeom>
          <a:noFill/>
          <a:ln w="19050" algn="ctr">
            <a:solidFill>
              <a:schemeClr val="tx1"/>
            </a:solidFill>
            <a:prstDash val="dash"/>
            <a:round/>
          </a:ln>
          <a:extLst>
            <a:ext uri="{909E8E84-426E-40DD-AFC4-6F175D3DCCD1}">
              <a14:hiddenFill xmlns:a14="http://schemas.microsoft.com/office/drawing/2010/main">
                <a:noFill/>
              </a14:hiddenFill>
            </a:ext>
          </a:extLst>
        </p:spPr>
      </p:cxnSp>
      <p:sp>
        <p:nvSpPr>
          <p:cNvPr id="27" name="Text Box 23"/>
          <p:cNvSpPr txBox="1">
            <a:spLocks noChangeArrowheads="1"/>
          </p:cNvSpPr>
          <p:nvPr/>
        </p:nvSpPr>
        <p:spPr bwMode="auto">
          <a:xfrm>
            <a:off x="2432720" y="4557836"/>
            <a:ext cx="970137"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solidFill>
                  <a:srgbClr val="000099"/>
                </a:solidFill>
                <a:latin typeface="+mn-lt"/>
                <a:ea typeface="黑体" panose="02010609060101010101" pitchFamily="2" charset="-122"/>
              </a:rPr>
              <a:t>40 </a:t>
            </a:r>
            <a:r>
              <a:rPr lang="zh-CN" altLang="en-US" sz="1800" b="1" dirty="0">
                <a:solidFill>
                  <a:srgbClr val="000099"/>
                </a:solidFill>
                <a:latin typeface="+mn-lt"/>
                <a:ea typeface="黑体" panose="02010609060101010101" pitchFamily="2" charset="-122"/>
              </a:rPr>
              <a:t>字节</a:t>
            </a:r>
          </a:p>
        </p:txBody>
      </p:sp>
      <p:sp>
        <p:nvSpPr>
          <p:cNvPr id="28" name="Line 27"/>
          <p:cNvSpPr>
            <a:spLocks noChangeShapeType="1"/>
          </p:cNvSpPr>
          <p:nvPr/>
        </p:nvSpPr>
        <p:spPr bwMode="auto">
          <a:xfrm>
            <a:off x="3417888" y="4761036"/>
            <a:ext cx="4787900" cy="4763"/>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29" name="Text Box 23"/>
          <p:cNvSpPr txBox="1">
            <a:spLocks noChangeArrowheads="1"/>
          </p:cNvSpPr>
          <p:nvPr/>
        </p:nvSpPr>
        <p:spPr bwMode="auto">
          <a:xfrm>
            <a:off x="4768850" y="4578474"/>
            <a:ext cx="2116285"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a:solidFill>
                  <a:srgbClr val="000099"/>
                </a:solidFill>
                <a:latin typeface="+mn-lt"/>
                <a:ea typeface="黑体" panose="02010609060101010101" pitchFamily="2" charset="-122"/>
              </a:rPr>
              <a:t>不超过 </a:t>
            </a:r>
            <a:r>
              <a:rPr lang="en-US" altLang="zh-CN" sz="1800" b="1">
                <a:solidFill>
                  <a:srgbClr val="000099"/>
                </a:solidFill>
                <a:latin typeface="+mn-lt"/>
                <a:ea typeface="黑体" panose="02010609060101010101" pitchFamily="2" charset="-122"/>
              </a:rPr>
              <a:t>65535 </a:t>
            </a:r>
            <a:r>
              <a:rPr lang="zh-CN" altLang="en-US" sz="1800" b="1">
                <a:solidFill>
                  <a:srgbClr val="000099"/>
                </a:solidFill>
                <a:latin typeface="+mn-lt"/>
                <a:ea typeface="黑体" panose="02010609060101010101" pitchFamily="2" charset="-122"/>
              </a:rPr>
              <a:t>字节</a:t>
            </a:r>
          </a:p>
        </p:txBody>
      </p:sp>
      <p:sp>
        <p:nvSpPr>
          <p:cNvPr id="30" name="右箭头 28"/>
          <p:cNvSpPr>
            <a:spLocks noChangeArrowheads="1"/>
          </p:cNvSpPr>
          <p:nvPr/>
        </p:nvSpPr>
        <p:spPr bwMode="auto">
          <a:xfrm rot="10800000">
            <a:off x="1652587" y="4161904"/>
            <a:ext cx="720725" cy="203200"/>
          </a:xfrm>
          <a:prstGeom prst="rightArrow">
            <a:avLst>
              <a:gd name="adj1" fmla="val 50000"/>
              <a:gd name="adj2" fmla="val 162073"/>
            </a:avLst>
          </a:prstGeom>
          <a:solidFill>
            <a:srgbClr val="990000"/>
          </a:solidFill>
          <a:ln w="9525" algn="ctr">
            <a:solidFill>
              <a:schemeClr val="tx1"/>
            </a:solidFill>
            <a:round/>
          </a:ln>
        </p:spPr>
        <p:txBody>
          <a:bodyPr/>
          <a:lstStyle/>
          <a:p>
            <a:endParaRPr lang="zh-CN" altLang="en-US" sz="2000" b="1">
              <a:solidFill>
                <a:srgbClr val="000099"/>
              </a:solidFill>
              <a:latin typeface="+mn-lt"/>
              <a:ea typeface="黑体" panose="02010609060101010101" pitchFamily="2" charset="-122"/>
            </a:endParaRPr>
          </a:p>
        </p:txBody>
      </p:sp>
      <p:sp>
        <p:nvSpPr>
          <p:cNvPr id="31" name="Text Box 23"/>
          <p:cNvSpPr txBox="1">
            <a:spLocks noChangeArrowheads="1"/>
          </p:cNvSpPr>
          <p:nvPr/>
        </p:nvSpPr>
        <p:spPr bwMode="auto">
          <a:xfrm>
            <a:off x="1044088" y="4472431"/>
            <a:ext cx="1217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2000" b="1" dirty="0">
                <a:solidFill>
                  <a:srgbClr val="000099"/>
                </a:solidFill>
                <a:latin typeface="+mn-lt"/>
                <a:ea typeface="黑体" panose="02010609060101010101" pitchFamily="2" charset="-122"/>
              </a:rPr>
              <a:t>发送在前</a:t>
            </a:r>
          </a:p>
        </p:txBody>
      </p:sp>
      <p:sp>
        <p:nvSpPr>
          <p:cNvPr id="24" name="Line 3"/>
          <p:cNvSpPr>
            <a:spLocks noChangeShapeType="1"/>
          </p:cNvSpPr>
          <p:nvPr/>
        </p:nvSpPr>
        <p:spPr bwMode="auto">
          <a:xfrm>
            <a:off x="3414713" y="4002211"/>
            <a:ext cx="0" cy="5302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anose="02010609060101010101" pitchFamily="2" charset="-122"/>
            </a:endParaRPr>
          </a:p>
        </p:txBody>
      </p:sp>
      <p:sp>
        <p:nvSpPr>
          <p:cNvPr id="4" name="矩形 3"/>
          <p:cNvSpPr/>
          <p:nvPr/>
        </p:nvSpPr>
        <p:spPr bwMode="auto">
          <a:xfrm>
            <a:off x="3422650" y="4018086"/>
            <a:ext cx="4772025" cy="514350"/>
          </a:xfrm>
          <a:prstGeom prst="rect">
            <a:avLst/>
          </a:prstGeom>
          <a:solidFill>
            <a:srgbClr val="FFFF66"/>
          </a:solidFill>
          <a:ln w="9525" cap="flat" cmpd="sng" algn="ctr">
            <a:noFill/>
            <a:prstDash val="solid"/>
            <a:round/>
            <a:headEnd type="none" w="med" len="med"/>
            <a:tailEnd type="none" w="med" len="med"/>
          </a:ln>
          <a:effectLst/>
        </p:spPr>
        <p:txBody>
          <a:bodyPr/>
          <a:lstStyle/>
          <a:p>
            <a:pPr>
              <a:defRPr/>
            </a:pPr>
            <a:endParaRPr lang="zh-CN" altLang="en-US" sz="2000" b="1">
              <a:solidFill>
                <a:srgbClr val="000099"/>
              </a:solidFill>
              <a:latin typeface="+mn-lt"/>
              <a:ea typeface="黑体" panose="02010609060101010101" pitchFamily="2" charset="-122"/>
            </a:endParaRPr>
          </a:p>
        </p:txBody>
      </p:sp>
      <p:sp>
        <p:nvSpPr>
          <p:cNvPr id="23" name="Text Box 33"/>
          <p:cNvSpPr txBox="1">
            <a:spLocks noChangeArrowheads="1"/>
          </p:cNvSpPr>
          <p:nvPr/>
        </p:nvSpPr>
        <p:spPr bwMode="auto">
          <a:xfrm>
            <a:off x="3872880" y="4109010"/>
            <a:ext cx="39982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1" dirty="0">
                <a:solidFill>
                  <a:srgbClr val="000099"/>
                </a:solidFill>
                <a:latin typeface="+mn-lt"/>
                <a:ea typeface="黑体" panose="02010609060101010101" pitchFamily="2" charset="-122"/>
              </a:rPr>
              <a:t>有         效         载         荷</a:t>
            </a:r>
          </a:p>
        </p:txBody>
      </p:sp>
      <p:sp>
        <p:nvSpPr>
          <p:cNvPr id="37" name="矩形 36"/>
          <p:cNvSpPr/>
          <p:nvPr/>
        </p:nvSpPr>
        <p:spPr>
          <a:xfrm>
            <a:off x="1044088" y="6082992"/>
            <a:ext cx="8445415" cy="461665"/>
          </a:xfrm>
          <a:prstGeom prst="rect">
            <a:avLst/>
          </a:prstGeom>
        </p:spPr>
        <p:txBody>
          <a:bodyPr wrap="square">
            <a:spAutoFit/>
          </a:bodyPr>
          <a:lstStyle/>
          <a:p>
            <a:pPr algn="ctr"/>
            <a:r>
              <a:rPr lang="zh-CN" altLang="zh-CN" sz="2400" b="1" dirty="0">
                <a:latin typeface="+mn-lt"/>
                <a:ea typeface="黑体" panose="02010609060101010101" pitchFamily="2" charset="-122"/>
              </a:rPr>
              <a:t>具有多个可选扩展首部的</a:t>
            </a:r>
            <a:r>
              <a:rPr lang="en-US" altLang="zh-CN" sz="2400" b="1" dirty="0">
                <a:latin typeface="+mn-lt"/>
                <a:ea typeface="黑体" panose="02010609060101010101" pitchFamily="2" charset="-122"/>
              </a:rPr>
              <a:t> IPv6 </a:t>
            </a:r>
            <a:r>
              <a:rPr lang="zh-CN" altLang="zh-CN" sz="2400" b="1" dirty="0">
                <a:latin typeface="+mn-lt"/>
                <a:ea typeface="黑体" panose="02010609060101010101" pitchFamily="2" charset="-122"/>
              </a:rPr>
              <a:t>数据报的一般形式</a:t>
            </a:r>
            <a:endParaRPr lang="zh-CN" altLang="en-US" sz="2400" b="1" dirty="0">
              <a:latin typeface="+mn-lt"/>
              <a:ea typeface="黑体" panose="02010609060101010101" pitchFamily="2" charset="-122"/>
            </a:endParaRPr>
          </a:p>
        </p:txBody>
      </p:sp>
    </p:spTree>
    <p:extLst>
      <p:ext uri="{BB962C8B-B14F-4D97-AF65-F5344CB8AC3E}">
        <p14:creationId xmlns:p14="http://schemas.microsoft.com/office/powerpoint/2010/main" val="406804978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title"/>
          </p:nvPr>
        </p:nvSpPr>
        <p:spPr/>
        <p:txBody>
          <a:bodyPr/>
          <a:lstStyle/>
          <a:p>
            <a:pPr algn="ctr"/>
            <a:r>
              <a:rPr lang="en-US" altLang="zh-CN" dirty="0"/>
              <a:t>IPv6 </a:t>
            </a:r>
            <a:r>
              <a:rPr lang="zh-CN" altLang="en-US" dirty="0"/>
              <a:t>数据报的基本首部</a:t>
            </a:r>
          </a:p>
        </p:txBody>
      </p:sp>
      <p:sp>
        <p:nvSpPr>
          <p:cNvPr id="63283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en-US" altLang="zh-CN" sz="2800" dirty="0"/>
              <a:t>IPv6 </a:t>
            </a:r>
            <a:r>
              <a:rPr lang="zh-CN" altLang="en-US" sz="2800" dirty="0"/>
              <a:t>将首部长度变为</a:t>
            </a:r>
            <a:r>
              <a:rPr lang="zh-CN" altLang="en-US" sz="2800" dirty="0">
                <a:solidFill>
                  <a:srgbClr val="FF0000"/>
                </a:solidFill>
              </a:rPr>
              <a:t>固定的</a:t>
            </a:r>
            <a:r>
              <a:rPr lang="zh-CN" altLang="en-US" sz="2800" dirty="0"/>
              <a:t> </a:t>
            </a:r>
            <a:r>
              <a:rPr lang="en-US" altLang="zh-CN" sz="2800" dirty="0">
                <a:solidFill>
                  <a:srgbClr val="FF0000"/>
                </a:solidFill>
              </a:rPr>
              <a:t>40 </a:t>
            </a:r>
            <a:r>
              <a:rPr lang="zh-CN" altLang="en-US" sz="2800" dirty="0">
                <a:solidFill>
                  <a:srgbClr val="FF0000"/>
                </a:solidFill>
              </a:rPr>
              <a:t>字节，</a:t>
            </a:r>
            <a:r>
              <a:rPr lang="zh-CN" altLang="en-US" sz="2800" dirty="0"/>
              <a:t>称为</a:t>
            </a:r>
            <a:r>
              <a:rPr lang="zh-CN" altLang="en-US" sz="2800" dirty="0">
                <a:solidFill>
                  <a:srgbClr val="FF0000"/>
                </a:solidFill>
              </a:rPr>
              <a:t>基本首部。</a:t>
            </a:r>
            <a:endParaRPr lang="en-US" altLang="zh-CN" sz="2800" dirty="0">
              <a:solidFill>
                <a:srgbClr val="FF0000"/>
              </a:solidFill>
            </a:endParaRPr>
          </a:p>
          <a:p>
            <a:r>
              <a:rPr lang="zh-CN" altLang="zh-CN" sz="2800" dirty="0"/>
              <a:t>把首部中不必要的功能取消了，使得</a:t>
            </a:r>
            <a:r>
              <a:rPr lang="en-US" altLang="zh-CN" sz="2800" dirty="0"/>
              <a:t> IPv6 </a:t>
            </a:r>
            <a:r>
              <a:rPr lang="zh-CN" altLang="zh-CN" sz="2800" dirty="0"/>
              <a:t>首部的字段数减少到只有</a:t>
            </a:r>
            <a:r>
              <a:rPr lang="en-US" altLang="zh-CN" sz="2800" dirty="0"/>
              <a:t> 8 </a:t>
            </a:r>
            <a:r>
              <a:rPr lang="zh-CN" altLang="zh-CN" sz="2800" dirty="0"/>
              <a:t>个</a:t>
            </a:r>
            <a:r>
              <a:rPr lang="zh-CN" altLang="en-US" sz="2800" dirty="0"/>
              <a:t>。</a:t>
            </a:r>
            <a:endParaRPr lang="en-US" altLang="zh-CN" sz="2800" dirty="0"/>
          </a:p>
          <a:p>
            <a:r>
              <a:rPr lang="en-US" altLang="zh-CN" sz="2800" dirty="0"/>
              <a:t>IPv6 </a:t>
            </a:r>
            <a:r>
              <a:rPr lang="zh-CN" altLang="zh-CN" sz="2800" dirty="0"/>
              <a:t>对首部中的某些字段进行了如下的</a:t>
            </a:r>
            <a:r>
              <a:rPr lang="zh-CN" altLang="zh-CN" sz="2800" dirty="0">
                <a:solidFill>
                  <a:srgbClr val="FF0000"/>
                </a:solidFill>
              </a:rPr>
              <a:t>更改</a:t>
            </a:r>
            <a:r>
              <a:rPr lang="zh-CN" altLang="en-US" sz="2800" dirty="0">
                <a:solidFill>
                  <a:srgbClr val="FF0000"/>
                </a:solidFill>
              </a:rPr>
              <a:t>：</a:t>
            </a:r>
            <a:endParaRPr lang="en-US" altLang="zh-CN" sz="2800" dirty="0">
              <a:solidFill>
                <a:srgbClr val="FF0000"/>
              </a:solidFill>
            </a:endParaRPr>
          </a:p>
          <a:p>
            <a:pPr lvl="1"/>
            <a:endParaRPr lang="zh-CN" altLang="en-US" sz="2400" dirty="0"/>
          </a:p>
        </p:txBody>
      </p:sp>
      <p:graphicFrame>
        <p:nvGraphicFramePr>
          <p:cNvPr id="3" name="表格 2"/>
          <p:cNvGraphicFramePr>
            <a:graphicFrameLocks noGrp="1"/>
          </p:cNvGraphicFramePr>
          <p:nvPr/>
        </p:nvGraphicFramePr>
        <p:xfrm>
          <a:off x="848544" y="3356992"/>
          <a:ext cx="8640960" cy="2873312"/>
        </p:xfrm>
        <a:graphic>
          <a:graphicData uri="http://schemas.openxmlformats.org/drawingml/2006/table">
            <a:tbl>
              <a:tblPr firstRow="1" bandRow="1">
                <a:tableStyleId>{5C22544A-7EE6-4342-B048-85BDC9FD1C3A}</a:tableStyleId>
              </a:tblPr>
              <a:tblGrid>
                <a:gridCol w="4320480">
                  <a:extLst>
                    <a:ext uri="{9D8B030D-6E8A-4147-A177-3AD203B41FA5}">
                      <a16:colId xmlns:a16="http://schemas.microsoft.com/office/drawing/2014/main" val="20000"/>
                    </a:ext>
                  </a:extLst>
                </a:gridCol>
                <a:gridCol w="4320480">
                  <a:extLst>
                    <a:ext uri="{9D8B030D-6E8A-4147-A177-3AD203B41FA5}">
                      <a16:colId xmlns:a16="http://schemas.microsoft.com/office/drawing/2014/main" val="20001"/>
                    </a:ext>
                  </a:extLst>
                </a:gridCol>
              </a:tblGrid>
              <a:tr h="370840">
                <a:tc>
                  <a:txBody>
                    <a:bodyPr/>
                    <a:lstStyle/>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取消了首部长度字段</a:t>
                      </a:r>
                      <a:r>
                        <a:rPr lang="zh-CN" altLang="en-US" sz="2400" dirty="0">
                          <a:solidFill>
                            <a:srgbClr val="000099"/>
                          </a:solidFill>
                          <a:latin typeface="+mn-lt"/>
                          <a:ea typeface="黑体" panose="02010609060101010101" pitchFamily="2" charset="-122"/>
                        </a:rPr>
                        <a:t>，</a:t>
                      </a:r>
                      <a:r>
                        <a:rPr lang="zh-CN" altLang="zh-CN" sz="2400" b="1" kern="1200" dirty="0">
                          <a:solidFill>
                            <a:srgbClr val="000099"/>
                          </a:solidFill>
                          <a:latin typeface="+mn-lt"/>
                          <a:ea typeface="黑体" panose="02010609060101010101" pitchFamily="2" charset="-122"/>
                          <a:cs typeface="+mn-cs"/>
                        </a:rPr>
                        <a:t>因为首部长度是固定的</a:t>
                      </a:r>
                      <a:r>
                        <a:rPr lang="en-US" altLang="zh-CN" sz="2400" b="1" kern="1200" dirty="0">
                          <a:solidFill>
                            <a:srgbClr val="000099"/>
                          </a:solidFill>
                          <a:latin typeface="+mn-lt"/>
                          <a:ea typeface="黑体" panose="02010609060101010101" pitchFamily="2" charset="-122"/>
                          <a:cs typeface="+mn-cs"/>
                        </a:rPr>
                        <a:t> 40 </a:t>
                      </a:r>
                      <a:r>
                        <a:rPr lang="zh-CN" altLang="zh-CN" sz="2400" b="1" kern="1200" dirty="0">
                          <a:solidFill>
                            <a:srgbClr val="000099"/>
                          </a:solidFill>
                          <a:latin typeface="+mn-lt"/>
                          <a:ea typeface="黑体" panose="02010609060101010101" pitchFamily="2" charset="-122"/>
                          <a:cs typeface="+mn-cs"/>
                        </a:rPr>
                        <a:t>字节</a:t>
                      </a:r>
                      <a:r>
                        <a:rPr lang="zh-CN" altLang="en-US" sz="2400" b="1" kern="1200" dirty="0">
                          <a:solidFill>
                            <a:srgbClr val="000099"/>
                          </a:solidFill>
                          <a:latin typeface="+mn-lt"/>
                          <a:ea typeface="黑体" panose="02010609060101010101" pitchFamily="2" charset="-122"/>
                          <a:cs typeface="+mn-cs"/>
                        </a:rPr>
                        <a:t>；</a:t>
                      </a:r>
                      <a:endParaRPr lang="en-US" altLang="zh-CN" sz="2400" b="1" kern="1200" dirty="0">
                        <a:solidFill>
                          <a:srgbClr val="000099"/>
                        </a:solidFill>
                        <a:latin typeface="+mn-lt"/>
                        <a:ea typeface="黑体" panose="02010609060101010101" pitchFamily="2" charset="-122"/>
                        <a:cs typeface="+mn-cs"/>
                      </a:endParaRPr>
                    </a:p>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取消了服务类型字段</a:t>
                      </a:r>
                      <a:r>
                        <a:rPr lang="zh-CN" altLang="en-US" sz="2400" dirty="0">
                          <a:solidFill>
                            <a:srgbClr val="000099"/>
                          </a:solidFill>
                          <a:latin typeface="+mn-lt"/>
                          <a:ea typeface="黑体" panose="02010609060101010101" pitchFamily="2" charset="-122"/>
                        </a:rPr>
                        <a:t>；</a:t>
                      </a:r>
                      <a:endParaRPr lang="en-US" altLang="zh-CN" sz="2400" dirty="0">
                        <a:solidFill>
                          <a:srgbClr val="000099"/>
                        </a:solidFill>
                        <a:latin typeface="+mn-lt"/>
                        <a:ea typeface="黑体" panose="02010609060101010101" pitchFamily="2" charset="-122"/>
                      </a:endParaRPr>
                    </a:p>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取消了总长度字段</a:t>
                      </a:r>
                      <a:r>
                        <a:rPr lang="zh-CN" altLang="en-US" sz="2400" dirty="0">
                          <a:solidFill>
                            <a:srgbClr val="000099"/>
                          </a:solidFill>
                          <a:latin typeface="+mn-lt"/>
                          <a:ea typeface="黑体" panose="02010609060101010101" pitchFamily="2" charset="-122"/>
                        </a:rPr>
                        <a:t>，</a:t>
                      </a:r>
                      <a:r>
                        <a:rPr lang="zh-CN" altLang="zh-CN" sz="2400" dirty="0">
                          <a:solidFill>
                            <a:srgbClr val="000099"/>
                          </a:solidFill>
                          <a:latin typeface="+mn-lt"/>
                          <a:ea typeface="黑体" panose="02010609060101010101" pitchFamily="2" charset="-122"/>
                        </a:rPr>
                        <a:t>改用有效载荷长度字段</a:t>
                      </a:r>
                      <a:r>
                        <a:rPr lang="zh-CN" altLang="en-US" sz="2400" dirty="0">
                          <a:solidFill>
                            <a:srgbClr val="000099"/>
                          </a:solidFill>
                          <a:latin typeface="+mn-lt"/>
                          <a:ea typeface="黑体" panose="02010609060101010101" pitchFamily="2" charset="-122"/>
                        </a:rPr>
                        <a:t>；</a:t>
                      </a:r>
                      <a:endParaRPr lang="en-US" altLang="zh-CN" sz="2400" dirty="0">
                        <a:solidFill>
                          <a:srgbClr val="000099"/>
                        </a:solidFill>
                        <a:latin typeface="+mn-lt"/>
                        <a:ea typeface="黑体" panose="02010609060101010101" pitchFamily="2"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342900" marR="0" lvl="0" indent="-342900" algn="l" defTabSz="914400" rtl="0" eaLnBrk="1" fontAlgn="auto" latinLnBrk="0" hangingPunct="1">
                        <a:lnSpc>
                          <a:spcPct val="110000"/>
                        </a:lnSpc>
                        <a:spcBef>
                          <a:spcPts val="0"/>
                        </a:spcBef>
                        <a:spcAft>
                          <a:spcPts val="0"/>
                        </a:spcAft>
                        <a:buClrTx/>
                        <a:buSzPct val="80000"/>
                        <a:buFont typeface="Wingdings" panose="05000000000000000000" pitchFamily="2" charset="2"/>
                        <a:buChar char="l"/>
                        <a:defRPr/>
                      </a:pPr>
                      <a:r>
                        <a:rPr lang="zh-CN" altLang="zh-CN" sz="2400" dirty="0">
                          <a:solidFill>
                            <a:srgbClr val="000099"/>
                          </a:solidFill>
                          <a:latin typeface="+mn-lt"/>
                          <a:ea typeface="黑体" panose="02010609060101010101" pitchFamily="2" charset="-122"/>
                        </a:rPr>
                        <a:t>把</a:t>
                      </a:r>
                      <a:r>
                        <a:rPr lang="en-US" altLang="zh-CN" sz="2400" dirty="0">
                          <a:solidFill>
                            <a:srgbClr val="000099"/>
                          </a:solidFill>
                          <a:latin typeface="+mn-lt"/>
                          <a:ea typeface="黑体" panose="02010609060101010101" pitchFamily="2" charset="-122"/>
                        </a:rPr>
                        <a:t> TTL </a:t>
                      </a:r>
                      <a:r>
                        <a:rPr lang="zh-CN" altLang="zh-CN" sz="2400" dirty="0">
                          <a:solidFill>
                            <a:srgbClr val="000099"/>
                          </a:solidFill>
                          <a:latin typeface="+mn-lt"/>
                          <a:ea typeface="黑体" panose="02010609060101010101" pitchFamily="2" charset="-122"/>
                        </a:rPr>
                        <a:t>字段改称为跳数限制字段</a:t>
                      </a:r>
                      <a:r>
                        <a:rPr lang="zh-CN" altLang="en-US" sz="2400" dirty="0">
                          <a:solidFill>
                            <a:srgbClr val="000099"/>
                          </a:solidFill>
                          <a:latin typeface="+mn-lt"/>
                          <a:ea typeface="黑体" panose="02010609060101010101" pitchFamily="2" charset="-122"/>
                        </a:rPr>
                        <a:t>；</a:t>
                      </a:r>
                      <a:endParaRPr lang="en-US" altLang="zh-CN" sz="2400" dirty="0">
                        <a:solidFill>
                          <a:srgbClr val="000099"/>
                        </a:solidFill>
                        <a:latin typeface="+mn-lt"/>
                        <a:ea typeface="黑体" panose="02010609060101010101" pitchFamily="2" charset="-122"/>
                      </a:endParaRPr>
                    </a:p>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取消了协议字段，改用下一个首部字段</a:t>
                      </a:r>
                      <a:r>
                        <a:rPr lang="zh-CN" altLang="en-US" sz="2400" dirty="0">
                          <a:solidFill>
                            <a:srgbClr val="000099"/>
                          </a:solidFill>
                          <a:latin typeface="+mn-lt"/>
                          <a:ea typeface="黑体" panose="02010609060101010101" pitchFamily="2" charset="-122"/>
                        </a:rPr>
                        <a:t>；</a:t>
                      </a:r>
                      <a:endParaRPr lang="en-US" altLang="zh-CN" sz="2400" dirty="0">
                        <a:solidFill>
                          <a:srgbClr val="000099"/>
                        </a:solidFill>
                        <a:latin typeface="+mn-lt"/>
                        <a:ea typeface="黑体" panose="02010609060101010101" pitchFamily="2" charset="-122"/>
                      </a:endParaRPr>
                    </a:p>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取消了检验和字段</a:t>
                      </a:r>
                      <a:r>
                        <a:rPr lang="zh-CN" altLang="en-US" sz="2400" dirty="0">
                          <a:solidFill>
                            <a:srgbClr val="000099"/>
                          </a:solidFill>
                          <a:latin typeface="+mn-lt"/>
                          <a:ea typeface="黑体" panose="02010609060101010101" pitchFamily="2" charset="-122"/>
                        </a:rPr>
                        <a:t>；</a:t>
                      </a:r>
                      <a:endParaRPr lang="en-US" altLang="zh-CN" sz="2400" dirty="0">
                        <a:solidFill>
                          <a:srgbClr val="000099"/>
                        </a:solidFill>
                        <a:latin typeface="+mn-lt"/>
                        <a:ea typeface="黑体" panose="02010609060101010101" pitchFamily="2" charset="-122"/>
                      </a:endParaRPr>
                    </a:p>
                    <a:p>
                      <a:pPr marL="342900" lvl="0" indent="-342900">
                        <a:lnSpc>
                          <a:spcPct val="110000"/>
                        </a:lnSpc>
                        <a:buSzPct val="80000"/>
                        <a:buFont typeface="Wingdings" panose="05000000000000000000" pitchFamily="2" charset="2"/>
                        <a:buChar char="l"/>
                      </a:pPr>
                      <a:r>
                        <a:rPr lang="zh-CN" altLang="zh-CN" sz="2400" dirty="0">
                          <a:solidFill>
                            <a:srgbClr val="000099"/>
                          </a:solidFill>
                          <a:latin typeface="+mn-lt"/>
                          <a:ea typeface="黑体" panose="02010609060101010101" pitchFamily="2" charset="-122"/>
                        </a:rPr>
                        <a:t>取消了选项字段，而用扩展首部来实现选项功能。</a:t>
                      </a:r>
                      <a:endParaRPr lang="zh-CN" altLang="en-US" sz="2400" dirty="0">
                        <a:solidFill>
                          <a:srgbClr val="000099"/>
                        </a:solidFill>
                        <a:latin typeface="+mn-lt"/>
                        <a:ea typeface="黑体" panose="02010609060101010101" pitchFamily="2"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40089243"/>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1998364"/>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anose="02010609060101010101" pitchFamily="2" charset="-122"/>
              </a:rPr>
              <a:t>固</a:t>
            </a:r>
          </a:p>
          <a:p>
            <a:pPr defTabSz="762000" eaLnBrk="0" hangingPunct="0">
              <a:lnSpc>
                <a:spcPct val="90000"/>
              </a:lnSpc>
            </a:pPr>
            <a:r>
              <a:rPr kumimoji="1" lang="zh-CN" altLang="en-US" sz="2000" b="1">
                <a:solidFill>
                  <a:srgbClr val="0000CC"/>
                </a:solidFill>
                <a:latin typeface="+mn-lt"/>
                <a:ea typeface="黑体" panose="02010609060101010101" pitchFamily="2" charset="-122"/>
              </a:rPr>
              <a:t>定</a:t>
            </a:r>
          </a:p>
          <a:p>
            <a:pPr defTabSz="762000" eaLnBrk="0" hangingPunct="0">
              <a:lnSpc>
                <a:spcPct val="90000"/>
              </a:lnSpc>
            </a:pPr>
            <a:r>
              <a:rPr kumimoji="1" lang="zh-CN" altLang="en-US" sz="2000" b="1">
                <a:solidFill>
                  <a:srgbClr val="0000CC"/>
                </a:solidFill>
                <a:latin typeface="+mn-lt"/>
                <a:ea typeface="黑体" panose="02010609060101010101" pitchFamily="2" charset="-122"/>
              </a:rPr>
              <a:t>部</a:t>
            </a:r>
          </a:p>
          <a:p>
            <a:pPr defTabSz="762000" eaLnBrk="0" hangingPunct="0">
              <a:lnSpc>
                <a:spcPct val="90000"/>
              </a:lnSpc>
            </a:pPr>
            <a:r>
              <a:rPr kumimoji="1" lang="zh-CN" altLang="en-US" sz="2000" b="1">
                <a:solidFill>
                  <a:srgbClr val="0000CC"/>
                </a:solidFill>
                <a:latin typeface="+mn-lt"/>
                <a:ea typeface="黑体" panose="02010609060101010101" pitchFamily="2" charset="-122"/>
              </a:rPr>
              <a:t>分</a:t>
            </a:r>
          </a:p>
        </p:txBody>
      </p:sp>
      <p:sp>
        <p:nvSpPr>
          <p:cNvPr id="379958" name="Rectangle 54"/>
          <p:cNvSpPr>
            <a:spLocks noChangeArrowheads="1"/>
          </p:cNvSpPr>
          <p:nvPr/>
        </p:nvSpPr>
        <p:spPr bwMode="auto">
          <a:xfrm>
            <a:off x="507339" y="3654126"/>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可变</a:t>
            </a:r>
          </a:p>
          <a:p>
            <a:pPr defTabSz="762000" eaLnBrk="0" hangingPunct="0"/>
            <a:r>
              <a:rPr kumimoji="1" lang="zh-CN" altLang="en-US" sz="2000" b="1">
                <a:solidFill>
                  <a:srgbClr val="0000CC"/>
                </a:solidFill>
                <a:latin typeface="+mn-lt"/>
                <a:ea typeface="黑体" panose="02010609060101010101" pitchFamily="2" charset="-122"/>
              </a:rPr>
              <a:t>部分</a:t>
            </a:r>
          </a:p>
        </p:txBody>
      </p:sp>
      <p:sp>
        <p:nvSpPr>
          <p:cNvPr id="379910" name="Line 6"/>
          <p:cNvSpPr>
            <a:spLocks noChangeShapeType="1"/>
          </p:cNvSpPr>
          <p:nvPr/>
        </p:nvSpPr>
        <p:spPr bwMode="auto">
          <a:xfrm>
            <a:off x="2490259" y="5911551"/>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12" name="Rectangle 8"/>
          <p:cNvSpPr>
            <a:spLocks noChangeArrowheads="1"/>
          </p:cNvSpPr>
          <p:nvPr/>
        </p:nvSpPr>
        <p:spPr bwMode="auto">
          <a:xfrm>
            <a:off x="3351875" y="1596727"/>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4" name="Rectangle 90"/>
          <p:cNvSpPr>
            <a:spLocks noChangeArrowheads="1"/>
          </p:cNvSpPr>
          <p:nvPr/>
        </p:nvSpPr>
        <p:spPr bwMode="auto">
          <a:xfrm>
            <a:off x="2457583" y="5220989"/>
            <a:ext cx="1559851" cy="449262"/>
          </a:xfrm>
          <a:prstGeom prst="rect">
            <a:avLst/>
          </a:prstGeom>
          <a:solidFill>
            <a:srgbClr val="CCECFF"/>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4" name="Rectangle 10"/>
          <p:cNvSpPr>
            <a:spLocks noChangeArrowheads="1"/>
          </p:cNvSpPr>
          <p:nvPr/>
        </p:nvSpPr>
        <p:spPr bwMode="auto">
          <a:xfrm>
            <a:off x="1231371" y="1587201"/>
            <a:ext cx="8519848" cy="2643188"/>
          </a:xfrm>
          <a:prstGeom prst="rect">
            <a:avLst/>
          </a:prstGeom>
          <a:solidFill>
            <a:srgbClr val="CCECFF"/>
          </a:solidFill>
          <a:ln w="254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5" name="Rectangle 11"/>
          <p:cNvSpPr>
            <a:spLocks noChangeArrowheads="1"/>
          </p:cNvSpPr>
          <p:nvPr/>
        </p:nvSpPr>
        <p:spPr bwMode="auto">
          <a:xfrm>
            <a:off x="1246850" y="4241501"/>
            <a:ext cx="8485452" cy="681038"/>
          </a:xfrm>
          <a:prstGeom prst="rect">
            <a:avLst/>
          </a:prstGeom>
          <a:solidFill>
            <a:srgbClr val="FFFF99"/>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6" name="Line 12"/>
          <p:cNvSpPr>
            <a:spLocks noChangeShapeType="1"/>
          </p:cNvSpPr>
          <p:nvPr/>
        </p:nvSpPr>
        <p:spPr bwMode="auto">
          <a:xfrm>
            <a:off x="1226212" y="2038051"/>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7" name="Line 13"/>
          <p:cNvSpPr>
            <a:spLocks noChangeShapeType="1"/>
          </p:cNvSpPr>
          <p:nvPr/>
        </p:nvSpPr>
        <p:spPr bwMode="auto">
          <a:xfrm>
            <a:off x="1226212" y="24809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8" name="Line 14"/>
          <p:cNvSpPr>
            <a:spLocks noChangeShapeType="1"/>
          </p:cNvSpPr>
          <p:nvPr/>
        </p:nvSpPr>
        <p:spPr bwMode="auto">
          <a:xfrm>
            <a:off x="1226212" y="292546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19" name="Line 15"/>
          <p:cNvSpPr>
            <a:spLocks noChangeShapeType="1"/>
          </p:cNvSpPr>
          <p:nvPr/>
        </p:nvSpPr>
        <p:spPr bwMode="auto">
          <a:xfrm>
            <a:off x="1226212" y="33636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0" name="Line 16"/>
          <p:cNvSpPr>
            <a:spLocks noChangeShapeType="1"/>
          </p:cNvSpPr>
          <p:nvPr/>
        </p:nvSpPr>
        <p:spPr bwMode="auto">
          <a:xfrm>
            <a:off x="1226212" y="3808114"/>
            <a:ext cx="8535326"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1" name="Line 17"/>
          <p:cNvSpPr>
            <a:spLocks noChangeShapeType="1"/>
          </p:cNvSpPr>
          <p:nvPr/>
        </p:nvSpPr>
        <p:spPr bwMode="auto">
          <a:xfrm>
            <a:off x="2275285"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2" name="Line 18"/>
          <p:cNvSpPr>
            <a:spLocks noChangeShapeType="1"/>
          </p:cNvSpPr>
          <p:nvPr/>
        </p:nvSpPr>
        <p:spPr bwMode="auto">
          <a:xfrm>
            <a:off x="3341556" y="1595139"/>
            <a:ext cx="0" cy="44291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3" name="Line 19"/>
          <p:cNvSpPr>
            <a:spLocks noChangeShapeType="1"/>
          </p:cNvSpPr>
          <p:nvPr/>
        </p:nvSpPr>
        <p:spPr bwMode="auto">
          <a:xfrm>
            <a:off x="3341556" y="2490489"/>
            <a:ext cx="0" cy="4318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4" name="Line 20"/>
          <p:cNvSpPr>
            <a:spLocks noChangeShapeType="1"/>
          </p:cNvSpPr>
          <p:nvPr/>
        </p:nvSpPr>
        <p:spPr bwMode="auto">
          <a:xfrm>
            <a:off x="5479256" y="1595139"/>
            <a:ext cx="0" cy="13271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5" name="Line 21"/>
          <p:cNvSpPr>
            <a:spLocks noChangeShapeType="1"/>
          </p:cNvSpPr>
          <p:nvPr/>
        </p:nvSpPr>
        <p:spPr bwMode="auto">
          <a:xfrm flipV="1">
            <a:off x="7615238" y="3803351"/>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6" name="Line 22"/>
          <p:cNvSpPr>
            <a:spLocks noChangeShapeType="1"/>
          </p:cNvSpPr>
          <p:nvPr/>
        </p:nvSpPr>
        <p:spPr bwMode="auto">
          <a:xfrm>
            <a:off x="6347752" y="2047576"/>
            <a:ext cx="0" cy="4333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27" name="Rectangle 23"/>
          <p:cNvSpPr>
            <a:spLocks noChangeArrowheads="1"/>
          </p:cNvSpPr>
          <p:nvPr/>
        </p:nvSpPr>
        <p:spPr bwMode="auto">
          <a:xfrm>
            <a:off x="1169459"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379928" name="Rectangle 24"/>
          <p:cNvSpPr>
            <a:spLocks noChangeArrowheads="1"/>
          </p:cNvSpPr>
          <p:nvPr/>
        </p:nvSpPr>
        <p:spPr bwMode="auto">
          <a:xfrm>
            <a:off x="218241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379929" name="Rectangle 25"/>
          <p:cNvSpPr>
            <a:spLocks noChangeArrowheads="1"/>
          </p:cNvSpPr>
          <p:nvPr/>
        </p:nvSpPr>
        <p:spPr bwMode="auto">
          <a:xfrm>
            <a:off x="326072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8</a:t>
            </a:r>
          </a:p>
        </p:txBody>
      </p:sp>
      <p:sp>
        <p:nvSpPr>
          <p:cNvPr id="379930" name="Rectangle 26"/>
          <p:cNvSpPr>
            <a:spLocks noChangeArrowheads="1"/>
          </p:cNvSpPr>
          <p:nvPr/>
        </p:nvSpPr>
        <p:spPr bwMode="auto">
          <a:xfrm>
            <a:off x="5374350"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379931" name="Rectangle 27"/>
          <p:cNvSpPr>
            <a:spLocks noChangeArrowheads="1"/>
          </p:cNvSpPr>
          <p:nvPr/>
        </p:nvSpPr>
        <p:spPr bwMode="auto">
          <a:xfrm>
            <a:off x="6237685"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19</a:t>
            </a:r>
          </a:p>
        </p:txBody>
      </p:sp>
      <p:sp>
        <p:nvSpPr>
          <p:cNvPr id="379932" name="Rectangle 28"/>
          <p:cNvSpPr>
            <a:spLocks noChangeArrowheads="1"/>
          </p:cNvSpPr>
          <p:nvPr/>
        </p:nvSpPr>
        <p:spPr bwMode="auto">
          <a:xfrm>
            <a:off x="7510331"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9933" name="Rectangle 29"/>
          <p:cNvSpPr>
            <a:spLocks noChangeArrowheads="1"/>
          </p:cNvSpPr>
          <p:nvPr/>
        </p:nvSpPr>
        <p:spPr bwMode="auto">
          <a:xfrm>
            <a:off x="9365986"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379934" name="Rectangle 30"/>
          <p:cNvSpPr>
            <a:spLocks noChangeArrowheads="1"/>
          </p:cNvSpPr>
          <p:nvPr/>
        </p:nvSpPr>
        <p:spPr bwMode="auto">
          <a:xfrm>
            <a:off x="1331120" y="1622126"/>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379935" name="Rectangle 31"/>
          <p:cNvSpPr>
            <a:spLocks noChangeArrowheads="1"/>
          </p:cNvSpPr>
          <p:nvPr/>
        </p:nvSpPr>
        <p:spPr bwMode="auto">
          <a:xfrm>
            <a:off x="5542889" y="209837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标志</a:t>
            </a:r>
          </a:p>
        </p:txBody>
      </p:sp>
      <p:sp>
        <p:nvSpPr>
          <p:cNvPr id="379936" name="Rectangle 32"/>
          <p:cNvSpPr>
            <a:spLocks noChangeArrowheads="1"/>
          </p:cNvSpPr>
          <p:nvPr/>
        </p:nvSpPr>
        <p:spPr bwMode="auto">
          <a:xfrm>
            <a:off x="1544374" y="250318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生 存 时 间</a:t>
            </a:r>
          </a:p>
        </p:txBody>
      </p:sp>
      <p:sp>
        <p:nvSpPr>
          <p:cNvPr id="379937" name="Rectangle 33"/>
          <p:cNvSpPr>
            <a:spLocks noChangeArrowheads="1"/>
          </p:cNvSpPr>
          <p:nvPr/>
        </p:nvSpPr>
        <p:spPr bwMode="auto">
          <a:xfrm>
            <a:off x="3852334" y="2503189"/>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协    议</a:t>
            </a:r>
          </a:p>
        </p:txBody>
      </p:sp>
      <p:sp>
        <p:nvSpPr>
          <p:cNvPr id="379938" name="Rectangle 34"/>
          <p:cNvSpPr>
            <a:spLocks noChangeArrowheads="1"/>
          </p:cNvSpPr>
          <p:nvPr/>
        </p:nvSpPr>
        <p:spPr bwMode="auto">
          <a:xfrm>
            <a:off x="2784344" y="209837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标    识</a:t>
            </a:r>
          </a:p>
        </p:txBody>
      </p:sp>
      <p:sp>
        <p:nvSpPr>
          <p:cNvPr id="379939" name="Rectangle 35"/>
          <p:cNvSpPr>
            <a:spLocks noChangeArrowheads="1"/>
          </p:cNvSpPr>
          <p:nvPr/>
        </p:nvSpPr>
        <p:spPr bwMode="auto">
          <a:xfrm>
            <a:off x="3663157" y="162212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区 分 服 务</a:t>
            </a:r>
          </a:p>
        </p:txBody>
      </p:sp>
      <p:sp>
        <p:nvSpPr>
          <p:cNvPr id="379940" name="Rectangle 36"/>
          <p:cNvSpPr>
            <a:spLocks noChangeArrowheads="1"/>
          </p:cNvSpPr>
          <p:nvPr/>
        </p:nvSpPr>
        <p:spPr bwMode="auto">
          <a:xfrm>
            <a:off x="7049427" y="162212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总   长   度</a:t>
            </a:r>
          </a:p>
        </p:txBody>
      </p:sp>
      <p:sp>
        <p:nvSpPr>
          <p:cNvPr id="379941" name="Rectangle 37"/>
          <p:cNvSpPr>
            <a:spLocks noChangeArrowheads="1"/>
          </p:cNvSpPr>
          <p:nvPr/>
        </p:nvSpPr>
        <p:spPr bwMode="auto">
          <a:xfrm>
            <a:off x="7343511" y="20983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片   偏   移</a:t>
            </a:r>
          </a:p>
        </p:txBody>
      </p:sp>
      <p:sp>
        <p:nvSpPr>
          <p:cNvPr id="379942" name="Rectangle 38"/>
          <p:cNvSpPr>
            <a:spLocks noChangeArrowheads="1"/>
          </p:cNvSpPr>
          <p:nvPr/>
        </p:nvSpPr>
        <p:spPr bwMode="auto">
          <a:xfrm>
            <a:off x="8127736" y="383192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填    充</a:t>
            </a:r>
          </a:p>
        </p:txBody>
      </p:sp>
      <p:sp>
        <p:nvSpPr>
          <p:cNvPr id="379943" name="Rectangle 39"/>
          <p:cNvSpPr>
            <a:spLocks noChangeArrowheads="1"/>
          </p:cNvSpPr>
          <p:nvPr/>
        </p:nvSpPr>
        <p:spPr bwMode="auto">
          <a:xfrm>
            <a:off x="6419983" y="2503189"/>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   检   验   和</a:t>
            </a:r>
          </a:p>
        </p:txBody>
      </p:sp>
      <p:sp>
        <p:nvSpPr>
          <p:cNvPr id="379944" name="Rectangle 40"/>
          <p:cNvSpPr>
            <a:spLocks noChangeArrowheads="1"/>
          </p:cNvSpPr>
          <p:nvPr/>
        </p:nvSpPr>
        <p:spPr bwMode="auto">
          <a:xfrm>
            <a:off x="4784461" y="29619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源   地   址</a:t>
            </a:r>
          </a:p>
        </p:txBody>
      </p:sp>
      <p:sp>
        <p:nvSpPr>
          <p:cNvPr id="379945" name="Rectangle 41"/>
          <p:cNvSpPr>
            <a:spLocks noChangeArrowheads="1"/>
          </p:cNvSpPr>
          <p:nvPr/>
        </p:nvSpPr>
        <p:spPr bwMode="auto">
          <a:xfrm>
            <a:off x="4507575" y="3403301"/>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目   的   地   址</a:t>
            </a:r>
          </a:p>
        </p:txBody>
      </p:sp>
      <p:sp>
        <p:nvSpPr>
          <p:cNvPr id="379946" name="Rectangle 42"/>
          <p:cNvSpPr>
            <a:spLocks noChangeArrowheads="1"/>
          </p:cNvSpPr>
          <p:nvPr/>
        </p:nvSpPr>
        <p:spPr bwMode="auto">
          <a:xfrm>
            <a:off x="2414588" y="3831926"/>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anose="02010609060101010101" pitchFamily="2" charset="-122"/>
              </a:rPr>
              <a:t>可   选   字   段  （长   度   可   变）</a:t>
            </a:r>
          </a:p>
        </p:txBody>
      </p:sp>
      <p:sp>
        <p:nvSpPr>
          <p:cNvPr id="379947" name="Rectangle 43"/>
          <p:cNvSpPr>
            <a:spLocks noChangeArrowheads="1"/>
          </p:cNvSpPr>
          <p:nvPr/>
        </p:nvSpPr>
        <p:spPr bwMode="auto">
          <a:xfrm>
            <a:off x="658681" y="1193501"/>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379948" name="Rectangle 44"/>
          <p:cNvSpPr>
            <a:spLocks noChangeArrowheads="1"/>
          </p:cNvSpPr>
          <p:nvPr/>
        </p:nvSpPr>
        <p:spPr bwMode="auto">
          <a:xfrm>
            <a:off x="2170378" y="1603076"/>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0000CC"/>
                </a:solidFill>
                <a:latin typeface="+mn-lt"/>
                <a:ea typeface="黑体" panose="02010609060101010101" pitchFamily="2" charset="-122"/>
              </a:rPr>
              <a:t>首部长度</a:t>
            </a:r>
          </a:p>
        </p:txBody>
      </p:sp>
      <p:grpSp>
        <p:nvGrpSpPr>
          <p:cNvPr id="379950" name="Group 46"/>
          <p:cNvGrpSpPr/>
          <p:nvPr/>
        </p:nvGrpSpPr>
        <p:grpSpPr bwMode="auto">
          <a:xfrm>
            <a:off x="1159140" y="3973214"/>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grpSp>
        <p:nvGrpSpPr>
          <p:cNvPr id="379954" name="Group 50"/>
          <p:cNvGrpSpPr/>
          <p:nvPr/>
        </p:nvGrpSpPr>
        <p:grpSpPr bwMode="auto">
          <a:xfrm>
            <a:off x="9682428" y="3982740"/>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79979" name="Rectangle 75"/>
          <p:cNvSpPr>
            <a:spLocks noChangeArrowheads="1"/>
          </p:cNvSpPr>
          <p:nvPr/>
        </p:nvSpPr>
        <p:spPr bwMode="auto">
          <a:xfrm>
            <a:off x="4129220" y="4374851"/>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4" name="Rectangle 80"/>
          <p:cNvSpPr>
            <a:spLocks noChangeArrowheads="1"/>
          </p:cNvSpPr>
          <p:nvPr/>
        </p:nvSpPr>
        <p:spPr bwMode="auto">
          <a:xfrm>
            <a:off x="4017433" y="5220989"/>
            <a:ext cx="4314958" cy="449262"/>
          </a:xfrm>
          <a:prstGeom prst="rect">
            <a:avLst/>
          </a:prstGeom>
          <a:solidFill>
            <a:srgbClr val="FFFF99"/>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86" name="Rectangle 82"/>
          <p:cNvSpPr>
            <a:spLocks noChangeArrowheads="1"/>
          </p:cNvSpPr>
          <p:nvPr/>
        </p:nvSpPr>
        <p:spPr bwMode="auto">
          <a:xfrm>
            <a:off x="4634839" y="5238451"/>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数       据       部       分</a:t>
            </a:r>
          </a:p>
        </p:txBody>
      </p:sp>
      <p:sp>
        <p:nvSpPr>
          <p:cNvPr id="379987" name="Rectangle 83"/>
          <p:cNvSpPr>
            <a:spLocks noChangeArrowheads="1"/>
          </p:cNvSpPr>
          <p:nvPr/>
        </p:nvSpPr>
        <p:spPr bwMode="auto">
          <a:xfrm>
            <a:off x="2691475" y="5238451"/>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   部</a:t>
            </a:r>
          </a:p>
        </p:txBody>
      </p:sp>
      <p:sp>
        <p:nvSpPr>
          <p:cNvPr id="379989" name="Rectangle 85"/>
          <p:cNvSpPr>
            <a:spLocks noChangeArrowheads="1"/>
          </p:cNvSpPr>
          <p:nvPr/>
        </p:nvSpPr>
        <p:spPr bwMode="auto">
          <a:xfrm>
            <a:off x="4636558" y="5706764"/>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IP </a:t>
            </a:r>
            <a:r>
              <a:rPr kumimoji="1" lang="zh-CN" altLang="en-US" sz="2000" b="1">
                <a:solidFill>
                  <a:srgbClr val="0000CC"/>
                </a:solidFill>
                <a:latin typeface="+mn-lt"/>
                <a:ea typeface="黑体" panose="02010609060101010101" pitchFamily="2" charset="-122"/>
              </a:rPr>
              <a:t>数据报</a:t>
            </a:r>
          </a:p>
        </p:txBody>
      </p:sp>
      <p:grpSp>
        <p:nvGrpSpPr>
          <p:cNvPr id="379998" name="Group 94"/>
          <p:cNvGrpSpPr/>
          <p:nvPr/>
        </p:nvGrpSpPr>
        <p:grpSpPr bwMode="auto">
          <a:xfrm>
            <a:off x="265981" y="1566565"/>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首</a:t>
              </a:r>
            </a:p>
            <a:p>
              <a:pPr defTabSz="762000" eaLnBrk="0" hangingPunct="0"/>
              <a:r>
                <a:rPr kumimoji="1" lang="zh-CN" altLang="en-US" sz="2000" b="1">
                  <a:solidFill>
                    <a:srgbClr val="0000CC"/>
                  </a:solidFill>
                  <a:latin typeface="+mn-lt"/>
                  <a:ea typeface="黑体" panose="02010609060101010101" pitchFamily="2" charset="-122"/>
                </a:rPr>
                <a:t>部</a:t>
              </a:r>
            </a:p>
          </p:txBody>
        </p:sp>
      </p:grpSp>
      <p:grpSp>
        <p:nvGrpSpPr>
          <p:cNvPr id="379997" name="Group 93"/>
          <p:cNvGrpSpPr/>
          <p:nvPr/>
        </p:nvGrpSpPr>
        <p:grpSpPr bwMode="auto">
          <a:xfrm>
            <a:off x="1209015" y="1566564"/>
            <a:ext cx="8554244" cy="4102100"/>
            <a:chOff x="703" y="845"/>
            <a:chExt cx="4974" cy="2584"/>
          </a:xfrm>
        </p:grpSpPr>
        <p:sp>
          <p:nvSpPr>
            <p:cNvPr id="379995" name="Rectangle 91"/>
            <p:cNvSpPr>
              <a:spLocks noChangeArrowheads="1"/>
            </p:cNvSpPr>
            <p:nvPr/>
          </p:nvSpPr>
          <p:spPr bwMode="auto">
            <a:xfrm>
              <a:off x="703" y="845"/>
              <a:ext cx="4974" cy="1678"/>
            </a:xfrm>
            <a:prstGeom prst="rect">
              <a:avLst/>
            </a:prstGeom>
            <a:noFill/>
            <a:ln w="5715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sp>
        <p:nvSpPr>
          <p:cNvPr id="380001" name="AutoShape 97"/>
          <p:cNvSpPr/>
          <p:nvPr/>
        </p:nvSpPr>
        <p:spPr bwMode="auto">
          <a:xfrm>
            <a:off x="998834" y="1638001"/>
            <a:ext cx="180579" cy="2160588"/>
          </a:xfrm>
          <a:prstGeom prst="leftBrace">
            <a:avLst>
              <a:gd name="adj1" fmla="val 108016"/>
              <a:gd name="adj2" fmla="val 50000"/>
            </a:avLst>
          </a:prstGeom>
          <a:noFill/>
          <a:ln w="2857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grpSp>
        <p:nvGrpSpPr>
          <p:cNvPr id="380004" name="Group 100"/>
          <p:cNvGrpSpPr/>
          <p:nvPr/>
        </p:nvGrpSpPr>
        <p:grpSpPr bwMode="auto">
          <a:xfrm>
            <a:off x="1783426" y="5741690"/>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发送在前</a:t>
              </a:r>
            </a:p>
          </p:txBody>
        </p:sp>
      </p:grpSp>
      <p:sp>
        <p:nvSpPr>
          <p:cNvPr id="2" name="矩形 1"/>
          <p:cNvSpPr/>
          <p:nvPr/>
        </p:nvSpPr>
        <p:spPr>
          <a:xfrm>
            <a:off x="1890803" y="251937"/>
            <a:ext cx="6446573" cy="584775"/>
          </a:xfrm>
          <a:prstGeom prst="rect">
            <a:avLst/>
          </a:prstGeom>
          <a:solidFill>
            <a:srgbClr val="FFFFCC"/>
          </a:solidFill>
          <a:ln w="9525">
            <a:solidFill>
              <a:schemeClr val="folHlink"/>
            </a:solidFill>
            <a:miter lim="800000"/>
          </a:ln>
          <a:effectLst>
            <a:outerShdw dist="35921" dir="2700000" algn="ctr" rotWithShape="0">
              <a:schemeClr val="bg2"/>
            </a:outerShdw>
          </a:effectLst>
        </p:spPr>
        <p:txBody>
          <a:bodyPr wrap="none">
            <a:spAutoFit/>
          </a:bodyPr>
          <a:lstStyle/>
          <a:p>
            <a:r>
              <a:rPr lang="en-US" altLang="zh-CN" sz="3200" b="1" dirty="0">
                <a:solidFill>
                  <a:srgbClr val="0000CC"/>
                </a:solidFill>
                <a:latin typeface="Arial" panose="020B0604020202020204" pitchFamily="34" charset="0"/>
                <a:ea typeface="黑体" panose="02010609060101010101" pitchFamily="2" charset="-122"/>
              </a:rPr>
              <a:t>IP </a:t>
            </a:r>
            <a:r>
              <a:rPr lang="zh-CN" altLang="en-US" sz="3200" b="1" dirty="0">
                <a:solidFill>
                  <a:srgbClr val="0000CC"/>
                </a:solidFill>
                <a:latin typeface="Arial" panose="020B0604020202020204" pitchFamily="34" charset="0"/>
                <a:ea typeface="黑体" panose="02010609060101010101" pitchFamily="2" charset="-122"/>
              </a:rPr>
              <a:t>数据报由首部和数据两部分组成</a:t>
            </a:r>
          </a:p>
        </p:txBody>
      </p:sp>
      <p:sp>
        <p:nvSpPr>
          <p:cNvPr id="3" name="乘号 2"/>
          <p:cNvSpPr/>
          <p:nvPr/>
        </p:nvSpPr>
        <p:spPr>
          <a:xfrm>
            <a:off x="2452370" y="1405890"/>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 name="乘号 3"/>
          <p:cNvSpPr/>
          <p:nvPr/>
        </p:nvSpPr>
        <p:spPr>
          <a:xfrm>
            <a:off x="3992245" y="1405890"/>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3" name="矩形 12"/>
          <p:cNvSpPr/>
          <p:nvPr/>
        </p:nvSpPr>
        <p:spPr>
          <a:xfrm>
            <a:off x="6537325" y="1628775"/>
            <a:ext cx="2232660" cy="431800"/>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2000" b="1" i="0" u="none" strike="noStrike" cap="none" normalizeH="0" baseline="0">
                <a:ln>
                  <a:noFill/>
                </a:ln>
                <a:solidFill>
                  <a:schemeClr val="tx1"/>
                </a:solidFill>
                <a:effectLst/>
                <a:latin typeface="Arial" panose="020B0604020202020204" pitchFamily="34" charset="0"/>
              </a:rPr>
              <a:t>有效载荷长度</a:t>
            </a:r>
          </a:p>
        </p:txBody>
      </p:sp>
      <p:sp>
        <p:nvSpPr>
          <p:cNvPr id="14" name="乘号 13"/>
          <p:cNvSpPr/>
          <p:nvPr/>
        </p:nvSpPr>
        <p:spPr>
          <a:xfrm>
            <a:off x="2936875" y="1917065"/>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5" name="乘号 14"/>
          <p:cNvSpPr/>
          <p:nvPr/>
        </p:nvSpPr>
        <p:spPr>
          <a:xfrm>
            <a:off x="5565140" y="1868805"/>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6" name="乘号 15"/>
          <p:cNvSpPr/>
          <p:nvPr/>
        </p:nvSpPr>
        <p:spPr>
          <a:xfrm>
            <a:off x="7569200" y="1917065"/>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7" name="矩形 16"/>
          <p:cNvSpPr/>
          <p:nvPr/>
        </p:nvSpPr>
        <p:spPr>
          <a:xfrm>
            <a:off x="1179195" y="2496185"/>
            <a:ext cx="2232660" cy="431800"/>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2000" b="1" i="0" u="none" strike="noStrike" cap="none" normalizeH="0" baseline="0">
                <a:ln>
                  <a:noFill/>
                </a:ln>
                <a:solidFill>
                  <a:schemeClr val="tx1"/>
                </a:solidFill>
                <a:effectLst/>
                <a:latin typeface="Arial" panose="020B0604020202020204" pitchFamily="34" charset="0"/>
              </a:rPr>
              <a:t>跳数限制</a:t>
            </a:r>
          </a:p>
        </p:txBody>
      </p:sp>
      <p:sp>
        <p:nvSpPr>
          <p:cNvPr id="18" name="矩形 17"/>
          <p:cNvSpPr/>
          <p:nvPr/>
        </p:nvSpPr>
        <p:spPr>
          <a:xfrm>
            <a:off x="3512820" y="2468880"/>
            <a:ext cx="2232660" cy="431800"/>
          </a:xfrm>
          <a:prstGeom prst="rect">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2000" b="1" i="0" u="none" strike="noStrike" cap="none" normalizeH="0" baseline="0">
                <a:ln>
                  <a:noFill/>
                </a:ln>
                <a:solidFill>
                  <a:schemeClr val="tx1"/>
                </a:solidFill>
                <a:effectLst/>
                <a:latin typeface="Arial" panose="020B0604020202020204" pitchFamily="34" charset="0"/>
              </a:rPr>
              <a:t>下一跳首部</a:t>
            </a:r>
          </a:p>
        </p:txBody>
      </p:sp>
      <p:sp>
        <p:nvSpPr>
          <p:cNvPr id="19" name="乘号 18"/>
          <p:cNvSpPr/>
          <p:nvPr/>
        </p:nvSpPr>
        <p:spPr>
          <a:xfrm>
            <a:off x="6969125" y="2277110"/>
            <a:ext cx="792480" cy="791845"/>
          </a:xfrm>
          <a:prstGeom prst="mathMultiply">
            <a:avLst/>
          </a:prstGeom>
          <a:solidFill>
            <a:schemeClr val="accent1"/>
          </a:solidFill>
          <a:ln w="9525" cap="flat" cmpd="sng" algn="ctr">
            <a:solidFill>
              <a:schemeClr val="tx1"/>
            </a:solidFill>
            <a:prstDash val="solid"/>
            <a:round/>
            <a:headEnd type="none" w="med" len="med"/>
            <a:tailEnd type="none" w="med" len="med"/>
          </a:ln>
        </p:spPr>
        <p:txBody>
          <a:bodyPr vert="horz" wrap="square" lIns="91440" tIns="45720" rIns="91440" bIns="45720" numCol="1"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2466344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wipe(down)">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down)">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ipe(down)">
                                      <p:cBhvr>
                                        <p:cTn id="41" dur="5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4"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ipe(down)">
                                      <p:cBhvr>
                                        <p:cTn id="46" dur="500"/>
                                        <p:tgtEl>
                                          <p:spTgt spid="1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wipe(down)">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wipe(down)">
                                      <p:cBhvr>
                                        <p:cTn id="5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bldLvl="0" animBg="1"/>
      <p:bldP spid="4" grpId="1" animBg="1"/>
      <p:bldP spid="13" grpId="0" animBg="1"/>
      <p:bldP spid="13" grpId="1" animBg="1"/>
      <p:bldP spid="14" grpId="0" bldLvl="0" animBg="1"/>
      <p:bldP spid="14" grpId="1" animBg="1"/>
      <p:bldP spid="15" grpId="0" bldLvl="0" animBg="1"/>
      <p:bldP spid="15" grpId="1" animBg="1"/>
      <p:bldP spid="16" grpId="0" bldLvl="0" animBg="1"/>
      <p:bldP spid="16" grpId="1" animBg="1"/>
      <p:bldP spid="17" grpId="0" bldLvl="0" animBg="1"/>
      <p:bldP spid="17" grpId="1" animBg="1"/>
      <p:bldP spid="18" grpId="0" bldLvl="0" animBg="1"/>
      <p:bldP spid="18" grpId="1" animBg="1"/>
      <p:bldP spid="19" grpId="0" bldLvl="0" animBg="1"/>
      <p:bldP spid="19" grpId="1"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5676900"/>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37" name="Line 35"/>
          <p:cNvSpPr>
            <a:spLocks noChangeShapeType="1"/>
          </p:cNvSpPr>
          <p:nvPr/>
        </p:nvSpPr>
        <p:spPr bwMode="auto">
          <a:xfrm>
            <a:off x="1778893" y="4701332"/>
            <a:ext cx="7305675"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38" name="Rectangle 36"/>
          <p:cNvSpPr>
            <a:spLocks noChangeArrowheads="1"/>
          </p:cNvSpPr>
          <p:nvPr/>
        </p:nvSpPr>
        <p:spPr bwMode="auto">
          <a:xfrm>
            <a:off x="1794768" y="4718794"/>
            <a:ext cx="7272337" cy="1463675"/>
          </a:xfrm>
          <a:prstGeom prst="rect">
            <a:avLst/>
          </a:prstGeom>
          <a:solidFill>
            <a:srgbClr val="CCECFF"/>
          </a:solidFill>
          <a:ln w="12700">
            <a:solidFill>
              <a:srgbClr val="0000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9" name="Rectangle 37"/>
          <p:cNvSpPr>
            <a:spLocks noChangeArrowheads="1"/>
          </p:cNvSpPr>
          <p:nvPr/>
        </p:nvSpPr>
        <p:spPr bwMode="auto">
          <a:xfrm>
            <a:off x="3261618" y="4829919"/>
            <a:ext cx="4809010" cy="52065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800" b="1" dirty="0">
                <a:solidFill>
                  <a:srgbClr val="0000CC"/>
                </a:solidFill>
                <a:latin typeface="+mn-lt"/>
                <a:ea typeface="黑体" panose="02010609060101010101" pitchFamily="2" charset="-122"/>
              </a:rPr>
              <a:t>有效载荷（扩展首部 </a:t>
            </a:r>
            <a:r>
              <a:rPr kumimoji="1" lang="en-US" altLang="zh-CN" sz="2800" b="1" dirty="0">
                <a:solidFill>
                  <a:srgbClr val="0000CC"/>
                </a:solidFill>
                <a:latin typeface="+mn-lt"/>
                <a:ea typeface="黑体" panose="02010609060101010101" pitchFamily="2" charset="-122"/>
              </a:rPr>
              <a:t>/ </a:t>
            </a:r>
            <a:r>
              <a:rPr kumimoji="1" lang="zh-CN" altLang="en-US" sz="2800" b="1" dirty="0">
                <a:solidFill>
                  <a:srgbClr val="0000CC"/>
                </a:solidFill>
                <a:latin typeface="+mn-lt"/>
                <a:ea typeface="黑体" panose="02010609060101010101" pitchFamily="2" charset="-122"/>
              </a:rPr>
              <a:t>数据）</a:t>
            </a:r>
          </a:p>
        </p:txBody>
      </p:sp>
      <p:sp>
        <p:nvSpPr>
          <p:cNvPr id="40" name="Freeform 38"/>
          <p:cNvSpPr/>
          <p:nvPr/>
        </p:nvSpPr>
        <p:spPr bwMode="auto">
          <a:xfrm>
            <a:off x="1696343" y="5366494"/>
            <a:ext cx="7577137" cy="312738"/>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anose="02010609060101010101" pitchFamily="2" charset="-122"/>
            </a:endParaRP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43" name="AutoShape 41"/>
          <p:cNvSpPr/>
          <p:nvPr/>
        </p:nvSpPr>
        <p:spPr bwMode="auto">
          <a:xfrm>
            <a:off x="1510605" y="4737844"/>
            <a:ext cx="228600" cy="1444625"/>
          </a:xfrm>
          <a:prstGeom prst="leftBrace">
            <a:avLst>
              <a:gd name="adj1" fmla="val 52662"/>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4" name="Rectangle 42"/>
          <p:cNvSpPr>
            <a:spLocks noChangeArrowheads="1"/>
          </p:cNvSpPr>
          <p:nvPr/>
        </p:nvSpPr>
        <p:spPr bwMode="auto">
          <a:xfrm>
            <a:off x="29358" y="4936182"/>
            <a:ext cx="1755290"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有效载荷</a:t>
            </a:r>
          </a:p>
          <a:p>
            <a:pPr algn="ctr" defTabSz="762000" eaLnBrk="0" hangingPunct="0"/>
            <a:r>
              <a:rPr kumimoji="1" lang="zh-CN" altLang="en-US" sz="2000" b="1" dirty="0">
                <a:solidFill>
                  <a:srgbClr val="0000CC"/>
                </a:solidFill>
                <a:latin typeface="+mn-lt"/>
                <a:ea typeface="黑体" panose="02010609060101010101" pitchFamily="2" charset="-122"/>
              </a:rPr>
              <a:t>（至 </a:t>
            </a:r>
            <a:r>
              <a:rPr kumimoji="1" lang="en-US" altLang="zh-CN" sz="2000" b="1" dirty="0">
                <a:solidFill>
                  <a:srgbClr val="0000CC"/>
                </a:solidFill>
                <a:latin typeface="+mn-lt"/>
                <a:ea typeface="黑体" panose="02010609060101010101" pitchFamily="2" charset="-122"/>
              </a:rPr>
              <a:t>64 KB</a:t>
            </a:r>
            <a:r>
              <a:rPr kumimoji="1" lang="zh-CN" altLang="en-US" sz="2000" b="1" dirty="0">
                <a:solidFill>
                  <a:srgbClr val="0000CC"/>
                </a:solidFill>
                <a:latin typeface="+mn-lt"/>
                <a:ea typeface="黑体" panose="02010609060101010101" pitchFamily="2" charset="-122"/>
              </a:rPr>
              <a:t>）</a:t>
            </a:r>
          </a:p>
        </p:txBody>
      </p:sp>
      <p:sp>
        <p:nvSpPr>
          <p:cNvPr id="45" name="Rectangle 43"/>
          <p:cNvSpPr>
            <a:spLocks noChangeArrowheads="1"/>
          </p:cNvSpPr>
          <p:nvPr/>
        </p:nvSpPr>
        <p:spPr bwMode="auto">
          <a:xfrm>
            <a:off x="1748730" y="494457"/>
            <a:ext cx="7327900" cy="424815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7" name="矩形 46"/>
          <p:cNvSpPr/>
          <p:nvPr/>
        </p:nvSpPr>
        <p:spPr>
          <a:xfrm>
            <a:off x="3001284" y="6309320"/>
            <a:ext cx="4732386" cy="461665"/>
          </a:xfrm>
          <a:prstGeom prst="rect">
            <a:avLst/>
          </a:prstGeom>
        </p:spPr>
        <p:txBody>
          <a:bodyPr wrap="square">
            <a:spAutoFit/>
          </a:bodyPr>
          <a:lstStyle/>
          <a:p>
            <a:pPr algn="ctr"/>
            <a:r>
              <a:rPr lang="en-US" altLang="zh-CN" sz="2400" b="1" dirty="0">
                <a:latin typeface="+mn-lt"/>
                <a:ea typeface="黑体" panose="02010609060101010101" pitchFamily="2" charset="-122"/>
              </a:rPr>
              <a:t>40 </a:t>
            </a:r>
            <a:r>
              <a:rPr lang="zh-CN" altLang="zh-CN" sz="2400" b="1" dirty="0">
                <a:latin typeface="+mn-lt"/>
                <a:ea typeface="黑体" panose="02010609060101010101" pitchFamily="2" charset="-122"/>
              </a:rPr>
              <a:t>字节长的</a:t>
            </a:r>
            <a:r>
              <a:rPr lang="en-US" altLang="zh-CN" sz="2400" b="1" dirty="0">
                <a:latin typeface="+mn-lt"/>
                <a:ea typeface="黑体" panose="02010609060101010101" pitchFamily="2" charset="-122"/>
              </a:rPr>
              <a:t> IPv6 </a:t>
            </a:r>
            <a:r>
              <a:rPr lang="zh-CN" altLang="zh-CN" sz="2400" b="1" dirty="0">
                <a:latin typeface="+mn-lt"/>
                <a:ea typeface="黑体" panose="02010609060101010101" pitchFamily="2" charset="-122"/>
              </a:rPr>
              <a:t>基本首部</a:t>
            </a:r>
            <a:endParaRPr lang="zh-CN" altLang="en-US" sz="2400" b="1" dirty="0">
              <a:latin typeface="+mn-lt"/>
              <a:ea typeface="黑体" panose="02010609060101010101" pitchFamily="2" charset="-122"/>
            </a:endParaRPr>
          </a:p>
        </p:txBody>
      </p:sp>
    </p:spTree>
    <p:extLst>
      <p:ext uri="{BB962C8B-B14F-4D97-AF65-F5344CB8AC3E}">
        <p14:creationId xmlns:p14="http://schemas.microsoft.com/office/powerpoint/2010/main" val="4284734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indefinite" fill="hold" grpId="1" nodeType="afterEffect">
                                  <p:stCondLst>
                                    <p:cond delay="500"/>
                                  </p:stCondLst>
                                  <p:endCondLst>
                                    <p:cond evt="onNext" delay="0">
                                      <p:tgtEl>
                                        <p:sldTgt/>
                                      </p:tgtEl>
                                    </p:cond>
                                  </p:endCondLst>
                                  <p:childTnLst>
                                    <p:anim calcmode="discrete" valueType="str">
                                      <p:cBhvr>
                                        <p:cTn id="9" dur="1000" fill="hold"/>
                                        <p:tgtEl>
                                          <p:spTgt spid="45"/>
                                        </p:tgtEl>
                                        <p:attrNameLst>
                                          <p:attrName>style.visibility</p:attrName>
                                        </p:attrNameLst>
                                      </p:cBhvr>
                                      <p:tavLst>
                                        <p:tav tm="0">
                                          <p:val>
                                            <p:strVal val="hidden"/>
                                          </p:val>
                                        </p:tav>
                                        <p:tav tm="50000">
                                          <p:val>
                                            <p:strVal val="visible"/>
                                          </p:val>
                                        </p:tav>
                                      </p:tavLst>
                                    </p:anim>
                                  </p:childTnLst>
                                </p:cTn>
                              </p:par>
                              <p:par>
                                <p:cTn id="10" presetID="35" presetClass="emph" presetSubtype="0" repeatCount="indefinite" fill="hold" grpId="0" nodeType="withEffect">
                                  <p:stCondLst>
                                    <p:cond delay="500"/>
                                  </p:stCondLst>
                                  <p:endCondLst>
                                    <p:cond evt="onNext" delay="0">
                                      <p:tgtEl>
                                        <p:sldTgt/>
                                      </p:tgtEl>
                                    </p:cond>
                                  </p:end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animBg="1"/>
      <p:bldP spid="45" grpId="1"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46" name="Text Box 38"/>
          <p:cNvSpPr txBox="1">
            <a:spLocks noChangeArrowheads="1"/>
          </p:cNvSpPr>
          <p:nvPr/>
        </p:nvSpPr>
        <p:spPr bwMode="auto">
          <a:xfrm>
            <a:off x="975123" y="4797152"/>
            <a:ext cx="8368506" cy="8700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10000"/>
              </a:lnSpc>
            </a:pPr>
            <a:r>
              <a:rPr lang="zh-CN" altLang="en-US" sz="2400" b="1" dirty="0">
                <a:solidFill>
                  <a:srgbClr val="000099"/>
                </a:solidFill>
                <a:latin typeface="+mn-lt"/>
                <a:ea typeface="黑体" panose="02010609060101010101" pitchFamily="2" charset="-122"/>
              </a:rPr>
              <a:t>版本</a:t>
            </a:r>
            <a:r>
              <a:rPr lang="en-US" altLang="zh-CN" sz="2400" b="1" dirty="0">
                <a:solidFill>
                  <a:srgbClr val="000099"/>
                </a:solidFill>
                <a:latin typeface="+mn-lt"/>
                <a:ea typeface="黑体" panose="02010609060101010101" pitchFamily="2" charset="-122"/>
              </a:rPr>
              <a:t>(version)—— 4 </a:t>
            </a:r>
            <a:r>
              <a:rPr lang="zh-CN" altLang="en-US" sz="2400" b="1" dirty="0">
                <a:solidFill>
                  <a:srgbClr val="000099"/>
                </a:solidFill>
                <a:latin typeface="+mn-lt"/>
                <a:ea typeface="黑体" panose="02010609060101010101" pitchFamily="2" charset="-122"/>
              </a:rPr>
              <a:t>位。它指明了协议的版本，对 </a:t>
            </a:r>
            <a:r>
              <a:rPr lang="en-US" altLang="zh-CN" sz="2400" b="1" dirty="0">
                <a:solidFill>
                  <a:srgbClr val="000099"/>
                </a:solidFill>
                <a:latin typeface="+mn-lt"/>
                <a:ea typeface="黑体" panose="02010609060101010101" pitchFamily="2" charset="-122"/>
              </a:rPr>
              <a:t>IPv6 </a:t>
            </a:r>
            <a:r>
              <a:rPr lang="zh-CN" altLang="en-US" sz="2400" b="1" dirty="0">
                <a:solidFill>
                  <a:srgbClr val="000099"/>
                </a:solidFill>
                <a:latin typeface="+mn-lt"/>
                <a:ea typeface="黑体" panose="02010609060101010101" pitchFamily="2" charset="-122"/>
              </a:rPr>
              <a:t>该字段总是 </a:t>
            </a:r>
            <a:r>
              <a:rPr lang="en-US" altLang="zh-CN" sz="2400" b="1" dirty="0">
                <a:solidFill>
                  <a:srgbClr val="000099"/>
                </a:solidFill>
                <a:latin typeface="+mn-lt"/>
                <a:ea typeface="黑体" panose="02010609060101010101" pitchFamily="2" charset="-122"/>
              </a:rPr>
              <a:t>6</a:t>
            </a:r>
            <a:r>
              <a:rPr lang="zh-CN" altLang="en-US" sz="2400" b="1" dirty="0">
                <a:solidFill>
                  <a:srgbClr val="000099"/>
                </a:solidFill>
                <a:latin typeface="+mn-lt"/>
                <a:ea typeface="黑体" panose="02010609060101010101" pitchFamily="2" charset="-122"/>
              </a:rPr>
              <a:t>。 </a:t>
            </a:r>
          </a:p>
        </p:txBody>
      </p:sp>
      <p:sp>
        <p:nvSpPr>
          <p:cNvPr id="48" name="Rectangle 37"/>
          <p:cNvSpPr>
            <a:spLocks noChangeArrowheads="1"/>
          </p:cNvSpPr>
          <p:nvPr/>
        </p:nvSpPr>
        <p:spPr bwMode="auto">
          <a:xfrm>
            <a:off x="1786830" y="494457"/>
            <a:ext cx="933922"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extLst>
      <p:ext uri="{BB962C8B-B14F-4D97-AF65-F5344CB8AC3E}">
        <p14:creationId xmlns:p14="http://schemas.microsoft.com/office/powerpoint/2010/main" val="3660310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39" name="Rectangle 37"/>
          <p:cNvSpPr>
            <a:spLocks noChangeArrowheads="1"/>
          </p:cNvSpPr>
          <p:nvPr/>
        </p:nvSpPr>
        <p:spPr bwMode="auto">
          <a:xfrm>
            <a:off x="2686942" y="476672"/>
            <a:ext cx="1834009"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75123" y="4797152"/>
            <a:ext cx="8368506"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通信量类</a:t>
            </a:r>
            <a:r>
              <a:rPr lang="en-US" altLang="zh-CN" dirty="0"/>
              <a:t>(traffic class)—— 8 </a:t>
            </a:r>
            <a:r>
              <a:rPr lang="zh-CN" altLang="en-US" dirty="0"/>
              <a:t>位。这是为了区分不同的 </a:t>
            </a:r>
            <a:r>
              <a:rPr lang="en-US" altLang="zh-CN" dirty="0"/>
              <a:t>IPv6 </a:t>
            </a:r>
            <a:r>
              <a:rPr lang="zh-CN" altLang="en-US" dirty="0"/>
              <a:t>数据报的类别或优先级。目前正在进行不同的通信量类性能的实验。 </a:t>
            </a:r>
          </a:p>
        </p:txBody>
      </p:sp>
    </p:spTree>
    <p:extLst>
      <p:ext uri="{BB962C8B-B14F-4D97-AF65-F5344CB8AC3E}">
        <p14:creationId xmlns:p14="http://schemas.microsoft.com/office/powerpoint/2010/main" val="3008871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43" name="Rectangle 37"/>
          <p:cNvSpPr>
            <a:spLocks noChangeArrowheads="1"/>
          </p:cNvSpPr>
          <p:nvPr/>
        </p:nvSpPr>
        <p:spPr bwMode="auto">
          <a:xfrm>
            <a:off x="4504630" y="493713"/>
            <a:ext cx="4552826"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964850" y="4789484"/>
            <a:ext cx="8452646" cy="17358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流标号</a:t>
            </a:r>
            <a:r>
              <a:rPr lang="en-US" altLang="zh-CN" dirty="0"/>
              <a:t>(flow label)—— 20 </a:t>
            </a:r>
            <a:r>
              <a:rPr lang="zh-CN" altLang="en-US" dirty="0"/>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3906949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39" name="Rectangle 37"/>
          <p:cNvSpPr>
            <a:spLocks noChangeArrowheads="1"/>
          </p:cNvSpPr>
          <p:nvPr/>
        </p:nvSpPr>
        <p:spPr bwMode="auto">
          <a:xfrm>
            <a:off x="1784648" y="921668"/>
            <a:ext cx="3606155"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20552" y="4797152"/>
            <a:ext cx="8496944"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有效载荷长度</a:t>
            </a:r>
            <a:r>
              <a:rPr lang="en-US" altLang="zh-CN" dirty="0"/>
              <a:t>(payload length)—— 16 </a:t>
            </a:r>
            <a:r>
              <a:rPr lang="zh-CN" altLang="en-US" dirty="0"/>
              <a:t>位。它指明 </a:t>
            </a:r>
            <a:r>
              <a:rPr lang="en-US" altLang="zh-CN" dirty="0"/>
              <a:t>IPv6 </a:t>
            </a:r>
            <a:r>
              <a:rPr lang="zh-CN" altLang="en-US" dirty="0"/>
              <a:t>数据报除基本首部以外的字节数（所有扩展首部都算在有效载荷之内），其最大值是 </a:t>
            </a:r>
            <a:r>
              <a:rPr lang="en-US" altLang="zh-CN" dirty="0"/>
              <a:t>64 KB</a:t>
            </a:r>
            <a:r>
              <a:rPr lang="zh-CN" altLang="en-US" dirty="0"/>
              <a:t>。 </a:t>
            </a:r>
          </a:p>
        </p:txBody>
      </p:sp>
    </p:spTree>
    <p:extLst>
      <p:ext uri="{BB962C8B-B14F-4D97-AF65-F5344CB8AC3E}">
        <p14:creationId xmlns:p14="http://schemas.microsoft.com/office/powerpoint/2010/main" val="1396026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43" name="Rectangle 37"/>
          <p:cNvSpPr>
            <a:spLocks noChangeArrowheads="1"/>
          </p:cNvSpPr>
          <p:nvPr/>
        </p:nvSpPr>
        <p:spPr bwMode="auto">
          <a:xfrm>
            <a:off x="5426968" y="908720"/>
            <a:ext cx="1843418"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919046" y="4797152"/>
            <a:ext cx="8498450" cy="904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下一个首部</a:t>
            </a:r>
            <a:r>
              <a:rPr lang="en-US" altLang="zh-CN" dirty="0"/>
              <a:t>(next header)—— 8 </a:t>
            </a:r>
            <a:r>
              <a:rPr lang="zh-CN" altLang="en-US" dirty="0"/>
              <a:t>位。它相当于 </a:t>
            </a:r>
            <a:r>
              <a:rPr lang="en-US" altLang="zh-CN" dirty="0"/>
              <a:t>IPv4 </a:t>
            </a:r>
            <a:r>
              <a:rPr lang="zh-CN" altLang="en-US" dirty="0"/>
              <a:t>的协议字段或可选字段。 </a:t>
            </a:r>
          </a:p>
        </p:txBody>
      </p:sp>
    </p:spTree>
    <p:extLst>
      <p:ext uri="{BB962C8B-B14F-4D97-AF65-F5344CB8AC3E}">
        <p14:creationId xmlns:p14="http://schemas.microsoft.com/office/powerpoint/2010/main" val="550264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39" name="Rectangle 37"/>
          <p:cNvSpPr>
            <a:spLocks noChangeArrowheads="1"/>
          </p:cNvSpPr>
          <p:nvPr/>
        </p:nvSpPr>
        <p:spPr bwMode="auto">
          <a:xfrm>
            <a:off x="7257256" y="908720"/>
            <a:ext cx="1832074" cy="41910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64850" y="4797152"/>
            <a:ext cx="8668670"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跳数限制</a:t>
            </a:r>
            <a:r>
              <a:rPr lang="en-US" altLang="zh-CN" dirty="0"/>
              <a:t>(hop limit)—— 8 </a:t>
            </a:r>
            <a:r>
              <a:rPr lang="zh-CN" altLang="en-US" dirty="0"/>
              <a:t>位。源站在数据报发出时即设定跳数限制。路由器在转发数据报时将跳数限制字段中的值减 </a:t>
            </a:r>
            <a:r>
              <a:rPr lang="en-US" altLang="zh-CN" dirty="0"/>
              <a:t>1</a:t>
            </a:r>
            <a:r>
              <a:rPr lang="zh-CN" altLang="en-US" dirty="0"/>
              <a:t>。</a:t>
            </a:r>
          </a:p>
          <a:p>
            <a:r>
              <a:rPr lang="zh-CN" altLang="en-US" dirty="0"/>
              <a:t>当跳数限制的值为零时，就要将此数据报丢弃。 </a:t>
            </a:r>
          </a:p>
        </p:txBody>
      </p:sp>
    </p:spTree>
    <p:extLst>
      <p:ext uri="{BB962C8B-B14F-4D97-AF65-F5344CB8AC3E}">
        <p14:creationId xmlns:p14="http://schemas.microsoft.com/office/powerpoint/2010/main" val="2656590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43" name="Rectangle 37"/>
          <p:cNvSpPr>
            <a:spLocks noChangeArrowheads="1"/>
          </p:cNvSpPr>
          <p:nvPr/>
        </p:nvSpPr>
        <p:spPr bwMode="auto">
          <a:xfrm>
            <a:off x="1778892" y="1340768"/>
            <a:ext cx="7278563" cy="1657350"/>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1684930" y="4797152"/>
            <a:ext cx="7444534" cy="4985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源地址</a:t>
            </a:r>
            <a:r>
              <a:rPr lang="en-US" altLang="zh-CN" dirty="0"/>
              <a:t>—— 128 </a:t>
            </a:r>
            <a:r>
              <a:rPr lang="zh-CN" altLang="en-US" dirty="0"/>
              <a:t>位。是数据报的发送站的 </a:t>
            </a:r>
            <a:r>
              <a:rPr lang="en-US" altLang="zh-CN" dirty="0"/>
              <a:t>IP </a:t>
            </a:r>
            <a:r>
              <a:rPr lang="zh-CN" altLang="en-US" dirty="0"/>
              <a:t>地址。 </a:t>
            </a:r>
          </a:p>
        </p:txBody>
      </p:sp>
    </p:spTree>
    <p:extLst>
      <p:ext uri="{BB962C8B-B14F-4D97-AF65-F5344CB8AC3E}">
        <p14:creationId xmlns:p14="http://schemas.microsoft.com/office/powerpoint/2010/main" val="3924321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anose="02010609060101010101"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anose="02010609060101010101" pitchFamily="2" charset="-122"/>
              </a:rPr>
              <a:t>（</a:t>
            </a:r>
            <a:r>
              <a:rPr kumimoji="1" lang="en-US" altLang="zh-CN" sz="2400" b="1" dirty="0">
                <a:solidFill>
                  <a:srgbClr val="0000CC"/>
                </a:solidFill>
                <a:latin typeface="+mn-lt"/>
                <a:ea typeface="黑体" panose="02010609060101010101" pitchFamily="2" charset="-122"/>
              </a:rPr>
              <a:t>128 </a:t>
            </a:r>
            <a:r>
              <a:rPr kumimoji="1" lang="zh-CN" altLang="en-US" sz="2400" b="1" dirty="0">
                <a:solidFill>
                  <a:srgbClr val="0000CC"/>
                </a:solidFill>
                <a:latin typeface="+mn-lt"/>
                <a:ea typeface="黑体" panose="02010609060101010101"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anose="02010609060101010101"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anose="02010609060101010101" pitchFamily="2" charset="-122"/>
              </a:rPr>
              <a:t>24</a:t>
            </a:r>
          </a:p>
        </p:txBody>
      </p:sp>
      <p:sp>
        <p:nvSpPr>
          <p:cNvPr id="41" name="AutoShape 39"/>
          <p:cNvSpPr/>
          <p:nvPr/>
        </p:nvSpPr>
        <p:spPr bwMode="auto">
          <a:xfrm>
            <a:off x="1474093" y="538907"/>
            <a:ext cx="228600" cy="4162425"/>
          </a:xfrm>
          <a:prstGeom prst="leftBrace">
            <a:avLst>
              <a:gd name="adj1" fmla="val 151736"/>
              <a:gd name="adj2" fmla="val 50000"/>
            </a:avLst>
          </a:prstGeom>
          <a:noFill/>
          <a:ln w="1905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anose="02010609060101010101"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anose="02010609060101010101" pitchFamily="2" charset="-122"/>
              </a:rPr>
              <a:t>IPv6 </a:t>
            </a:r>
            <a:r>
              <a:rPr kumimoji="1" lang="zh-CN" altLang="en-US" sz="2000" b="1" dirty="0">
                <a:solidFill>
                  <a:srgbClr val="0000CC"/>
                </a:solidFill>
                <a:latin typeface="+mn-lt"/>
                <a:ea typeface="黑体" panose="02010609060101010101" pitchFamily="2" charset="-122"/>
              </a:rPr>
              <a:t>的</a:t>
            </a:r>
          </a:p>
          <a:p>
            <a:pPr algn="ctr" defTabSz="762000" eaLnBrk="0" hangingPunct="0"/>
            <a:r>
              <a:rPr kumimoji="1" lang="zh-CN" altLang="en-US" sz="2000" b="1" dirty="0">
                <a:solidFill>
                  <a:srgbClr val="0000CC"/>
                </a:solidFill>
                <a:latin typeface="+mn-lt"/>
                <a:ea typeface="黑体" panose="02010609060101010101" pitchFamily="2" charset="-122"/>
              </a:rPr>
              <a:t>基本首部</a:t>
            </a:r>
          </a:p>
          <a:p>
            <a:pPr algn="ctr" defTabSz="762000" eaLnBrk="0" hangingPunct="0"/>
            <a:r>
              <a:rPr kumimoji="1" lang="zh-CN" altLang="en-US" sz="2000" b="1" dirty="0">
                <a:solidFill>
                  <a:srgbClr val="0000CC"/>
                </a:solidFill>
                <a:latin typeface="+mn-lt"/>
                <a:ea typeface="黑体" panose="02010609060101010101" pitchFamily="2" charset="-122"/>
              </a:rPr>
              <a:t>（</a:t>
            </a:r>
            <a:r>
              <a:rPr kumimoji="1" lang="en-US" altLang="zh-CN" sz="2000" b="1" dirty="0">
                <a:solidFill>
                  <a:srgbClr val="0000CC"/>
                </a:solidFill>
                <a:latin typeface="+mn-lt"/>
                <a:ea typeface="黑体" panose="02010609060101010101" pitchFamily="2" charset="-122"/>
              </a:rPr>
              <a:t>40 B</a:t>
            </a:r>
            <a:r>
              <a:rPr kumimoji="1" lang="zh-CN" altLang="en-US" sz="2000" b="1" dirty="0">
                <a:solidFill>
                  <a:srgbClr val="0000CC"/>
                </a:solidFill>
                <a:latin typeface="+mn-lt"/>
                <a:ea typeface="黑体" panose="02010609060101010101" pitchFamily="2" charset="-122"/>
              </a:rPr>
              <a:t>）</a:t>
            </a:r>
          </a:p>
        </p:txBody>
      </p:sp>
      <p:sp>
        <p:nvSpPr>
          <p:cNvPr id="39" name="Rectangle 37"/>
          <p:cNvSpPr>
            <a:spLocks noChangeArrowheads="1"/>
          </p:cNvSpPr>
          <p:nvPr/>
        </p:nvSpPr>
        <p:spPr bwMode="auto">
          <a:xfrm>
            <a:off x="1778892" y="2996952"/>
            <a:ext cx="7280763" cy="1711325"/>
          </a:xfrm>
          <a:prstGeom prst="rect">
            <a:avLst/>
          </a:prstGeom>
          <a:noFill/>
          <a:ln w="76200">
            <a:solidFill>
              <a:srgbClr val="FF0000"/>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1668059" y="4802610"/>
            <a:ext cx="7677429" cy="4985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anose="02010609060101010101" pitchFamily="2" charset="-122"/>
              </a:defRPr>
            </a:lvl1pPr>
          </a:lstStyle>
          <a:p>
            <a:r>
              <a:rPr lang="zh-CN" altLang="en-US" dirty="0"/>
              <a:t>目的地址</a:t>
            </a:r>
            <a:r>
              <a:rPr lang="en-US" altLang="zh-CN" dirty="0"/>
              <a:t>—— 128 </a:t>
            </a:r>
            <a:r>
              <a:rPr lang="zh-CN" altLang="en-US" dirty="0"/>
              <a:t>位。是数据报的接收站的 </a:t>
            </a:r>
            <a:r>
              <a:rPr lang="en-US" altLang="zh-CN" dirty="0"/>
              <a:t>IP </a:t>
            </a:r>
            <a:r>
              <a:rPr lang="zh-CN" altLang="en-US" dirty="0"/>
              <a:t>地址。 </a:t>
            </a:r>
          </a:p>
        </p:txBody>
      </p:sp>
    </p:spTree>
    <p:extLst>
      <p:ext uri="{BB962C8B-B14F-4D97-AF65-F5344CB8AC3E}">
        <p14:creationId xmlns:p14="http://schemas.microsoft.com/office/powerpoint/2010/main" val="1998003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2"/>
          <p:cNvSpPr>
            <a:spLocks noGrp="1" noChangeArrowheads="1"/>
          </p:cNvSpPr>
          <p:nvPr>
            <p:ph type="title"/>
          </p:nvPr>
        </p:nvSpPr>
        <p:spPr/>
        <p:txBody>
          <a:bodyPr/>
          <a:lstStyle/>
          <a:p>
            <a:pPr algn="ctr"/>
            <a:r>
              <a:rPr lang="en-US" altLang="zh-CN" dirty="0"/>
              <a:t>IPv6 </a:t>
            </a:r>
            <a:r>
              <a:rPr lang="zh-CN" altLang="en-US" dirty="0"/>
              <a:t>的扩展首部</a:t>
            </a:r>
          </a:p>
        </p:txBody>
      </p:sp>
      <p:sp>
        <p:nvSpPr>
          <p:cNvPr id="646147" name="Rectangle 3"/>
          <p:cNvSpPr>
            <a:spLocks noGrp="1" noChangeArrowheads="1"/>
          </p:cNvSpPr>
          <p:nvPr>
            <p:ph idx="1"/>
          </p:nvPr>
        </p:nvSpPr>
        <p:spPr/>
        <p:txBody>
          <a:bodyPr/>
          <a:lstStyle/>
          <a:p>
            <a:r>
              <a:rPr lang="en-US" altLang="zh-CN" dirty="0"/>
              <a:t>IPv6 </a:t>
            </a:r>
            <a:r>
              <a:rPr lang="zh-CN" altLang="en-US" dirty="0"/>
              <a:t>把原来 </a:t>
            </a:r>
            <a:r>
              <a:rPr lang="en-US" altLang="zh-CN" dirty="0"/>
              <a:t>IPv4 </a:t>
            </a:r>
            <a:r>
              <a:rPr lang="zh-CN" altLang="en-US" dirty="0"/>
              <a:t>首部中选项的功能都放在</a:t>
            </a:r>
            <a:r>
              <a:rPr lang="zh-CN" altLang="en-US" dirty="0">
                <a:solidFill>
                  <a:srgbClr val="FF0000"/>
                </a:solidFill>
              </a:rPr>
              <a:t>扩展首部</a:t>
            </a:r>
            <a:r>
              <a:rPr lang="zh-CN" altLang="en-US" dirty="0"/>
              <a:t>中，并将扩展首部留给路径两端的源站和目的站的主机来处理。</a:t>
            </a:r>
          </a:p>
          <a:p>
            <a:r>
              <a:rPr lang="zh-CN" altLang="en-US" dirty="0">
                <a:solidFill>
                  <a:srgbClr val="0000FF"/>
                </a:solidFill>
              </a:rPr>
              <a:t>数据报途中经过的路由器都不处理这些扩展首部（只有一个首部例外，即逐跳选项扩展首部）。</a:t>
            </a:r>
          </a:p>
          <a:p>
            <a:r>
              <a:rPr lang="zh-CN" altLang="en-US" dirty="0"/>
              <a:t>这样就</a:t>
            </a:r>
            <a:r>
              <a:rPr lang="zh-CN" altLang="en-US" dirty="0">
                <a:solidFill>
                  <a:srgbClr val="FF0000"/>
                </a:solidFill>
              </a:rPr>
              <a:t>大大提高了路由器的处理效率。</a:t>
            </a:r>
            <a:r>
              <a:rPr lang="zh-CN" altLang="en-US" dirty="0"/>
              <a:t> </a:t>
            </a:r>
          </a:p>
        </p:txBody>
      </p:sp>
    </p:spTree>
    <p:extLst>
      <p:ext uri="{BB962C8B-B14F-4D97-AF65-F5344CB8AC3E}">
        <p14:creationId xmlns:p14="http://schemas.microsoft.com/office/powerpoint/2010/main" val="1803824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6147">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461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2"/>
          <p:cNvSpPr>
            <a:spLocks noGrp="1" noChangeArrowheads="1"/>
          </p:cNvSpPr>
          <p:nvPr>
            <p:ph type="title"/>
          </p:nvPr>
        </p:nvSpPr>
        <p:spPr/>
        <p:txBody>
          <a:bodyPr/>
          <a:lstStyle/>
          <a:p>
            <a:pPr algn="ctr"/>
            <a:r>
              <a:rPr lang="zh-CN" altLang="en-US"/>
              <a:t>六种扩展首部 </a:t>
            </a:r>
          </a:p>
        </p:txBody>
      </p:sp>
      <p:sp>
        <p:nvSpPr>
          <p:cNvPr id="647171" name="Rectangle 3"/>
          <p:cNvSpPr>
            <a:spLocks noGrp="1" noChangeArrowheads="1"/>
          </p:cNvSpPr>
          <p:nvPr>
            <p:ph idx="1"/>
          </p:nvPr>
        </p:nvSpPr>
        <p:spPr/>
        <p:txBody>
          <a:bodyPr/>
          <a:lstStyle/>
          <a:p>
            <a:pPr>
              <a:buFont typeface="Wingdings" panose="05000000000000000000" pitchFamily="2" charset="2"/>
              <a:buNone/>
            </a:pPr>
            <a:r>
              <a:rPr lang="en-US" altLang="zh-CN" dirty="0"/>
              <a:t>	</a:t>
            </a:r>
            <a:r>
              <a:rPr lang="zh-CN" altLang="en-US" dirty="0"/>
              <a:t>在 </a:t>
            </a:r>
            <a:r>
              <a:rPr lang="en-US" altLang="zh-CN" dirty="0"/>
              <a:t>RFC 2460 </a:t>
            </a:r>
            <a:r>
              <a:rPr lang="zh-CN" altLang="en-US" dirty="0"/>
              <a:t>中定义了</a:t>
            </a:r>
            <a:r>
              <a:rPr lang="zh-CN" altLang="en-US" dirty="0">
                <a:solidFill>
                  <a:srgbClr val="FF0000"/>
                </a:solidFill>
              </a:rPr>
              <a:t>六种扩展首部：</a:t>
            </a:r>
          </a:p>
          <a:p>
            <a:r>
              <a:rPr lang="zh-CN" altLang="en-US" dirty="0"/>
              <a:t> </a:t>
            </a:r>
            <a:r>
              <a:rPr lang="en-US" altLang="zh-CN" dirty="0"/>
              <a:t>(1) </a:t>
            </a:r>
            <a:r>
              <a:rPr lang="zh-CN" altLang="en-US" dirty="0"/>
              <a:t>逐跳选项</a:t>
            </a:r>
          </a:p>
          <a:p>
            <a:r>
              <a:rPr lang="zh-CN" altLang="en-US" dirty="0"/>
              <a:t> </a:t>
            </a:r>
            <a:r>
              <a:rPr lang="en-US" altLang="zh-CN" dirty="0"/>
              <a:t>(2) </a:t>
            </a:r>
            <a:r>
              <a:rPr lang="zh-CN" altLang="en-US" dirty="0"/>
              <a:t>路由选择</a:t>
            </a:r>
          </a:p>
          <a:p>
            <a:r>
              <a:rPr lang="zh-CN" altLang="en-US" dirty="0"/>
              <a:t> </a:t>
            </a:r>
            <a:r>
              <a:rPr lang="en-US" altLang="zh-CN" dirty="0"/>
              <a:t>(3) </a:t>
            </a:r>
            <a:r>
              <a:rPr lang="zh-CN" altLang="en-US" dirty="0"/>
              <a:t>分片</a:t>
            </a:r>
          </a:p>
          <a:p>
            <a:r>
              <a:rPr lang="zh-CN" altLang="en-US" dirty="0"/>
              <a:t> </a:t>
            </a:r>
            <a:r>
              <a:rPr lang="en-US" altLang="zh-CN" dirty="0"/>
              <a:t>(4) </a:t>
            </a:r>
            <a:r>
              <a:rPr lang="zh-CN" altLang="en-US" dirty="0"/>
              <a:t>鉴别</a:t>
            </a:r>
          </a:p>
          <a:p>
            <a:r>
              <a:rPr lang="zh-CN" altLang="en-US" dirty="0"/>
              <a:t> </a:t>
            </a:r>
            <a:r>
              <a:rPr lang="en-US" altLang="zh-CN" dirty="0"/>
              <a:t>(5) </a:t>
            </a:r>
            <a:r>
              <a:rPr lang="zh-CN" altLang="en-US" dirty="0"/>
              <a:t>封装安全有效载荷</a:t>
            </a:r>
          </a:p>
          <a:p>
            <a:r>
              <a:rPr lang="zh-CN" altLang="en-US" dirty="0"/>
              <a:t> </a:t>
            </a:r>
            <a:r>
              <a:rPr lang="en-US" altLang="zh-CN" dirty="0"/>
              <a:t>(6) </a:t>
            </a:r>
            <a:r>
              <a:rPr lang="zh-CN" altLang="en-US" dirty="0"/>
              <a:t>目的站选项 </a:t>
            </a:r>
          </a:p>
        </p:txBody>
      </p:sp>
      <p:sp>
        <p:nvSpPr>
          <p:cNvPr id="2" name="矩形 1"/>
          <p:cNvSpPr/>
          <p:nvPr/>
        </p:nvSpPr>
        <p:spPr>
          <a:xfrm>
            <a:off x="4016896" y="2060238"/>
            <a:ext cx="5688632" cy="2123658"/>
          </a:xfrm>
          <a:prstGeom prst="rect">
            <a:avLst/>
          </a:prstGeom>
          <a:solidFill>
            <a:srgbClr val="66FF66"/>
          </a:solidFill>
          <a:ln>
            <a:solidFill>
              <a:schemeClr val="tx1"/>
            </a:solidFill>
          </a:ln>
        </p:spPr>
        <p:txBody>
          <a:bodyPr wrap="square">
            <a:spAutoFit/>
          </a:bodyPr>
          <a:lstStyle/>
          <a:p>
            <a:pPr>
              <a:lnSpc>
                <a:spcPct val="110000"/>
              </a:lnSpc>
              <a:spcBef>
                <a:spcPts val="600"/>
              </a:spcBef>
            </a:pPr>
            <a:r>
              <a:rPr lang="zh-CN" altLang="zh-CN" sz="2400" b="1" dirty="0">
                <a:solidFill>
                  <a:srgbClr val="000099"/>
                </a:solidFill>
                <a:latin typeface="+mn-lt"/>
                <a:ea typeface="黑体" panose="02010609060101010101" pitchFamily="2" charset="-122"/>
              </a:rPr>
              <a:t>每一个扩展首部都由若干个字段组成，它们的长度也各不</a:t>
            </a:r>
            <a:r>
              <a:rPr lang="zh-CN" altLang="en-US" sz="2400" b="1" dirty="0">
                <a:solidFill>
                  <a:srgbClr val="000099"/>
                </a:solidFill>
                <a:latin typeface="+mn-lt"/>
                <a:ea typeface="黑体" panose="02010609060101010101" pitchFamily="2" charset="-122"/>
              </a:rPr>
              <a:t>相</a:t>
            </a:r>
            <a:r>
              <a:rPr lang="zh-CN" altLang="zh-CN" sz="2400" b="1" dirty="0">
                <a:solidFill>
                  <a:srgbClr val="000099"/>
                </a:solidFill>
                <a:latin typeface="+mn-lt"/>
                <a:ea typeface="黑体" panose="02010609060101010101" pitchFamily="2" charset="-122"/>
              </a:rPr>
              <a:t>同。但所有扩展首部的第一个字段都是</a:t>
            </a:r>
            <a:r>
              <a:rPr lang="en-US" altLang="zh-CN" sz="2400" b="1" dirty="0">
                <a:solidFill>
                  <a:srgbClr val="000099"/>
                </a:solidFill>
                <a:latin typeface="+mn-lt"/>
                <a:ea typeface="黑体" panose="02010609060101010101" pitchFamily="2" charset="-122"/>
              </a:rPr>
              <a:t>8</a:t>
            </a:r>
            <a:r>
              <a:rPr lang="zh-CN" altLang="zh-CN" sz="2400" b="1" dirty="0">
                <a:solidFill>
                  <a:srgbClr val="000099"/>
                </a:solidFill>
                <a:latin typeface="+mn-lt"/>
                <a:ea typeface="黑体" panose="02010609060101010101" pitchFamily="2" charset="-122"/>
              </a:rPr>
              <a:t>位的“下一个首部”字段。此字段的值指出了在该扩展首部后面的字段是什么。</a:t>
            </a:r>
            <a:endParaRPr lang="zh-CN" altLang="en-US" sz="2400" b="1" dirty="0">
              <a:solidFill>
                <a:srgbClr val="000099"/>
              </a:solidFill>
              <a:latin typeface="+mn-lt"/>
              <a:ea typeface="黑体" panose="02010609060101010101" pitchFamily="2" charset="-122"/>
            </a:endParaRPr>
          </a:p>
        </p:txBody>
      </p:sp>
    </p:spTree>
    <p:extLst>
      <p:ext uri="{BB962C8B-B14F-4D97-AF65-F5344CB8AC3E}">
        <p14:creationId xmlns:p14="http://schemas.microsoft.com/office/powerpoint/2010/main" val="155644988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4.6.2  IPv6 </a:t>
            </a:r>
            <a:r>
              <a:rPr lang="zh-CN" altLang="zh-CN" dirty="0"/>
              <a:t>的地址</a:t>
            </a:r>
            <a:endParaRPr lang="zh-CN" altLang="en-US" dirty="0"/>
          </a:p>
        </p:txBody>
      </p:sp>
      <p:sp>
        <p:nvSpPr>
          <p:cNvPr id="3" name="内容占位符 2"/>
          <p:cNvSpPr>
            <a:spLocks noGrp="1"/>
          </p:cNvSpPr>
          <p:nvPr>
            <p:ph idx="1"/>
          </p:nvPr>
        </p:nvSpPr>
        <p:spPr/>
        <p:txBody>
          <a:bodyPr/>
          <a:lstStyle/>
          <a:p>
            <a:r>
              <a:rPr lang="en-US" altLang="zh-CN" dirty="0"/>
              <a:t>IPv6 </a:t>
            </a:r>
            <a:r>
              <a:rPr lang="zh-CN" altLang="en-US" dirty="0"/>
              <a:t>数据报的目的地址可以是以下三种基本类型地址之一：</a:t>
            </a:r>
          </a:p>
          <a:p>
            <a:pPr lvl="1"/>
            <a:r>
              <a:rPr lang="en-US" altLang="zh-CN" dirty="0"/>
              <a:t>(1) </a:t>
            </a:r>
            <a:r>
              <a:rPr lang="zh-CN" altLang="en-US" dirty="0">
                <a:solidFill>
                  <a:srgbClr val="FF0000"/>
                </a:solidFill>
              </a:rPr>
              <a:t>单播</a:t>
            </a:r>
            <a:r>
              <a:rPr lang="zh-CN" altLang="en-US" dirty="0">
                <a:solidFill>
                  <a:schemeClr val="hlink"/>
                </a:solidFill>
              </a:rPr>
              <a:t> </a:t>
            </a:r>
            <a:r>
              <a:rPr lang="en-US" altLang="zh-CN" dirty="0"/>
              <a:t>(unicast)</a:t>
            </a:r>
            <a:r>
              <a:rPr lang="zh-CN" altLang="en-US" dirty="0"/>
              <a:t>：传统的点对点通信。</a:t>
            </a:r>
          </a:p>
          <a:p>
            <a:pPr lvl="1"/>
            <a:r>
              <a:rPr lang="en-US" altLang="zh-CN" dirty="0"/>
              <a:t>(2) </a:t>
            </a:r>
            <a:r>
              <a:rPr lang="zh-CN" altLang="en-US" dirty="0">
                <a:solidFill>
                  <a:srgbClr val="FF0000"/>
                </a:solidFill>
              </a:rPr>
              <a:t>多播</a:t>
            </a:r>
            <a:r>
              <a:rPr lang="zh-CN" altLang="en-US" dirty="0">
                <a:solidFill>
                  <a:schemeClr val="hlink"/>
                </a:solidFill>
              </a:rPr>
              <a:t> </a:t>
            </a:r>
            <a:r>
              <a:rPr lang="en-US" altLang="zh-CN" dirty="0"/>
              <a:t>(multicast)</a:t>
            </a:r>
            <a:r>
              <a:rPr lang="zh-CN" altLang="en-US" dirty="0"/>
              <a:t>：一点对多点的通信。</a:t>
            </a:r>
          </a:p>
          <a:p>
            <a:pPr lvl="1"/>
            <a:r>
              <a:rPr lang="en-US" altLang="zh-CN" dirty="0"/>
              <a:t>(3) </a:t>
            </a:r>
            <a:r>
              <a:rPr lang="zh-CN" altLang="en-US" dirty="0">
                <a:solidFill>
                  <a:srgbClr val="FF0000"/>
                </a:solidFill>
              </a:rPr>
              <a:t>任播</a:t>
            </a:r>
            <a:r>
              <a:rPr lang="zh-CN" altLang="en-US" dirty="0">
                <a:solidFill>
                  <a:schemeClr val="hlink"/>
                </a:solidFill>
              </a:rPr>
              <a:t> </a:t>
            </a:r>
            <a:r>
              <a:rPr lang="en-US" altLang="zh-CN" dirty="0"/>
              <a:t>(anycast)</a:t>
            </a:r>
            <a:r>
              <a:rPr lang="zh-CN" altLang="en-US" dirty="0"/>
              <a:t>：这是 </a:t>
            </a:r>
            <a:r>
              <a:rPr lang="en-US" altLang="zh-CN" dirty="0"/>
              <a:t>IPv6 </a:t>
            </a:r>
            <a:r>
              <a:rPr lang="zh-CN" altLang="en-US" dirty="0"/>
              <a:t>增加的一种类型。任播的目的站是一组计算机，但数据报在交付时只交付其中的一个，通常是距离最近的一个。 </a:t>
            </a:r>
          </a:p>
        </p:txBody>
      </p:sp>
    </p:spTree>
    <p:extLst>
      <p:ext uri="{BB962C8B-B14F-4D97-AF65-F5344CB8AC3E}">
        <p14:creationId xmlns:p14="http://schemas.microsoft.com/office/powerpoint/2010/main" val="2771007523"/>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8" name="Rectangle 2"/>
          <p:cNvSpPr>
            <a:spLocks noGrp="1" noChangeArrowheads="1"/>
          </p:cNvSpPr>
          <p:nvPr>
            <p:ph type="title"/>
          </p:nvPr>
        </p:nvSpPr>
        <p:spPr/>
        <p:txBody>
          <a:bodyPr/>
          <a:lstStyle/>
          <a:p>
            <a:pPr algn="ctr"/>
            <a:r>
              <a:rPr lang="zh-CN" altLang="en-US"/>
              <a:t>结点与接口</a:t>
            </a:r>
          </a:p>
        </p:txBody>
      </p:sp>
      <p:sp>
        <p:nvSpPr>
          <p:cNvPr id="654339" name="Rectangle 3"/>
          <p:cNvSpPr>
            <a:spLocks noGrp="1" noChangeArrowheads="1"/>
          </p:cNvSpPr>
          <p:nvPr>
            <p:ph idx="1"/>
          </p:nvPr>
        </p:nvSpPr>
        <p:spPr/>
        <p:txBody>
          <a:bodyPr/>
          <a:lstStyle/>
          <a:p>
            <a:r>
              <a:rPr lang="en-US" altLang="zh-CN" dirty="0"/>
              <a:t>IPv6 </a:t>
            </a:r>
            <a:r>
              <a:rPr lang="zh-CN" altLang="en-US" dirty="0"/>
              <a:t>将实现 </a:t>
            </a:r>
            <a:r>
              <a:rPr lang="en-US" altLang="zh-CN" dirty="0"/>
              <a:t>IPv6 </a:t>
            </a:r>
            <a:r>
              <a:rPr lang="zh-CN" altLang="en-US" dirty="0"/>
              <a:t>的主机和路由器均称为</a:t>
            </a:r>
            <a:r>
              <a:rPr lang="zh-CN" altLang="en-US" dirty="0">
                <a:solidFill>
                  <a:srgbClr val="FF0000"/>
                </a:solidFill>
              </a:rPr>
              <a:t>结点。</a:t>
            </a:r>
            <a:endParaRPr lang="en-US" altLang="zh-CN" dirty="0">
              <a:solidFill>
                <a:srgbClr val="FF0000"/>
              </a:solidFill>
            </a:endParaRPr>
          </a:p>
          <a:p>
            <a:r>
              <a:rPr lang="zh-CN" altLang="zh-CN" dirty="0"/>
              <a:t>一个结点就可能有多个与链路相连的接口</a:t>
            </a:r>
            <a:r>
              <a:rPr lang="zh-CN" altLang="en-US" dirty="0"/>
              <a:t>。</a:t>
            </a:r>
          </a:p>
          <a:p>
            <a:r>
              <a:rPr lang="en-US" altLang="zh-CN" dirty="0"/>
              <a:t>IPv6 </a:t>
            </a:r>
            <a:r>
              <a:rPr lang="zh-CN" altLang="en-US" dirty="0"/>
              <a:t>地址是分配给结点上面的接口的。</a:t>
            </a:r>
          </a:p>
          <a:p>
            <a:pPr lvl="1"/>
            <a:r>
              <a:rPr lang="zh-CN" altLang="en-US" dirty="0">
                <a:solidFill>
                  <a:srgbClr val="0000FF"/>
                </a:solidFill>
                <a:latin typeface="黑体" panose="02010609060101010101" pitchFamily="2" charset="-122"/>
                <a:ea typeface="黑体" panose="02010609060101010101" pitchFamily="2" charset="-122"/>
              </a:rPr>
              <a:t>一个接口可以有多个单播地址。</a:t>
            </a:r>
          </a:p>
          <a:p>
            <a:pPr lvl="1"/>
            <a:r>
              <a:rPr lang="zh-CN" altLang="zh-CN" dirty="0">
                <a:solidFill>
                  <a:srgbClr val="0000FF"/>
                </a:solidFill>
              </a:rPr>
              <a:t>其中的任何一个地址都可以当作到达该结点的目的地址。</a:t>
            </a:r>
            <a:r>
              <a:rPr lang="zh-CN" altLang="en-US" dirty="0">
                <a:solidFill>
                  <a:srgbClr val="FF0000"/>
                </a:solidFill>
              </a:rPr>
              <a:t>即</a:t>
            </a:r>
            <a:r>
              <a:rPr lang="zh-CN" altLang="en-US" dirty="0">
                <a:solidFill>
                  <a:srgbClr val="FF0000"/>
                </a:solidFill>
                <a:latin typeface="黑体" panose="02010609060101010101" pitchFamily="2" charset="-122"/>
                <a:ea typeface="黑体" panose="02010609060101010101" pitchFamily="2" charset="-122"/>
              </a:rPr>
              <a:t>一个结点接口的单播地址可用来唯一地标志该结点</a:t>
            </a:r>
            <a:r>
              <a:rPr lang="zh-CN" altLang="en-US" dirty="0">
                <a:solidFill>
                  <a:srgbClr val="FF0000"/>
                </a:solidFill>
                <a:latin typeface="黑体" panose="02010609060101010101" pitchFamily="2" charset="-122"/>
              </a:rPr>
              <a:t>。</a:t>
            </a:r>
            <a:endParaRPr lang="en-US" altLang="zh-CN" dirty="0">
              <a:solidFill>
                <a:srgbClr val="FF0000"/>
              </a:solidFill>
              <a:latin typeface="黑体" panose="02010609060101010101" pitchFamily="2" charset="-122"/>
            </a:endParaRPr>
          </a:p>
        </p:txBody>
      </p:sp>
    </p:spTree>
    <p:extLst>
      <p:ext uri="{BB962C8B-B14F-4D97-AF65-F5344CB8AC3E}">
        <p14:creationId xmlns:p14="http://schemas.microsoft.com/office/powerpoint/2010/main" val="57542265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2"/>
          <p:cNvSpPr>
            <a:spLocks noGrp="1" noChangeArrowheads="1"/>
          </p:cNvSpPr>
          <p:nvPr>
            <p:ph type="title"/>
          </p:nvPr>
        </p:nvSpPr>
        <p:spPr/>
        <p:txBody>
          <a:bodyPr/>
          <a:lstStyle/>
          <a:p>
            <a:pPr algn="ctr"/>
            <a:r>
              <a:rPr lang="zh-CN" altLang="en-US" dirty="0"/>
              <a:t>冒号十六进制记法</a:t>
            </a:r>
            <a:endParaRPr lang="en-US" altLang="zh-CN" dirty="0"/>
          </a:p>
        </p:txBody>
      </p:sp>
      <p:sp>
        <p:nvSpPr>
          <p:cNvPr id="655363" name="Rectangle 3"/>
          <p:cNvSpPr>
            <a:spLocks noGrp="1" noChangeArrowheads="1"/>
          </p:cNvSpPr>
          <p:nvPr>
            <p:ph idx="1"/>
          </p:nvPr>
        </p:nvSpPr>
        <p:spPr/>
        <p:txBody>
          <a:bodyPr/>
          <a:lstStyle/>
          <a:p>
            <a:r>
              <a:rPr lang="zh-CN" altLang="zh-CN" sz="2800" dirty="0"/>
              <a:t>在</a:t>
            </a:r>
            <a:r>
              <a:rPr lang="en-US" altLang="zh-CN" sz="2800" dirty="0"/>
              <a:t>IPv6</a:t>
            </a:r>
            <a:r>
              <a:rPr lang="zh-CN" altLang="zh-CN" sz="2800" dirty="0"/>
              <a:t>中，每个地址占</a:t>
            </a:r>
            <a:r>
              <a:rPr lang="en-US" altLang="zh-CN" sz="2800" dirty="0"/>
              <a:t> 128 </a:t>
            </a:r>
            <a:r>
              <a:rPr lang="zh-CN" altLang="zh-CN" sz="2800" dirty="0"/>
              <a:t>位，地址空间大于</a:t>
            </a:r>
            <a:r>
              <a:rPr lang="en-US" altLang="zh-CN" sz="2800" dirty="0"/>
              <a:t> 3.4</a:t>
            </a:r>
            <a:r>
              <a:rPr lang="en-US" altLang="zh-CN" sz="2800" dirty="0">
                <a:sym typeface="Symbol" panose="05050102010706020507"/>
              </a:rPr>
              <a:t></a:t>
            </a:r>
            <a:r>
              <a:rPr lang="en-US" altLang="zh-CN" sz="2800" dirty="0"/>
              <a:t>10</a:t>
            </a:r>
            <a:r>
              <a:rPr lang="en-US" altLang="zh-CN" sz="2800" baseline="30000" dirty="0"/>
              <a:t>38</a:t>
            </a:r>
            <a:r>
              <a:rPr lang="en-US" altLang="zh-CN" sz="2800" dirty="0"/>
              <a:t> </a:t>
            </a:r>
            <a:r>
              <a:rPr lang="zh-CN" altLang="en-US" sz="2800" dirty="0"/>
              <a:t>。</a:t>
            </a:r>
            <a:endParaRPr lang="en-US" altLang="zh-CN" sz="2800" dirty="0"/>
          </a:p>
          <a:p>
            <a:r>
              <a:rPr lang="zh-CN" altLang="zh-CN" sz="2800" dirty="0"/>
              <a:t>为了使地址再稍简洁些，</a:t>
            </a:r>
            <a:r>
              <a:rPr lang="en-US" altLang="zh-CN" sz="2800" dirty="0"/>
              <a:t>IPv6 </a:t>
            </a:r>
            <a:r>
              <a:rPr lang="zh-CN" altLang="zh-CN" sz="2800" dirty="0"/>
              <a:t>使用</a:t>
            </a:r>
            <a:r>
              <a:rPr lang="zh-CN" altLang="zh-CN" sz="2800" dirty="0">
                <a:solidFill>
                  <a:srgbClr val="FF0000"/>
                </a:solidFill>
              </a:rPr>
              <a:t>冒号十六进制记法</a:t>
            </a:r>
            <a:r>
              <a:rPr lang="en-US" altLang="zh-CN" sz="2800" dirty="0"/>
              <a:t>(colon hexadecimal notation, </a:t>
            </a:r>
            <a:r>
              <a:rPr lang="zh-CN" altLang="zh-CN" sz="2800" dirty="0"/>
              <a:t>简写为</a:t>
            </a:r>
            <a:r>
              <a:rPr lang="en-US" altLang="zh-CN" sz="2800" dirty="0"/>
              <a:t>colon hex)</a:t>
            </a:r>
            <a:r>
              <a:rPr lang="zh-CN" altLang="en-US" sz="2800" dirty="0"/>
              <a:t>。</a:t>
            </a:r>
            <a:endParaRPr lang="en-US" altLang="zh-CN" sz="2800" dirty="0"/>
          </a:p>
          <a:p>
            <a:r>
              <a:rPr lang="zh-CN" altLang="en-US" sz="2800" dirty="0"/>
              <a:t>每个 </a:t>
            </a:r>
            <a:r>
              <a:rPr lang="en-US" altLang="zh-CN" sz="2800" dirty="0"/>
              <a:t>16 </a:t>
            </a:r>
            <a:r>
              <a:rPr lang="zh-CN" altLang="en-US" sz="2800" dirty="0"/>
              <a:t>位的值用十六进制值表示，各值之间用冒号分隔。例如：</a:t>
            </a:r>
            <a:endParaRPr lang="en-US" altLang="zh-CN" sz="2800" dirty="0"/>
          </a:p>
          <a:p>
            <a:pPr marL="0" indent="0">
              <a:buNone/>
            </a:pPr>
            <a:r>
              <a:rPr lang="en-US" altLang="zh-CN" sz="2800" dirty="0"/>
              <a:t>   </a:t>
            </a:r>
            <a:r>
              <a:rPr lang="en-US" altLang="zh-CN" dirty="0">
                <a:solidFill>
                  <a:srgbClr val="0000FF"/>
                </a:solidFill>
              </a:rPr>
              <a:t>68E6:8C64:FFFF:FFFF:0:1180:960A:FFFF</a:t>
            </a:r>
          </a:p>
          <a:p>
            <a:r>
              <a:rPr lang="zh-CN" altLang="zh-CN" sz="2800" dirty="0"/>
              <a:t>在十六进制记法中，允许把数字前面的</a:t>
            </a:r>
            <a:r>
              <a:rPr lang="en-US" altLang="zh-CN" sz="2800" dirty="0"/>
              <a:t>0</a:t>
            </a:r>
            <a:r>
              <a:rPr lang="zh-CN" altLang="zh-CN" sz="2800" dirty="0"/>
              <a:t>省略。</a:t>
            </a:r>
            <a:r>
              <a:rPr lang="zh-CN" altLang="en-US" sz="2800" dirty="0"/>
              <a:t>例如</a:t>
            </a:r>
            <a:r>
              <a:rPr lang="zh-CN" altLang="zh-CN" sz="2800" dirty="0"/>
              <a:t>把</a:t>
            </a:r>
            <a:r>
              <a:rPr lang="en-US" altLang="zh-CN" sz="2800" dirty="0"/>
              <a:t>0000</a:t>
            </a:r>
            <a:r>
              <a:rPr lang="zh-CN" altLang="zh-CN" sz="2800" dirty="0"/>
              <a:t>中的前三个</a:t>
            </a:r>
            <a:r>
              <a:rPr lang="en-US" altLang="zh-CN" sz="2800" dirty="0"/>
              <a:t>0</a:t>
            </a:r>
            <a:r>
              <a:rPr lang="zh-CN" altLang="zh-CN" sz="2800" dirty="0"/>
              <a:t>省略</a:t>
            </a:r>
            <a:r>
              <a:rPr lang="zh-CN" altLang="en-US" sz="2800" dirty="0"/>
              <a:t>，写成</a:t>
            </a:r>
            <a:r>
              <a:rPr lang="en-US" altLang="zh-CN" sz="2800" dirty="0"/>
              <a:t>1</a:t>
            </a:r>
            <a:r>
              <a:rPr lang="zh-CN" altLang="en-US" sz="2800" dirty="0"/>
              <a:t>个</a:t>
            </a:r>
            <a:r>
              <a:rPr lang="en-US" altLang="zh-CN" sz="2800" dirty="0"/>
              <a:t>0</a:t>
            </a:r>
            <a:r>
              <a:rPr lang="zh-CN" altLang="zh-CN" sz="2800" dirty="0"/>
              <a:t>。</a:t>
            </a:r>
          </a:p>
          <a:p>
            <a:pPr marL="0" indent="0">
              <a:buNone/>
            </a:pPr>
            <a:endParaRPr lang="en-US" altLang="zh-CN" dirty="0">
              <a:solidFill>
                <a:srgbClr val="0000FF"/>
              </a:solidFill>
            </a:endParaRPr>
          </a:p>
        </p:txBody>
      </p:sp>
    </p:spTree>
    <p:extLst>
      <p:ext uri="{BB962C8B-B14F-4D97-AF65-F5344CB8AC3E}">
        <p14:creationId xmlns:p14="http://schemas.microsoft.com/office/powerpoint/2010/main" val="1460304572"/>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2"/>
          <p:cNvSpPr>
            <a:spLocks noGrp="1" noChangeArrowheads="1"/>
          </p:cNvSpPr>
          <p:nvPr>
            <p:ph type="title"/>
          </p:nvPr>
        </p:nvSpPr>
        <p:spPr/>
        <p:txBody>
          <a:bodyPr/>
          <a:lstStyle/>
          <a:p>
            <a:pPr algn="ctr"/>
            <a:r>
              <a:rPr lang="zh-CN" altLang="zh-CN" dirty="0"/>
              <a:t>零压缩</a:t>
            </a:r>
            <a:endParaRPr lang="en-US" altLang="zh-CN" dirty="0"/>
          </a:p>
        </p:txBody>
      </p:sp>
      <p:sp>
        <p:nvSpPr>
          <p:cNvPr id="655363" name="Rectangle 3"/>
          <p:cNvSpPr>
            <a:spLocks noGrp="1" noChangeArrowheads="1"/>
          </p:cNvSpPr>
          <p:nvPr>
            <p:ph idx="1"/>
          </p:nvPr>
        </p:nvSpPr>
        <p:spPr/>
        <p:txBody>
          <a:bodyPr/>
          <a:lstStyle/>
          <a:p>
            <a:r>
              <a:rPr lang="zh-CN" altLang="zh-CN" dirty="0"/>
              <a:t>冒号十六进制记法可以允许</a:t>
            </a:r>
            <a:r>
              <a:rPr lang="zh-CN" altLang="zh-CN" dirty="0">
                <a:solidFill>
                  <a:srgbClr val="FF0000"/>
                </a:solidFill>
              </a:rPr>
              <a:t>零压缩</a:t>
            </a:r>
            <a:r>
              <a:rPr lang="en-US" altLang="zh-CN" dirty="0">
                <a:solidFill>
                  <a:srgbClr val="FF0000"/>
                </a:solidFill>
              </a:rPr>
              <a:t> </a:t>
            </a:r>
            <a:r>
              <a:rPr lang="en-US" altLang="zh-CN" dirty="0"/>
              <a:t>(zero compression)</a:t>
            </a:r>
            <a:r>
              <a:rPr lang="zh-CN" altLang="zh-CN" dirty="0"/>
              <a:t>，即一连串连续的零可以为一对冒号所取代</a:t>
            </a:r>
            <a:r>
              <a:rPr lang="zh-CN" altLang="en-US" dirty="0"/>
              <a:t>。</a:t>
            </a:r>
            <a:endParaRPr lang="en-US" altLang="zh-CN" dirty="0"/>
          </a:p>
          <a:p>
            <a:pPr marL="0" indent="0">
              <a:buNone/>
            </a:pPr>
            <a:r>
              <a:rPr lang="en-US" altLang="zh-CN" dirty="0"/>
              <a:t>    FF05:0:0:0:0:0:0:B3    </a:t>
            </a:r>
            <a:r>
              <a:rPr lang="zh-CN" altLang="zh-CN" dirty="0"/>
              <a:t>可压缩为：</a:t>
            </a:r>
            <a:r>
              <a:rPr lang="en-US" altLang="zh-CN" dirty="0"/>
              <a:t>   </a:t>
            </a:r>
          </a:p>
          <a:p>
            <a:pPr marL="0" indent="0">
              <a:buNone/>
            </a:pPr>
            <a:r>
              <a:rPr lang="en-US" altLang="zh-CN" dirty="0"/>
              <a:t>    FF05::B3</a:t>
            </a:r>
            <a:endParaRPr lang="zh-CN" altLang="zh-CN" dirty="0"/>
          </a:p>
          <a:p>
            <a:r>
              <a:rPr lang="zh-CN" altLang="en-US" dirty="0">
                <a:solidFill>
                  <a:srgbClr val="FF0000"/>
                </a:solidFill>
              </a:rPr>
              <a:t>注意：</a:t>
            </a:r>
            <a:r>
              <a:rPr lang="zh-CN" altLang="zh-CN" dirty="0">
                <a:solidFill>
                  <a:srgbClr val="FF0000"/>
                </a:solidFill>
              </a:rPr>
              <a:t>在任一地址中只能使用一次零压缩。</a:t>
            </a:r>
          </a:p>
          <a:p>
            <a:endParaRPr lang="en-US" altLang="zh-CN" dirty="0"/>
          </a:p>
        </p:txBody>
      </p:sp>
    </p:spTree>
    <p:extLst>
      <p:ext uri="{BB962C8B-B14F-4D97-AF65-F5344CB8AC3E}">
        <p14:creationId xmlns:p14="http://schemas.microsoft.com/office/powerpoint/2010/main" val="1055237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5536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5536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5536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553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6" name="Rectangle 2"/>
          <p:cNvSpPr>
            <a:spLocks noGrp="1" noChangeArrowheads="1"/>
          </p:cNvSpPr>
          <p:nvPr>
            <p:ph type="title"/>
          </p:nvPr>
        </p:nvSpPr>
        <p:spPr/>
        <p:txBody>
          <a:bodyPr/>
          <a:lstStyle/>
          <a:p>
            <a:pPr algn="ctr"/>
            <a:r>
              <a:rPr lang="zh-CN" altLang="en-US" dirty="0"/>
              <a:t>点分十进制记法的后缀 </a:t>
            </a:r>
          </a:p>
        </p:txBody>
      </p:sp>
      <p:sp>
        <p:nvSpPr>
          <p:cNvPr id="656387" name="Rectangle 3"/>
          <p:cNvSpPr>
            <a:spLocks noGrp="1" noChangeArrowheads="1"/>
          </p:cNvSpPr>
          <p:nvPr>
            <p:ph idx="1"/>
          </p:nvPr>
        </p:nvSpPr>
        <p:spPr/>
        <p:txBody>
          <a:bodyPr/>
          <a:lstStyle/>
          <a:p>
            <a:r>
              <a:rPr lang="zh-CN" altLang="zh-CN" sz="2800" dirty="0"/>
              <a:t>冒号十六进制记法可结合使用点分十进制记法的后缀</a:t>
            </a:r>
            <a:r>
              <a:rPr lang="zh-CN" altLang="en-US" sz="2800" dirty="0"/>
              <a:t>，</a:t>
            </a:r>
            <a:r>
              <a:rPr lang="zh-CN" altLang="zh-CN" sz="2800" dirty="0"/>
              <a:t>这种结合在</a:t>
            </a:r>
            <a:r>
              <a:rPr lang="en-US" altLang="zh-CN" sz="2800" dirty="0"/>
              <a:t> IPv4 </a:t>
            </a:r>
            <a:r>
              <a:rPr lang="zh-CN" altLang="zh-CN" sz="2800" dirty="0"/>
              <a:t>向</a:t>
            </a:r>
            <a:r>
              <a:rPr lang="en-US" altLang="zh-CN" sz="2800" dirty="0"/>
              <a:t> IPv6 </a:t>
            </a:r>
            <a:r>
              <a:rPr lang="zh-CN" altLang="zh-CN" sz="2800" dirty="0"/>
              <a:t>的转换阶段特别有用。</a:t>
            </a:r>
            <a:endParaRPr lang="en-US" altLang="zh-CN" sz="2800" dirty="0"/>
          </a:p>
          <a:p>
            <a:r>
              <a:rPr lang="zh-CN" altLang="en-US" sz="2800" dirty="0"/>
              <a:t>例如：</a:t>
            </a:r>
            <a:r>
              <a:rPr lang="en-US" altLang="zh-CN" sz="2800" dirty="0">
                <a:solidFill>
                  <a:srgbClr val="0000FF"/>
                </a:solidFill>
              </a:rPr>
              <a:t>0:0:0:0:0:0:128.10.2.1</a:t>
            </a:r>
          </a:p>
          <a:p>
            <a:pPr marL="0" indent="0">
              <a:buNone/>
            </a:pPr>
            <a:r>
              <a:rPr lang="en-US" altLang="zh-CN" sz="2800" dirty="0"/>
              <a:t>    </a:t>
            </a:r>
            <a:r>
              <a:rPr lang="zh-CN" altLang="en-US" sz="2800" dirty="0"/>
              <a:t>再使用零压缩即可得出：  </a:t>
            </a:r>
            <a:r>
              <a:rPr lang="en-US" altLang="zh-CN" sz="2800" dirty="0">
                <a:solidFill>
                  <a:srgbClr val="0000FF"/>
                </a:solidFill>
              </a:rPr>
              <a:t>::128.10.2.1</a:t>
            </a:r>
          </a:p>
          <a:p>
            <a:r>
              <a:rPr lang="en-US" altLang="zh-CN" sz="2800" dirty="0">
                <a:solidFill>
                  <a:srgbClr val="FF0000"/>
                </a:solidFill>
              </a:rPr>
              <a:t>CIDR </a:t>
            </a:r>
            <a:r>
              <a:rPr lang="zh-CN" altLang="en-US" sz="2800" dirty="0">
                <a:solidFill>
                  <a:srgbClr val="FF0000"/>
                </a:solidFill>
              </a:rPr>
              <a:t>的斜线表示法仍然可用。</a:t>
            </a:r>
          </a:p>
          <a:p>
            <a:r>
              <a:rPr lang="zh-CN" altLang="en-US" sz="2800" dirty="0"/>
              <a:t>例如：</a:t>
            </a:r>
            <a:r>
              <a:rPr lang="en-US" altLang="zh-CN" sz="2800" dirty="0"/>
              <a:t>60 </a:t>
            </a:r>
            <a:r>
              <a:rPr lang="zh-CN" altLang="en-US" sz="2800" dirty="0"/>
              <a:t>位的前缀 </a:t>
            </a:r>
            <a:r>
              <a:rPr lang="en-US" altLang="zh-CN" sz="2800" dirty="0"/>
              <a:t>12AB00000000CD3 </a:t>
            </a:r>
            <a:r>
              <a:rPr lang="zh-CN" altLang="en-US" sz="2800" dirty="0"/>
              <a:t>可记为：</a:t>
            </a:r>
          </a:p>
          <a:p>
            <a:pPr>
              <a:buFont typeface="Wingdings" panose="05000000000000000000" pitchFamily="2" charset="2"/>
              <a:buNone/>
            </a:pPr>
            <a:r>
              <a:rPr lang="zh-CN" altLang="en-US" sz="2800" dirty="0"/>
              <a:t>    </a:t>
            </a:r>
            <a:r>
              <a:rPr lang="en-US" altLang="zh-CN" sz="2800" dirty="0">
                <a:solidFill>
                  <a:srgbClr val="0000FF"/>
                </a:solidFill>
              </a:rPr>
              <a:t>12AB:0000:0000:CD30:0000:0000:0000:0000/60</a:t>
            </a:r>
          </a:p>
          <a:p>
            <a:pPr>
              <a:buFont typeface="Wingdings" panose="05000000000000000000" pitchFamily="2" charset="2"/>
              <a:buNone/>
            </a:pPr>
            <a:r>
              <a:rPr lang="zh-CN" altLang="en-US" sz="2800" dirty="0"/>
              <a:t>或 </a:t>
            </a:r>
            <a:r>
              <a:rPr lang="en-US" altLang="zh-CN" sz="2800" dirty="0">
                <a:solidFill>
                  <a:srgbClr val="0000FF"/>
                </a:solidFill>
              </a:rPr>
              <a:t>12AB::CD30:0:0:0:0/60 </a:t>
            </a:r>
            <a:r>
              <a:rPr lang="zh-CN" altLang="en-US" sz="2800" dirty="0">
                <a:solidFill>
                  <a:srgbClr val="0000FF"/>
                </a:solidFill>
              </a:rPr>
              <a:t>（零压缩）</a:t>
            </a:r>
            <a:endParaRPr lang="en-US" altLang="zh-CN" sz="2800" dirty="0">
              <a:solidFill>
                <a:srgbClr val="0000FF"/>
              </a:solidFill>
            </a:endParaRPr>
          </a:p>
          <a:p>
            <a:pPr>
              <a:buNone/>
            </a:pPr>
            <a:r>
              <a:rPr lang="zh-CN" altLang="en-US" sz="2800" dirty="0"/>
              <a:t>或 </a:t>
            </a:r>
            <a:r>
              <a:rPr lang="en-US" altLang="zh-CN" sz="2800" dirty="0">
                <a:solidFill>
                  <a:srgbClr val="0000FF"/>
                </a:solidFill>
              </a:rPr>
              <a:t>12AB:0:0:CD30::/60</a:t>
            </a:r>
            <a:r>
              <a:rPr lang="en-US" altLang="zh-CN" dirty="0">
                <a:solidFill>
                  <a:srgbClr val="0000FF"/>
                </a:solidFill>
              </a:rPr>
              <a:t> </a:t>
            </a:r>
            <a:r>
              <a:rPr lang="zh-CN" altLang="en-US" sz="2800" dirty="0">
                <a:solidFill>
                  <a:srgbClr val="0000FF"/>
                </a:solidFill>
              </a:rPr>
              <a:t>（零压缩）</a:t>
            </a:r>
            <a:endParaRPr lang="en-US" altLang="zh-CN" sz="2800" dirty="0">
              <a:solidFill>
                <a:srgbClr val="0000FF"/>
              </a:solidFill>
            </a:endParaRPr>
          </a:p>
        </p:txBody>
      </p:sp>
    </p:spTree>
    <p:extLst>
      <p:ext uri="{BB962C8B-B14F-4D97-AF65-F5344CB8AC3E}">
        <p14:creationId xmlns:p14="http://schemas.microsoft.com/office/powerpoint/2010/main" val="2174963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56387">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56387">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5638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5638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5638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IPv6 </a:t>
            </a:r>
            <a:r>
              <a:rPr lang="zh-CN" altLang="en-US" dirty="0"/>
              <a:t>地址分类</a:t>
            </a:r>
          </a:p>
        </p:txBody>
      </p:sp>
      <p:graphicFrame>
        <p:nvGraphicFramePr>
          <p:cNvPr id="4" name="内容占位符 3"/>
          <p:cNvGraphicFramePr>
            <a:graphicFrameLocks noGrp="1"/>
          </p:cNvGraphicFramePr>
          <p:nvPr>
            <p:ph idx="1"/>
          </p:nvPr>
        </p:nvGraphicFramePr>
        <p:xfrm>
          <a:off x="704528" y="1700808"/>
          <a:ext cx="8928992" cy="3096342"/>
        </p:xfrm>
        <a:graphic>
          <a:graphicData uri="http://schemas.openxmlformats.org/drawingml/2006/table">
            <a:tbl>
              <a:tblPr>
                <a:tableStyleId>{5C22544A-7EE6-4342-B048-85BDC9FD1C3A}</a:tableStyleId>
              </a:tblPr>
              <a:tblGrid>
                <a:gridCol w="2799907">
                  <a:extLst>
                    <a:ext uri="{9D8B030D-6E8A-4147-A177-3AD203B41FA5}">
                      <a16:colId xmlns:a16="http://schemas.microsoft.com/office/drawing/2014/main" val="20000"/>
                    </a:ext>
                  </a:extLst>
                </a:gridCol>
                <a:gridCol w="6129085">
                  <a:extLst>
                    <a:ext uri="{9D8B030D-6E8A-4147-A177-3AD203B41FA5}">
                      <a16:colId xmlns:a16="http://schemas.microsoft.com/office/drawing/2014/main" val="20001"/>
                    </a:ext>
                  </a:extLst>
                </a:gridCol>
              </a:tblGrid>
              <a:tr h="516057">
                <a:tc>
                  <a:txBody>
                    <a:bodyPr/>
                    <a:lstStyle/>
                    <a:p>
                      <a:pPr algn="ctr">
                        <a:lnSpc>
                          <a:spcPct val="100000"/>
                        </a:lnSpc>
                        <a:spcAft>
                          <a:spcPts val="0"/>
                        </a:spcAft>
                      </a:pPr>
                      <a:r>
                        <a:rPr lang="zh-CN" sz="2400" b="1" dirty="0">
                          <a:solidFill>
                            <a:schemeClr val="tx1"/>
                          </a:solidFill>
                          <a:effectLst/>
                          <a:latin typeface="+mn-lt"/>
                          <a:ea typeface="黑体" panose="02010609060101010101" pitchFamily="2" charset="-122"/>
                        </a:rPr>
                        <a:t>地址类型</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zh-CN" sz="2400" b="1" dirty="0">
                          <a:solidFill>
                            <a:schemeClr val="tx1"/>
                          </a:solidFill>
                          <a:effectLst/>
                          <a:latin typeface="+mn-lt"/>
                          <a:ea typeface="黑体" panose="02010609060101010101" pitchFamily="2" charset="-122"/>
                        </a:rPr>
                        <a:t>二进制前缀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0"/>
                  </a:ext>
                </a:extLst>
              </a:tr>
              <a:tr h="516057">
                <a:tc>
                  <a:txBody>
                    <a:bodyPr/>
                    <a:lstStyle/>
                    <a:p>
                      <a:pPr algn="just">
                        <a:lnSpc>
                          <a:spcPct val="100000"/>
                        </a:lnSpc>
                        <a:spcAft>
                          <a:spcPts val="0"/>
                        </a:spcAft>
                      </a:pPr>
                      <a:r>
                        <a:rPr lang="zh-CN" sz="2400" b="1">
                          <a:solidFill>
                            <a:schemeClr val="tx1"/>
                          </a:solidFill>
                          <a:effectLst/>
                          <a:latin typeface="+mn-lt"/>
                          <a:ea typeface="黑体" panose="02010609060101010101" pitchFamily="2" charset="-122"/>
                        </a:rPr>
                        <a:t>未指明地址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anose="02010609060101010101" pitchFamily="2" charset="-122"/>
                        </a:rPr>
                        <a:t>00…0</a:t>
                      </a:r>
                      <a:r>
                        <a:rPr lang="zh-CN" sz="2400" b="1" dirty="0">
                          <a:solidFill>
                            <a:schemeClr val="tx1"/>
                          </a:solidFill>
                          <a:effectLst/>
                          <a:latin typeface="+mn-lt"/>
                          <a:ea typeface="黑体" panose="02010609060101010101" pitchFamily="2" charset="-122"/>
                        </a:rPr>
                        <a:t>（</a:t>
                      </a:r>
                      <a:r>
                        <a:rPr lang="en-US" sz="2400" b="1" dirty="0">
                          <a:solidFill>
                            <a:schemeClr val="tx1"/>
                          </a:solidFill>
                          <a:effectLst/>
                          <a:latin typeface="+mn-lt"/>
                          <a:ea typeface="黑体" panose="02010609060101010101" pitchFamily="2" charset="-122"/>
                        </a:rPr>
                        <a:t>128</a:t>
                      </a:r>
                      <a:r>
                        <a:rPr lang="zh-CN" sz="2400" b="1" dirty="0">
                          <a:solidFill>
                            <a:schemeClr val="tx1"/>
                          </a:solidFill>
                          <a:effectLst/>
                          <a:latin typeface="+mn-lt"/>
                          <a:ea typeface="黑体" panose="02010609060101010101" pitchFamily="2" charset="-122"/>
                        </a:rPr>
                        <a:t>位），可记为</a:t>
                      </a:r>
                      <a:r>
                        <a:rPr lang="en-US" altLang="zh-CN" sz="2400" b="1" dirty="0">
                          <a:solidFill>
                            <a:schemeClr val="tx1"/>
                          </a:solidFill>
                          <a:effectLst/>
                          <a:latin typeface="+mn-lt"/>
                          <a:ea typeface="黑体" panose="02010609060101010101" pitchFamily="2" charset="-122"/>
                        </a:rPr>
                        <a:t> </a:t>
                      </a:r>
                      <a:r>
                        <a:rPr lang="en-US" sz="2400" b="1" dirty="0">
                          <a:solidFill>
                            <a:schemeClr val="tx1"/>
                          </a:solidFill>
                          <a:effectLst/>
                          <a:latin typeface="+mn-lt"/>
                          <a:ea typeface="黑体" panose="02010609060101010101" pitchFamily="2" charset="-122"/>
                        </a:rPr>
                        <a:t>::/128</a:t>
                      </a:r>
                      <a:r>
                        <a:rPr lang="zh-CN" sz="2400" b="1" dirty="0">
                          <a:solidFill>
                            <a:schemeClr val="tx1"/>
                          </a:solidFill>
                          <a:effectLst/>
                          <a:latin typeface="+mn-lt"/>
                          <a:ea typeface="黑体" panose="02010609060101010101"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16057">
                <a:tc>
                  <a:txBody>
                    <a:bodyPr/>
                    <a:lstStyle/>
                    <a:p>
                      <a:pPr algn="just">
                        <a:lnSpc>
                          <a:spcPct val="100000"/>
                        </a:lnSpc>
                        <a:spcAft>
                          <a:spcPts val="0"/>
                        </a:spcAft>
                      </a:pPr>
                      <a:r>
                        <a:rPr lang="zh-CN" sz="2400" b="1">
                          <a:solidFill>
                            <a:schemeClr val="tx1"/>
                          </a:solidFill>
                          <a:effectLst/>
                          <a:latin typeface="+mn-lt"/>
                          <a:ea typeface="黑体" panose="02010609060101010101" pitchFamily="2" charset="-122"/>
                        </a:rPr>
                        <a:t>环回地址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anose="02010609060101010101" pitchFamily="2" charset="-122"/>
                        </a:rPr>
                        <a:t>00…1</a:t>
                      </a:r>
                      <a:r>
                        <a:rPr lang="zh-CN" sz="2400" b="1" dirty="0">
                          <a:solidFill>
                            <a:schemeClr val="tx1"/>
                          </a:solidFill>
                          <a:effectLst/>
                          <a:latin typeface="+mn-lt"/>
                          <a:ea typeface="黑体" panose="02010609060101010101" pitchFamily="2" charset="-122"/>
                        </a:rPr>
                        <a:t>（</a:t>
                      </a:r>
                      <a:r>
                        <a:rPr lang="en-US" sz="2400" b="1" dirty="0">
                          <a:solidFill>
                            <a:schemeClr val="tx1"/>
                          </a:solidFill>
                          <a:effectLst/>
                          <a:latin typeface="+mn-lt"/>
                          <a:ea typeface="黑体" panose="02010609060101010101" pitchFamily="2" charset="-122"/>
                        </a:rPr>
                        <a:t>128</a:t>
                      </a:r>
                      <a:r>
                        <a:rPr lang="zh-CN" sz="2400" b="1" dirty="0">
                          <a:solidFill>
                            <a:schemeClr val="tx1"/>
                          </a:solidFill>
                          <a:effectLst/>
                          <a:latin typeface="+mn-lt"/>
                          <a:ea typeface="黑体" panose="02010609060101010101" pitchFamily="2" charset="-122"/>
                        </a:rPr>
                        <a:t>位），可记为</a:t>
                      </a:r>
                      <a:r>
                        <a:rPr lang="en-US" altLang="zh-CN" sz="2400" b="1" dirty="0">
                          <a:solidFill>
                            <a:schemeClr val="tx1"/>
                          </a:solidFill>
                          <a:effectLst/>
                          <a:latin typeface="+mn-lt"/>
                          <a:ea typeface="黑体" panose="02010609060101010101" pitchFamily="2" charset="-122"/>
                        </a:rPr>
                        <a:t> </a:t>
                      </a:r>
                      <a:r>
                        <a:rPr lang="en-US" sz="2400" b="1" dirty="0">
                          <a:solidFill>
                            <a:schemeClr val="tx1"/>
                          </a:solidFill>
                          <a:effectLst/>
                          <a:latin typeface="+mn-lt"/>
                          <a:ea typeface="黑体" panose="02010609060101010101" pitchFamily="2" charset="-122"/>
                        </a:rPr>
                        <a:t>::1/128</a:t>
                      </a:r>
                      <a:r>
                        <a:rPr lang="zh-CN" sz="2400" b="1" dirty="0">
                          <a:solidFill>
                            <a:schemeClr val="tx1"/>
                          </a:solidFill>
                          <a:effectLst/>
                          <a:latin typeface="+mn-lt"/>
                          <a:ea typeface="黑体" panose="02010609060101010101"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16057">
                <a:tc>
                  <a:txBody>
                    <a:bodyPr/>
                    <a:lstStyle/>
                    <a:p>
                      <a:pPr algn="just">
                        <a:lnSpc>
                          <a:spcPct val="100000"/>
                        </a:lnSpc>
                        <a:spcAft>
                          <a:spcPts val="0"/>
                        </a:spcAft>
                      </a:pPr>
                      <a:r>
                        <a:rPr lang="zh-CN" sz="2400" b="1">
                          <a:solidFill>
                            <a:schemeClr val="tx1"/>
                          </a:solidFill>
                          <a:effectLst/>
                          <a:latin typeface="+mn-lt"/>
                          <a:ea typeface="黑体" panose="02010609060101010101" pitchFamily="2" charset="-122"/>
                        </a:rPr>
                        <a:t>多播地址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anose="02010609060101010101" pitchFamily="2" charset="-122"/>
                        </a:rPr>
                        <a:t>11111111</a:t>
                      </a:r>
                      <a:r>
                        <a:rPr lang="zh-CN" sz="2400" b="1" dirty="0">
                          <a:solidFill>
                            <a:schemeClr val="tx1"/>
                          </a:solidFill>
                          <a:effectLst/>
                          <a:latin typeface="+mn-lt"/>
                          <a:ea typeface="黑体" panose="02010609060101010101" pitchFamily="2" charset="-122"/>
                        </a:rPr>
                        <a:t>（</a:t>
                      </a:r>
                      <a:r>
                        <a:rPr lang="en-US" sz="2400" b="1" dirty="0">
                          <a:solidFill>
                            <a:schemeClr val="tx1"/>
                          </a:solidFill>
                          <a:effectLst/>
                          <a:latin typeface="+mn-lt"/>
                          <a:ea typeface="黑体" panose="02010609060101010101" pitchFamily="2" charset="-122"/>
                        </a:rPr>
                        <a:t>8</a:t>
                      </a:r>
                      <a:r>
                        <a:rPr lang="zh-CN" sz="2400" b="1" dirty="0">
                          <a:solidFill>
                            <a:schemeClr val="tx1"/>
                          </a:solidFill>
                          <a:effectLst/>
                          <a:latin typeface="+mn-lt"/>
                          <a:ea typeface="黑体" panose="02010609060101010101" pitchFamily="2" charset="-122"/>
                        </a:rPr>
                        <a:t>位），可记为</a:t>
                      </a:r>
                      <a:r>
                        <a:rPr lang="en-US" altLang="zh-CN" sz="2400" b="1" dirty="0">
                          <a:solidFill>
                            <a:schemeClr val="tx1"/>
                          </a:solidFill>
                          <a:effectLst/>
                          <a:latin typeface="+mn-lt"/>
                          <a:ea typeface="黑体" panose="02010609060101010101" pitchFamily="2" charset="-122"/>
                        </a:rPr>
                        <a:t> </a:t>
                      </a:r>
                      <a:r>
                        <a:rPr lang="en-US" sz="2400" b="1" dirty="0">
                          <a:solidFill>
                            <a:schemeClr val="tx1"/>
                          </a:solidFill>
                          <a:effectLst/>
                          <a:latin typeface="+mn-lt"/>
                          <a:ea typeface="黑体" panose="02010609060101010101" pitchFamily="2" charset="-122"/>
                        </a:rPr>
                        <a:t>FF00::/8</a:t>
                      </a:r>
                      <a:r>
                        <a:rPr lang="zh-CN" sz="2400" b="1" dirty="0">
                          <a:solidFill>
                            <a:schemeClr val="tx1"/>
                          </a:solidFill>
                          <a:effectLst/>
                          <a:latin typeface="+mn-lt"/>
                          <a:ea typeface="黑体" panose="02010609060101010101"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16057">
                <a:tc>
                  <a:txBody>
                    <a:bodyPr/>
                    <a:lstStyle/>
                    <a:p>
                      <a:pPr algn="just">
                        <a:lnSpc>
                          <a:spcPct val="100000"/>
                        </a:lnSpc>
                        <a:spcAft>
                          <a:spcPts val="0"/>
                        </a:spcAft>
                      </a:pPr>
                      <a:r>
                        <a:rPr lang="zh-CN" sz="2400" b="1" dirty="0">
                          <a:solidFill>
                            <a:schemeClr val="tx1"/>
                          </a:solidFill>
                          <a:effectLst/>
                          <a:latin typeface="+mn-lt"/>
                          <a:ea typeface="黑体" panose="02010609060101010101" pitchFamily="2" charset="-122"/>
                        </a:rPr>
                        <a:t>本地链路单播地址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anose="02010609060101010101" pitchFamily="2" charset="-122"/>
                        </a:rPr>
                        <a:t>1111111010</a:t>
                      </a:r>
                      <a:r>
                        <a:rPr lang="zh-CN" sz="2400" b="1" dirty="0">
                          <a:solidFill>
                            <a:schemeClr val="tx1"/>
                          </a:solidFill>
                          <a:effectLst/>
                          <a:latin typeface="+mn-lt"/>
                          <a:ea typeface="黑体" panose="02010609060101010101" pitchFamily="2" charset="-122"/>
                        </a:rPr>
                        <a:t>（</a:t>
                      </a:r>
                      <a:r>
                        <a:rPr lang="en-US" sz="2400" b="1" dirty="0">
                          <a:solidFill>
                            <a:schemeClr val="tx1"/>
                          </a:solidFill>
                          <a:effectLst/>
                          <a:latin typeface="+mn-lt"/>
                          <a:ea typeface="黑体" panose="02010609060101010101" pitchFamily="2" charset="-122"/>
                        </a:rPr>
                        <a:t>10</a:t>
                      </a:r>
                      <a:r>
                        <a:rPr lang="zh-CN" sz="2400" b="1" dirty="0">
                          <a:solidFill>
                            <a:schemeClr val="tx1"/>
                          </a:solidFill>
                          <a:effectLst/>
                          <a:latin typeface="+mn-lt"/>
                          <a:ea typeface="黑体" panose="02010609060101010101" pitchFamily="2" charset="-122"/>
                        </a:rPr>
                        <a:t>位）</a:t>
                      </a:r>
                      <a:r>
                        <a:rPr lang="en-US" sz="2400" b="1" dirty="0">
                          <a:solidFill>
                            <a:schemeClr val="tx1"/>
                          </a:solidFill>
                          <a:effectLst/>
                          <a:latin typeface="+mn-lt"/>
                          <a:ea typeface="黑体" panose="02010609060101010101" pitchFamily="2" charset="-122"/>
                        </a:rPr>
                        <a:t>, </a:t>
                      </a:r>
                      <a:r>
                        <a:rPr lang="zh-CN" sz="2400" b="1" dirty="0">
                          <a:solidFill>
                            <a:schemeClr val="tx1"/>
                          </a:solidFill>
                          <a:effectLst/>
                          <a:latin typeface="+mn-lt"/>
                          <a:ea typeface="黑体" panose="02010609060101010101" pitchFamily="2" charset="-122"/>
                        </a:rPr>
                        <a:t>可记为</a:t>
                      </a:r>
                      <a:r>
                        <a:rPr lang="en-US" altLang="zh-CN" sz="2400" b="1" dirty="0">
                          <a:solidFill>
                            <a:schemeClr val="tx1"/>
                          </a:solidFill>
                          <a:effectLst/>
                          <a:latin typeface="+mn-lt"/>
                          <a:ea typeface="黑体" panose="02010609060101010101" pitchFamily="2" charset="-122"/>
                        </a:rPr>
                        <a:t> </a:t>
                      </a:r>
                      <a:r>
                        <a:rPr lang="en-US" sz="2400" b="1" dirty="0">
                          <a:solidFill>
                            <a:schemeClr val="tx1"/>
                          </a:solidFill>
                          <a:effectLst/>
                          <a:latin typeface="+mn-lt"/>
                          <a:ea typeface="黑体" panose="02010609060101010101" pitchFamily="2" charset="-122"/>
                        </a:rPr>
                        <a:t>FE80::/10</a:t>
                      </a:r>
                      <a:r>
                        <a:rPr lang="zh-CN" sz="2400" b="1" dirty="0">
                          <a:solidFill>
                            <a:schemeClr val="tx1"/>
                          </a:solidFill>
                          <a:effectLst/>
                          <a:latin typeface="+mn-lt"/>
                          <a:ea typeface="黑体" panose="02010609060101010101"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516057">
                <a:tc>
                  <a:txBody>
                    <a:bodyPr/>
                    <a:lstStyle/>
                    <a:p>
                      <a:pPr algn="just">
                        <a:lnSpc>
                          <a:spcPct val="100000"/>
                        </a:lnSpc>
                        <a:spcAft>
                          <a:spcPts val="0"/>
                        </a:spcAft>
                      </a:pPr>
                      <a:r>
                        <a:rPr lang="zh-CN" sz="2400" b="1">
                          <a:solidFill>
                            <a:schemeClr val="tx1"/>
                          </a:solidFill>
                          <a:effectLst/>
                          <a:latin typeface="+mn-lt"/>
                          <a:ea typeface="黑体" panose="02010609060101010101" pitchFamily="2" charset="-122"/>
                        </a:rPr>
                        <a:t>全球单播地址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zh-CN" sz="2400" b="1" dirty="0">
                          <a:solidFill>
                            <a:schemeClr val="tx1"/>
                          </a:solidFill>
                          <a:effectLst/>
                          <a:latin typeface="+mn-lt"/>
                          <a:ea typeface="黑体" panose="02010609060101010101" pitchFamily="2" charset="-122"/>
                        </a:rPr>
                        <a:t>（除上述四种外，所有其他的二进制前缀）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92197663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en-US" dirty="0">
                <a:solidFill>
                  <a:srgbClr val="FF0000"/>
                </a:solidFill>
              </a:rPr>
              <a:t>未指明地址 </a:t>
            </a:r>
            <a:endParaRPr lang="en-US" altLang="zh-CN" dirty="0"/>
          </a:p>
          <a:p>
            <a:pPr lvl="1"/>
            <a:r>
              <a:rPr lang="zh-CN" altLang="en-US" dirty="0"/>
              <a:t>这是 </a:t>
            </a:r>
            <a:r>
              <a:rPr lang="en-US" altLang="zh-CN" dirty="0"/>
              <a:t>16 </a:t>
            </a:r>
            <a:r>
              <a:rPr lang="zh-CN" altLang="en-US" dirty="0"/>
              <a:t>字节的全 </a:t>
            </a:r>
            <a:r>
              <a:rPr lang="en-US" altLang="zh-CN" dirty="0"/>
              <a:t>0 </a:t>
            </a:r>
            <a:r>
              <a:rPr lang="zh-CN" altLang="en-US" dirty="0"/>
              <a:t>地址，可缩写为两个冒号“</a:t>
            </a:r>
            <a:r>
              <a:rPr lang="en-US" altLang="zh-CN" dirty="0"/>
              <a:t>::”</a:t>
            </a:r>
            <a:r>
              <a:rPr lang="zh-CN" altLang="en-US" dirty="0"/>
              <a:t>。</a:t>
            </a:r>
            <a:endParaRPr lang="en-US" altLang="zh-CN" dirty="0"/>
          </a:p>
          <a:p>
            <a:pPr lvl="1"/>
            <a:r>
              <a:rPr lang="zh-CN" altLang="en-US" dirty="0"/>
              <a:t>这个地址只能为还没有配置到一个标准的 </a:t>
            </a:r>
            <a:r>
              <a:rPr lang="en-US" altLang="zh-CN" dirty="0"/>
              <a:t>IP </a:t>
            </a:r>
            <a:r>
              <a:rPr lang="zh-CN" altLang="en-US" dirty="0"/>
              <a:t>地址的主机当作源地址使用。</a:t>
            </a:r>
            <a:endParaRPr lang="en-US" altLang="zh-CN" dirty="0"/>
          </a:p>
          <a:p>
            <a:pPr lvl="1"/>
            <a:r>
              <a:rPr lang="zh-CN" altLang="zh-CN" dirty="0"/>
              <a:t>这类地址仅此一个。</a:t>
            </a:r>
            <a:endParaRPr lang="zh-CN" altLang="en-US" dirty="0"/>
          </a:p>
          <a:p>
            <a:r>
              <a:rPr lang="zh-CN" altLang="en-US" dirty="0">
                <a:solidFill>
                  <a:srgbClr val="FF0000"/>
                </a:solidFill>
              </a:rPr>
              <a:t>环回地址</a:t>
            </a:r>
            <a:endParaRPr lang="en-US" altLang="zh-CN" dirty="0">
              <a:solidFill>
                <a:srgbClr val="FF0000"/>
              </a:solidFill>
            </a:endParaRPr>
          </a:p>
          <a:p>
            <a:pPr lvl="1"/>
            <a:r>
              <a:rPr lang="zh-CN" altLang="en-US" dirty="0"/>
              <a:t>即 </a:t>
            </a:r>
            <a:r>
              <a:rPr lang="en-US" altLang="zh-CN" dirty="0"/>
              <a:t>0:0:0:0:0:0:0:1</a:t>
            </a:r>
            <a:r>
              <a:rPr lang="zh-CN" altLang="en-US" dirty="0"/>
              <a:t>（记为 </a:t>
            </a:r>
            <a:r>
              <a:rPr lang="en-US" altLang="zh-CN" dirty="0"/>
              <a:t>::1</a:t>
            </a:r>
            <a:r>
              <a:rPr lang="zh-CN" altLang="en-US" dirty="0"/>
              <a:t>）。</a:t>
            </a:r>
            <a:endParaRPr lang="en-US" altLang="zh-CN" dirty="0"/>
          </a:p>
          <a:p>
            <a:pPr lvl="1"/>
            <a:r>
              <a:rPr lang="zh-CN" altLang="zh-CN" dirty="0"/>
              <a:t>作用和</a:t>
            </a:r>
            <a:r>
              <a:rPr lang="en-US" altLang="zh-CN" dirty="0"/>
              <a:t>IPv4</a:t>
            </a:r>
            <a:r>
              <a:rPr lang="zh-CN" altLang="zh-CN" dirty="0"/>
              <a:t>的环回地址一样。</a:t>
            </a:r>
            <a:endParaRPr lang="en-US" altLang="zh-CN" dirty="0"/>
          </a:p>
          <a:p>
            <a:pPr lvl="1"/>
            <a:r>
              <a:rPr lang="zh-CN" altLang="zh-CN" dirty="0"/>
              <a:t>这类地址也是仅此一个。</a:t>
            </a:r>
            <a:endParaRPr lang="zh-CN" altLang="en-US" dirty="0"/>
          </a:p>
        </p:txBody>
      </p:sp>
    </p:spTree>
    <p:extLst>
      <p:ext uri="{BB962C8B-B14F-4D97-AF65-F5344CB8AC3E}">
        <p14:creationId xmlns:p14="http://schemas.microsoft.com/office/powerpoint/2010/main" val="3871487323"/>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zh-CN" dirty="0">
                <a:solidFill>
                  <a:srgbClr val="FF0000"/>
                </a:solidFill>
              </a:rPr>
              <a:t>多播地址</a:t>
            </a:r>
            <a:endParaRPr lang="en-US" altLang="zh-CN" dirty="0">
              <a:solidFill>
                <a:srgbClr val="FF0000"/>
              </a:solidFill>
            </a:endParaRPr>
          </a:p>
          <a:p>
            <a:pPr lvl="1"/>
            <a:r>
              <a:rPr lang="zh-CN" altLang="zh-CN" dirty="0"/>
              <a:t>功能和</a:t>
            </a:r>
            <a:r>
              <a:rPr lang="en-US" altLang="zh-CN" dirty="0"/>
              <a:t> IPv4 </a:t>
            </a:r>
            <a:r>
              <a:rPr lang="zh-CN" altLang="zh-CN" dirty="0"/>
              <a:t>的一样。</a:t>
            </a:r>
            <a:endParaRPr lang="en-US" altLang="zh-CN" dirty="0"/>
          </a:p>
          <a:p>
            <a:pPr lvl="1"/>
            <a:r>
              <a:rPr lang="zh-CN" altLang="zh-CN" dirty="0"/>
              <a:t>这类地址占</a:t>
            </a:r>
            <a:r>
              <a:rPr lang="en-US" altLang="zh-CN" dirty="0"/>
              <a:t> IPv6 </a:t>
            </a:r>
            <a:r>
              <a:rPr lang="zh-CN" altLang="zh-CN" dirty="0"/>
              <a:t>地址总数的</a:t>
            </a:r>
            <a:r>
              <a:rPr lang="en-US" altLang="zh-CN" dirty="0"/>
              <a:t> 1/256</a:t>
            </a:r>
            <a:r>
              <a:rPr lang="zh-CN" altLang="zh-CN" dirty="0"/>
              <a:t>。</a:t>
            </a:r>
            <a:endParaRPr lang="en-US" altLang="zh-CN" dirty="0"/>
          </a:p>
          <a:p>
            <a:r>
              <a:rPr lang="zh-CN" altLang="zh-CN" dirty="0">
                <a:solidFill>
                  <a:srgbClr val="FF0000"/>
                </a:solidFill>
              </a:rPr>
              <a:t>本地链路单播地址</a:t>
            </a:r>
            <a:r>
              <a:rPr lang="en-US" altLang="zh-CN" sz="2800" dirty="0">
                <a:solidFill>
                  <a:srgbClr val="FF0000"/>
                </a:solidFill>
              </a:rPr>
              <a:t> </a:t>
            </a:r>
            <a:r>
              <a:rPr lang="en-US" altLang="zh-CN" sz="2800" dirty="0"/>
              <a:t>(Link-Local Unicast Address) </a:t>
            </a:r>
          </a:p>
          <a:p>
            <a:pPr lvl="1"/>
            <a:r>
              <a:rPr lang="zh-CN" altLang="zh-CN" dirty="0"/>
              <a:t>有些单位的网络使用</a:t>
            </a:r>
            <a:r>
              <a:rPr lang="en-US" altLang="zh-CN" dirty="0"/>
              <a:t> TCP/IP </a:t>
            </a:r>
            <a:r>
              <a:rPr lang="zh-CN" altLang="zh-CN" dirty="0"/>
              <a:t>协议，但</a:t>
            </a:r>
            <a:r>
              <a:rPr lang="zh-CN" altLang="zh-CN" dirty="0">
                <a:solidFill>
                  <a:srgbClr val="0000FF"/>
                </a:solidFill>
              </a:rPr>
              <a:t>并没有连接到互联网上。</a:t>
            </a:r>
            <a:r>
              <a:rPr lang="zh-CN" altLang="zh-CN" dirty="0"/>
              <a:t>连接在这样的网络上的主机都可以使用这种本地地址进行通信，但不能和互联网上的其他主机通信。</a:t>
            </a:r>
            <a:endParaRPr lang="en-US" altLang="zh-CN" dirty="0"/>
          </a:p>
          <a:p>
            <a:pPr lvl="1"/>
            <a:r>
              <a:rPr lang="zh-CN" altLang="zh-CN" dirty="0"/>
              <a:t>这类地址占</a:t>
            </a:r>
            <a:r>
              <a:rPr lang="en-US" altLang="zh-CN" dirty="0"/>
              <a:t> IPv6 </a:t>
            </a:r>
            <a:r>
              <a:rPr lang="zh-CN" altLang="zh-CN" dirty="0"/>
              <a:t>地址总数的</a:t>
            </a:r>
            <a:r>
              <a:rPr lang="en-US" altLang="zh-CN" dirty="0"/>
              <a:t> 1/1024</a:t>
            </a:r>
            <a:r>
              <a:rPr lang="zh-CN" altLang="zh-CN" dirty="0"/>
              <a:t>。</a:t>
            </a:r>
            <a:endParaRPr lang="en-US" altLang="zh-CN" dirty="0"/>
          </a:p>
        </p:txBody>
      </p:sp>
    </p:spTree>
    <p:extLst>
      <p:ext uri="{BB962C8B-B14F-4D97-AF65-F5344CB8AC3E}">
        <p14:creationId xmlns:p14="http://schemas.microsoft.com/office/powerpoint/2010/main" val="304061690"/>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zh-CN" dirty="0">
                <a:solidFill>
                  <a:srgbClr val="FF0000"/>
                </a:solidFill>
              </a:rPr>
              <a:t>全球单播地址</a:t>
            </a:r>
            <a:endParaRPr lang="en-US" altLang="zh-CN" dirty="0">
              <a:solidFill>
                <a:srgbClr val="FF0000"/>
              </a:solidFill>
            </a:endParaRPr>
          </a:p>
          <a:p>
            <a:pPr lvl="1"/>
            <a:r>
              <a:rPr lang="en-US" altLang="zh-CN" dirty="0"/>
              <a:t>IPv6 </a:t>
            </a:r>
            <a:r>
              <a:rPr lang="zh-CN" altLang="zh-CN" dirty="0"/>
              <a:t>的这一类单播地址是使用得最多的一类。</a:t>
            </a:r>
            <a:endParaRPr lang="en-US" altLang="zh-CN" dirty="0"/>
          </a:p>
          <a:p>
            <a:pPr lvl="1"/>
            <a:r>
              <a:rPr lang="zh-CN" altLang="zh-CN" dirty="0"/>
              <a:t>曾提出过多种方案来进一步划分这</a:t>
            </a:r>
            <a:r>
              <a:rPr lang="en-US" altLang="zh-CN" dirty="0"/>
              <a:t>128</a:t>
            </a:r>
            <a:r>
              <a:rPr lang="zh-CN" altLang="zh-CN" dirty="0"/>
              <a:t>位的单播地址</a:t>
            </a:r>
            <a:r>
              <a:rPr lang="zh-CN" altLang="en-US" dirty="0"/>
              <a:t>。</a:t>
            </a:r>
            <a:endParaRPr lang="en-US" altLang="zh-CN" dirty="0"/>
          </a:p>
          <a:p>
            <a:pPr lvl="1"/>
            <a:r>
              <a:rPr lang="zh-CN" altLang="zh-CN" dirty="0"/>
              <a:t>根据</a:t>
            </a:r>
            <a:r>
              <a:rPr lang="en-US" altLang="zh-CN" dirty="0"/>
              <a:t>2006</a:t>
            </a:r>
            <a:r>
              <a:rPr lang="zh-CN" altLang="zh-CN" dirty="0"/>
              <a:t>年发布的草案标准</a:t>
            </a:r>
            <a:r>
              <a:rPr lang="en-US" altLang="zh-CN" dirty="0"/>
              <a:t>RFC 4291</a:t>
            </a:r>
            <a:r>
              <a:rPr lang="zh-CN" altLang="zh-CN" dirty="0"/>
              <a:t>的建议， </a:t>
            </a:r>
            <a:r>
              <a:rPr lang="en-US" altLang="zh-CN" dirty="0"/>
              <a:t> IPv6 </a:t>
            </a:r>
            <a:r>
              <a:rPr lang="zh-CN" altLang="zh-CN" dirty="0"/>
              <a:t>单播地址的划分方法非常灵活</a:t>
            </a:r>
            <a:r>
              <a:rPr lang="zh-CN" altLang="en-US" dirty="0"/>
              <a:t>。</a:t>
            </a:r>
            <a:endParaRPr lang="en-US" altLang="zh-CN" dirty="0"/>
          </a:p>
        </p:txBody>
      </p:sp>
      <p:grpSp>
        <p:nvGrpSpPr>
          <p:cNvPr id="3" name="组合 2"/>
          <p:cNvGrpSpPr/>
          <p:nvPr/>
        </p:nvGrpSpPr>
        <p:grpSpPr>
          <a:xfrm>
            <a:off x="1118368" y="3933056"/>
            <a:ext cx="7939088" cy="2033765"/>
            <a:chOff x="1118368" y="3933056"/>
            <a:chExt cx="7939088" cy="2033765"/>
          </a:xfrm>
        </p:grpSpPr>
        <p:sp>
          <p:nvSpPr>
            <p:cNvPr id="6" name="Rectangle 2"/>
            <p:cNvSpPr>
              <a:spLocks noChangeArrowheads="1"/>
            </p:cNvSpPr>
            <p:nvPr/>
          </p:nvSpPr>
          <p:spPr bwMode="auto">
            <a:xfrm>
              <a:off x="1118368" y="5372919"/>
              <a:ext cx="7939088" cy="576361"/>
            </a:xfrm>
            <a:prstGeom prst="rect">
              <a:avLst/>
            </a:prstGeom>
            <a:solidFill>
              <a:schemeClr val="bg1"/>
            </a:solidFill>
            <a:ln w="19050">
              <a:solidFill>
                <a:schemeClr val="tx1"/>
              </a:solidFill>
              <a:miter lim="800000"/>
            </a:ln>
            <a:effectLst>
              <a:outerShdw dist="35921" dir="2700000" algn="ctr" rotWithShape="0">
                <a:schemeClr val="bg2"/>
              </a:outerShdw>
            </a:effectLst>
          </p:spPr>
          <p:txBody>
            <a:bodyPr wrap="none" anchor="ctr"/>
            <a:lstStyle/>
            <a:p>
              <a:pPr>
                <a:defRPr/>
              </a:pPr>
              <a:endParaRPr lang="zh-CN" altLang="en-US" b="1" dirty="0">
                <a:solidFill>
                  <a:srgbClr val="000099"/>
                </a:solidFill>
                <a:latin typeface="+mn-lt"/>
                <a:ea typeface="黑体" panose="02010609060101010101" pitchFamily="2" charset="-122"/>
              </a:endParaRPr>
            </a:p>
          </p:txBody>
        </p:sp>
        <p:sp>
          <p:nvSpPr>
            <p:cNvPr id="8" name="Rectangle 110"/>
            <p:cNvSpPr>
              <a:spLocks noChangeArrowheads="1"/>
            </p:cNvSpPr>
            <p:nvPr/>
          </p:nvSpPr>
          <p:spPr bwMode="auto">
            <a:xfrm>
              <a:off x="6203737" y="5517232"/>
              <a:ext cx="282930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anose="02010609060101010101" pitchFamily="2" charset="-122"/>
                </a:rPr>
                <a:t>接口标识符</a:t>
              </a:r>
              <a:r>
                <a:rPr lang="en-US" altLang="zh-CN" sz="1600" b="1" dirty="0">
                  <a:solidFill>
                    <a:srgbClr val="000099"/>
                  </a:solidFill>
                  <a:latin typeface="+mn-lt"/>
                  <a:ea typeface="黑体" panose="02010609060101010101" pitchFamily="2" charset="-122"/>
                </a:rPr>
                <a:t>(128 – </a:t>
              </a:r>
              <a:r>
                <a:rPr lang="en-US" altLang="zh-CN" sz="1600" b="1" i="1" dirty="0">
                  <a:solidFill>
                    <a:srgbClr val="000099"/>
                  </a:solidFill>
                  <a:latin typeface="+mn-lt"/>
                  <a:ea typeface="黑体" panose="02010609060101010101" pitchFamily="2" charset="-122"/>
                </a:rPr>
                <a:t>n</a:t>
              </a:r>
              <a:r>
                <a:rPr lang="en-US" altLang="zh-CN" sz="1600" b="1" dirty="0">
                  <a:solidFill>
                    <a:srgbClr val="000099"/>
                  </a:solidFill>
                  <a:latin typeface="+mn-lt"/>
                  <a:ea typeface="黑体" panose="02010609060101010101" pitchFamily="2" charset="-122"/>
                </a:rPr>
                <a:t> – </a:t>
              </a:r>
              <a:r>
                <a:rPr lang="en-US" altLang="zh-CN" sz="1600" b="1" i="1" dirty="0">
                  <a:solidFill>
                    <a:srgbClr val="000099"/>
                  </a:solidFill>
                  <a:latin typeface="+mn-lt"/>
                  <a:ea typeface="黑体" panose="02010609060101010101" pitchFamily="2" charset="-122"/>
                </a:rPr>
                <a:t>m</a:t>
              </a:r>
              <a:r>
                <a:rPr lang="en-US" altLang="zh-CN" sz="1600" b="1" dirty="0">
                  <a:solidFill>
                    <a:srgbClr val="000099"/>
                  </a:solidFill>
                  <a:latin typeface="+mn-lt"/>
                  <a:ea typeface="黑体" panose="02010609060101010101" pitchFamily="2" charset="-122"/>
                </a:rPr>
                <a:t> ) bit</a:t>
              </a:r>
              <a:endParaRPr lang="zh-CN" altLang="en-US" sz="1600" b="1" dirty="0">
                <a:solidFill>
                  <a:srgbClr val="000099"/>
                </a:solidFill>
                <a:latin typeface="+mn-lt"/>
                <a:ea typeface="黑体" panose="02010609060101010101" pitchFamily="2" charset="-122"/>
              </a:endParaRPr>
            </a:p>
          </p:txBody>
        </p:sp>
        <p:sp>
          <p:nvSpPr>
            <p:cNvPr id="10" name="Line 165"/>
            <p:cNvSpPr>
              <a:spLocks noChangeShapeType="1"/>
            </p:cNvSpPr>
            <p:nvPr/>
          </p:nvSpPr>
          <p:spPr bwMode="auto">
            <a:xfrm>
              <a:off x="4140968" y="5372919"/>
              <a:ext cx="1588" cy="59390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anose="02010609060101010101" pitchFamily="2" charset="-122"/>
              </a:endParaRPr>
            </a:p>
          </p:txBody>
        </p:sp>
        <p:sp>
          <p:nvSpPr>
            <p:cNvPr id="11" name="Line 166"/>
            <p:cNvSpPr>
              <a:spLocks noChangeShapeType="1"/>
            </p:cNvSpPr>
            <p:nvPr/>
          </p:nvSpPr>
          <p:spPr bwMode="auto">
            <a:xfrm>
              <a:off x="6230118" y="5372919"/>
              <a:ext cx="0" cy="586385"/>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anose="02010609060101010101" pitchFamily="2" charset="-122"/>
              </a:endParaRPr>
            </a:p>
          </p:txBody>
        </p:sp>
        <p:sp>
          <p:nvSpPr>
            <p:cNvPr id="12" name="Rectangle 2"/>
            <p:cNvSpPr>
              <a:spLocks noChangeArrowheads="1"/>
            </p:cNvSpPr>
            <p:nvPr/>
          </p:nvSpPr>
          <p:spPr bwMode="auto">
            <a:xfrm>
              <a:off x="1118368" y="4652194"/>
              <a:ext cx="7939088" cy="576361"/>
            </a:xfrm>
            <a:prstGeom prst="rect">
              <a:avLst/>
            </a:prstGeom>
            <a:solidFill>
              <a:schemeClr val="bg1"/>
            </a:solidFill>
            <a:ln w="19050">
              <a:solidFill>
                <a:schemeClr val="tx1"/>
              </a:solidFill>
              <a:miter lim="800000"/>
            </a:ln>
            <a:effectLst>
              <a:outerShdw dist="35921" dir="2700000" algn="ctr" rotWithShape="0">
                <a:schemeClr val="bg2"/>
              </a:outerShdw>
            </a:effectLst>
          </p:spPr>
          <p:txBody>
            <a:bodyPr wrap="none" anchor="ctr"/>
            <a:lstStyle/>
            <a:p>
              <a:pPr>
                <a:defRPr/>
              </a:pPr>
              <a:endParaRPr lang="zh-CN" altLang="en-US" b="1">
                <a:solidFill>
                  <a:srgbClr val="000099"/>
                </a:solidFill>
                <a:latin typeface="+mn-lt"/>
                <a:ea typeface="黑体" panose="02010609060101010101" pitchFamily="2" charset="-122"/>
              </a:endParaRPr>
            </a:p>
          </p:txBody>
        </p:sp>
        <p:sp>
          <p:nvSpPr>
            <p:cNvPr id="13" name="Rectangle 2"/>
            <p:cNvSpPr>
              <a:spLocks noChangeArrowheads="1"/>
            </p:cNvSpPr>
            <p:nvPr/>
          </p:nvSpPr>
          <p:spPr bwMode="auto">
            <a:xfrm>
              <a:off x="1118368" y="3933056"/>
              <a:ext cx="7939088" cy="576361"/>
            </a:xfrm>
            <a:prstGeom prst="rect">
              <a:avLst/>
            </a:prstGeom>
            <a:solidFill>
              <a:srgbClr val="FFFF66"/>
            </a:solidFill>
            <a:ln w="19050">
              <a:solidFill>
                <a:schemeClr val="tx1"/>
              </a:solidFill>
              <a:miter lim="800000"/>
            </a:ln>
            <a:effectLst>
              <a:outerShdw dist="35921" dir="2700000" algn="ctr" rotWithShape="0">
                <a:schemeClr val="bg2"/>
              </a:outerShdw>
            </a:effectLst>
          </p:spPr>
          <p:txBody>
            <a:bodyPr wrap="none" anchor="ctr"/>
            <a:lstStyle/>
            <a:p>
              <a:pPr>
                <a:defRPr/>
              </a:pPr>
              <a:endParaRPr lang="zh-CN" altLang="en-US" b="1">
                <a:solidFill>
                  <a:srgbClr val="000099"/>
                </a:solidFill>
                <a:latin typeface="+mn-lt"/>
                <a:ea typeface="黑体" panose="02010609060101010101" pitchFamily="2" charset="-122"/>
              </a:endParaRPr>
            </a:p>
          </p:txBody>
        </p:sp>
        <p:sp>
          <p:nvSpPr>
            <p:cNvPr id="14" name="Rectangle 126"/>
            <p:cNvSpPr>
              <a:spLocks noChangeArrowheads="1"/>
            </p:cNvSpPr>
            <p:nvPr/>
          </p:nvSpPr>
          <p:spPr bwMode="auto">
            <a:xfrm>
              <a:off x="2969736" y="4005064"/>
              <a:ext cx="3704541"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400" b="1">
                  <a:solidFill>
                    <a:srgbClr val="000099"/>
                  </a:solidFill>
                  <a:latin typeface="+mn-lt"/>
                  <a:ea typeface="黑体" panose="02010609060101010101" pitchFamily="2" charset="-122"/>
                </a:rPr>
                <a:t>结    点    地    址 </a:t>
              </a:r>
              <a:r>
                <a:rPr lang="en-US" altLang="zh-CN" sz="2400" b="1">
                  <a:solidFill>
                    <a:srgbClr val="000099"/>
                  </a:solidFill>
                  <a:latin typeface="+mn-lt"/>
                  <a:ea typeface="黑体" panose="02010609060101010101" pitchFamily="2" charset="-122"/>
                </a:rPr>
                <a:t>(128 bit)</a:t>
              </a:r>
              <a:endParaRPr lang="zh-CN" altLang="en-US" sz="2400" b="1">
                <a:solidFill>
                  <a:srgbClr val="000099"/>
                </a:solidFill>
                <a:latin typeface="+mn-lt"/>
                <a:ea typeface="黑体" panose="02010609060101010101" pitchFamily="2" charset="-122"/>
              </a:endParaRPr>
            </a:p>
          </p:txBody>
        </p:sp>
        <p:sp>
          <p:nvSpPr>
            <p:cNvPr id="15" name="Line 166"/>
            <p:cNvSpPr>
              <a:spLocks noChangeShapeType="1"/>
            </p:cNvSpPr>
            <p:nvPr/>
          </p:nvSpPr>
          <p:spPr bwMode="auto">
            <a:xfrm>
              <a:off x="5385048" y="4652194"/>
              <a:ext cx="0" cy="586385"/>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anose="02010609060101010101" pitchFamily="2" charset="-122"/>
              </a:endParaRPr>
            </a:p>
          </p:txBody>
        </p:sp>
        <p:sp>
          <p:nvSpPr>
            <p:cNvPr id="16" name="Rectangle 110"/>
            <p:cNvSpPr>
              <a:spLocks noChangeArrowheads="1"/>
            </p:cNvSpPr>
            <p:nvPr/>
          </p:nvSpPr>
          <p:spPr bwMode="auto">
            <a:xfrm>
              <a:off x="5545734" y="4728319"/>
              <a:ext cx="3318217"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000" b="1" dirty="0">
                  <a:solidFill>
                    <a:srgbClr val="000099"/>
                  </a:solidFill>
                  <a:latin typeface="+mn-lt"/>
                  <a:ea typeface="黑体" panose="02010609060101010101" pitchFamily="2" charset="-122"/>
                </a:rPr>
                <a:t>接 口 标 识 符 </a:t>
              </a:r>
              <a:r>
                <a:rPr lang="en-US" altLang="zh-CN" sz="2000" b="1" dirty="0">
                  <a:solidFill>
                    <a:srgbClr val="000099"/>
                  </a:solidFill>
                  <a:latin typeface="+mn-lt"/>
                  <a:ea typeface="黑体" panose="02010609060101010101" pitchFamily="2" charset="-122"/>
                </a:rPr>
                <a:t>(128 – </a:t>
              </a:r>
              <a:r>
                <a:rPr lang="en-US" altLang="zh-CN" sz="2000" b="1" i="1" dirty="0">
                  <a:solidFill>
                    <a:srgbClr val="000099"/>
                  </a:solidFill>
                  <a:latin typeface="+mn-lt"/>
                  <a:ea typeface="黑体" panose="02010609060101010101" pitchFamily="2" charset="-122"/>
                </a:rPr>
                <a:t>n</a:t>
              </a:r>
              <a:r>
                <a:rPr lang="en-US" altLang="zh-CN" sz="2000" b="1" dirty="0">
                  <a:solidFill>
                    <a:srgbClr val="000099"/>
                  </a:solidFill>
                  <a:latin typeface="+mn-lt"/>
                  <a:ea typeface="黑体" panose="02010609060101010101" pitchFamily="2" charset="-122"/>
                </a:rPr>
                <a:t> ) bit</a:t>
              </a:r>
              <a:endParaRPr lang="zh-CN" altLang="en-US" sz="2000" b="1" dirty="0">
                <a:solidFill>
                  <a:srgbClr val="000099"/>
                </a:solidFill>
                <a:latin typeface="+mn-lt"/>
                <a:ea typeface="黑体" panose="02010609060101010101" pitchFamily="2" charset="-122"/>
              </a:endParaRPr>
            </a:p>
          </p:txBody>
        </p:sp>
        <p:sp>
          <p:nvSpPr>
            <p:cNvPr id="2" name="矩形 1"/>
            <p:cNvSpPr/>
            <p:nvPr/>
          </p:nvSpPr>
          <p:spPr bwMode="auto">
            <a:xfrm>
              <a:off x="1151324" y="4678392"/>
              <a:ext cx="4201312" cy="523965"/>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99"/>
                </a:solidFill>
                <a:effectLst/>
                <a:latin typeface="Arial" panose="020B0604020202020204" pitchFamily="34" charset="0"/>
              </a:endParaRPr>
            </a:p>
          </p:txBody>
        </p:sp>
        <p:sp>
          <p:nvSpPr>
            <p:cNvPr id="17" name="Rectangle 126"/>
            <p:cNvSpPr>
              <a:spLocks noChangeArrowheads="1"/>
            </p:cNvSpPr>
            <p:nvPr/>
          </p:nvSpPr>
          <p:spPr bwMode="auto">
            <a:xfrm>
              <a:off x="2168143" y="4725144"/>
              <a:ext cx="2207337"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000" b="1" dirty="0">
                  <a:solidFill>
                    <a:srgbClr val="000099"/>
                  </a:solidFill>
                  <a:latin typeface="+mn-lt"/>
                  <a:ea typeface="黑体" panose="02010609060101010101" pitchFamily="2" charset="-122"/>
                </a:rPr>
                <a:t>子 网 前 缀 </a:t>
              </a:r>
              <a:r>
                <a:rPr lang="en-US" altLang="zh-CN" sz="2000" b="1" dirty="0">
                  <a:solidFill>
                    <a:srgbClr val="000099"/>
                  </a:solidFill>
                  <a:latin typeface="+mn-lt"/>
                  <a:ea typeface="黑体" panose="02010609060101010101" pitchFamily="2" charset="-122"/>
                </a:rPr>
                <a:t>(</a:t>
              </a:r>
              <a:r>
                <a:rPr lang="en-US" altLang="zh-CN" sz="2000" b="1" i="1" dirty="0">
                  <a:solidFill>
                    <a:srgbClr val="000099"/>
                  </a:solidFill>
                  <a:latin typeface="+mn-lt"/>
                  <a:ea typeface="黑体" panose="02010609060101010101" pitchFamily="2" charset="-122"/>
                </a:rPr>
                <a:t>n</a:t>
              </a:r>
              <a:r>
                <a:rPr lang="en-US" altLang="zh-CN" sz="2000" b="1" dirty="0">
                  <a:solidFill>
                    <a:srgbClr val="000099"/>
                  </a:solidFill>
                  <a:latin typeface="+mn-lt"/>
                  <a:ea typeface="黑体" panose="02010609060101010101" pitchFamily="2" charset="-122"/>
                </a:rPr>
                <a:t> bit)</a:t>
              </a:r>
              <a:endParaRPr lang="zh-CN" altLang="en-US" sz="2000" b="1" dirty="0">
                <a:solidFill>
                  <a:srgbClr val="000099"/>
                </a:solidFill>
                <a:latin typeface="+mn-lt"/>
                <a:ea typeface="黑体" panose="02010609060101010101" pitchFamily="2" charset="-122"/>
              </a:endParaRPr>
            </a:p>
          </p:txBody>
        </p:sp>
        <p:sp>
          <p:nvSpPr>
            <p:cNvPr id="19" name="矩形 18"/>
            <p:cNvSpPr/>
            <p:nvPr/>
          </p:nvSpPr>
          <p:spPr bwMode="auto">
            <a:xfrm>
              <a:off x="4175660" y="5402712"/>
              <a:ext cx="2024962" cy="523965"/>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99"/>
                </a:solidFill>
                <a:effectLst/>
                <a:latin typeface="Arial" panose="020B0604020202020204" pitchFamily="34" charset="0"/>
              </a:endParaRPr>
            </a:p>
          </p:txBody>
        </p:sp>
        <p:sp>
          <p:nvSpPr>
            <p:cNvPr id="9" name="Rectangle 126"/>
            <p:cNvSpPr>
              <a:spLocks noChangeArrowheads="1"/>
            </p:cNvSpPr>
            <p:nvPr/>
          </p:nvSpPr>
          <p:spPr bwMode="auto">
            <a:xfrm>
              <a:off x="4226216" y="5517232"/>
              <a:ext cx="1904368"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anose="02010609060101010101" pitchFamily="2" charset="-122"/>
                </a:rPr>
                <a:t>子网标识符 </a:t>
              </a:r>
              <a:r>
                <a:rPr lang="en-US" altLang="zh-CN" sz="1600" b="1" dirty="0">
                  <a:solidFill>
                    <a:srgbClr val="000099"/>
                  </a:solidFill>
                  <a:latin typeface="+mn-lt"/>
                  <a:ea typeface="黑体" panose="02010609060101010101" pitchFamily="2" charset="-122"/>
                </a:rPr>
                <a:t>(</a:t>
              </a:r>
              <a:r>
                <a:rPr lang="en-US" altLang="zh-CN" sz="1600" b="1" i="1" dirty="0">
                  <a:solidFill>
                    <a:srgbClr val="000099"/>
                  </a:solidFill>
                  <a:latin typeface="+mn-lt"/>
                  <a:ea typeface="黑体" panose="02010609060101010101" pitchFamily="2" charset="-122"/>
                </a:rPr>
                <a:t>m</a:t>
              </a:r>
              <a:r>
                <a:rPr lang="en-US" altLang="zh-CN" sz="1600" b="1" dirty="0">
                  <a:solidFill>
                    <a:srgbClr val="000099"/>
                  </a:solidFill>
                  <a:latin typeface="+mn-lt"/>
                  <a:ea typeface="黑体" panose="02010609060101010101" pitchFamily="2" charset="-122"/>
                </a:rPr>
                <a:t> bit)</a:t>
              </a:r>
              <a:endParaRPr lang="zh-CN" altLang="en-US" sz="1600" b="1" dirty="0">
                <a:solidFill>
                  <a:srgbClr val="000099"/>
                </a:solidFill>
                <a:latin typeface="+mn-lt"/>
                <a:ea typeface="黑体" panose="02010609060101010101" pitchFamily="2" charset="-122"/>
              </a:endParaRPr>
            </a:p>
          </p:txBody>
        </p:sp>
        <p:sp>
          <p:nvSpPr>
            <p:cNvPr id="20" name="矩形 19"/>
            <p:cNvSpPr/>
            <p:nvPr/>
          </p:nvSpPr>
          <p:spPr bwMode="auto">
            <a:xfrm>
              <a:off x="1151324" y="5404128"/>
              <a:ext cx="2961066" cy="522549"/>
            </a:xfrm>
            <a:prstGeom prst="rect">
              <a:avLst/>
            </a:prstGeom>
            <a:solidFill>
              <a:srgbClr val="FFCC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99"/>
                </a:solidFill>
                <a:effectLst/>
                <a:latin typeface="Arial" panose="020B0604020202020204" pitchFamily="34" charset="0"/>
              </a:endParaRPr>
            </a:p>
          </p:txBody>
        </p:sp>
        <p:sp>
          <p:nvSpPr>
            <p:cNvPr id="18" name="Rectangle 126"/>
            <p:cNvSpPr>
              <a:spLocks noChangeArrowheads="1"/>
            </p:cNvSpPr>
            <p:nvPr/>
          </p:nvSpPr>
          <p:spPr bwMode="auto">
            <a:xfrm>
              <a:off x="1383457" y="5517232"/>
              <a:ext cx="246702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anose="02010609060101010101" pitchFamily="2" charset="-122"/>
                </a:rPr>
                <a:t>全球路由选择前缀 </a:t>
              </a:r>
              <a:r>
                <a:rPr lang="en-US" altLang="zh-CN" sz="1600" b="1" dirty="0">
                  <a:solidFill>
                    <a:srgbClr val="000099"/>
                  </a:solidFill>
                  <a:latin typeface="+mn-lt"/>
                  <a:ea typeface="黑体" panose="02010609060101010101" pitchFamily="2" charset="-122"/>
                </a:rPr>
                <a:t>(</a:t>
              </a:r>
              <a:r>
                <a:rPr lang="en-US" altLang="zh-CN" sz="1600" b="1" i="1" dirty="0">
                  <a:solidFill>
                    <a:srgbClr val="000099"/>
                  </a:solidFill>
                  <a:latin typeface="+mn-lt"/>
                  <a:ea typeface="黑体" panose="02010609060101010101" pitchFamily="2" charset="-122"/>
                </a:rPr>
                <a:t>n</a:t>
              </a:r>
              <a:r>
                <a:rPr lang="en-US" altLang="zh-CN" sz="1600" b="1" dirty="0">
                  <a:solidFill>
                    <a:srgbClr val="000099"/>
                  </a:solidFill>
                  <a:latin typeface="+mn-lt"/>
                  <a:ea typeface="黑体" panose="02010609060101010101" pitchFamily="2" charset="-122"/>
                </a:rPr>
                <a:t> bit)</a:t>
              </a:r>
              <a:endParaRPr lang="zh-CN" altLang="en-US" sz="1600" b="1" dirty="0">
                <a:solidFill>
                  <a:srgbClr val="000099"/>
                </a:solidFill>
                <a:latin typeface="+mn-lt"/>
                <a:ea typeface="黑体" panose="02010609060101010101" pitchFamily="2" charset="-122"/>
              </a:endParaRPr>
            </a:p>
          </p:txBody>
        </p:sp>
      </p:grpSp>
      <p:sp>
        <p:nvSpPr>
          <p:cNvPr id="4" name="矩形 3"/>
          <p:cNvSpPr/>
          <p:nvPr/>
        </p:nvSpPr>
        <p:spPr>
          <a:xfrm>
            <a:off x="2000672" y="6093296"/>
            <a:ext cx="6336704" cy="461665"/>
          </a:xfrm>
          <a:prstGeom prst="rect">
            <a:avLst/>
          </a:prstGeom>
        </p:spPr>
        <p:txBody>
          <a:bodyPr wrap="square">
            <a:spAutoFit/>
          </a:bodyPr>
          <a:lstStyle/>
          <a:p>
            <a:pPr algn="ctr"/>
            <a:r>
              <a:rPr lang="en-US" altLang="zh-CN" sz="2400" b="1" dirty="0">
                <a:latin typeface="+mn-lt"/>
                <a:ea typeface="黑体" panose="02010609060101010101" pitchFamily="2" charset="-122"/>
              </a:rPr>
              <a:t>IPv6 </a:t>
            </a:r>
            <a:r>
              <a:rPr lang="zh-CN" altLang="zh-CN" sz="2400" b="1" dirty="0">
                <a:latin typeface="+mn-lt"/>
                <a:ea typeface="黑体" panose="02010609060101010101" pitchFamily="2" charset="-122"/>
              </a:rPr>
              <a:t>单播地址的几种划分方法</a:t>
            </a:r>
            <a:endParaRPr lang="zh-CN" altLang="en-US" sz="2400" b="1" dirty="0">
              <a:latin typeface="+mn-lt"/>
              <a:ea typeface="黑体" panose="02010609060101010101" pitchFamily="2" charset="-122"/>
            </a:endParaRPr>
          </a:p>
        </p:txBody>
      </p:sp>
    </p:spTree>
    <p:extLst>
      <p:ext uri="{BB962C8B-B14F-4D97-AF65-F5344CB8AC3E}">
        <p14:creationId xmlns:p14="http://schemas.microsoft.com/office/powerpoint/2010/main" val="2231613213"/>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2"/>
          <p:cNvSpPr>
            <a:spLocks noGrp="1" noChangeArrowheads="1"/>
          </p:cNvSpPr>
          <p:nvPr>
            <p:ph type="title"/>
          </p:nvPr>
        </p:nvSpPr>
        <p:spPr/>
        <p:txBody>
          <a:bodyPr/>
          <a:lstStyle/>
          <a:p>
            <a:r>
              <a:rPr lang="en-US" altLang="zh-CN" dirty="0"/>
              <a:t>4.6.3  </a:t>
            </a:r>
            <a:r>
              <a:rPr lang="zh-CN" altLang="zh-CN" dirty="0"/>
              <a:t>从</a:t>
            </a:r>
            <a:r>
              <a:rPr lang="en-US" altLang="zh-CN" dirty="0"/>
              <a:t> IPv4 </a:t>
            </a:r>
            <a:r>
              <a:rPr lang="zh-CN" altLang="zh-CN" dirty="0"/>
              <a:t>向</a:t>
            </a:r>
            <a:r>
              <a:rPr lang="en-US" altLang="zh-CN" dirty="0"/>
              <a:t> IPv6 </a:t>
            </a:r>
            <a:r>
              <a:rPr lang="zh-CN" altLang="zh-CN" dirty="0"/>
              <a:t>过渡</a:t>
            </a:r>
            <a:endParaRPr lang="zh-CN" altLang="en-US" dirty="0"/>
          </a:p>
        </p:txBody>
      </p:sp>
      <p:sp>
        <p:nvSpPr>
          <p:cNvPr id="665603"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en-US" dirty="0"/>
              <a:t>向 </a:t>
            </a:r>
            <a:r>
              <a:rPr lang="en-US" altLang="zh-CN" dirty="0"/>
              <a:t>IPv6 </a:t>
            </a:r>
            <a:r>
              <a:rPr lang="zh-CN" altLang="en-US" dirty="0"/>
              <a:t>过渡</a:t>
            </a:r>
            <a:r>
              <a:rPr lang="zh-CN" altLang="en-US" dirty="0">
                <a:solidFill>
                  <a:srgbClr val="FF0000"/>
                </a:solidFill>
              </a:rPr>
              <a:t>只能采用逐步演进的办法，</a:t>
            </a:r>
            <a:r>
              <a:rPr lang="zh-CN" altLang="en-US" dirty="0"/>
              <a:t>同时，还必须使新安装的 </a:t>
            </a:r>
            <a:r>
              <a:rPr lang="en-US" altLang="zh-CN" dirty="0"/>
              <a:t>IPv6 </a:t>
            </a:r>
            <a:r>
              <a:rPr lang="zh-CN" altLang="en-US" dirty="0"/>
              <a:t>系统能够</a:t>
            </a:r>
            <a:r>
              <a:rPr lang="zh-CN" altLang="en-US" dirty="0">
                <a:solidFill>
                  <a:srgbClr val="FF0000"/>
                </a:solidFill>
              </a:rPr>
              <a:t>向后兼容：</a:t>
            </a:r>
            <a:r>
              <a:rPr lang="en-US" altLang="zh-CN" dirty="0">
                <a:solidFill>
                  <a:srgbClr val="0000CC"/>
                </a:solidFill>
              </a:rPr>
              <a:t>IPv6 </a:t>
            </a:r>
            <a:r>
              <a:rPr lang="zh-CN" altLang="en-US" dirty="0">
                <a:solidFill>
                  <a:srgbClr val="0000CC"/>
                </a:solidFill>
              </a:rPr>
              <a:t>系统必须能够接收和转发 </a:t>
            </a:r>
            <a:r>
              <a:rPr lang="en-US" altLang="zh-CN" dirty="0">
                <a:solidFill>
                  <a:srgbClr val="0000CC"/>
                </a:solidFill>
              </a:rPr>
              <a:t>IPv4 </a:t>
            </a:r>
            <a:r>
              <a:rPr lang="zh-CN" altLang="en-US" dirty="0">
                <a:solidFill>
                  <a:srgbClr val="0000CC"/>
                </a:solidFill>
              </a:rPr>
              <a:t>分组，并且能够为 </a:t>
            </a:r>
            <a:r>
              <a:rPr lang="en-US" altLang="zh-CN" dirty="0">
                <a:solidFill>
                  <a:srgbClr val="0000CC"/>
                </a:solidFill>
              </a:rPr>
              <a:t>IPv4 </a:t>
            </a:r>
            <a:r>
              <a:rPr lang="zh-CN" altLang="en-US" dirty="0">
                <a:solidFill>
                  <a:srgbClr val="0000CC"/>
                </a:solidFill>
              </a:rPr>
              <a:t>分组选择路由。</a:t>
            </a:r>
            <a:endParaRPr lang="en-US" altLang="zh-CN" dirty="0">
              <a:solidFill>
                <a:srgbClr val="0000CC"/>
              </a:solidFill>
            </a:endParaRPr>
          </a:p>
          <a:p>
            <a:r>
              <a:rPr lang="zh-CN" altLang="zh-CN" dirty="0"/>
              <a:t>两种向</a:t>
            </a:r>
            <a:r>
              <a:rPr lang="en-US" altLang="zh-CN" dirty="0"/>
              <a:t> IPv6 </a:t>
            </a:r>
            <a:r>
              <a:rPr lang="zh-CN" altLang="zh-CN" dirty="0"/>
              <a:t>过渡的策略</a:t>
            </a:r>
            <a:r>
              <a:rPr lang="zh-CN" altLang="en-US" dirty="0"/>
              <a:t>：</a:t>
            </a:r>
            <a:endParaRPr lang="en-US" altLang="zh-CN" dirty="0"/>
          </a:p>
          <a:p>
            <a:pPr lvl="1"/>
            <a:r>
              <a:rPr lang="zh-CN" altLang="zh-CN" dirty="0">
                <a:solidFill>
                  <a:srgbClr val="FF0000"/>
                </a:solidFill>
              </a:rPr>
              <a:t>使用双协议栈</a:t>
            </a:r>
            <a:endParaRPr lang="en-US" altLang="zh-CN" dirty="0">
              <a:solidFill>
                <a:srgbClr val="FF0000"/>
              </a:solidFill>
            </a:endParaRPr>
          </a:p>
          <a:p>
            <a:pPr lvl="1"/>
            <a:r>
              <a:rPr lang="zh-CN" altLang="zh-CN" dirty="0">
                <a:solidFill>
                  <a:srgbClr val="FF0000"/>
                </a:solidFill>
              </a:rPr>
              <a:t>使用隧道技术</a:t>
            </a:r>
            <a:endParaRPr lang="zh-CN" altLang="en-US" dirty="0">
              <a:solidFill>
                <a:srgbClr val="FF0000"/>
              </a:solidFill>
            </a:endParaRPr>
          </a:p>
        </p:txBody>
      </p:sp>
    </p:spTree>
    <p:extLst>
      <p:ext uri="{BB962C8B-B14F-4D97-AF65-F5344CB8AC3E}">
        <p14:creationId xmlns:p14="http://schemas.microsoft.com/office/powerpoint/2010/main" val="959923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2"/>
          <p:cNvSpPr>
            <a:spLocks noGrp="1" noChangeArrowheads="1"/>
          </p:cNvSpPr>
          <p:nvPr>
            <p:ph type="title"/>
          </p:nvPr>
        </p:nvSpPr>
        <p:spPr/>
        <p:txBody>
          <a:bodyPr/>
          <a:lstStyle/>
          <a:p>
            <a:pPr algn="ctr"/>
            <a:r>
              <a:rPr lang="zh-CN" altLang="en-US" dirty="0"/>
              <a:t>双协议栈</a:t>
            </a:r>
          </a:p>
        </p:txBody>
      </p:sp>
      <p:sp>
        <p:nvSpPr>
          <p:cNvPr id="665603" name="Rectangle 3"/>
          <p:cNvSpPr>
            <a:spLocks noGrp="1" noChangeArrowheads="1"/>
          </p:cNvSpPr>
          <p:nvPr>
            <p:ph idx="1"/>
          </p:nvPr>
        </p:nvSpPr>
        <p:spPr>
          <a:xfrm>
            <a:off x="495300" y="1196752"/>
            <a:ext cx="9210228" cy="4934173"/>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r>
              <a:rPr lang="zh-CN" altLang="en-US" sz="2800" dirty="0"/>
              <a:t>双协议栈</a:t>
            </a:r>
            <a:r>
              <a:rPr lang="en-US" altLang="zh-CN" sz="2800" dirty="0"/>
              <a:t>(dual stack)</a:t>
            </a:r>
            <a:r>
              <a:rPr lang="zh-CN" altLang="en-US" sz="2800" dirty="0"/>
              <a:t>是指在完全过渡到 </a:t>
            </a:r>
            <a:r>
              <a:rPr lang="en-US" altLang="zh-CN" sz="2800" dirty="0"/>
              <a:t>IPv6 </a:t>
            </a:r>
            <a:r>
              <a:rPr lang="zh-CN" altLang="en-US" sz="2800" dirty="0"/>
              <a:t>之前，使一部分主机（或路由器）</a:t>
            </a:r>
            <a:r>
              <a:rPr lang="zh-CN" altLang="en-US" sz="2800" dirty="0">
                <a:solidFill>
                  <a:srgbClr val="FF0000"/>
                </a:solidFill>
              </a:rPr>
              <a:t>装有两个协议栈，一个 </a:t>
            </a:r>
            <a:r>
              <a:rPr lang="en-US" altLang="zh-CN" sz="2800" dirty="0">
                <a:solidFill>
                  <a:srgbClr val="FF0000"/>
                </a:solidFill>
              </a:rPr>
              <a:t>IPv4 </a:t>
            </a:r>
            <a:r>
              <a:rPr lang="zh-CN" altLang="en-US" sz="2800" dirty="0">
                <a:solidFill>
                  <a:srgbClr val="FF0000"/>
                </a:solidFill>
              </a:rPr>
              <a:t>和一个 </a:t>
            </a:r>
            <a:r>
              <a:rPr lang="en-US" altLang="zh-CN" sz="2800" dirty="0">
                <a:solidFill>
                  <a:srgbClr val="FF0000"/>
                </a:solidFill>
              </a:rPr>
              <a:t>IPv6</a:t>
            </a:r>
            <a:r>
              <a:rPr lang="zh-CN" altLang="en-US" sz="2800" dirty="0">
                <a:solidFill>
                  <a:srgbClr val="FF0000"/>
                </a:solidFill>
              </a:rPr>
              <a:t>。</a:t>
            </a:r>
            <a:r>
              <a:rPr lang="zh-CN" altLang="en-US" sz="2800" dirty="0"/>
              <a:t> </a:t>
            </a:r>
            <a:endParaRPr lang="en-US" altLang="zh-CN" sz="2800" dirty="0"/>
          </a:p>
          <a:p>
            <a:r>
              <a:rPr lang="zh-CN" altLang="zh-CN" sz="2800" dirty="0"/>
              <a:t>双协议栈的主机（或路由器）记为</a:t>
            </a:r>
            <a:r>
              <a:rPr lang="en-US" altLang="zh-CN" sz="2800" dirty="0"/>
              <a:t> IPv6/IPv4</a:t>
            </a:r>
            <a:r>
              <a:rPr lang="zh-CN" altLang="zh-CN" sz="2800" dirty="0"/>
              <a:t>，表明它</a:t>
            </a:r>
            <a:r>
              <a:rPr lang="zh-CN" altLang="zh-CN" sz="2800" dirty="0">
                <a:solidFill>
                  <a:srgbClr val="FF0000"/>
                </a:solidFill>
              </a:rPr>
              <a:t>同时具有两种</a:t>
            </a:r>
            <a:r>
              <a:rPr lang="en-US" altLang="zh-CN" sz="2800" dirty="0">
                <a:solidFill>
                  <a:srgbClr val="FF0000"/>
                </a:solidFill>
              </a:rPr>
              <a:t> IP </a:t>
            </a:r>
            <a:r>
              <a:rPr lang="zh-CN" altLang="zh-CN" sz="2800" dirty="0">
                <a:solidFill>
                  <a:srgbClr val="FF0000"/>
                </a:solidFill>
              </a:rPr>
              <a:t>地址：一个</a:t>
            </a:r>
            <a:r>
              <a:rPr lang="en-US" altLang="zh-CN" sz="2800" dirty="0">
                <a:solidFill>
                  <a:srgbClr val="FF0000"/>
                </a:solidFill>
              </a:rPr>
              <a:t> IPv6 </a:t>
            </a:r>
            <a:r>
              <a:rPr lang="zh-CN" altLang="zh-CN" sz="2800" dirty="0">
                <a:solidFill>
                  <a:srgbClr val="FF0000"/>
                </a:solidFill>
              </a:rPr>
              <a:t>地址和一个</a:t>
            </a:r>
            <a:r>
              <a:rPr lang="en-US" altLang="zh-CN" sz="2800" dirty="0">
                <a:solidFill>
                  <a:srgbClr val="FF0000"/>
                </a:solidFill>
              </a:rPr>
              <a:t> IPv4 </a:t>
            </a:r>
            <a:r>
              <a:rPr lang="zh-CN" altLang="zh-CN" sz="2800" dirty="0">
                <a:solidFill>
                  <a:srgbClr val="FF0000"/>
                </a:solidFill>
              </a:rPr>
              <a:t>地址。</a:t>
            </a:r>
          </a:p>
          <a:p>
            <a:r>
              <a:rPr lang="zh-CN" altLang="zh-CN" sz="2800" dirty="0"/>
              <a:t>双协议栈主机在和</a:t>
            </a:r>
            <a:r>
              <a:rPr lang="en-US" altLang="zh-CN" sz="2800" dirty="0"/>
              <a:t> IPv6 </a:t>
            </a:r>
            <a:r>
              <a:rPr lang="zh-CN" altLang="zh-CN" sz="2800" dirty="0"/>
              <a:t>主机通信时是采用</a:t>
            </a:r>
            <a:r>
              <a:rPr lang="en-US" altLang="zh-CN" sz="2800" dirty="0"/>
              <a:t> IPv6 </a:t>
            </a:r>
            <a:r>
              <a:rPr lang="zh-CN" altLang="zh-CN" sz="2800" dirty="0"/>
              <a:t>地址，而和</a:t>
            </a:r>
            <a:r>
              <a:rPr lang="en-US" altLang="zh-CN" sz="2800" dirty="0"/>
              <a:t> IPv4 </a:t>
            </a:r>
            <a:r>
              <a:rPr lang="zh-CN" altLang="zh-CN" sz="2800" dirty="0"/>
              <a:t>主机通信时就采用</a:t>
            </a:r>
            <a:r>
              <a:rPr lang="en-US" altLang="zh-CN" sz="2800" dirty="0"/>
              <a:t> IPv4 </a:t>
            </a:r>
            <a:r>
              <a:rPr lang="zh-CN" altLang="zh-CN" sz="2800" dirty="0"/>
              <a:t>地址。</a:t>
            </a:r>
            <a:endParaRPr lang="en-US" altLang="zh-CN" sz="2800" dirty="0"/>
          </a:p>
          <a:p>
            <a:r>
              <a:rPr lang="zh-CN" altLang="en-US" sz="2800" dirty="0"/>
              <a:t>根据 </a:t>
            </a:r>
            <a:r>
              <a:rPr lang="en-US" altLang="zh-CN" sz="2800" dirty="0"/>
              <a:t>DNS </a:t>
            </a:r>
            <a:r>
              <a:rPr lang="zh-CN" altLang="zh-CN" sz="2800" dirty="0"/>
              <a:t>返回的</a:t>
            </a:r>
            <a:r>
              <a:rPr lang="zh-CN" altLang="en-US" sz="2800" dirty="0"/>
              <a:t>地址类型可以确定使用 </a:t>
            </a:r>
            <a:r>
              <a:rPr lang="en-US" altLang="zh-CN" sz="2800" dirty="0"/>
              <a:t>IPv4 </a:t>
            </a:r>
            <a:r>
              <a:rPr lang="zh-CN" altLang="zh-CN" sz="2800" dirty="0"/>
              <a:t>地址</a:t>
            </a:r>
            <a:r>
              <a:rPr lang="zh-CN" altLang="en-US" sz="2800" dirty="0"/>
              <a:t>还是 </a:t>
            </a:r>
            <a:r>
              <a:rPr lang="en-US" altLang="zh-CN" sz="2800" dirty="0"/>
              <a:t>IPv6 </a:t>
            </a:r>
            <a:r>
              <a:rPr lang="zh-CN" altLang="en-US" sz="2800" dirty="0"/>
              <a:t>地址。</a:t>
            </a:r>
          </a:p>
        </p:txBody>
      </p:sp>
    </p:spTree>
    <p:extLst>
      <p:ext uri="{BB962C8B-B14F-4D97-AF65-F5344CB8AC3E}">
        <p14:creationId xmlns:p14="http://schemas.microsoft.com/office/powerpoint/2010/main" val="4125260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2"/>
          <p:cNvSpPr>
            <a:spLocks noGrp="1" noChangeArrowheads="1"/>
          </p:cNvSpPr>
          <p:nvPr>
            <p:ph type="title"/>
          </p:nvPr>
        </p:nvSpPr>
        <p:spPr/>
        <p:txBody>
          <a:bodyPr/>
          <a:lstStyle/>
          <a:p>
            <a:pPr algn="ctr"/>
            <a:r>
              <a:rPr lang="zh-CN" altLang="en-US" dirty="0"/>
              <a:t>双协议栈</a:t>
            </a:r>
          </a:p>
        </p:txBody>
      </p:sp>
      <p:grpSp>
        <p:nvGrpSpPr>
          <p:cNvPr id="667651" name="Group 3"/>
          <p:cNvGrpSpPr/>
          <p:nvPr/>
        </p:nvGrpSpPr>
        <p:grpSpPr bwMode="auto">
          <a:xfrm>
            <a:off x="2944357" y="1565747"/>
            <a:ext cx="4368271" cy="1223962"/>
            <a:chOff x="912" y="768"/>
            <a:chExt cx="2400" cy="1584"/>
          </a:xfrm>
        </p:grpSpPr>
        <p:sp>
          <p:nvSpPr>
            <p:cNvPr id="667652"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3"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4"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5"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6"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7"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8"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59"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0"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grpSp>
          <p:nvGrpSpPr>
            <p:cNvPr id="667661" name="Group 13"/>
            <p:cNvGrpSpPr/>
            <p:nvPr/>
          </p:nvGrpSpPr>
          <p:grpSpPr bwMode="auto">
            <a:xfrm>
              <a:off x="912" y="768"/>
              <a:ext cx="2386" cy="1553"/>
              <a:chOff x="912" y="768"/>
              <a:chExt cx="2386" cy="1553"/>
            </a:xfrm>
          </p:grpSpPr>
          <p:sp>
            <p:nvSpPr>
              <p:cNvPr id="667662"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3"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4"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5"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6"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7"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8"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69"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7670"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grpSp>
      </p:grpSp>
      <p:sp>
        <p:nvSpPr>
          <p:cNvPr id="667671" name="Freeform 23"/>
          <p:cNvSpPr/>
          <p:nvPr/>
        </p:nvSpPr>
        <p:spPr bwMode="auto">
          <a:xfrm flipH="1">
            <a:off x="7355622" y="2943697"/>
            <a:ext cx="749829"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672" name="Freeform 24"/>
          <p:cNvSpPr/>
          <p:nvPr/>
        </p:nvSpPr>
        <p:spPr bwMode="auto">
          <a:xfrm>
            <a:off x="1976114" y="2950047"/>
            <a:ext cx="99060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p:spPr>
        <p:txBody>
          <a:bodyPr/>
          <a:lstStyle/>
          <a:p>
            <a:endParaRPr lang="zh-CN" altLang="en-US" b="1">
              <a:solidFill>
                <a:srgbClr val="000099"/>
              </a:solidFill>
              <a:latin typeface="+mn-lt"/>
              <a:ea typeface="黑体" panose="02010609060101010101" pitchFamily="2" charset="-122"/>
            </a:endParaRPr>
          </a:p>
        </p:txBody>
      </p:sp>
      <p:sp>
        <p:nvSpPr>
          <p:cNvPr id="667673" name="Line 25"/>
          <p:cNvSpPr>
            <a:spLocks noChangeShapeType="1"/>
          </p:cNvSpPr>
          <p:nvPr/>
        </p:nvSpPr>
        <p:spPr bwMode="auto">
          <a:xfrm>
            <a:off x="841051" y="2321397"/>
            <a:ext cx="8750300"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anose="02010609060101010101" pitchFamily="2" charset="-122"/>
            </a:endParaRPr>
          </a:p>
        </p:txBody>
      </p:sp>
      <p:pic>
        <p:nvPicPr>
          <p:cNvPr id="667674"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0851" y="2018185"/>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7675" name="Picture 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19064"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67676" name="Text Box 28"/>
          <p:cNvSpPr txBox="1">
            <a:spLocks noChangeArrowheads="1"/>
          </p:cNvSpPr>
          <p:nvPr/>
        </p:nvSpPr>
        <p:spPr bwMode="auto">
          <a:xfrm>
            <a:off x="2072680" y="1412776"/>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anose="02010609060101010101" pitchFamily="2" charset="-122"/>
              </a:rPr>
              <a:t>双协议栈</a:t>
            </a:r>
          </a:p>
          <a:p>
            <a:pPr algn="ctr"/>
            <a:r>
              <a:rPr kumimoji="1" lang="en-US" altLang="zh-CN" sz="2000" b="1" dirty="0">
                <a:solidFill>
                  <a:srgbClr val="C00000"/>
                </a:solidFill>
                <a:latin typeface="+mn-lt"/>
                <a:ea typeface="黑体" panose="02010609060101010101" pitchFamily="2" charset="-122"/>
              </a:rPr>
              <a:t>IPv6/IPv4</a:t>
            </a:r>
          </a:p>
        </p:txBody>
      </p:sp>
      <p:pic>
        <p:nvPicPr>
          <p:cNvPr id="667677"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56810"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78"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42710"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79"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73576"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80"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167969" y="2018185"/>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7681" name="Text Box 33"/>
          <p:cNvSpPr txBox="1">
            <a:spLocks noChangeArrowheads="1"/>
          </p:cNvSpPr>
          <p:nvPr/>
        </p:nvSpPr>
        <p:spPr bwMode="auto">
          <a:xfrm>
            <a:off x="510851" y="1628800"/>
            <a:ext cx="7120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IPv6</a:t>
            </a:r>
          </a:p>
        </p:txBody>
      </p:sp>
      <p:sp>
        <p:nvSpPr>
          <p:cNvPr id="667682" name="Text Box 34"/>
          <p:cNvSpPr txBox="1">
            <a:spLocks noChangeArrowheads="1"/>
          </p:cNvSpPr>
          <p:nvPr/>
        </p:nvSpPr>
        <p:spPr bwMode="auto">
          <a:xfrm>
            <a:off x="9078539" y="1628800"/>
            <a:ext cx="7120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IPv6</a:t>
            </a:r>
          </a:p>
        </p:txBody>
      </p:sp>
      <p:sp>
        <p:nvSpPr>
          <p:cNvPr id="667683" name="Text Box 35"/>
          <p:cNvSpPr txBox="1">
            <a:spLocks noChangeArrowheads="1"/>
          </p:cNvSpPr>
          <p:nvPr/>
        </p:nvSpPr>
        <p:spPr bwMode="auto">
          <a:xfrm>
            <a:off x="4683066" y="1533997"/>
            <a:ext cx="12987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IPv4 </a:t>
            </a:r>
            <a:r>
              <a:rPr kumimoji="1" lang="zh-CN" altLang="en-US" sz="2000" b="1" dirty="0">
                <a:solidFill>
                  <a:srgbClr val="000099"/>
                </a:solidFill>
                <a:latin typeface="+mn-lt"/>
                <a:ea typeface="黑体" panose="02010609060101010101" pitchFamily="2" charset="-122"/>
              </a:rPr>
              <a:t>网络</a:t>
            </a:r>
          </a:p>
        </p:txBody>
      </p:sp>
      <p:sp>
        <p:nvSpPr>
          <p:cNvPr id="667684" name="Text Box 36"/>
          <p:cNvSpPr txBox="1">
            <a:spLocks noChangeArrowheads="1"/>
          </p:cNvSpPr>
          <p:nvPr/>
        </p:nvSpPr>
        <p:spPr bwMode="auto">
          <a:xfrm>
            <a:off x="235685" y="2004963"/>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A</a:t>
            </a:r>
          </a:p>
        </p:txBody>
      </p:sp>
      <p:sp>
        <p:nvSpPr>
          <p:cNvPr id="667685" name="Text Box 37"/>
          <p:cNvSpPr txBox="1">
            <a:spLocks noChangeArrowheads="1"/>
          </p:cNvSpPr>
          <p:nvPr/>
        </p:nvSpPr>
        <p:spPr bwMode="auto">
          <a:xfrm>
            <a:off x="2388864" y="1993850"/>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B</a:t>
            </a:r>
          </a:p>
        </p:txBody>
      </p:sp>
      <p:sp>
        <p:nvSpPr>
          <p:cNvPr id="667686" name="Text Box 38"/>
          <p:cNvSpPr txBox="1">
            <a:spLocks noChangeArrowheads="1"/>
          </p:cNvSpPr>
          <p:nvPr/>
        </p:nvSpPr>
        <p:spPr bwMode="auto">
          <a:xfrm>
            <a:off x="3797374" y="1982738"/>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C</a:t>
            </a:r>
          </a:p>
        </p:txBody>
      </p:sp>
      <p:sp>
        <p:nvSpPr>
          <p:cNvPr id="667687" name="Text Box 39"/>
          <p:cNvSpPr txBox="1">
            <a:spLocks noChangeArrowheads="1"/>
          </p:cNvSpPr>
          <p:nvPr/>
        </p:nvSpPr>
        <p:spPr bwMode="auto">
          <a:xfrm>
            <a:off x="5340026" y="1971625"/>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D</a:t>
            </a:r>
          </a:p>
        </p:txBody>
      </p:sp>
      <p:sp>
        <p:nvSpPr>
          <p:cNvPr id="667688" name="Text Box 40"/>
          <p:cNvSpPr txBox="1">
            <a:spLocks noChangeArrowheads="1"/>
          </p:cNvSpPr>
          <p:nvPr/>
        </p:nvSpPr>
        <p:spPr bwMode="auto">
          <a:xfrm>
            <a:off x="6757135" y="1960513"/>
            <a:ext cx="33855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E</a:t>
            </a:r>
          </a:p>
        </p:txBody>
      </p:sp>
      <p:sp>
        <p:nvSpPr>
          <p:cNvPr id="667689" name="Text Box 41"/>
          <p:cNvSpPr txBox="1">
            <a:spLocks noChangeArrowheads="1"/>
          </p:cNvSpPr>
          <p:nvPr/>
        </p:nvSpPr>
        <p:spPr bwMode="auto">
          <a:xfrm>
            <a:off x="8913440" y="1949400"/>
            <a:ext cx="32573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anose="02010609060101010101" pitchFamily="2" charset="-122"/>
              </a:rPr>
              <a:t>F</a:t>
            </a:r>
          </a:p>
        </p:txBody>
      </p:sp>
      <p:sp>
        <p:nvSpPr>
          <p:cNvPr id="667690" name="Rectangle 42"/>
          <p:cNvSpPr>
            <a:spLocks noChangeArrowheads="1"/>
          </p:cNvSpPr>
          <p:nvPr/>
        </p:nvSpPr>
        <p:spPr bwMode="auto">
          <a:xfrm>
            <a:off x="574484" y="2942109"/>
            <a:ext cx="1403350" cy="2057400"/>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7691" name="Rectangle 43"/>
          <p:cNvSpPr>
            <a:spLocks noChangeArrowheads="1"/>
          </p:cNvSpPr>
          <p:nvPr/>
        </p:nvSpPr>
        <p:spPr bwMode="auto">
          <a:xfrm>
            <a:off x="610600" y="2962748"/>
            <a:ext cx="1368954"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7692" name="Text Box 44"/>
          <p:cNvSpPr txBox="1">
            <a:spLocks noChangeArrowheads="1"/>
          </p:cNvSpPr>
          <p:nvPr/>
        </p:nvSpPr>
        <p:spPr bwMode="auto">
          <a:xfrm>
            <a:off x="574484" y="2942109"/>
            <a:ext cx="148418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流标号：</a:t>
            </a:r>
            <a:r>
              <a:rPr kumimoji="1" lang="en-US" altLang="zh-CN" sz="1600" b="1">
                <a:solidFill>
                  <a:srgbClr val="000099"/>
                </a:solidFill>
                <a:latin typeface="+mn-lt"/>
                <a:ea typeface="黑体" panose="02010609060101010101" pitchFamily="2" charset="-122"/>
              </a:rPr>
              <a:t>X</a:t>
            </a:r>
          </a:p>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a:p>
            <a:r>
              <a:rPr kumimoji="1" lang="en-US" altLang="zh-CN" sz="1600" b="1">
                <a:solidFill>
                  <a:srgbClr val="000099"/>
                </a:solidFill>
                <a:latin typeface="+mn-lt"/>
                <a:ea typeface="黑体" panose="02010609060101010101" pitchFamily="2" charset="-122"/>
              </a:rPr>
              <a:t>   </a:t>
            </a:r>
            <a:r>
              <a:rPr kumimoji="1" lang="zh-CN" altLang="en-US" sz="1600" b="1">
                <a:solidFill>
                  <a:srgbClr val="000099"/>
                </a:solidFill>
                <a:latin typeface="+mn-lt"/>
                <a:ea typeface="黑体" panose="02010609060101010101" pitchFamily="2" charset="-122"/>
              </a:rPr>
              <a:t>数据部分</a:t>
            </a:r>
          </a:p>
        </p:txBody>
      </p:sp>
      <p:sp>
        <p:nvSpPr>
          <p:cNvPr id="667693" name="Rectangle 45"/>
          <p:cNvSpPr>
            <a:spLocks noChangeArrowheads="1"/>
          </p:cNvSpPr>
          <p:nvPr/>
        </p:nvSpPr>
        <p:spPr bwMode="auto">
          <a:xfrm>
            <a:off x="8105452" y="2942109"/>
            <a:ext cx="1403350" cy="2057400"/>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7694" name="Rectangle 46"/>
          <p:cNvSpPr>
            <a:spLocks noChangeArrowheads="1"/>
          </p:cNvSpPr>
          <p:nvPr/>
        </p:nvSpPr>
        <p:spPr bwMode="auto">
          <a:xfrm>
            <a:off x="8126089" y="2962748"/>
            <a:ext cx="1382713"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7695" name="Text Box 47"/>
          <p:cNvSpPr txBox="1">
            <a:spLocks noChangeArrowheads="1"/>
          </p:cNvSpPr>
          <p:nvPr/>
        </p:nvSpPr>
        <p:spPr bwMode="auto">
          <a:xfrm>
            <a:off x="8105452" y="2942109"/>
            <a:ext cx="1504818"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流标号：无</a:t>
            </a:r>
          </a:p>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a:p>
            <a:r>
              <a:rPr kumimoji="1" lang="en-US" altLang="zh-CN" sz="1600" b="1">
                <a:solidFill>
                  <a:srgbClr val="000099"/>
                </a:solidFill>
                <a:latin typeface="+mn-lt"/>
                <a:ea typeface="黑体" panose="02010609060101010101" pitchFamily="2" charset="-122"/>
              </a:rPr>
              <a:t>   </a:t>
            </a:r>
            <a:r>
              <a:rPr kumimoji="1" lang="zh-CN" altLang="en-US" sz="1600" b="1">
                <a:solidFill>
                  <a:srgbClr val="000099"/>
                </a:solidFill>
                <a:latin typeface="+mn-lt"/>
                <a:ea typeface="黑体" panose="02010609060101010101" pitchFamily="2" charset="-122"/>
              </a:rPr>
              <a:t>数据部分</a:t>
            </a:r>
          </a:p>
        </p:txBody>
      </p:sp>
      <p:sp>
        <p:nvSpPr>
          <p:cNvPr id="667696" name="Line 48"/>
          <p:cNvSpPr>
            <a:spLocks noChangeShapeType="1"/>
          </p:cNvSpPr>
          <p:nvPr/>
        </p:nvSpPr>
        <p:spPr bwMode="auto">
          <a:xfrm>
            <a:off x="758502" y="2789709"/>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697" name="Line 49"/>
          <p:cNvSpPr>
            <a:spLocks noChangeShapeType="1"/>
          </p:cNvSpPr>
          <p:nvPr/>
        </p:nvSpPr>
        <p:spPr bwMode="auto">
          <a:xfrm>
            <a:off x="3069902" y="2789709"/>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698" name="Line 50"/>
          <p:cNvSpPr>
            <a:spLocks noChangeShapeType="1"/>
          </p:cNvSpPr>
          <p:nvPr/>
        </p:nvSpPr>
        <p:spPr bwMode="auto">
          <a:xfrm>
            <a:off x="6124252" y="2789709"/>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699" name="Line 51"/>
          <p:cNvSpPr>
            <a:spLocks noChangeShapeType="1"/>
          </p:cNvSpPr>
          <p:nvPr/>
        </p:nvSpPr>
        <p:spPr bwMode="auto">
          <a:xfrm>
            <a:off x="8353102" y="2789709"/>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00" name="Text Box 52"/>
          <p:cNvSpPr txBox="1">
            <a:spLocks noChangeArrowheads="1"/>
          </p:cNvSpPr>
          <p:nvPr/>
        </p:nvSpPr>
        <p:spPr bwMode="auto">
          <a:xfrm>
            <a:off x="7027401" y="1412776"/>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anose="02010609060101010101" pitchFamily="2" charset="-122"/>
              </a:rPr>
              <a:t>双协议栈</a:t>
            </a:r>
          </a:p>
          <a:p>
            <a:pPr algn="ctr"/>
            <a:r>
              <a:rPr kumimoji="1" lang="en-US" altLang="zh-CN" sz="2000" b="1" dirty="0">
                <a:solidFill>
                  <a:srgbClr val="C00000"/>
                </a:solidFill>
                <a:latin typeface="+mn-lt"/>
                <a:ea typeface="黑体" panose="02010609060101010101" pitchFamily="2" charset="-122"/>
              </a:rPr>
              <a:t>IPv6/IPv4</a:t>
            </a:r>
          </a:p>
        </p:txBody>
      </p:sp>
      <p:sp>
        <p:nvSpPr>
          <p:cNvPr id="667701" name="Text Box 53"/>
          <p:cNvSpPr txBox="1">
            <a:spLocks noChangeArrowheads="1"/>
          </p:cNvSpPr>
          <p:nvPr/>
        </p:nvSpPr>
        <p:spPr bwMode="auto">
          <a:xfrm>
            <a:off x="4915238" y="3213573"/>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a:t>
            </a:r>
          </a:p>
        </p:txBody>
      </p:sp>
      <p:sp>
        <p:nvSpPr>
          <p:cNvPr id="667702" name="Text Box 54"/>
          <p:cNvSpPr txBox="1">
            <a:spLocks noChangeArrowheads="1"/>
          </p:cNvSpPr>
          <p:nvPr/>
        </p:nvSpPr>
        <p:spPr bwMode="auto">
          <a:xfrm>
            <a:off x="631237" y="5013797"/>
            <a:ext cx="13260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IPv6 </a:t>
            </a:r>
            <a:r>
              <a:rPr kumimoji="1" lang="zh-CN" altLang="en-US" sz="1600" b="1" dirty="0">
                <a:solidFill>
                  <a:srgbClr val="000099"/>
                </a:solidFill>
                <a:latin typeface="+mn-lt"/>
                <a:ea typeface="黑体" panose="02010609060101010101" pitchFamily="2" charset="-122"/>
              </a:rPr>
              <a:t>数据报</a:t>
            </a:r>
          </a:p>
        </p:txBody>
      </p:sp>
      <p:grpSp>
        <p:nvGrpSpPr>
          <p:cNvPr id="3" name="组合 2"/>
          <p:cNvGrpSpPr/>
          <p:nvPr/>
        </p:nvGrpSpPr>
        <p:grpSpPr>
          <a:xfrm>
            <a:off x="2850479" y="2492896"/>
            <a:ext cx="4622801" cy="2952328"/>
            <a:chOff x="2822251" y="2637309"/>
            <a:chExt cx="4622801" cy="2590800"/>
          </a:xfrm>
        </p:grpSpPr>
        <p:sp>
          <p:nvSpPr>
            <p:cNvPr id="667703" name="Line 55"/>
            <p:cNvSpPr>
              <a:spLocks noChangeShapeType="1"/>
            </p:cNvSpPr>
            <p:nvPr/>
          </p:nvSpPr>
          <p:spPr bwMode="auto">
            <a:xfrm>
              <a:off x="2822251" y="2637309"/>
              <a:ext cx="0" cy="259080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04" name="Line 56"/>
            <p:cNvSpPr>
              <a:spLocks noChangeShapeType="1"/>
            </p:cNvSpPr>
            <p:nvPr/>
          </p:nvSpPr>
          <p:spPr bwMode="auto">
            <a:xfrm>
              <a:off x="7445052" y="2637309"/>
              <a:ext cx="0" cy="259080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sp>
        <p:nvSpPr>
          <p:cNvPr id="667705" name="Text Box 57"/>
          <p:cNvSpPr txBox="1">
            <a:spLocks noChangeArrowheads="1"/>
          </p:cNvSpPr>
          <p:nvPr/>
        </p:nvSpPr>
        <p:spPr bwMode="auto">
          <a:xfrm>
            <a:off x="8177683" y="5013797"/>
            <a:ext cx="13260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anose="02010609060101010101" pitchFamily="2" charset="-122"/>
              </a:rPr>
              <a:t>IPv6 </a:t>
            </a:r>
            <a:r>
              <a:rPr kumimoji="1" lang="zh-CN" altLang="en-US" sz="1600" b="1">
                <a:solidFill>
                  <a:srgbClr val="000099"/>
                </a:solidFill>
                <a:latin typeface="+mn-lt"/>
                <a:ea typeface="黑体" panose="02010609060101010101" pitchFamily="2" charset="-122"/>
              </a:rPr>
              <a:t>数据报</a:t>
            </a:r>
          </a:p>
        </p:txBody>
      </p:sp>
      <p:sp>
        <p:nvSpPr>
          <p:cNvPr id="667706" name="Line 58"/>
          <p:cNvSpPr>
            <a:spLocks noChangeShapeType="1"/>
          </p:cNvSpPr>
          <p:nvPr/>
        </p:nvSpPr>
        <p:spPr bwMode="auto">
          <a:xfrm>
            <a:off x="593402" y="4150197"/>
            <a:ext cx="140335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07" name="Line 59"/>
          <p:cNvSpPr>
            <a:spLocks noChangeShapeType="1"/>
          </p:cNvSpPr>
          <p:nvPr/>
        </p:nvSpPr>
        <p:spPr bwMode="auto">
          <a:xfrm>
            <a:off x="8105452" y="4150197"/>
            <a:ext cx="140335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08" name="Rectangle 60"/>
          <p:cNvSpPr>
            <a:spLocks noChangeArrowheads="1"/>
          </p:cNvSpPr>
          <p:nvPr/>
        </p:nvSpPr>
        <p:spPr bwMode="auto">
          <a:xfrm>
            <a:off x="2968434" y="2942109"/>
            <a:ext cx="1403350" cy="1741488"/>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7709" name="Rectangle 61"/>
          <p:cNvSpPr>
            <a:spLocks noChangeArrowheads="1"/>
          </p:cNvSpPr>
          <p:nvPr/>
        </p:nvSpPr>
        <p:spPr bwMode="auto">
          <a:xfrm>
            <a:off x="2982192" y="2951635"/>
            <a:ext cx="1382713"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7710" name="Text Box 62"/>
          <p:cNvSpPr txBox="1">
            <a:spLocks noChangeArrowheads="1"/>
          </p:cNvSpPr>
          <p:nvPr/>
        </p:nvSpPr>
        <p:spPr bwMode="auto">
          <a:xfrm>
            <a:off x="2968434" y="2942109"/>
            <a:ext cx="1504817"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p:txBody>
      </p:sp>
      <p:sp>
        <p:nvSpPr>
          <p:cNvPr id="667711" name="Line 63"/>
          <p:cNvSpPr>
            <a:spLocks noChangeShapeType="1"/>
          </p:cNvSpPr>
          <p:nvPr/>
        </p:nvSpPr>
        <p:spPr bwMode="auto">
          <a:xfrm>
            <a:off x="2987352" y="3845397"/>
            <a:ext cx="140335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12" name="Text Box 64"/>
          <p:cNvSpPr txBox="1">
            <a:spLocks noChangeArrowheads="1"/>
          </p:cNvSpPr>
          <p:nvPr/>
        </p:nvSpPr>
        <p:spPr bwMode="auto">
          <a:xfrm>
            <a:off x="3171370" y="4088284"/>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a:solidFill>
                  <a:srgbClr val="000099"/>
                </a:solidFill>
                <a:latin typeface="+mn-lt"/>
                <a:ea typeface="黑体" panose="02010609060101010101" pitchFamily="2" charset="-122"/>
              </a:rPr>
              <a:t>数据部分</a:t>
            </a:r>
          </a:p>
        </p:txBody>
      </p:sp>
      <p:sp>
        <p:nvSpPr>
          <p:cNvPr id="667713" name="Rectangle 65"/>
          <p:cNvSpPr>
            <a:spLocks noChangeArrowheads="1"/>
          </p:cNvSpPr>
          <p:nvPr/>
        </p:nvSpPr>
        <p:spPr bwMode="auto">
          <a:xfrm>
            <a:off x="5940234" y="2942109"/>
            <a:ext cx="1403350" cy="1741488"/>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7714" name="Rectangle 66"/>
          <p:cNvSpPr>
            <a:spLocks noChangeArrowheads="1"/>
          </p:cNvSpPr>
          <p:nvPr/>
        </p:nvSpPr>
        <p:spPr bwMode="auto">
          <a:xfrm>
            <a:off x="5964311" y="2957985"/>
            <a:ext cx="1367234"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7715" name="Text Box 67"/>
          <p:cNvSpPr txBox="1">
            <a:spLocks noChangeArrowheads="1"/>
          </p:cNvSpPr>
          <p:nvPr/>
        </p:nvSpPr>
        <p:spPr bwMode="auto">
          <a:xfrm>
            <a:off x="5940234" y="2942109"/>
            <a:ext cx="1504817"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p:txBody>
      </p:sp>
      <p:sp>
        <p:nvSpPr>
          <p:cNvPr id="667716" name="Line 68"/>
          <p:cNvSpPr>
            <a:spLocks noChangeShapeType="1"/>
          </p:cNvSpPr>
          <p:nvPr/>
        </p:nvSpPr>
        <p:spPr bwMode="auto">
          <a:xfrm>
            <a:off x="5959152" y="3845397"/>
            <a:ext cx="140335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17" name="Text Box 69"/>
          <p:cNvSpPr txBox="1">
            <a:spLocks noChangeArrowheads="1"/>
          </p:cNvSpPr>
          <p:nvPr/>
        </p:nvSpPr>
        <p:spPr bwMode="auto">
          <a:xfrm>
            <a:off x="6143170" y="4088284"/>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a:solidFill>
                  <a:srgbClr val="000099"/>
                </a:solidFill>
                <a:latin typeface="+mn-lt"/>
                <a:ea typeface="黑体" panose="02010609060101010101" pitchFamily="2" charset="-122"/>
              </a:rPr>
              <a:t>数据部分</a:t>
            </a:r>
          </a:p>
        </p:txBody>
      </p:sp>
      <p:sp>
        <p:nvSpPr>
          <p:cNvPr id="667718" name="Line 70"/>
          <p:cNvSpPr>
            <a:spLocks noChangeShapeType="1"/>
          </p:cNvSpPr>
          <p:nvPr/>
        </p:nvSpPr>
        <p:spPr bwMode="auto">
          <a:xfrm>
            <a:off x="2850480" y="5258455"/>
            <a:ext cx="46228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7719" name="Text Box 71"/>
          <p:cNvSpPr txBox="1">
            <a:spLocks noChangeArrowheads="1"/>
          </p:cNvSpPr>
          <p:nvPr/>
        </p:nvSpPr>
        <p:spPr bwMode="auto">
          <a:xfrm>
            <a:off x="4577150" y="5075892"/>
            <a:ext cx="1298753"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IPv4 </a:t>
            </a:r>
            <a:r>
              <a:rPr kumimoji="1" lang="zh-CN" altLang="en-US" sz="2000" b="1" dirty="0">
                <a:solidFill>
                  <a:srgbClr val="000099"/>
                </a:solidFill>
                <a:latin typeface="+mn-lt"/>
                <a:ea typeface="黑体" panose="02010609060101010101" pitchFamily="2" charset="-122"/>
              </a:rPr>
              <a:t>网络</a:t>
            </a:r>
          </a:p>
        </p:txBody>
      </p:sp>
      <p:sp>
        <p:nvSpPr>
          <p:cNvPr id="2" name="矩形 1"/>
          <p:cNvSpPr/>
          <p:nvPr/>
        </p:nvSpPr>
        <p:spPr>
          <a:xfrm>
            <a:off x="1751859" y="5589240"/>
            <a:ext cx="6801541" cy="461665"/>
          </a:xfrm>
          <a:prstGeom prst="rect">
            <a:avLst/>
          </a:prstGeom>
        </p:spPr>
        <p:txBody>
          <a:bodyPr wrap="square">
            <a:spAutoFit/>
          </a:bodyPr>
          <a:lstStyle/>
          <a:p>
            <a:pPr algn="ctr"/>
            <a:r>
              <a:rPr lang="zh-CN" altLang="zh-CN" sz="2400" b="1" dirty="0">
                <a:latin typeface="+mn-lt"/>
                <a:ea typeface="黑体" panose="02010609060101010101" pitchFamily="2" charset="-122"/>
              </a:rPr>
              <a:t>使用双协议栈进行从</a:t>
            </a:r>
            <a:r>
              <a:rPr lang="en-US" altLang="zh-CN" sz="2400" b="1" dirty="0">
                <a:latin typeface="+mn-lt"/>
                <a:ea typeface="黑体" panose="02010609060101010101" pitchFamily="2" charset="-122"/>
              </a:rPr>
              <a:t> IPv4 </a:t>
            </a:r>
            <a:r>
              <a:rPr lang="zh-CN" altLang="zh-CN" sz="2400" b="1" dirty="0">
                <a:latin typeface="+mn-lt"/>
                <a:ea typeface="黑体" panose="02010609060101010101" pitchFamily="2" charset="-122"/>
              </a:rPr>
              <a:t>到</a:t>
            </a:r>
            <a:r>
              <a:rPr lang="en-US" altLang="zh-CN" sz="2400" b="1" dirty="0">
                <a:latin typeface="+mn-lt"/>
                <a:ea typeface="黑体" panose="02010609060101010101" pitchFamily="2" charset="-122"/>
              </a:rPr>
              <a:t> IPv6 </a:t>
            </a:r>
            <a:r>
              <a:rPr lang="zh-CN" altLang="zh-CN" sz="2400" b="1" dirty="0">
                <a:latin typeface="+mn-lt"/>
                <a:ea typeface="黑体" panose="02010609060101010101" pitchFamily="2" charset="-122"/>
              </a:rPr>
              <a:t>的过渡</a:t>
            </a:r>
            <a:endParaRPr lang="zh-CN" altLang="en-US" sz="2400" b="1" dirty="0">
              <a:latin typeface="+mn-lt"/>
              <a:ea typeface="黑体" panose="02010609060101010101" pitchFamily="2" charset="-122"/>
            </a:endParaRPr>
          </a:p>
        </p:txBody>
      </p:sp>
      <p:sp>
        <p:nvSpPr>
          <p:cNvPr id="75" name="Text Box 64"/>
          <p:cNvSpPr txBox="1">
            <a:spLocks noChangeArrowheads="1"/>
          </p:cNvSpPr>
          <p:nvPr/>
        </p:nvSpPr>
        <p:spPr bwMode="auto">
          <a:xfrm>
            <a:off x="3011449" y="4746630"/>
            <a:ext cx="128432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IPv4 </a:t>
            </a:r>
            <a:r>
              <a:rPr kumimoji="1" lang="zh-CN" altLang="en-US" sz="1600" b="1" dirty="0">
                <a:solidFill>
                  <a:srgbClr val="000099"/>
                </a:solidFill>
                <a:latin typeface="+mn-lt"/>
                <a:ea typeface="黑体" panose="02010609060101010101" pitchFamily="2" charset="-122"/>
              </a:rPr>
              <a:t>数据报</a:t>
            </a:r>
          </a:p>
        </p:txBody>
      </p:sp>
      <p:sp>
        <p:nvSpPr>
          <p:cNvPr id="76" name="Text Box 65"/>
          <p:cNvSpPr txBox="1">
            <a:spLocks noChangeArrowheads="1"/>
          </p:cNvSpPr>
          <p:nvPr/>
        </p:nvSpPr>
        <p:spPr bwMode="auto">
          <a:xfrm>
            <a:off x="5972930" y="4746630"/>
            <a:ext cx="128432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anose="02010609060101010101" pitchFamily="2" charset="-122"/>
              </a:rPr>
              <a:t>IPv4 </a:t>
            </a:r>
            <a:r>
              <a:rPr kumimoji="1" lang="zh-CN" altLang="en-US" sz="1600" b="1">
                <a:solidFill>
                  <a:srgbClr val="000099"/>
                </a:solidFill>
                <a:latin typeface="+mn-lt"/>
                <a:ea typeface="黑体" panose="02010609060101010101" pitchFamily="2" charset="-122"/>
              </a:rPr>
              <a:t>数据报</a:t>
            </a:r>
          </a:p>
        </p:txBody>
      </p:sp>
    </p:spTree>
    <p:extLst>
      <p:ext uri="{BB962C8B-B14F-4D97-AF65-F5344CB8AC3E}">
        <p14:creationId xmlns:p14="http://schemas.microsoft.com/office/powerpoint/2010/main" val="1335074392"/>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隧道技术</a:t>
            </a:r>
            <a:endParaRPr lang="zh-CN" altLang="en-US" dirty="0"/>
          </a:p>
        </p:txBody>
      </p:sp>
      <p:sp>
        <p:nvSpPr>
          <p:cNvPr id="3" name="内容占位符 2"/>
          <p:cNvSpPr>
            <a:spLocks noGrp="1"/>
          </p:cNvSpPr>
          <p:nvPr>
            <p:ph idx="1"/>
          </p:nvPr>
        </p:nvSpPr>
        <p:spPr/>
        <p:txBody>
          <a:bodyPr/>
          <a:lstStyle/>
          <a:p>
            <a:r>
              <a:rPr lang="zh-CN" altLang="zh-CN" dirty="0"/>
              <a:t>在</a:t>
            </a:r>
            <a:r>
              <a:rPr lang="en-US" altLang="zh-CN" dirty="0"/>
              <a:t> IPv6 </a:t>
            </a:r>
            <a:r>
              <a:rPr lang="zh-CN" altLang="zh-CN" dirty="0"/>
              <a:t>数据报要进入</a:t>
            </a:r>
            <a:r>
              <a:rPr lang="en-US" altLang="zh-CN" dirty="0"/>
              <a:t>IPv4</a:t>
            </a:r>
            <a:r>
              <a:rPr lang="zh-CN" altLang="zh-CN" dirty="0"/>
              <a:t>网络时，</a:t>
            </a:r>
            <a:r>
              <a:rPr lang="zh-CN" altLang="zh-CN" dirty="0">
                <a:solidFill>
                  <a:srgbClr val="FF0000"/>
                </a:solidFill>
              </a:rPr>
              <a:t>把</a:t>
            </a:r>
            <a:r>
              <a:rPr lang="en-US" altLang="zh-CN" dirty="0">
                <a:solidFill>
                  <a:srgbClr val="FF0000"/>
                </a:solidFill>
              </a:rPr>
              <a:t> IPv6 </a:t>
            </a:r>
            <a:r>
              <a:rPr lang="zh-CN" altLang="zh-CN" dirty="0">
                <a:solidFill>
                  <a:srgbClr val="FF0000"/>
                </a:solidFill>
              </a:rPr>
              <a:t>数据报封装成为</a:t>
            </a:r>
            <a:r>
              <a:rPr lang="en-US" altLang="zh-CN" dirty="0">
                <a:solidFill>
                  <a:srgbClr val="FF0000"/>
                </a:solidFill>
              </a:rPr>
              <a:t> IPv4 </a:t>
            </a:r>
            <a:r>
              <a:rPr lang="zh-CN" altLang="zh-CN" dirty="0">
                <a:solidFill>
                  <a:srgbClr val="FF0000"/>
                </a:solidFill>
              </a:rPr>
              <a:t>数据报</a:t>
            </a:r>
            <a:r>
              <a:rPr lang="zh-CN" altLang="en-US" dirty="0">
                <a:solidFill>
                  <a:srgbClr val="FF0000"/>
                </a:solidFill>
              </a:rPr>
              <a:t>，</a:t>
            </a:r>
            <a:r>
              <a:rPr lang="zh-CN" altLang="zh-CN" dirty="0"/>
              <a:t>整个的</a:t>
            </a:r>
            <a:r>
              <a:rPr lang="en-US" altLang="zh-CN" dirty="0"/>
              <a:t> IPv6 </a:t>
            </a:r>
            <a:r>
              <a:rPr lang="zh-CN" altLang="zh-CN" dirty="0"/>
              <a:t>数据报变成了</a:t>
            </a:r>
            <a:r>
              <a:rPr lang="en-US" altLang="zh-CN" dirty="0"/>
              <a:t> IPv4 </a:t>
            </a:r>
            <a:r>
              <a:rPr lang="zh-CN" altLang="zh-CN" dirty="0"/>
              <a:t>数据报的数据部分。</a:t>
            </a:r>
            <a:endParaRPr lang="en-US" altLang="zh-CN" dirty="0"/>
          </a:p>
          <a:p>
            <a:r>
              <a:rPr lang="zh-CN" altLang="zh-CN" dirty="0"/>
              <a:t>当</a:t>
            </a:r>
            <a:r>
              <a:rPr lang="en-US" altLang="zh-CN" dirty="0"/>
              <a:t> IPv4 </a:t>
            </a:r>
            <a:r>
              <a:rPr lang="zh-CN" altLang="zh-CN" dirty="0"/>
              <a:t>数据报离开</a:t>
            </a:r>
            <a:r>
              <a:rPr lang="en-US" altLang="zh-CN" dirty="0"/>
              <a:t> IPv4 </a:t>
            </a:r>
            <a:r>
              <a:rPr lang="zh-CN" altLang="zh-CN" dirty="0"/>
              <a:t>网络中的隧道时，再把数据部分（即原来的</a:t>
            </a:r>
            <a:r>
              <a:rPr lang="en-US" altLang="zh-CN" dirty="0"/>
              <a:t> IPv6 </a:t>
            </a:r>
            <a:r>
              <a:rPr lang="zh-CN" altLang="zh-CN" dirty="0"/>
              <a:t>数据报）交给主机的</a:t>
            </a:r>
            <a:r>
              <a:rPr lang="en-US" altLang="zh-CN" dirty="0"/>
              <a:t> IPv6 </a:t>
            </a:r>
            <a:r>
              <a:rPr lang="zh-CN" altLang="zh-CN" dirty="0"/>
              <a:t>协议栈。</a:t>
            </a:r>
            <a:endParaRPr lang="zh-CN" altLang="en-US" dirty="0"/>
          </a:p>
        </p:txBody>
      </p:sp>
    </p:spTree>
    <p:extLst>
      <p:ext uri="{BB962C8B-B14F-4D97-AF65-F5344CB8AC3E}">
        <p14:creationId xmlns:p14="http://schemas.microsoft.com/office/powerpoint/2010/main" val="2129595119"/>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8695" name="Group 23"/>
          <p:cNvGrpSpPr/>
          <p:nvPr/>
        </p:nvGrpSpPr>
        <p:grpSpPr bwMode="auto">
          <a:xfrm>
            <a:off x="2621911" y="1484064"/>
            <a:ext cx="4995811" cy="1152848"/>
            <a:chOff x="912" y="768"/>
            <a:chExt cx="2505" cy="1584"/>
          </a:xfrm>
          <a:solidFill>
            <a:schemeClr val="bg1">
              <a:lumMod val="85000"/>
            </a:schemeClr>
          </a:solidFill>
          <a:effectLst>
            <a:outerShdw dist="38100" dir="2700000" algn="tl" rotWithShape="0">
              <a:schemeClr val="tx1"/>
            </a:outerShdw>
          </a:effectLst>
        </p:grpSpPr>
        <p:sp>
          <p:nvSpPr>
            <p:cNvPr id="668696" name="Oval 24"/>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697" name="Oval 25"/>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698" name="Oval 26"/>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699" name="Oval 27"/>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0" name="Oval 28"/>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1" name="Oval 29"/>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2" name="Oval 30"/>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3" name="Oval 31"/>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4" name="Oval 32"/>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grpSp>
          <p:nvGrpSpPr>
            <p:cNvPr id="668705" name="Group 33"/>
            <p:cNvGrpSpPr/>
            <p:nvPr/>
          </p:nvGrpSpPr>
          <p:grpSpPr bwMode="auto">
            <a:xfrm>
              <a:off x="912" y="768"/>
              <a:ext cx="2505" cy="1553"/>
              <a:chOff x="912" y="768"/>
              <a:chExt cx="2505" cy="1553"/>
            </a:xfrm>
            <a:grpFill/>
          </p:grpSpPr>
          <p:sp>
            <p:nvSpPr>
              <p:cNvPr id="668706" name="Oval 34"/>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7" name="Oval 35"/>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8" name="Oval 36"/>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10" name="Oval 38"/>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11" name="Oval 39"/>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12" name="Oval 40"/>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13" name="Oval 41"/>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14" name="Oval 42"/>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b="1">
                  <a:solidFill>
                    <a:srgbClr val="000099"/>
                  </a:solidFill>
                  <a:latin typeface="+mn-lt"/>
                  <a:ea typeface="黑体" panose="02010609060101010101" pitchFamily="2" charset="-122"/>
                </a:endParaRPr>
              </a:p>
            </p:txBody>
          </p:sp>
          <p:sp>
            <p:nvSpPr>
              <p:cNvPr id="668709" name="Oval 37"/>
              <p:cNvSpPr>
                <a:spLocks noChangeArrowheads="1"/>
              </p:cNvSpPr>
              <p:nvPr/>
            </p:nvSpPr>
            <p:spPr bwMode="auto">
              <a:xfrm>
                <a:off x="995" y="1209"/>
                <a:ext cx="761"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r>
                  <a:rPr lang="en-US" altLang="zh-CN" sz="1600" b="1" dirty="0">
                    <a:solidFill>
                      <a:srgbClr val="C00000"/>
                    </a:solidFill>
                    <a:latin typeface="+mn-lt"/>
                    <a:ea typeface="黑体" panose="02010609060101010101" pitchFamily="2" charset="-122"/>
                  </a:rPr>
                  <a:t>IPv6</a:t>
                </a:r>
                <a:r>
                  <a:rPr lang="zh-CN" altLang="en-US" sz="1600" b="1" dirty="0">
                    <a:solidFill>
                      <a:srgbClr val="C00000"/>
                    </a:solidFill>
                    <a:latin typeface="+mn-lt"/>
                    <a:ea typeface="黑体" panose="02010609060101010101" pitchFamily="2" charset="-122"/>
                  </a:rPr>
                  <a:t>隧道</a:t>
                </a:r>
              </a:p>
            </p:txBody>
          </p:sp>
          <p:sp>
            <p:nvSpPr>
              <p:cNvPr id="109" name="Oval 37"/>
              <p:cNvSpPr>
                <a:spLocks noChangeArrowheads="1"/>
              </p:cNvSpPr>
              <p:nvPr/>
            </p:nvSpPr>
            <p:spPr bwMode="auto">
              <a:xfrm>
                <a:off x="1853" y="1209"/>
                <a:ext cx="769"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r>
                  <a:rPr lang="en-US" altLang="zh-CN" sz="1600" b="1" dirty="0">
                    <a:solidFill>
                      <a:srgbClr val="C00000"/>
                    </a:solidFill>
                    <a:latin typeface="+mn-lt"/>
                    <a:ea typeface="黑体" panose="02010609060101010101" pitchFamily="2" charset="-122"/>
                  </a:rPr>
                  <a:t>IPv6</a:t>
                </a:r>
                <a:r>
                  <a:rPr lang="zh-CN" altLang="en-US" sz="1600" b="1" dirty="0">
                    <a:solidFill>
                      <a:srgbClr val="C00000"/>
                    </a:solidFill>
                    <a:latin typeface="+mn-lt"/>
                    <a:ea typeface="黑体" panose="02010609060101010101" pitchFamily="2" charset="-122"/>
                  </a:rPr>
                  <a:t>隧道</a:t>
                </a:r>
              </a:p>
            </p:txBody>
          </p:sp>
          <p:sp>
            <p:nvSpPr>
              <p:cNvPr id="110" name="Oval 37"/>
              <p:cNvSpPr>
                <a:spLocks noChangeArrowheads="1"/>
              </p:cNvSpPr>
              <p:nvPr/>
            </p:nvSpPr>
            <p:spPr bwMode="auto">
              <a:xfrm>
                <a:off x="2673" y="1209"/>
                <a:ext cx="744" cy="549"/>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a:lstStyle/>
              <a:p>
                <a:r>
                  <a:rPr lang="en-US" altLang="zh-CN" sz="1600" b="1" dirty="0">
                    <a:solidFill>
                      <a:srgbClr val="C00000"/>
                    </a:solidFill>
                    <a:latin typeface="+mn-lt"/>
                    <a:ea typeface="黑体" panose="02010609060101010101" pitchFamily="2" charset="-122"/>
                  </a:rPr>
                  <a:t>IPv6</a:t>
                </a:r>
                <a:r>
                  <a:rPr lang="zh-CN" altLang="en-US" sz="1600" b="1" dirty="0">
                    <a:solidFill>
                      <a:srgbClr val="C00000"/>
                    </a:solidFill>
                    <a:latin typeface="+mn-lt"/>
                    <a:ea typeface="黑体" panose="02010609060101010101" pitchFamily="2" charset="-122"/>
                  </a:rPr>
                  <a:t>隧道</a:t>
                </a:r>
              </a:p>
            </p:txBody>
          </p:sp>
        </p:grpSp>
      </p:grpSp>
      <p:sp>
        <p:nvSpPr>
          <p:cNvPr id="668716" name="Line 44"/>
          <p:cNvSpPr>
            <a:spLocks noChangeShapeType="1"/>
          </p:cNvSpPr>
          <p:nvPr/>
        </p:nvSpPr>
        <p:spPr bwMode="auto">
          <a:xfrm>
            <a:off x="913059" y="2214786"/>
            <a:ext cx="8750300"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pic>
        <p:nvPicPr>
          <p:cNvPr id="668717"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859" y="1911574"/>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8722"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167969" y="1911574"/>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8723" name="Text Box 51"/>
          <p:cNvSpPr txBox="1">
            <a:spLocks noChangeArrowheads="1"/>
          </p:cNvSpPr>
          <p:nvPr/>
        </p:nvSpPr>
        <p:spPr bwMode="auto">
          <a:xfrm>
            <a:off x="582859" y="1536924"/>
            <a:ext cx="6591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anose="02010609060101010101" pitchFamily="2" charset="-122"/>
              </a:rPr>
              <a:t>IPv6</a:t>
            </a:r>
          </a:p>
        </p:txBody>
      </p:sp>
      <p:sp>
        <p:nvSpPr>
          <p:cNvPr id="668724" name="Text Box 52"/>
          <p:cNvSpPr txBox="1">
            <a:spLocks noChangeArrowheads="1"/>
          </p:cNvSpPr>
          <p:nvPr/>
        </p:nvSpPr>
        <p:spPr bwMode="auto">
          <a:xfrm>
            <a:off x="9078539" y="1536924"/>
            <a:ext cx="6591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anose="02010609060101010101" pitchFamily="2" charset="-122"/>
              </a:rPr>
              <a:t>IPv6</a:t>
            </a:r>
          </a:p>
        </p:txBody>
      </p:sp>
      <p:sp>
        <p:nvSpPr>
          <p:cNvPr id="668725" name="Text Box 53"/>
          <p:cNvSpPr txBox="1">
            <a:spLocks noChangeArrowheads="1"/>
          </p:cNvSpPr>
          <p:nvPr/>
        </p:nvSpPr>
        <p:spPr bwMode="auto">
          <a:xfrm>
            <a:off x="307693" y="1900387"/>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A</a:t>
            </a:r>
          </a:p>
        </p:txBody>
      </p:sp>
      <p:sp>
        <p:nvSpPr>
          <p:cNvPr id="668730" name="Text Box 58"/>
          <p:cNvSpPr txBox="1">
            <a:spLocks noChangeArrowheads="1"/>
          </p:cNvSpPr>
          <p:nvPr/>
        </p:nvSpPr>
        <p:spPr bwMode="auto">
          <a:xfrm>
            <a:off x="8913440" y="1844824"/>
            <a:ext cx="309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anose="02010609060101010101" pitchFamily="2" charset="-122"/>
              </a:rPr>
              <a:t>F</a:t>
            </a:r>
          </a:p>
        </p:txBody>
      </p:sp>
      <p:sp>
        <p:nvSpPr>
          <p:cNvPr id="668731" name="Line 59"/>
          <p:cNvSpPr>
            <a:spLocks noChangeShapeType="1"/>
          </p:cNvSpPr>
          <p:nvPr/>
        </p:nvSpPr>
        <p:spPr bwMode="auto">
          <a:xfrm>
            <a:off x="830510" y="2735425"/>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32" name="Line 60"/>
          <p:cNvSpPr>
            <a:spLocks noChangeShapeType="1"/>
          </p:cNvSpPr>
          <p:nvPr/>
        </p:nvSpPr>
        <p:spPr bwMode="auto">
          <a:xfrm>
            <a:off x="3141910" y="2735425"/>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33" name="Line 61"/>
          <p:cNvSpPr>
            <a:spLocks noChangeShapeType="1"/>
          </p:cNvSpPr>
          <p:nvPr/>
        </p:nvSpPr>
        <p:spPr bwMode="auto">
          <a:xfrm>
            <a:off x="6196260" y="2735425"/>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34" name="Line 62"/>
          <p:cNvSpPr>
            <a:spLocks noChangeShapeType="1"/>
          </p:cNvSpPr>
          <p:nvPr/>
        </p:nvSpPr>
        <p:spPr bwMode="auto">
          <a:xfrm>
            <a:off x="8425110" y="2735425"/>
            <a:ext cx="990600" cy="0"/>
          </a:xfrm>
          <a:prstGeom prst="line">
            <a:avLst/>
          </a:prstGeom>
          <a:noFill/>
          <a:ln w="57150">
            <a:solidFill>
              <a:srgbClr val="FF00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35" name="Text Box 63"/>
          <p:cNvSpPr txBox="1">
            <a:spLocks noChangeArrowheads="1"/>
          </p:cNvSpPr>
          <p:nvPr/>
        </p:nvSpPr>
        <p:spPr bwMode="auto">
          <a:xfrm>
            <a:off x="5033680" y="334502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99"/>
                </a:solidFill>
                <a:latin typeface="+mn-lt"/>
                <a:ea typeface="黑体" panose="02010609060101010101" pitchFamily="2" charset="-122"/>
              </a:rPr>
              <a:t>…</a:t>
            </a:r>
          </a:p>
        </p:txBody>
      </p:sp>
      <p:sp>
        <p:nvSpPr>
          <p:cNvPr id="668736" name="Text Box 64"/>
          <p:cNvSpPr txBox="1">
            <a:spLocks noChangeArrowheads="1"/>
          </p:cNvSpPr>
          <p:nvPr/>
        </p:nvSpPr>
        <p:spPr bwMode="auto">
          <a:xfrm>
            <a:off x="2897699" y="4653136"/>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IPv4 </a:t>
            </a:r>
            <a:r>
              <a:rPr kumimoji="1" lang="zh-CN" altLang="en-US" sz="2000" b="1" dirty="0">
                <a:solidFill>
                  <a:srgbClr val="000099"/>
                </a:solidFill>
                <a:latin typeface="+mn-lt"/>
                <a:ea typeface="黑体" panose="02010609060101010101" pitchFamily="2" charset="-122"/>
              </a:rPr>
              <a:t>数据报</a:t>
            </a:r>
          </a:p>
        </p:txBody>
      </p:sp>
      <p:sp>
        <p:nvSpPr>
          <p:cNvPr id="668737" name="Text Box 65"/>
          <p:cNvSpPr txBox="1">
            <a:spLocks noChangeArrowheads="1"/>
          </p:cNvSpPr>
          <p:nvPr/>
        </p:nvSpPr>
        <p:spPr bwMode="auto">
          <a:xfrm>
            <a:off x="5859180" y="4653136"/>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IPv4 </a:t>
            </a:r>
            <a:r>
              <a:rPr kumimoji="1" lang="zh-CN" altLang="en-US" sz="2000" b="1">
                <a:solidFill>
                  <a:srgbClr val="000099"/>
                </a:solidFill>
                <a:latin typeface="+mn-lt"/>
                <a:ea typeface="黑体" panose="02010609060101010101" pitchFamily="2" charset="-122"/>
              </a:rPr>
              <a:t>数据报</a:t>
            </a:r>
          </a:p>
        </p:txBody>
      </p:sp>
      <p:sp>
        <p:nvSpPr>
          <p:cNvPr id="668752" name="Rectangle 80"/>
          <p:cNvSpPr>
            <a:spLocks noChangeArrowheads="1"/>
          </p:cNvSpPr>
          <p:nvPr/>
        </p:nvSpPr>
        <p:spPr bwMode="auto">
          <a:xfrm>
            <a:off x="3040442" y="2887825"/>
            <a:ext cx="1403350" cy="1617662"/>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8753" name="Text Box 81"/>
          <p:cNvSpPr txBox="1">
            <a:spLocks noChangeArrowheads="1"/>
          </p:cNvSpPr>
          <p:nvPr/>
        </p:nvSpPr>
        <p:spPr bwMode="auto">
          <a:xfrm>
            <a:off x="3040442" y="2887826"/>
            <a:ext cx="1504817"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B</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E</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p:txBody>
      </p:sp>
      <p:sp>
        <p:nvSpPr>
          <p:cNvPr id="668754" name="Rectangle 82"/>
          <p:cNvSpPr>
            <a:spLocks noChangeArrowheads="1"/>
          </p:cNvSpPr>
          <p:nvPr/>
        </p:nvSpPr>
        <p:spPr bwMode="auto">
          <a:xfrm>
            <a:off x="3159107" y="3486314"/>
            <a:ext cx="1155700" cy="814387"/>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8755" name="Text Box 83"/>
          <p:cNvSpPr txBox="1">
            <a:spLocks noChangeArrowheads="1"/>
          </p:cNvSpPr>
          <p:nvPr/>
        </p:nvSpPr>
        <p:spPr bwMode="auto">
          <a:xfrm>
            <a:off x="3321370" y="3573016"/>
            <a:ext cx="80021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rgbClr val="000099"/>
                </a:solidFill>
                <a:latin typeface="+mn-lt"/>
                <a:ea typeface="黑体" panose="02010609060101010101" pitchFamily="2" charset="-122"/>
              </a:rPr>
              <a:t>IPv6</a:t>
            </a:r>
          </a:p>
          <a:p>
            <a:pPr algn="ctr"/>
            <a:r>
              <a:rPr kumimoji="1" lang="zh-CN" altLang="en-US" sz="1600" b="1" dirty="0">
                <a:solidFill>
                  <a:srgbClr val="000099"/>
                </a:solidFill>
                <a:latin typeface="+mn-lt"/>
                <a:ea typeface="黑体" panose="02010609060101010101" pitchFamily="2" charset="-122"/>
              </a:rPr>
              <a:t>数据报</a:t>
            </a:r>
          </a:p>
        </p:txBody>
      </p:sp>
      <p:sp>
        <p:nvSpPr>
          <p:cNvPr id="668756" name="AutoShape 84"/>
          <p:cNvSpPr>
            <a:spLocks noChangeArrowheads="1"/>
          </p:cNvSpPr>
          <p:nvPr/>
        </p:nvSpPr>
        <p:spPr bwMode="auto">
          <a:xfrm>
            <a:off x="2151310" y="3717032"/>
            <a:ext cx="1238250" cy="228600"/>
          </a:xfrm>
          <a:prstGeom prst="rightArrow">
            <a:avLst>
              <a:gd name="adj1" fmla="val 50000"/>
              <a:gd name="adj2" fmla="val 125000"/>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8760" name="Text Box 88"/>
          <p:cNvSpPr txBox="1">
            <a:spLocks noChangeArrowheads="1"/>
          </p:cNvSpPr>
          <p:nvPr/>
        </p:nvSpPr>
        <p:spPr bwMode="auto">
          <a:xfrm>
            <a:off x="7171417" y="1126485"/>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anose="02010609060101010101" pitchFamily="2" charset="-122"/>
              </a:rPr>
              <a:t>双协议栈</a:t>
            </a:r>
          </a:p>
          <a:p>
            <a:pPr algn="ctr"/>
            <a:r>
              <a:rPr kumimoji="1" lang="en-US" altLang="zh-CN" sz="2000" b="1" dirty="0">
                <a:solidFill>
                  <a:srgbClr val="C00000"/>
                </a:solidFill>
                <a:latin typeface="+mn-lt"/>
                <a:ea typeface="黑体" panose="02010609060101010101" pitchFamily="2" charset="-122"/>
              </a:rPr>
              <a:t>IPv6/IPv4</a:t>
            </a:r>
          </a:p>
        </p:txBody>
      </p:sp>
      <p:sp>
        <p:nvSpPr>
          <p:cNvPr id="668762" name="Rectangle 90"/>
          <p:cNvSpPr>
            <a:spLocks noChangeArrowheads="1"/>
          </p:cNvSpPr>
          <p:nvPr/>
        </p:nvSpPr>
        <p:spPr bwMode="auto">
          <a:xfrm>
            <a:off x="646492" y="2887825"/>
            <a:ext cx="1403350" cy="1617662"/>
          </a:xfrm>
          <a:prstGeom prst="rect">
            <a:avLst/>
          </a:prstGeom>
          <a:solidFill>
            <a:srgbClr val="DDDDDD"/>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8763" name="Text Box 91"/>
          <p:cNvSpPr txBox="1">
            <a:spLocks noChangeArrowheads="1"/>
          </p:cNvSpPr>
          <p:nvPr/>
        </p:nvSpPr>
        <p:spPr bwMode="auto">
          <a:xfrm>
            <a:off x="646492" y="2887826"/>
            <a:ext cx="1518576"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流标号：</a:t>
            </a:r>
            <a:r>
              <a:rPr kumimoji="1" lang="en-US" altLang="zh-CN" sz="1600" b="1">
                <a:solidFill>
                  <a:srgbClr val="000099"/>
                </a:solidFill>
                <a:latin typeface="+mn-lt"/>
                <a:ea typeface="黑体" panose="02010609060101010101" pitchFamily="2" charset="-122"/>
              </a:rPr>
              <a:t>X</a:t>
            </a:r>
          </a:p>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r>
              <a:rPr kumimoji="1" lang="en-US" altLang="zh-CN" sz="1600" b="1">
                <a:solidFill>
                  <a:srgbClr val="000099"/>
                </a:solidFill>
                <a:latin typeface="+mn-lt"/>
                <a:ea typeface="黑体" panose="02010609060101010101" pitchFamily="2" charset="-122"/>
              </a:rPr>
              <a:t>   </a:t>
            </a:r>
            <a:r>
              <a:rPr kumimoji="1" lang="zh-CN" altLang="en-US" sz="1600" b="1">
                <a:solidFill>
                  <a:srgbClr val="000099"/>
                </a:solidFill>
                <a:latin typeface="+mn-lt"/>
                <a:ea typeface="黑体" panose="02010609060101010101" pitchFamily="2" charset="-122"/>
              </a:rPr>
              <a:t>数据部分</a:t>
            </a:r>
          </a:p>
        </p:txBody>
      </p:sp>
      <p:sp>
        <p:nvSpPr>
          <p:cNvPr id="668764" name="Text Box 92"/>
          <p:cNvSpPr txBox="1">
            <a:spLocks noChangeArrowheads="1"/>
          </p:cNvSpPr>
          <p:nvPr/>
        </p:nvSpPr>
        <p:spPr bwMode="auto">
          <a:xfrm>
            <a:off x="541585" y="4524538"/>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IPv6 </a:t>
            </a:r>
            <a:r>
              <a:rPr kumimoji="1" lang="zh-CN" altLang="en-US" sz="2000" b="1">
                <a:solidFill>
                  <a:srgbClr val="000099"/>
                </a:solidFill>
                <a:latin typeface="+mn-lt"/>
                <a:ea typeface="黑体" panose="02010609060101010101" pitchFamily="2" charset="-122"/>
              </a:rPr>
              <a:t>数据报</a:t>
            </a:r>
          </a:p>
        </p:txBody>
      </p:sp>
      <p:sp>
        <p:nvSpPr>
          <p:cNvPr id="668765" name="Line 93"/>
          <p:cNvSpPr>
            <a:spLocks noChangeShapeType="1"/>
          </p:cNvSpPr>
          <p:nvPr/>
        </p:nvSpPr>
        <p:spPr bwMode="auto">
          <a:xfrm>
            <a:off x="665410" y="3972087"/>
            <a:ext cx="1356916"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66" name="Line 94"/>
          <p:cNvSpPr>
            <a:spLocks noChangeShapeType="1"/>
          </p:cNvSpPr>
          <p:nvPr/>
        </p:nvSpPr>
        <p:spPr bwMode="auto">
          <a:xfrm>
            <a:off x="2068760" y="2927513"/>
            <a:ext cx="1090348" cy="574675"/>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67" name="Line 95"/>
          <p:cNvSpPr>
            <a:spLocks noChangeShapeType="1"/>
          </p:cNvSpPr>
          <p:nvPr/>
        </p:nvSpPr>
        <p:spPr bwMode="auto">
          <a:xfrm flipV="1">
            <a:off x="2068760" y="4300702"/>
            <a:ext cx="1100596" cy="239711"/>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68" name="Rectangle 96"/>
          <p:cNvSpPr>
            <a:spLocks noChangeArrowheads="1"/>
          </p:cNvSpPr>
          <p:nvPr/>
        </p:nvSpPr>
        <p:spPr bwMode="auto">
          <a:xfrm>
            <a:off x="8177460" y="2887825"/>
            <a:ext cx="1403350" cy="1617662"/>
          </a:xfrm>
          <a:prstGeom prst="rect">
            <a:avLst/>
          </a:prstGeom>
          <a:solidFill>
            <a:srgbClr val="DDDDDD"/>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8769" name="Text Box 97"/>
          <p:cNvSpPr txBox="1">
            <a:spLocks noChangeArrowheads="1"/>
          </p:cNvSpPr>
          <p:nvPr/>
        </p:nvSpPr>
        <p:spPr bwMode="auto">
          <a:xfrm>
            <a:off x="8177460" y="2887826"/>
            <a:ext cx="1540933"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流标号：</a:t>
            </a:r>
            <a:r>
              <a:rPr kumimoji="1" lang="en-US" altLang="zh-CN" sz="1600" b="1">
                <a:solidFill>
                  <a:srgbClr val="000099"/>
                </a:solidFill>
                <a:latin typeface="+mn-lt"/>
                <a:ea typeface="黑体" panose="02010609060101010101" pitchFamily="2" charset="-122"/>
              </a:rPr>
              <a:t>X</a:t>
            </a:r>
          </a:p>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A</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F</a:t>
            </a:r>
          </a:p>
          <a:p>
            <a:r>
              <a:rPr kumimoji="1" lang="en-US" altLang="zh-CN" sz="1600" b="1">
                <a:solidFill>
                  <a:srgbClr val="000099"/>
                </a:solidFill>
                <a:latin typeface="+mn-lt"/>
                <a:ea typeface="黑体" panose="02010609060101010101" pitchFamily="2" charset="-122"/>
              </a:rPr>
              <a:t>……</a:t>
            </a:r>
          </a:p>
          <a:p>
            <a:endParaRPr kumimoji="1" lang="en-US" altLang="zh-CN" sz="1600" b="1">
              <a:solidFill>
                <a:srgbClr val="000099"/>
              </a:solidFill>
              <a:latin typeface="+mn-lt"/>
              <a:ea typeface="黑体" panose="02010609060101010101" pitchFamily="2" charset="-122"/>
            </a:endParaRPr>
          </a:p>
          <a:p>
            <a:r>
              <a:rPr kumimoji="1" lang="en-US" altLang="zh-CN" sz="1600" b="1">
                <a:solidFill>
                  <a:srgbClr val="000099"/>
                </a:solidFill>
                <a:latin typeface="+mn-lt"/>
                <a:ea typeface="黑体" panose="02010609060101010101" pitchFamily="2" charset="-122"/>
              </a:rPr>
              <a:t>   </a:t>
            </a:r>
            <a:r>
              <a:rPr kumimoji="1" lang="zh-CN" altLang="en-US" sz="1600" b="1">
                <a:solidFill>
                  <a:srgbClr val="000099"/>
                </a:solidFill>
                <a:latin typeface="+mn-lt"/>
                <a:ea typeface="黑体" panose="02010609060101010101" pitchFamily="2" charset="-122"/>
              </a:rPr>
              <a:t>数据部分</a:t>
            </a:r>
          </a:p>
        </p:txBody>
      </p:sp>
      <p:sp>
        <p:nvSpPr>
          <p:cNvPr id="668770" name="Text Box 98"/>
          <p:cNvSpPr txBox="1">
            <a:spLocks noChangeArrowheads="1"/>
          </p:cNvSpPr>
          <p:nvPr/>
        </p:nvSpPr>
        <p:spPr bwMode="auto">
          <a:xfrm>
            <a:off x="8072553" y="4524538"/>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anose="02010609060101010101" pitchFamily="2" charset="-122"/>
              </a:rPr>
              <a:t>IPv6 </a:t>
            </a:r>
            <a:r>
              <a:rPr kumimoji="1" lang="zh-CN" altLang="en-US" sz="2000" b="1">
                <a:solidFill>
                  <a:srgbClr val="000099"/>
                </a:solidFill>
                <a:latin typeface="+mn-lt"/>
                <a:ea typeface="黑体" panose="02010609060101010101" pitchFamily="2" charset="-122"/>
              </a:rPr>
              <a:t>数据报</a:t>
            </a:r>
          </a:p>
        </p:txBody>
      </p:sp>
      <p:sp>
        <p:nvSpPr>
          <p:cNvPr id="668771" name="Line 99"/>
          <p:cNvSpPr>
            <a:spLocks noChangeShapeType="1"/>
          </p:cNvSpPr>
          <p:nvPr/>
        </p:nvSpPr>
        <p:spPr bwMode="auto">
          <a:xfrm>
            <a:off x="8196378" y="3972087"/>
            <a:ext cx="1356915"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72" name="Rectangle 100"/>
          <p:cNvSpPr>
            <a:spLocks noChangeArrowheads="1"/>
          </p:cNvSpPr>
          <p:nvPr/>
        </p:nvSpPr>
        <p:spPr bwMode="auto">
          <a:xfrm>
            <a:off x="5929692" y="2887825"/>
            <a:ext cx="1403350" cy="1617662"/>
          </a:xfrm>
          <a:prstGeom prst="rect">
            <a:avLst/>
          </a:prstGeom>
          <a:solidFill>
            <a:srgbClr val="FFFF99"/>
          </a:solidFill>
          <a:ln w="9525">
            <a:solidFill>
              <a:schemeClr val="tx1"/>
            </a:solidFill>
            <a:miter lim="800000"/>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anose="02010609060101010101" pitchFamily="2" charset="-122"/>
            </a:endParaRPr>
          </a:p>
        </p:txBody>
      </p:sp>
      <p:sp>
        <p:nvSpPr>
          <p:cNvPr id="668773" name="Text Box 101"/>
          <p:cNvSpPr txBox="1">
            <a:spLocks noChangeArrowheads="1"/>
          </p:cNvSpPr>
          <p:nvPr/>
        </p:nvSpPr>
        <p:spPr bwMode="auto">
          <a:xfrm>
            <a:off x="5929692" y="2887826"/>
            <a:ext cx="1504817"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anose="02010609060101010101" pitchFamily="2" charset="-122"/>
              </a:rPr>
              <a:t>源地址：</a:t>
            </a:r>
            <a:r>
              <a:rPr kumimoji="1" lang="en-US" altLang="zh-CN" sz="1600" b="1">
                <a:solidFill>
                  <a:srgbClr val="000099"/>
                </a:solidFill>
                <a:latin typeface="+mn-lt"/>
                <a:ea typeface="黑体" panose="02010609060101010101" pitchFamily="2" charset="-122"/>
              </a:rPr>
              <a:t>B</a:t>
            </a:r>
          </a:p>
          <a:p>
            <a:r>
              <a:rPr kumimoji="1" lang="zh-CN" altLang="en-US" sz="1600" b="1">
                <a:solidFill>
                  <a:srgbClr val="000099"/>
                </a:solidFill>
                <a:latin typeface="+mn-lt"/>
                <a:ea typeface="黑体" panose="02010609060101010101" pitchFamily="2" charset="-122"/>
              </a:rPr>
              <a:t>目的地址：</a:t>
            </a:r>
            <a:r>
              <a:rPr kumimoji="1" lang="en-US" altLang="zh-CN" sz="1600" b="1">
                <a:solidFill>
                  <a:srgbClr val="000099"/>
                </a:solidFill>
                <a:latin typeface="+mn-lt"/>
                <a:ea typeface="黑体" panose="02010609060101010101" pitchFamily="2" charset="-122"/>
              </a:rPr>
              <a:t>E</a:t>
            </a:r>
          </a:p>
          <a:p>
            <a:endParaRPr kumimoji="1" lang="en-US" altLang="zh-CN" sz="1600" b="1">
              <a:solidFill>
                <a:srgbClr val="000099"/>
              </a:solidFill>
              <a:latin typeface="+mn-lt"/>
              <a:ea typeface="黑体" panose="02010609060101010101" pitchFamily="2" charset="-122"/>
            </a:endParaRPr>
          </a:p>
          <a:p>
            <a:endParaRPr kumimoji="1" lang="en-US" altLang="zh-CN" sz="1600" b="1">
              <a:solidFill>
                <a:srgbClr val="000099"/>
              </a:solidFill>
              <a:latin typeface="+mn-lt"/>
              <a:ea typeface="黑体" panose="02010609060101010101" pitchFamily="2" charset="-122"/>
            </a:endParaRPr>
          </a:p>
        </p:txBody>
      </p:sp>
      <p:sp>
        <p:nvSpPr>
          <p:cNvPr id="668774" name="Rectangle 102"/>
          <p:cNvSpPr>
            <a:spLocks noChangeArrowheads="1"/>
          </p:cNvSpPr>
          <p:nvPr/>
        </p:nvSpPr>
        <p:spPr bwMode="auto">
          <a:xfrm>
            <a:off x="6048357" y="3486314"/>
            <a:ext cx="1155700" cy="814388"/>
          </a:xfrm>
          <a:prstGeom prst="rect">
            <a:avLst/>
          </a:prstGeom>
          <a:solidFill>
            <a:srgbClr val="DDDDDD"/>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668775" name="Text Box 103"/>
          <p:cNvSpPr txBox="1">
            <a:spLocks noChangeArrowheads="1"/>
          </p:cNvSpPr>
          <p:nvPr/>
        </p:nvSpPr>
        <p:spPr bwMode="auto">
          <a:xfrm>
            <a:off x="6210620" y="3573016"/>
            <a:ext cx="80021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a:solidFill>
                  <a:srgbClr val="000099"/>
                </a:solidFill>
                <a:latin typeface="+mn-lt"/>
                <a:ea typeface="黑体" panose="02010609060101010101" pitchFamily="2" charset="-122"/>
              </a:rPr>
              <a:t>IPv6</a:t>
            </a:r>
          </a:p>
          <a:p>
            <a:pPr algn="ctr"/>
            <a:r>
              <a:rPr kumimoji="1" lang="zh-CN" altLang="en-US" sz="1600" b="1">
                <a:solidFill>
                  <a:srgbClr val="000099"/>
                </a:solidFill>
                <a:latin typeface="+mn-lt"/>
                <a:ea typeface="黑体" panose="02010609060101010101" pitchFamily="2" charset="-122"/>
              </a:rPr>
              <a:t>数据报</a:t>
            </a:r>
          </a:p>
        </p:txBody>
      </p:sp>
      <p:sp>
        <p:nvSpPr>
          <p:cNvPr id="668776" name="Line 104"/>
          <p:cNvSpPr>
            <a:spLocks noChangeShapeType="1"/>
          </p:cNvSpPr>
          <p:nvPr/>
        </p:nvSpPr>
        <p:spPr bwMode="auto">
          <a:xfrm flipV="1">
            <a:off x="7229855" y="2902113"/>
            <a:ext cx="971682" cy="582613"/>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77" name="Line 105"/>
          <p:cNvSpPr>
            <a:spLocks noChangeShapeType="1"/>
          </p:cNvSpPr>
          <p:nvPr/>
        </p:nvSpPr>
        <p:spPr bwMode="auto">
          <a:xfrm>
            <a:off x="7186859" y="4300702"/>
            <a:ext cx="971683" cy="231773"/>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78" name="AutoShape 106"/>
          <p:cNvSpPr>
            <a:spLocks noChangeArrowheads="1"/>
          </p:cNvSpPr>
          <p:nvPr/>
        </p:nvSpPr>
        <p:spPr bwMode="auto">
          <a:xfrm>
            <a:off x="7113240" y="3803812"/>
            <a:ext cx="1088297" cy="228600"/>
          </a:xfrm>
          <a:prstGeom prst="rightArrow">
            <a:avLst>
              <a:gd name="adj1" fmla="val 50000"/>
              <a:gd name="adj2" fmla="val 99132"/>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anose="02010609060101010101" pitchFamily="2" charset="-122"/>
            </a:endParaRPr>
          </a:p>
        </p:txBody>
      </p:sp>
      <p:sp>
        <p:nvSpPr>
          <p:cNvPr id="2" name="标题 1"/>
          <p:cNvSpPr>
            <a:spLocks noGrp="1"/>
          </p:cNvSpPr>
          <p:nvPr>
            <p:ph type="title"/>
          </p:nvPr>
        </p:nvSpPr>
        <p:spPr/>
        <p:txBody>
          <a:bodyPr/>
          <a:lstStyle/>
          <a:p>
            <a:pPr algn="ctr"/>
            <a:r>
              <a:rPr lang="zh-CN" altLang="zh-CN" dirty="0"/>
              <a:t>隧道技术</a:t>
            </a:r>
            <a:endParaRPr lang="zh-CN" altLang="en-US" dirty="0"/>
          </a:p>
        </p:txBody>
      </p:sp>
      <p:cxnSp>
        <p:nvCxnSpPr>
          <p:cNvPr id="4" name="直接连接符 3"/>
          <p:cNvCxnSpPr/>
          <p:nvPr/>
        </p:nvCxnSpPr>
        <p:spPr bwMode="auto">
          <a:xfrm>
            <a:off x="2649832" y="2204864"/>
            <a:ext cx="5022868" cy="0"/>
          </a:xfrm>
          <a:prstGeom prst="line">
            <a:avLst/>
          </a:prstGeom>
          <a:solidFill>
            <a:schemeClr val="accent1"/>
          </a:solidFill>
          <a:ln w="762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8715" name="Text Box 43"/>
          <p:cNvSpPr txBox="1">
            <a:spLocks noChangeArrowheads="1"/>
          </p:cNvSpPr>
          <p:nvPr/>
        </p:nvSpPr>
        <p:spPr bwMode="auto">
          <a:xfrm>
            <a:off x="4664968" y="1413497"/>
            <a:ext cx="12987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anose="02010609060101010101" pitchFamily="2" charset="-122"/>
              </a:rPr>
              <a:t>IPv4 </a:t>
            </a:r>
            <a:r>
              <a:rPr kumimoji="1" lang="zh-CN" altLang="en-US" sz="2000" b="1" dirty="0">
                <a:solidFill>
                  <a:srgbClr val="000099"/>
                </a:solidFill>
                <a:latin typeface="+mn-lt"/>
                <a:ea typeface="黑体" panose="02010609060101010101" pitchFamily="2" charset="-122"/>
              </a:rPr>
              <a:t>网络</a:t>
            </a:r>
          </a:p>
        </p:txBody>
      </p:sp>
      <p:pic>
        <p:nvPicPr>
          <p:cNvPr id="668718" name="Picture 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59024"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19"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8818"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20"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14718"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21" name="Picture 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85252"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68726" name="Text Box 54"/>
          <p:cNvSpPr txBox="1">
            <a:spLocks noChangeArrowheads="1"/>
          </p:cNvSpPr>
          <p:nvPr/>
        </p:nvSpPr>
        <p:spPr bwMode="auto">
          <a:xfrm>
            <a:off x="2432720"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B</a:t>
            </a:r>
          </a:p>
        </p:txBody>
      </p:sp>
      <p:sp>
        <p:nvSpPr>
          <p:cNvPr id="668727" name="Text Box 55"/>
          <p:cNvSpPr txBox="1">
            <a:spLocks noChangeArrowheads="1"/>
          </p:cNvSpPr>
          <p:nvPr/>
        </p:nvSpPr>
        <p:spPr bwMode="auto">
          <a:xfrm>
            <a:off x="4332826"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C</a:t>
            </a:r>
          </a:p>
        </p:txBody>
      </p:sp>
      <p:sp>
        <p:nvSpPr>
          <p:cNvPr id="668728" name="Text Box 56"/>
          <p:cNvSpPr txBox="1">
            <a:spLocks noChangeArrowheads="1"/>
          </p:cNvSpPr>
          <p:nvPr/>
        </p:nvSpPr>
        <p:spPr bwMode="auto">
          <a:xfrm>
            <a:off x="5817096"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D</a:t>
            </a:r>
          </a:p>
        </p:txBody>
      </p:sp>
      <p:sp>
        <p:nvSpPr>
          <p:cNvPr id="668729" name="Text Box 57"/>
          <p:cNvSpPr txBox="1">
            <a:spLocks noChangeArrowheads="1"/>
          </p:cNvSpPr>
          <p:nvPr/>
        </p:nvSpPr>
        <p:spPr bwMode="auto">
          <a:xfrm>
            <a:off x="7627209" y="1679032"/>
            <a:ext cx="32092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anose="02010609060101010101" pitchFamily="2" charset="-122"/>
              </a:rPr>
              <a:t>E</a:t>
            </a:r>
          </a:p>
        </p:txBody>
      </p:sp>
      <p:sp>
        <p:nvSpPr>
          <p:cNvPr id="668759" name="Text Box 87"/>
          <p:cNvSpPr txBox="1">
            <a:spLocks noChangeArrowheads="1"/>
          </p:cNvSpPr>
          <p:nvPr/>
        </p:nvSpPr>
        <p:spPr bwMode="auto">
          <a:xfrm>
            <a:off x="1928664" y="1124744"/>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anose="02010609060101010101" pitchFamily="2" charset="-122"/>
              </a:rPr>
              <a:t>双协议栈</a:t>
            </a:r>
          </a:p>
          <a:p>
            <a:pPr algn="ctr"/>
            <a:r>
              <a:rPr kumimoji="1" lang="en-US" altLang="zh-CN" sz="2000" b="1" dirty="0">
                <a:solidFill>
                  <a:srgbClr val="C00000"/>
                </a:solidFill>
                <a:latin typeface="+mn-lt"/>
                <a:ea typeface="黑体" panose="02010609060101010101" pitchFamily="2" charset="-122"/>
              </a:rPr>
              <a:t>IPv6/IPv4</a:t>
            </a:r>
          </a:p>
        </p:txBody>
      </p:sp>
      <p:grpSp>
        <p:nvGrpSpPr>
          <p:cNvPr id="5" name="组合 4"/>
          <p:cNvGrpSpPr/>
          <p:nvPr/>
        </p:nvGrpSpPr>
        <p:grpSpPr>
          <a:xfrm>
            <a:off x="2583651" y="2420888"/>
            <a:ext cx="5242753" cy="3168352"/>
            <a:chOff x="2922487" y="2420888"/>
            <a:chExt cx="4622801" cy="2590800"/>
          </a:xfrm>
        </p:grpSpPr>
        <p:sp>
          <p:nvSpPr>
            <p:cNvPr id="113" name="Line 55"/>
            <p:cNvSpPr>
              <a:spLocks noChangeShapeType="1"/>
            </p:cNvSpPr>
            <p:nvPr/>
          </p:nvSpPr>
          <p:spPr bwMode="auto">
            <a:xfrm>
              <a:off x="2922487" y="2420888"/>
              <a:ext cx="0" cy="259080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114" name="Line 56"/>
            <p:cNvSpPr>
              <a:spLocks noChangeShapeType="1"/>
            </p:cNvSpPr>
            <p:nvPr/>
          </p:nvSpPr>
          <p:spPr bwMode="auto">
            <a:xfrm>
              <a:off x="7545288" y="2420888"/>
              <a:ext cx="0" cy="259080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grpSp>
      <p:sp>
        <p:nvSpPr>
          <p:cNvPr id="115" name="Line 70"/>
          <p:cNvSpPr>
            <a:spLocks noChangeShapeType="1"/>
          </p:cNvSpPr>
          <p:nvPr/>
        </p:nvSpPr>
        <p:spPr bwMode="auto">
          <a:xfrm>
            <a:off x="2598791" y="5274950"/>
            <a:ext cx="5162521"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anose="02010609060101010101" pitchFamily="2" charset="-122"/>
            </a:endParaRPr>
          </a:p>
        </p:txBody>
      </p:sp>
      <p:sp>
        <p:nvSpPr>
          <p:cNvPr id="668738" name="Text Box 66"/>
          <p:cNvSpPr txBox="1">
            <a:spLocks noChangeArrowheads="1"/>
          </p:cNvSpPr>
          <p:nvPr/>
        </p:nvSpPr>
        <p:spPr bwMode="auto">
          <a:xfrm>
            <a:off x="4664299" y="5058926"/>
            <a:ext cx="1240407" cy="400110"/>
          </a:xfrm>
          <a:prstGeom prst="rect">
            <a:avLst/>
          </a:prstGeom>
          <a:solidFill>
            <a:schemeClr val="bg1"/>
          </a:solidFill>
          <a:ln>
            <a:noFill/>
          </a:ln>
          <a:effectLst/>
        </p:spPr>
        <p:txBody>
          <a:bodyPr wrap="square">
            <a:spAutoFit/>
          </a:bodyPr>
          <a:lstStyle/>
          <a:p>
            <a:r>
              <a:rPr kumimoji="1" lang="en-US" altLang="zh-CN" sz="2000" b="1" dirty="0">
                <a:solidFill>
                  <a:srgbClr val="000099"/>
                </a:solidFill>
                <a:latin typeface="+mn-lt"/>
                <a:ea typeface="黑体" panose="02010609060101010101" pitchFamily="2" charset="-122"/>
              </a:rPr>
              <a:t>IPv4</a:t>
            </a:r>
            <a:r>
              <a:rPr kumimoji="1" lang="zh-CN" altLang="en-US" sz="2000" b="1" dirty="0">
                <a:solidFill>
                  <a:srgbClr val="000099"/>
                </a:solidFill>
                <a:latin typeface="+mn-lt"/>
                <a:ea typeface="黑体" panose="02010609060101010101" pitchFamily="2" charset="-122"/>
              </a:rPr>
              <a:t>网络 </a:t>
            </a:r>
          </a:p>
        </p:txBody>
      </p:sp>
      <p:sp>
        <p:nvSpPr>
          <p:cNvPr id="8" name="矩形 7"/>
          <p:cNvSpPr/>
          <p:nvPr/>
        </p:nvSpPr>
        <p:spPr>
          <a:xfrm>
            <a:off x="1855683" y="5631631"/>
            <a:ext cx="6569427" cy="461665"/>
          </a:xfrm>
          <a:prstGeom prst="rect">
            <a:avLst/>
          </a:prstGeom>
        </p:spPr>
        <p:txBody>
          <a:bodyPr wrap="square">
            <a:spAutoFit/>
          </a:bodyPr>
          <a:lstStyle/>
          <a:p>
            <a:pPr algn="ctr"/>
            <a:r>
              <a:rPr lang="zh-CN" altLang="zh-CN" sz="2400" b="1" dirty="0">
                <a:latin typeface="+mn-lt"/>
                <a:ea typeface="黑体" panose="02010609060101010101" pitchFamily="2" charset="-122"/>
              </a:rPr>
              <a:t>使用隧道技术进行从</a:t>
            </a:r>
            <a:r>
              <a:rPr lang="en-US" altLang="zh-CN" sz="2400" b="1" dirty="0">
                <a:latin typeface="+mn-lt"/>
                <a:ea typeface="黑体" panose="02010609060101010101" pitchFamily="2" charset="-122"/>
              </a:rPr>
              <a:t> IPv4 </a:t>
            </a:r>
            <a:r>
              <a:rPr lang="zh-CN" altLang="zh-CN" sz="2400" b="1" dirty="0">
                <a:latin typeface="+mn-lt"/>
                <a:ea typeface="黑体" panose="02010609060101010101" pitchFamily="2" charset="-122"/>
              </a:rPr>
              <a:t>到</a:t>
            </a:r>
            <a:r>
              <a:rPr lang="en-US" altLang="zh-CN" sz="2400" b="1" dirty="0">
                <a:latin typeface="+mn-lt"/>
                <a:ea typeface="黑体" panose="02010609060101010101" pitchFamily="2" charset="-122"/>
              </a:rPr>
              <a:t> IPv6 </a:t>
            </a:r>
            <a:r>
              <a:rPr lang="zh-CN" altLang="zh-CN" sz="2400" b="1" dirty="0">
                <a:latin typeface="+mn-lt"/>
                <a:ea typeface="黑体" panose="02010609060101010101" pitchFamily="2" charset="-122"/>
              </a:rPr>
              <a:t>的过渡</a:t>
            </a:r>
            <a:endParaRPr lang="zh-CN" altLang="en-US" sz="2400" b="1" dirty="0">
              <a:latin typeface="+mn-lt"/>
              <a:ea typeface="黑体" panose="02010609060101010101" pitchFamily="2" charset="-122"/>
            </a:endParaRPr>
          </a:p>
        </p:txBody>
      </p:sp>
    </p:spTree>
    <p:extLst>
      <p:ext uri="{BB962C8B-B14F-4D97-AF65-F5344CB8AC3E}">
        <p14:creationId xmlns:p14="http://schemas.microsoft.com/office/powerpoint/2010/main" val="13971525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PP_MARK_KEY" val="9bac7e4d-ad83-40fb-88b5-6756ffa0e706"/>
  <p:tag name="COMMONDATA" val="eyJoZGlkIjoiZTNiMmJjMGUyMDNhMGI0MjllZTc4OTE3ODRjOTBjMWQifQ=="/>
</p:tagLst>
</file>

<file path=ppt/tags/tag2.xml><?xml version="1.0" encoding="utf-8"?>
<p:tagLst xmlns:a="http://schemas.openxmlformats.org/drawingml/2006/main" xmlns:r="http://schemas.openxmlformats.org/officeDocument/2006/relationships" xmlns:p="http://schemas.openxmlformats.org/presentationml/2006/main">
  <p:tag name="KSO_WM_UNIT_TABLE_BEAUTIFY" val="smartTable{0f2ece52-cf04-493a-b25b-96d5966da1f8}"/>
</p:tagLst>
</file>

<file path=ppt/tags/tag3.xml><?xml version="1.0" encoding="utf-8"?>
<p:tagLst xmlns:a="http://schemas.openxmlformats.org/drawingml/2006/main" xmlns:r="http://schemas.openxmlformats.org/officeDocument/2006/relationships" xmlns:p="http://schemas.openxmlformats.org/presentationml/2006/main">
  <p:tag name="KSO_WM_UNIT_TABLE_BEAUTIFY" val="smartTable{3db0a365-a6e0-4054-96c4-a9fe6abc9751}"/>
</p:tagLst>
</file>

<file path=ppt/tags/tag4.xml><?xml version="1.0" encoding="utf-8"?>
<p:tagLst xmlns:a="http://schemas.openxmlformats.org/drawingml/2006/main" xmlns:r="http://schemas.openxmlformats.org/officeDocument/2006/relationships" xmlns:p="http://schemas.openxmlformats.org/presentationml/2006/main">
  <p:tag name="KSO_WM_UNIT_TABLE_BEAUTIFY" val="smartTable{b1ff9b5f-4671-40fb-a667-80a08e74656c}"/>
</p:tagLst>
</file>

<file path=ppt/tags/tag5.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6870,&quot;width&quot;:5450}"/>
</p:tagLst>
</file>

<file path=ppt/tags/tag6.xml><?xml version="1.0" encoding="utf-8"?>
<p:tagLst xmlns:a="http://schemas.openxmlformats.org/drawingml/2006/main" xmlns:r="http://schemas.openxmlformats.org/officeDocument/2006/relationships" xmlns:p="http://schemas.openxmlformats.org/presentationml/2006/main">
  <p:tag name="KSO_WM_UNIT_TABLE_BEAUTIFY" val="smartTable{34b5cda6-5fe7-4249-9dcf-5948437110e6}"/>
</p:tagLst>
</file>

<file path=ppt/theme/theme1.xml><?xml version="1.0" encoding="utf-8"?>
<a:theme xmlns:a="http://schemas.openxmlformats.org/drawingml/2006/main" name="CN(myzh)Icon">
  <a:themeElements>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fontScheme name="演示稿（水平）">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演示稿（水平） 1">
        <a:dk1>
          <a:srgbClr val="006699"/>
        </a:dk1>
        <a:lt1>
          <a:srgbClr val="FFFFFF"/>
        </a:lt1>
        <a:dk2>
          <a:srgbClr val="000000"/>
        </a:dk2>
        <a:lt2>
          <a:srgbClr val="99FF99"/>
        </a:lt2>
        <a:accent1>
          <a:srgbClr val="00CC99"/>
        </a:accent1>
        <a:accent2>
          <a:srgbClr val="009999"/>
        </a:accent2>
        <a:accent3>
          <a:srgbClr val="AAAAAA"/>
        </a:accent3>
        <a:accent4>
          <a:srgbClr val="DADADA"/>
        </a:accent4>
        <a:accent5>
          <a:srgbClr val="AAE2CA"/>
        </a:accent5>
        <a:accent6>
          <a:srgbClr val="008A8A"/>
        </a:accent6>
        <a:hlink>
          <a:srgbClr val="0066FF"/>
        </a:hlink>
        <a:folHlink>
          <a:srgbClr val="989CBA"/>
        </a:folHlink>
      </a:clrScheme>
      <a:clrMap bg1="dk2" tx1="lt1" bg2="dk1" tx2="lt2" accent1="accent1" accent2="accent2" accent3="accent3" accent4="accent4" accent5="accent5" accent6="accent6" hlink="hlink" folHlink="folHlink"/>
    </a:extraClrScheme>
    <a:extraClrScheme>
      <a:clrScheme name="演示稿（水平） 2">
        <a:dk1>
          <a:srgbClr val="808000"/>
        </a:dk1>
        <a:lt1>
          <a:srgbClr val="FFFFFF"/>
        </a:lt1>
        <a:dk2>
          <a:srgbClr val="5C271E"/>
        </a:dk2>
        <a:lt2>
          <a:srgbClr val="FFDD89"/>
        </a:lt2>
        <a:accent1>
          <a:srgbClr val="CC6600"/>
        </a:accent1>
        <a:accent2>
          <a:srgbClr val="CC9900"/>
        </a:accent2>
        <a:accent3>
          <a:srgbClr val="B5ACAB"/>
        </a:accent3>
        <a:accent4>
          <a:srgbClr val="DADADA"/>
        </a:accent4>
        <a:accent5>
          <a:srgbClr val="E2B8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3">
        <a:dk1>
          <a:srgbClr val="763B00"/>
        </a:dk1>
        <a:lt1>
          <a:srgbClr val="FFFFFF"/>
        </a:lt1>
        <a:dk2>
          <a:srgbClr val="330000"/>
        </a:dk2>
        <a:lt2>
          <a:srgbClr val="CC9900"/>
        </a:lt2>
        <a:accent1>
          <a:srgbClr val="FFCC00"/>
        </a:accent1>
        <a:accent2>
          <a:srgbClr val="CC3300"/>
        </a:accent2>
        <a:accent3>
          <a:srgbClr val="ADAAAA"/>
        </a:accent3>
        <a:accent4>
          <a:srgbClr val="DADADA"/>
        </a:accent4>
        <a:accent5>
          <a:srgbClr val="FFE2AA"/>
        </a:accent5>
        <a:accent6>
          <a:srgbClr val="B92D00"/>
        </a:accent6>
        <a:hlink>
          <a:srgbClr val="666699"/>
        </a:hlink>
        <a:folHlink>
          <a:srgbClr val="999966"/>
        </a:folHlink>
      </a:clrScheme>
      <a:clrMap bg1="dk2" tx1="lt1" bg2="dk1" tx2="lt2" accent1="accent1" accent2="accent2" accent3="accent3" accent4="accent4" accent5="accent5" accent6="accent6" hlink="hlink" folHlink="folHlink"/>
    </a:extraClrScheme>
    <a:extraClrScheme>
      <a:clrScheme name="演示稿（水平） 4">
        <a:dk1>
          <a:srgbClr val="6D3696"/>
        </a:dk1>
        <a:lt1>
          <a:srgbClr val="FFFFFF"/>
        </a:lt1>
        <a:dk2>
          <a:srgbClr val="51255D"/>
        </a:dk2>
        <a:lt2>
          <a:srgbClr val="FFFFCC"/>
        </a:lt2>
        <a:accent1>
          <a:srgbClr val="666699"/>
        </a:accent1>
        <a:accent2>
          <a:srgbClr val="800080"/>
        </a:accent2>
        <a:accent3>
          <a:srgbClr val="B3ACB6"/>
        </a:accent3>
        <a:accent4>
          <a:srgbClr val="DADADA"/>
        </a:accent4>
        <a:accent5>
          <a:srgbClr val="B8B8CA"/>
        </a:accent5>
        <a:accent6>
          <a:srgbClr val="730073"/>
        </a:accent6>
        <a:hlink>
          <a:srgbClr val="CCCC00"/>
        </a:hlink>
        <a:folHlink>
          <a:srgbClr val="A3A274"/>
        </a:folHlink>
      </a:clrScheme>
      <a:clrMap bg1="dk2" tx1="lt1" bg2="dk1" tx2="lt2" accent1="accent1" accent2="accent2" accent3="accent3" accent4="accent4" accent5="accent5" accent6="accent6" hlink="hlink" folHlink="folHlink"/>
    </a:extraClrScheme>
    <a:extraClrScheme>
      <a:clrScheme name="演示稿（水平） 5">
        <a:dk1>
          <a:srgbClr val="CC6600"/>
        </a:dk1>
        <a:lt1>
          <a:srgbClr val="FFFFFF"/>
        </a:lt1>
        <a:dk2>
          <a:srgbClr val="4A553B"/>
        </a:dk2>
        <a:lt2>
          <a:srgbClr val="FFBF1F"/>
        </a:lt2>
        <a:accent1>
          <a:srgbClr val="FFCC00"/>
        </a:accent1>
        <a:accent2>
          <a:srgbClr val="CC9900"/>
        </a:accent2>
        <a:accent3>
          <a:srgbClr val="B1B4AF"/>
        </a:accent3>
        <a:accent4>
          <a:srgbClr val="DADADA"/>
        </a:accent4>
        <a:accent5>
          <a:srgbClr val="FFE2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6">
        <a:dk1>
          <a:srgbClr val="000000"/>
        </a:dk1>
        <a:lt1>
          <a:srgbClr val="FFFFFF"/>
        </a:lt1>
        <a:dk2>
          <a:srgbClr val="666699"/>
        </a:dk2>
        <a:lt2>
          <a:srgbClr val="FFCC00"/>
        </a:lt2>
        <a:accent1>
          <a:srgbClr val="FF9900"/>
        </a:accent1>
        <a:accent2>
          <a:srgbClr val="FF0000"/>
        </a:accent2>
        <a:accent3>
          <a:srgbClr val="FFFFFF"/>
        </a:accent3>
        <a:accent4>
          <a:srgbClr val="000000"/>
        </a:accent4>
        <a:accent5>
          <a:srgbClr val="FFCAAA"/>
        </a:accent5>
        <a:accent6>
          <a:srgbClr val="E700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
      <a:clrScheme name="演示稿（水平） 7">
        <a:dk1>
          <a:srgbClr val="000000"/>
        </a:dk1>
        <a:lt1>
          <a:srgbClr val="FFFFFF"/>
        </a:lt1>
        <a:dk2>
          <a:srgbClr val="CC3300"/>
        </a:dk2>
        <a:lt2>
          <a:srgbClr val="663300"/>
        </a:lt2>
        <a:accent1>
          <a:srgbClr val="FFCC00"/>
        </a:accent1>
        <a:accent2>
          <a:srgbClr val="CC6600"/>
        </a:accent2>
        <a:accent3>
          <a:srgbClr val="FFFFFF"/>
        </a:accent3>
        <a:accent4>
          <a:srgbClr val="000000"/>
        </a:accent4>
        <a:accent5>
          <a:srgbClr val="FFE2AA"/>
        </a:accent5>
        <a:accent6>
          <a:srgbClr val="B95C00"/>
        </a:accent6>
        <a:hlink>
          <a:srgbClr val="CC9900"/>
        </a:hlink>
        <a:folHlink>
          <a:srgbClr val="996633"/>
        </a:folHlink>
      </a:clrScheme>
      <a:clrMap bg1="lt1" tx1="dk1" bg2="lt2" tx2="dk2" accent1="accent1" accent2="accent2" accent3="accent3" accent4="accent4" accent5="accent5" accent6="accent6" hlink="hlink" folHlink="folHlink"/>
    </a:extraClrScheme>
    <a:extraClrScheme>
      <a:clrScheme name="演示稿（水平） 8">
        <a:dk1>
          <a:srgbClr val="000000"/>
        </a:dk1>
        <a:lt1>
          <a:srgbClr val="FFFFFF"/>
        </a:lt1>
        <a:dk2>
          <a:srgbClr val="999900"/>
        </a:dk2>
        <a:lt2>
          <a:srgbClr val="666600"/>
        </a:lt2>
        <a:accent1>
          <a:srgbClr val="99CC00"/>
        </a:accent1>
        <a:accent2>
          <a:srgbClr val="CCCC66"/>
        </a:accent2>
        <a:accent3>
          <a:srgbClr val="FFFFFF"/>
        </a:accent3>
        <a:accent4>
          <a:srgbClr val="000000"/>
        </a:accent4>
        <a:accent5>
          <a:srgbClr val="CAE2AA"/>
        </a:accent5>
        <a:accent6>
          <a:srgbClr val="B9B95C"/>
        </a:accent6>
        <a:hlink>
          <a:srgbClr val="FFCC00"/>
        </a:hlink>
        <a:folHlink>
          <a:srgbClr val="CC9900"/>
        </a:folHlink>
      </a:clrScheme>
      <a:clrMap bg1="lt1" tx1="dk1" bg2="lt2" tx2="dk2" accent1="accent1" accent2="accent2" accent3="accent3" accent4="accent4" accent5="accent5" accent6="accent6" hlink="hlink" folHlink="folHlink"/>
    </a:extraClrScheme>
    <a:extraClrScheme>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2155</TotalTime>
  <Words>25593</Words>
  <Application>Microsoft Office PowerPoint</Application>
  <PresentationFormat>A4 纸张(210x297 毫米)</PresentationFormat>
  <Paragraphs>4545</Paragraphs>
  <Slides>304</Slides>
  <Notes>221</Notes>
  <HiddenSlides>0</HiddenSlides>
  <MMClips>1</MMClips>
  <ScaleCrop>false</ScaleCrop>
  <HeadingPairs>
    <vt:vector size="8" baseType="variant">
      <vt:variant>
        <vt:lpstr>已用的字体</vt:lpstr>
      </vt:variant>
      <vt:variant>
        <vt:i4>10</vt:i4>
      </vt:variant>
      <vt:variant>
        <vt:lpstr>主题</vt:lpstr>
      </vt:variant>
      <vt:variant>
        <vt:i4>1</vt:i4>
      </vt:variant>
      <vt:variant>
        <vt:lpstr>嵌入 OLE 服务器</vt:lpstr>
      </vt:variant>
      <vt:variant>
        <vt:i4>3</vt:i4>
      </vt:variant>
      <vt:variant>
        <vt:lpstr>幻灯片标题</vt:lpstr>
      </vt:variant>
      <vt:variant>
        <vt:i4>304</vt:i4>
      </vt:variant>
    </vt:vector>
  </HeadingPairs>
  <TitlesOfParts>
    <vt:vector size="318" baseType="lpstr">
      <vt:lpstr>-apple-system</vt:lpstr>
      <vt:lpstr>黑体</vt:lpstr>
      <vt:lpstr>华文新魏</vt:lpstr>
      <vt:lpstr>宋体</vt:lpstr>
      <vt:lpstr>Arial</vt:lpstr>
      <vt:lpstr>Comic Sans MS</vt:lpstr>
      <vt:lpstr>Symbol</vt:lpstr>
      <vt:lpstr>Tahoma</vt:lpstr>
      <vt:lpstr>Times New Roman</vt:lpstr>
      <vt:lpstr>Wingdings</vt:lpstr>
      <vt:lpstr>CN(myzh)Icon</vt:lpstr>
      <vt:lpstr>Visio</vt:lpstr>
      <vt:lpstr>Picture</vt:lpstr>
      <vt:lpstr>VISIO</vt:lpstr>
      <vt:lpstr>第 4 章  网络层</vt:lpstr>
      <vt:lpstr>第 4 章  网络层</vt:lpstr>
      <vt:lpstr>4.1  网络层提供的两种服务 </vt:lpstr>
      <vt:lpstr>一种观点：让网络负责可靠交付 </vt:lpstr>
      <vt:lpstr>虚电路服务</vt:lpstr>
      <vt:lpstr>虚电路是逻辑连接</vt:lpstr>
      <vt:lpstr>另一种观点：网络提供数据报服务</vt:lpstr>
      <vt:lpstr>尽最大努力交付</vt:lpstr>
      <vt:lpstr>数据报服务</vt:lpstr>
      <vt:lpstr>虚电路服务与数据报服务的对比</vt:lpstr>
      <vt:lpstr>4.2  网际协议 IP</vt:lpstr>
      <vt:lpstr>4.2  网际协议 IP </vt:lpstr>
      <vt:lpstr>网际层的 IP 协议及配套协议</vt:lpstr>
      <vt:lpstr>PowerPoint 演示文稿</vt:lpstr>
      <vt:lpstr>4.2.2  分类的 IP 地址</vt:lpstr>
      <vt:lpstr>1.   IP 地址及其表示方法 </vt:lpstr>
      <vt:lpstr>IP 地址的编址方法 </vt:lpstr>
      <vt:lpstr>分类 IP 地址 </vt:lpstr>
      <vt:lpstr>分类 IP 地址 </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点分十进制记法 </vt:lpstr>
      <vt:lpstr>点分十进制记法举例</vt:lpstr>
      <vt:lpstr>点分十进制记法举例</vt:lpstr>
      <vt:lpstr>2. 常用的三种类别的 IP 地址 </vt:lpstr>
      <vt:lpstr>一般不使用的特殊的 IP 地址</vt:lpstr>
      <vt:lpstr>IP 地址的一些重要特点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PowerPoint 演示文稿</vt:lpstr>
      <vt:lpstr>4.3.1   划分子网</vt:lpstr>
      <vt:lpstr>三级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划分子网后变成了三级结构 </vt:lpstr>
      <vt:lpstr>2.  子网掩码</vt:lpstr>
      <vt:lpstr>IP 地址的各字段和子网掩码 </vt:lpstr>
      <vt:lpstr>(IP 地址) AND (子网掩码) =网络地址</vt:lpstr>
      <vt:lpstr>默认子网掩码 </vt:lpstr>
      <vt:lpstr>子网掩码是一个重要属性</vt:lpstr>
      <vt:lpstr>子网划分方法</vt:lpstr>
      <vt:lpstr>PowerPoint 演示文稿</vt:lpstr>
      <vt:lpstr>【例4-2】已知 IP 地址是 141.14.72.24，子网掩码是 255.255.192.0。试求网络地址。 </vt:lpstr>
      <vt:lpstr>【例4-3】上例中，若子网掩码改为255.255.224.0，试求网络地址，讨论所得结果。 </vt:lpstr>
      <vt:lpstr>PowerPoint 演示文稿</vt:lpstr>
      <vt:lpstr>4.3.3  无分类编址 CIDR</vt:lpstr>
      <vt:lpstr>IP 编址问题的演进 </vt:lpstr>
      <vt:lpstr>CIDR 最主要的特点 </vt:lpstr>
      <vt:lpstr>无分类的两级编址 </vt:lpstr>
      <vt:lpstr>CIDR 地址块 </vt:lpstr>
      <vt:lpstr>128.14.32.0/20 表示的地址（212 个地址）</vt:lpstr>
      <vt:lpstr>路由聚合 (route aggregation) </vt:lpstr>
      <vt:lpstr>CIDR 记法的其他形式 </vt:lpstr>
      <vt:lpstr>PowerPoint 演示文稿</vt:lpstr>
      <vt:lpstr>构成超网 </vt:lpstr>
      <vt:lpstr>PowerPoint 演示文稿</vt:lpstr>
      <vt:lpstr>PowerPoint 演示文稿</vt:lpstr>
      <vt:lpstr>PowerPoint 演示文稿</vt:lpstr>
      <vt:lpstr>PowerPoint 演示文稿</vt:lpstr>
      <vt:lpstr>PowerPoint 演示文稿</vt:lpstr>
      <vt:lpstr>4.2.6  IP 层转发分组的流程 </vt:lpstr>
      <vt:lpstr>PowerPoint 演示文稿</vt:lpstr>
      <vt:lpstr>查找路由表</vt:lpstr>
      <vt:lpstr>特定主机路由 </vt:lpstr>
      <vt:lpstr>默认路由 (default route)</vt:lpstr>
      <vt:lpstr>默认路由举例</vt:lpstr>
      <vt:lpstr>必须强调指出 </vt:lpstr>
      <vt:lpstr>路由器分组转发算法 </vt:lpstr>
      <vt:lpstr>关于路由表</vt:lpstr>
      <vt:lpstr>2. 最长前缀匹配</vt:lpstr>
      <vt:lpstr>PowerPoint 演示文稿</vt:lpstr>
      <vt:lpstr>PowerPoint 演示文稿</vt:lpstr>
      <vt:lpstr>PowerPoint 演示文稿</vt:lpstr>
      <vt:lpstr>3. 使用二叉线索查找路由表</vt:lpstr>
      <vt:lpstr>用 5 个前缀构成的二叉线索 </vt:lpstr>
      <vt:lpstr>PowerPoint 演示文稿</vt:lpstr>
      <vt:lpstr>4.2.3  IP 地址与硬件地址</vt:lpstr>
      <vt:lpstr>4.2.3  IP 地址与硬件地址</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主机 H1 与 H2 通信中使用的 IP地址 与 硬件地址HA</vt:lpstr>
      <vt:lpstr>4.2.4  地址解析协议 ARP</vt:lpstr>
      <vt:lpstr>地址解析协议 ARP 的作用</vt:lpstr>
      <vt:lpstr>地址映射方式</vt:lpstr>
      <vt:lpstr>地址解析协议 ARP 要点</vt:lpstr>
      <vt:lpstr>地址解析协议 ARP 要点</vt:lpstr>
      <vt:lpstr>地址解析协议 ARP 要点</vt:lpstr>
      <vt:lpstr>PowerPoint 演示文稿</vt:lpstr>
      <vt:lpstr>ARP 高速缓存的作用</vt:lpstr>
      <vt:lpstr>应当注意的问题</vt:lpstr>
      <vt:lpstr>应当注意的问题（续）</vt:lpstr>
      <vt:lpstr>使用 ARP 的四种典型情况 </vt:lpstr>
      <vt:lpstr>使用 ARP 的四种典型情况 </vt:lpstr>
      <vt:lpstr>ARP高速缓存——解析实例（同一网络）</vt:lpstr>
      <vt:lpstr>ARP高速缓存——解析实例（不同网络）</vt:lpstr>
      <vt:lpstr>ARP高速缓存——解析实例（不同网络）</vt:lpstr>
      <vt:lpstr>ARP高速缓存——解析实例（不同网络）</vt:lpstr>
      <vt:lpstr>ARP实用命令</vt:lpstr>
      <vt:lpstr>我们为什么不直接使用硬件地址进行通信？ </vt:lpstr>
      <vt:lpstr>ARP病毒（绝对信任）</vt:lpstr>
      <vt:lpstr>ARP病毒</vt:lpstr>
      <vt:lpstr>PowerPoint 演示文稿</vt:lpstr>
      <vt:lpstr>4.2.5  IP 数据报的格式 </vt:lpstr>
      <vt:lpstr>PowerPoint 演示文稿</vt:lpstr>
      <vt:lpstr>PowerPoint 演示文稿</vt:lpstr>
      <vt:lpstr>PowerPoint 演示文稿</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【例4-1】 IP 数据报分片</vt:lpstr>
      <vt:lpstr>【例4-1】 IP 数据报分片</vt:lpstr>
      <vt:lpstr>【例4-1】 IP 数据报分片</vt:lpstr>
      <vt:lpstr>1.  IP 数据报首部的固定部分中的各字段 </vt:lpstr>
      <vt:lpstr>1.  IP 数据报首部的固定部分中的各字段 </vt:lpstr>
      <vt:lpstr>PowerPoint 演示文稿</vt:lpstr>
      <vt:lpstr>1.  IP 数据报首部的固定部分中的各字段 </vt:lpstr>
      <vt:lpstr>PowerPoint 演示文稿</vt:lpstr>
      <vt:lpstr>1.  IP 数据报首部的固定部分中的各字段 </vt:lpstr>
      <vt:lpstr>2.  IP 数据报首部的可变部分 </vt:lpstr>
      <vt:lpstr>PowerPoint 演示文稿</vt:lpstr>
      <vt:lpstr>4.4  网际控制报文协议 ICMP</vt:lpstr>
      <vt:lpstr>4.4  网际控制报文协议ICMP</vt:lpstr>
      <vt:lpstr>ICMP 报文的格式 </vt:lpstr>
      <vt:lpstr>4.4.1  ICMP 报文的种类</vt:lpstr>
      <vt:lpstr>ICMP 差错报告报文共有 4 种 </vt:lpstr>
      <vt:lpstr>ICMP 差错报告报文的数据字段的内容 </vt:lpstr>
      <vt:lpstr>不应发送 ICMP 差错报告报文的几种情况 </vt:lpstr>
      <vt:lpstr>ICMP 询问报文有两种 </vt:lpstr>
      <vt:lpstr>4.4.2  ICMP的应用举例</vt:lpstr>
      <vt:lpstr>PING 的应用举例</vt:lpstr>
      <vt:lpstr>4.4.2  ICMP的应用举例</vt:lpstr>
      <vt:lpstr>4.4.2  ICMP的应用举例</vt:lpstr>
      <vt:lpstr>故障判断</vt:lpstr>
      <vt:lpstr>ICMP Flood</vt:lpstr>
      <vt:lpstr>PowerPoint 演示文稿</vt:lpstr>
      <vt:lpstr>4.5  互联网的路由选择协议</vt:lpstr>
      <vt:lpstr>4.5.1  有关路由选择协议的几个基本概念</vt:lpstr>
      <vt:lpstr>关于“最佳路由” </vt:lpstr>
      <vt:lpstr>从路由算法的自适应性考虑</vt:lpstr>
      <vt:lpstr>2.  分层次的路由选择协议</vt:lpstr>
      <vt:lpstr>自治系统 AS (Autonomous System) </vt:lpstr>
      <vt:lpstr>自治系统 AS</vt:lpstr>
      <vt:lpstr>互联网有两大类路由选择协议 </vt:lpstr>
      <vt:lpstr>自治系统和 内部网关协议、外部网关协议 </vt:lpstr>
      <vt:lpstr>互联网的路由选择协议 </vt:lpstr>
      <vt:lpstr>4.5.2  内部网关协议 RIP</vt:lpstr>
      <vt:lpstr>“距离”的定义 </vt:lpstr>
      <vt:lpstr>“距离”的定义 </vt:lpstr>
      <vt:lpstr>RIP 协议的三个特点 </vt:lpstr>
      <vt:lpstr>路由表的建立 </vt:lpstr>
      <vt:lpstr>PowerPoint 演示文稿</vt:lpstr>
      <vt:lpstr>2. 距离向量算法</vt:lpstr>
      <vt:lpstr>2. 距离向量算法</vt:lpstr>
      <vt:lpstr>【例4-5】已知路由器 R6 有表4-9(a)所示的路由表。现在收到相邻路由器 R4 发来的路由更新信息，如表4-9(b)所示。试更新路由器 R6 的路由表。</vt:lpstr>
      <vt:lpstr>【例】路由表更新</vt:lpstr>
      <vt:lpstr>路由器之间交换信息与路由表更新</vt:lpstr>
      <vt:lpstr>3. RIP2 协议的报文格式 </vt:lpstr>
      <vt:lpstr>RIP2 报文</vt:lpstr>
      <vt:lpstr>好消息传播得快，坏消息传播得慢</vt:lpstr>
      <vt:lpstr>PowerPoint 演示文稿</vt:lpstr>
      <vt:lpstr>PowerPoint 演示文稿</vt:lpstr>
      <vt:lpstr>PowerPoint 演示文稿</vt:lpstr>
      <vt:lpstr>PowerPoint 演示文稿</vt:lpstr>
      <vt:lpstr>PowerPoint 演示文稿</vt:lpstr>
      <vt:lpstr>PowerPoint 演示文稿</vt:lpstr>
      <vt:lpstr>RIP 协议的优缺点 </vt:lpstr>
      <vt:lpstr>4.5.3  内部网关协议 OSPF</vt:lpstr>
      <vt:lpstr>1.  OSPF 协议的基本特点</vt:lpstr>
      <vt:lpstr>（迪杰斯特拉）Dijkstra</vt:lpstr>
      <vt:lpstr>三个要点 </vt:lpstr>
      <vt:lpstr>链路状态数据库 (link-state database) </vt:lpstr>
      <vt:lpstr>OSPF 的区域 (area) </vt:lpstr>
      <vt:lpstr>OSPF 划分为两种不同的区域 </vt:lpstr>
      <vt:lpstr>划分区域 </vt:lpstr>
      <vt:lpstr>主干路由器</vt:lpstr>
      <vt:lpstr>区域边界路由器 </vt:lpstr>
      <vt:lpstr>OSPF 直接用 IP 数据报传送 </vt:lpstr>
      <vt:lpstr>OSPF 的其他特点 </vt:lpstr>
      <vt:lpstr>OSPF 分组 </vt:lpstr>
      <vt:lpstr>2. OSPF 的五种分组类型 </vt:lpstr>
      <vt:lpstr>OSPF 的基本操作 </vt:lpstr>
      <vt:lpstr>OSPF 使用可靠的洪泛法发送更新分组 </vt:lpstr>
      <vt:lpstr>OSPF 的其他特点 </vt:lpstr>
      <vt:lpstr>PowerPoint 演示文稿</vt:lpstr>
      <vt:lpstr>PowerPoint 演示文稿</vt:lpstr>
      <vt:lpstr>4.5.4  外部网关协议 BGP</vt:lpstr>
      <vt:lpstr>BGP 使用环境不同</vt:lpstr>
      <vt:lpstr>BGP 发言人</vt:lpstr>
      <vt:lpstr>BGP 交换路由信息</vt:lpstr>
      <vt:lpstr>BGP 发言人和自治系统 AS 的关系 </vt:lpstr>
      <vt:lpstr>AS 的连通图举例 </vt:lpstr>
      <vt:lpstr>BGP 发言人交换路径向量 </vt:lpstr>
      <vt:lpstr>BGP 发言人交换路径向量 </vt:lpstr>
      <vt:lpstr>BGP 协议的特点</vt:lpstr>
      <vt:lpstr>BGP 协议的特点</vt:lpstr>
      <vt:lpstr>BGP-4 共使用四种报文 </vt:lpstr>
      <vt:lpstr>BGP 报文具有通用首部</vt:lpstr>
      <vt:lpstr>PowerPoint 演示文稿</vt:lpstr>
      <vt:lpstr>PowerPoint 演示文稿</vt:lpstr>
      <vt:lpstr>PowerPoint 演示文稿</vt:lpstr>
      <vt:lpstr>PowerPoint 演示文稿</vt:lpstr>
      <vt:lpstr>4.8  虚拟专用网 VPN和网络地址转换 NAT</vt:lpstr>
      <vt:lpstr>4.8.1  虚拟专用网 VPN</vt:lpstr>
      <vt:lpstr>本地地址与全球地址</vt:lpstr>
      <vt:lpstr>本地地址与全球地址</vt:lpstr>
      <vt:lpstr>RFC 1918 指明的专用 IP 地址</vt:lpstr>
      <vt:lpstr>专用网</vt:lpstr>
      <vt:lpstr>虚拟专用网 VPN</vt:lpstr>
      <vt:lpstr>虚拟专用网 VPN 构建</vt:lpstr>
      <vt:lpstr>用隧道技术实现虚拟专用网 </vt:lpstr>
      <vt:lpstr>PowerPoint 演示文稿</vt:lpstr>
      <vt:lpstr>内联网 intranet 和外联网 extranet</vt:lpstr>
      <vt:lpstr>远程接入 VPN</vt:lpstr>
      <vt:lpstr>4.8.2   网络地址转换 NAT</vt:lpstr>
      <vt:lpstr>网络地址转换 NAT</vt:lpstr>
      <vt:lpstr>网络地址转换的过程</vt:lpstr>
      <vt:lpstr>网络地址转换的过程</vt:lpstr>
      <vt:lpstr>网络地址转换的过程</vt:lpstr>
      <vt:lpstr>网络地址转换 NAT</vt:lpstr>
      <vt:lpstr>网络地址与端口号转换 NAPT </vt:lpstr>
      <vt:lpstr>NAPT 地址转换表</vt:lpstr>
      <vt:lpstr>PowerPoint 演示文稿</vt:lpstr>
      <vt:lpstr>PowerPoint 演示文稿</vt:lpstr>
      <vt:lpstr>PowerPoint 演示文稿</vt:lpstr>
      <vt:lpstr>4.1  网络层提供的两种服务 </vt:lpstr>
      <vt:lpstr>一种观点：让网络负责可靠交付 </vt:lpstr>
      <vt:lpstr>虚电路服务</vt:lpstr>
      <vt:lpstr>虚电路是逻辑连接</vt:lpstr>
      <vt:lpstr>虚电路建立</vt:lpstr>
      <vt:lpstr>虚电路的分类</vt:lpstr>
      <vt:lpstr>虚电路</vt:lpstr>
      <vt:lpstr>虚电路的分类</vt:lpstr>
      <vt:lpstr>另一种观点：网络提供数据报服务</vt:lpstr>
      <vt:lpstr>尽最大努力交付</vt:lpstr>
      <vt:lpstr>数据报服务</vt:lpstr>
      <vt:lpstr>虚电路服务与数据报服务的对比</vt:lpstr>
      <vt:lpstr>4.2.1  虚拟互连网络 </vt:lpstr>
      <vt:lpstr>使用一些中间设备进行互连 </vt:lpstr>
      <vt:lpstr>网络互连使用路由器 </vt:lpstr>
      <vt:lpstr>互连网络与虚拟互连网络 </vt:lpstr>
      <vt:lpstr>虚拟互连网络的意义 </vt:lpstr>
      <vt:lpstr>PowerPoint 演示文稿</vt:lpstr>
      <vt:lpstr>PowerPoint 演示文稿</vt:lpstr>
      <vt:lpstr>4.6  IPv6</vt:lpstr>
      <vt:lpstr>4.6  IPv6</vt:lpstr>
      <vt:lpstr>4.6.1  IPv6 的基本首部</vt:lpstr>
      <vt:lpstr>4.6.1  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的扩展首部</vt:lpstr>
      <vt:lpstr>六种扩展首部 </vt:lpstr>
      <vt:lpstr>4.6.2  IPv6 的地址</vt:lpstr>
      <vt:lpstr>结点与接口</vt:lpstr>
      <vt:lpstr>冒号十六进制记法</vt:lpstr>
      <vt:lpstr>零压缩</vt:lpstr>
      <vt:lpstr>点分十进制记法的后缀 </vt:lpstr>
      <vt:lpstr>IPv6 地址分类</vt:lpstr>
      <vt:lpstr>IPv6 地址分类</vt:lpstr>
      <vt:lpstr>IPv6 地址分类</vt:lpstr>
      <vt:lpstr>IPv6 地址分类</vt:lpstr>
      <vt:lpstr>4.6.3  从 IPv4 向 IPv6 过渡</vt:lpstr>
      <vt:lpstr>双协议栈</vt:lpstr>
      <vt:lpstr>双协议栈</vt:lpstr>
      <vt:lpstr>隧道技术</vt:lpstr>
      <vt:lpstr>隧道技术</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 4 章  网络层</dc:title>
  <dc:creator>yiwei wei</dc:creator>
  <cp:lastModifiedBy>Administrator</cp:lastModifiedBy>
  <cp:revision>126</cp:revision>
  <cp:lastPrinted>2024-10-09T06:32:37Z</cp:lastPrinted>
  <dcterms:created xsi:type="dcterms:W3CDTF">2019-09-24T02:28:00Z</dcterms:created>
  <dcterms:modified xsi:type="dcterms:W3CDTF">2024-10-09T06:33:17Z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2052-11.1.0.12980</vt:lpwstr>
  </property>
  <property fmtid="{D5CDD505-2E9C-101B-9397-08002B2CF9AE}" pid="3" name="ICV">
    <vt:lpwstr>7082599DF8D64EC0BB1B40C981A8A3BB</vt:lpwstr>
  </property>
</Properties>
</file>