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3"/>
  </p:notesMasterIdLst>
  <p:handoutMasterIdLst>
    <p:handoutMasterId r:id="rId154"/>
  </p:handoutMasterIdLst>
  <p:sldIdLst>
    <p:sldId id="256" r:id="rId2"/>
    <p:sldId id="257" r:id="rId3"/>
    <p:sldId id="258" r:id="rId4"/>
    <p:sldId id="259" r:id="rId5"/>
    <p:sldId id="260" r:id="rId6"/>
    <p:sldId id="546" r:id="rId7"/>
    <p:sldId id="547" r:id="rId8"/>
    <p:sldId id="548" r:id="rId9"/>
    <p:sldId id="551" r:id="rId10"/>
    <p:sldId id="549" r:id="rId11"/>
    <p:sldId id="263" r:id="rId12"/>
    <p:sldId id="264" r:id="rId13"/>
    <p:sldId id="265" r:id="rId14"/>
    <p:sldId id="266" r:id="rId15"/>
    <p:sldId id="268" r:id="rId16"/>
    <p:sldId id="415" r:id="rId17"/>
    <p:sldId id="270" r:id="rId18"/>
    <p:sldId id="271" r:id="rId19"/>
    <p:sldId id="272" r:id="rId20"/>
    <p:sldId id="274" r:id="rId21"/>
    <p:sldId id="275" r:id="rId22"/>
    <p:sldId id="276" r:id="rId23"/>
    <p:sldId id="279" r:id="rId24"/>
    <p:sldId id="280" r:id="rId25"/>
    <p:sldId id="281" r:id="rId26"/>
    <p:sldId id="282" r:id="rId27"/>
    <p:sldId id="283" r:id="rId28"/>
    <p:sldId id="284" r:id="rId29"/>
    <p:sldId id="416" r:id="rId30"/>
    <p:sldId id="926"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5" r:id="rId66"/>
    <p:sldId id="326" r:id="rId67"/>
    <p:sldId id="327" r:id="rId68"/>
    <p:sldId id="328" r:id="rId69"/>
    <p:sldId id="329" r:id="rId70"/>
    <p:sldId id="1043" r:id="rId71"/>
    <p:sldId id="1044" r:id="rId72"/>
    <p:sldId id="1045" r:id="rId73"/>
    <p:sldId id="331" r:id="rId74"/>
    <p:sldId id="1042" r:id="rId75"/>
    <p:sldId id="332" r:id="rId76"/>
    <p:sldId id="684" r:id="rId77"/>
    <p:sldId id="333" r:id="rId78"/>
    <p:sldId id="334" r:id="rId79"/>
    <p:sldId id="335" r:id="rId80"/>
    <p:sldId id="336" r:id="rId81"/>
    <p:sldId id="337" r:id="rId82"/>
    <p:sldId id="338" r:id="rId83"/>
    <p:sldId id="339" r:id="rId84"/>
    <p:sldId id="395" r:id="rId85"/>
    <p:sldId id="396" r:id="rId86"/>
    <p:sldId id="397" r:id="rId87"/>
    <p:sldId id="398" r:id="rId88"/>
    <p:sldId id="399" r:id="rId89"/>
    <p:sldId id="400" r:id="rId90"/>
    <p:sldId id="401" r:id="rId91"/>
    <p:sldId id="402" r:id="rId92"/>
    <p:sldId id="403" r:id="rId93"/>
    <p:sldId id="436" r:id="rId94"/>
    <p:sldId id="404" r:id="rId95"/>
    <p:sldId id="405" r:id="rId96"/>
    <p:sldId id="406" r:id="rId97"/>
    <p:sldId id="407" r:id="rId98"/>
    <p:sldId id="757" r:id="rId99"/>
    <p:sldId id="754" r:id="rId100"/>
    <p:sldId id="755" r:id="rId101"/>
    <p:sldId id="756" r:id="rId102"/>
    <p:sldId id="1124" r:id="rId103"/>
    <p:sldId id="341" r:id="rId104"/>
    <p:sldId id="342" r:id="rId105"/>
    <p:sldId id="417" r:id="rId106"/>
    <p:sldId id="418" r:id="rId107"/>
    <p:sldId id="423" r:id="rId108"/>
    <p:sldId id="424" r:id="rId109"/>
    <p:sldId id="425" r:id="rId110"/>
    <p:sldId id="420" r:id="rId111"/>
    <p:sldId id="426" r:id="rId112"/>
    <p:sldId id="427" r:id="rId113"/>
    <p:sldId id="1125" r:id="rId114"/>
    <p:sldId id="428" r:id="rId115"/>
    <p:sldId id="429" r:id="rId116"/>
    <p:sldId id="433" r:id="rId117"/>
    <p:sldId id="434" r:id="rId118"/>
    <p:sldId id="343" r:id="rId119"/>
    <p:sldId id="344" r:id="rId120"/>
    <p:sldId id="345" r:id="rId121"/>
    <p:sldId id="359" r:id="rId122"/>
    <p:sldId id="361" r:id="rId123"/>
    <p:sldId id="362" r:id="rId124"/>
    <p:sldId id="363" r:id="rId125"/>
    <p:sldId id="364" r:id="rId126"/>
    <p:sldId id="365" r:id="rId127"/>
    <p:sldId id="366" r:id="rId128"/>
    <p:sldId id="367" r:id="rId129"/>
    <p:sldId id="368" r:id="rId130"/>
    <p:sldId id="369" r:id="rId131"/>
    <p:sldId id="370" r:id="rId132"/>
    <p:sldId id="371" r:id="rId133"/>
    <p:sldId id="372" r:id="rId134"/>
    <p:sldId id="373" r:id="rId135"/>
    <p:sldId id="374" r:id="rId136"/>
    <p:sldId id="375" r:id="rId137"/>
    <p:sldId id="376" r:id="rId138"/>
    <p:sldId id="377" r:id="rId139"/>
    <p:sldId id="378" r:id="rId140"/>
    <p:sldId id="379" r:id="rId141"/>
    <p:sldId id="380" r:id="rId142"/>
    <p:sldId id="381" r:id="rId143"/>
    <p:sldId id="347" r:id="rId144"/>
    <p:sldId id="348" r:id="rId145"/>
    <p:sldId id="349" r:id="rId146"/>
    <p:sldId id="430" r:id="rId147"/>
    <p:sldId id="431" r:id="rId148"/>
    <p:sldId id="432" r:id="rId149"/>
    <p:sldId id="435" r:id="rId150"/>
    <p:sldId id="1123" r:id="rId151"/>
    <p:sldId id="1046" r:id="rId152"/>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5">
          <p15:clr>
            <a:srgbClr val="A4A3A4"/>
          </p15:clr>
        </p15:guide>
        <p15:guide id="2" pos="3167">
          <p15:clr>
            <a:srgbClr val="A4A3A4"/>
          </p15:clr>
        </p15:guide>
      </p15:sldGuideLst>
    </p:ext>
    <p:ext uri="{2D200454-40CA-4A62-9FC3-DE9A4176ACB9}">
      <p15:notesGuideLst xmlns:p15="http://schemas.microsoft.com/office/powerpoint/2012/main">
        <p15:guide id="1" orient="horz" pos="2922">
          <p15:clr>
            <a:srgbClr val="A4A3A4"/>
          </p15:clr>
        </p15:guide>
        <p15:guide id="2" pos="22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66FF66"/>
    <a:srgbClr val="0000CC"/>
    <a:srgbClr val="0000FF"/>
    <a:srgbClr val="FF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06" autoAdjust="0"/>
    <p:restoredTop sz="88929" autoAdjust="0"/>
  </p:normalViewPr>
  <p:slideViewPr>
    <p:cSldViewPr>
      <p:cViewPr varScale="1">
        <p:scale>
          <a:sx n="111" d="100"/>
          <a:sy n="111" d="100"/>
        </p:scale>
        <p:origin x="1200" y="101"/>
      </p:cViewPr>
      <p:guideLst>
        <p:guide orient="horz" pos="2155"/>
        <p:guide pos="3167"/>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2"/>
        <p:guide pos="2241"/>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handoutMaster" Target="handoutMasters/handout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E4C64EE1-592A-45A9-9E8D-8A110C604C90}"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8DA2099C-E03D-4BEA-80BD-EC59252D8E32}"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baike.baidu.com/item/%E5%A4%A7%E6%95%B0%E6%8D%AE/1356941" TargetMode="External"/><Relationship Id="rId13" Type="http://schemas.openxmlformats.org/officeDocument/2006/relationships/hyperlink" Target="https://baike.baidu.com/item/%E4%BA%92%E8%81%94%E7%BD%91%E9%87%91%E8%9E%8D/7040983" TargetMode="External"/><Relationship Id="rId3" Type="http://schemas.openxmlformats.org/officeDocument/2006/relationships/hyperlink" Target="https://baike.baidu.com/item/%E9%A9%AC%E5%8C%96%E8%85%BE" TargetMode="External"/><Relationship Id="rId7" Type="http://schemas.openxmlformats.org/officeDocument/2006/relationships/hyperlink" Target="https://baike.baidu.com/item/%E4%BA%91%E8%AE%A1%E7%AE%97" TargetMode="External"/><Relationship Id="rId12" Type="http://schemas.openxmlformats.org/officeDocument/2006/relationships/hyperlink" Target="https://baike.baidu.com/item/%E5%B7%A5%E4%B8%9A%E4%BA%92%E8%81%94%E7%BD%91"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baike.baidu.com/item/%E2%80%9C%E4%BA%92%E8%81%94%E7%BD%91+%E2%80%9D%E8%A1%8C%E5%8A%A8%E8%AE%A1%E5%88%92" TargetMode="External"/><Relationship Id="rId11" Type="http://schemas.openxmlformats.org/officeDocument/2006/relationships/hyperlink" Target="https://baike.baidu.com/item/%E7%94%B5%E5%AD%90%E5%95%86%E5%8A%A1" TargetMode="External"/><Relationship Id="rId5" Type="http://schemas.openxmlformats.org/officeDocument/2006/relationships/hyperlink" Target="https://baike.baidu.com/item/%E6%9D%8E%E5%85%8B%E5%BC%BA" TargetMode="External"/><Relationship Id="rId10" Type="http://schemas.openxmlformats.org/officeDocument/2006/relationships/hyperlink" Target="https://baike.baidu.com/item/%E7%8E%B0%E4%BB%A3%E5%88%B6%E9%80%A0%E4%B8%9A" TargetMode="External"/><Relationship Id="rId4" Type="http://schemas.openxmlformats.org/officeDocument/2006/relationships/hyperlink" Target="https://baike.baidu.com/item/%E5%9B%BD%E5%AE%B6%E6%88%98%E7%95%A5" TargetMode="External"/><Relationship Id="rId9" Type="http://schemas.openxmlformats.org/officeDocument/2006/relationships/hyperlink" Target="https://baike.baidu.com/item/%E7%89%A9%E8%81%94%E7%BD%91"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396C443-04BC-4639-B5F7-E14A7E3E0041}" type="slidenum">
              <a:rPr lang="zh-CN" altLang="en-US"/>
              <a:t>1</a:t>
            </a:fld>
            <a:endParaRPr lang="en-US" altLang="zh-CN"/>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p:txBody>
          <a:bodyPr/>
          <a:lstStyle/>
          <a:p>
            <a:r>
              <a:rPr lang="zh-CN" altLang="en-US" dirty="0"/>
              <a:t>概述</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A2099C-E03D-4BEA-80BD-EC59252D8E32}" type="slidenum">
              <a:rPr lang="zh-CN" altLang="en-US" smtClean="0"/>
              <a:t>3</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A2099C-E03D-4BEA-80BD-EC59252D8E32}" type="slidenum">
              <a:rPr lang="zh-CN" altLang="en-US" smtClean="0"/>
              <a:t>15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宋体" panose="02010600030101010101" pitchFamily="2" charset="-122"/>
                <a:ea typeface="宋体" panose="02010600030101010101" pitchFamily="2" charset="-122"/>
                <a:cs typeface="+mn-cs"/>
              </a:rPr>
              <a:t>2015</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年</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3</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月，全国两会上，全国人大代表</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3"/>
              </a:rPr>
              <a:t>马化腾</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提交了</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关于以“互联网</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为驱动，推进我国经济社会创新发展的建议</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的议案，表达了对经济社会创新的建议和看法。他呼吁，我们需要持续以“互联网</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为驱动，鼓励产业创新、促进跨界融合、惠及社会民生，推动我国经济和社会的创新发展。马化腾表示，“互联网</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是指利用互联网的平台、信息通信技术把互联网和包括传统行业在内的各行各业结合起来，从而在新领域创造一种新生态。他希望这种生态战略能够被国家采纳，成为</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4"/>
              </a:rPr>
              <a:t>国家战略</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baseline="30000" dirty="0">
                <a:solidFill>
                  <a:schemeClr val="tx1"/>
                </a:solidFill>
                <a:effectLst/>
                <a:latin typeface="宋体" panose="02010600030101010101" pitchFamily="2" charset="-122"/>
                <a:ea typeface="宋体" panose="02010600030101010101" pitchFamily="2" charset="-122"/>
                <a:cs typeface="+mn-cs"/>
              </a:rPr>
              <a:t> </a:t>
            </a:r>
            <a:r>
              <a:rPr lang="en-US" altLang="zh-CN" sz="1200" b="0" i="0" kern="1200" baseline="30000" dirty="0">
                <a:solidFill>
                  <a:schemeClr val="tx1"/>
                </a:solidFill>
                <a:effectLst/>
                <a:latin typeface="宋体" panose="02010600030101010101" pitchFamily="2" charset="-122"/>
                <a:ea typeface="宋体" panose="02010600030101010101" pitchFamily="2" charset="-122"/>
                <a:cs typeface="+mn-cs"/>
              </a:rPr>
              <a:t>[6]</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rPr>
              <a:t> </a:t>
            </a:r>
            <a:endParaRPr lang="zh-CN" altLang="en-US" sz="1200" b="0" i="0" kern="1200" dirty="0">
              <a:solidFill>
                <a:schemeClr val="tx1"/>
              </a:solidFill>
              <a:effectLst/>
              <a:latin typeface="宋体" panose="02010600030101010101" pitchFamily="2" charset="-122"/>
              <a:ea typeface="宋体" panose="02010600030101010101" pitchFamily="2" charset="-122"/>
              <a:cs typeface="+mn-cs"/>
            </a:endParaRPr>
          </a:p>
          <a:p>
            <a:r>
              <a:rPr lang="en-US" altLang="zh-CN" sz="1200" b="0" i="0" kern="1200" dirty="0">
                <a:solidFill>
                  <a:schemeClr val="tx1"/>
                </a:solidFill>
                <a:effectLst/>
                <a:latin typeface="宋体" panose="02010600030101010101" pitchFamily="2" charset="-122"/>
                <a:ea typeface="宋体" panose="02010600030101010101" pitchFamily="2" charset="-122"/>
                <a:cs typeface="+mn-cs"/>
              </a:rPr>
              <a:t>2015</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年</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3</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月</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5</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日上午十二届全国人大三次会议上，</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5"/>
              </a:rPr>
              <a:t>李克强</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总理在政府工作报告中首次提出“互联网</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行动计划。李克强在政府工作报告中提出，“制定</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6"/>
              </a:rPr>
              <a:t>“互联网</a:t>
            </a:r>
            <a:r>
              <a:rPr lang="en-US" altLang="zh-CN"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6"/>
              </a:rPr>
              <a:t>+”</a:t>
            </a:r>
            <a:r>
              <a:rPr lang="zh-CN" altLang="en-US" sz="1200" b="1" i="0" u="none" strike="noStrike" kern="1200" dirty="0">
                <a:solidFill>
                  <a:schemeClr val="tx1"/>
                </a:solidFill>
                <a:effectLst/>
                <a:latin typeface="宋体" panose="02010600030101010101" pitchFamily="2" charset="-122"/>
                <a:ea typeface="宋体" panose="02010600030101010101" pitchFamily="2" charset="-122"/>
                <a:cs typeface="+mn-cs"/>
                <a:hlinkClick r:id="rId6"/>
              </a:rPr>
              <a:t>行动计划</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，推动移动互联网、</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7"/>
              </a:rPr>
              <a:t>云计算</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8"/>
              </a:rPr>
              <a:t>大数据</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9"/>
              </a:rPr>
              <a:t>物联网</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等与</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10"/>
              </a:rPr>
              <a:t>现代制造业</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结合，促进</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11"/>
              </a:rPr>
              <a:t>电子商务</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12"/>
              </a:rPr>
              <a:t>工业互联网</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和</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hlinkClick r:id="rId13"/>
              </a:rPr>
              <a:t>互联网金融</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a:t>
            </a:r>
            <a:r>
              <a:rPr lang="en-US" altLang="zh-CN" sz="1200" b="0" i="0" kern="1200" dirty="0">
                <a:solidFill>
                  <a:schemeClr val="tx1"/>
                </a:solidFill>
                <a:effectLst/>
                <a:latin typeface="宋体" panose="02010600030101010101" pitchFamily="2" charset="-122"/>
                <a:ea typeface="宋体" panose="02010600030101010101" pitchFamily="2" charset="-122"/>
                <a:cs typeface="+mn-cs"/>
              </a:rPr>
              <a:t>ITFIN</a:t>
            </a:r>
            <a:r>
              <a:rPr lang="zh-CN" altLang="en-US" sz="1200" b="0" i="0" kern="1200" dirty="0">
                <a:solidFill>
                  <a:schemeClr val="tx1"/>
                </a:solidFill>
                <a:effectLst/>
                <a:latin typeface="宋体" panose="02010600030101010101" pitchFamily="2" charset="-122"/>
                <a:ea typeface="宋体" panose="02010600030101010101" pitchFamily="2" charset="-122"/>
                <a:cs typeface="+mn-cs"/>
              </a:rPr>
              <a:t>）健康发展，引导互联网企业拓展国际市场。”</a:t>
            </a:r>
            <a:r>
              <a:rPr lang="zh-CN" altLang="en-US" sz="1200" b="0" i="0" kern="1200" baseline="30000" dirty="0">
                <a:solidFill>
                  <a:schemeClr val="tx1"/>
                </a:solidFill>
                <a:effectLst/>
                <a:latin typeface="宋体" panose="02010600030101010101" pitchFamily="2" charset="-122"/>
                <a:ea typeface="宋体" panose="02010600030101010101" pitchFamily="2" charset="-122"/>
                <a:cs typeface="+mn-cs"/>
              </a:rPr>
              <a:t> </a:t>
            </a:r>
            <a:r>
              <a:rPr lang="en-US" altLang="zh-CN" sz="1200" b="0" i="0" kern="1200" baseline="30000" dirty="0">
                <a:solidFill>
                  <a:schemeClr val="tx1"/>
                </a:solidFill>
                <a:effectLst/>
                <a:latin typeface="宋体" panose="02010600030101010101" pitchFamily="2" charset="-122"/>
                <a:ea typeface="宋体" panose="02010600030101010101" pitchFamily="2" charset="-122"/>
                <a:cs typeface="+mn-cs"/>
              </a:rPr>
              <a:t>[3]</a:t>
            </a:r>
            <a:r>
              <a:rPr lang="zh-CN" altLang="en-US" sz="1200" b="0" i="0" u="none" strike="noStrike" kern="1200" dirty="0">
                <a:solidFill>
                  <a:schemeClr val="tx1"/>
                </a:solidFill>
                <a:effectLst/>
                <a:latin typeface="宋体" panose="02010600030101010101" pitchFamily="2" charset="-122"/>
                <a:ea typeface="宋体" panose="02010600030101010101" pitchFamily="2" charset="-122"/>
                <a:cs typeface="+mn-cs"/>
              </a:rPr>
              <a:t> </a:t>
            </a:r>
            <a:endParaRPr lang="zh-CN" altLang="en-US" sz="1200" b="0" i="0" kern="1200" dirty="0">
              <a:solidFill>
                <a:schemeClr val="tx1"/>
              </a:solidFill>
              <a:effectLst/>
              <a:latin typeface="宋体" panose="02010600030101010101" pitchFamily="2" charset="-122"/>
              <a:ea typeface="宋体" panose="02010600030101010101" pitchFamily="2" charset="-122"/>
              <a:cs typeface="+mn-cs"/>
            </a:endParaRPr>
          </a:p>
          <a:p>
            <a:pPr marL="0" marR="0" indent="0" algn="l" defTabSz="914400" rtl="0" eaLnBrk="1" fontAlgn="base" latinLnBrk="0" hangingPunct="1">
              <a:lnSpc>
                <a:spcPct val="100000"/>
              </a:lnSpc>
              <a:spcBef>
                <a:spcPct val="30000"/>
              </a:spcBef>
              <a:spcAft>
                <a:spcPct val="0"/>
              </a:spcAft>
              <a:buClrTx/>
              <a:buSzTx/>
              <a:buFontTx/>
              <a:buNone/>
              <a:defRPr/>
            </a:pP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DA2099C-E03D-4BEA-80BD-EC59252D8E32}" type="slidenum">
              <a:rPr lang="zh-CN" altLang="en-US" smtClean="0"/>
              <a:t>16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1F4740B-8717-423A-A154-2F468A31106C}" type="slidenum">
              <a:rPr lang="en-US" altLang="zh-CN"/>
              <a:t>20</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F6F8AF1-78D2-4088-8685-D3872DBCFFE3}" type="slidenum">
              <a:rPr lang="en-US" altLang="zh-CN"/>
              <a:t>23</a:t>
            </a:fld>
            <a:endParaRPr lang="en-US" altLang="zh-CN"/>
          </a:p>
        </p:txBody>
      </p:sp>
      <p:sp>
        <p:nvSpPr>
          <p:cNvPr id="305154" name="Rectangle 2"/>
          <p:cNvSpPr>
            <a:spLocks noGrp="1" noRot="1" noChangeAspect="1" noChangeArrowheads="1" noTextEdit="1"/>
          </p:cNvSpPr>
          <p:nvPr>
            <p:ph type="sldImg"/>
          </p:nvPr>
        </p:nvSpPr>
        <p:spPr/>
      </p:sp>
      <p:sp>
        <p:nvSpPr>
          <p:cNvPr id="305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F6F8AF1-78D2-4088-8685-D3872DBCFFE3}" type="slidenum">
              <a:rPr lang="en-US" altLang="zh-CN"/>
              <a:t>24</a:t>
            </a:fld>
            <a:endParaRPr lang="en-US" altLang="zh-CN"/>
          </a:p>
        </p:txBody>
      </p:sp>
      <p:sp>
        <p:nvSpPr>
          <p:cNvPr id="305154" name="Rectangle 2"/>
          <p:cNvSpPr>
            <a:spLocks noGrp="1" noRot="1" noChangeAspect="1" noChangeArrowheads="1" noTextEdit="1"/>
          </p:cNvSpPr>
          <p:nvPr>
            <p:ph type="sldImg"/>
          </p:nvPr>
        </p:nvSpPr>
        <p:spPr/>
      </p:sp>
      <p:sp>
        <p:nvSpPr>
          <p:cNvPr id="305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682DC04-060A-4333-91EC-476ECF23B24D}" type="slidenum">
              <a:rPr lang="en-US" altLang="zh-CN"/>
              <a:t>25</a:t>
            </a:fld>
            <a:endParaRPr lang="en-US" altLang="zh-CN"/>
          </a:p>
        </p:txBody>
      </p:sp>
      <p:sp>
        <p:nvSpPr>
          <p:cNvPr id="397314" name="Rectangle 2"/>
          <p:cNvSpPr>
            <a:spLocks noGrp="1" noRot="1" noChangeAspect="1" noChangeArrowheads="1" noTextEdit="1"/>
          </p:cNvSpPr>
          <p:nvPr>
            <p:ph type="sldImg"/>
          </p:nvPr>
        </p:nvSpPr>
        <p:spPr/>
      </p:sp>
      <p:sp>
        <p:nvSpPr>
          <p:cNvPr id="3973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857AC52-D1C3-48EC-A81E-8D01F3F62898}" type="slidenum">
              <a:rPr lang="en-US" altLang="zh-CN"/>
              <a:t>27</a:t>
            </a:fld>
            <a:endParaRPr lang="en-US" altLang="zh-CN"/>
          </a:p>
        </p:txBody>
      </p:sp>
      <p:sp>
        <p:nvSpPr>
          <p:cNvPr id="317442" name="Rectangle 2"/>
          <p:cNvSpPr>
            <a:spLocks noGrp="1" noRot="1" noChangeAspect="1" noChangeArrowheads="1" noTextEdit="1"/>
          </p:cNvSpPr>
          <p:nvPr>
            <p:ph type="sldImg"/>
          </p:nvPr>
        </p:nvSpPr>
        <p:spPr/>
      </p:sp>
      <p:sp>
        <p:nvSpPr>
          <p:cNvPr id="317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DF7DA4-D68C-44C0-B9F1-6162F9407AA6}" type="slidenum">
              <a:rPr lang="en-US" altLang="zh-CN"/>
              <a:t>28</a:t>
            </a:fld>
            <a:endParaRPr lang="en-US" altLang="zh-CN"/>
          </a:p>
        </p:txBody>
      </p:sp>
      <p:sp>
        <p:nvSpPr>
          <p:cNvPr id="319490" name="Rectangle 2"/>
          <p:cNvSpPr>
            <a:spLocks noGrp="1" noRot="1" noChangeAspect="1" noChangeArrowheads="1" noTextEdit="1"/>
          </p:cNvSpPr>
          <p:nvPr>
            <p:ph type="sldImg"/>
          </p:nvPr>
        </p:nvSpPr>
        <p:spPr/>
      </p:sp>
      <p:sp>
        <p:nvSpPr>
          <p:cNvPr id="319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E2A80B3-C0A5-413B-893E-AEC8AE2A60F3}" type="slidenum">
              <a:rPr lang="en-US" altLang="zh-CN"/>
              <a:t>32</a:t>
            </a:fld>
            <a:endParaRPr lang="en-US" altLang="zh-CN"/>
          </a:p>
        </p:txBody>
      </p:sp>
      <p:sp>
        <p:nvSpPr>
          <p:cNvPr id="327682" name="Rectangle 2"/>
          <p:cNvSpPr>
            <a:spLocks noGrp="1" noRot="1" noChangeAspect="1" noChangeArrowheads="1" noTextEdit="1"/>
          </p:cNvSpPr>
          <p:nvPr>
            <p:ph type="sldImg"/>
          </p:nvPr>
        </p:nvSpPr>
        <p:spPr/>
      </p:sp>
      <p:sp>
        <p:nvSpPr>
          <p:cNvPr id="327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1E3C24-B2DE-474F-9D4E-5031B58F49A3}" type="slidenum">
              <a:rPr lang="en-US" altLang="zh-CN"/>
              <a:t>33</a:t>
            </a:fld>
            <a:endParaRPr lang="en-US" altLang="zh-CN"/>
          </a:p>
        </p:txBody>
      </p:sp>
      <p:sp>
        <p:nvSpPr>
          <p:cNvPr id="329730" name="Rectangle 2"/>
          <p:cNvSpPr>
            <a:spLocks noGrp="1" noRot="1" noChangeAspect="1" noChangeArrowheads="1" noTextEdit="1"/>
          </p:cNvSpPr>
          <p:nvPr>
            <p:ph type="sldImg"/>
          </p:nvPr>
        </p:nvSpPr>
        <p:spPr/>
      </p:sp>
      <p:sp>
        <p:nvSpPr>
          <p:cNvPr id="329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03F02B4-BF08-4FFA-9A60-301F9E595FC1}" type="slidenum">
              <a:rPr lang="en-US" altLang="zh-CN"/>
              <a:t>34</a:t>
            </a:fld>
            <a:endParaRPr lang="en-US" altLang="zh-CN"/>
          </a:p>
        </p:txBody>
      </p:sp>
      <p:sp>
        <p:nvSpPr>
          <p:cNvPr id="331778" name="Rectangle 2"/>
          <p:cNvSpPr>
            <a:spLocks noGrp="1" noRot="1" noChangeAspect="1" noChangeArrowheads="1" noTextEdit="1"/>
          </p:cNvSpPr>
          <p:nvPr>
            <p:ph type="sldImg"/>
          </p:nvPr>
        </p:nvSpPr>
        <p:spPr/>
      </p:sp>
      <p:sp>
        <p:nvSpPr>
          <p:cNvPr id="331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03F02B4-BF08-4FFA-9A60-301F9E595FC1}" type="slidenum">
              <a:rPr lang="en-US" altLang="zh-CN"/>
              <a:t>35</a:t>
            </a:fld>
            <a:endParaRPr lang="en-US" altLang="zh-CN"/>
          </a:p>
        </p:txBody>
      </p:sp>
      <p:sp>
        <p:nvSpPr>
          <p:cNvPr id="331778" name="Rectangle 2"/>
          <p:cNvSpPr>
            <a:spLocks noGrp="1" noRot="1" noChangeAspect="1" noChangeArrowheads="1" noTextEdit="1"/>
          </p:cNvSpPr>
          <p:nvPr>
            <p:ph type="sldImg"/>
          </p:nvPr>
        </p:nvSpPr>
        <p:spPr/>
      </p:sp>
      <p:sp>
        <p:nvSpPr>
          <p:cNvPr id="331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B0153AC-7D3C-4E63-ABF1-831CDADCC2CA}" type="slidenum">
              <a:rPr lang="en-US" altLang="zh-CN"/>
              <a:t>36</a:t>
            </a:fld>
            <a:endParaRPr lang="en-US" altLang="zh-CN"/>
          </a:p>
        </p:txBody>
      </p:sp>
      <p:sp>
        <p:nvSpPr>
          <p:cNvPr id="333826" name="Rectangle 2"/>
          <p:cNvSpPr>
            <a:spLocks noGrp="1" noRot="1" noChangeAspect="1" noChangeArrowheads="1" noTextEdit="1"/>
          </p:cNvSpPr>
          <p:nvPr>
            <p:ph type="sldImg"/>
          </p:nvPr>
        </p:nvSpPr>
        <p:spPr/>
      </p:sp>
      <p:sp>
        <p:nvSpPr>
          <p:cNvPr id="3338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1851235-BE85-4B90-B8D9-72D2F36701A4}" type="slidenum">
              <a:rPr lang="en-US" altLang="zh-CN"/>
              <a:t>37</a:t>
            </a:fld>
            <a:endParaRPr lang="en-US" altLang="zh-CN"/>
          </a:p>
        </p:txBody>
      </p:sp>
      <p:sp>
        <p:nvSpPr>
          <p:cNvPr id="345090" name="Rectangle 2"/>
          <p:cNvSpPr>
            <a:spLocks noGrp="1" noRot="1" noChangeAspect="1" noChangeArrowheads="1" noTextEdit="1"/>
          </p:cNvSpPr>
          <p:nvPr>
            <p:ph type="sldImg"/>
          </p:nvPr>
        </p:nvSpPr>
        <p:spPr/>
      </p:sp>
      <p:sp>
        <p:nvSpPr>
          <p:cNvPr id="3450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648F961-5313-4AFB-B385-855AF8B683DC}" type="slidenum">
              <a:rPr lang="en-US" altLang="zh-CN"/>
              <a:t>38</a:t>
            </a:fld>
            <a:endParaRPr lang="en-US" altLang="zh-CN"/>
          </a:p>
        </p:txBody>
      </p:sp>
      <p:sp>
        <p:nvSpPr>
          <p:cNvPr id="346114" name="Rectangle 2"/>
          <p:cNvSpPr>
            <a:spLocks noGrp="1" noRot="1" noChangeAspect="1" noChangeArrowheads="1" noTextEdit="1"/>
          </p:cNvSpPr>
          <p:nvPr>
            <p:ph type="sldImg"/>
          </p:nvPr>
        </p:nvSpPr>
        <p:spPr/>
      </p:sp>
      <p:sp>
        <p:nvSpPr>
          <p:cNvPr id="346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0D77C8D-EFA3-4FC1-901C-C373B1E4C9E5}" type="slidenum">
              <a:rPr lang="en-US" altLang="zh-CN"/>
              <a:t>39</a:t>
            </a:fld>
            <a:endParaRPr lang="en-US" altLang="zh-CN"/>
          </a:p>
        </p:txBody>
      </p:sp>
      <p:sp>
        <p:nvSpPr>
          <p:cNvPr id="339970" name="Rectangle 2"/>
          <p:cNvSpPr>
            <a:spLocks noGrp="1" noRot="1" noChangeAspect="1" noChangeArrowheads="1" noTextEdit="1"/>
          </p:cNvSpPr>
          <p:nvPr>
            <p:ph type="sldImg"/>
          </p:nvPr>
        </p:nvSpPr>
        <p:spPr/>
      </p:sp>
      <p:sp>
        <p:nvSpPr>
          <p:cNvPr id="339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2C16872-0AE9-4F3F-AD21-1B5FC4BDA1AA}" type="slidenum">
              <a:rPr lang="en-US" altLang="zh-CN"/>
              <a:t>40</a:t>
            </a:fld>
            <a:endParaRPr lang="en-US" altLang="zh-CN"/>
          </a:p>
        </p:txBody>
      </p:sp>
      <p:sp>
        <p:nvSpPr>
          <p:cNvPr id="342018" name="Rectangle 2"/>
          <p:cNvSpPr>
            <a:spLocks noGrp="1" noRot="1" noChangeAspect="1" noChangeArrowheads="1" noTextEdit="1"/>
          </p:cNvSpPr>
          <p:nvPr>
            <p:ph type="sldImg"/>
          </p:nvPr>
        </p:nvSpPr>
        <p:spPr/>
      </p:sp>
      <p:sp>
        <p:nvSpPr>
          <p:cNvPr id="342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C1D802A-9949-43DE-A3F8-40C41E9B677D}" type="slidenum">
              <a:rPr lang="en-US" altLang="zh-CN"/>
              <a:t>41</a:t>
            </a:fld>
            <a:endParaRPr lang="en-US" altLang="zh-CN"/>
          </a:p>
        </p:txBody>
      </p:sp>
      <p:sp>
        <p:nvSpPr>
          <p:cNvPr id="350210" name="Rectangle 2"/>
          <p:cNvSpPr>
            <a:spLocks noGrp="1" noRot="1" noChangeAspect="1" noChangeArrowheads="1" noTextEdit="1"/>
          </p:cNvSpPr>
          <p:nvPr>
            <p:ph type="sldImg"/>
          </p:nvPr>
        </p:nvSpPr>
        <p:spPr/>
      </p:sp>
      <p:sp>
        <p:nvSpPr>
          <p:cNvPr id="3502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FC5ADF6-5157-479A-913E-0CAFC747B65A}" type="slidenum">
              <a:rPr lang="en-US" altLang="zh-CN"/>
              <a:t>42</a:t>
            </a:fld>
            <a:endParaRPr lang="en-US" altLang="zh-CN"/>
          </a:p>
        </p:txBody>
      </p:sp>
      <p:sp>
        <p:nvSpPr>
          <p:cNvPr id="351234" name="Rectangle 2"/>
          <p:cNvSpPr>
            <a:spLocks noGrp="1" noRot="1" noChangeAspect="1" noChangeArrowheads="1" noTextEdit="1"/>
          </p:cNvSpPr>
          <p:nvPr>
            <p:ph type="sldImg"/>
          </p:nvPr>
        </p:nvSpPr>
        <p:spPr/>
      </p:sp>
      <p:sp>
        <p:nvSpPr>
          <p:cNvPr id="3512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CBCB99F-07E3-4992-9D17-385D5D716B0D}" type="slidenum">
              <a:rPr lang="en-US" altLang="zh-CN"/>
              <a:t>43</a:t>
            </a:fld>
            <a:endParaRPr lang="en-US" altLang="zh-CN"/>
          </a:p>
        </p:txBody>
      </p:sp>
      <p:sp>
        <p:nvSpPr>
          <p:cNvPr id="352258" name="Rectangle 2"/>
          <p:cNvSpPr>
            <a:spLocks noGrp="1" noRot="1" noChangeAspect="1" noChangeArrowheads="1" noTextEdit="1"/>
          </p:cNvSpPr>
          <p:nvPr>
            <p:ph type="sldImg"/>
          </p:nvPr>
        </p:nvSpPr>
        <p:spPr/>
      </p:sp>
      <p:sp>
        <p:nvSpPr>
          <p:cNvPr id="352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BE0ED5-0D77-46BF-8F16-43D6C728B48A}" type="slidenum">
              <a:rPr lang="en-US" altLang="zh-CN"/>
              <a:t>44</a:t>
            </a:fld>
            <a:endParaRPr lang="en-US" altLang="zh-CN"/>
          </a:p>
        </p:txBody>
      </p:sp>
      <p:sp>
        <p:nvSpPr>
          <p:cNvPr id="354306" name="Rectangle 2"/>
          <p:cNvSpPr>
            <a:spLocks noGrp="1" noRot="1" noChangeAspect="1" noChangeArrowheads="1" noTextEdit="1"/>
          </p:cNvSpPr>
          <p:nvPr>
            <p:ph type="sldImg"/>
          </p:nvPr>
        </p:nvSpPr>
        <p:spPr/>
      </p:sp>
      <p:sp>
        <p:nvSpPr>
          <p:cNvPr id="354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7BE0ED5-0D77-46BF-8F16-43D6C728B48A}" type="slidenum">
              <a:rPr lang="en-US" altLang="zh-CN"/>
              <a:t>45</a:t>
            </a:fld>
            <a:endParaRPr lang="en-US" altLang="zh-CN"/>
          </a:p>
        </p:txBody>
      </p:sp>
      <p:sp>
        <p:nvSpPr>
          <p:cNvPr id="354306" name="Rectangle 2"/>
          <p:cNvSpPr>
            <a:spLocks noGrp="1" noRot="1" noChangeAspect="1" noChangeArrowheads="1" noTextEdit="1"/>
          </p:cNvSpPr>
          <p:nvPr>
            <p:ph type="sldImg"/>
          </p:nvPr>
        </p:nvSpPr>
        <p:spPr/>
      </p:sp>
      <p:sp>
        <p:nvSpPr>
          <p:cNvPr id="354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4C5DD5A-299F-4462-8D7C-6EE537579D72}" type="slidenum">
              <a:rPr lang="en-US" altLang="zh-CN"/>
              <a:t>46</a:t>
            </a:fld>
            <a:endParaRPr lang="en-US" altLang="zh-CN"/>
          </a:p>
        </p:txBody>
      </p:sp>
      <p:sp>
        <p:nvSpPr>
          <p:cNvPr id="187394" name="Rectangle 2"/>
          <p:cNvSpPr>
            <a:spLocks noGrp="1" noRot="1" noChangeAspect="1" noChangeArrowheads="1" noTextEdit="1"/>
          </p:cNvSpPr>
          <p:nvPr>
            <p:ph type="sldImg"/>
          </p:nvPr>
        </p:nvSpPr>
        <p:spPr/>
      </p:sp>
      <p:sp>
        <p:nvSpPr>
          <p:cNvPr id="1873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4C5DD5A-299F-4462-8D7C-6EE537579D72}" type="slidenum">
              <a:rPr lang="en-US" altLang="zh-CN"/>
              <a:t>47</a:t>
            </a:fld>
            <a:endParaRPr lang="en-US" altLang="zh-CN"/>
          </a:p>
        </p:txBody>
      </p:sp>
      <p:sp>
        <p:nvSpPr>
          <p:cNvPr id="187394" name="Rectangle 2"/>
          <p:cNvSpPr>
            <a:spLocks noGrp="1" noRot="1" noChangeAspect="1" noChangeArrowheads="1" noTextEdit="1"/>
          </p:cNvSpPr>
          <p:nvPr>
            <p:ph type="sldImg"/>
          </p:nvPr>
        </p:nvSpPr>
        <p:spPr/>
      </p:sp>
      <p:sp>
        <p:nvSpPr>
          <p:cNvPr id="1873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4C5DD5A-299F-4462-8D7C-6EE537579D72}" type="slidenum">
              <a:rPr lang="en-US" altLang="zh-CN"/>
              <a:t>48</a:t>
            </a:fld>
            <a:endParaRPr lang="en-US" altLang="zh-CN"/>
          </a:p>
        </p:txBody>
      </p:sp>
      <p:sp>
        <p:nvSpPr>
          <p:cNvPr id="187394" name="Rectangle 2"/>
          <p:cNvSpPr>
            <a:spLocks noGrp="1" noRot="1" noChangeAspect="1" noChangeArrowheads="1" noTextEdit="1"/>
          </p:cNvSpPr>
          <p:nvPr>
            <p:ph type="sldImg"/>
          </p:nvPr>
        </p:nvSpPr>
        <p:spPr/>
      </p:sp>
      <p:sp>
        <p:nvSpPr>
          <p:cNvPr id="187395"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D47FF53-B6BC-4FB0-B8C0-889A8A60AD40}" type="slidenum">
              <a:rPr lang="en-US" altLang="zh-CN"/>
              <a:t>49</a:t>
            </a:fld>
            <a:endParaRPr lang="en-US" altLang="zh-CN"/>
          </a:p>
        </p:txBody>
      </p:sp>
      <p:sp>
        <p:nvSpPr>
          <p:cNvPr id="189442" name="Rectangle 2"/>
          <p:cNvSpPr>
            <a:spLocks noGrp="1" noRot="1" noChangeAspect="1" noChangeArrowheads="1" noTextEdit="1"/>
          </p:cNvSpPr>
          <p:nvPr>
            <p:ph type="sldImg"/>
          </p:nvPr>
        </p:nvSpPr>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D6764D3-A62A-4B8A-9354-DC552765430B}" type="slidenum">
              <a:rPr lang="en-US" altLang="zh-CN"/>
              <a:t>50</a:t>
            </a:fld>
            <a:endParaRPr lang="en-US" altLang="zh-CN"/>
          </a:p>
        </p:txBody>
      </p:sp>
      <p:sp>
        <p:nvSpPr>
          <p:cNvPr id="190466" name="Rectangle 2"/>
          <p:cNvSpPr>
            <a:spLocks noGrp="1" noRot="1" noChangeAspect="1" noChangeArrowheads="1" noTextEdit="1"/>
          </p:cNvSpPr>
          <p:nvPr>
            <p:ph type="sldImg"/>
          </p:nvPr>
        </p:nvSpPr>
        <p:spPr/>
      </p:sp>
      <p:sp>
        <p:nvSpPr>
          <p:cNvPr id="190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6677FC5-2808-4AB1-B8E5-92ACB335AB22}" type="slidenum">
              <a:rPr lang="en-US" altLang="zh-CN"/>
              <a:t>51</a:t>
            </a:fld>
            <a:endParaRPr lang="en-US" altLang="zh-CN"/>
          </a:p>
        </p:txBody>
      </p:sp>
      <p:sp>
        <p:nvSpPr>
          <p:cNvPr id="191490" name="Rectangle 2"/>
          <p:cNvSpPr>
            <a:spLocks noGrp="1" noRot="1" noChangeAspect="1" noChangeArrowheads="1" noTextEdit="1"/>
          </p:cNvSpPr>
          <p:nvPr>
            <p:ph type="sldImg"/>
          </p:nvPr>
        </p:nvSpPr>
        <p:spPr/>
      </p:sp>
      <p:sp>
        <p:nvSpPr>
          <p:cNvPr id="191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C336F7C-A9A7-4153-AED7-75B3E6122C85}" type="slidenum">
              <a:rPr lang="en-US" altLang="zh-CN"/>
              <a:t>52</a:t>
            </a:fld>
            <a:endParaRPr lang="en-US" altLang="zh-CN"/>
          </a:p>
        </p:txBody>
      </p:sp>
      <p:sp>
        <p:nvSpPr>
          <p:cNvPr id="192514" name="Rectangle 2"/>
          <p:cNvSpPr>
            <a:spLocks noGrp="1" noRot="1" noChangeAspect="1" noChangeArrowheads="1" noTextEdit="1"/>
          </p:cNvSpPr>
          <p:nvPr>
            <p:ph type="sldImg"/>
          </p:nvPr>
        </p:nvSpPr>
        <p:spPr/>
      </p:sp>
      <p:sp>
        <p:nvSpPr>
          <p:cNvPr id="1925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2885278-4DED-493A-B33A-67310273D1EE}" type="slidenum">
              <a:rPr lang="en-US" altLang="zh-CN"/>
              <a:t>53</a:t>
            </a:fld>
            <a:endParaRPr lang="en-US" altLang="zh-CN"/>
          </a:p>
        </p:txBody>
      </p:sp>
      <p:sp>
        <p:nvSpPr>
          <p:cNvPr id="195586" name="Rectangle 2"/>
          <p:cNvSpPr>
            <a:spLocks noGrp="1" noRot="1" noChangeAspect="1" noChangeArrowheads="1" noTextEdit="1"/>
          </p:cNvSpPr>
          <p:nvPr>
            <p:ph type="sldImg"/>
          </p:nvPr>
        </p:nvSpPr>
        <p:spPr/>
      </p:sp>
      <p:sp>
        <p:nvSpPr>
          <p:cNvPr id="195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8D5A29-2F5D-41A7-AF3A-75D7D8FE468F}" type="slidenum">
              <a:rPr lang="en-US" altLang="zh-CN"/>
              <a:t>54</a:t>
            </a:fld>
            <a:endParaRPr lang="en-US" altLang="zh-CN"/>
          </a:p>
        </p:txBody>
      </p:sp>
      <p:sp>
        <p:nvSpPr>
          <p:cNvPr id="196610" name="Rectangle 2"/>
          <p:cNvSpPr>
            <a:spLocks noGrp="1" noRot="1" noChangeAspect="1" noChangeArrowheads="1" noTextEdit="1"/>
          </p:cNvSpPr>
          <p:nvPr>
            <p:ph type="sldImg"/>
          </p:nvPr>
        </p:nvSpPr>
        <p:spPr/>
      </p:sp>
      <p:sp>
        <p:nvSpPr>
          <p:cNvPr id="1966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E092731-3ABC-4926-BA92-1BAEB626A87B}" type="slidenum">
              <a:rPr lang="en-US" altLang="zh-CN"/>
              <a:t>55</a:t>
            </a:fld>
            <a:endParaRPr lang="en-US" altLang="zh-CN"/>
          </a:p>
        </p:txBody>
      </p:sp>
      <p:sp>
        <p:nvSpPr>
          <p:cNvPr id="197634" name="Rectangle 2"/>
          <p:cNvSpPr>
            <a:spLocks noGrp="1" noRot="1" noChangeAspect="1" noChangeArrowheads="1" noTextEdit="1"/>
          </p:cNvSpPr>
          <p:nvPr>
            <p:ph type="sldImg"/>
          </p:nvPr>
        </p:nvSpPr>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B2025CE-B141-4D8D-BF96-772BCABB2584}" type="slidenum">
              <a:rPr lang="en-US" altLang="zh-CN"/>
              <a:t>56</a:t>
            </a:fld>
            <a:endParaRPr lang="en-US" altLang="zh-CN"/>
          </a:p>
        </p:txBody>
      </p:sp>
      <p:sp>
        <p:nvSpPr>
          <p:cNvPr id="198658" name="Rectangle 2"/>
          <p:cNvSpPr>
            <a:spLocks noGrp="1" noRot="1" noChangeAspect="1" noChangeArrowheads="1" noTextEdit="1"/>
          </p:cNvSpPr>
          <p:nvPr>
            <p:ph type="sldImg"/>
          </p:nvPr>
        </p:nvSpPr>
        <p:spPr/>
      </p:sp>
      <p:sp>
        <p:nvSpPr>
          <p:cNvPr id="1986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93A8EAE-5D91-4B84-84CC-A90E0ADE1D9A}" type="slidenum">
              <a:rPr lang="en-US" altLang="zh-CN"/>
              <a:t>57</a:t>
            </a:fld>
            <a:endParaRPr lang="en-US" altLang="zh-CN"/>
          </a:p>
        </p:txBody>
      </p:sp>
      <p:sp>
        <p:nvSpPr>
          <p:cNvPr id="199682" name="Rectangle 2"/>
          <p:cNvSpPr>
            <a:spLocks noGrp="1" noRot="1" noChangeAspect="1" noChangeArrowheads="1" noTextEdit="1"/>
          </p:cNvSpPr>
          <p:nvPr>
            <p:ph type="sldImg"/>
          </p:nvPr>
        </p:nvSpPr>
        <p:spPr/>
      </p:sp>
      <p:sp>
        <p:nvSpPr>
          <p:cNvPr id="199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5CE9527-F50F-48E9-864F-0C8ADC158468}" type="slidenum">
              <a:rPr lang="en-US" altLang="zh-CN"/>
              <a:t>58</a:t>
            </a:fld>
            <a:endParaRPr lang="en-US" altLang="zh-CN"/>
          </a:p>
        </p:txBody>
      </p:sp>
      <p:sp>
        <p:nvSpPr>
          <p:cNvPr id="200706" name="Rectangle 2"/>
          <p:cNvSpPr>
            <a:spLocks noGrp="1" noRot="1" noChangeAspect="1" noChangeArrowheads="1" noTextEdit="1"/>
          </p:cNvSpPr>
          <p:nvPr>
            <p:ph type="sldImg"/>
          </p:nvPr>
        </p:nvSpPr>
        <p:spPr/>
      </p:sp>
      <p:sp>
        <p:nvSpPr>
          <p:cNvPr id="200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E485C10-0077-49D1-BD9A-717FCEBBB4EE}" type="slidenum">
              <a:rPr lang="en-US" altLang="zh-CN"/>
              <a:t>59</a:t>
            </a:fld>
            <a:endParaRPr lang="en-US" altLang="zh-CN"/>
          </a:p>
        </p:txBody>
      </p:sp>
      <p:sp>
        <p:nvSpPr>
          <p:cNvPr id="363522" name="Rectangle 2"/>
          <p:cNvSpPr>
            <a:spLocks noGrp="1" noRot="1" noChangeAspect="1" noChangeArrowheads="1" noTextEdit="1"/>
          </p:cNvSpPr>
          <p:nvPr>
            <p:ph type="sldImg"/>
          </p:nvPr>
        </p:nvSpPr>
        <p:spPr/>
      </p:sp>
      <p:sp>
        <p:nvSpPr>
          <p:cNvPr id="3635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3D47C55-2FFF-454B-8B9A-6E04F90AB220}" type="slidenum">
              <a:rPr lang="en-US" altLang="zh-CN"/>
              <a:t>60</a:t>
            </a:fld>
            <a:endParaRPr lang="en-US" altLang="zh-CN"/>
          </a:p>
        </p:txBody>
      </p:sp>
      <p:sp>
        <p:nvSpPr>
          <p:cNvPr id="364546" name="Rectangle 2"/>
          <p:cNvSpPr>
            <a:spLocks noGrp="1" noRot="1" noChangeAspect="1" noChangeArrowheads="1" noTextEdit="1"/>
          </p:cNvSpPr>
          <p:nvPr>
            <p:ph type="sldImg"/>
          </p:nvPr>
        </p:nvSpPr>
        <p:spPr/>
      </p:sp>
      <p:sp>
        <p:nvSpPr>
          <p:cNvPr id="3645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FB1E307-0AAA-4342-A048-505FBB1C239F}" type="slidenum">
              <a:rPr lang="en-US" altLang="zh-CN"/>
              <a:t>61</a:t>
            </a:fld>
            <a:endParaRPr lang="en-US" altLang="zh-CN"/>
          </a:p>
        </p:txBody>
      </p:sp>
      <p:sp>
        <p:nvSpPr>
          <p:cNvPr id="366594" name="Rectangle 2"/>
          <p:cNvSpPr>
            <a:spLocks noGrp="1" noRot="1" noChangeAspect="1" noChangeArrowheads="1" noTextEdit="1"/>
          </p:cNvSpPr>
          <p:nvPr>
            <p:ph type="sldImg"/>
          </p:nvPr>
        </p:nvSpPr>
        <p:spPr/>
      </p:sp>
      <p:sp>
        <p:nvSpPr>
          <p:cNvPr id="366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ADC2940-E125-42C9-A015-95CE0A84BA77}" type="slidenum">
              <a:rPr lang="en-US" altLang="zh-CN"/>
              <a:t>62</a:t>
            </a:fld>
            <a:endParaRPr lang="en-US" altLang="zh-CN"/>
          </a:p>
        </p:txBody>
      </p:sp>
      <p:sp>
        <p:nvSpPr>
          <p:cNvPr id="201730" name="Rectangle 2"/>
          <p:cNvSpPr>
            <a:spLocks noGrp="1" noRot="1" noChangeAspect="1" noChangeArrowheads="1" noTextEdit="1"/>
          </p:cNvSpPr>
          <p:nvPr>
            <p:ph type="sldImg"/>
          </p:nvPr>
        </p:nvSpPr>
        <p:spPr/>
      </p:sp>
      <p:sp>
        <p:nvSpPr>
          <p:cNvPr id="201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AE1E114-D161-47FC-AD88-E383143AD4D6}" type="slidenum">
              <a:rPr lang="en-US" altLang="zh-CN"/>
              <a:t>63</a:t>
            </a:fld>
            <a:endParaRPr lang="en-US" altLang="zh-CN"/>
          </a:p>
        </p:txBody>
      </p:sp>
      <p:sp>
        <p:nvSpPr>
          <p:cNvPr id="202754" name="Rectangle 2"/>
          <p:cNvSpPr>
            <a:spLocks noGrp="1" noRot="1" noChangeAspect="1" noChangeArrowheads="1" noTextEdit="1"/>
          </p:cNvSpPr>
          <p:nvPr>
            <p:ph type="sldImg"/>
          </p:nvPr>
        </p:nvSpPr>
        <p:spPr/>
      </p:sp>
      <p:sp>
        <p:nvSpPr>
          <p:cNvPr id="202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1AB164B-68BA-4FD1-BFFB-593EE20E3A01}" type="slidenum">
              <a:rPr lang="en-US" altLang="zh-CN"/>
              <a:t>64</a:t>
            </a:fld>
            <a:endParaRPr lang="en-US" altLang="zh-CN"/>
          </a:p>
        </p:txBody>
      </p:sp>
      <p:sp>
        <p:nvSpPr>
          <p:cNvPr id="204802" name="Rectangle 2"/>
          <p:cNvSpPr>
            <a:spLocks noGrp="1" noRot="1" noChangeAspect="1" noChangeArrowheads="1" noTextEdit="1"/>
          </p:cNvSpPr>
          <p:nvPr>
            <p:ph type="sldImg"/>
          </p:nvPr>
        </p:nvSpPr>
        <p:spPr/>
      </p:sp>
      <p:sp>
        <p:nvSpPr>
          <p:cNvPr id="204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28B8A24-F9C8-42C7-8A70-70CEE7EA191D}" type="slidenum">
              <a:rPr lang="en-US" altLang="zh-CN"/>
              <a:t>65</a:t>
            </a:fld>
            <a:endParaRPr lang="en-US" altLang="zh-CN"/>
          </a:p>
        </p:txBody>
      </p:sp>
      <p:sp>
        <p:nvSpPr>
          <p:cNvPr id="206850" name="Rectangle 2"/>
          <p:cNvSpPr>
            <a:spLocks noGrp="1" noRot="1" noChangeAspect="1" noChangeArrowheads="1" noTextEdit="1"/>
          </p:cNvSpPr>
          <p:nvPr>
            <p:ph type="sldImg"/>
          </p:nvPr>
        </p:nvSpPr>
        <p:spPr/>
      </p:sp>
      <p:sp>
        <p:nvSpPr>
          <p:cNvPr id="206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583F115-D9E6-4D85-B891-ACF2EDAA160E}" type="slidenum">
              <a:rPr lang="en-US" altLang="zh-CN"/>
              <a:t>66</a:t>
            </a:fld>
            <a:endParaRPr lang="en-US" altLang="zh-CN"/>
          </a:p>
        </p:txBody>
      </p:sp>
      <p:sp>
        <p:nvSpPr>
          <p:cNvPr id="207874" name="Rectangle 2"/>
          <p:cNvSpPr>
            <a:spLocks noGrp="1" noRot="1" noChangeAspect="1" noChangeArrowheads="1" noTextEdit="1"/>
          </p:cNvSpPr>
          <p:nvPr>
            <p:ph type="sldImg"/>
          </p:nvPr>
        </p:nvSpPr>
        <p:spPr/>
      </p:sp>
      <p:sp>
        <p:nvSpPr>
          <p:cNvPr id="207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6127587-F175-449A-801A-8F78200B8152}" type="slidenum">
              <a:rPr lang="en-US" altLang="zh-CN"/>
              <a:t>67</a:t>
            </a:fld>
            <a:endParaRPr lang="en-US" altLang="zh-CN"/>
          </a:p>
        </p:txBody>
      </p:sp>
      <p:sp>
        <p:nvSpPr>
          <p:cNvPr id="208898" name="Rectangle 2"/>
          <p:cNvSpPr>
            <a:spLocks noGrp="1" noRot="1" noChangeAspect="1" noChangeArrowheads="1" noTextEdit="1"/>
          </p:cNvSpPr>
          <p:nvPr>
            <p:ph type="sldImg"/>
          </p:nvPr>
        </p:nvSpPr>
        <p:spPr/>
      </p:sp>
      <p:sp>
        <p:nvSpPr>
          <p:cNvPr id="208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E0EAA12-D355-4362-AB0E-81E5FDB943A9}" type="slidenum">
              <a:rPr lang="en-US" altLang="zh-CN"/>
              <a:t>68</a:t>
            </a:fld>
            <a:endParaRPr lang="en-US" altLang="zh-CN"/>
          </a:p>
        </p:txBody>
      </p:sp>
      <p:sp>
        <p:nvSpPr>
          <p:cNvPr id="209922" name="Rectangle 2"/>
          <p:cNvSpPr>
            <a:spLocks noGrp="1" noRot="1" noChangeAspect="1" noChangeArrowheads="1" noTextEdit="1"/>
          </p:cNvSpPr>
          <p:nvPr>
            <p:ph type="sldImg"/>
          </p:nvPr>
        </p:nvSpPr>
        <p:spPr/>
      </p:sp>
      <p:sp>
        <p:nvSpPr>
          <p:cNvPr id="209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883E107-570B-46DF-A5E5-8030F34D4458}" type="slidenum">
              <a:rPr lang="en-US" altLang="zh-CN"/>
              <a:t>78</a:t>
            </a:fld>
            <a:endParaRPr lang="en-US" altLang="zh-CN"/>
          </a:p>
        </p:txBody>
      </p:sp>
      <p:sp>
        <p:nvSpPr>
          <p:cNvPr id="225282" name="Rectangle 2"/>
          <p:cNvSpPr>
            <a:spLocks noGrp="1" noRot="1" noChangeAspect="1" noChangeArrowheads="1" noTextEdit="1"/>
          </p:cNvSpPr>
          <p:nvPr>
            <p:ph type="sldImg"/>
          </p:nvPr>
        </p:nvSpPr>
        <p:spPr/>
      </p:sp>
      <p:sp>
        <p:nvSpPr>
          <p:cNvPr id="2252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883E107-570B-46DF-A5E5-8030F34D4458}" type="slidenum">
              <a:rPr lang="en-US" altLang="zh-CN"/>
              <a:t>79</a:t>
            </a:fld>
            <a:endParaRPr lang="en-US" altLang="zh-CN"/>
          </a:p>
        </p:txBody>
      </p:sp>
      <p:sp>
        <p:nvSpPr>
          <p:cNvPr id="225282" name="Rectangle 2"/>
          <p:cNvSpPr>
            <a:spLocks noGrp="1" noRot="1" noChangeAspect="1" noChangeArrowheads="1" noTextEdit="1"/>
          </p:cNvSpPr>
          <p:nvPr>
            <p:ph type="sldImg"/>
          </p:nvPr>
        </p:nvSpPr>
        <p:spPr/>
      </p:sp>
      <p:sp>
        <p:nvSpPr>
          <p:cNvPr id="2252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736B3BC-51B1-4B04-9A42-62DAE4C32B5E}" type="slidenum">
              <a:rPr lang="en-US" altLang="zh-CN"/>
              <a:t>80</a:t>
            </a:fld>
            <a:endParaRPr lang="en-US" altLang="zh-CN"/>
          </a:p>
        </p:txBody>
      </p:sp>
      <p:sp>
        <p:nvSpPr>
          <p:cNvPr id="227330" name="Rectangle 2"/>
          <p:cNvSpPr>
            <a:spLocks noGrp="1" noRot="1" noChangeAspect="1" noChangeArrowheads="1" noTextEdit="1"/>
          </p:cNvSpPr>
          <p:nvPr>
            <p:ph type="sldImg"/>
          </p:nvPr>
        </p:nvSpPr>
        <p:spPr/>
      </p:sp>
      <p:sp>
        <p:nvSpPr>
          <p:cNvPr id="227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736B3BC-51B1-4B04-9A42-62DAE4C32B5E}" type="slidenum">
              <a:rPr lang="en-US" altLang="zh-CN"/>
              <a:t>81</a:t>
            </a:fld>
            <a:endParaRPr lang="en-US" altLang="zh-CN"/>
          </a:p>
        </p:txBody>
      </p:sp>
      <p:sp>
        <p:nvSpPr>
          <p:cNvPr id="227330" name="Rectangle 2"/>
          <p:cNvSpPr>
            <a:spLocks noGrp="1" noRot="1" noChangeAspect="1" noChangeArrowheads="1" noTextEdit="1"/>
          </p:cNvSpPr>
          <p:nvPr>
            <p:ph type="sldImg"/>
          </p:nvPr>
        </p:nvSpPr>
        <p:spPr/>
      </p:sp>
      <p:sp>
        <p:nvSpPr>
          <p:cNvPr id="227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D5244FC-F90C-4ABE-BF34-B8442F8279E1}" type="slidenum">
              <a:rPr lang="en-US" altLang="zh-CN"/>
              <a:t>82</a:t>
            </a:fld>
            <a:endParaRPr lang="en-US" altLang="zh-CN"/>
          </a:p>
        </p:txBody>
      </p:sp>
      <p:sp>
        <p:nvSpPr>
          <p:cNvPr id="229378" name="Rectangle 2"/>
          <p:cNvSpPr>
            <a:spLocks noGrp="1" noRot="1" noChangeAspect="1" noChangeArrowheads="1" noTextEdit="1"/>
          </p:cNvSpPr>
          <p:nvPr>
            <p:ph type="sldImg"/>
          </p:nvPr>
        </p:nvSpPr>
        <p:spPr/>
      </p:sp>
      <p:sp>
        <p:nvSpPr>
          <p:cNvPr id="229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FB136E5-549C-438D-97E5-2E907A7F0731}" type="slidenum">
              <a:rPr lang="en-US" altLang="zh-CN"/>
              <a:t>83</a:t>
            </a:fld>
            <a:endParaRPr lang="en-US" altLang="zh-CN"/>
          </a:p>
        </p:txBody>
      </p:sp>
      <p:sp>
        <p:nvSpPr>
          <p:cNvPr id="377858" name="Rectangle 2"/>
          <p:cNvSpPr>
            <a:spLocks noGrp="1" noRot="1" noChangeAspect="1" noChangeArrowheads="1" noTextEdit="1"/>
          </p:cNvSpPr>
          <p:nvPr>
            <p:ph type="sldImg"/>
          </p:nvPr>
        </p:nvSpPr>
        <p:spPr/>
      </p:sp>
      <p:sp>
        <p:nvSpPr>
          <p:cNvPr id="3778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CE87EC8-B378-4B6D-8827-87FA1C22091C}" type="slidenum">
              <a:rPr lang="en-US" altLang="zh-CN"/>
              <a:t>86</a:t>
            </a:fld>
            <a:endParaRPr lang="en-US" altLang="zh-CN"/>
          </a:p>
        </p:txBody>
      </p:sp>
      <p:sp>
        <p:nvSpPr>
          <p:cNvPr id="230402" name="Rectangle 2"/>
          <p:cNvSpPr>
            <a:spLocks noGrp="1" noRot="1" noChangeAspect="1" noChangeArrowheads="1" noTextEdit="1"/>
          </p:cNvSpPr>
          <p:nvPr>
            <p:ph type="sldImg"/>
          </p:nvPr>
        </p:nvSpPr>
        <p:spPr/>
      </p:sp>
      <p:sp>
        <p:nvSpPr>
          <p:cNvPr id="230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A833EC6-C4F3-487C-ABAA-F4A85115DD85}" type="slidenum">
              <a:rPr lang="en-US" altLang="zh-CN"/>
              <a:t>87</a:t>
            </a:fld>
            <a:endParaRPr lang="en-US" altLang="zh-CN"/>
          </a:p>
        </p:txBody>
      </p:sp>
      <p:sp>
        <p:nvSpPr>
          <p:cNvPr id="378882" name="Rectangle 2"/>
          <p:cNvSpPr>
            <a:spLocks noGrp="1" noRot="1" noChangeAspect="1" noChangeArrowheads="1" noTextEdit="1"/>
          </p:cNvSpPr>
          <p:nvPr>
            <p:ph type="sldImg"/>
          </p:nvPr>
        </p:nvSpPr>
        <p:spPr/>
      </p:sp>
      <p:sp>
        <p:nvSpPr>
          <p:cNvPr id="3788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F5C1CA0-D570-404B-9C46-DBA3355A574A}" type="slidenum">
              <a:rPr lang="en-US" altLang="zh-CN"/>
              <a:t>88</a:t>
            </a:fld>
            <a:endParaRPr lang="en-US" altLang="zh-CN"/>
          </a:p>
        </p:txBody>
      </p:sp>
      <p:sp>
        <p:nvSpPr>
          <p:cNvPr id="232450" name="Rectangle 2"/>
          <p:cNvSpPr>
            <a:spLocks noGrp="1" noRot="1" noChangeAspect="1" noChangeArrowheads="1" noTextEdit="1"/>
          </p:cNvSpPr>
          <p:nvPr>
            <p:ph type="sldImg"/>
          </p:nvPr>
        </p:nvSpPr>
        <p:spPr/>
      </p:sp>
      <p:sp>
        <p:nvSpPr>
          <p:cNvPr id="2324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A4C91FE-31F0-4314-95CA-68F3B5AAB424}" type="slidenum">
              <a:rPr lang="en-US" altLang="zh-CN"/>
              <a:t>89</a:t>
            </a:fld>
            <a:endParaRPr lang="en-US" altLang="zh-CN"/>
          </a:p>
        </p:txBody>
      </p:sp>
      <p:sp>
        <p:nvSpPr>
          <p:cNvPr id="380930" name="Rectangle 2"/>
          <p:cNvSpPr>
            <a:spLocks noGrp="1" noRot="1" noChangeAspect="1" noChangeArrowheads="1" noTextEdit="1"/>
          </p:cNvSpPr>
          <p:nvPr>
            <p:ph type="sldImg"/>
          </p:nvPr>
        </p:nvSpPr>
        <p:spPr/>
      </p:sp>
      <p:sp>
        <p:nvSpPr>
          <p:cNvPr id="380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A9E0011-1584-46E1-924A-4B0214494036}" type="slidenum">
              <a:rPr lang="en-US" altLang="zh-CN"/>
              <a:t>91</a:t>
            </a:fld>
            <a:endParaRPr lang="en-US" altLang="zh-CN"/>
          </a:p>
        </p:txBody>
      </p:sp>
      <p:sp>
        <p:nvSpPr>
          <p:cNvPr id="233474" name="Rectangle 2"/>
          <p:cNvSpPr>
            <a:spLocks noGrp="1" noRot="1" noChangeAspect="1" noChangeArrowheads="1" noTextEdit="1"/>
          </p:cNvSpPr>
          <p:nvPr>
            <p:ph type="sldImg"/>
          </p:nvPr>
        </p:nvSpPr>
        <p:spPr/>
      </p:sp>
      <p:sp>
        <p:nvSpPr>
          <p:cNvPr id="2334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D6EF9E2-FF6F-4C53-87E4-8461E5DD1E07}" type="slidenum">
              <a:rPr lang="en-US" altLang="zh-CN"/>
              <a:t>92</a:t>
            </a:fld>
            <a:endParaRPr lang="en-US" altLang="zh-CN"/>
          </a:p>
        </p:txBody>
      </p:sp>
      <p:sp>
        <p:nvSpPr>
          <p:cNvPr id="234498" name="Rectangle 2"/>
          <p:cNvSpPr>
            <a:spLocks noGrp="1" noRot="1" noChangeAspect="1" noChangeArrowheads="1" noTextEdit="1"/>
          </p:cNvSpPr>
          <p:nvPr>
            <p:ph type="sldImg"/>
          </p:nvPr>
        </p:nvSpPr>
        <p:spPr/>
      </p:sp>
      <p:sp>
        <p:nvSpPr>
          <p:cNvPr id="2344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A78289B-38DA-4EDB-B4CE-606DE8339B31}" type="slidenum">
              <a:rPr lang="en-US" altLang="zh-CN"/>
              <a:t>96</a:t>
            </a:fld>
            <a:endParaRPr lang="en-US" altLang="zh-CN"/>
          </a:p>
        </p:txBody>
      </p:sp>
      <p:sp>
        <p:nvSpPr>
          <p:cNvPr id="237570" name="Rectangle 2"/>
          <p:cNvSpPr>
            <a:spLocks noGrp="1" noRot="1" noChangeAspect="1" noChangeArrowheads="1" noTextEdit="1"/>
          </p:cNvSpPr>
          <p:nvPr>
            <p:ph type="sldImg"/>
          </p:nvPr>
        </p:nvSpPr>
        <p:spPr/>
      </p:sp>
      <p:sp>
        <p:nvSpPr>
          <p:cNvPr id="237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AEADE02-BD4D-477A-A66B-EE16B3824D0F}" type="slidenum">
              <a:rPr lang="en-US" altLang="zh-CN"/>
              <a:t>97</a:t>
            </a:fld>
            <a:endParaRPr lang="en-US" altLang="zh-CN"/>
          </a:p>
        </p:txBody>
      </p:sp>
      <p:sp>
        <p:nvSpPr>
          <p:cNvPr id="238594" name="Rectangle 2"/>
          <p:cNvSpPr>
            <a:spLocks noGrp="1" noRot="1" noChangeAspect="1" noChangeArrowheads="1" noTextEdit="1"/>
          </p:cNvSpPr>
          <p:nvPr>
            <p:ph type="sldImg"/>
          </p:nvPr>
        </p:nvSpPr>
        <p:spPr/>
      </p:sp>
      <p:sp>
        <p:nvSpPr>
          <p:cNvPr id="238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6C6B84B-4AD7-4776-B0C4-EC45B172BB78}" type="slidenum">
              <a:rPr lang="en-US" altLang="zh-CN"/>
              <a:t>104</a:t>
            </a:fld>
            <a:endParaRPr lang="en-US" altLang="zh-CN"/>
          </a:p>
        </p:txBody>
      </p:sp>
      <p:sp>
        <p:nvSpPr>
          <p:cNvPr id="241666" name="Rectangle 2"/>
          <p:cNvSpPr>
            <a:spLocks noGrp="1" noRot="1" noChangeAspect="1" noChangeArrowheads="1" noTextEdit="1"/>
          </p:cNvSpPr>
          <p:nvPr>
            <p:ph type="sldImg"/>
          </p:nvPr>
        </p:nvSpPr>
        <p:spPr/>
      </p:sp>
      <p:sp>
        <p:nvSpPr>
          <p:cNvPr id="241667"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05DE623-3052-40A6-B78A-DD05A9E7D51E}" type="slidenum">
              <a:rPr lang="en-US" altLang="zh-CN"/>
              <a:t>108</a:t>
            </a:fld>
            <a:endParaRPr lang="en-US" altLang="zh-CN"/>
          </a:p>
        </p:txBody>
      </p:sp>
      <p:sp>
        <p:nvSpPr>
          <p:cNvPr id="246786" name="Rectangle 2"/>
          <p:cNvSpPr>
            <a:spLocks noGrp="1" noRot="1" noChangeAspect="1" noChangeArrowheads="1" noTextEdit="1"/>
          </p:cNvSpPr>
          <p:nvPr>
            <p:ph type="sldImg"/>
          </p:nvPr>
        </p:nvSpPr>
        <p:spPr/>
      </p:sp>
      <p:sp>
        <p:nvSpPr>
          <p:cNvPr id="246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9766728-B252-41C5-90E9-40B0C8966AF6}" type="slidenum">
              <a:rPr lang="en-US" altLang="zh-CN"/>
              <a:t>109</a:t>
            </a:fld>
            <a:endParaRPr lang="en-US" altLang="zh-CN"/>
          </a:p>
        </p:txBody>
      </p:sp>
      <p:sp>
        <p:nvSpPr>
          <p:cNvPr id="247810" name="Rectangle 2"/>
          <p:cNvSpPr>
            <a:spLocks noGrp="1" noRot="1" noChangeAspect="1" noChangeArrowheads="1" noTextEdit="1"/>
          </p:cNvSpPr>
          <p:nvPr>
            <p:ph type="sldImg"/>
          </p:nvPr>
        </p:nvSpPr>
        <p:spPr/>
      </p:sp>
      <p:sp>
        <p:nvSpPr>
          <p:cNvPr id="2478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D2ED36-0F65-45F1-9138-DE577447BBEC}" type="slidenum">
              <a:rPr lang="en-US" altLang="zh-CN"/>
              <a:t>110</a:t>
            </a:fld>
            <a:endParaRPr lang="en-US" altLang="zh-CN"/>
          </a:p>
        </p:txBody>
      </p:sp>
      <p:sp>
        <p:nvSpPr>
          <p:cNvPr id="250882" name="Rectangle 2"/>
          <p:cNvSpPr>
            <a:spLocks noGrp="1" noRot="1" noChangeAspect="1" noChangeArrowheads="1" noTextEdit="1"/>
          </p:cNvSpPr>
          <p:nvPr>
            <p:ph type="sldImg"/>
          </p:nvPr>
        </p:nvSpPr>
        <p:spPr/>
      </p:sp>
      <p:sp>
        <p:nvSpPr>
          <p:cNvPr id="2508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12EBD8F-6F19-4EFE-BF73-77BB26470F4E}" type="slidenum">
              <a:rPr lang="en-US" altLang="zh-CN"/>
              <a:t>111</a:t>
            </a:fld>
            <a:endParaRPr lang="en-US" altLang="zh-CN"/>
          </a:p>
        </p:txBody>
      </p:sp>
      <p:sp>
        <p:nvSpPr>
          <p:cNvPr id="252930" name="Rectangle 2"/>
          <p:cNvSpPr>
            <a:spLocks noGrp="1" noRot="1" noChangeAspect="1" noChangeArrowheads="1" noTextEdit="1"/>
          </p:cNvSpPr>
          <p:nvPr>
            <p:ph type="sldImg"/>
          </p:nvPr>
        </p:nvSpPr>
        <p:spPr/>
      </p:sp>
      <p:sp>
        <p:nvSpPr>
          <p:cNvPr id="252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12EBD8F-6F19-4EFE-BF73-77BB26470F4E}" type="slidenum">
              <a:rPr lang="en-US" altLang="zh-CN"/>
              <a:t>112</a:t>
            </a:fld>
            <a:endParaRPr lang="en-US" altLang="zh-CN"/>
          </a:p>
        </p:txBody>
      </p:sp>
      <p:sp>
        <p:nvSpPr>
          <p:cNvPr id="252930" name="Rectangle 2"/>
          <p:cNvSpPr>
            <a:spLocks noGrp="1" noRot="1" noChangeAspect="1" noChangeArrowheads="1" noTextEdit="1"/>
          </p:cNvSpPr>
          <p:nvPr>
            <p:ph type="sldImg"/>
          </p:nvPr>
        </p:nvSpPr>
        <p:spPr/>
      </p:sp>
      <p:sp>
        <p:nvSpPr>
          <p:cNvPr id="252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C3D3496-1C0A-4DF1-B1A8-F03A4FB43450}" type="slidenum">
              <a:rPr lang="en-US" altLang="zh-CN"/>
              <a:t>113</a:t>
            </a:fld>
            <a:endParaRPr lang="en-US" altLang="zh-CN"/>
          </a:p>
        </p:txBody>
      </p:sp>
      <p:sp>
        <p:nvSpPr>
          <p:cNvPr id="253954" name="Rectangle 2"/>
          <p:cNvSpPr>
            <a:spLocks noGrp="1" noRot="1" noChangeAspect="1" noChangeArrowheads="1" noTextEdit="1"/>
          </p:cNvSpPr>
          <p:nvPr>
            <p:ph type="sldImg"/>
          </p:nvPr>
        </p:nvSpPr>
        <p:spPr/>
      </p:sp>
      <p:sp>
        <p:nvSpPr>
          <p:cNvPr id="25395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6059367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8C734B4-1234-4A7E-8BA8-25A61A3CFC21}" type="slidenum">
              <a:rPr lang="en-US" altLang="zh-CN"/>
              <a:t>114</a:t>
            </a:fld>
            <a:endParaRPr lang="en-US" altLang="zh-CN"/>
          </a:p>
        </p:txBody>
      </p:sp>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BD700DA-426B-4B1B-99AA-F0433054AEAD}" type="slidenum">
              <a:rPr lang="en-US" altLang="zh-CN"/>
              <a:t>115</a:t>
            </a:fld>
            <a:endParaRPr lang="en-US" altLang="zh-CN"/>
          </a:p>
        </p:txBody>
      </p:sp>
      <p:sp>
        <p:nvSpPr>
          <p:cNvPr id="275458" name="Rectangle 2"/>
          <p:cNvSpPr>
            <a:spLocks noGrp="1" noRot="1" noChangeAspect="1" noChangeArrowheads="1" noTextEdit="1"/>
          </p:cNvSpPr>
          <p:nvPr>
            <p:ph type="sldImg"/>
          </p:nvPr>
        </p:nvSpPr>
        <p:spPr/>
      </p:sp>
      <p:sp>
        <p:nvSpPr>
          <p:cNvPr id="2754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8C734B4-1234-4A7E-8BA8-25A61A3CFC21}" type="slidenum">
              <a:rPr lang="en-US" altLang="zh-CN"/>
              <a:t>116</a:t>
            </a:fld>
            <a:endParaRPr lang="en-US" altLang="zh-CN"/>
          </a:p>
        </p:txBody>
      </p:sp>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8C734B4-1234-4A7E-8BA8-25A61A3CFC21}" type="slidenum">
              <a:rPr lang="en-US" altLang="zh-CN"/>
              <a:t>117</a:t>
            </a:fld>
            <a:endParaRPr lang="en-US" altLang="zh-CN"/>
          </a:p>
        </p:txBody>
      </p:sp>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6C6B84B-4AD7-4776-B0C4-EC45B172BB78}" type="slidenum">
              <a:rPr lang="en-US" altLang="zh-CN"/>
              <a:t>118</a:t>
            </a:fld>
            <a:endParaRPr lang="en-US" altLang="zh-CN"/>
          </a:p>
        </p:txBody>
      </p:sp>
      <p:sp>
        <p:nvSpPr>
          <p:cNvPr id="241666" name="Rectangle 2"/>
          <p:cNvSpPr>
            <a:spLocks noGrp="1" noRot="1" noChangeAspect="1" noChangeArrowheads="1" noTextEdit="1"/>
          </p:cNvSpPr>
          <p:nvPr>
            <p:ph type="sldImg"/>
          </p:nvPr>
        </p:nvSpPr>
        <p:spPr/>
      </p:sp>
      <p:sp>
        <p:nvSpPr>
          <p:cNvPr id="241667" name="Rectangle 3"/>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409848052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052210C-0E60-463B-AEBC-A1B179D74AD1}" type="slidenum">
              <a:rPr lang="en-US" altLang="zh-CN"/>
              <a:t>119</a:t>
            </a:fld>
            <a:endParaRPr lang="en-US" altLang="zh-CN"/>
          </a:p>
        </p:txBody>
      </p:sp>
      <p:sp>
        <p:nvSpPr>
          <p:cNvPr id="242690" name="Rectangle 2"/>
          <p:cNvSpPr>
            <a:spLocks noGrp="1" noRot="1" noChangeAspect="1" noChangeArrowheads="1" noTextEdit="1"/>
          </p:cNvSpPr>
          <p:nvPr>
            <p:ph type="sldImg"/>
          </p:nvPr>
        </p:nvSpPr>
        <p:spPr/>
      </p:sp>
      <p:sp>
        <p:nvSpPr>
          <p:cNvPr id="2426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8595774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052210C-0E60-463B-AEBC-A1B179D74AD1}" type="slidenum">
              <a:rPr lang="en-US" altLang="zh-CN"/>
              <a:t>120</a:t>
            </a:fld>
            <a:endParaRPr lang="en-US" altLang="zh-CN"/>
          </a:p>
        </p:txBody>
      </p:sp>
      <p:sp>
        <p:nvSpPr>
          <p:cNvPr id="242690" name="Rectangle 2"/>
          <p:cNvSpPr>
            <a:spLocks noGrp="1" noRot="1" noChangeAspect="1" noChangeArrowheads="1" noTextEdit="1"/>
          </p:cNvSpPr>
          <p:nvPr>
            <p:ph type="sldImg"/>
          </p:nvPr>
        </p:nvSpPr>
        <p:spPr/>
      </p:sp>
      <p:sp>
        <p:nvSpPr>
          <p:cNvPr id="2426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8888201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C3D3496-1C0A-4DF1-B1A8-F03A4FB43450}" type="slidenum">
              <a:rPr lang="en-US" altLang="zh-CN"/>
              <a:t>121</a:t>
            </a:fld>
            <a:endParaRPr lang="en-US" altLang="zh-CN"/>
          </a:p>
        </p:txBody>
      </p:sp>
      <p:sp>
        <p:nvSpPr>
          <p:cNvPr id="253954" name="Rectangle 2"/>
          <p:cNvSpPr>
            <a:spLocks noGrp="1" noRot="1" noChangeAspect="1" noChangeArrowheads="1" noTextEdit="1"/>
          </p:cNvSpPr>
          <p:nvPr>
            <p:ph type="sldImg"/>
          </p:nvPr>
        </p:nvSpPr>
        <p:spPr/>
      </p:sp>
      <p:sp>
        <p:nvSpPr>
          <p:cNvPr id="2539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8A304D7-8932-4204-86CF-52D51FB0CF1B}" type="slidenum">
              <a:rPr lang="en-US" altLang="zh-CN"/>
              <a:t>122</a:t>
            </a:fld>
            <a:endParaRPr lang="en-US" altLang="zh-CN"/>
          </a:p>
        </p:txBody>
      </p:sp>
      <p:sp>
        <p:nvSpPr>
          <p:cNvPr id="254978" name="Rectangle 2"/>
          <p:cNvSpPr>
            <a:spLocks noGrp="1" noRot="1" noChangeAspect="1" noChangeArrowheads="1" noTextEdit="1"/>
          </p:cNvSpPr>
          <p:nvPr>
            <p:ph type="sldImg"/>
          </p:nvPr>
        </p:nvSpPr>
        <p:spPr/>
      </p:sp>
      <p:sp>
        <p:nvSpPr>
          <p:cNvPr id="254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669EBC4-98E1-4732-88E6-9A292CD6315A}" type="slidenum">
              <a:rPr lang="en-US" altLang="zh-CN"/>
              <a:t>123</a:t>
            </a:fld>
            <a:endParaRPr lang="en-US" altLang="zh-CN"/>
          </a:p>
        </p:txBody>
      </p:sp>
      <p:sp>
        <p:nvSpPr>
          <p:cNvPr id="256002" name="Rectangle 2"/>
          <p:cNvSpPr>
            <a:spLocks noGrp="1" noRot="1" noChangeAspect="1" noChangeArrowheads="1" noTextEdit="1"/>
          </p:cNvSpPr>
          <p:nvPr>
            <p:ph type="sldImg"/>
          </p:nvPr>
        </p:nvSpPr>
        <p:spPr/>
      </p:sp>
      <p:sp>
        <p:nvSpPr>
          <p:cNvPr id="2560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9A2E044-7A5C-4215-ACC7-DFFEFAFA1A26}" type="slidenum">
              <a:rPr lang="en-US" altLang="zh-CN"/>
              <a:t>124</a:t>
            </a:fld>
            <a:endParaRPr lang="en-US" altLang="zh-CN"/>
          </a:p>
        </p:txBody>
      </p:sp>
      <p:sp>
        <p:nvSpPr>
          <p:cNvPr id="257026" name="Rectangle 2"/>
          <p:cNvSpPr>
            <a:spLocks noGrp="1" noRot="1" noChangeAspect="1" noChangeArrowheads="1" noTextEdit="1"/>
          </p:cNvSpPr>
          <p:nvPr>
            <p:ph type="sldImg"/>
          </p:nvPr>
        </p:nvSpPr>
        <p:spPr/>
      </p:sp>
      <p:sp>
        <p:nvSpPr>
          <p:cNvPr id="2570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A5815CA-0C9F-4C33-BCB1-3DA82C08D12E}" type="slidenum">
              <a:rPr lang="en-US" altLang="zh-CN"/>
              <a:t>125</a:t>
            </a:fld>
            <a:endParaRPr lang="en-US" altLang="zh-CN"/>
          </a:p>
        </p:txBody>
      </p:sp>
      <p:sp>
        <p:nvSpPr>
          <p:cNvPr id="258050" name="Rectangle 2"/>
          <p:cNvSpPr>
            <a:spLocks noGrp="1" noRot="1" noChangeAspect="1" noChangeArrowheads="1" noTextEdit="1"/>
          </p:cNvSpPr>
          <p:nvPr>
            <p:ph type="sldImg"/>
          </p:nvPr>
        </p:nvSpPr>
        <p:spPr/>
      </p:sp>
      <p:sp>
        <p:nvSpPr>
          <p:cNvPr id="2580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C185870-A4CF-41A3-9179-3D668E7E0155}" type="slidenum">
              <a:rPr lang="en-US" altLang="zh-CN"/>
              <a:t>126</a:t>
            </a:fld>
            <a:endParaRPr lang="en-US" altLang="zh-CN"/>
          </a:p>
        </p:txBody>
      </p:sp>
      <p:sp>
        <p:nvSpPr>
          <p:cNvPr id="259074" name="Rectangle 2"/>
          <p:cNvSpPr>
            <a:spLocks noGrp="1" noRot="1" noChangeAspect="1" noChangeArrowheads="1" noTextEdit="1"/>
          </p:cNvSpPr>
          <p:nvPr>
            <p:ph type="sldImg"/>
          </p:nvPr>
        </p:nvSpPr>
        <p:spPr/>
      </p:sp>
      <p:sp>
        <p:nvSpPr>
          <p:cNvPr id="2590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F5305F7-620A-43A4-9A8F-E6EE3074E54C}" type="slidenum">
              <a:rPr lang="en-US" altLang="zh-CN"/>
              <a:t>127</a:t>
            </a:fld>
            <a:endParaRPr lang="en-US" altLang="zh-CN"/>
          </a:p>
        </p:txBody>
      </p:sp>
      <p:sp>
        <p:nvSpPr>
          <p:cNvPr id="260098" name="Rectangle 2"/>
          <p:cNvSpPr>
            <a:spLocks noGrp="1" noRot="1" noChangeAspect="1" noChangeArrowheads="1" noTextEdit="1"/>
          </p:cNvSpPr>
          <p:nvPr>
            <p:ph type="sldImg"/>
          </p:nvPr>
        </p:nvSpPr>
        <p:spPr/>
      </p:sp>
      <p:sp>
        <p:nvSpPr>
          <p:cNvPr id="2600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DCEA96B-E657-40B4-AE3D-1C81E19DACCC}" type="slidenum">
              <a:rPr lang="en-US" altLang="zh-CN"/>
              <a:t>128</a:t>
            </a:fld>
            <a:endParaRPr lang="en-US" altLang="zh-CN"/>
          </a:p>
        </p:txBody>
      </p:sp>
      <p:sp>
        <p:nvSpPr>
          <p:cNvPr id="261122" name="Rectangle 2"/>
          <p:cNvSpPr>
            <a:spLocks noGrp="1" noRot="1" noChangeAspect="1" noChangeArrowheads="1" noTextEdit="1"/>
          </p:cNvSpPr>
          <p:nvPr>
            <p:ph type="sldImg"/>
          </p:nvPr>
        </p:nvSpPr>
        <p:spPr/>
      </p:sp>
      <p:sp>
        <p:nvSpPr>
          <p:cNvPr id="2611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99A4DC6-1A4D-4A11-9D75-22D803432468}" type="slidenum">
              <a:rPr lang="en-US" altLang="zh-CN"/>
              <a:t>129</a:t>
            </a:fld>
            <a:endParaRPr lang="en-US" altLang="zh-CN"/>
          </a:p>
        </p:txBody>
      </p:sp>
      <p:sp>
        <p:nvSpPr>
          <p:cNvPr id="262146" name="Rectangle 2"/>
          <p:cNvSpPr>
            <a:spLocks noGrp="1" noRot="1" noChangeAspect="1" noChangeArrowheads="1" noTextEdit="1"/>
          </p:cNvSpPr>
          <p:nvPr>
            <p:ph type="sldImg"/>
          </p:nvPr>
        </p:nvSpPr>
        <p:spPr/>
      </p:sp>
      <p:sp>
        <p:nvSpPr>
          <p:cNvPr id="2621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BA2B163-A93E-4B4D-BCA2-CFDE1658F4C0}" type="slidenum">
              <a:rPr lang="en-US" altLang="zh-CN"/>
              <a:t>130</a:t>
            </a:fld>
            <a:endParaRPr lang="en-US" altLang="zh-CN"/>
          </a:p>
        </p:txBody>
      </p:sp>
      <p:sp>
        <p:nvSpPr>
          <p:cNvPr id="263170" name="Rectangle 2"/>
          <p:cNvSpPr>
            <a:spLocks noGrp="1" noRot="1" noChangeAspect="1" noChangeArrowheads="1" noTextEdit="1"/>
          </p:cNvSpPr>
          <p:nvPr>
            <p:ph type="sldImg"/>
          </p:nvPr>
        </p:nvSpPr>
        <p:spPr/>
      </p:sp>
      <p:sp>
        <p:nvSpPr>
          <p:cNvPr id="2631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2F913F-A2E4-43E4-AD6D-49A1BF00F4BD}" type="slidenum">
              <a:rPr lang="en-US" altLang="zh-CN"/>
              <a:t>131</a:t>
            </a:fld>
            <a:endParaRPr lang="en-US" altLang="zh-CN"/>
          </a:p>
        </p:txBody>
      </p:sp>
      <p:sp>
        <p:nvSpPr>
          <p:cNvPr id="264194" name="Rectangle 2"/>
          <p:cNvSpPr>
            <a:spLocks noGrp="1" noRot="1" noChangeAspect="1" noChangeArrowheads="1" noTextEdit="1"/>
          </p:cNvSpPr>
          <p:nvPr>
            <p:ph type="sldImg"/>
          </p:nvPr>
        </p:nvSpPr>
        <p:spPr/>
      </p:sp>
      <p:sp>
        <p:nvSpPr>
          <p:cNvPr id="2641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B088012-BA83-446B-A7DE-C84285F2F0A6}" type="slidenum">
              <a:rPr lang="en-US" altLang="zh-CN"/>
              <a:t>132</a:t>
            </a:fld>
            <a:endParaRPr lang="en-US" altLang="zh-CN"/>
          </a:p>
        </p:txBody>
      </p:sp>
      <p:sp>
        <p:nvSpPr>
          <p:cNvPr id="265218" name="Rectangle 2"/>
          <p:cNvSpPr>
            <a:spLocks noGrp="1" noRot="1" noChangeAspect="1" noChangeArrowheads="1" noTextEdit="1"/>
          </p:cNvSpPr>
          <p:nvPr>
            <p:ph type="sldImg"/>
          </p:nvPr>
        </p:nvSpPr>
        <p:spPr/>
      </p:sp>
      <p:sp>
        <p:nvSpPr>
          <p:cNvPr id="2652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88DC558-AB38-4AE6-B606-53EB354F965C}" type="slidenum">
              <a:rPr lang="en-US" altLang="zh-CN"/>
              <a:t>133</a:t>
            </a:fld>
            <a:endParaRPr lang="en-US" altLang="zh-CN"/>
          </a:p>
        </p:txBody>
      </p:sp>
      <p:sp>
        <p:nvSpPr>
          <p:cNvPr id="266242" name="Rectangle 2"/>
          <p:cNvSpPr>
            <a:spLocks noGrp="1" noRot="1" noChangeAspect="1" noChangeArrowheads="1" noTextEdit="1"/>
          </p:cNvSpPr>
          <p:nvPr>
            <p:ph type="sldImg"/>
          </p:nvPr>
        </p:nvSpPr>
        <p:spPr/>
      </p:sp>
      <p:sp>
        <p:nvSpPr>
          <p:cNvPr id="2662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DE79B73-B8E0-482B-865A-0758133B536D}" type="slidenum">
              <a:rPr lang="en-US" altLang="zh-CN"/>
              <a:t>134</a:t>
            </a:fld>
            <a:endParaRPr lang="en-US" altLang="zh-CN"/>
          </a:p>
        </p:txBody>
      </p:sp>
      <p:sp>
        <p:nvSpPr>
          <p:cNvPr id="267266" name="Rectangle 2"/>
          <p:cNvSpPr>
            <a:spLocks noGrp="1" noRot="1" noChangeAspect="1" noChangeArrowheads="1" noTextEdit="1"/>
          </p:cNvSpPr>
          <p:nvPr>
            <p:ph type="sldImg"/>
          </p:nvPr>
        </p:nvSpPr>
        <p:spPr/>
      </p:sp>
      <p:sp>
        <p:nvSpPr>
          <p:cNvPr id="2672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283EE4E-517D-45E9-A0ED-D63996FA5A5B}" type="slidenum">
              <a:rPr lang="en-US" altLang="zh-CN"/>
              <a:t>135</a:t>
            </a:fld>
            <a:endParaRPr lang="en-US" altLang="zh-CN"/>
          </a:p>
        </p:txBody>
      </p:sp>
      <p:sp>
        <p:nvSpPr>
          <p:cNvPr id="268290" name="Rectangle 2"/>
          <p:cNvSpPr>
            <a:spLocks noGrp="1" noRot="1" noChangeAspect="1" noChangeArrowheads="1" noTextEdit="1"/>
          </p:cNvSpPr>
          <p:nvPr>
            <p:ph type="sldImg"/>
          </p:nvPr>
        </p:nvSpPr>
        <p:spPr/>
      </p:sp>
      <p:sp>
        <p:nvSpPr>
          <p:cNvPr id="2682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26D80B2-0670-4416-9043-2E0DC51C5AEF}" type="slidenum">
              <a:rPr lang="en-US" altLang="zh-CN"/>
              <a:t>136</a:t>
            </a:fld>
            <a:endParaRPr lang="en-US" altLang="zh-CN"/>
          </a:p>
        </p:txBody>
      </p:sp>
      <p:sp>
        <p:nvSpPr>
          <p:cNvPr id="269314" name="Rectangle 2"/>
          <p:cNvSpPr>
            <a:spLocks noGrp="1" noRot="1" noChangeAspect="1" noChangeArrowheads="1" noTextEdit="1"/>
          </p:cNvSpPr>
          <p:nvPr>
            <p:ph type="sldImg"/>
          </p:nvPr>
        </p:nvSpPr>
        <p:spPr/>
      </p:sp>
      <p:sp>
        <p:nvSpPr>
          <p:cNvPr id="2693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E9CE3AF-6B66-4E1B-8142-A7F4E39E268C}" type="slidenum">
              <a:rPr lang="en-US" altLang="zh-CN"/>
              <a:t>137</a:t>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653B78E-8CD2-4619-B242-A3DE5A5A2D59}" type="slidenum">
              <a:rPr lang="en-US" altLang="zh-CN"/>
              <a:t>138</a:t>
            </a:fld>
            <a:endParaRPr lang="en-US" altLang="zh-CN"/>
          </a:p>
        </p:txBody>
      </p:sp>
      <p:sp>
        <p:nvSpPr>
          <p:cNvPr id="271362" name="Rectangle 2"/>
          <p:cNvSpPr>
            <a:spLocks noGrp="1" noRot="1" noChangeAspect="1" noChangeArrowheads="1" noTextEdit="1"/>
          </p:cNvSpPr>
          <p:nvPr>
            <p:ph type="sldImg"/>
          </p:nvPr>
        </p:nvSpPr>
        <p:spPr/>
      </p:sp>
      <p:sp>
        <p:nvSpPr>
          <p:cNvPr id="2713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803F78F-2F75-4602-A4C7-30880D57EEEE}" type="slidenum">
              <a:rPr lang="en-US" altLang="zh-CN"/>
              <a:t>139</a:t>
            </a:fld>
            <a:endParaRPr lang="en-US" altLang="zh-CN"/>
          </a:p>
        </p:txBody>
      </p:sp>
      <p:sp>
        <p:nvSpPr>
          <p:cNvPr id="272386" name="Rectangle 2"/>
          <p:cNvSpPr>
            <a:spLocks noGrp="1" noRot="1" noChangeAspect="1" noChangeArrowheads="1" noTextEdit="1"/>
          </p:cNvSpPr>
          <p:nvPr>
            <p:ph type="sldImg"/>
          </p:nvPr>
        </p:nvSpPr>
        <p:spPr/>
      </p:sp>
      <p:sp>
        <p:nvSpPr>
          <p:cNvPr id="2723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B883E8-22F5-4B56-AD16-D6B1708CA298}" type="slidenum">
              <a:rPr lang="en-US" altLang="zh-CN"/>
              <a:t>140</a:t>
            </a:fld>
            <a:endParaRPr lang="en-US" altLang="zh-CN"/>
          </a:p>
        </p:txBody>
      </p:sp>
      <p:sp>
        <p:nvSpPr>
          <p:cNvPr id="273410" name="Rectangle 2"/>
          <p:cNvSpPr>
            <a:spLocks noGrp="1" noRot="1" noChangeAspect="1" noChangeArrowheads="1" noTextEdit="1"/>
          </p:cNvSpPr>
          <p:nvPr>
            <p:ph type="sldImg"/>
          </p:nvPr>
        </p:nvSpPr>
        <p:spPr/>
      </p:sp>
      <p:sp>
        <p:nvSpPr>
          <p:cNvPr id="2734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0E02C3C-FDCE-4514-B34B-EC3E049BBA4D}" type="slidenum">
              <a:rPr lang="en-US" altLang="zh-CN"/>
              <a:t>141</a:t>
            </a:fld>
            <a:endParaRPr lang="en-US" altLang="zh-CN"/>
          </a:p>
        </p:txBody>
      </p:sp>
      <p:sp>
        <p:nvSpPr>
          <p:cNvPr id="274434" name="Rectangle 2"/>
          <p:cNvSpPr>
            <a:spLocks noGrp="1" noRot="1" noChangeAspect="1" noChangeArrowheads="1" noTextEdit="1"/>
          </p:cNvSpPr>
          <p:nvPr>
            <p:ph type="sldImg"/>
          </p:nvPr>
        </p:nvSpPr>
        <p:spPr/>
      </p:sp>
      <p:sp>
        <p:nvSpPr>
          <p:cNvPr id="2744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B1017C9-1228-4590-BA87-E40A7F16FB9D}" type="slidenum">
              <a:rPr lang="en-US" altLang="zh-CN"/>
              <a:t>143</a:t>
            </a:fld>
            <a:endParaRPr lang="en-US" altLang="zh-CN"/>
          </a:p>
        </p:txBody>
      </p:sp>
      <p:sp>
        <p:nvSpPr>
          <p:cNvPr id="244738" name="Rectangle 2"/>
          <p:cNvSpPr>
            <a:spLocks noGrp="1" noRot="1" noChangeAspect="1" noChangeArrowheads="1" noTextEdit="1"/>
          </p:cNvSpPr>
          <p:nvPr>
            <p:ph type="sldImg"/>
          </p:nvPr>
        </p:nvSpPr>
        <p:spPr/>
      </p:sp>
      <p:sp>
        <p:nvSpPr>
          <p:cNvPr id="2447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7256208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5694DB1-5F52-4722-A95C-C150312DF597}" type="slidenum">
              <a:rPr lang="en-US" altLang="zh-CN"/>
              <a:t>144</a:t>
            </a:fld>
            <a:endParaRPr lang="en-US" altLang="zh-CN"/>
          </a:p>
        </p:txBody>
      </p:sp>
      <p:sp>
        <p:nvSpPr>
          <p:cNvPr id="245762" name="Rectangle 2"/>
          <p:cNvSpPr>
            <a:spLocks noGrp="1" noRot="1" noChangeAspect="1" noChangeArrowheads="1" noTextEdit="1"/>
          </p:cNvSpPr>
          <p:nvPr>
            <p:ph type="sldImg"/>
          </p:nvPr>
        </p:nvSpPr>
        <p:spPr/>
      </p:sp>
      <p:sp>
        <p:nvSpPr>
          <p:cNvPr id="24576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35703672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3F94E99-34AB-4C80-9623-A96548A40A3F}" type="slidenum">
              <a:rPr lang="en-US" altLang="zh-CN"/>
              <a:t>146</a:t>
            </a:fld>
            <a:endParaRPr lang="en-US" altLang="zh-CN"/>
          </a:p>
        </p:txBody>
      </p:sp>
      <p:sp>
        <p:nvSpPr>
          <p:cNvPr id="278530" name="Rectangle 2"/>
          <p:cNvSpPr>
            <a:spLocks noGrp="1" noRot="1" noChangeAspect="1" noChangeArrowheads="1" noTextEdit="1"/>
          </p:cNvSpPr>
          <p:nvPr>
            <p:ph type="sldImg"/>
          </p:nvPr>
        </p:nvSpPr>
        <p:spPr/>
      </p:sp>
      <p:sp>
        <p:nvSpPr>
          <p:cNvPr id="2785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4830832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B457D03-52E6-4C4A-B89F-9D5100BCF774}" type="slidenum">
              <a:rPr lang="en-US" altLang="zh-CN"/>
              <a:t>147</a:t>
            </a:fld>
            <a:endParaRPr lang="en-US" altLang="zh-CN"/>
          </a:p>
        </p:txBody>
      </p:sp>
      <p:sp>
        <p:nvSpPr>
          <p:cNvPr id="279554" name="Rectangle 2"/>
          <p:cNvSpPr>
            <a:spLocks noGrp="1" noRot="1" noChangeAspect="1" noChangeArrowheads="1" noTextEdit="1"/>
          </p:cNvSpPr>
          <p:nvPr>
            <p:ph type="sldImg"/>
          </p:nvPr>
        </p:nvSpPr>
        <p:spPr/>
      </p:sp>
      <p:sp>
        <p:nvSpPr>
          <p:cNvPr id="27955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1019363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46B88E6-21DA-4F1D-BFD3-7D81601353C0}" type="slidenum">
              <a:rPr lang="en-US" altLang="zh-CN"/>
              <a:t>148</a:t>
            </a:fld>
            <a:endParaRPr lang="en-US" altLang="zh-CN"/>
          </a:p>
        </p:txBody>
      </p:sp>
      <p:sp>
        <p:nvSpPr>
          <p:cNvPr id="280578" name="Rectangle 2"/>
          <p:cNvSpPr>
            <a:spLocks noGrp="1" noRot="1" noChangeAspect="1" noChangeArrowheads="1" noTextEdit="1"/>
          </p:cNvSpPr>
          <p:nvPr>
            <p:ph type="sldImg"/>
          </p:nvPr>
        </p:nvSpPr>
        <p:spPr/>
      </p:sp>
      <p:sp>
        <p:nvSpPr>
          <p:cNvPr id="2805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224889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13"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609"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7.xml"/><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image" Target="../media/image17.emf"/><Relationship Id="rId5" Type="http://schemas.openxmlformats.org/officeDocument/2006/relationships/oleObject" Target="../embeddings/oleObject1.bin"/><Relationship Id="rId4" Type="http://schemas.openxmlformats.org/officeDocument/2006/relationships/image" Target="../media/image14.wmf"/></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wmf"/><Relationship Id="rId4" Type="http://schemas.openxmlformats.org/officeDocument/2006/relationships/image" Target="../media/image18.wmf"/></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4.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25.wmf"/><Relationship Id="rId5" Type="http://schemas.openxmlformats.org/officeDocument/2006/relationships/oleObject" Target="../embeddings/oleObject2.bin"/><Relationship Id="rId4" Type="http://schemas.openxmlformats.org/officeDocument/2006/relationships/image" Target="../media/image14.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25.wmf"/><Relationship Id="rId5" Type="http://schemas.openxmlformats.org/officeDocument/2006/relationships/oleObject" Target="../embeddings/oleObject3.bin"/><Relationship Id="rId4" Type="http://schemas.openxmlformats.org/officeDocument/2006/relationships/image" Target="../media/image14.wmf"/></Relationships>
</file>

<file path=ppt/slides/_rels/slide4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2.xml"/><Relationship Id="rId1" Type="http://schemas.openxmlformats.org/officeDocument/2006/relationships/slideLayout" Target="../slideLayouts/slideLayout8.xml"/><Relationship Id="rId4" Type="http://schemas.openxmlformats.org/officeDocument/2006/relationships/image" Target="../media/image24.wmf"/></Relationships>
</file>

<file path=ppt/slides/_rels/slide6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3.xml"/><Relationship Id="rId1" Type="http://schemas.openxmlformats.org/officeDocument/2006/relationships/slideLayout" Target="../slideLayouts/slideLayout8.xml"/><Relationship Id="rId4" Type="http://schemas.openxmlformats.org/officeDocument/2006/relationships/image" Target="../media/image24.wmf"/></Relationships>
</file>

<file path=ppt/slides/_rels/slide6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t>第</a:t>
            </a:r>
            <a:r>
              <a:rPr lang="zh-CN" altLang="en-US" sz="4000" dirty="0"/>
              <a:t> </a:t>
            </a:r>
            <a:r>
              <a:rPr lang="en-US" altLang="zh-CN" dirty="0"/>
              <a:t>1</a:t>
            </a:r>
            <a:r>
              <a:rPr lang="en-US" altLang="zh-CN" sz="4000" dirty="0"/>
              <a:t> </a:t>
            </a:r>
            <a:r>
              <a:rPr lang="zh-CN" altLang="en-US" dirty="0"/>
              <a:t>章   概述</a:t>
            </a:r>
            <a:endParaRPr lang="zh-CN" altLang="en-US" dirty="0">
              <a:ea typeface="宋体" panose="02010600030101010101" pitchFamily="2" charset="-122"/>
            </a:endParaRPr>
          </a:p>
        </p:txBody>
      </p:sp>
      <p:pic>
        <p:nvPicPr>
          <p:cNvPr id="4" name="图片 3">
            <a:extLst>
              <a:ext uri="{FF2B5EF4-FFF2-40B4-BE49-F238E27FC236}">
                <a16:creationId xmlns:a16="http://schemas.microsoft.com/office/drawing/2014/main" id="{714670A4-B9D6-40A3-995D-721353A456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94751" y="5013176"/>
            <a:ext cx="1136598" cy="1656184"/>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第</a:t>
            </a:r>
            <a:r>
              <a:rPr lang="zh-CN" altLang="en-US" sz="3200" dirty="0"/>
              <a:t> </a:t>
            </a:r>
            <a:r>
              <a:rPr lang="en-US" altLang="zh-CN" dirty="0"/>
              <a:t>1</a:t>
            </a:r>
            <a:r>
              <a:rPr lang="en-US" altLang="zh-CN" sz="3200" dirty="0"/>
              <a:t> </a:t>
            </a:r>
            <a:r>
              <a:rPr lang="zh-CN" altLang="en-US" dirty="0"/>
              <a:t>章   概述</a:t>
            </a:r>
            <a:endParaRPr lang="zh-CN" altLang="en-US" dirty="0">
              <a:ea typeface="宋体" panose="02010600030101010101" pitchFamily="2" charset="-122"/>
            </a:endParaRPr>
          </a:p>
        </p:txBody>
      </p:sp>
      <p:sp>
        <p:nvSpPr>
          <p:cNvPr id="18435" name="Rectangle 3"/>
          <p:cNvSpPr>
            <a:spLocks noGrp="1" noChangeArrowheads="1"/>
          </p:cNvSpPr>
          <p:nvPr>
            <p:ph type="body" idx="1"/>
          </p:nvPr>
        </p:nvSpPr>
        <p:spPr/>
        <p:txBody>
          <a:bodyPr/>
          <a:lstStyle/>
          <a:p>
            <a:r>
              <a:rPr lang="en-US" altLang="zh-CN" dirty="0"/>
              <a:t>1.1  </a:t>
            </a:r>
            <a:r>
              <a:rPr lang="zh-CN" altLang="zh-CN" dirty="0"/>
              <a:t>计算机网络在信息时代中的作用</a:t>
            </a:r>
            <a:endParaRPr lang="en-US" altLang="zh-CN" dirty="0"/>
          </a:p>
          <a:p>
            <a:r>
              <a:rPr lang="en-US" altLang="zh-CN" dirty="0"/>
              <a:t>1.2  </a:t>
            </a:r>
            <a:r>
              <a:rPr lang="zh-CN" altLang="zh-CN" dirty="0"/>
              <a:t>互联网概述</a:t>
            </a:r>
            <a:endParaRPr lang="en-US" altLang="zh-CN" dirty="0"/>
          </a:p>
          <a:p>
            <a:r>
              <a:rPr lang="en-US" altLang="zh-CN" dirty="0"/>
              <a:t>1.3  </a:t>
            </a:r>
            <a:r>
              <a:rPr lang="zh-CN" altLang="zh-CN" dirty="0"/>
              <a:t>互联网的组成</a:t>
            </a:r>
            <a:endParaRPr lang="en-US" altLang="zh-CN" dirty="0"/>
          </a:p>
          <a:p>
            <a:r>
              <a:rPr lang="en-US" altLang="zh-CN" dirty="0"/>
              <a:t>1.4  </a:t>
            </a:r>
            <a:r>
              <a:rPr lang="zh-CN" altLang="zh-CN" dirty="0"/>
              <a:t>计算机网络在我国的发展</a:t>
            </a:r>
          </a:p>
          <a:p>
            <a:r>
              <a:rPr lang="en-US" altLang="zh-CN" dirty="0"/>
              <a:t>1.5  </a:t>
            </a:r>
            <a:r>
              <a:rPr lang="zh-CN" altLang="zh-CN" dirty="0"/>
              <a:t>计算机网络的类别</a:t>
            </a:r>
            <a:endParaRPr lang="en-US" altLang="zh-CN" dirty="0"/>
          </a:p>
          <a:p>
            <a:r>
              <a:rPr lang="en-US" altLang="zh-CN" dirty="0"/>
              <a:t>1.6  </a:t>
            </a:r>
            <a:r>
              <a:rPr lang="zh-CN" altLang="zh-CN" dirty="0"/>
              <a:t>计算机网络的性能</a:t>
            </a:r>
            <a:endParaRPr lang="en-US" altLang="zh-CN" dirty="0"/>
          </a:p>
          <a:p>
            <a:r>
              <a:rPr lang="en-US" altLang="zh-CN" dirty="0"/>
              <a:t>1.7  </a:t>
            </a:r>
            <a:r>
              <a:rPr lang="zh-CN" altLang="zh-CN" dirty="0"/>
              <a:t>计算机网络的体系结构</a:t>
            </a:r>
            <a:endParaRPr lang="zh-CN" altLang="en-US" dirty="0">
              <a:ea typeface="宋体" panose="02010600030101010101" pitchFamily="2" charset="-122"/>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1.1  </a:t>
            </a:r>
            <a:r>
              <a:rPr lang="zh-CN" altLang="zh-CN" sz="4000" dirty="0"/>
              <a:t>计算机网络在信息时代中的作用</a:t>
            </a:r>
            <a:endParaRPr lang="zh-CN" altLang="en-US" sz="4000" dirty="0"/>
          </a:p>
        </p:txBody>
      </p:sp>
      <p:sp>
        <p:nvSpPr>
          <p:cNvPr id="3" name="内容占位符 2"/>
          <p:cNvSpPr>
            <a:spLocks noGrp="1"/>
          </p:cNvSpPr>
          <p:nvPr>
            <p:ph idx="1"/>
          </p:nvPr>
        </p:nvSpPr>
        <p:spPr/>
        <p:txBody>
          <a:bodyPr/>
          <a:lstStyle/>
          <a:p>
            <a:r>
              <a:rPr lang="en-US" altLang="zh-CN" dirty="0"/>
              <a:t>21 </a:t>
            </a:r>
            <a:r>
              <a:rPr lang="zh-CN" altLang="en-US" dirty="0"/>
              <a:t>世纪的一些重要特征是</a:t>
            </a:r>
            <a:r>
              <a:rPr lang="zh-CN" altLang="en-US" dirty="0">
                <a:solidFill>
                  <a:srgbClr val="0000CC"/>
                </a:solidFill>
              </a:rPr>
              <a:t>数字化</a:t>
            </a:r>
            <a:r>
              <a:rPr lang="zh-CN" altLang="en-US" dirty="0"/>
              <a:t>、</a:t>
            </a:r>
            <a:r>
              <a:rPr lang="zh-CN" altLang="en-US" dirty="0">
                <a:solidFill>
                  <a:srgbClr val="0000CC"/>
                </a:solidFill>
              </a:rPr>
              <a:t>网络化</a:t>
            </a:r>
            <a:r>
              <a:rPr lang="zh-CN" altLang="en-US" dirty="0"/>
              <a:t>和</a:t>
            </a:r>
            <a:r>
              <a:rPr lang="zh-CN" altLang="en-US" dirty="0">
                <a:solidFill>
                  <a:srgbClr val="0000CC"/>
                </a:solidFill>
              </a:rPr>
              <a:t>信息化</a:t>
            </a:r>
            <a:r>
              <a:rPr lang="zh-CN" altLang="en-US" dirty="0"/>
              <a:t>，它是一个以</a:t>
            </a:r>
            <a:r>
              <a:rPr lang="zh-CN" altLang="en-US" dirty="0">
                <a:solidFill>
                  <a:srgbClr val="FF0000"/>
                </a:solidFill>
              </a:rPr>
              <a:t>网络为核心</a:t>
            </a:r>
            <a:r>
              <a:rPr lang="zh-CN" altLang="en-US" dirty="0"/>
              <a:t>的信息时代。</a:t>
            </a:r>
            <a:endParaRPr lang="en-US" altLang="zh-CN" dirty="0"/>
          </a:p>
          <a:p>
            <a:r>
              <a:rPr lang="zh-CN" altLang="zh-CN" dirty="0"/>
              <a:t>网络现在已经成为信息社会的命脉和发展知识经济的</a:t>
            </a:r>
            <a:r>
              <a:rPr lang="zh-CN" altLang="zh-CN" dirty="0">
                <a:solidFill>
                  <a:srgbClr val="FF0000"/>
                </a:solidFill>
              </a:rPr>
              <a:t>重要基础</a:t>
            </a:r>
            <a:r>
              <a:rPr lang="zh-CN" altLang="en-US" dirty="0"/>
              <a:t>。</a:t>
            </a:r>
            <a:endParaRPr lang="en-US" altLang="zh-CN" dirty="0"/>
          </a:p>
          <a:p>
            <a:r>
              <a:rPr lang="zh-CN" altLang="en-US" dirty="0"/>
              <a:t>大众熟悉的三大类网络有：</a:t>
            </a:r>
            <a:endParaRPr lang="en-US" altLang="zh-CN" dirty="0"/>
          </a:p>
          <a:p>
            <a:pPr lvl="1"/>
            <a:r>
              <a:rPr lang="zh-CN" altLang="en-US" dirty="0">
                <a:solidFill>
                  <a:srgbClr val="0000CC"/>
                </a:solidFill>
              </a:rPr>
              <a:t>电信网络：</a:t>
            </a:r>
            <a:r>
              <a:rPr lang="zh-CN" altLang="zh-CN" dirty="0"/>
              <a:t>提供电话、电报及传真等服务</a:t>
            </a:r>
            <a:r>
              <a:rPr lang="zh-CN" altLang="en-US" dirty="0"/>
              <a:t>；</a:t>
            </a:r>
            <a:endParaRPr lang="en-US" altLang="zh-CN" dirty="0"/>
          </a:p>
          <a:p>
            <a:pPr lvl="1"/>
            <a:r>
              <a:rPr lang="zh-CN" altLang="en-US" dirty="0">
                <a:solidFill>
                  <a:srgbClr val="0000CC"/>
                </a:solidFill>
              </a:rPr>
              <a:t>有线电视网络：</a:t>
            </a:r>
            <a:r>
              <a:rPr lang="zh-CN" altLang="zh-CN" dirty="0"/>
              <a:t>向用户传送各种电视节目</a:t>
            </a:r>
            <a:r>
              <a:rPr lang="zh-CN" altLang="en-US" dirty="0"/>
              <a:t>；</a:t>
            </a:r>
            <a:endParaRPr lang="en-US" altLang="zh-CN" dirty="0"/>
          </a:p>
          <a:p>
            <a:pPr lvl="1"/>
            <a:r>
              <a:rPr lang="zh-CN" altLang="en-US" dirty="0">
                <a:solidFill>
                  <a:srgbClr val="0000CC"/>
                </a:solidFill>
              </a:rPr>
              <a:t>计算机网络：</a:t>
            </a:r>
            <a:r>
              <a:rPr lang="zh-CN" altLang="zh-CN" dirty="0"/>
              <a:t>使用户</a:t>
            </a:r>
            <a:r>
              <a:rPr lang="zh-CN" altLang="en-US" dirty="0"/>
              <a:t>能</a:t>
            </a:r>
            <a:r>
              <a:rPr lang="zh-CN" altLang="zh-CN" dirty="0"/>
              <a:t>在计算机之间传送数据文件</a:t>
            </a:r>
            <a:r>
              <a:rPr lang="zh-CN" altLang="en-US" dirty="0"/>
              <a:t>；</a:t>
            </a:r>
          </a:p>
          <a:p>
            <a:endParaRPr lang="zh-CN" altLang="en-US" dirty="0"/>
          </a:p>
        </p:txBody>
      </p:sp>
      <p:sp>
        <p:nvSpPr>
          <p:cNvPr id="4" name="矩形 3"/>
          <p:cNvSpPr/>
          <p:nvPr/>
        </p:nvSpPr>
        <p:spPr>
          <a:xfrm>
            <a:off x="632520" y="5773789"/>
            <a:ext cx="9001000" cy="535531"/>
          </a:xfrm>
          <a:prstGeom prst="rect">
            <a:avLst/>
          </a:prstGeom>
          <a:solidFill>
            <a:srgbClr val="FFC000"/>
          </a:solidFill>
        </p:spPr>
        <p:txBody>
          <a:bodyPr wrap="square">
            <a:spAutoFit/>
          </a:bodyPr>
          <a:lstStyle/>
          <a:p>
            <a:pPr algn="ctr">
              <a:lnSpc>
                <a:spcPct val="90000"/>
              </a:lnSpc>
            </a:pPr>
            <a:r>
              <a:rPr lang="zh-CN" altLang="en-US" sz="3200" b="1" dirty="0">
                <a:latin typeface="+mn-lt"/>
                <a:ea typeface="黑体" panose="02010609060101010101" pitchFamily="2" charset="-122"/>
              </a:rPr>
              <a:t>发展最快的并起到核心作用的是计算机网络。</a:t>
            </a:r>
            <a:endParaRPr lang="en-US" altLang="zh-CN" sz="32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1.1  </a:t>
            </a:r>
            <a:r>
              <a:rPr lang="zh-CN" altLang="zh-CN" sz="4000" dirty="0"/>
              <a:t>计算机网络在信息时代中的作用</a:t>
            </a:r>
            <a:endParaRPr lang="zh-CN" altLang="en-US" sz="4000" dirty="0"/>
          </a:p>
        </p:txBody>
      </p:sp>
      <p:sp>
        <p:nvSpPr>
          <p:cNvPr id="3" name="内容占位符 2"/>
          <p:cNvSpPr>
            <a:spLocks noGrp="1"/>
          </p:cNvSpPr>
          <p:nvPr>
            <p:ph idx="1"/>
          </p:nvPr>
        </p:nvSpPr>
        <p:spPr/>
        <p:txBody>
          <a:bodyPr/>
          <a:lstStyle/>
          <a:p>
            <a:r>
              <a:rPr lang="zh-CN" altLang="zh-CN" sz="2800" dirty="0"/>
              <a:t>随着技术的发展</a:t>
            </a:r>
            <a:r>
              <a:rPr lang="zh-CN" altLang="en-US" sz="2800" dirty="0"/>
              <a:t>，网络技术</a:t>
            </a:r>
            <a:r>
              <a:rPr lang="zh-CN" altLang="en-US" sz="2800" dirty="0">
                <a:solidFill>
                  <a:srgbClr val="FF0000"/>
                </a:solidFill>
              </a:rPr>
              <a:t>相互融合：</a:t>
            </a:r>
            <a:endParaRPr lang="en-US" altLang="zh-CN" sz="2800" dirty="0">
              <a:solidFill>
                <a:srgbClr val="FF0000"/>
              </a:solidFill>
            </a:endParaRPr>
          </a:p>
          <a:p>
            <a:pPr lvl="1"/>
            <a:r>
              <a:rPr lang="zh-CN" altLang="zh-CN" sz="2400" dirty="0"/>
              <a:t>电信网络和有线电视网络都逐渐融入了现代计算机网络</a:t>
            </a:r>
            <a:r>
              <a:rPr lang="zh-CN" altLang="en-US" sz="2400" dirty="0"/>
              <a:t>技术</a:t>
            </a:r>
            <a:r>
              <a:rPr lang="zh-CN" altLang="zh-CN" sz="2400" dirty="0"/>
              <a:t>，扩大了原有的服务范围</a:t>
            </a:r>
            <a:r>
              <a:rPr lang="zh-CN" altLang="en-US" sz="2400" dirty="0"/>
              <a:t>；</a:t>
            </a:r>
            <a:endParaRPr lang="en-US" altLang="zh-CN" sz="2400" dirty="0"/>
          </a:p>
          <a:p>
            <a:pPr lvl="1"/>
            <a:r>
              <a:rPr lang="zh-CN" altLang="zh-CN" sz="2400" dirty="0"/>
              <a:t>计算机网络也能够向用户提供电话通信、视频通信以及传送视频节目的服务。</a:t>
            </a:r>
            <a:endParaRPr lang="en-US" altLang="zh-CN" sz="2400" dirty="0"/>
          </a:p>
          <a:p>
            <a:r>
              <a:rPr lang="zh-CN" altLang="zh-CN" sz="2800" dirty="0"/>
              <a:t>从理论上讲，可以把上述三种网络融合成一种网络就能够提供所有的上述服务，这就是很早以前就提出来的</a:t>
            </a:r>
            <a:r>
              <a:rPr lang="zh-CN" altLang="zh-CN" sz="2800" dirty="0">
                <a:solidFill>
                  <a:srgbClr val="FF0000"/>
                </a:solidFill>
              </a:rPr>
              <a:t>“三网融合”</a:t>
            </a:r>
            <a:r>
              <a:rPr lang="zh-CN" altLang="zh-CN" sz="2800" dirty="0"/>
              <a:t>。</a:t>
            </a:r>
            <a:endParaRPr lang="en-US" altLang="zh-CN" sz="2800" dirty="0"/>
          </a:p>
          <a:p>
            <a:r>
              <a:rPr lang="zh-CN" altLang="en-US" sz="2800" dirty="0"/>
              <a:t>但实现融合并不</a:t>
            </a:r>
            <a:r>
              <a:rPr lang="zh-CN" altLang="zh-CN" sz="2800" dirty="0"/>
              <a:t>简单，因为这涉及到各方面的经济利益和行政管辖权的问题。</a:t>
            </a:r>
            <a:endParaRPr lang="en-US" altLang="zh-CN" sz="28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879205" cy="61544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Internet </a:t>
            </a:r>
            <a:r>
              <a:rPr lang="zh-CN" altLang="en-US" dirty="0"/>
              <a:t>发展</a:t>
            </a:r>
          </a:p>
        </p:txBody>
      </p:sp>
      <p:sp>
        <p:nvSpPr>
          <p:cNvPr id="3" name="内容占位符 2"/>
          <p:cNvSpPr>
            <a:spLocks noGrp="1"/>
          </p:cNvSpPr>
          <p:nvPr>
            <p:ph idx="1"/>
          </p:nvPr>
        </p:nvSpPr>
        <p:spPr/>
        <p:txBody>
          <a:bodyPr/>
          <a:lstStyle/>
          <a:p>
            <a:r>
              <a:rPr lang="zh-CN" altLang="zh-CN" dirty="0"/>
              <a:t>自从</a:t>
            </a:r>
            <a:r>
              <a:rPr lang="en-US" altLang="zh-CN" dirty="0"/>
              <a:t> 20 </a:t>
            </a:r>
            <a:r>
              <a:rPr lang="zh-CN" altLang="zh-CN" dirty="0"/>
              <a:t>世纪</a:t>
            </a:r>
            <a:r>
              <a:rPr lang="en-US" altLang="zh-CN" dirty="0"/>
              <a:t> 90 </a:t>
            </a:r>
            <a:r>
              <a:rPr lang="zh-CN" altLang="zh-CN" dirty="0"/>
              <a:t>年代以后，以</a:t>
            </a:r>
            <a:r>
              <a:rPr lang="en-US" altLang="zh-CN" dirty="0"/>
              <a:t> Internet </a:t>
            </a:r>
            <a:r>
              <a:rPr lang="zh-CN" altLang="zh-CN" dirty="0"/>
              <a:t>为代表的计算机网络得到了飞速的发展</a:t>
            </a:r>
            <a:r>
              <a:rPr lang="zh-CN" altLang="en-US" dirty="0"/>
              <a:t>。</a:t>
            </a:r>
            <a:endParaRPr lang="en-US" altLang="zh-CN" dirty="0"/>
          </a:p>
          <a:p>
            <a:r>
              <a:rPr lang="zh-CN" altLang="en-US" dirty="0"/>
              <a:t>已从最初的教育科研网络（免费）逐步发展成为商业网络（有偿使用）。</a:t>
            </a:r>
            <a:endParaRPr lang="en-US" altLang="zh-CN" dirty="0"/>
          </a:p>
          <a:p>
            <a:r>
              <a:rPr lang="zh-CN" altLang="en-US" dirty="0"/>
              <a:t>已</a:t>
            </a:r>
            <a:r>
              <a:rPr lang="zh-CN" altLang="zh-CN" dirty="0"/>
              <a:t>成为全球最大的和最重要的计算机网络</a:t>
            </a:r>
            <a:r>
              <a:rPr lang="zh-CN" altLang="en-US" dirty="0"/>
              <a:t>。</a:t>
            </a:r>
            <a:endParaRPr lang="en-US" altLang="zh-CN" dirty="0"/>
          </a:p>
          <a:p>
            <a:r>
              <a:rPr lang="zh-CN" altLang="zh-CN" dirty="0"/>
              <a:t>是自印刷术发明以来人类在存储和交换信息领域中的最大变革</a:t>
            </a:r>
            <a:r>
              <a:rPr lang="zh-CN" alt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2243139" y="-69537"/>
            <a:ext cx="7196137" cy="1054447"/>
          </a:xfrm>
        </p:spPr>
        <p:txBody>
          <a:bodyPr/>
          <a:lstStyle/>
          <a:p>
            <a:pPr eaLnBrk="1" hangingPunct="1"/>
            <a:r>
              <a:rPr lang="zh-CN" altLang="en-US" dirty="0"/>
              <a:t>信息科学发展的历程</a:t>
            </a:r>
          </a:p>
        </p:txBody>
      </p:sp>
      <p:cxnSp>
        <p:nvCxnSpPr>
          <p:cNvPr id="2" name="直接箭头连接符 1"/>
          <p:cNvCxnSpPr/>
          <p:nvPr/>
        </p:nvCxnSpPr>
        <p:spPr>
          <a:xfrm flipV="1">
            <a:off x="992505" y="5445125"/>
            <a:ext cx="8576945" cy="57785"/>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cxnSp>
        <p:nvCxnSpPr>
          <p:cNvPr id="3" name="直接箭头连接符 2"/>
          <p:cNvCxnSpPr/>
          <p:nvPr/>
        </p:nvCxnSpPr>
        <p:spPr>
          <a:xfrm flipV="1">
            <a:off x="1018540" y="2586355"/>
            <a:ext cx="6350" cy="2910205"/>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sp>
        <p:nvSpPr>
          <p:cNvPr id="4" name="文本框 3"/>
          <p:cNvSpPr txBox="1"/>
          <p:nvPr/>
        </p:nvSpPr>
        <p:spPr>
          <a:xfrm>
            <a:off x="445770" y="5553075"/>
            <a:ext cx="1254125" cy="460375"/>
          </a:xfrm>
          <a:prstGeom prst="rect">
            <a:avLst/>
          </a:prstGeom>
          <a:noFill/>
        </p:spPr>
        <p:txBody>
          <a:bodyPr wrap="square" rtlCol="0">
            <a:spAutoFit/>
          </a:bodyPr>
          <a:lstStyle/>
          <a:p>
            <a:r>
              <a:rPr lang="en-US" altLang="zh-CN" sz="2400" b="1"/>
              <a:t>1936</a:t>
            </a:r>
            <a:r>
              <a:rPr lang="zh-CN" altLang="en-US" sz="2400" b="1"/>
              <a:t>年</a:t>
            </a:r>
          </a:p>
        </p:txBody>
      </p:sp>
      <p:sp>
        <p:nvSpPr>
          <p:cNvPr id="7" name="矩形 6"/>
          <p:cNvSpPr/>
          <p:nvPr/>
        </p:nvSpPr>
        <p:spPr>
          <a:xfrm>
            <a:off x="297815" y="1918335"/>
            <a:ext cx="1612900" cy="648335"/>
          </a:xfrm>
          <a:prstGeom prst="rect">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chemeClr val="accent3"/>
                </a:solidFill>
                <a:effectLst/>
                <a:latin typeface="Arial" panose="020B0604020202020204" pitchFamily="34" charset="0"/>
              </a:rPr>
              <a:t>图灵论文</a:t>
            </a:r>
          </a:p>
        </p:txBody>
      </p:sp>
      <p:sp>
        <p:nvSpPr>
          <p:cNvPr id="20" name="文本框 19"/>
          <p:cNvSpPr txBox="1"/>
          <p:nvPr/>
        </p:nvSpPr>
        <p:spPr>
          <a:xfrm>
            <a:off x="1982470" y="5553075"/>
            <a:ext cx="1254125" cy="460375"/>
          </a:xfrm>
          <a:prstGeom prst="rect">
            <a:avLst/>
          </a:prstGeom>
          <a:noFill/>
        </p:spPr>
        <p:txBody>
          <a:bodyPr wrap="square" rtlCol="0">
            <a:spAutoFit/>
          </a:bodyPr>
          <a:lstStyle/>
          <a:p>
            <a:r>
              <a:rPr lang="en-US" altLang="zh-CN" sz="2400" b="1"/>
              <a:t>1946</a:t>
            </a:r>
            <a:r>
              <a:rPr lang="zh-CN" altLang="en-US" sz="2400" b="1"/>
              <a:t>年</a:t>
            </a:r>
          </a:p>
        </p:txBody>
      </p:sp>
      <p:cxnSp>
        <p:nvCxnSpPr>
          <p:cNvPr id="21" name="直接箭头连接符 20"/>
          <p:cNvCxnSpPr/>
          <p:nvPr/>
        </p:nvCxnSpPr>
        <p:spPr>
          <a:xfrm flipV="1">
            <a:off x="2496185" y="3747770"/>
            <a:ext cx="0" cy="1727835"/>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sp>
        <p:nvSpPr>
          <p:cNvPr id="22" name="矩形 21"/>
          <p:cNvSpPr/>
          <p:nvPr/>
        </p:nvSpPr>
        <p:spPr>
          <a:xfrm>
            <a:off x="1689735" y="3099435"/>
            <a:ext cx="1612900" cy="648335"/>
          </a:xfrm>
          <a:prstGeom prst="rect">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chemeClr val="accent3"/>
                </a:solidFill>
                <a:effectLst/>
                <a:latin typeface="Arial" panose="020B0604020202020204" pitchFamily="34" charset="0"/>
              </a:rPr>
              <a:t>计算机</a:t>
            </a:r>
          </a:p>
        </p:txBody>
      </p:sp>
      <p:sp>
        <p:nvSpPr>
          <p:cNvPr id="37" name="文本框 36"/>
          <p:cNvSpPr txBox="1"/>
          <p:nvPr/>
        </p:nvSpPr>
        <p:spPr>
          <a:xfrm>
            <a:off x="3698875" y="5552440"/>
            <a:ext cx="1254125" cy="460375"/>
          </a:xfrm>
          <a:prstGeom prst="rect">
            <a:avLst/>
          </a:prstGeom>
          <a:noFill/>
        </p:spPr>
        <p:txBody>
          <a:bodyPr wrap="square" rtlCol="0">
            <a:spAutoFit/>
          </a:bodyPr>
          <a:lstStyle/>
          <a:p>
            <a:r>
              <a:rPr lang="en-US" altLang="zh-CN" sz="2400" b="1"/>
              <a:t>1969</a:t>
            </a:r>
            <a:r>
              <a:rPr lang="zh-CN" altLang="en-US" sz="2400" b="1"/>
              <a:t>年</a:t>
            </a:r>
          </a:p>
        </p:txBody>
      </p:sp>
      <p:cxnSp>
        <p:nvCxnSpPr>
          <p:cNvPr id="38" name="直接箭头连接符 37"/>
          <p:cNvCxnSpPr>
            <a:endCxn id="39" idx="2"/>
          </p:cNvCxnSpPr>
          <p:nvPr/>
        </p:nvCxnSpPr>
        <p:spPr>
          <a:xfrm flipV="1">
            <a:off x="4151630" y="2521585"/>
            <a:ext cx="21590" cy="2954020"/>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sp>
        <p:nvSpPr>
          <p:cNvPr id="39" name="矩形 38"/>
          <p:cNvSpPr/>
          <p:nvPr/>
        </p:nvSpPr>
        <p:spPr>
          <a:xfrm>
            <a:off x="3322320" y="1873250"/>
            <a:ext cx="1701800" cy="648335"/>
          </a:xfrm>
          <a:prstGeom prst="rect">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accent3"/>
                </a:solidFill>
                <a:effectLst/>
                <a:latin typeface="Arial" panose="020B0604020202020204" pitchFamily="34" charset="0"/>
              </a:rPr>
              <a:t>ARPANET</a:t>
            </a:r>
          </a:p>
        </p:txBody>
      </p:sp>
      <p:sp>
        <p:nvSpPr>
          <p:cNvPr id="42" name="文本框 41"/>
          <p:cNvSpPr txBox="1"/>
          <p:nvPr/>
        </p:nvSpPr>
        <p:spPr>
          <a:xfrm>
            <a:off x="5237480" y="5552440"/>
            <a:ext cx="1254125" cy="460375"/>
          </a:xfrm>
          <a:prstGeom prst="rect">
            <a:avLst/>
          </a:prstGeom>
          <a:noFill/>
        </p:spPr>
        <p:txBody>
          <a:bodyPr wrap="square" rtlCol="0">
            <a:spAutoFit/>
          </a:bodyPr>
          <a:lstStyle/>
          <a:p>
            <a:r>
              <a:rPr lang="en-US" altLang="zh-CN" sz="2400" b="1"/>
              <a:t>1984</a:t>
            </a:r>
            <a:r>
              <a:rPr lang="zh-CN" altLang="en-US" sz="2400" b="1"/>
              <a:t>年</a:t>
            </a:r>
          </a:p>
        </p:txBody>
      </p:sp>
      <p:sp>
        <p:nvSpPr>
          <p:cNvPr id="43" name="矩形 42"/>
          <p:cNvSpPr/>
          <p:nvPr/>
        </p:nvSpPr>
        <p:spPr>
          <a:xfrm>
            <a:off x="4986655" y="3046730"/>
            <a:ext cx="1612900" cy="648335"/>
          </a:xfrm>
          <a:prstGeom prst="rect">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chemeClr val="accent3"/>
                </a:solidFill>
                <a:effectLst/>
                <a:latin typeface="Arial" panose="020B0604020202020204" pitchFamily="34" charset="0"/>
              </a:rPr>
              <a:t>互联网</a:t>
            </a:r>
          </a:p>
        </p:txBody>
      </p:sp>
      <p:sp>
        <p:nvSpPr>
          <p:cNvPr id="45" name="文本框 44"/>
          <p:cNvSpPr txBox="1"/>
          <p:nvPr/>
        </p:nvSpPr>
        <p:spPr>
          <a:xfrm>
            <a:off x="6924040" y="5551805"/>
            <a:ext cx="1254125" cy="460375"/>
          </a:xfrm>
          <a:prstGeom prst="rect">
            <a:avLst/>
          </a:prstGeom>
          <a:noFill/>
        </p:spPr>
        <p:txBody>
          <a:bodyPr wrap="square" rtlCol="0">
            <a:spAutoFit/>
          </a:bodyPr>
          <a:lstStyle/>
          <a:p>
            <a:r>
              <a:rPr lang="en-US" altLang="zh-CN" sz="2400" b="1"/>
              <a:t>1989</a:t>
            </a:r>
            <a:r>
              <a:rPr lang="zh-CN" altLang="en-US" sz="2400" b="1"/>
              <a:t>年</a:t>
            </a:r>
          </a:p>
        </p:txBody>
      </p:sp>
      <p:cxnSp>
        <p:nvCxnSpPr>
          <p:cNvPr id="46" name="直接箭头连接符 45"/>
          <p:cNvCxnSpPr/>
          <p:nvPr/>
        </p:nvCxnSpPr>
        <p:spPr>
          <a:xfrm flipV="1">
            <a:off x="7437755" y="2492375"/>
            <a:ext cx="35560" cy="2981960"/>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sp>
        <p:nvSpPr>
          <p:cNvPr id="47" name="矩形 46"/>
          <p:cNvSpPr/>
          <p:nvPr/>
        </p:nvSpPr>
        <p:spPr>
          <a:xfrm>
            <a:off x="6635115" y="1805940"/>
            <a:ext cx="1701800" cy="648335"/>
          </a:xfrm>
          <a:prstGeom prst="rect">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accent3"/>
                </a:solidFill>
                <a:effectLst/>
                <a:latin typeface="Arial" panose="020B0604020202020204" pitchFamily="34" charset="0"/>
              </a:rPr>
              <a:t>WWW</a:t>
            </a:r>
          </a:p>
        </p:txBody>
      </p:sp>
      <p:sp>
        <p:nvSpPr>
          <p:cNvPr id="50" name="文本框 49"/>
          <p:cNvSpPr txBox="1"/>
          <p:nvPr/>
        </p:nvSpPr>
        <p:spPr>
          <a:xfrm>
            <a:off x="8457565" y="5551170"/>
            <a:ext cx="1254125" cy="460375"/>
          </a:xfrm>
          <a:prstGeom prst="rect">
            <a:avLst/>
          </a:prstGeom>
          <a:noFill/>
        </p:spPr>
        <p:txBody>
          <a:bodyPr wrap="square" rtlCol="0">
            <a:spAutoFit/>
          </a:bodyPr>
          <a:lstStyle/>
          <a:p>
            <a:r>
              <a:rPr lang="en-US" altLang="zh-CN" sz="2400" b="1"/>
              <a:t>1998</a:t>
            </a:r>
            <a:r>
              <a:rPr lang="zh-CN" altLang="en-US" sz="2400" b="1"/>
              <a:t>年</a:t>
            </a:r>
          </a:p>
        </p:txBody>
      </p:sp>
      <p:sp>
        <p:nvSpPr>
          <p:cNvPr id="51" name="矩形 50"/>
          <p:cNvSpPr/>
          <p:nvPr/>
        </p:nvSpPr>
        <p:spPr>
          <a:xfrm>
            <a:off x="8206740" y="3045460"/>
            <a:ext cx="1612900" cy="648335"/>
          </a:xfrm>
          <a:prstGeom prst="rect">
            <a:avLst/>
          </a:prstGeom>
          <a:gradFill>
            <a:gsLst>
              <a:gs pos="0">
                <a:srgbClr val="007BD3"/>
              </a:gs>
              <a:gs pos="100000">
                <a:srgbClr val="034373"/>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chemeClr val="accent3"/>
                </a:solidFill>
                <a:effectLst/>
                <a:latin typeface="Arial" panose="020B0604020202020204" pitchFamily="34" charset="0"/>
              </a:rPr>
              <a:t>网络科学</a:t>
            </a:r>
          </a:p>
        </p:txBody>
      </p:sp>
      <p:cxnSp>
        <p:nvCxnSpPr>
          <p:cNvPr id="5" name="直接箭头连接符 4"/>
          <p:cNvCxnSpPr/>
          <p:nvPr/>
        </p:nvCxnSpPr>
        <p:spPr>
          <a:xfrm flipV="1">
            <a:off x="5805805" y="3746500"/>
            <a:ext cx="0" cy="1727835"/>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cxnSp>
        <p:nvCxnSpPr>
          <p:cNvPr id="6" name="直接箭头连接符 5"/>
          <p:cNvCxnSpPr/>
          <p:nvPr/>
        </p:nvCxnSpPr>
        <p:spPr>
          <a:xfrm flipV="1">
            <a:off x="9013190" y="3705860"/>
            <a:ext cx="0" cy="1727835"/>
          </a:xfrm>
          <a:prstGeom prst="straightConnector1">
            <a:avLst/>
          </a:prstGeom>
          <a:solidFill>
            <a:schemeClr val="accent1"/>
          </a:solidFill>
          <a:ln w="38100" cap="flat" cmpd="sng" algn="ctr">
            <a:solidFill>
              <a:srgbClr val="0000FF"/>
            </a:solidFill>
            <a:prstDash val="solid"/>
            <a:round/>
            <a:headEnd type="none" w="med" len="me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22" presetClass="entr" presetSubtype="4"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down)">
                                      <p:cBhvr>
                                        <p:cTn id="21" dur="500"/>
                                        <p:tgtEl>
                                          <p:spTgt spid="2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par>
                                <p:cTn id="30" presetID="22" presetClass="entr" presetSubtype="4" fill="hold"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down)">
                                      <p:cBhvr>
                                        <p:cTn id="32" dur="500"/>
                                        <p:tgtEl>
                                          <p:spTgt spid="38"/>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down)">
                                      <p:cBhvr>
                                        <p:cTn id="35" dur="500"/>
                                        <p:tgtEl>
                                          <p:spTgt spid="39"/>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wipe(down)">
                                      <p:cBhvr>
                                        <p:cTn id="38" dur="500"/>
                                        <p:tgtEl>
                                          <p:spTgt spid="42"/>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wipe(down)">
                                      <p:cBhvr>
                                        <p:cTn id="41" dur="500"/>
                                        <p:tgtEl>
                                          <p:spTgt spid="4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down)">
                                      <p:cBhvr>
                                        <p:cTn id="46" dur="500"/>
                                        <p:tgtEl>
                                          <p:spTgt spid="45"/>
                                        </p:tgtEl>
                                      </p:cBhvr>
                                    </p:animEffect>
                                  </p:childTnLst>
                                </p:cTn>
                              </p:par>
                              <p:par>
                                <p:cTn id="47" presetID="22" presetClass="entr" presetSubtype="4"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wipe(down)">
                                      <p:cBhvr>
                                        <p:cTn id="49" dur="500"/>
                                        <p:tgtEl>
                                          <p:spTgt spid="4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down)">
                                      <p:cBhvr>
                                        <p:cTn id="52" dur="500"/>
                                        <p:tgtEl>
                                          <p:spTgt spid="4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wipe(down)">
                                      <p:cBhvr>
                                        <p:cTn id="55" dur="500"/>
                                        <p:tgtEl>
                                          <p:spTgt spid="5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wipe(down)">
                                      <p:cBhvr>
                                        <p:cTn id="58" dur="500"/>
                                        <p:tgtEl>
                                          <p:spTgt spid="51"/>
                                        </p:tgtEl>
                                      </p:cBhvr>
                                    </p:animEffect>
                                  </p:childTnLst>
                                </p:cTn>
                              </p:par>
                              <p:par>
                                <p:cTn id="59" presetID="22" presetClass="entr" presetSubtype="4" fill="hold" nodeType="with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down)">
                                      <p:cBhvr>
                                        <p:cTn id="61" dur="500"/>
                                        <p:tgtEl>
                                          <p:spTgt spid="5"/>
                                        </p:tgtEl>
                                      </p:cBhvr>
                                    </p:animEffect>
                                  </p:childTnLst>
                                </p:cTn>
                              </p:par>
                              <p:par>
                                <p:cTn id="62" presetID="22" presetClass="entr" presetSubtype="4" fill="hold" nodeType="with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down)">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7" grpId="0" bldLvl="0" animBg="1"/>
      <p:bldP spid="7" grpId="1" animBg="1"/>
      <p:bldP spid="20" grpId="0"/>
      <p:bldP spid="20" grpId="1"/>
      <p:bldP spid="22" grpId="0" bldLvl="0" animBg="1"/>
      <p:bldP spid="22" grpId="1" animBg="1"/>
      <p:bldP spid="37" grpId="0"/>
      <p:bldP spid="37" grpId="1"/>
      <p:bldP spid="39" grpId="0" bldLvl="0" animBg="1"/>
      <p:bldP spid="39" grpId="1" animBg="1"/>
      <p:bldP spid="42" grpId="0"/>
      <p:bldP spid="42" grpId="1"/>
      <p:bldP spid="43" grpId="0" bldLvl="0" animBg="1"/>
      <p:bldP spid="43" grpId="1" animBg="1"/>
      <p:bldP spid="45" grpId="0"/>
      <p:bldP spid="45" grpId="1"/>
      <p:bldP spid="47" grpId="0" bldLvl="0" animBg="1"/>
      <p:bldP spid="47" grpId="1" animBg="1"/>
      <p:bldP spid="50" grpId="0"/>
      <p:bldP spid="50" grpId="1"/>
      <p:bldP spid="51" grpId="0" bldLvl="0" animBg="1"/>
      <p:bldP spid="51"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图灵论文</a:t>
            </a:r>
          </a:p>
        </p:txBody>
      </p:sp>
      <p:sp>
        <p:nvSpPr>
          <p:cNvPr id="3" name="内容占位符 2"/>
          <p:cNvSpPr>
            <a:spLocks noGrp="1"/>
          </p:cNvSpPr>
          <p:nvPr>
            <p:ph idx="1"/>
          </p:nvPr>
        </p:nvSpPr>
        <p:spPr>
          <a:xfrm>
            <a:off x="208280" y="1196975"/>
            <a:ext cx="6082665" cy="5530215"/>
          </a:xfrm>
        </p:spPr>
        <p:txBody>
          <a:bodyPr/>
          <a:lstStyle/>
          <a:p>
            <a:pPr algn="just"/>
            <a:r>
              <a:rPr lang="zh-CN" altLang="zh-CN" sz="2800" dirty="0"/>
              <a:t>图灵论文，</a:t>
            </a:r>
            <a:r>
              <a:rPr lang="en-US" altLang="zh-CN" sz="2800" dirty="0"/>
              <a:t>1936</a:t>
            </a:r>
            <a:r>
              <a:rPr lang="zh-CN" altLang="en-US" sz="2800" dirty="0"/>
              <a:t>年《论数字计算在决断难题中的应用》</a:t>
            </a:r>
          </a:p>
          <a:p>
            <a:endParaRPr lang="zh-CN" altLang="en-US" sz="2800" dirty="0"/>
          </a:p>
          <a:p>
            <a:pPr algn="just"/>
            <a:r>
              <a:rPr lang="en-US" altLang="zh-CN" sz="2800" dirty="0"/>
              <a:t>“</a:t>
            </a:r>
            <a:r>
              <a:rPr lang="zh-CN" altLang="en-US" sz="2800" dirty="0"/>
              <a:t>可计算性</a:t>
            </a:r>
            <a:r>
              <a:rPr lang="en-US" altLang="zh-CN" sz="2800" dirty="0"/>
              <a:t>”</a:t>
            </a:r>
            <a:r>
              <a:rPr lang="zh-CN" altLang="en-US" sz="2800" dirty="0"/>
              <a:t>的数学定义，建议了</a:t>
            </a:r>
            <a:r>
              <a:rPr lang="en-US" altLang="zh-CN" sz="2800" dirty="0"/>
              <a:t>“</a:t>
            </a:r>
            <a:r>
              <a:rPr lang="zh-CN" altLang="en-US" sz="2800" dirty="0"/>
              <a:t>图灵机</a:t>
            </a:r>
            <a:r>
              <a:rPr lang="en-US" altLang="zh-CN" sz="2800" dirty="0"/>
              <a:t>”</a:t>
            </a:r>
            <a:r>
              <a:rPr lang="zh-CN" altLang="en-US" sz="2800" dirty="0"/>
              <a:t>（</a:t>
            </a:r>
            <a:r>
              <a:rPr lang="en-US" altLang="zh-CN" sz="2800" dirty="0"/>
              <a:t>Turing Machine</a:t>
            </a:r>
            <a:r>
              <a:rPr lang="zh-CN" altLang="en-US" sz="2800" dirty="0"/>
              <a:t>）的模型，可制造一种十分简单但运算能力极强的计算装置，用来计算所有能想象到的可计算函数。</a:t>
            </a:r>
          </a:p>
          <a:p>
            <a:endParaRPr lang="zh-CN" altLang="en-US" sz="2800" dirty="0"/>
          </a:p>
          <a:p>
            <a:pPr algn="just"/>
            <a:r>
              <a:rPr lang="zh-CN" altLang="en-US" sz="2800" dirty="0"/>
              <a:t>阐述了机器智能的概念（</a:t>
            </a:r>
            <a:r>
              <a:rPr lang="en-US" altLang="zh-CN" sz="2800" dirty="0"/>
              <a:t>“</a:t>
            </a:r>
            <a:r>
              <a:rPr lang="zh-CN" altLang="en-US" sz="2800" dirty="0"/>
              <a:t>机器能思考吗？（</a:t>
            </a:r>
            <a:r>
              <a:rPr lang="en-US" altLang="zh-CN" sz="2800" dirty="0"/>
              <a:t>1950</a:t>
            </a:r>
            <a:r>
              <a:rPr lang="zh-CN" altLang="en-US" sz="2800" dirty="0"/>
              <a:t>年）</a:t>
            </a:r>
            <a:r>
              <a:rPr lang="en-US" altLang="zh-CN" sz="2800" dirty="0"/>
              <a:t>”</a:t>
            </a:r>
            <a:r>
              <a:rPr lang="zh-CN" altLang="en-US" sz="2800" dirty="0"/>
              <a:t>）</a:t>
            </a:r>
          </a:p>
        </p:txBody>
      </p:sp>
      <p:pic>
        <p:nvPicPr>
          <p:cNvPr id="4" name="图片 3"/>
          <p:cNvPicPr>
            <a:picLocks noChangeAspect="1"/>
          </p:cNvPicPr>
          <p:nvPr>
            <p:custDataLst>
              <p:tags r:id="rId1"/>
            </p:custDataLst>
          </p:nvPr>
        </p:nvPicPr>
        <p:blipFill>
          <a:blip r:embed="rId3"/>
          <a:stretch>
            <a:fillRect/>
          </a:stretch>
        </p:blipFill>
        <p:spPr>
          <a:xfrm>
            <a:off x="6974205" y="1389380"/>
            <a:ext cx="2479040" cy="3357880"/>
          </a:xfrm>
          <a:prstGeom prst="rect">
            <a:avLst/>
          </a:prstGeom>
        </p:spPr>
      </p:pic>
      <p:sp>
        <p:nvSpPr>
          <p:cNvPr id="5" name="文本框 4"/>
          <p:cNvSpPr txBox="1"/>
          <p:nvPr/>
        </p:nvSpPr>
        <p:spPr>
          <a:xfrm>
            <a:off x="6759575" y="4979035"/>
            <a:ext cx="3016250" cy="521970"/>
          </a:xfrm>
          <a:prstGeom prst="rect">
            <a:avLst/>
          </a:prstGeom>
          <a:noFill/>
        </p:spPr>
        <p:txBody>
          <a:bodyPr wrap="square" rtlCol="0">
            <a:spAutoFit/>
          </a:bodyPr>
          <a:lstStyle/>
          <a:p>
            <a:r>
              <a:rPr lang="zh-CN" altLang="en-US" sz="2800" b="1"/>
              <a:t>阿兰</a:t>
            </a:r>
            <a:r>
              <a:rPr lang="en-US" altLang="zh-CN" sz="2800" b="1"/>
              <a:t>.</a:t>
            </a:r>
            <a:r>
              <a:rPr lang="zh-CN" altLang="en-US" sz="2800" b="1"/>
              <a:t>麦席森</a:t>
            </a:r>
            <a:r>
              <a:rPr lang="en-US" altLang="zh-CN" sz="2800" b="1"/>
              <a:t>.</a:t>
            </a:r>
            <a:r>
              <a:rPr lang="zh-CN" altLang="en-US" sz="2800" b="1"/>
              <a:t>图灵</a:t>
            </a:r>
          </a:p>
        </p:txBody>
      </p:sp>
      <p:sp>
        <p:nvSpPr>
          <p:cNvPr id="6" name="文本框 5"/>
          <p:cNvSpPr txBox="1"/>
          <p:nvPr/>
        </p:nvSpPr>
        <p:spPr>
          <a:xfrm>
            <a:off x="6838950" y="5774055"/>
            <a:ext cx="2865120" cy="953135"/>
          </a:xfrm>
          <a:prstGeom prst="rect">
            <a:avLst/>
          </a:prstGeom>
          <a:noFill/>
        </p:spPr>
        <p:txBody>
          <a:bodyPr wrap="square" rtlCol="0">
            <a:spAutoFit/>
          </a:bodyPr>
          <a:lstStyle/>
          <a:p>
            <a:r>
              <a:rPr lang="zh-CN" altLang="en-US" sz="2800" b="1">
                <a:solidFill>
                  <a:srgbClr val="C00000"/>
                </a:solidFill>
              </a:rPr>
              <a:t>计算机科学之父</a:t>
            </a:r>
          </a:p>
          <a:p>
            <a:r>
              <a:rPr lang="zh-CN" altLang="en-US" sz="2800" b="1">
                <a:solidFill>
                  <a:srgbClr val="C00000"/>
                </a:solidFill>
              </a:rPr>
              <a:t>人工智能之父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冯</a:t>
            </a:r>
            <a:r>
              <a:rPr lang="en-US" altLang="zh-CN" dirty="0"/>
              <a:t>.</a:t>
            </a:r>
            <a:r>
              <a:rPr lang="zh-CN" altLang="en-US" dirty="0"/>
              <a:t>诺伊曼</a:t>
            </a:r>
          </a:p>
        </p:txBody>
      </p:sp>
      <p:sp>
        <p:nvSpPr>
          <p:cNvPr id="3" name="内容占位符 2"/>
          <p:cNvSpPr>
            <a:spLocks noGrp="1"/>
          </p:cNvSpPr>
          <p:nvPr>
            <p:ph idx="1"/>
          </p:nvPr>
        </p:nvSpPr>
        <p:spPr>
          <a:xfrm>
            <a:off x="208280" y="1627505"/>
            <a:ext cx="6082665" cy="4983480"/>
          </a:xfrm>
        </p:spPr>
        <p:txBody>
          <a:bodyPr/>
          <a:lstStyle/>
          <a:p>
            <a:r>
              <a:rPr lang="zh-CN" altLang="en-US" sz="2800" dirty="0"/>
              <a:t>计算机，</a:t>
            </a:r>
            <a:r>
              <a:rPr lang="en-US" altLang="zh-CN" sz="2800" dirty="0"/>
              <a:t>1946</a:t>
            </a:r>
            <a:r>
              <a:rPr lang="zh-CN" altLang="en-US" sz="2800" dirty="0"/>
              <a:t>年</a:t>
            </a:r>
          </a:p>
          <a:p>
            <a:pPr algn="just"/>
            <a:r>
              <a:rPr lang="zh-CN" altLang="en-US" sz="2800" dirty="0"/>
              <a:t>计算机基本工作原理是存储程序和程序控制，由冯</a:t>
            </a:r>
            <a:r>
              <a:rPr lang="en-US" altLang="zh-CN" sz="2800" dirty="0"/>
              <a:t>.</a:t>
            </a:r>
            <a:r>
              <a:rPr lang="zh-CN" altLang="en-US" sz="2800" dirty="0"/>
              <a:t>诺伊曼提出。</a:t>
            </a:r>
          </a:p>
          <a:p>
            <a:endParaRPr lang="zh-CN" altLang="en-US" sz="2800" dirty="0"/>
          </a:p>
          <a:p>
            <a:endParaRPr lang="zh-CN" altLang="en-US" sz="2800" dirty="0"/>
          </a:p>
          <a:p>
            <a:pPr algn="just"/>
            <a:r>
              <a:rPr lang="zh-CN" altLang="en-US" sz="2800" dirty="0"/>
              <a:t>由五个部分组成，包括：</a:t>
            </a:r>
            <a:r>
              <a:rPr lang="zh-CN" altLang="en-US" sz="2800" dirty="0">
                <a:solidFill>
                  <a:srgbClr val="FF0000"/>
                </a:solidFill>
              </a:rPr>
              <a:t>计算器，逻辑控制装置，存储器，输入和输出设备</a:t>
            </a:r>
            <a:r>
              <a:rPr lang="zh-CN" altLang="en-US" sz="2800" dirty="0"/>
              <a:t>。奠定了现代计算机体系结构和工作原理。</a:t>
            </a:r>
          </a:p>
        </p:txBody>
      </p:sp>
      <p:sp>
        <p:nvSpPr>
          <p:cNvPr id="5" name="文本框 4"/>
          <p:cNvSpPr txBox="1"/>
          <p:nvPr/>
        </p:nvSpPr>
        <p:spPr>
          <a:xfrm>
            <a:off x="7440930" y="5203825"/>
            <a:ext cx="2092325" cy="521970"/>
          </a:xfrm>
          <a:prstGeom prst="rect">
            <a:avLst/>
          </a:prstGeom>
          <a:noFill/>
        </p:spPr>
        <p:txBody>
          <a:bodyPr wrap="square" rtlCol="0">
            <a:spAutoFit/>
          </a:bodyPr>
          <a:lstStyle/>
          <a:p>
            <a:r>
              <a:rPr lang="zh-CN" altLang="en-US" sz="2800" b="1"/>
              <a:t>冯</a:t>
            </a:r>
            <a:r>
              <a:rPr lang="en-US" altLang="zh-CN" sz="2800" b="1"/>
              <a:t>.</a:t>
            </a:r>
            <a:r>
              <a:rPr lang="zh-CN" altLang="en-US" sz="2800" b="1"/>
              <a:t>诺伊曼</a:t>
            </a:r>
          </a:p>
        </p:txBody>
      </p:sp>
      <p:sp>
        <p:nvSpPr>
          <p:cNvPr id="6" name="文本框 5"/>
          <p:cNvSpPr txBox="1"/>
          <p:nvPr/>
        </p:nvSpPr>
        <p:spPr>
          <a:xfrm>
            <a:off x="7308215" y="5854065"/>
            <a:ext cx="2009775" cy="521970"/>
          </a:xfrm>
          <a:prstGeom prst="rect">
            <a:avLst/>
          </a:prstGeom>
          <a:noFill/>
        </p:spPr>
        <p:txBody>
          <a:bodyPr wrap="square" rtlCol="0">
            <a:spAutoFit/>
          </a:bodyPr>
          <a:lstStyle/>
          <a:p>
            <a:r>
              <a:rPr lang="zh-CN" altLang="en-US" sz="2800" b="1">
                <a:solidFill>
                  <a:srgbClr val="C00000"/>
                </a:solidFill>
              </a:rPr>
              <a:t>计算机之父</a:t>
            </a:r>
          </a:p>
        </p:txBody>
      </p:sp>
      <p:pic>
        <p:nvPicPr>
          <p:cNvPr id="7" name="图片 6"/>
          <p:cNvPicPr>
            <a:picLocks noChangeAspect="1"/>
          </p:cNvPicPr>
          <p:nvPr>
            <p:custDataLst>
              <p:tags r:id="rId1"/>
            </p:custDataLst>
          </p:nvPr>
        </p:nvPicPr>
        <p:blipFill>
          <a:blip r:embed="rId3"/>
          <a:stretch>
            <a:fillRect/>
          </a:stretch>
        </p:blipFill>
        <p:spPr>
          <a:xfrm>
            <a:off x="7112635" y="1605280"/>
            <a:ext cx="2515870" cy="327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down)">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2243139" y="-69537"/>
            <a:ext cx="7196137" cy="1054447"/>
          </a:xfrm>
        </p:spPr>
        <p:txBody>
          <a:bodyPr/>
          <a:lstStyle/>
          <a:p>
            <a:pPr eaLnBrk="1" hangingPunct="1"/>
            <a:r>
              <a:rPr lang="zh-CN" altLang="en-US" dirty="0"/>
              <a:t>计算机网络发展历程</a:t>
            </a:r>
          </a:p>
        </p:txBody>
      </p:sp>
      <p:sp>
        <p:nvSpPr>
          <p:cNvPr id="6" name="Rectangle 4"/>
          <p:cNvSpPr>
            <a:spLocks noChangeArrowheads="1"/>
          </p:cNvSpPr>
          <p:nvPr/>
        </p:nvSpPr>
        <p:spPr bwMode="gray">
          <a:xfrm>
            <a:off x="987425" y="1428638"/>
            <a:ext cx="7740650" cy="619125"/>
          </a:xfrm>
          <a:prstGeom prst="rect">
            <a:avLst/>
          </a:prstGeom>
          <a:solidFill>
            <a:srgbClr val="D7D7C3"/>
          </a:solidFill>
          <a:ln w="9525" algn="ctr">
            <a:noFill/>
            <a:miter lim="800000"/>
          </a:ln>
          <a:effectLst/>
        </p:spPr>
        <p:txBody>
          <a:bodyPr wrap="none" anchor="ctr"/>
          <a:lstStyle/>
          <a:p>
            <a:pPr fontAlgn="auto">
              <a:spcBef>
                <a:spcPts val="0"/>
              </a:spcBef>
              <a:spcAft>
                <a:spcPts val="0"/>
              </a:spcAft>
              <a:defRPr/>
            </a:pPr>
            <a:endParaRPr lang="zh-CN" altLang="en-US" b="1">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grpSp>
        <p:nvGrpSpPr>
          <p:cNvPr id="29702" name="Group 5"/>
          <p:cNvGrpSpPr/>
          <p:nvPr/>
        </p:nvGrpSpPr>
        <p:grpSpPr bwMode="auto">
          <a:xfrm>
            <a:off x="976314" y="1428638"/>
            <a:ext cx="2054225" cy="619125"/>
            <a:chOff x="404" y="1980"/>
            <a:chExt cx="1294" cy="298"/>
          </a:xfrm>
        </p:grpSpPr>
        <p:sp>
          <p:nvSpPr>
            <p:cNvPr id="8" name="Rectangle 6"/>
            <p:cNvSpPr>
              <a:spLocks noChangeArrowheads="1"/>
            </p:cNvSpPr>
            <p:nvPr/>
          </p:nvSpPr>
          <p:spPr bwMode="gray">
            <a:xfrm>
              <a:off x="404" y="1980"/>
              <a:ext cx="1205" cy="298"/>
            </a:xfrm>
            <a:prstGeom prst="rect">
              <a:avLst/>
            </a:prstGeom>
            <a:solidFill>
              <a:schemeClr val="hlink"/>
            </a:solidFill>
            <a:ln w="9525" algn="ctr">
              <a:noFill/>
              <a:miter lim="800000"/>
            </a:ln>
            <a:effectLst/>
          </p:spPr>
          <p:txBody>
            <a:bodyPr wrap="none" anchor="ctr"/>
            <a:lstStyle/>
            <a:p>
              <a:pPr fontAlgn="auto">
                <a:spcBef>
                  <a:spcPts val="0"/>
                </a:spcBef>
                <a:spcAft>
                  <a:spcPts val="0"/>
                </a:spcAft>
                <a:defRPr/>
              </a:pPr>
              <a:endParaRPr lang="zh-CN" altLang="en-US" b="1">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sp>
          <p:nvSpPr>
            <p:cNvPr id="9" name="AutoShape 7"/>
            <p:cNvSpPr>
              <a:spLocks noChangeArrowheads="1"/>
            </p:cNvSpPr>
            <p:nvPr/>
          </p:nvSpPr>
          <p:spPr bwMode="gray">
            <a:xfrm rot="5400000">
              <a:off x="1568" y="2071"/>
              <a:ext cx="139" cy="120"/>
            </a:xfrm>
            <a:prstGeom prst="triangle">
              <a:avLst>
                <a:gd name="adj" fmla="val 50000"/>
              </a:avLst>
            </a:prstGeom>
            <a:solidFill>
              <a:schemeClr val="hlink"/>
            </a:solidFill>
            <a:ln w="9525" algn="ctr">
              <a:noFill/>
              <a:miter lim="800000"/>
            </a:ln>
            <a:effectLst/>
          </p:spPr>
          <p:txBody>
            <a:bodyPr wrap="none" anchor="ctr"/>
            <a:lstStyle/>
            <a:p>
              <a:pPr fontAlgn="auto">
                <a:spcBef>
                  <a:spcPts val="0"/>
                </a:spcBef>
                <a:spcAft>
                  <a:spcPts val="0"/>
                </a:spcAft>
                <a:defRPr/>
              </a:pPr>
              <a:endParaRPr lang="zh-CN" altLang="en-US" b="1">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grpSp>
      <p:sp>
        <p:nvSpPr>
          <p:cNvPr id="10" name="Text Box 8"/>
          <p:cNvSpPr txBox="1">
            <a:spLocks noChangeArrowheads="1"/>
          </p:cNvSpPr>
          <p:nvPr/>
        </p:nvSpPr>
        <p:spPr bwMode="gray">
          <a:xfrm>
            <a:off x="2890838" y="1428638"/>
            <a:ext cx="1676400" cy="581025"/>
          </a:xfrm>
          <a:prstGeom prst="rect">
            <a:avLst/>
          </a:prstGeom>
          <a:noFill/>
          <a:ln w="9525">
            <a:noFill/>
            <a:miter lim="800000"/>
          </a:ln>
          <a:effectLst/>
        </p:spPr>
        <p:txBody>
          <a:bodyPr>
            <a:spAutoFit/>
          </a:bodyPr>
          <a:lstStyle/>
          <a:p>
            <a:pPr algn="ctr" fontAlgn="auto">
              <a:spcBef>
                <a:spcPct val="50000"/>
              </a:spcBef>
              <a:spcAft>
                <a:spcPts val="0"/>
              </a:spcAft>
              <a:defRPr/>
            </a:pP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20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世纪</a:t>
            </a: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60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年代至</a:t>
            </a: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70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年代中期</a:t>
            </a:r>
          </a:p>
        </p:txBody>
      </p:sp>
      <p:sp>
        <p:nvSpPr>
          <p:cNvPr id="11" name="Rectangle 9"/>
          <p:cNvSpPr>
            <a:spLocks noChangeArrowheads="1"/>
          </p:cNvSpPr>
          <p:nvPr/>
        </p:nvSpPr>
        <p:spPr bwMode="gray">
          <a:xfrm>
            <a:off x="998539" y="1535001"/>
            <a:ext cx="1836737" cy="369887"/>
          </a:xfrm>
          <a:prstGeom prst="rect">
            <a:avLst/>
          </a:prstGeom>
          <a:noFill/>
          <a:ln w="9525" algn="ctr">
            <a:noFill/>
            <a:miter lim="800000"/>
          </a:ln>
          <a:effectLst>
            <a:outerShdw dist="17961" dir="2700000" algn="ctr" rotWithShape="0">
              <a:srgbClr val="003300"/>
            </a:outerShdw>
          </a:effectLst>
        </p:spPr>
        <p:txBody>
          <a:bodyPr>
            <a:spAutoFit/>
          </a:bodyPr>
          <a:lstStyle/>
          <a:p>
            <a:pPr algn="ctr" fontAlgn="auto">
              <a:spcBef>
                <a:spcPts val="0"/>
              </a:spcBef>
              <a:spcAft>
                <a:spcPts val="0"/>
              </a:spcAft>
              <a:defRPr/>
            </a:pPr>
            <a:r>
              <a:rPr lang="en-US" altLang="zh-CN" b="1" dirty="0">
                <a:solidFill>
                  <a:srgbClr val="FFFF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20</a:t>
            </a:r>
            <a:r>
              <a:rPr lang="zh-CN" altLang="en-US" b="1" dirty="0">
                <a:solidFill>
                  <a:srgbClr val="FFFF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世纪</a:t>
            </a:r>
            <a:r>
              <a:rPr lang="en-US" altLang="zh-CN" b="1" dirty="0">
                <a:solidFill>
                  <a:srgbClr val="FFFF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50</a:t>
            </a:r>
            <a:r>
              <a:rPr lang="zh-CN" altLang="en-US" b="1" dirty="0">
                <a:solidFill>
                  <a:srgbClr val="FFFF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年代</a:t>
            </a:r>
          </a:p>
        </p:txBody>
      </p:sp>
      <p:sp>
        <p:nvSpPr>
          <p:cNvPr id="12" name="AutoShape 10"/>
          <p:cNvSpPr>
            <a:spLocks noChangeArrowheads="1"/>
          </p:cNvSpPr>
          <p:nvPr/>
        </p:nvSpPr>
        <p:spPr bwMode="gray">
          <a:xfrm>
            <a:off x="4462463" y="1595325"/>
            <a:ext cx="368300" cy="273050"/>
          </a:xfrm>
          <a:prstGeom prst="rightArrow">
            <a:avLst>
              <a:gd name="adj1" fmla="val 50000"/>
              <a:gd name="adj2" fmla="val 60467"/>
            </a:avLst>
          </a:prstGeom>
          <a:gradFill rotWithShape="1">
            <a:gsLst>
              <a:gs pos="0">
                <a:srgbClr val="D7D7C3"/>
              </a:gs>
              <a:gs pos="100000">
                <a:schemeClr val="hlink"/>
              </a:gs>
            </a:gsLst>
            <a:lin ang="0" scaled="1"/>
          </a:gradFill>
          <a:ln w="9525" algn="ctr">
            <a:noFill/>
            <a:miter lim="800000"/>
          </a:ln>
          <a:effectLst>
            <a:outerShdw dist="28398" dir="1593903" algn="ctr" rotWithShape="0">
              <a:srgbClr val="756B2F">
                <a:alpha val="50000"/>
              </a:srgbClr>
            </a:outerShdw>
          </a:effectLst>
        </p:spPr>
        <p:txBody>
          <a:bodyPr wrap="none" anchor="ctr"/>
          <a:lstStyle/>
          <a:p>
            <a:pPr fontAlgn="auto">
              <a:spcBef>
                <a:spcPts val="0"/>
              </a:spcBef>
              <a:spcAft>
                <a:spcPts val="0"/>
              </a:spcAft>
              <a:defRPr/>
            </a:pPr>
            <a:endParaRPr lang="zh-CN" altLang="en-US" b="1">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sp>
        <p:nvSpPr>
          <p:cNvPr id="13" name="Text Box 11"/>
          <p:cNvSpPr txBox="1">
            <a:spLocks noChangeArrowheads="1"/>
          </p:cNvSpPr>
          <p:nvPr/>
        </p:nvSpPr>
        <p:spPr bwMode="gray">
          <a:xfrm>
            <a:off x="4841875" y="1428638"/>
            <a:ext cx="1676400" cy="581025"/>
          </a:xfrm>
          <a:prstGeom prst="rect">
            <a:avLst/>
          </a:prstGeom>
          <a:noFill/>
          <a:ln w="9525">
            <a:noFill/>
            <a:miter lim="800000"/>
          </a:ln>
          <a:effectLst/>
        </p:spPr>
        <p:txBody>
          <a:bodyPr>
            <a:spAutoFit/>
          </a:bodyPr>
          <a:lstStyle/>
          <a:p>
            <a:pPr algn="ctr" fontAlgn="auto">
              <a:spcBef>
                <a:spcPct val="50000"/>
              </a:spcBef>
              <a:spcAft>
                <a:spcPts val="0"/>
              </a:spcAft>
              <a:defRPr/>
            </a:pP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20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世纪</a:t>
            </a: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70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年代中期至</a:t>
            </a: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80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年代</a:t>
            </a:r>
          </a:p>
        </p:txBody>
      </p:sp>
      <p:sp>
        <p:nvSpPr>
          <p:cNvPr id="14" name="AutoShape 12"/>
          <p:cNvSpPr>
            <a:spLocks noChangeArrowheads="1"/>
          </p:cNvSpPr>
          <p:nvPr/>
        </p:nvSpPr>
        <p:spPr bwMode="gray">
          <a:xfrm>
            <a:off x="6491288" y="1595325"/>
            <a:ext cx="368300" cy="273050"/>
          </a:xfrm>
          <a:prstGeom prst="rightArrow">
            <a:avLst>
              <a:gd name="adj1" fmla="val 50000"/>
              <a:gd name="adj2" fmla="val 60467"/>
            </a:avLst>
          </a:prstGeom>
          <a:gradFill rotWithShape="1">
            <a:gsLst>
              <a:gs pos="0">
                <a:srgbClr val="D7D7C3"/>
              </a:gs>
              <a:gs pos="100000">
                <a:schemeClr val="hlink"/>
              </a:gs>
            </a:gsLst>
            <a:lin ang="0" scaled="1"/>
          </a:gradFill>
          <a:ln w="9525" algn="ctr">
            <a:noFill/>
            <a:miter lim="800000"/>
          </a:ln>
          <a:effectLst>
            <a:outerShdw dist="28398" dir="1593903" algn="ctr" rotWithShape="0">
              <a:srgbClr val="756B2F">
                <a:alpha val="50000"/>
              </a:srgbClr>
            </a:outerShdw>
          </a:effectLst>
        </p:spPr>
        <p:txBody>
          <a:bodyPr wrap="none" anchor="ctr"/>
          <a:lstStyle/>
          <a:p>
            <a:pPr fontAlgn="auto">
              <a:spcBef>
                <a:spcPts val="0"/>
              </a:spcBef>
              <a:spcAft>
                <a:spcPts val="0"/>
              </a:spcAft>
              <a:defRPr/>
            </a:pPr>
            <a:endParaRPr lang="zh-CN" altLang="en-US" b="1">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sp>
        <p:nvSpPr>
          <p:cNvPr id="15" name="Text Box 13"/>
          <p:cNvSpPr txBox="1">
            <a:spLocks noChangeArrowheads="1"/>
          </p:cNvSpPr>
          <p:nvPr/>
        </p:nvSpPr>
        <p:spPr bwMode="gray">
          <a:xfrm>
            <a:off x="6829425" y="1428638"/>
            <a:ext cx="1676400" cy="581025"/>
          </a:xfrm>
          <a:prstGeom prst="rect">
            <a:avLst/>
          </a:prstGeom>
          <a:noFill/>
          <a:ln w="9525">
            <a:noFill/>
            <a:miter lim="800000"/>
          </a:ln>
          <a:effectLst/>
        </p:spPr>
        <p:txBody>
          <a:bodyPr>
            <a:spAutoFit/>
          </a:bodyPr>
          <a:lstStyle/>
          <a:p>
            <a:pPr algn="ctr" fontAlgn="auto">
              <a:spcBef>
                <a:spcPct val="50000"/>
              </a:spcBef>
              <a:spcAft>
                <a:spcPts val="0"/>
              </a:spcAft>
              <a:defRPr/>
            </a:pP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20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世纪</a:t>
            </a:r>
            <a:r>
              <a:rPr lang="en-US" altLang="zh-CN"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90</a:t>
            </a:r>
            <a:r>
              <a:rPr lang="zh-CN" altLang="en-US" sz="1600" b="1" dirty="0">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年代至现在</a:t>
            </a:r>
          </a:p>
        </p:txBody>
      </p:sp>
      <p:sp>
        <p:nvSpPr>
          <p:cNvPr id="16" name="AutoShape 14"/>
          <p:cNvSpPr>
            <a:spLocks noChangeArrowheads="1"/>
          </p:cNvSpPr>
          <p:nvPr/>
        </p:nvSpPr>
        <p:spPr bwMode="gray">
          <a:xfrm>
            <a:off x="1273148" y="2177924"/>
            <a:ext cx="1114425" cy="1114425"/>
          </a:xfrm>
          <a:prstGeom prst="diamond">
            <a:avLst/>
          </a:prstGeom>
        </p:spPr>
        <p:style>
          <a:lnRef idx="0">
            <a:schemeClr val="accent3"/>
          </a:lnRef>
          <a:fillRef idx="3">
            <a:schemeClr val="accent3"/>
          </a:fillRef>
          <a:effectRef idx="3">
            <a:schemeClr val="accent3"/>
          </a:effectRef>
          <a:fontRef idx="minor">
            <a:schemeClr val="lt1"/>
          </a:fontRef>
        </p:style>
        <p:txBody>
          <a:bodyPr wrap="none" anchor="ctr">
            <a:flatTx/>
          </a:bodyPr>
          <a:lstStyle/>
          <a:p>
            <a:pPr fontAlgn="auto">
              <a:spcBef>
                <a:spcPts val="0"/>
              </a:spcBef>
              <a:spcAft>
                <a:spcPts val="0"/>
              </a:spcAft>
              <a:defRPr/>
            </a:pPr>
            <a:endParaRPr lang="zh-CN" altLang="en-US">
              <a:latin typeface="黑体" panose="02010609060101010101" pitchFamily="2" charset="-122"/>
              <a:ea typeface="黑体" panose="02010609060101010101" pitchFamily="2" charset="-122"/>
            </a:endParaRPr>
          </a:p>
        </p:txBody>
      </p:sp>
      <p:sp>
        <p:nvSpPr>
          <p:cNvPr id="17" name="AutoShape 15"/>
          <p:cNvSpPr>
            <a:spLocks noChangeArrowheads="1"/>
          </p:cNvSpPr>
          <p:nvPr/>
        </p:nvSpPr>
        <p:spPr bwMode="gray">
          <a:xfrm>
            <a:off x="3167051" y="2177924"/>
            <a:ext cx="1114425" cy="1114425"/>
          </a:xfrm>
          <a:prstGeom prst="diamond">
            <a:avLst/>
          </a:prstGeom>
        </p:spPr>
        <p:style>
          <a:lnRef idx="0">
            <a:schemeClr val="accent4"/>
          </a:lnRef>
          <a:fillRef idx="3">
            <a:schemeClr val="accent4"/>
          </a:fillRef>
          <a:effectRef idx="3">
            <a:schemeClr val="accent4"/>
          </a:effectRef>
          <a:fontRef idx="minor">
            <a:schemeClr val="lt1"/>
          </a:fontRef>
        </p:style>
        <p:txBody>
          <a:bodyPr wrap="none" anchor="ctr">
            <a:flatTx/>
          </a:bodyPr>
          <a:lstStyle/>
          <a:p>
            <a:pPr fontAlgn="auto">
              <a:spcBef>
                <a:spcPts val="0"/>
              </a:spcBef>
              <a:spcAft>
                <a:spcPts val="0"/>
              </a:spcAft>
              <a:defRPr/>
            </a:pPr>
            <a:endParaRPr lang="zh-CN" altLang="en-US">
              <a:latin typeface="黑体" panose="02010609060101010101" pitchFamily="2" charset="-122"/>
              <a:ea typeface="黑体" panose="02010609060101010101" pitchFamily="2" charset="-122"/>
            </a:endParaRPr>
          </a:p>
        </p:txBody>
      </p:sp>
      <p:sp>
        <p:nvSpPr>
          <p:cNvPr id="18" name="AutoShape 16"/>
          <p:cNvSpPr>
            <a:spLocks noChangeArrowheads="1"/>
          </p:cNvSpPr>
          <p:nvPr/>
        </p:nvSpPr>
        <p:spPr bwMode="gray">
          <a:xfrm>
            <a:off x="5167315" y="2177924"/>
            <a:ext cx="1114425" cy="1114425"/>
          </a:xfrm>
          <a:prstGeom prst="diamond">
            <a:avLst/>
          </a:prstGeom>
        </p:spPr>
        <p:style>
          <a:lnRef idx="0">
            <a:schemeClr val="accent6"/>
          </a:lnRef>
          <a:fillRef idx="3">
            <a:schemeClr val="accent6"/>
          </a:fillRef>
          <a:effectRef idx="3">
            <a:schemeClr val="accent6"/>
          </a:effectRef>
          <a:fontRef idx="minor">
            <a:schemeClr val="lt1"/>
          </a:fontRef>
        </p:style>
        <p:txBody>
          <a:bodyPr wrap="none" anchor="ctr">
            <a:flatTx/>
          </a:bodyPr>
          <a:lstStyle/>
          <a:p>
            <a:pPr fontAlgn="auto">
              <a:spcBef>
                <a:spcPts val="0"/>
              </a:spcBef>
              <a:spcAft>
                <a:spcPts val="0"/>
              </a:spcAft>
              <a:defRPr/>
            </a:pPr>
            <a:endParaRPr lang="zh-CN" altLang="en-US">
              <a:latin typeface="黑体" panose="02010609060101010101" pitchFamily="2" charset="-122"/>
              <a:ea typeface="黑体" panose="02010609060101010101" pitchFamily="2" charset="-122"/>
            </a:endParaRPr>
          </a:p>
        </p:txBody>
      </p:sp>
      <p:sp>
        <p:nvSpPr>
          <p:cNvPr id="19" name="AutoShape 17"/>
          <p:cNvSpPr>
            <a:spLocks noChangeArrowheads="1"/>
          </p:cNvSpPr>
          <p:nvPr/>
        </p:nvSpPr>
        <p:spPr bwMode="gray">
          <a:xfrm>
            <a:off x="7410476" y="2177924"/>
            <a:ext cx="1114425" cy="1114425"/>
          </a:xfrm>
          <a:prstGeom prst="diamond">
            <a:avLst/>
          </a:prstGeom>
        </p:spPr>
        <p:style>
          <a:lnRef idx="0">
            <a:schemeClr val="accent5"/>
          </a:lnRef>
          <a:fillRef idx="3">
            <a:schemeClr val="accent5"/>
          </a:fillRef>
          <a:effectRef idx="3">
            <a:schemeClr val="accent5"/>
          </a:effectRef>
          <a:fontRef idx="minor">
            <a:schemeClr val="lt1"/>
          </a:fontRef>
        </p:style>
        <p:txBody>
          <a:bodyPr wrap="none" anchor="ctr">
            <a:flatTx/>
          </a:bodyPr>
          <a:lstStyle/>
          <a:p>
            <a:pPr fontAlgn="auto">
              <a:spcBef>
                <a:spcPts val="0"/>
              </a:spcBef>
              <a:spcAft>
                <a:spcPts val="0"/>
              </a:spcAft>
              <a:defRPr/>
            </a:pPr>
            <a:endParaRPr lang="zh-CN" altLang="en-US">
              <a:latin typeface="黑体" panose="02010609060101010101" pitchFamily="2" charset="-122"/>
              <a:ea typeface="黑体" panose="02010609060101010101" pitchFamily="2" charset="-122"/>
            </a:endParaRPr>
          </a:p>
        </p:txBody>
      </p:sp>
      <p:cxnSp>
        <p:nvCxnSpPr>
          <p:cNvPr id="29721" name="AutoShape 18"/>
          <p:cNvCxnSpPr>
            <a:cxnSpLocks noChangeShapeType="1"/>
          </p:cNvCxnSpPr>
          <p:nvPr/>
        </p:nvCxnSpPr>
        <p:spPr bwMode="gray">
          <a:xfrm>
            <a:off x="2387601" y="2735151"/>
            <a:ext cx="779463" cy="1587"/>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cxnSp>
        <p:nvCxnSpPr>
          <p:cNvPr id="29722" name="AutoShape 19"/>
          <p:cNvCxnSpPr>
            <a:cxnSpLocks noChangeShapeType="1"/>
          </p:cNvCxnSpPr>
          <p:nvPr/>
        </p:nvCxnSpPr>
        <p:spPr bwMode="gray">
          <a:xfrm>
            <a:off x="4281489" y="2735151"/>
            <a:ext cx="885825" cy="1587"/>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cxnSp>
        <p:nvCxnSpPr>
          <p:cNvPr id="29723" name="AutoShape 20"/>
          <p:cNvCxnSpPr>
            <a:cxnSpLocks noChangeShapeType="1"/>
          </p:cNvCxnSpPr>
          <p:nvPr/>
        </p:nvCxnSpPr>
        <p:spPr bwMode="gray">
          <a:xfrm>
            <a:off x="6281738" y="2735151"/>
            <a:ext cx="1128712" cy="1587"/>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sp>
        <p:nvSpPr>
          <p:cNvPr id="23" name="Text Box 21"/>
          <p:cNvSpPr txBox="1">
            <a:spLocks noChangeArrowheads="1"/>
          </p:cNvSpPr>
          <p:nvPr/>
        </p:nvSpPr>
        <p:spPr bwMode="gray">
          <a:xfrm>
            <a:off x="1376364" y="2503375"/>
            <a:ext cx="866775" cy="457200"/>
          </a:xfrm>
          <a:prstGeom prst="rect">
            <a:avLst/>
          </a:prstGeom>
          <a:noFill/>
          <a:ln w="9525">
            <a:noFill/>
            <a:miter lim="800000"/>
          </a:ln>
          <a:effectLst/>
        </p:spPr>
        <p:txBody>
          <a:bodyPr>
            <a:spAutoFit/>
          </a:bodyPr>
          <a:lstStyle/>
          <a:p>
            <a:pPr algn="ctr" fontAlgn="auto">
              <a:spcBef>
                <a:spcPct val="50000"/>
              </a:spcBef>
              <a:spcAft>
                <a:spcPts val="0"/>
              </a:spcAft>
              <a:defRPr/>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萌芽</a:t>
            </a:r>
          </a:p>
        </p:txBody>
      </p:sp>
      <p:sp>
        <p:nvSpPr>
          <p:cNvPr id="24" name="Text Box 22"/>
          <p:cNvSpPr txBox="1">
            <a:spLocks noChangeArrowheads="1"/>
          </p:cNvSpPr>
          <p:nvPr/>
        </p:nvSpPr>
        <p:spPr bwMode="gray">
          <a:xfrm>
            <a:off x="3309939" y="2503375"/>
            <a:ext cx="866775" cy="457200"/>
          </a:xfrm>
          <a:prstGeom prst="rect">
            <a:avLst/>
          </a:prstGeom>
          <a:noFill/>
          <a:ln w="9525">
            <a:noFill/>
            <a:miter lim="800000"/>
          </a:ln>
          <a:effectLst/>
        </p:spPr>
        <p:txBody>
          <a:bodyPr>
            <a:spAutoFit/>
          </a:bodyPr>
          <a:lstStyle/>
          <a:p>
            <a:pPr algn="ctr" fontAlgn="auto">
              <a:spcBef>
                <a:spcPct val="50000"/>
              </a:spcBef>
              <a:spcAft>
                <a:spcPts val="0"/>
              </a:spcAft>
              <a:defRPr/>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雏形</a:t>
            </a:r>
          </a:p>
        </p:txBody>
      </p:sp>
      <p:sp>
        <p:nvSpPr>
          <p:cNvPr id="25" name="Text Box 23"/>
          <p:cNvSpPr txBox="1">
            <a:spLocks noChangeArrowheads="1"/>
          </p:cNvSpPr>
          <p:nvPr/>
        </p:nvSpPr>
        <p:spPr bwMode="gray">
          <a:xfrm>
            <a:off x="5310189" y="2503375"/>
            <a:ext cx="866775" cy="457200"/>
          </a:xfrm>
          <a:prstGeom prst="rect">
            <a:avLst/>
          </a:prstGeom>
          <a:noFill/>
          <a:ln w="9525">
            <a:noFill/>
            <a:miter lim="800000"/>
          </a:ln>
          <a:effectLst/>
        </p:spPr>
        <p:txBody>
          <a:bodyPr>
            <a:spAutoFit/>
          </a:bodyPr>
          <a:lstStyle/>
          <a:p>
            <a:pPr algn="ctr" fontAlgn="auto">
              <a:spcBef>
                <a:spcPct val="50000"/>
              </a:spcBef>
              <a:spcAft>
                <a:spcPts val="0"/>
              </a:spcAft>
              <a:defRPr/>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发展</a:t>
            </a:r>
          </a:p>
        </p:txBody>
      </p:sp>
      <p:sp>
        <p:nvSpPr>
          <p:cNvPr id="26" name="Text Box 24"/>
          <p:cNvSpPr txBox="1">
            <a:spLocks noChangeArrowheads="1"/>
          </p:cNvSpPr>
          <p:nvPr/>
        </p:nvSpPr>
        <p:spPr bwMode="gray">
          <a:xfrm>
            <a:off x="7524751" y="2503375"/>
            <a:ext cx="866775" cy="457200"/>
          </a:xfrm>
          <a:prstGeom prst="rect">
            <a:avLst/>
          </a:prstGeom>
          <a:noFill/>
          <a:ln w="9525">
            <a:noFill/>
            <a:miter lim="800000"/>
          </a:ln>
          <a:effectLst/>
        </p:spPr>
        <p:txBody>
          <a:bodyPr>
            <a:spAutoFit/>
          </a:bodyPr>
          <a:lstStyle/>
          <a:p>
            <a:pPr algn="ctr" fontAlgn="auto">
              <a:spcBef>
                <a:spcPct val="50000"/>
              </a:spcBef>
              <a:spcAft>
                <a:spcPts val="0"/>
              </a:spcAft>
              <a:defRPr/>
            </a:pPr>
            <a:r>
              <a:rPr lang="zh-CN" altLang="en-US" sz="24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成熟</a:t>
            </a:r>
          </a:p>
        </p:txBody>
      </p:sp>
      <p:sp>
        <p:nvSpPr>
          <p:cNvPr id="27" name="Text Box 25"/>
          <p:cNvSpPr txBox="1">
            <a:spLocks noChangeArrowheads="1"/>
          </p:cNvSpPr>
          <p:nvPr/>
        </p:nvSpPr>
        <p:spPr bwMode="gray">
          <a:xfrm>
            <a:off x="952500" y="3371737"/>
            <a:ext cx="1728788" cy="1531938"/>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dist" fontAlgn="auto">
              <a:spcBef>
                <a:spcPct val="20000"/>
              </a:spcBef>
              <a:spcAft>
                <a:spcPts val="0"/>
              </a:spcAft>
              <a:defRPr/>
            </a:pPr>
            <a:r>
              <a:rPr lang="zh-CN" altLang="en-US" dirty="0">
                <a:solidFill>
                  <a:srgbClr val="FF0000"/>
                </a:solidFill>
                <a:latin typeface="黑体" panose="02010609060101010101" pitchFamily="2" charset="-122"/>
                <a:ea typeface="黑体" panose="02010609060101010101" pitchFamily="2" charset="-122"/>
              </a:rPr>
              <a:t>主机</a:t>
            </a:r>
            <a:r>
              <a:rPr lang="en-US" altLang="zh-CN" dirty="0">
                <a:solidFill>
                  <a:srgbClr val="FF0000"/>
                </a:solidFill>
                <a:latin typeface="黑体" panose="02010609060101010101" pitchFamily="2" charset="-122"/>
                <a:ea typeface="黑体" panose="02010609060101010101" pitchFamily="2" charset="-122"/>
              </a:rPr>
              <a:t>-</a:t>
            </a:r>
            <a:r>
              <a:rPr lang="zh-CN" altLang="en-US" dirty="0">
                <a:solidFill>
                  <a:srgbClr val="FF0000"/>
                </a:solidFill>
                <a:latin typeface="黑体" panose="02010609060101010101" pitchFamily="2" charset="-122"/>
                <a:ea typeface="黑体" panose="02010609060101010101" pitchFamily="2" charset="-122"/>
              </a:rPr>
              <a:t>终端模式</a:t>
            </a:r>
          </a:p>
          <a:p>
            <a:pPr algn="dist" fontAlgn="auto">
              <a:spcBef>
                <a:spcPct val="20000"/>
              </a:spcBef>
              <a:spcAft>
                <a:spcPts val="0"/>
              </a:spcAft>
              <a:defRPr/>
            </a:pPr>
            <a:r>
              <a:rPr lang="zh-CN" altLang="en-US" dirty="0">
                <a:solidFill>
                  <a:schemeClr val="tx1"/>
                </a:solidFill>
                <a:latin typeface="黑体" panose="02010609060101010101" pitchFamily="2" charset="-122"/>
                <a:ea typeface="黑体" panose="02010609060101010101" pitchFamily="2" charset="-122"/>
              </a:rPr>
              <a:t>单机联机系统为主，作技术准备和理论层面的研究；</a:t>
            </a:r>
          </a:p>
        </p:txBody>
      </p:sp>
      <p:sp>
        <p:nvSpPr>
          <p:cNvPr id="28" name="Text Box 26"/>
          <p:cNvSpPr txBox="1">
            <a:spLocks noChangeArrowheads="1"/>
          </p:cNvSpPr>
          <p:nvPr/>
        </p:nvSpPr>
        <p:spPr bwMode="gray">
          <a:xfrm>
            <a:off x="2881313" y="3316176"/>
            <a:ext cx="1619250" cy="2085975"/>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dist" fontAlgn="auto">
              <a:spcBef>
                <a:spcPct val="20000"/>
              </a:spcBef>
              <a:spcAft>
                <a:spcPts val="0"/>
              </a:spcAft>
              <a:buClr>
                <a:schemeClr val="folHlink"/>
              </a:buClr>
              <a:buSzPct val="85000"/>
              <a:defRPr/>
            </a:pPr>
            <a:r>
              <a:rPr lang="zh-CN" altLang="en-US" dirty="0">
                <a:solidFill>
                  <a:srgbClr val="FF0000"/>
                </a:solidFill>
                <a:latin typeface="黑体" panose="02010609060101010101" pitchFamily="2" charset="-122"/>
                <a:ea typeface="黑体" panose="02010609060101010101" pitchFamily="2" charset="-122"/>
              </a:rPr>
              <a:t>计算机</a:t>
            </a:r>
            <a:r>
              <a:rPr lang="en-US" altLang="zh-CN" dirty="0">
                <a:solidFill>
                  <a:srgbClr val="FF0000"/>
                </a:solidFill>
                <a:latin typeface="黑体" panose="02010609060101010101" pitchFamily="2" charset="-122"/>
                <a:ea typeface="黑体" panose="02010609060101010101" pitchFamily="2" charset="-122"/>
              </a:rPr>
              <a:t>-</a:t>
            </a:r>
            <a:r>
              <a:rPr lang="zh-CN" altLang="en-US" dirty="0">
                <a:solidFill>
                  <a:srgbClr val="FF0000"/>
                </a:solidFill>
                <a:latin typeface="黑体" panose="02010609060101010101" pitchFamily="2" charset="-122"/>
                <a:ea typeface="黑体" panose="02010609060101010101" pitchFamily="2" charset="-122"/>
              </a:rPr>
              <a:t>计算机网络模式</a:t>
            </a:r>
          </a:p>
          <a:p>
            <a:pPr algn="dist" fontAlgn="auto">
              <a:spcBef>
                <a:spcPct val="20000"/>
              </a:spcBef>
              <a:spcAft>
                <a:spcPts val="0"/>
              </a:spcAft>
              <a:buClr>
                <a:schemeClr val="folHlink"/>
              </a:buClr>
              <a:buSzPct val="85000"/>
              <a:defRPr/>
            </a:pPr>
            <a:r>
              <a:rPr lang="zh-CN" altLang="en-US" dirty="0">
                <a:solidFill>
                  <a:schemeClr val="tx1"/>
                </a:solidFill>
                <a:latin typeface="黑体" panose="02010609060101010101" pitchFamily="2" charset="-122"/>
                <a:ea typeface="黑体" panose="02010609060101010101" pitchFamily="2" charset="-122"/>
              </a:rPr>
              <a:t>广域网技术为主，形成分组交换技术，以</a:t>
            </a:r>
            <a:r>
              <a:rPr lang="en-US" altLang="zh-CN" dirty="0">
                <a:solidFill>
                  <a:schemeClr val="tx1"/>
                </a:solidFill>
                <a:latin typeface="黑体" panose="02010609060101010101" pitchFamily="2" charset="-122"/>
                <a:ea typeface="黑体" panose="02010609060101010101" pitchFamily="2" charset="-122"/>
              </a:rPr>
              <a:t>ARPANET</a:t>
            </a:r>
            <a:r>
              <a:rPr lang="zh-CN" altLang="en-US" dirty="0">
                <a:solidFill>
                  <a:schemeClr val="tx1"/>
                </a:solidFill>
                <a:latin typeface="黑体" panose="02010609060101010101" pitchFamily="2" charset="-122"/>
                <a:ea typeface="黑体" panose="02010609060101010101" pitchFamily="2" charset="-122"/>
              </a:rPr>
              <a:t>网络为典型代表；</a:t>
            </a:r>
          </a:p>
        </p:txBody>
      </p:sp>
      <p:sp>
        <p:nvSpPr>
          <p:cNvPr id="29" name="Text Box 27"/>
          <p:cNvSpPr txBox="1">
            <a:spLocks noChangeArrowheads="1"/>
          </p:cNvSpPr>
          <p:nvPr/>
        </p:nvSpPr>
        <p:spPr bwMode="gray">
          <a:xfrm>
            <a:off x="4738689" y="3300301"/>
            <a:ext cx="1995487" cy="2751137"/>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dist" fontAlgn="auto">
              <a:spcBef>
                <a:spcPct val="20000"/>
              </a:spcBef>
              <a:spcAft>
                <a:spcPts val="0"/>
              </a:spcAft>
              <a:buClr>
                <a:schemeClr val="folHlink"/>
              </a:buClr>
              <a:buSzPct val="85000"/>
              <a:defRPr/>
            </a:pPr>
            <a:r>
              <a:rPr lang="zh-CN" altLang="en-US" dirty="0">
                <a:solidFill>
                  <a:srgbClr val="FF0000"/>
                </a:solidFill>
                <a:latin typeface="黑体" panose="02010609060101010101" pitchFamily="2" charset="-122"/>
                <a:ea typeface="黑体" panose="02010609060101010101" pitchFamily="2" charset="-122"/>
              </a:rPr>
              <a:t>标准化体系结构计算机网络模式</a:t>
            </a:r>
          </a:p>
          <a:p>
            <a:pPr algn="dist" fontAlgn="auto">
              <a:spcBef>
                <a:spcPct val="20000"/>
              </a:spcBef>
              <a:spcAft>
                <a:spcPts val="0"/>
              </a:spcAft>
              <a:buClr>
                <a:schemeClr val="folHlink"/>
              </a:buClr>
              <a:buSzPct val="85000"/>
              <a:defRPr/>
            </a:pPr>
            <a:r>
              <a:rPr lang="zh-CN" altLang="en-US" sz="1900" dirty="0">
                <a:solidFill>
                  <a:schemeClr val="tx1"/>
                </a:solidFill>
                <a:latin typeface="黑体" panose="02010609060101010101" pitchFamily="2" charset="-122"/>
                <a:ea typeface="黑体" panose="02010609060101010101" pitchFamily="2" charset="-122"/>
              </a:rPr>
              <a:t>发展各种广域网和局域网技术，形成多种网络体系结构推出具有重大历史意义的</a:t>
            </a:r>
            <a:r>
              <a:rPr lang="en-US" altLang="zh-CN" sz="1900" dirty="0">
                <a:solidFill>
                  <a:schemeClr val="tx1"/>
                </a:solidFill>
                <a:latin typeface="黑体" panose="02010609060101010101" pitchFamily="2" charset="-122"/>
                <a:ea typeface="黑体" panose="02010609060101010101" pitchFamily="2" charset="-122"/>
              </a:rPr>
              <a:t>TCP/IP</a:t>
            </a:r>
            <a:r>
              <a:rPr lang="zh-CN" altLang="en-US" sz="1900" dirty="0">
                <a:solidFill>
                  <a:schemeClr val="tx1"/>
                </a:solidFill>
                <a:latin typeface="黑体" panose="02010609060101010101" pitchFamily="2" charset="-122"/>
                <a:ea typeface="黑体" panose="02010609060101010101" pitchFamily="2" charset="-122"/>
              </a:rPr>
              <a:t>协议、以太网等技术；</a:t>
            </a:r>
          </a:p>
        </p:txBody>
      </p:sp>
      <p:sp>
        <p:nvSpPr>
          <p:cNvPr id="30" name="Text Box 28"/>
          <p:cNvSpPr txBox="1">
            <a:spLocks noChangeArrowheads="1"/>
          </p:cNvSpPr>
          <p:nvPr/>
        </p:nvSpPr>
        <p:spPr bwMode="gray">
          <a:xfrm>
            <a:off x="6958014" y="3300301"/>
            <a:ext cx="1995487" cy="3335020"/>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pPr algn="dist" fontAlgn="auto">
              <a:spcBef>
                <a:spcPct val="20000"/>
              </a:spcBef>
              <a:spcAft>
                <a:spcPts val="0"/>
              </a:spcAft>
              <a:defRPr/>
            </a:pPr>
            <a:r>
              <a:rPr lang="zh-CN" altLang="en-US" dirty="0">
                <a:solidFill>
                  <a:srgbClr val="FF0000"/>
                </a:solidFill>
                <a:latin typeface="黑体" panose="02010609060101010101" pitchFamily="2" charset="-122"/>
                <a:ea typeface="黑体" panose="02010609060101010101" pitchFamily="2" charset="-122"/>
              </a:rPr>
              <a:t>高速综合网络和网络互连模式</a:t>
            </a:r>
          </a:p>
          <a:p>
            <a:pPr algn="dist" fontAlgn="auto">
              <a:spcBef>
                <a:spcPct val="20000"/>
              </a:spcBef>
              <a:spcAft>
                <a:spcPts val="0"/>
              </a:spcAft>
              <a:defRPr/>
            </a:pPr>
            <a:r>
              <a:rPr lang="zh-CN" altLang="en-US" sz="1900" dirty="0">
                <a:solidFill>
                  <a:schemeClr val="tx1"/>
                </a:solidFill>
                <a:latin typeface="黑体" panose="02010609060101010101" pitchFamily="2" charset="-122"/>
                <a:ea typeface="黑体" panose="02010609060101010101" pitchFamily="2" charset="-122"/>
              </a:rPr>
              <a:t>以</a:t>
            </a:r>
            <a:r>
              <a:rPr lang="en-US" altLang="zh-CN" sz="1900" dirty="0">
                <a:solidFill>
                  <a:schemeClr val="tx1"/>
                </a:solidFill>
                <a:latin typeface="黑体" panose="02010609060101010101" pitchFamily="2" charset="-122"/>
                <a:ea typeface="黑体" panose="02010609060101010101" pitchFamily="2" charset="-122"/>
              </a:rPr>
              <a:t>Internet</a:t>
            </a:r>
            <a:r>
              <a:rPr lang="zh-CN" altLang="en-US" sz="1900" dirty="0">
                <a:solidFill>
                  <a:schemeClr val="tx1"/>
                </a:solidFill>
                <a:latin typeface="黑体" panose="02010609060101010101" pitchFamily="2" charset="-122"/>
                <a:ea typeface="黑体" panose="02010609060101010101" pitchFamily="2" charset="-122"/>
              </a:rPr>
              <a:t>的发展与推广应用为主，大力发展多种高速网络技术，网络安全技术显得更为重要，网络结构化布线与系统集成等技术投入使用。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20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20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0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0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additive="base">
                                        <p:cTn id="53" dur="500" fill="hold"/>
                                        <p:tgtEl>
                                          <p:spTgt spid="28"/>
                                        </p:tgtEl>
                                        <p:attrNameLst>
                                          <p:attrName>ppt_x</p:attrName>
                                        </p:attrNameLst>
                                      </p:cBhvr>
                                      <p:tavLst>
                                        <p:tav tm="0">
                                          <p:val>
                                            <p:strVal val="#ppt_x"/>
                                          </p:val>
                                        </p:tav>
                                        <p:tav tm="100000">
                                          <p:val>
                                            <p:strVal val="#ppt_x"/>
                                          </p:val>
                                        </p:tav>
                                      </p:tavLst>
                                    </p:anim>
                                    <p:anim calcmode="lin" valueType="num">
                                      <p:cBhvr additive="base">
                                        <p:cTn id="5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ppt_x"/>
                                          </p:val>
                                        </p:tav>
                                        <p:tav tm="100000">
                                          <p:val>
                                            <p:strVal val="#ppt_x"/>
                                          </p:val>
                                        </p:tav>
                                      </p:tavLst>
                                    </p:anim>
                                    <p:anim calcmode="lin" valueType="num">
                                      <p:cBhvr additive="base">
                                        <p:cTn id="6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ppt_x"/>
                                          </p:val>
                                        </p:tav>
                                        <p:tav tm="100000">
                                          <p:val>
                                            <p:strVal val="#ppt_x"/>
                                          </p:val>
                                        </p:tav>
                                      </p:tavLst>
                                    </p:anim>
                                    <p:anim calcmode="lin" valueType="num">
                                      <p:cBhvr additive="base">
                                        <p:cTn id="6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3" grpId="0" bldLvl="0" animBg="1"/>
      <p:bldP spid="15"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万维网（</a:t>
            </a:r>
            <a:r>
              <a:rPr lang="en-US" dirty="0"/>
              <a:t>WWW</a:t>
            </a:r>
            <a:r>
              <a:rPr lang="zh-CN" altLang="en-US" dirty="0"/>
              <a:t>）</a:t>
            </a:r>
          </a:p>
        </p:txBody>
      </p:sp>
      <p:sp>
        <p:nvSpPr>
          <p:cNvPr id="3" name="内容占位符 2"/>
          <p:cNvSpPr>
            <a:spLocks noGrp="1"/>
          </p:cNvSpPr>
          <p:nvPr>
            <p:ph idx="1"/>
          </p:nvPr>
        </p:nvSpPr>
        <p:spPr>
          <a:xfrm>
            <a:off x="495300" y="1304925"/>
            <a:ext cx="4562475" cy="3631565"/>
          </a:xfrm>
        </p:spPr>
        <p:txBody>
          <a:bodyPr/>
          <a:lstStyle/>
          <a:p>
            <a:pPr algn="just"/>
            <a:r>
              <a:rPr lang="zh-CN" altLang="en-US" sz="2800" dirty="0"/>
              <a:t>英国计算机科学家。他是万维网的发明者，麻省理工学院教授。</a:t>
            </a:r>
            <a:r>
              <a:rPr lang="en-US" altLang="zh-CN" sz="2800" dirty="0"/>
              <a:t>1990</a:t>
            </a:r>
            <a:r>
              <a:rPr lang="zh-CN" altLang="en-US" sz="2800" dirty="0"/>
              <a:t>年</a:t>
            </a:r>
            <a:r>
              <a:rPr lang="en-US" altLang="zh-CN" sz="2800" dirty="0"/>
              <a:t>12</a:t>
            </a:r>
            <a:r>
              <a:rPr lang="zh-CN" altLang="en-US" sz="2800" dirty="0"/>
              <a:t>月</a:t>
            </a:r>
            <a:r>
              <a:rPr lang="en-US" altLang="zh-CN" sz="2800" dirty="0"/>
              <a:t>25</a:t>
            </a:r>
            <a:r>
              <a:rPr lang="zh-CN" altLang="en-US" sz="2800" dirty="0"/>
              <a:t>日，罗伯特</a:t>
            </a:r>
            <a:r>
              <a:rPr lang="en-US" altLang="zh-CN" sz="2800" dirty="0"/>
              <a:t>.</a:t>
            </a:r>
            <a:r>
              <a:rPr lang="zh-CN" altLang="en-US" sz="2800" dirty="0"/>
              <a:t>卡里奥在</a:t>
            </a:r>
            <a:r>
              <a:rPr lang="en-US" altLang="zh-CN" sz="2800" dirty="0"/>
              <a:t>CERN</a:t>
            </a:r>
            <a:r>
              <a:rPr lang="zh-CN" altLang="en-US" sz="2800" dirty="0"/>
              <a:t>和他一起成功通过</a:t>
            </a:r>
            <a:r>
              <a:rPr lang="en-US" altLang="zh-CN" sz="2800" dirty="0"/>
              <a:t>Internet</a:t>
            </a:r>
            <a:r>
              <a:rPr lang="zh-CN" altLang="en-US" sz="2800" dirty="0"/>
              <a:t>实现了</a:t>
            </a:r>
            <a:r>
              <a:rPr lang="en-US" altLang="zh-CN" sz="2800" dirty="0"/>
              <a:t>HTTP</a:t>
            </a:r>
            <a:r>
              <a:rPr lang="zh-CN" altLang="en-US" sz="2800" dirty="0"/>
              <a:t>代理与服务器的第一次通讯。</a:t>
            </a:r>
          </a:p>
          <a:p>
            <a:pPr algn="just"/>
            <a:endParaRPr lang="zh-CN" altLang="en-US" sz="2800" dirty="0"/>
          </a:p>
          <a:p>
            <a:pPr algn="just"/>
            <a:r>
              <a:rPr lang="zh-CN" altLang="en-US" sz="2800" dirty="0">
                <a:solidFill>
                  <a:srgbClr val="C00000"/>
                </a:solidFill>
                <a:sym typeface="+mn-ea"/>
              </a:rPr>
              <a:t>没有对万维网（</a:t>
            </a:r>
            <a:r>
              <a:rPr lang="en-US" altLang="zh-CN" sz="2800" dirty="0">
                <a:solidFill>
                  <a:srgbClr val="C00000"/>
                </a:solidFill>
                <a:sym typeface="+mn-ea"/>
              </a:rPr>
              <a:t>www</a:t>
            </a:r>
            <a:r>
              <a:rPr lang="zh-CN" altLang="en-US" sz="2800" dirty="0">
                <a:solidFill>
                  <a:srgbClr val="C00000"/>
                </a:solidFill>
                <a:sym typeface="+mn-ea"/>
              </a:rPr>
              <a:t>）技术申请专利，使互联网技术得以快速发展。</a:t>
            </a:r>
            <a:endParaRPr lang="zh-CN" altLang="en-US" sz="2800" dirty="0">
              <a:solidFill>
                <a:srgbClr val="C00000"/>
              </a:solidFill>
            </a:endParaRPr>
          </a:p>
          <a:p>
            <a:pPr algn="just"/>
            <a:endParaRPr lang="zh-CN" altLang="en-US" sz="2800" dirty="0"/>
          </a:p>
          <a:p>
            <a:pPr algn="just"/>
            <a:endParaRPr lang="zh-CN" altLang="en-US" sz="2800" dirty="0"/>
          </a:p>
        </p:txBody>
      </p:sp>
      <p:sp>
        <p:nvSpPr>
          <p:cNvPr id="5" name="文本框 4"/>
          <p:cNvSpPr txBox="1"/>
          <p:nvPr/>
        </p:nvSpPr>
        <p:spPr>
          <a:xfrm>
            <a:off x="6690360" y="5132070"/>
            <a:ext cx="2568575" cy="521970"/>
          </a:xfrm>
          <a:prstGeom prst="rect">
            <a:avLst/>
          </a:prstGeom>
          <a:noFill/>
        </p:spPr>
        <p:txBody>
          <a:bodyPr wrap="square" rtlCol="0">
            <a:spAutoFit/>
          </a:bodyPr>
          <a:lstStyle/>
          <a:p>
            <a:r>
              <a:rPr lang="zh-CN" altLang="en-US" sz="2800" b="1"/>
              <a:t>伯纳斯</a:t>
            </a:r>
            <a:r>
              <a:rPr lang="en-US" altLang="zh-CN" sz="2800" b="1"/>
              <a:t>-</a:t>
            </a:r>
            <a:r>
              <a:rPr lang="zh-CN" altLang="en-US" sz="2800" b="1"/>
              <a:t>李爵士</a:t>
            </a:r>
          </a:p>
        </p:txBody>
      </p:sp>
      <p:sp>
        <p:nvSpPr>
          <p:cNvPr id="6" name="文本框 5"/>
          <p:cNvSpPr txBox="1"/>
          <p:nvPr/>
        </p:nvSpPr>
        <p:spPr>
          <a:xfrm>
            <a:off x="6949440" y="5782310"/>
            <a:ext cx="2009775" cy="521970"/>
          </a:xfrm>
          <a:prstGeom prst="rect">
            <a:avLst/>
          </a:prstGeom>
          <a:noFill/>
        </p:spPr>
        <p:txBody>
          <a:bodyPr wrap="square" rtlCol="0">
            <a:spAutoFit/>
          </a:bodyPr>
          <a:lstStyle/>
          <a:p>
            <a:r>
              <a:rPr lang="zh-CN" altLang="en-US" sz="2800" b="1">
                <a:solidFill>
                  <a:srgbClr val="C00000"/>
                </a:solidFill>
              </a:rPr>
              <a:t>万维网之父</a:t>
            </a:r>
          </a:p>
        </p:txBody>
      </p:sp>
      <p:pic>
        <p:nvPicPr>
          <p:cNvPr id="4" name="图片 3"/>
          <p:cNvPicPr>
            <a:picLocks noChangeAspect="1"/>
          </p:cNvPicPr>
          <p:nvPr/>
        </p:nvPicPr>
        <p:blipFill>
          <a:blip r:embed="rId3"/>
          <a:stretch>
            <a:fillRect/>
          </a:stretch>
        </p:blipFill>
        <p:spPr>
          <a:xfrm>
            <a:off x="6447155" y="1622425"/>
            <a:ext cx="3004185" cy="29965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“网”与互联网</a:t>
            </a:r>
          </a:p>
        </p:txBody>
      </p:sp>
      <p:sp>
        <p:nvSpPr>
          <p:cNvPr id="3" name="内容占位符 2"/>
          <p:cNvSpPr>
            <a:spLocks noGrp="1"/>
          </p:cNvSpPr>
          <p:nvPr>
            <p:ph idx="1"/>
          </p:nvPr>
        </p:nvSpPr>
        <p:spPr/>
        <p:txBody>
          <a:bodyPr/>
          <a:lstStyle/>
          <a:p>
            <a:r>
              <a:rPr lang="zh-CN" altLang="zh-CN" dirty="0"/>
              <a:t>有时，往往使用更加简洁的方式表示互联网，这就是只用一个 “网”字</a:t>
            </a:r>
            <a:r>
              <a:rPr lang="zh-CN" altLang="en-US" dirty="0"/>
              <a:t>。</a:t>
            </a:r>
            <a:endParaRPr lang="en-US" altLang="zh-CN" dirty="0"/>
          </a:p>
          <a:p>
            <a:r>
              <a:rPr lang="zh-CN" altLang="zh-CN" dirty="0"/>
              <a:t>例如</a:t>
            </a:r>
            <a:r>
              <a:rPr lang="zh-CN" altLang="en-US" dirty="0"/>
              <a:t>：</a:t>
            </a:r>
            <a:endParaRPr lang="en-US" altLang="zh-CN" dirty="0"/>
          </a:p>
          <a:p>
            <a:pPr lvl="1"/>
            <a:r>
              <a:rPr lang="zh-CN" altLang="zh-CN" dirty="0">
                <a:solidFill>
                  <a:srgbClr val="C00000"/>
                </a:solidFill>
              </a:rPr>
              <a:t>“上网”就是表示使用某个电子设备连接到互联网，而不是连接到其他的网络上。</a:t>
            </a:r>
            <a:endParaRPr lang="en-US" altLang="zh-CN" dirty="0">
              <a:solidFill>
                <a:srgbClr val="C00000"/>
              </a:solidFill>
            </a:endParaRPr>
          </a:p>
          <a:p>
            <a:pPr lvl="1"/>
            <a:r>
              <a:rPr lang="zh-CN" altLang="zh-CN" dirty="0"/>
              <a:t>网民、网吧、网银（网上银行）、网购（网上购物）等。这里的“网”，一般</a:t>
            </a:r>
            <a:r>
              <a:rPr lang="zh-CN" altLang="zh-CN" dirty="0">
                <a:solidFill>
                  <a:srgbClr val="C00000"/>
                </a:solidFill>
              </a:rPr>
              <a:t>都不是指电信网或有线电视网，而是指当今世界上最大的计算机网络</a:t>
            </a:r>
            <a:r>
              <a:rPr lang="en-US" altLang="zh-CN" dirty="0">
                <a:solidFill>
                  <a:srgbClr val="C00000"/>
                </a:solidFill>
              </a:rPr>
              <a:t> </a:t>
            </a:r>
            <a:r>
              <a:rPr lang="en-US" altLang="zh-CN" dirty="0"/>
              <a:t>Internet </a:t>
            </a:r>
            <a:r>
              <a:rPr lang="zh-CN" altLang="zh-CN" dirty="0"/>
              <a:t>——互联网。</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什么是互联网？</a:t>
            </a:r>
          </a:p>
        </p:txBody>
      </p:sp>
      <p:sp>
        <p:nvSpPr>
          <p:cNvPr id="3" name="内容占位符 2"/>
          <p:cNvSpPr>
            <a:spLocks noGrp="1"/>
          </p:cNvSpPr>
          <p:nvPr>
            <p:ph idx="1"/>
          </p:nvPr>
        </p:nvSpPr>
        <p:spPr/>
        <p:txBody>
          <a:bodyPr/>
          <a:lstStyle/>
          <a:p>
            <a:r>
              <a:rPr lang="zh-CN" altLang="en-US" dirty="0"/>
              <a:t>互联网是</a:t>
            </a:r>
            <a:r>
              <a:rPr lang="zh-CN" altLang="zh-CN" dirty="0"/>
              <a:t>由数量极大的各种计算机网络互连起来</a:t>
            </a:r>
            <a:r>
              <a:rPr lang="zh-CN" altLang="en-US" dirty="0"/>
              <a:t>而形成的网络。</a:t>
            </a:r>
            <a:endParaRPr lang="en-US" altLang="zh-CN" dirty="0"/>
          </a:p>
          <a:p>
            <a:r>
              <a:rPr lang="zh-CN" altLang="zh-CN" dirty="0"/>
              <a:t>可以从两种不同的方面来认识互联网</a:t>
            </a:r>
            <a:r>
              <a:rPr lang="zh-CN" altLang="en-US" dirty="0"/>
              <a:t>：</a:t>
            </a:r>
            <a:endParaRPr lang="en-US" altLang="zh-CN" dirty="0"/>
          </a:p>
          <a:p>
            <a:pPr lvl="1"/>
            <a:r>
              <a:rPr lang="zh-CN" altLang="en-US" dirty="0"/>
              <a:t>互联网</a:t>
            </a:r>
            <a:r>
              <a:rPr lang="zh-CN" altLang="zh-CN" dirty="0"/>
              <a:t>应用</a:t>
            </a:r>
            <a:endParaRPr lang="en-US" altLang="zh-CN" dirty="0"/>
          </a:p>
          <a:p>
            <a:pPr lvl="1"/>
            <a:r>
              <a:rPr lang="zh-CN" altLang="en-US" dirty="0"/>
              <a:t>互联网</a:t>
            </a:r>
            <a:r>
              <a:rPr lang="zh-CN" altLang="zh-CN" dirty="0"/>
              <a:t>工作原理</a:t>
            </a:r>
            <a:r>
              <a:rPr lang="zh-CN" altLang="en-US" dirty="0"/>
              <a:t>与特点</a:t>
            </a: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互联网应用</a:t>
            </a:r>
          </a:p>
        </p:txBody>
      </p:sp>
      <p:sp>
        <p:nvSpPr>
          <p:cNvPr id="3" name="内容占位符 2"/>
          <p:cNvSpPr>
            <a:spLocks noGrp="1"/>
          </p:cNvSpPr>
          <p:nvPr>
            <p:ph type="body" idx="1"/>
          </p:nvPr>
        </p:nvSpPr>
        <p:spPr>
          <a:solidFill>
            <a:srgbClr val="00FF00"/>
          </a:solidFill>
        </p:spPr>
        <p:txBody>
          <a:bodyPr anchor="ctr"/>
          <a:lstStyle/>
          <a:p>
            <a:pPr algn="ctr"/>
            <a:r>
              <a:rPr lang="zh-CN" altLang="zh-CN" dirty="0"/>
              <a:t>绝大多数人</a:t>
            </a:r>
            <a:r>
              <a:rPr lang="zh-CN" altLang="en-US" dirty="0"/>
              <a:t>通过使用互联网而</a:t>
            </a:r>
            <a:r>
              <a:rPr lang="zh-CN" altLang="zh-CN" dirty="0"/>
              <a:t>认识</a:t>
            </a:r>
            <a:r>
              <a:rPr lang="zh-CN" altLang="en-US" dirty="0"/>
              <a:t>了</a:t>
            </a:r>
            <a:r>
              <a:rPr lang="zh-CN" altLang="zh-CN" dirty="0"/>
              <a:t>互联网</a:t>
            </a:r>
            <a:r>
              <a:rPr lang="zh-CN" altLang="en-US" dirty="0"/>
              <a:t>。</a:t>
            </a:r>
            <a:endParaRPr lang="en-US" altLang="zh-CN" dirty="0"/>
          </a:p>
        </p:txBody>
      </p:sp>
      <p:sp>
        <p:nvSpPr>
          <p:cNvPr id="14" name="内容占位符 13"/>
          <p:cNvSpPr>
            <a:spLocks noGrp="1"/>
          </p:cNvSpPr>
          <p:nvPr>
            <p:ph sz="half" idx="2"/>
          </p:nvPr>
        </p:nvSpPr>
        <p:spPr>
          <a:xfrm>
            <a:off x="495299" y="1944542"/>
            <a:ext cx="4455513" cy="4292770"/>
          </a:xfrm>
        </p:spPr>
        <p:txBody>
          <a:bodyPr/>
          <a:lstStyle/>
          <a:p>
            <a:r>
              <a:rPr lang="zh-CN" altLang="zh-CN" dirty="0"/>
              <a:t>上网玩游戏</a:t>
            </a:r>
            <a:endParaRPr lang="en-US" altLang="zh-CN" dirty="0"/>
          </a:p>
          <a:p>
            <a:r>
              <a:rPr lang="zh-CN" altLang="zh-CN" dirty="0"/>
              <a:t>看网上视频</a:t>
            </a:r>
            <a:endParaRPr lang="en-US" altLang="zh-CN" dirty="0"/>
          </a:p>
          <a:p>
            <a:r>
              <a:rPr lang="zh-CN" altLang="zh-CN" dirty="0"/>
              <a:t>和朋友在微信上聊天</a:t>
            </a:r>
            <a:endParaRPr lang="en-US" altLang="zh-CN" dirty="0"/>
          </a:p>
          <a:p>
            <a:r>
              <a:rPr lang="zh-CN" altLang="zh-CN" dirty="0"/>
              <a:t>在互联网上搜索和查阅各种信息</a:t>
            </a:r>
            <a:endParaRPr lang="en-US" altLang="zh-CN" dirty="0"/>
          </a:p>
          <a:p>
            <a:r>
              <a:rPr lang="zh-CN" altLang="zh-CN" dirty="0"/>
              <a:t>利用互联网的电子邮件相互通信（包括传送各种照片和视频文件）</a:t>
            </a:r>
            <a:endParaRPr lang="en-US" altLang="zh-CN" dirty="0"/>
          </a:p>
          <a:p>
            <a:endParaRPr lang="zh-CN" altLang="en-US" dirty="0"/>
          </a:p>
        </p:txBody>
      </p:sp>
      <p:sp>
        <p:nvSpPr>
          <p:cNvPr id="15" name="内容占位符 14"/>
          <p:cNvSpPr>
            <a:spLocks noGrp="1"/>
          </p:cNvSpPr>
          <p:nvPr>
            <p:ph sz="quarter" idx="4"/>
          </p:nvPr>
        </p:nvSpPr>
        <p:spPr>
          <a:xfrm>
            <a:off x="5104383" y="1944542"/>
            <a:ext cx="4457129" cy="4292770"/>
          </a:xfrm>
        </p:spPr>
        <p:txBody>
          <a:bodyPr/>
          <a:lstStyle/>
          <a:p>
            <a:r>
              <a:rPr lang="zh-CN" altLang="zh-CN" dirty="0"/>
              <a:t>互联网上购买各种物品</a:t>
            </a:r>
            <a:endParaRPr lang="en-US" altLang="zh-CN" dirty="0"/>
          </a:p>
          <a:p>
            <a:r>
              <a:rPr lang="zh-CN" altLang="zh-CN" dirty="0"/>
              <a:t>在互联网上购买机票或火车票</a:t>
            </a:r>
            <a:endParaRPr lang="en-US" altLang="zh-CN" dirty="0"/>
          </a:p>
          <a:p>
            <a:r>
              <a:rPr lang="zh-CN" altLang="zh-CN" dirty="0"/>
              <a:t>在互联网上</a:t>
            </a:r>
            <a:r>
              <a:rPr lang="zh-CN" altLang="en-US" dirty="0"/>
              <a:t>预订酒店</a:t>
            </a:r>
            <a:endParaRPr lang="en-US" altLang="zh-CN" dirty="0"/>
          </a:p>
          <a:p>
            <a:r>
              <a:rPr lang="zh-CN" altLang="zh-CN" dirty="0"/>
              <a:t>利用互联网进行转账或买卖股票等交易</a:t>
            </a:r>
            <a:endParaRPr lang="en-US" altLang="zh-CN" dirty="0"/>
          </a:p>
          <a:p>
            <a:r>
              <a:rPr lang="en-US" altLang="zh-CN" dirty="0"/>
              <a:t>……</a:t>
            </a: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互联网的两个重要特点</a:t>
            </a:r>
          </a:p>
        </p:txBody>
      </p:sp>
      <p:sp>
        <p:nvSpPr>
          <p:cNvPr id="14" name="文本占位符 13"/>
          <p:cNvSpPr>
            <a:spLocks noGrp="1"/>
          </p:cNvSpPr>
          <p:nvPr>
            <p:ph type="body" idx="1"/>
          </p:nvPr>
        </p:nvSpPr>
        <p:spPr>
          <a:xfrm>
            <a:off x="495299" y="1207874"/>
            <a:ext cx="9066213" cy="1068998"/>
          </a:xfrm>
        </p:spPr>
        <p:txBody>
          <a:bodyPr/>
          <a:lstStyle/>
          <a:p>
            <a:pPr>
              <a:lnSpc>
                <a:spcPct val="110000"/>
              </a:lnSpc>
              <a:spcBef>
                <a:spcPts val="600"/>
              </a:spcBef>
            </a:pPr>
            <a:r>
              <a:rPr lang="zh-CN" altLang="zh-CN" dirty="0"/>
              <a:t>互联网之所以能够向用户提供许多服务，是因为互联网具有</a:t>
            </a:r>
            <a:r>
              <a:rPr lang="zh-CN" altLang="zh-CN" dirty="0">
                <a:solidFill>
                  <a:srgbClr val="FF0000"/>
                </a:solidFill>
              </a:rPr>
              <a:t>两个重要基本特点</a:t>
            </a:r>
            <a:r>
              <a:rPr lang="zh-CN" altLang="en-US" dirty="0">
                <a:solidFill>
                  <a:srgbClr val="FF0000"/>
                </a:solidFill>
              </a:rPr>
              <a:t>：</a:t>
            </a:r>
            <a:endParaRPr lang="en-US" altLang="zh-CN" dirty="0">
              <a:solidFill>
                <a:srgbClr val="FF0000"/>
              </a:solidFill>
            </a:endParaRPr>
          </a:p>
        </p:txBody>
      </p:sp>
      <p:sp>
        <p:nvSpPr>
          <p:cNvPr id="4" name="文本占位符 3"/>
          <p:cNvSpPr>
            <a:spLocks noGrp="1"/>
          </p:cNvSpPr>
          <p:nvPr>
            <p:ph sz="half" idx="2"/>
          </p:nvPr>
        </p:nvSpPr>
        <p:spPr>
          <a:xfrm>
            <a:off x="495299" y="2276872"/>
            <a:ext cx="4455513" cy="3888432"/>
          </a:xfrm>
          <a:ln w="12700">
            <a:solidFill>
              <a:schemeClr val="tx1"/>
            </a:solidFill>
          </a:ln>
        </p:spPr>
        <p:txBody>
          <a:bodyPr/>
          <a:lstStyle/>
          <a:p>
            <a:pPr>
              <a:lnSpc>
                <a:spcPct val="100000"/>
              </a:lnSpc>
            </a:pPr>
            <a:r>
              <a:rPr lang="zh-CN" altLang="zh-CN" dirty="0">
                <a:solidFill>
                  <a:srgbClr val="0000CC"/>
                </a:solidFill>
              </a:rPr>
              <a:t>连通性</a:t>
            </a:r>
            <a:r>
              <a:rPr lang="en-US" altLang="zh-CN" dirty="0">
                <a:solidFill>
                  <a:srgbClr val="0000CC"/>
                </a:solidFill>
              </a:rPr>
              <a:t> (connectivity)</a:t>
            </a:r>
          </a:p>
          <a:p>
            <a:pPr lvl="1">
              <a:lnSpc>
                <a:spcPct val="100000"/>
              </a:lnSpc>
            </a:pPr>
            <a:r>
              <a:rPr lang="zh-CN" altLang="en-US" dirty="0"/>
              <a:t>使上网用户之间都可以交换信息</a:t>
            </a:r>
            <a:r>
              <a:rPr lang="zh-CN" altLang="zh-CN" dirty="0"/>
              <a:t>（数据，以及各种音频视频） </a:t>
            </a:r>
            <a:r>
              <a:rPr lang="zh-CN" altLang="en-US" dirty="0"/>
              <a:t>，好像这些用户的计算机都可以彼此直接连通一样。</a:t>
            </a:r>
            <a:endParaRPr lang="en-US" altLang="zh-CN" dirty="0"/>
          </a:p>
          <a:p>
            <a:pPr lvl="1">
              <a:lnSpc>
                <a:spcPct val="100000"/>
              </a:lnSpc>
            </a:pPr>
            <a:r>
              <a:rPr lang="zh-CN" altLang="zh-CN" dirty="0">
                <a:solidFill>
                  <a:srgbClr val="FF0000"/>
                </a:solidFill>
              </a:rPr>
              <a:t>注意，</a:t>
            </a:r>
            <a:r>
              <a:rPr lang="zh-CN" altLang="zh-CN" dirty="0"/>
              <a:t>互联网具有虚拟的特点</a:t>
            </a:r>
            <a:r>
              <a:rPr lang="zh-CN" altLang="en-US" dirty="0"/>
              <a:t>，</a:t>
            </a:r>
            <a:r>
              <a:rPr lang="zh-CN" altLang="zh-CN" dirty="0"/>
              <a:t>无法准确知道对方是谁，也无法知道</a:t>
            </a:r>
            <a:r>
              <a:rPr lang="zh-CN" altLang="en-US" dirty="0"/>
              <a:t>对方</a:t>
            </a:r>
            <a:r>
              <a:rPr lang="zh-CN" altLang="zh-CN" dirty="0"/>
              <a:t>的</a:t>
            </a:r>
            <a:r>
              <a:rPr lang="zh-CN" altLang="en-US" dirty="0"/>
              <a:t>位置。</a:t>
            </a:r>
            <a:endParaRPr lang="en-US" altLang="zh-CN" dirty="0">
              <a:solidFill>
                <a:srgbClr val="FF0000"/>
              </a:solidFill>
            </a:endParaRPr>
          </a:p>
        </p:txBody>
      </p:sp>
      <p:sp>
        <p:nvSpPr>
          <p:cNvPr id="15" name="内容占位符 14"/>
          <p:cNvSpPr>
            <a:spLocks noGrp="1"/>
          </p:cNvSpPr>
          <p:nvPr>
            <p:ph sz="quarter" idx="4"/>
          </p:nvPr>
        </p:nvSpPr>
        <p:spPr>
          <a:xfrm>
            <a:off x="5104383" y="2276872"/>
            <a:ext cx="4457129" cy="3888432"/>
          </a:xfrm>
          <a:ln w="12700">
            <a:solidFill>
              <a:schemeClr val="tx1"/>
            </a:solidFill>
          </a:ln>
        </p:spPr>
        <p:txBody>
          <a:bodyPr/>
          <a:lstStyle/>
          <a:p>
            <a:pPr>
              <a:lnSpc>
                <a:spcPct val="100000"/>
              </a:lnSpc>
            </a:pPr>
            <a:r>
              <a:rPr lang="zh-CN" altLang="zh-CN" dirty="0">
                <a:solidFill>
                  <a:srgbClr val="0000CC"/>
                </a:solidFill>
              </a:rPr>
              <a:t>共享</a:t>
            </a:r>
            <a:r>
              <a:rPr lang="en-US" altLang="zh-CN" dirty="0">
                <a:solidFill>
                  <a:srgbClr val="0000CC"/>
                </a:solidFill>
              </a:rPr>
              <a:t> (Sharing)</a:t>
            </a:r>
          </a:p>
          <a:p>
            <a:pPr lvl="1">
              <a:lnSpc>
                <a:spcPct val="100000"/>
              </a:lnSpc>
            </a:pPr>
            <a:r>
              <a:rPr lang="zh-CN" altLang="zh-CN" dirty="0"/>
              <a:t>指资源共享。</a:t>
            </a:r>
            <a:endParaRPr lang="en-US" altLang="zh-CN" dirty="0"/>
          </a:p>
          <a:p>
            <a:pPr lvl="1">
              <a:lnSpc>
                <a:spcPct val="100000"/>
              </a:lnSpc>
            </a:pPr>
            <a:r>
              <a:rPr lang="zh-CN" altLang="zh-CN" dirty="0"/>
              <a:t>资源共享的含义是多方面的。可以是信息共享、软件共享，也可以是硬件共享</a:t>
            </a:r>
            <a:r>
              <a:rPr lang="zh-CN" altLang="en-US" dirty="0"/>
              <a:t>。</a:t>
            </a:r>
            <a:endParaRPr lang="en-US" altLang="zh-CN" dirty="0"/>
          </a:p>
          <a:p>
            <a:pPr lvl="1">
              <a:lnSpc>
                <a:spcPct val="100000"/>
              </a:lnSpc>
            </a:pPr>
            <a:r>
              <a:rPr lang="zh-CN" altLang="zh-CN" dirty="0"/>
              <a:t>由于网络的存在，这些资源好像就在用户身边一样</a:t>
            </a:r>
            <a:r>
              <a:rPr lang="zh-CN" altLang="en-US" dirty="0"/>
              <a:t>，</a:t>
            </a:r>
            <a:r>
              <a:rPr lang="zh-CN" altLang="zh-CN" dirty="0"/>
              <a:t>方便使用</a:t>
            </a:r>
            <a:r>
              <a:rPr lang="zh-CN" altLang="en-US"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互联网</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指</a:t>
            </a:r>
            <a:r>
              <a:rPr lang="zh-CN" altLang="zh-CN" dirty="0"/>
              <a:t>“互联网</a:t>
            </a:r>
            <a:r>
              <a:rPr lang="en-US" altLang="zh-CN" dirty="0"/>
              <a:t> + </a:t>
            </a:r>
            <a:r>
              <a:rPr lang="zh-CN" altLang="zh-CN" dirty="0"/>
              <a:t>各个传统行业”</a:t>
            </a:r>
            <a:r>
              <a:rPr lang="zh-CN" altLang="en-US" dirty="0"/>
              <a:t>。</a:t>
            </a:r>
            <a:endParaRPr lang="en-US" altLang="zh-CN" dirty="0"/>
          </a:p>
          <a:p>
            <a:r>
              <a:rPr lang="zh-CN" altLang="en-US" dirty="0"/>
              <a:t>利用信息通信技术以及互联网平台，让互联网与传统行业进行深度融合，创造新的发展生态。</a:t>
            </a:r>
            <a:endParaRPr lang="en-US" altLang="zh-CN" dirty="0"/>
          </a:p>
          <a:p>
            <a:r>
              <a:rPr lang="zh-CN" altLang="zh-CN" dirty="0">
                <a:solidFill>
                  <a:srgbClr val="FF0000"/>
                </a:solidFill>
              </a:rPr>
              <a:t>特点</a:t>
            </a:r>
            <a:r>
              <a:rPr lang="zh-CN" altLang="en-US" dirty="0">
                <a:solidFill>
                  <a:srgbClr val="FF0000"/>
                </a:solidFill>
              </a:rPr>
              <a:t>：</a:t>
            </a:r>
            <a:r>
              <a:rPr lang="zh-CN" altLang="zh-CN" dirty="0"/>
              <a:t>把互联网的创新成果</a:t>
            </a:r>
            <a:r>
              <a:rPr lang="zh-CN" altLang="zh-CN" dirty="0">
                <a:solidFill>
                  <a:srgbClr val="FF0000"/>
                </a:solidFill>
              </a:rPr>
              <a:t>深度融合</a:t>
            </a:r>
            <a:r>
              <a:rPr lang="zh-CN" altLang="zh-CN" dirty="0"/>
              <a:t>于经济社会各领域之中，</a:t>
            </a:r>
            <a:r>
              <a:rPr lang="zh-CN" altLang="en-US" dirty="0"/>
              <a:t>从而</a:t>
            </a:r>
            <a:r>
              <a:rPr lang="zh-CN" altLang="zh-CN" dirty="0"/>
              <a:t>大大地提升了实体经济的创新力和生产力。</a:t>
            </a:r>
            <a:endParaRPr lang="en-US" altLang="zh-CN" dirty="0"/>
          </a:p>
          <a:p>
            <a:endParaRPr lang="en-US" altLang="zh-CN" dirty="0"/>
          </a:p>
        </p:txBody>
      </p:sp>
      <p:pic>
        <p:nvPicPr>
          <p:cNvPr id="1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8984" y="4077072"/>
            <a:ext cx="4203216"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2480" y="4797151"/>
            <a:ext cx="2012826" cy="1878087"/>
          </a:xfrm>
          <a:prstGeom prst="rect">
            <a:avLst/>
          </a:prstGeom>
        </p:spPr>
      </p:pic>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5306" y="4797151"/>
            <a:ext cx="2523678" cy="18780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互联网</a:t>
            </a:r>
            <a:r>
              <a:rPr lang="en-US" altLang="zh-CN" dirty="0"/>
              <a:t>+</a:t>
            </a:r>
            <a:endParaRPr lang="zh-CN" altLang="en-US" dirty="0"/>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b="8984"/>
          <a:stretch>
            <a:fillRect/>
          </a:stretch>
        </p:blipFill>
        <p:spPr>
          <a:xfrm>
            <a:off x="420764" y="1124744"/>
            <a:ext cx="4100188" cy="2918068"/>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0952" y="1124744"/>
            <a:ext cx="5040560" cy="3024336"/>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68" y="4223060"/>
            <a:ext cx="4068484" cy="2446300"/>
          </a:xfrm>
          <a:prstGeom prst="rect">
            <a:avLst/>
          </a:prstGeom>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20952" y="4071013"/>
            <a:ext cx="5025964" cy="3162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1.2  </a:t>
            </a:r>
            <a:r>
              <a:rPr lang="zh-CN" altLang="zh-CN" sz="4000" dirty="0"/>
              <a:t>互联网概述</a:t>
            </a:r>
            <a:endParaRPr lang="zh-CN" altLang="en-US" sz="4000" dirty="0"/>
          </a:p>
        </p:txBody>
      </p:sp>
      <p:sp>
        <p:nvSpPr>
          <p:cNvPr id="3" name="内容占位符 2"/>
          <p:cNvSpPr>
            <a:spLocks noGrp="1"/>
          </p:cNvSpPr>
          <p:nvPr>
            <p:ph idx="1"/>
          </p:nvPr>
        </p:nvSpPr>
        <p:spPr/>
        <p:txBody>
          <a:bodyPr/>
          <a:lstStyle/>
          <a:p>
            <a:r>
              <a:rPr lang="en-US" altLang="zh-CN" dirty="0"/>
              <a:t>1.2.1  </a:t>
            </a:r>
            <a:r>
              <a:rPr lang="zh-CN" altLang="zh-CN" dirty="0"/>
              <a:t>网络的网络</a:t>
            </a:r>
            <a:endParaRPr lang="en-US" altLang="zh-CN" dirty="0"/>
          </a:p>
          <a:p>
            <a:r>
              <a:rPr lang="en-US" altLang="zh-CN" dirty="0"/>
              <a:t>1.2.2  </a:t>
            </a:r>
            <a:r>
              <a:rPr lang="zh-CN" altLang="zh-CN" dirty="0"/>
              <a:t>互联网基础结构发展的三个阶段</a:t>
            </a:r>
          </a:p>
          <a:p>
            <a:r>
              <a:rPr lang="en-US" altLang="zh-CN" dirty="0"/>
              <a:t>1.2.3  </a:t>
            </a:r>
            <a:r>
              <a:rPr lang="zh-CN" altLang="zh-CN" dirty="0"/>
              <a:t>互联网的标准化工作</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1.2.1  </a:t>
            </a:r>
            <a:r>
              <a:rPr lang="zh-CN" altLang="en-US" sz="4000" dirty="0"/>
              <a:t>网络的网络</a:t>
            </a:r>
          </a:p>
        </p:txBody>
      </p:sp>
      <p:sp>
        <p:nvSpPr>
          <p:cNvPr id="3" name="内容占位符 2"/>
          <p:cNvSpPr>
            <a:spLocks noGrp="1"/>
          </p:cNvSpPr>
          <p:nvPr>
            <p:ph idx="1"/>
          </p:nvPr>
        </p:nvSpPr>
        <p:spPr/>
        <p:txBody>
          <a:bodyPr/>
          <a:lstStyle/>
          <a:p>
            <a:r>
              <a:rPr lang="zh-CN" altLang="zh-CN" dirty="0">
                <a:solidFill>
                  <a:srgbClr val="0000CC"/>
                </a:solidFill>
              </a:rPr>
              <a:t>互联网</a:t>
            </a:r>
            <a:r>
              <a:rPr lang="en-US" altLang="zh-CN" dirty="0">
                <a:solidFill>
                  <a:srgbClr val="0000CC"/>
                </a:solidFill>
              </a:rPr>
              <a:t> (Internet)</a:t>
            </a:r>
          </a:p>
          <a:p>
            <a:pPr lvl="1"/>
            <a:r>
              <a:rPr lang="zh-CN" altLang="en-US" dirty="0"/>
              <a:t>特指</a:t>
            </a:r>
            <a:r>
              <a:rPr lang="en-US" altLang="zh-CN" dirty="0"/>
              <a:t>Internet</a:t>
            </a:r>
            <a:r>
              <a:rPr lang="zh-CN" altLang="en-US" dirty="0"/>
              <a:t>，</a:t>
            </a:r>
            <a:r>
              <a:rPr lang="zh-CN" altLang="zh-CN" dirty="0"/>
              <a:t>起源于美国</a:t>
            </a:r>
            <a:r>
              <a:rPr lang="zh-CN" altLang="en-US" dirty="0"/>
              <a:t>，</a:t>
            </a:r>
            <a:r>
              <a:rPr lang="zh-CN" altLang="zh-CN" dirty="0"/>
              <a:t>现已发展成为世界上最大的</a:t>
            </a:r>
            <a:r>
              <a:rPr lang="zh-CN" altLang="en-US" dirty="0"/>
              <a:t>、</a:t>
            </a:r>
            <a:r>
              <a:rPr lang="zh-CN" altLang="zh-CN" dirty="0"/>
              <a:t>覆盖全球的计算机网络</a:t>
            </a:r>
            <a:r>
              <a:rPr lang="zh-CN" altLang="en-US" dirty="0"/>
              <a:t>。</a:t>
            </a:r>
            <a:endParaRPr lang="en-US" altLang="zh-CN" dirty="0"/>
          </a:p>
          <a:p>
            <a:r>
              <a:rPr lang="zh-CN" altLang="zh-CN" dirty="0">
                <a:solidFill>
                  <a:srgbClr val="0000CC"/>
                </a:solidFill>
              </a:rPr>
              <a:t>计算机网络</a:t>
            </a:r>
            <a:r>
              <a:rPr lang="en-US" altLang="zh-CN" dirty="0">
                <a:solidFill>
                  <a:srgbClr val="0000CC"/>
                </a:solidFill>
              </a:rPr>
              <a:t> (</a:t>
            </a:r>
            <a:r>
              <a:rPr lang="zh-CN" altLang="zh-CN" dirty="0">
                <a:solidFill>
                  <a:srgbClr val="0000CC"/>
                </a:solidFill>
              </a:rPr>
              <a:t>简称为网络</a:t>
            </a:r>
            <a:r>
              <a:rPr lang="en-US" altLang="zh-CN" dirty="0">
                <a:solidFill>
                  <a:srgbClr val="0000CC"/>
                </a:solidFill>
              </a:rPr>
              <a:t>)</a:t>
            </a:r>
          </a:p>
          <a:p>
            <a:pPr lvl="1"/>
            <a:r>
              <a:rPr lang="zh-CN" altLang="zh-CN" dirty="0"/>
              <a:t>由若干结点</a:t>
            </a:r>
            <a:r>
              <a:rPr lang="en-US" altLang="zh-CN" dirty="0"/>
              <a:t>(node)</a:t>
            </a:r>
            <a:r>
              <a:rPr lang="zh-CN" altLang="zh-CN" dirty="0"/>
              <a:t>和连接这些结点的链路</a:t>
            </a:r>
            <a:r>
              <a:rPr lang="en-US" altLang="zh-CN" dirty="0"/>
              <a:t>(link)</a:t>
            </a:r>
            <a:r>
              <a:rPr lang="zh-CN" altLang="zh-CN" dirty="0"/>
              <a:t>组成</a:t>
            </a:r>
            <a:r>
              <a:rPr lang="zh-CN" altLang="en-US" dirty="0"/>
              <a:t>。</a:t>
            </a:r>
            <a:endParaRPr lang="en-US" altLang="zh-CN" dirty="0"/>
          </a:p>
          <a:p>
            <a:r>
              <a:rPr lang="zh-CN" altLang="zh-CN" dirty="0">
                <a:solidFill>
                  <a:srgbClr val="0000CC"/>
                </a:solidFill>
              </a:rPr>
              <a:t>互连网</a:t>
            </a:r>
            <a:r>
              <a:rPr lang="en-US" altLang="zh-CN" dirty="0">
                <a:solidFill>
                  <a:srgbClr val="0000CC"/>
                </a:solidFill>
              </a:rPr>
              <a:t> (internetwork </a:t>
            </a:r>
            <a:r>
              <a:rPr lang="zh-CN" altLang="zh-CN" dirty="0">
                <a:solidFill>
                  <a:srgbClr val="0000CC"/>
                </a:solidFill>
              </a:rPr>
              <a:t>或</a:t>
            </a:r>
            <a:r>
              <a:rPr lang="en-US" altLang="zh-CN" dirty="0">
                <a:solidFill>
                  <a:srgbClr val="0000CC"/>
                </a:solidFill>
              </a:rPr>
              <a:t> internet)</a:t>
            </a:r>
          </a:p>
          <a:p>
            <a:pPr lvl="1"/>
            <a:r>
              <a:rPr lang="zh-CN" altLang="en-US" dirty="0"/>
              <a:t>可以</a:t>
            </a:r>
            <a:r>
              <a:rPr lang="zh-CN" altLang="zh-CN" dirty="0"/>
              <a:t>通过路由器</a:t>
            </a:r>
            <a:r>
              <a:rPr lang="zh-CN" altLang="en-US" dirty="0"/>
              <a:t>把</a:t>
            </a:r>
            <a:r>
              <a:rPr lang="zh-CN" altLang="zh-CN" dirty="0"/>
              <a:t>网络互连起来，这就构成了一个覆盖范围更大的计算机网络</a:t>
            </a:r>
            <a:r>
              <a:rPr lang="zh-CN" altLang="en-US" dirty="0"/>
              <a:t>，称之为</a:t>
            </a:r>
            <a:r>
              <a:rPr lang="zh-CN" altLang="zh-CN" dirty="0"/>
              <a:t>互连网。</a:t>
            </a:r>
            <a:endParaRPr lang="zh-CN" altLang="en-US" dirty="0"/>
          </a:p>
          <a:p>
            <a:pPr lvl="1"/>
            <a:r>
              <a:rPr lang="zh-CN" altLang="zh-CN" dirty="0"/>
              <a:t>“网络的网络”</a:t>
            </a:r>
            <a:r>
              <a:rPr lang="en-US" altLang="zh-CN" dirty="0"/>
              <a:t>(network of networks)</a:t>
            </a:r>
            <a:r>
              <a:rPr lang="zh-CN" altLang="en-US" dirty="0"/>
              <a:t>。</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1.2.1  </a:t>
            </a:r>
            <a:r>
              <a:rPr lang="zh-CN" altLang="en-US" sz="4000" dirty="0"/>
              <a:t>网络的网络</a:t>
            </a:r>
          </a:p>
        </p:txBody>
      </p:sp>
      <p:grpSp>
        <p:nvGrpSpPr>
          <p:cNvPr id="207" name="组合 206"/>
          <p:cNvGrpSpPr/>
          <p:nvPr/>
        </p:nvGrpSpPr>
        <p:grpSpPr>
          <a:xfrm>
            <a:off x="552659" y="1196752"/>
            <a:ext cx="9152869" cy="4330933"/>
            <a:chOff x="552659" y="1196752"/>
            <a:chExt cx="9152869" cy="4330933"/>
          </a:xfrm>
        </p:grpSpPr>
        <p:grpSp>
          <p:nvGrpSpPr>
            <p:cNvPr id="177" name="组合 176"/>
            <p:cNvGrpSpPr/>
            <p:nvPr/>
          </p:nvGrpSpPr>
          <p:grpSpPr>
            <a:xfrm>
              <a:off x="2293827" y="1196752"/>
              <a:ext cx="3324001" cy="3565503"/>
              <a:chOff x="2504629" y="1635667"/>
              <a:chExt cx="2915723" cy="2907445"/>
            </a:xfrm>
          </p:grpSpPr>
          <p:sp>
            <p:nvSpPr>
              <p:cNvPr id="19" name="Text Box 1183"/>
              <p:cNvSpPr txBox="1">
                <a:spLocks noChangeArrowheads="1"/>
              </p:cNvSpPr>
              <p:nvPr/>
            </p:nvSpPr>
            <p:spPr bwMode="auto">
              <a:xfrm>
                <a:off x="3806379" y="4241945"/>
                <a:ext cx="413130"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21" name="Group 1282"/>
              <p:cNvGrpSpPr/>
              <p:nvPr/>
            </p:nvGrpSpPr>
            <p:grpSpPr bwMode="auto">
              <a:xfrm>
                <a:off x="2504629" y="2111400"/>
                <a:ext cx="2741613" cy="1844675"/>
                <a:chOff x="1680" y="240"/>
                <a:chExt cx="2529" cy="1270"/>
              </a:xfrm>
            </p:grpSpPr>
            <p:sp>
              <p:nvSpPr>
                <p:cNvPr id="22" name="Oval 1283"/>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3" name="Oval 1284"/>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4" name="Oval 1285"/>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5" name="Oval 1286"/>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6" name="Oval 1287"/>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7" name="Oval 1288"/>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8" name="Oval 1289"/>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9" name="Oval 1290"/>
                <p:cNvSpPr>
                  <a:spLocks noChangeArrowheads="1"/>
                </p:cNvSpPr>
                <p:nvPr/>
              </p:nvSpPr>
              <p:spPr bwMode="auto">
                <a:xfrm>
                  <a:off x="3335" y="753"/>
                  <a:ext cx="797"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0" name="Oval 1291"/>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31" name="Line 1503"/>
              <p:cNvSpPr>
                <a:spLocks noChangeShapeType="1"/>
              </p:cNvSpPr>
              <p:nvPr/>
            </p:nvSpPr>
            <p:spPr bwMode="auto">
              <a:xfrm flipH="1" flipV="1">
                <a:off x="4087367" y="2398738"/>
                <a:ext cx="727075" cy="9366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2" name="Text Box 1185"/>
              <p:cNvSpPr txBox="1">
                <a:spLocks noChangeArrowheads="1"/>
              </p:cNvSpPr>
              <p:nvPr/>
            </p:nvSpPr>
            <p:spPr bwMode="auto">
              <a:xfrm>
                <a:off x="2815953" y="1635667"/>
                <a:ext cx="2604399" cy="37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计算机网络（网络）</a:t>
                </a:r>
              </a:p>
            </p:txBody>
          </p:sp>
          <p:sp>
            <p:nvSpPr>
              <p:cNvPr id="119" name="Line 1209"/>
              <p:cNvSpPr>
                <a:spLocks noChangeShapeType="1"/>
              </p:cNvSpPr>
              <p:nvPr/>
            </p:nvSpPr>
            <p:spPr bwMode="auto">
              <a:xfrm flipV="1">
                <a:off x="2936429" y="2398738"/>
                <a:ext cx="935038" cy="6492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0" name="Line 1204"/>
              <p:cNvSpPr>
                <a:spLocks noChangeShapeType="1"/>
              </p:cNvSpPr>
              <p:nvPr/>
            </p:nvSpPr>
            <p:spPr bwMode="auto">
              <a:xfrm flipV="1">
                <a:off x="3728592" y="2398738"/>
                <a:ext cx="215900" cy="10810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pic>
            <p:nvPicPr>
              <p:cNvPr id="121" name="Picture 12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91967" y="2903563"/>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15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2692" y="3406800"/>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 name="Picture 15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6654" y="3263925"/>
                <a:ext cx="30956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 name="Picture 14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3742879" y="2298725"/>
                <a:ext cx="434975" cy="25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64" name="Oval 1520"/>
              <p:cNvSpPr>
                <a:spLocks noChangeArrowheads="1"/>
              </p:cNvSpPr>
              <p:nvPr/>
            </p:nvSpPr>
            <p:spPr bwMode="auto">
              <a:xfrm>
                <a:off x="4673154" y="3195663"/>
                <a:ext cx="431800" cy="431800"/>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5" name="Text Box 1523"/>
              <p:cNvSpPr txBox="1">
                <a:spLocks noChangeArrowheads="1"/>
              </p:cNvSpPr>
              <p:nvPr/>
            </p:nvSpPr>
            <p:spPr bwMode="auto">
              <a:xfrm>
                <a:off x="4160392" y="2135213"/>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结点</a:t>
                </a:r>
              </a:p>
            </p:txBody>
          </p:sp>
          <p:sp>
            <p:nvSpPr>
              <p:cNvPr id="166" name="Text Box 1524"/>
              <p:cNvSpPr txBox="1">
                <a:spLocks noChangeArrowheads="1"/>
              </p:cNvSpPr>
              <p:nvPr/>
            </p:nvSpPr>
            <p:spPr bwMode="auto">
              <a:xfrm>
                <a:off x="4433442" y="2638450"/>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链路</a:t>
                </a:r>
              </a:p>
            </p:txBody>
          </p:sp>
          <p:sp>
            <p:nvSpPr>
              <p:cNvPr id="167" name="Oval 1527"/>
              <p:cNvSpPr>
                <a:spLocks noChangeArrowheads="1"/>
              </p:cNvSpPr>
              <p:nvPr/>
            </p:nvSpPr>
            <p:spPr bwMode="auto">
              <a:xfrm>
                <a:off x="3746054" y="2192363"/>
                <a:ext cx="431800" cy="431800"/>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8" name="Oval 1528"/>
              <p:cNvSpPr>
                <a:spLocks noChangeArrowheads="1"/>
              </p:cNvSpPr>
              <p:nvPr/>
            </p:nvSpPr>
            <p:spPr bwMode="auto">
              <a:xfrm>
                <a:off x="2742754" y="2865463"/>
                <a:ext cx="431800" cy="431800"/>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9" name="Oval 1529"/>
              <p:cNvSpPr>
                <a:spLocks noChangeArrowheads="1"/>
              </p:cNvSpPr>
              <p:nvPr/>
            </p:nvSpPr>
            <p:spPr bwMode="auto">
              <a:xfrm>
                <a:off x="3453954" y="3360763"/>
                <a:ext cx="431800" cy="431800"/>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178" name="组合 177"/>
            <p:cNvGrpSpPr/>
            <p:nvPr/>
          </p:nvGrpSpPr>
          <p:grpSpPr>
            <a:xfrm>
              <a:off x="5655531" y="1196753"/>
              <a:ext cx="4049997" cy="3600399"/>
              <a:chOff x="5457379" y="1564229"/>
              <a:chExt cx="3552547" cy="2935901"/>
            </a:xfrm>
          </p:grpSpPr>
          <p:grpSp>
            <p:nvGrpSpPr>
              <p:cNvPr id="5" name="Group 1504"/>
              <p:cNvGrpSpPr/>
              <p:nvPr/>
            </p:nvGrpSpPr>
            <p:grpSpPr bwMode="auto">
              <a:xfrm>
                <a:off x="5457379" y="1966938"/>
                <a:ext cx="3527425" cy="2160587"/>
                <a:chOff x="109" y="1226"/>
                <a:chExt cx="2516" cy="1675"/>
              </a:xfrm>
            </p:grpSpPr>
            <p:grpSp>
              <p:nvGrpSpPr>
                <p:cNvPr id="6" name="Group 1505"/>
                <p:cNvGrpSpPr/>
                <p:nvPr/>
              </p:nvGrpSpPr>
              <p:grpSpPr bwMode="auto">
                <a:xfrm>
                  <a:off x="109" y="1226"/>
                  <a:ext cx="2516" cy="1675"/>
                  <a:chOff x="109" y="1226"/>
                  <a:chExt cx="2516" cy="1675"/>
                </a:xfrm>
              </p:grpSpPr>
              <p:grpSp>
                <p:nvGrpSpPr>
                  <p:cNvPr id="8" name="Group 1506"/>
                  <p:cNvGrpSpPr/>
                  <p:nvPr/>
                </p:nvGrpSpPr>
                <p:grpSpPr bwMode="auto">
                  <a:xfrm>
                    <a:off x="109" y="1226"/>
                    <a:ext cx="2516" cy="1675"/>
                    <a:chOff x="109" y="1226"/>
                    <a:chExt cx="2516" cy="1675"/>
                  </a:xfrm>
                </p:grpSpPr>
                <p:sp>
                  <p:nvSpPr>
                    <p:cNvPr id="10" name="Oval 150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 name="Oval 15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4"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5" name="Oval 15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 name="Oval 15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9" name="Oval 1514"/>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7" name="Freeform 1515"/>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7" name="Line 1481"/>
              <p:cNvSpPr>
                <a:spLocks noChangeShapeType="1"/>
              </p:cNvSpPr>
              <p:nvPr/>
            </p:nvSpPr>
            <p:spPr bwMode="auto">
              <a:xfrm flipH="1">
                <a:off x="7184579" y="3119463"/>
                <a:ext cx="71438" cy="5762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8" name="Line 1480"/>
              <p:cNvSpPr>
                <a:spLocks noChangeShapeType="1"/>
              </p:cNvSpPr>
              <p:nvPr/>
            </p:nvSpPr>
            <p:spPr bwMode="auto">
              <a:xfrm flipH="1" flipV="1">
                <a:off x="6740079" y="2824188"/>
                <a:ext cx="444500" cy="2238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0" name="Text Box 1184"/>
              <p:cNvSpPr txBox="1">
                <a:spLocks noChangeArrowheads="1"/>
              </p:cNvSpPr>
              <p:nvPr/>
            </p:nvSpPr>
            <p:spPr bwMode="auto">
              <a:xfrm>
                <a:off x="7267129" y="4198963"/>
                <a:ext cx="424800"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33" name="Line 1296"/>
              <p:cNvSpPr>
                <a:spLocks noChangeShapeType="1"/>
              </p:cNvSpPr>
              <p:nvPr/>
            </p:nvSpPr>
            <p:spPr bwMode="auto">
              <a:xfrm flipH="1" flipV="1">
                <a:off x="6527354" y="3578250"/>
                <a:ext cx="1162050" cy="1889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4" name="Line 1297"/>
              <p:cNvSpPr>
                <a:spLocks noChangeShapeType="1"/>
              </p:cNvSpPr>
              <p:nvPr/>
            </p:nvSpPr>
            <p:spPr bwMode="auto">
              <a:xfrm flipV="1">
                <a:off x="6752779" y="2255863"/>
                <a:ext cx="358775" cy="714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5" name="Text Box 1318"/>
              <p:cNvSpPr txBox="1">
                <a:spLocks noChangeArrowheads="1"/>
              </p:cNvSpPr>
              <p:nvPr/>
            </p:nvSpPr>
            <p:spPr bwMode="auto">
              <a:xfrm>
                <a:off x="5911578" y="1564229"/>
                <a:ext cx="2875778" cy="37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互连网（网络的网络）</a:t>
                </a:r>
              </a:p>
            </p:txBody>
          </p:sp>
          <p:sp>
            <p:nvSpPr>
              <p:cNvPr id="36" name="Line 1440"/>
              <p:cNvSpPr>
                <a:spLocks noChangeShapeType="1"/>
              </p:cNvSpPr>
              <p:nvPr/>
            </p:nvSpPr>
            <p:spPr bwMode="auto">
              <a:xfrm flipH="1">
                <a:off x="6105079" y="2832125"/>
                <a:ext cx="647700" cy="714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7" name="Line 1443"/>
              <p:cNvSpPr>
                <a:spLocks noChangeShapeType="1"/>
              </p:cNvSpPr>
              <p:nvPr/>
            </p:nvSpPr>
            <p:spPr bwMode="auto">
              <a:xfrm>
                <a:off x="7400479" y="2255863"/>
                <a:ext cx="431800" cy="1428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8" name="Line 1444"/>
              <p:cNvSpPr>
                <a:spLocks noChangeShapeType="1"/>
              </p:cNvSpPr>
              <p:nvPr/>
            </p:nvSpPr>
            <p:spPr bwMode="auto">
              <a:xfrm>
                <a:off x="7976742" y="2471763"/>
                <a:ext cx="647700" cy="6477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9" name="Line 1446"/>
              <p:cNvSpPr>
                <a:spLocks noChangeShapeType="1"/>
              </p:cNvSpPr>
              <p:nvPr/>
            </p:nvSpPr>
            <p:spPr bwMode="auto">
              <a:xfrm flipH="1">
                <a:off x="7832279" y="2543200"/>
                <a:ext cx="73025" cy="431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0" name="Line 1447"/>
              <p:cNvSpPr>
                <a:spLocks noChangeShapeType="1"/>
              </p:cNvSpPr>
              <p:nvPr/>
            </p:nvSpPr>
            <p:spPr bwMode="auto">
              <a:xfrm flipV="1">
                <a:off x="6740079" y="2471763"/>
                <a:ext cx="949325" cy="3381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1" name="Line 1448"/>
              <p:cNvSpPr>
                <a:spLocks noChangeShapeType="1"/>
              </p:cNvSpPr>
              <p:nvPr/>
            </p:nvSpPr>
            <p:spPr bwMode="auto">
              <a:xfrm>
                <a:off x="6536879" y="2398738"/>
                <a:ext cx="144463" cy="431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2" name="Line 1449"/>
              <p:cNvSpPr>
                <a:spLocks noChangeShapeType="1"/>
              </p:cNvSpPr>
              <p:nvPr/>
            </p:nvSpPr>
            <p:spPr bwMode="auto">
              <a:xfrm flipV="1">
                <a:off x="7257604" y="3048025"/>
                <a:ext cx="503238" cy="1428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3" name="Line 1452"/>
              <p:cNvSpPr>
                <a:spLocks noChangeShapeType="1"/>
              </p:cNvSpPr>
              <p:nvPr/>
            </p:nvSpPr>
            <p:spPr bwMode="auto">
              <a:xfrm>
                <a:off x="7905304" y="3048025"/>
                <a:ext cx="647700" cy="714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4" name="Line 1453"/>
              <p:cNvSpPr>
                <a:spLocks noChangeShapeType="1"/>
              </p:cNvSpPr>
              <p:nvPr/>
            </p:nvSpPr>
            <p:spPr bwMode="auto">
              <a:xfrm flipH="1">
                <a:off x="6446392" y="2940075"/>
                <a:ext cx="215900" cy="5032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5" name="Line 1456"/>
              <p:cNvSpPr>
                <a:spLocks noChangeShapeType="1"/>
              </p:cNvSpPr>
              <p:nvPr/>
            </p:nvSpPr>
            <p:spPr bwMode="auto">
              <a:xfrm>
                <a:off x="7832279" y="3119463"/>
                <a:ext cx="0" cy="5032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nvGrpSpPr>
              <p:cNvPr id="46" name="Group 1320"/>
              <p:cNvGrpSpPr/>
              <p:nvPr/>
            </p:nvGrpSpPr>
            <p:grpSpPr bwMode="auto">
              <a:xfrm>
                <a:off x="6176517" y="2182838"/>
                <a:ext cx="647700" cy="360362"/>
                <a:chOff x="2949" y="196"/>
                <a:chExt cx="941" cy="598"/>
              </a:xfrm>
            </p:grpSpPr>
            <p:sp>
              <p:nvSpPr>
                <p:cNvPr id="47" name="Oval 1321"/>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8" name="Oval 1322"/>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9" name="Oval 1323"/>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0" name="Oval 1324"/>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1" name="Oval 1325"/>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2" name="Oval 1326"/>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3" name="Oval 1327"/>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4" name="Oval 1328"/>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5" name="Freeform 1329"/>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6" name="Freeform 1330"/>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7" name="Freeform 133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58" name="Group 1344"/>
              <p:cNvGrpSpPr/>
              <p:nvPr/>
            </p:nvGrpSpPr>
            <p:grpSpPr bwMode="auto">
              <a:xfrm>
                <a:off x="7616379" y="2182838"/>
                <a:ext cx="647700" cy="503237"/>
                <a:chOff x="2949" y="196"/>
                <a:chExt cx="941" cy="598"/>
              </a:xfrm>
            </p:grpSpPr>
            <p:sp>
              <p:nvSpPr>
                <p:cNvPr id="59" name="Oval 1345"/>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0" name="Oval 1346"/>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1" name="Oval 1347"/>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2" name="Oval 1348"/>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3" name="Oval 1349"/>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4" name="Oval 1350"/>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5" name="Oval 1351"/>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6" name="Oval 1352"/>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7" name="Freeform 135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8" name="Freeform 135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9" name="Freeform 135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70" name="Group 1356"/>
              <p:cNvGrpSpPr/>
              <p:nvPr/>
            </p:nvGrpSpPr>
            <p:grpSpPr bwMode="auto">
              <a:xfrm rot="-1072061">
                <a:off x="5562154" y="2732113"/>
                <a:ext cx="673100" cy="430212"/>
                <a:chOff x="2949" y="196"/>
                <a:chExt cx="941" cy="598"/>
              </a:xfrm>
            </p:grpSpPr>
            <p:sp>
              <p:nvSpPr>
                <p:cNvPr id="71" name="Oval 1357"/>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2" name="Oval 1358"/>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3" name="Oval 1359"/>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4" name="Oval 1360"/>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5" name="Oval 1361"/>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6" name="Oval 1362"/>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7" name="Oval 1363"/>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8" name="Oval 1364"/>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9" name="Freeform 136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0" name="Freeform 136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1" name="Freeform 136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82" name="Group 1428"/>
              <p:cNvGrpSpPr/>
              <p:nvPr/>
            </p:nvGrpSpPr>
            <p:grpSpPr bwMode="auto">
              <a:xfrm rot="-854928">
                <a:off x="6014592" y="3344888"/>
                <a:ext cx="574675" cy="503237"/>
                <a:chOff x="2949" y="196"/>
                <a:chExt cx="941" cy="598"/>
              </a:xfrm>
            </p:grpSpPr>
            <p:sp>
              <p:nvSpPr>
                <p:cNvPr id="83" name="Oval 1429"/>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4" name="Oval 1430"/>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5" name="Oval 1431"/>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6" name="Oval 1432"/>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7" name="Oval 1433"/>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8" name="Oval 1434"/>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9" name="Oval 1435"/>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0" name="Oval 1436"/>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1"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2"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3"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94" name="Line 1445"/>
              <p:cNvSpPr>
                <a:spLocks noChangeShapeType="1"/>
              </p:cNvSpPr>
              <p:nvPr/>
            </p:nvSpPr>
            <p:spPr bwMode="auto">
              <a:xfrm flipH="1">
                <a:off x="7905304" y="3190900"/>
                <a:ext cx="719138" cy="5048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nvGrpSpPr>
              <p:cNvPr id="95" name="Group 1404"/>
              <p:cNvGrpSpPr/>
              <p:nvPr/>
            </p:nvGrpSpPr>
            <p:grpSpPr bwMode="auto">
              <a:xfrm rot="-666782">
                <a:off x="7621142" y="3468713"/>
                <a:ext cx="536575" cy="427037"/>
                <a:chOff x="2949" y="196"/>
                <a:chExt cx="941" cy="598"/>
              </a:xfrm>
            </p:grpSpPr>
            <p:sp>
              <p:nvSpPr>
                <p:cNvPr id="96" name="Oval 1405"/>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7" name="Oval 1406"/>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8" name="Oval 1407"/>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9" name="Oval 1408"/>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0" name="Oval 1409"/>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1" name="Oval 1410"/>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2" name="Oval 1411"/>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3" name="Oval 1412"/>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4" name="Freeform 141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5" name="Freeform 141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6" name="Freeform 141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107" name="Group 1416"/>
              <p:cNvGrpSpPr/>
              <p:nvPr/>
            </p:nvGrpSpPr>
            <p:grpSpPr bwMode="auto">
              <a:xfrm rot="282232">
                <a:off x="8408542" y="2979763"/>
                <a:ext cx="565150" cy="360362"/>
                <a:chOff x="2949" y="196"/>
                <a:chExt cx="941" cy="598"/>
              </a:xfrm>
            </p:grpSpPr>
            <p:sp>
              <p:nvSpPr>
                <p:cNvPr id="108" name="Oval 1417"/>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9" name="Oval 1418"/>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0" name="Oval 1419"/>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1" name="Oval 1420"/>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2" name="Oval 1421"/>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3" name="Oval 1422"/>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4" name="Oval 1423"/>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5" name="Oval 1424"/>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6" name="Freeform 142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7" name="Freeform 142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8" name="Freeform 142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pic>
            <p:nvPicPr>
              <p:cNvPr id="123"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65442" y="271147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4"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8679" y="36227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5"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6379" y="29035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6"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1204" y="26876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7"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0117" y="21114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8"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6442" y="330202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29" name="Group 1468"/>
              <p:cNvGrpSpPr/>
              <p:nvPr/>
            </p:nvGrpSpPr>
            <p:grpSpPr bwMode="auto">
              <a:xfrm rot="-666782">
                <a:off x="6938517" y="2909913"/>
                <a:ext cx="636587" cy="492125"/>
                <a:chOff x="2949" y="196"/>
                <a:chExt cx="941" cy="598"/>
              </a:xfrm>
            </p:grpSpPr>
            <p:sp>
              <p:nvSpPr>
                <p:cNvPr id="130" name="Oval 1469"/>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1" name="Oval 1470"/>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2" name="Oval 1471"/>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3" name="Oval 1472"/>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4" name="Oval 1473"/>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5" name="Oval 1474"/>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6" name="Oval 1475"/>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7" name="Oval 1476"/>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8" name="Freeform 147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9" name="Freeform 147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40" name="Freeform 147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70" name="Text Box 1524"/>
              <p:cNvSpPr txBox="1">
                <a:spLocks noChangeArrowheads="1"/>
              </p:cNvSpPr>
              <p:nvPr/>
            </p:nvSpPr>
            <p:spPr bwMode="auto">
              <a:xfrm>
                <a:off x="6966063" y="3024602"/>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1" name="Text Box 1524"/>
              <p:cNvSpPr txBox="1">
                <a:spLocks noChangeArrowheads="1"/>
              </p:cNvSpPr>
              <p:nvPr/>
            </p:nvSpPr>
            <p:spPr bwMode="auto">
              <a:xfrm>
                <a:off x="8418822" y="3000902"/>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2" name="Text Box 1524"/>
              <p:cNvSpPr txBox="1">
                <a:spLocks noChangeArrowheads="1"/>
              </p:cNvSpPr>
              <p:nvPr/>
            </p:nvSpPr>
            <p:spPr bwMode="auto">
              <a:xfrm>
                <a:off x="6045510" y="3435628"/>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3" name="Text Box 1524"/>
              <p:cNvSpPr txBox="1">
                <a:spLocks noChangeArrowheads="1"/>
              </p:cNvSpPr>
              <p:nvPr/>
            </p:nvSpPr>
            <p:spPr bwMode="auto">
              <a:xfrm>
                <a:off x="7675872" y="2253045"/>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4" name="Text Box 1524"/>
              <p:cNvSpPr txBox="1">
                <a:spLocks noChangeArrowheads="1"/>
              </p:cNvSpPr>
              <p:nvPr/>
            </p:nvSpPr>
            <p:spPr bwMode="auto">
              <a:xfrm>
                <a:off x="5631172" y="2809511"/>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5" name="Text Box 1524"/>
              <p:cNvSpPr txBox="1">
                <a:spLocks noChangeArrowheads="1"/>
              </p:cNvSpPr>
              <p:nvPr/>
            </p:nvSpPr>
            <p:spPr bwMode="auto">
              <a:xfrm>
                <a:off x="6208101" y="2202550"/>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6" name="Text Box 1524"/>
              <p:cNvSpPr txBox="1">
                <a:spLocks noChangeArrowheads="1"/>
              </p:cNvSpPr>
              <p:nvPr/>
            </p:nvSpPr>
            <p:spPr bwMode="auto">
              <a:xfrm>
                <a:off x="7629835" y="3527809"/>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网络</a:t>
                </a:r>
              </a:p>
            </p:txBody>
          </p:sp>
        </p:grpSp>
        <p:sp>
          <p:nvSpPr>
            <p:cNvPr id="179" name="矩形 178"/>
            <p:cNvSpPr/>
            <p:nvPr/>
          </p:nvSpPr>
          <p:spPr>
            <a:xfrm>
              <a:off x="552659" y="5066020"/>
              <a:ext cx="9143458" cy="461665"/>
            </a:xfrm>
            <a:prstGeom prst="rect">
              <a:avLst/>
            </a:prstGeom>
          </p:spPr>
          <p:txBody>
            <a:bodyPr wrap="square">
              <a:spAutoFit/>
            </a:bodyPr>
            <a:lstStyle/>
            <a:p>
              <a:pPr algn="ctr"/>
              <a:r>
                <a:rPr lang="en-US" altLang="zh-CN" sz="2400" b="1" dirty="0">
                  <a:latin typeface="+mn-lt"/>
                  <a:ea typeface="黑体" panose="02010609060101010101" pitchFamily="2" charset="-122"/>
                </a:rPr>
                <a:t>  </a:t>
              </a:r>
              <a:r>
                <a:rPr lang="zh-CN" altLang="zh-CN" sz="2400" b="1" dirty="0">
                  <a:latin typeface="+mn-lt"/>
                  <a:ea typeface="黑体" panose="02010609060101010101" pitchFamily="2" charset="-122"/>
                </a:rPr>
                <a:t>简单的网络</a:t>
              </a:r>
              <a:r>
                <a:rPr lang="en-US" altLang="zh-CN" sz="2400" b="1" dirty="0">
                  <a:latin typeface="+mn-lt"/>
                  <a:ea typeface="黑体" panose="02010609060101010101" pitchFamily="2" charset="-122"/>
                </a:rPr>
                <a:t> (a) </a:t>
              </a:r>
              <a:r>
                <a:rPr lang="zh-CN" altLang="zh-CN" sz="2400" b="1" dirty="0">
                  <a:latin typeface="+mn-lt"/>
                  <a:ea typeface="黑体" panose="02010609060101010101" pitchFamily="2" charset="-122"/>
                </a:rPr>
                <a:t>和</a:t>
              </a:r>
              <a:r>
                <a:rPr lang="en-US" altLang="zh-CN" sz="2400" b="1" dirty="0">
                  <a:latin typeface="+mn-lt"/>
                  <a:ea typeface="黑体" panose="02010609060101010101" pitchFamily="2" charset="-122"/>
                </a:rPr>
                <a:t> </a:t>
              </a:r>
              <a:r>
                <a:rPr lang="zh-CN" altLang="zh-CN" sz="2400" b="1" dirty="0">
                  <a:latin typeface="+mn-lt"/>
                  <a:ea typeface="黑体" panose="02010609060101010101" pitchFamily="2" charset="-122"/>
                </a:rPr>
                <a:t>由网络构成的互连网</a:t>
              </a:r>
              <a:r>
                <a:rPr lang="en-US" altLang="zh-CN" sz="2400" b="1" dirty="0">
                  <a:latin typeface="+mn-lt"/>
                  <a:ea typeface="黑体" panose="02010609060101010101" pitchFamily="2" charset="-122"/>
                </a:rPr>
                <a:t> (b)</a:t>
              </a:r>
              <a:endParaRPr lang="zh-CN" altLang="en-US" sz="2400" b="1" dirty="0">
                <a:latin typeface="+mn-lt"/>
                <a:ea typeface="黑体" panose="02010609060101010101" pitchFamily="2" charset="-122"/>
              </a:endParaRPr>
            </a:p>
          </p:txBody>
        </p:sp>
        <p:grpSp>
          <p:nvGrpSpPr>
            <p:cNvPr id="205" name="组合 204"/>
            <p:cNvGrpSpPr/>
            <p:nvPr/>
          </p:nvGrpSpPr>
          <p:grpSpPr>
            <a:xfrm>
              <a:off x="560512" y="1798370"/>
              <a:ext cx="1436144" cy="2278702"/>
              <a:chOff x="609451" y="1582346"/>
              <a:chExt cx="1436144" cy="2278702"/>
            </a:xfrm>
          </p:grpSpPr>
          <p:sp>
            <p:nvSpPr>
              <p:cNvPr id="183" name="Text Box 1271"/>
              <p:cNvSpPr txBox="1">
                <a:spLocks noChangeArrowheads="1"/>
              </p:cNvSpPr>
              <p:nvPr/>
            </p:nvSpPr>
            <p:spPr bwMode="auto">
              <a:xfrm>
                <a:off x="1113507" y="3380505"/>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网络</a:t>
                </a:r>
              </a:p>
            </p:txBody>
          </p:sp>
          <p:sp>
            <p:nvSpPr>
              <p:cNvPr id="184" name="Text Box 1482"/>
              <p:cNvSpPr txBox="1">
                <a:spLocks noChangeArrowheads="1"/>
              </p:cNvSpPr>
              <p:nvPr/>
            </p:nvSpPr>
            <p:spPr bwMode="auto">
              <a:xfrm>
                <a:off x="1021269" y="1724374"/>
                <a:ext cx="432758" cy="32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图例</a:t>
                </a:r>
              </a:p>
            </p:txBody>
          </p:sp>
          <p:pic>
            <p:nvPicPr>
              <p:cNvPr id="185" name="Picture 148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2340" y="2161239"/>
                <a:ext cx="214052" cy="29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Text Box 1484"/>
              <p:cNvSpPr txBox="1">
                <a:spLocks noChangeArrowheads="1"/>
              </p:cNvSpPr>
              <p:nvPr/>
            </p:nvSpPr>
            <p:spPr bwMode="auto">
              <a:xfrm>
                <a:off x="1113507" y="2161239"/>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t>计算机</a:t>
                </a:r>
              </a:p>
            </p:txBody>
          </p:sp>
          <p:pic>
            <p:nvPicPr>
              <p:cNvPr id="187" name="Picture 1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718804" y="2599627"/>
                <a:ext cx="422288" cy="325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8" name="Text Box 1486"/>
              <p:cNvSpPr txBox="1">
                <a:spLocks noChangeArrowheads="1"/>
              </p:cNvSpPr>
              <p:nvPr/>
            </p:nvSpPr>
            <p:spPr bwMode="auto">
              <a:xfrm>
                <a:off x="1113507" y="2567662"/>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集线器</a:t>
                </a:r>
              </a:p>
            </p:txBody>
          </p:sp>
          <p:pic>
            <p:nvPicPr>
              <p:cNvPr id="189" name="Picture 14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257" y="3036493"/>
                <a:ext cx="253605" cy="18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90" name="Text Box 1488"/>
              <p:cNvSpPr txBox="1">
                <a:spLocks noChangeArrowheads="1"/>
              </p:cNvSpPr>
              <p:nvPr/>
            </p:nvSpPr>
            <p:spPr bwMode="auto">
              <a:xfrm>
                <a:off x="1113507" y="2974083"/>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路由器</a:t>
                </a:r>
              </a:p>
            </p:txBody>
          </p:sp>
          <p:grpSp>
            <p:nvGrpSpPr>
              <p:cNvPr id="191" name="Group 1489"/>
              <p:cNvGrpSpPr/>
              <p:nvPr/>
            </p:nvGrpSpPr>
            <p:grpSpPr bwMode="auto">
              <a:xfrm rot="20745072">
                <a:off x="767663" y="3375938"/>
                <a:ext cx="325732" cy="328791"/>
                <a:chOff x="2949" y="196"/>
                <a:chExt cx="941" cy="598"/>
              </a:xfrm>
            </p:grpSpPr>
            <p:sp>
              <p:nvSpPr>
                <p:cNvPr id="192" name="Oval 1490"/>
                <p:cNvSpPr>
                  <a:spLocks noChangeArrowheads="1"/>
                </p:cNvSpPr>
                <p:nvPr/>
              </p:nvSpPr>
              <p:spPr bwMode="auto">
                <a:xfrm>
                  <a:off x="3168" y="196"/>
                  <a:ext cx="407" cy="162"/>
                </a:xfrm>
                <a:prstGeom prst="ellipse">
                  <a:avLst/>
                </a:prstGeom>
                <a:solidFill>
                  <a:srgbClr val="C0C0C0"/>
                </a:solidFill>
                <a:ln w="12700">
                  <a:solidFill>
                    <a:schemeClr val="tx1"/>
                  </a:solidFill>
                  <a:round/>
                </a:ln>
              </p:spPr>
              <p:txBody>
                <a:bodyPr wrap="none" anchor="ctr"/>
                <a:lstStyle/>
                <a:p>
                  <a:endParaRPr lang="zh-CN" altLang="en-US"/>
                </a:p>
              </p:txBody>
            </p:sp>
            <p:sp>
              <p:nvSpPr>
                <p:cNvPr id="193" name="Oval 1491"/>
                <p:cNvSpPr>
                  <a:spLocks noChangeArrowheads="1"/>
                </p:cNvSpPr>
                <p:nvPr/>
              </p:nvSpPr>
              <p:spPr bwMode="auto">
                <a:xfrm rot="900000">
                  <a:off x="3512" y="252"/>
                  <a:ext cx="275" cy="131"/>
                </a:xfrm>
                <a:prstGeom prst="ellipse">
                  <a:avLst/>
                </a:prstGeom>
                <a:solidFill>
                  <a:srgbClr val="C0C0C0"/>
                </a:solidFill>
                <a:ln w="12700">
                  <a:solidFill>
                    <a:schemeClr val="tx1"/>
                  </a:solidFill>
                  <a:round/>
                </a:ln>
              </p:spPr>
              <p:txBody>
                <a:bodyPr wrap="none" anchor="ctr"/>
                <a:lstStyle/>
                <a:p>
                  <a:endParaRPr lang="zh-CN" altLang="en-US"/>
                </a:p>
              </p:txBody>
            </p:sp>
            <p:sp>
              <p:nvSpPr>
                <p:cNvPr id="194" name="Oval 1492"/>
                <p:cNvSpPr>
                  <a:spLocks noChangeArrowheads="1"/>
                </p:cNvSpPr>
                <p:nvPr/>
              </p:nvSpPr>
              <p:spPr bwMode="auto">
                <a:xfrm rot="1500000">
                  <a:off x="3650" y="385"/>
                  <a:ext cx="240" cy="153"/>
                </a:xfrm>
                <a:prstGeom prst="ellipse">
                  <a:avLst/>
                </a:prstGeom>
                <a:solidFill>
                  <a:srgbClr val="C0C0C0"/>
                </a:solidFill>
                <a:ln w="12700">
                  <a:solidFill>
                    <a:schemeClr val="tx1"/>
                  </a:solidFill>
                  <a:round/>
                </a:ln>
              </p:spPr>
              <p:txBody>
                <a:bodyPr wrap="none" anchor="ctr"/>
                <a:lstStyle/>
                <a:p>
                  <a:endParaRPr lang="zh-CN" altLang="en-US"/>
                </a:p>
              </p:txBody>
            </p:sp>
            <p:sp>
              <p:nvSpPr>
                <p:cNvPr id="195" name="Oval 1493"/>
                <p:cNvSpPr>
                  <a:spLocks noChangeArrowheads="1"/>
                </p:cNvSpPr>
                <p:nvPr/>
              </p:nvSpPr>
              <p:spPr bwMode="auto">
                <a:xfrm rot="-1560000">
                  <a:off x="3573" y="537"/>
                  <a:ext cx="291" cy="189"/>
                </a:xfrm>
                <a:prstGeom prst="ellipse">
                  <a:avLst/>
                </a:prstGeom>
                <a:solidFill>
                  <a:srgbClr val="C0C0C0"/>
                </a:solidFill>
                <a:ln w="12700">
                  <a:solidFill>
                    <a:schemeClr val="tx1"/>
                  </a:solidFill>
                  <a:round/>
                </a:ln>
              </p:spPr>
              <p:txBody>
                <a:bodyPr wrap="none" anchor="ctr"/>
                <a:lstStyle/>
                <a:p>
                  <a:endParaRPr lang="zh-CN" altLang="en-US"/>
                </a:p>
              </p:txBody>
            </p:sp>
            <p:sp>
              <p:nvSpPr>
                <p:cNvPr id="196" name="Oval 1494"/>
                <p:cNvSpPr>
                  <a:spLocks noChangeArrowheads="1"/>
                </p:cNvSpPr>
                <p:nvPr/>
              </p:nvSpPr>
              <p:spPr bwMode="auto">
                <a:xfrm>
                  <a:off x="3216" y="555"/>
                  <a:ext cx="471" cy="239"/>
                </a:xfrm>
                <a:prstGeom prst="ellipse">
                  <a:avLst/>
                </a:prstGeom>
                <a:solidFill>
                  <a:srgbClr val="C0C0C0"/>
                </a:solidFill>
                <a:ln w="12700">
                  <a:solidFill>
                    <a:schemeClr val="tx1"/>
                  </a:solidFill>
                  <a:round/>
                </a:ln>
              </p:spPr>
              <p:txBody>
                <a:bodyPr wrap="none" anchor="ctr"/>
                <a:lstStyle/>
                <a:p>
                  <a:endParaRPr lang="zh-CN" altLang="en-US"/>
                </a:p>
              </p:txBody>
            </p:sp>
            <p:sp>
              <p:nvSpPr>
                <p:cNvPr id="197" name="Oval 1495"/>
                <p:cNvSpPr>
                  <a:spLocks noChangeArrowheads="1"/>
                </p:cNvSpPr>
                <p:nvPr/>
              </p:nvSpPr>
              <p:spPr bwMode="auto">
                <a:xfrm rot="1080000">
                  <a:off x="3023" y="555"/>
                  <a:ext cx="265" cy="156"/>
                </a:xfrm>
                <a:prstGeom prst="ellipse">
                  <a:avLst/>
                </a:prstGeom>
                <a:solidFill>
                  <a:srgbClr val="C0C0C0"/>
                </a:solidFill>
                <a:ln w="12700">
                  <a:solidFill>
                    <a:schemeClr val="tx1"/>
                  </a:solidFill>
                  <a:round/>
                </a:ln>
              </p:spPr>
              <p:txBody>
                <a:bodyPr wrap="none" anchor="ctr"/>
                <a:lstStyle/>
                <a:p>
                  <a:endParaRPr lang="zh-CN" altLang="en-US"/>
                </a:p>
              </p:txBody>
            </p:sp>
            <p:sp>
              <p:nvSpPr>
                <p:cNvPr id="198" name="Oval 1496"/>
                <p:cNvSpPr>
                  <a:spLocks noChangeArrowheads="1"/>
                </p:cNvSpPr>
                <p:nvPr/>
              </p:nvSpPr>
              <p:spPr bwMode="auto">
                <a:xfrm>
                  <a:off x="2949" y="432"/>
                  <a:ext cx="217" cy="156"/>
                </a:xfrm>
                <a:prstGeom prst="ellipse">
                  <a:avLst/>
                </a:prstGeom>
                <a:solidFill>
                  <a:srgbClr val="C0C0C0"/>
                </a:solidFill>
                <a:ln w="12700">
                  <a:solidFill>
                    <a:schemeClr val="tx1"/>
                  </a:solidFill>
                  <a:round/>
                </a:ln>
              </p:spPr>
              <p:txBody>
                <a:bodyPr wrap="none" anchor="ctr"/>
                <a:lstStyle/>
                <a:p>
                  <a:endParaRPr lang="zh-CN" altLang="en-US"/>
                </a:p>
              </p:txBody>
            </p:sp>
            <p:sp>
              <p:nvSpPr>
                <p:cNvPr id="199" name="Oval 1497"/>
                <p:cNvSpPr>
                  <a:spLocks noChangeArrowheads="1"/>
                </p:cNvSpPr>
                <p:nvPr/>
              </p:nvSpPr>
              <p:spPr bwMode="auto">
                <a:xfrm rot="-1860000">
                  <a:off x="2984" y="310"/>
                  <a:ext cx="295" cy="156"/>
                </a:xfrm>
                <a:prstGeom prst="ellipse">
                  <a:avLst/>
                </a:prstGeom>
                <a:solidFill>
                  <a:srgbClr val="C0C0C0"/>
                </a:solidFill>
                <a:ln w="12700">
                  <a:solidFill>
                    <a:schemeClr val="tx1"/>
                  </a:solidFill>
                  <a:round/>
                </a:ln>
              </p:spPr>
              <p:txBody>
                <a:bodyPr wrap="none" anchor="ctr"/>
                <a:lstStyle/>
                <a:p>
                  <a:endParaRPr lang="zh-CN" altLang="en-US"/>
                </a:p>
              </p:txBody>
            </p:sp>
            <p:sp>
              <p:nvSpPr>
                <p:cNvPr id="200" name="Freeform 149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201" name="Freeform 149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202" name="Freeform 150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grpSp>
          <p:sp>
            <p:nvSpPr>
              <p:cNvPr id="203" name="Rectangle 1501"/>
              <p:cNvSpPr>
                <a:spLocks noChangeArrowheads="1"/>
              </p:cNvSpPr>
              <p:nvPr/>
            </p:nvSpPr>
            <p:spPr bwMode="auto">
              <a:xfrm>
                <a:off x="609451" y="1582346"/>
                <a:ext cx="1436144" cy="2278702"/>
              </a:xfrm>
              <a:prstGeom prst="rect">
                <a:avLst/>
              </a:prstGeom>
              <a:noFill/>
              <a:ln w="76200" cmpd="tri">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dirty="0">
                  <a:latin typeface="黑体" panose="02010609060101010101" pitchFamily="2" charset="-122"/>
                  <a:ea typeface="黑体" panose="02010609060101010101" pitchFamily="2" charset="-122"/>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a:r>
              <a:rPr lang="zh-CN" altLang="en-US" dirty="0"/>
              <a:t>关于“云”</a:t>
            </a:r>
          </a:p>
        </p:txBody>
      </p:sp>
      <p:sp>
        <p:nvSpPr>
          <p:cNvPr id="32771" name="Rectangle 3"/>
          <p:cNvSpPr>
            <a:spLocks noGrp="1" noChangeArrowheads="1"/>
          </p:cNvSpPr>
          <p:nvPr>
            <p:ph type="body" sz="half" idx="1"/>
          </p:nvPr>
        </p:nvSpPr>
        <p:spPr>
          <a:xfrm>
            <a:off x="495300" y="1196752"/>
            <a:ext cx="4745732" cy="4934173"/>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00000"/>
              </a:lnSpc>
            </a:pPr>
            <a:r>
              <a:rPr lang="zh-CN" altLang="zh-CN" sz="2800" dirty="0"/>
              <a:t>当使用一朵</a:t>
            </a:r>
            <a:r>
              <a:rPr lang="zh-CN" altLang="en-US" sz="2800" dirty="0"/>
              <a:t>“</a:t>
            </a:r>
            <a:r>
              <a:rPr lang="zh-CN" altLang="zh-CN" sz="2800" dirty="0"/>
              <a:t>云</a:t>
            </a:r>
            <a:r>
              <a:rPr lang="zh-CN" altLang="en-US" sz="2800" dirty="0"/>
              <a:t>”</a:t>
            </a:r>
            <a:r>
              <a:rPr lang="zh-CN" altLang="zh-CN" sz="2800" dirty="0"/>
              <a:t>来表示网络时，可能会有两种不同的情况</a:t>
            </a:r>
            <a:r>
              <a:rPr lang="zh-CN" altLang="en-US" sz="2800" dirty="0"/>
              <a:t>：</a:t>
            </a:r>
            <a:endParaRPr lang="en-US" altLang="zh-CN" sz="2800" dirty="0"/>
          </a:p>
          <a:p>
            <a:pPr marL="360680" indent="-360680">
              <a:lnSpc>
                <a:spcPct val="100000"/>
              </a:lnSpc>
              <a:buClr>
                <a:srgbClr val="C00000"/>
              </a:buClr>
              <a:buSzPct val="90000"/>
              <a:buFont typeface="+mj-lt"/>
              <a:buAutoNum type="arabicPeriod"/>
            </a:pPr>
            <a:r>
              <a:rPr lang="zh-CN" altLang="zh-CN" sz="2800" dirty="0"/>
              <a:t>云表示的网络已经包含了和网络相连的计算机</a:t>
            </a:r>
            <a:r>
              <a:rPr lang="zh-CN" altLang="en-US" sz="2800" dirty="0"/>
              <a:t>。</a:t>
            </a:r>
            <a:endParaRPr lang="en-US" altLang="zh-CN" sz="2800" dirty="0"/>
          </a:p>
          <a:p>
            <a:pPr marL="360680" indent="-360680">
              <a:lnSpc>
                <a:spcPct val="100000"/>
              </a:lnSpc>
              <a:buClr>
                <a:srgbClr val="C00000"/>
              </a:buClr>
              <a:buSzPct val="90000"/>
              <a:buFont typeface="+mj-lt"/>
              <a:buAutoNum type="arabicPeriod"/>
            </a:pPr>
            <a:r>
              <a:rPr lang="zh-CN" altLang="zh-CN" sz="2800" dirty="0"/>
              <a:t>云表示的</a:t>
            </a:r>
            <a:r>
              <a:rPr lang="zh-CN" altLang="en-US" sz="2800" dirty="0"/>
              <a:t>网络</a:t>
            </a:r>
            <a:r>
              <a:rPr lang="zh-CN" altLang="zh-CN" sz="2800" dirty="0"/>
              <a:t>里面就只剩下许多路由器和连接这些路由器的链路</a:t>
            </a:r>
            <a:r>
              <a:rPr lang="zh-CN" altLang="en-US" sz="2800" dirty="0"/>
              <a:t>，</a:t>
            </a:r>
            <a:r>
              <a:rPr lang="zh-CN" altLang="zh-CN" sz="2800" dirty="0"/>
              <a:t>把有关的计算机画在云的外面</a:t>
            </a:r>
            <a:r>
              <a:rPr lang="zh-CN" altLang="en-US" sz="2800" dirty="0"/>
              <a:t>。</a:t>
            </a:r>
            <a:r>
              <a:rPr lang="zh-CN" altLang="zh-CN" sz="2800" dirty="0">
                <a:solidFill>
                  <a:srgbClr val="0000CC"/>
                </a:solidFill>
              </a:rPr>
              <a:t>习惯上，与网络相连的计算机常称为</a:t>
            </a:r>
            <a:r>
              <a:rPr lang="zh-CN" altLang="zh-CN" sz="2800" dirty="0">
                <a:solidFill>
                  <a:srgbClr val="FF0000"/>
                </a:solidFill>
              </a:rPr>
              <a:t>主机</a:t>
            </a:r>
            <a:r>
              <a:rPr lang="en-US" altLang="zh-CN" sz="2800" dirty="0">
                <a:solidFill>
                  <a:srgbClr val="FF0000"/>
                </a:solidFill>
              </a:rPr>
              <a:t> </a:t>
            </a:r>
            <a:r>
              <a:rPr lang="en-US" altLang="zh-CN" sz="2800" dirty="0">
                <a:solidFill>
                  <a:srgbClr val="0000CC"/>
                </a:solidFill>
              </a:rPr>
              <a:t>(host)</a:t>
            </a:r>
            <a:r>
              <a:rPr lang="zh-CN" altLang="en-US" sz="2800" dirty="0">
                <a:solidFill>
                  <a:srgbClr val="0000CC"/>
                </a:solidFill>
              </a:rPr>
              <a:t>。</a:t>
            </a:r>
          </a:p>
        </p:txBody>
      </p:sp>
      <p:grpSp>
        <p:nvGrpSpPr>
          <p:cNvPr id="23" name="组合 22"/>
          <p:cNvGrpSpPr/>
          <p:nvPr/>
        </p:nvGrpSpPr>
        <p:grpSpPr>
          <a:xfrm>
            <a:off x="5385048" y="1887215"/>
            <a:ext cx="4305002" cy="3774033"/>
            <a:chOff x="5385048" y="1844824"/>
            <a:chExt cx="4305002" cy="3774033"/>
          </a:xfrm>
        </p:grpSpPr>
        <p:grpSp>
          <p:nvGrpSpPr>
            <p:cNvPr id="4" name="组合 3"/>
            <p:cNvGrpSpPr/>
            <p:nvPr/>
          </p:nvGrpSpPr>
          <p:grpSpPr>
            <a:xfrm>
              <a:off x="5385048" y="1844824"/>
              <a:ext cx="4305002" cy="2946676"/>
              <a:chOff x="5600998" y="2477535"/>
              <a:chExt cx="3892550" cy="2601997"/>
            </a:xfrm>
          </p:grpSpPr>
          <p:sp>
            <p:nvSpPr>
              <p:cNvPr id="6" name="Line 1280"/>
              <p:cNvSpPr>
                <a:spLocks noChangeShapeType="1"/>
              </p:cNvSpPr>
              <p:nvPr/>
            </p:nvSpPr>
            <p:spPr bwMode="auto">
              <a:xfrm flipH="1" flipV="1">
                <a:off x="5685135" y="3412657"/>
                <a:ext cx="1068388" cy="2079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7" name="Line 1269"/>
              <p:cNvSpPr>
                <a:spLocks noChangeShapeType="1"/>
              </p:cNvSpPr>
              <p:nvPr/>
            </p:nvSpPr>
            <p:spPr bwMode="auto">
              <a:xfrm flipH="1">
                <a:off x="8553748" y="3692057"/>
                <a:ext cx="6858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8" name="Line 1206"/>
              <p:cNvSpPr>
                <a:spLocks noChangeShapeType="1"/>
              </p:cNvSpPr>
              <p:nvPr/>
            </p:nvSpPr>
            <p:spPr bwMode="auto">
              <a:xfrm flipH="1">
                <a:off x="8048923" y="2899895"/>
                <a:ext cx="360362" cy="4318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9" name="Line 1205"/>
              <p:cNvSpPr>
                <a:spLocks noChangeShapeType="1"/>
              </p:cNvSpPr>
              <p:nvPr/>
            </p:nvSpPr>
            <p:spPr bwMode="auto">
              <a:xfrm flipH="1" flipV="1">
                <a:off x="7977485" y="4268320"/>
                <a:ext cx="381000" cy="4572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0" name="Line 1209"/>
              <p:cNvSpPr>
                <a:spLocks noChangeShapeType="1"/>
              </p:cNvSpPr>
              <p:nvPr/>
            </p:nvSpPr>
            <p:spPr bwMode="auto">
              <a:xfrm>
                <a:off x="6753523" y="2899895"/>
                <a:ext cx="287337" cy="5048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1" name="Line 1204"/>
              <p:cNvSpPr>
                <a:spLocks noChangeShapeType="1"/>
              </p:cNvSpPr>
              <p:nvPr/>
            </p:nvSpPr>
            <p:spPr bwMode="auto">
              <a:xfrm flipV="1">
                <a:off x="6896398" y="4196882"/>
                <a:ext cx="144462" cy="5286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sp>
            <p:nvSpPr>
              <p:cNvPr id="12" name="Line 1237"/>
              <p:cNvSpPr>
                <a:spLocks noChangeShapeType="1"/>
              </p:cNvSpPr>
              <p:nvPr/>
            </p:nvSpPr>
            <p:spPr bwMode="auto">
              <a:xfrm flipV="1">
                <a:off x="6142335" y="4022257"/>
                <a:ext cx="533400" cy="3048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sysClr val="windowText" lastClr="000000"/>
                  </a:solidFill>
                  <a:effectLst/>
                  <a:uLnTx/>
                  <a:uFillTx/>
                  <a:latin typeface="+mn-lt"/>
                  <a:ea typeface="黑体" panose="02010609060101010101" pitchFamily="2" charset="-122"/>
                </a:endParaRPr>
              </a:p>
            </p:txBody>
          </p:sp>
          <p:pic>
            <p:nvPicPr>
              <p:cNvPr id="13" name="Picture 12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4823" y="2612557"/>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32860" y="2612557"/>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56985" y="3331695"/>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3385" y="4628682"/>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2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0498" y="4628682"/>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2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7535" y="4022257"/>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271"/>
              <p:cNvSpPr txBox="1">
                <a:spLocks noChangeArrowheads="1"/>
              </p:cNvSpPr>
              <p:nvPr/>
            </p:nvSpPr>
            <p:spPr bwMode="auto">
              <a:xfrm>
                <a:off x="6958038" y="2477535"/>
                <a:ext cx="726451" cy="40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00"/>
                    </a:solidFill>
                    <a:effectLst/>
                    <a:uLnTx/>
                    <a:uFillTx/>
                    <a:latin typeface="+mn-lt"/>
                    <a:ea typeface="黑体" panose="02010609060101010101" pitchFamily="2" charset="-122"/>
                  </a:rPr>
                  <a:t>主机</a:t>
                </a:r>
              </a:p>
            </p:txBody>
          </p:sp>
          <p:pic>
            <p:nvPicPr>
              <p:cNvPr id="20" name="Picture 127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00998" y="318882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 name="Object 1461"/>
              <p:cNvGraphicFramePr>
                <a:graphicFrameLocks noChangeAspect="1"/>
              </p:cNvGraphicFramePr>
              <p:nvPr/>
            </p:nvGraphicFramePr>
            <p:xfrm>
              <a:off x="6393118" y="3045136"/>
              <a:ext cx="2447367" cy="1727026"/>
            </p:xfrm>
            <a:graphic>
              <a:graphicData uri="http://schemas.openxmlformats.org/presentationml/2006/ole">
                <mc:AlternateContent xmlns:mc="http://schemas.openxmlformats.org/markup-compatibility/2006">
                  <mc:Choice xmlns:v="urn:schemas-microsoft-com:vml" Requires="v">
                    <p:oleObj spid="_x0000_s1028" name="Visio" r:id="rId5" imgW="1644015" imgH="942340" progId="Visio.Drawing.11">
                      <p:embed/>
                    </p:oleObj>
                  </mc:Choice>
                  <mc:Fallback>
                    <p:oleObj name="Visio" r:id="rId5" imgW="1644015" imgH="942340" progId="Visio.Drawing.11">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3118" y="3045136"/>
                            <a:ext cx="2447367" cy="1727026"/>
                          </a:xfrm>
                          <a:prstGeom prst="rect">
                            <a:avLst/>
                          </a:prstGeom>
                          <a:noFill/>
                          <a:effectLst>
                            <a:outerShdw dist="25400" dir="5400000" algn="ctr" rotWithShape="0">
                              <a:srgbClr val="808080"/>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1185"/>
              <p:cNvSpPr txBox="1">
                <a:spLocks noChangeArrowheads="1"/>
              </p:cNvSpPr>
              <p:nvPr/>
            </p:nvSpPr>
            <p:spPr bwMode="auto">
              <a:xfrm>
                <a:off x="7060027" y="3631297"/>
                <a:ext cx="1145334" cy="462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mn-lt"/>
                    <a:ea typeface="黑体" panose="02010609060101010101" pitchFamily="2" charset="-122"/>
                  </a:rPr>
                  <a:t>互连网</a:t>
                </a:r>
              </a:p>
            </p:txBody>
          </p:sp>
        </p:grpSp>
        <p:sp>
          <p:nvSpPr>
            <p:cNvPr id="5" name="矩形 4"/>
            <p:cNvSpPr/>
            <p:nvPr/>
          </p:nvSpPr>
          <p:spPr>
            <a:xfrm>
              <a:off x="5915514" y="5157192"/>
              <a:ext cx="3448380" cy="461665"/>
            </a:xfrm>
            <a:prstGeom prst="rect">
              <a:avLst/>
            </a:prstGeom>
          </p:spPr>
          <p:txBody>
            <a:bodyPr wrap="none">
              <a:spAutoFit/>
            </a:bodyPr>
            <a:lstStyle/>
            <a:p>
              <a:pPr algn="ctr"/>
              <a:r>
                <a:rPr lang="en-US" altLang="zh-CN" sz="2400" b="1" dirty="0">
                  <a:latin typeface="+mn-lt"/>
                  <a:ea typeface="黑体" panose="02010609060101010101" pitchFamily="2" charset="-122"/>
                </a:rPr>
                <a:t> </a:t>
              </a:r>
              <a:r>
                <a:rPr lang="zh-CN" altLang="zh-CN" sz="2400" b="1" dirty="0">
                  <a:latin typeface="+mn-lt"/>
                  <a:ea typeface="黑体" panose="02010609060101010101" pitchFamily="2" charset="-122"/>
                </a:rPr>
                <a:t>互连网与所连接的主机</a:t>
              </a:r>
              <a:endParaRPr lang="zh-CN" altLang="en-US" sz="2400" b="1" dirty="0">
                <a:latin typeface="+mn-lt"/>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ctr"/>
            <a:r>
              <a:rPr lang="zh-CN" altLang="en-US" dirty="0"/>
              <a:t>基本概念</a:t>
            </a:r>
          </a:p>
        </p:txBody>
      </p:sp>
      <p:sp>
        <p:nvSpPr>
          <p:cNvPr id="6" name="内容占位符 5"/>
          <p:cNvSpPr>
            <a:spLocks noGrp="1"/>
          </p:cNvSpPr>
          <p:nvPr>
            <p:ph idx="1"/>
          </p:nvPr>
        </p:nvSpPr>
        <p:spPr/>
        <p:txBody>
          <a:bodyPr/>
          <a:lstStyle/>
          <a:p>
            <a:r>
              <a:rPr lang="zh-CN" altLang="zh-CN" dirty="0">
                <a:solidFill>
                  <a:srgbClr val="FF0000"/>
                </a:solidFill>
              </a:rPr>
              <a:t>网络</a:t>
            </a:r>
            <a:r>
              <a:rPr lang="zh-CN" altLang="zh-CN" dirty="0"/>
              <a:t>把许多计算机连接在一起</a:t>
            </a:r>
            <a:r>
              <a:rPr lang="zh-CN" altLang="en-US" dirty="0"/>
              <a:t>。</a:t>
            </a:r>
            <a:endParaRPr lang="en-US" altLang="zh-CN" dirty="0"/>
          </a:p>
          <a:p>
            <a:r>
              <a:rPr lang="zh-CN" altLang="zh-CN" dirty="0">
                <a:solidFill>
                  <a:srgbClr val="FF0000"/>
                </a:solidFill>
              </a:rPr>
              <a:t>互连网</a:t>
            </a:r>
            <a:r>
              <a:rPr lang="zh-CN" altLang="zh-CN" dirty="0"/>
              <a:t>则把许多网络通过路由器连接在一起</a:t>
            </a:r>
            <a:r>
              <a:rPr lang="zh-CN" altLang="en-US" dirty="0"/>
              <a:t>。</a:t>
            </a:r>
            <a:endParaRPr lang="en-US" altLang="zh-CN" dirty="0"/>
          </a:p>
          <a:p>
            <a:r>
              <a:rPr lang="zh-CN" altLang="zh-CN" dirty="0"/>
              <a:t>与网络相连的计算机常称为</a:t>
            </a:r>
            <a:r>
              <a:rPr lang="zh-CN" altLang="zh-CN" dirty="0">
                <a:solidFill>
                  <a:srgbClr val="0000CC"/>
                </a:solidFill>
              </a:rPr>
              <a:t>主机</a:t>
            </a:r>
            <a:r>
              <a:rPr lang="zh-CN" altLang="en-US" dirty="0"/>
              <a:t>。</a:t>
            </a:r>
          </a:p>
        </p:txBody>
      </p:sp>
      <p:grpSp>
        <p:nvGrpSpPr>
          <p:cNvPr id="178" name="组合 177"/>
          <p:cNvGrpSpPr/>
          <p:nvPr/>
        </p:nvGrpSpPr>
        <p:grpSpPr>
          <a:xfrm>
            <a:off x="1496616" y="3068960"/>
            <a:ext cx="7848871" cy="3143460"/>
            <a:chOff x="1496616" y="3068960"/>
            <a:chExt cx="7848871" cy="3143460"/>
          </a:xfrm>
        </p:grpSpPr>
        <p:grpSp>
          <p:nvGrpSpPr>
            <p:cNvPr id="176" name="组合 175"/>
            <p:cNvGrpSpPr/>
            <p:nvPr/>
          </p:nvGrpSpPr>
          <p:grpSpPr>
            <a:xfrm>
              <a:off x="1496616" y="3068960"/>
              <a:ext cx="5625654" cy="3143460"/>
              <a:chOff x="2068165" y="2996953"/>
              <a:chExt cx="5625654" cy="3143460"/>
            </a:xfrm>
          </p:grpSpPr>
          <p:grpSp>
            <p:nvGrpSpPr>
              <p:cNvPr id="8" name="Group 1504"/>
              <p:cNvGrpSpPr/>
              <p:nvPr/>
            </p:nvGrpSpPr>
            <p:grpSpPr bwMode="auto">
              <a:xfrm>
                <a:off x="2775211" y="3490809"/>
                <a:ext cx="4021357" cy="2649604"/>
                <a:chOff x="109" y="1226"/>
                <a:chExt cx="2516" cy="1675"/>
              </a:xfrm>
            </p:grpSpPr>
            <p:grpSp>
              <p:nvGrpSpPr>
                <p:cNvPr id="123" name="Group 1505"/>
                <p:cNvGrpSpPr/>
                <p:nvPr/>
              </p:nvGrpSpPr>
              <p:grpSpPr bwMode="auto">
                <a:xfrm>
                  <a:off x="109" y="1226"/>
                  <a:ext cx="2516" cy="1675"/>
                  <a:chOff x="109" y="1226"/>
                  <a:chExt cx="2516" cy="1675"/>
                </a:xfrm>
              </p:grpSpPr>
              <p:grpSp>
                <p:nvGrpSpPr>
                  <p:cNvPr id="125" name="Group 1506"/>
                  <p:cNvGrpSpPr/>
                  <p:nvPr/>
                </p:nvGrpSpPr>
                <p:grpSpPr bwMode="auto">
                  <a:xfrm>
                    <a:off x="109" y="1226"/>
                    <a:ext cx="2516" cy="1675"/>
                    <a:chOff x="109" y="1226"/>
                    <a:chExt cx="2516" cy="1675"/>
                  </a:xfrm>
                </p:grpSpPr>
                <p:sp>
                  <p:nvSpPr>
                    <p:cNvPr id="127" name="Oval 150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8"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9"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0" name="Oval 15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1"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2" name="Oval 15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3" name="Oval 15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26" name="Oval 1514"/>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24" name="Freeform 1515"/>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9" name="Line 1481"/>
              <p:cNvSpPr>
                <a:spLocks noChangeShapeType="1"/>
              </p:cNvSpPr>
              <p:nvPr/>
            </p:nvSpPr>
            <p:spPr bwMode="auto">
              <a:xfrm flipH="1">
                <a:off x="4744264" y="4904191"/>
                <a:ext cx="81441" cy="7066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 name="Line 1480"/>
              <p:cNvSpPr>
                <a:spLocks noChangeShapeType="1"/>
              </p:cNvSpPr>
              <p:nvPr/>
            </p:nvSpPr>
            <p:spPr bwMode="auto">
              <a:xfrm flipH="1" flipV="1">
                <a:off x="4237523" y="4542085"/>
                <a:ext cx="506742" cy="27449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 name="Line 1296"/>
              <p:cNvSpPr>
                <a:spLocks noChangeShapeType="1"/>
              </p:cNvSpPr>
              <p:nvPr/>
            </p:nvSpPr>
            <p:spPr bwMode="auto">
              <a:xfrm flipH="1" flipV="1">
                <a:off x="3995011" y="5466818"/>
                <a:ext cx="1324768" cy="23167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 name="Line 1297"/>
              <p:cNvSpPr>
                <a:spLocks noChangeShapeType="1"/>
              </p:cNvSpPr>
              <p:nvPr/>
            </p:nvSpPr>
            <p:spPr bwMode="auto">
              <a:xfrm flipV="1">
                <a:off x="4252001" y="3845128"/>
                <a:ext cx="409013" cy="8760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4" name="Text Box 1318"/>
              <p:cNvSpPr txBox="1">
                <a:spLocks noChangeArrowheads="1"/>
              </p:cNvSpPr>
              <p:nvPr/>
            </p:nvSpPr>
            <p:spPr bwMode="auto">
              <a:xfrm>
                <a:off x="3224808" y="2996953"/>
                <a:ext cx="32784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互连网（网络的网络）</a:t>
                </a:r>
              </a:p>
            </p:txBody>
          </p:sp>
          <p:sp>
            <p:nvSpPr>
              <p:cNvPr id="15" name="Line 1440"/>
              <p:cNvSpPr>
                <a:spLocks noChangeShapeType="1"/>
              </p:cNvSpPr>
              <p:nvPr/>
            </p:nvSpPr>
            <p:spPr bwMode="auto">
              <a:xfrm flipH="1">
                <a:off x="3513606" y="4551818"/>
                <a:ext cx="738395" cy="8760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 name="Line 1443"/>
              <p:cNvSpPr>
                <a:spLocks noChangeShapeType="1"/>
              </p:cNvSpPr>
              <p:nvPr/>
            </p:nvSpPr>
            <p:spPr bwMode="auto">
              <a:xfrm>
                <a:off x="4990396" y="3845128"/>
                <a:ext cx="492263" cy="1752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7" name="Line 1444"/>
              <p:cNvSpPr>
                <a:spLocks noChangeShapeType="1"/>
              </p:cNvSpPr>
              <p:nvPr/>
            </p:nvSpPr>
            <p:spPr bwMode="auto">
              <a:xfrm>
                <a:off x="5647351" y="4109894"/>
                <a:ext cx="738395" cy="79429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8" name="Line 1446"/>
              <p:cNvSpPr>
                <a:spLocks noChangeShapeType="1"/>
              </p:cNvSpPr>
              <p:nvPr/>
            </p:nvSpPr>
            <p:spPr bwMode="auto">
              <a:xfrm flipH="1">
                <a:off x="5482659" y="4197500"/>
                <a:ext cx="83250" cy="5295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9" name="Line 1447"/>
              <p:cNvSpPr>
                <a:spLocks noChangeShapeType="1"/>
              </p:cNvSpPr>
              <p:nvPr/>
            </p:nvSpPr>
            <p:spPr bwMode="auto">
              <a:xfrm flipV="1">
                <a:off x="4237523" y="4109894"/>
                <a:ext cx="1082255" cy="41466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0" name="Line 1448"/>
              <p:cNvSpPr>
                <a:spLocks noChangeShapeType="1"/>
              </p:cNvSpPr>
              <p:nvPr/>
            </p:nvSpPr>
            <p:spPr bwMode="auto">
              <a:xfrm>
                <a:off x="4005869" y="4020341"/>
                <a:ext cx="164692" cy="5295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1" name="Line 1449"/>
              <p:cNvSpPr>
                <a:spLocks noChangeShapeType="1"/>
              </p:cNvSpPr>
              <p:nvPr/>
            </p:nvSpPr>
            <p:spPr bwMode="auto">
              <a:xfrm flipV="1">
                <a:off x="4827515" y="4816584"/>
                <a:ext cx="573705" cy="1752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2" name="Line 1452"/>
              <p:cNvSpPr>
                <a:spLocks noChangeShapeType="1"/>
              </p:cNvSpPr>
              <p:nvPr/>
            </p:nvSpPr>
            <p:spPr bwMode="auto">
              <a:xfrm>
                <a:off x="5565910" y="4816584"/>
                <a:ext cx="738395" cy="8760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3" name="Line 1453"/>
              <p:cNvSpPr>
                <a:spLocks noChangeShapeType="1"/>
              </p:cNvSpPr>
              <p:nvPr/>
            </p:nvSpPr>
            <p:spPr bwMode="auto">
              <a:xfrm flipH="1">
                <a:off x="3902712" y="4684201"/>
                <a:ext cx="246132" cy="6171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4" name="Line 1456"/>
              <p:cNvSpPr>
                <a:spLocks noChangeShapeType="1"/>
              </p:cNvSpPr>
              <p:nvPr/>
            </p:nvSpPr>
            <p:spPr bwMode="auto">
              <a:xfrm>
                <a:off x="5482659" y="4904191"/>
                <a:ext cx="0" cy="6171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9" name="Line 1445"/>
              <p:cNvSpPr>
                <a:spLocks noChangeShapeType="1"/>
              </p:cNvSpPr>
              <p:nvPr/>
            </p:nvSpPr>
            <p:spPr bwMode="auto">
              <a:xfrm flipH="1">
                <a:off x="5565910" y="4991797"/>
                <a:ext cx="819836" cy="6190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pic>
            <p:nvPicPr>
              <p:cNvPr id="32"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4429" y="4403861"/>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133" y="552132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4"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6528" y="4639425"/>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5"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2042" y="4374660"/>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9574" y="366796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7"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6613" y="5128073"/>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141" name="直接连接符 140"/>
              <p:cNvCxnSpPr/>
              <p:nvPr/>
            </p:nvCxnSpPr>
            <p:spPr bwMode="auto">
              <a:xfrm>
                <a:off x="2718495" y="3951781"/>
                <a:ext cx="1026618" cy="934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直接连接符 142"/>
              <p:cNvCxnSpPr/>
              <p:nvPr/>
            </p:nvCxnSpPr>
            <p:spPr bwMode="auto">
              <a:xfrm flipV="1">
                <a:off x="2376444" y="4766530"/>
                <a:ext cx="726563" cy="2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接连接符 144"/>
              <p:cNvCxnSpPr>
                <a:endCxn id="85" idx="2"/>
              </p:cNvCxnSpPr>
              <p:nvPr/>
            </p:nvCxnSpPr>
            <p:spPr bwMode="auto">
              <a:xfrm flipV="1">
                <a:off x="2594725" y="5584837"/>
                <a:ext cx="829611" cy="1597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接连接符 147"/>
              <p:cNvCxnSpPr/>
              <p:nvPr/>
            </p:nvCxnSpPr>
            <p:spPr bwMode="auto">
              <a:xfrm flipH="1" flipV="1">
                <a:off x="5636218" y="5589627"/>
                <a:ext cx="1407271" cy="1692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接连接符 149"/>
              <p:cNvCxnSpPr/>
              <p:nvPr/>
            </p:nvCxnSpPr>
            <p:spPr bwMode="auto">
              <a:xfrm flipH="1">
                <a:off x="6603581" y="4858856"/>
                <a:ext cx="871957" cy="899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连接符 153"/>
              <p:cNvCxnSpPr/>
              <p:nvPr/>
            </p:nvCxnSpPr>
            <p:spPr bwMode="auto">
              <a:xfrm flipH="1">
                <a:off x="5768914" y="3897464"/>
                <a:ext cx="1270645" cy="2004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4" name="Picture 12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5208"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57256"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 name="Picture 12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6444" y="54984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 name="Picture 12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8165"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97216" y="5498430"/>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 name="Picture 12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0214"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1320"/>
              <p:cNvGrpSpPr/>
              <p:nvPr/>
            </p:nvGrpSpPr>
            <p:grpSpPr bwMode="auto">
              <a:xfrm>
                <a:off x="3595047" y="3755575"/>
                <a:ext cx="738395" cy="441925"/>
                <a:chOff x="2949" y="196"/>
                <a:chExt cx="941" cy="598"/>
              </a:xfrm>
            </p:grpSpPr>
            <p:sp>
              <p:nvSpPr>
                <p:cNvPr id="112" name="Oval 1321"/>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3" name="Oval 1322"/>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4" name="Oval 1323"/>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5" name="Oval 1324"/>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6" name="Oval 1325"/>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7" name="Oval 1326"/>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8" name="Oval 1327"/>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9" name="Oval 1328"/>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0" name="Freeform 1329"/>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1" name="Freeform 1330"/>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2" name="Freeform 133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26" name="Group 1344"/>
              <p:cNvGrpSpPr/>
              <p:nvPr/>
            </p:nvGrpSpPr>
            <p:grpSpPr bwMode="auto">
              <a:xfrm>
                <a:off x="5236528" y="3755575"/>
                <a:ext cx="738395" cy="617137"/>
                <a:chOff x="2949" y="196"/>
                <a:chExt cx="941" cy="598"/>
              </a:xfrm>
            </p:grpSpPr>
            <p:sp>
              <p:nvSpPr>
                <p:cNvPr id="101" name="Oval 1345"/>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2" name="Oval 1346"/>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3" name="Oval 1347"/>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4" name="Oval 1348"/>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5" name="Oval 1349"/>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6" name="Oval 1350"/>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7" name="Oval 1351"/>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8" name="Oval 1352"/>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9" name="Freeform 135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0" name="Freeform 135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1" name="Freeform 135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27" name="Group 1356"/>
              <p:cNvGrpSpPr/>
              <p:nvPr/>
            </p:nvGrpSpPr>
            <p:grpSpPr bwMode="auto">
              <a:xfrm rot="20527939">
                <a:off x="2894657" y="4429170"/>
                <a:ext cx="767352" cy="527584"/>
                <a:chOff x="2949" y="196"/>
                <a:chExt cx="941" cy="598"/>
              </a:xfrm>
            </p:grpSpPr>
            <p:sp>
              <p:nvSpPr>
                <p:cNvPr id="90" name="Oval 1357"/>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1" name="Oval 1358"/>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2" name="Oval 1359"/>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3" name="Oval 1360"/>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4" name="Oval 1361"/>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5" name="Oval 1362"/>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6" name="Oval 1363"/>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7" name="Oval 1364"/>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8" name="Freeform 136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9" name="Freeform 136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0" name="Freeform 136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28" name="Group 1428"/>
              <p:cNvGrpSpPr/>
              <p:nvPr/>
            </p:nvGrpSpPr>
            <p:grpSpPr bwMode="auto">
              <a:xfrm rot="20745072">
                <a:off x="3410448" y="5180638"/>
                <a:ext cx="655145" cy="617137"/>
                <a:chOff x="2949" y="196"/>
                <a:chExt cx="941" cy="598"/>
              </a:xfrm>
            </p:grpSpPr>
            <p:sp>
              <p:nvSpPr>
                <p:cNvPr id="79" name="Oval 1429"/>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0" name="Oval 1430"/>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1" name="Oval 1431"/>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2" name="Oval 1432"/>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3" name="Oval 1433"/>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4" name="Oval 1434"/>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5" name="Oval 1435"/>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6" name="Oval 1436"/>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7"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8"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9"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30" name="Group 1404"/>
              <p:cNvGrpSpPr/>
              <p:nvPr/>
            </p:nvGrpSpPr>
            <p:grpSpPr bwMode="auto">
              <a:xfrm rot="20933218">
                <a:off x="5241958" y="5332489"/>
                <a:ext cx="611710" cy="523690"/>
                <a:chOff x="2949" y="196"/>
                <a:chExt cx="941" cy="598"/>
              </a:xfrm>
            </p:grpSpPr>
            <p:sp>
              <p:nvSpPr>
                <p:cNvPr id="68" name="Oval 1405"/>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9" name="Oval 1406"/>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0" name="Oval 1407"/>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1" name="Oval 1408"/>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2" name="Oval 1409"/>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3" name="Oval 1410"/>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4" name="Oval 1411"/>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5" name="Oval 1412"/>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6" name="Freeform 141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7" name="Freeform 141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8" name="Freeform 141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31" name="Group 1416"/>
              <p:cNvGrpSpPr/>
              <p:nvPr/>
            </p:nvGrpSpPr>
            <p:grpSpPr bwMode="auto">
              <a:xfrm rot="282232">
                <a:off x="6139614" y="4732872"/>
                <a:ext cx="644286" cy="441925"/>
                <a:chOff x="2949" y="196"/>
                <a:chExt cx="941" cy="598"/>
              </a:xfrm>
            </p:grpSpPr>
            <p:sp>
              <p:nvSpPr>
                <p:cNvPr id="57" name="Oval 1417"/>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8" name="Oval 1418"/>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9" name="Oval 1419"/>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0" name="Oval 1420"/>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1" name="Oval 1421"/>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2" name="Oval 1422"/>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3" name="Oval 1423"/>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4" name="Oval 1424"/>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5" name="Freeform 142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6" name="Freeform 142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7" name="Freeform 142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38" name="Group 1468"/>
              <p:cNvGrpSpPr/>
              <p:nvPr/>
            </p:nvGrpSpPr>
            <p:grpSpPr bwMode="auto">
              <a:xfrm rot="20933218">
                <a:off x="4463747" y="4647213"/>
                <a:ext cx="725726" cy="603510"/>
                <a:chOff x="2949" y="196"/>
                <a:chExt cx="941" cy="598"/>
              </a:xfrm>
            </p:grpSpPr>
            <p:sp>
              <p:nvSpPr>
                <p:cNvPr id="46" name="Oval 1469"/>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7" name="Oval 1470"/>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8" name="Oval 1471"/>
                <p:cNvSpPr>
                  <a:spLocks noChangeArrowheads="1"/>
                </p:cNvSpPr>
                <p:nvPr/>
              </p:nvSpPr>
              <p:spPr bwMode="auto">
                <a:xfrm rot="1500000">
                  <a:off x="3650" y="385"/>
                  <a:ext cx="240" cy="153"/>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9" name="Oval 1472"/>
                <p:cNvSpPr>
                  <a:spLocks noChangeArrowheads="1"/>
                </p:cNvSpPr>
                <p:nvPr/>
              </p:nvSpPr>
              <p:spPr bwMode="auto">
                <a:xfrm rot="-1560000">
                  <a:off x="3573" y="537"/>
                  <a:ext cx="291" cy="18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0" name="Oval 1473"/>
                <p:cNvSpPr>
                  <a:spLocks noChangeArrowheads="1"/>
                </p:cNvSpPr>
                <p:nvPr/>
              </p:nvSpPr>
              <p:spPr bwMode="auto">
                <a:xfrm>
                  <a:off x="3216" y="555"/>
                  <a:ext cx="471" cy="239"/>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1" name="Oval 1474"/>
                <p:cNvSpPr>
                  <a:spLocks noChangeArrowheads="1"/>
                </p:cNvSpPr>
                <p:nvPr/>
              </p:nvSpPr>
              <p:spPr bwMode="auto">
                <a:xfrm rot="1080000">
                  <a:off x="3023" y="555"/>
                  <a:ext cx="26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2" name="Oval 1475"/>
                <p:cNvSpPr>
                  <a:spLocks noChangeArrowheads="1"/>
                </p:cNvSpPr>
                <p:nvPr/>
              </p:nvSpPr>
              <p:spPr bwMode="auto">
                <a:xfrm>
                  <a:off x="2949" y="432"/>
                  <a:ext cx="217"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3" name="Oval 1476"/>
                <p:cNvSpPr>
                  <a:spLocks noChangeArrowheads="1"/>
                </p:cNvSpPr>
                <p:nvPr/>
              </p:nvSpPr>
              <p:spPr bwMode="auto">
                <a:xfrm rot="-1860000">
                  <a:off x="2984" y="310"/>
                  <a:ext cx="295" cy="156"/>
                </a:xfrm>
                <a:prstGeom prst="ellipse">
                  <a:avLst/>
                </a:prstGeom>
                <a:solidFill>
                  <a:srgbClr val="C0C0C0"/>
                </a:solidFill>
                <a:ln w="12700">
                  <a:solidFill>
                    <a:srgbClr val="00000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4" name="Freeform 147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5" name="Freeform 147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6" name="Freeform 147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39" name="Text Box 1524"/>
              <p:cNvSpPr txBox="1">
                <a:spLocks noChangeArrowheads="1"/>
              </p:cNvSpPr>
              <p:nvPr/>
            </p:nvSpPr>
            <p:spPr bwMode="auto">
              <a:xfrm>
                <a:off x="4495150" y="4787860"/>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40" name="Text Box 1524"/>
              <p:cNvSpPr txBox="1">
                <a:spLocks noChangeArrowheads="1"/>
              </p:cNvSpPr>
              <p:nvPr/>
            </p:nvSpPr>
            <p:spPr bwMode="auto">
              <a:xfrm>
                <a:off x="6151334" y="4758796"/>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41" name="Text Box 1524"/>
              <p:cNvSpPr txBox="1">
                <a:spLocks noChangeArrowheads="1"/>
              </p:cNvSpPr>
              <p:nvPr/>
            </p:nvSpPr>
            <p:spPr bwMode="auto">
              <a:xfrm>
                <a:off x="3445696" y="5276471"/>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42" name="Text Box 1524"/>
              <p:cNvSpPr txBox="1">
                <a:spLocks noChangeArrowheads="1"/>
              </p:cNvSpPr>
              <p:nvPr/>
            </p:nvSpPr>
            <p:spPr bwMode="auto">
              <a:xfrm>
                <a:off x="5304351" y="3841672"/>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43" name="Text Box 1524"/>
              <p:cNvSpPr txBox="1">
                <a:spLocks noChangeArrowheads="1"/>
              </p:cNvSpPr>
              <p:nvPr/>
            </p:nvSpPr>
            <p:spPr bwMode="auto">
              <a:xfrm>
                <a:off x="2973340" y="4524086"/>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44" name="Text Box 1524"/>
              <p:cNvSpPr txBox="1">
                <a:spLocks noChangeArrowheads="1"/>
              </p:cNvSpPr>
              <p:nvPr/>
            </p:nvSpPr>
            <p:spPr bwMode="auto">
              <a:xfrm>
                <a:off x="3656856" y="3779748"/>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45" name="Text Box 1524"/>
              <p:cNvSpPr txBox="1">
                <a:spLocks noChangeArrowheads="1"/>
              </p:cNvSpPr>
              <p:nvPr/>
            </p:nvSpPr>
            <p:spPr bwMode="auto">
              <a:xfrm>
                <a:off x="5251868" y="5404960"/>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网络</a:t>
                </a:r>
              </a:p>
            </p:txBody>
          </p:sp>
          <p:sp>
            <p:nvSpPr>
              <p:cNvPr id="175" name="矩形 174"/>
              <p:cNvSpPr/>
              <p:nvPr/>
            </p:nvSpPr>
            <p:spPr>
              <a:xfrm>
                <a:off x="6702960" y="3356992"/>
                <a:ext cx="649537"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1" kern="0" dirty="0">
                    <a:solidFill>
                      <a:srgbClr val="000000"/>
                    </a:solidFill>
                    <a:ea typeface="黑体" panose="02010609060101010101" pitchFamily="2" charset="-122"/>
                  </a:rPr>
                  <a:t>主机</a:t>
                </a:r>
              </a:p>
            </p:txBody>
          </p:sp>
        </p:grpSp>
        <p:sp>
          <p:nvSpPr>
            <p:cNvPr id="177" name="矩形 176"/>
            <p:cNvSpPr/>
            <p:nvPr/>
          </p:nvSpPr>
          <p:spPr>
            <a:xfrm>
              <a:off x="7290080" y="3704975"/>
              <a:ext cx="2055407" cy="1569660"/>
            </a:xfrm>
            <a:prstGeom prst="rect">
              <a:avLst/>
            </a:prstGeom>
            <a:solidFill>
              <a:srgbClr val="FFFF00"/>
            </a:solidFill>
            <a:ln>
              <a:solidFill>
                <a:srgbClr val="000099"/>
              </a:solidFill>
            </a:ln>
          </p:spPr>
          <p:txBody>
            <a:bodyPr wrap="square">
              <a:spAutoFit/>
            </a:bodyPr>
            <a:lstStyle/>
            <a:p>
              <a:r>
                <a:rPr lang="zh-CN" altLang="zh-CN" sz="2400" b="1" dirty="0">
                  <a:latin typeface="+mn-lt"/>
                  <a:ea typeface="黑体" panose="02010609060101010101" pitchFamily="2" charset="-122"/>
                </a:rPr>
                <a:t>主机</a:t>
              </a:r>
              <a:r>
                <a:rPr lang="zh-CN" altLang="en-US" sz="2400" b="1" dirty="0">
                  <a:latin typeface="+mn-lt"/>
                  <a:ea typeface="黑体" panose="02010609060101010101" pitchFamily="2" charset="-122"/>
                </a:rPr>
                <a:t>可以是计算机，也可以是</a:t>
              </a:r>
              <a:r>
                <a:rPr lang="zh-CN" altLang="zh-CN" sz="2400" b="1" dirty="0">
                  <a:latin typeface="+mn-lt"/>
                  <a:ea typeface="黑体" panose="02010609060101010101" pitchFamily="2" charset="-122"/>
                </a:rPr>
                <a:t>智能手机</a:t>
              </a:r>
              <a:r>
                <a:rPr lang="zh-CN" altLang="en-US" sz="2400" b="1" dirty="0">
                  <a:latin typeface="+mn-lt"/>
                  <a:ea typeface="黑体" panose="02010609060101010101" pitchFamily="2" charset="-122"/>
                </a:rPr>
                <a:t>等</a:t>
              </a:r>
              <a:r>
                <a:rPr lang="zh-CN" altLang="zh-CN" sz="2400" b="1" dirty="0">
                  <a:latin typeface="+mn-lt"/>
                  <a:ea typeface="黑体" panose="02010609060101010101" pitchFamily="2" charset="-122"/>
                </a:rPr>
                <a:t>智能机器。</a:t>
              </a:r>
              <a:endParaRPr lang="zh-CN" altLang="en-US" sz="2400" b="1" dirty="0">
                <a:latin typeface="+mn-lt"/>
                <a:ea typeface="黑体" panose="02010609060101010101" pitchFamily="2"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1.2.2  </a:t>
            </a:r>
            <a:r>
              <a:rPr lang="zh-CN" altLang="zh-CN" sz="3600" dirty="0"/>
              <a:t>互联网基础结构发展的三个阶段</a:t>
            </a:r>
            <a:endParaRPr lang="zh-CN" altLang="en-US" sz="3600" dirty="0"/>
          </a:p>
        </p:txBody>
      </p:sp>
      <p:sp>
        <p:nvSpPr>
          <p:cNvPr id="3" name="内容占位符 2"/>
          <p:cNvSpPr>
            <a:spLocks noGrp="1"/>
          </p:cNvSpPr>
          <p:nvPr>
            <p:ph idx="1"/>
          </p:nvPr>
        </p:nvSpPr>
        <p:spPr/>
        <p:txBody>
          <a:bodyPr/>
          <a:lstStyle/>
          <a:p>
            <a:r>
              <a:rPr lang="zh-CN" altLang="en-US" dirty="0">
                <a:solidFill>
                  <a:srgbClr val="FF0000"/>
                </a:solidFill>
              </a:rPr>
              <a:t>第一阶段：</a:t>
            </a:r>
            <a:r>
              <a:rPr lang="zh-CN" altLang="en-US" dirty="0"/>
              <a:t>从单个网络 </a:t>
            </a:r>
            <a:r>
              <a:rPr lang="en-US" altLang="zh-CN" dirty="0"/>
              <a:t>ARPANET </a:t>
            </a:r>
            <a:r>
              <a:rPr lang="zh-CN" altLang="en-US" dirty="0"/>
              <a:t>向互联网发展的过程。 </a:t>
            </a:r>
          </a:p>
          <a:p>
            <a:r>
              <a:rPr lang="en-US" altLang="zh-CN" dirty="0"/>
              <a:t>1983 </a:t>
            </a:r>
            <a:r>
              <a:rPr lang="zh-CN" altLang="en-US" dirty="0"/>
              <a:t>年， </a:t>
            </a:r>
            <a:r>
              <a:rPr lang="en-US" altLang="zh-CN" dirty="0"/>
              <a:t>TCP/IP </a:t>
            </a:r>
            <a:r>
              <a:rPr lang="zh-CN" altLang="en-US" dirty="0"/>
              <a:t>协议成为 </a:t>
            </a:r>
            <a:r>
              <a:rPr lang="en-US" altLang="zh-CN" dirty="0"/>
              <a:t>ARPANET </a:t>
            </a:r>
            <a:r>
              <a:rPr lang="zh-CN" altLang="en-US" dirty="0"/>
              <a:t>上的标准协议，</a:t>
            </a:r>
            <a:r>
              <a:rPr lang="zh-CN" altLang="zh-CN" dirty="0"/>
              <a:t>使得所有使用</a:t>
            </a:r>
            <a:r>
              <a:rPr lang="en-US" altLang="zh-CN" dirty="0"/>
              <a:t> TCP/IP </a:t>
            </a:r>
            <a:r>
              <a:rPr lang="zh-CN" altLang="zh-CN" dirty="0"/>
              <a:t>协议的计算机都能利用互连网相互通信</a:t>
            </a:r>
            <a:r>
              <a:rPr lang="zh-CN" altLang="en-US" dirty="0"/>
              <a:t>。</a:t>
            </a:r>
          </a:p>
          <a:p>
            <a:r>
              <a:rPr lang="zh-CN" altLang="en-US" dirty="0"/>
              <a:t>人们把 </a:t>
            </a:r>
            <a:r>
              <a:rPr lang="en-US" altLang="zh-CN" dirty="0"/>
              <a:t>1983 </a:t>
            </a:r>
            <a:r>
              <a:rPr lang="zh-CN" altLang="en-US" dirty="0"/>
              <a:t>年作为互联网的诞生时间。</a:t>
            </a:r>
            <a:endParaRPr lang="en-US" altLang="zh-CN" dirty="0"/>
          </a:p>
          <a:p>
            <a:r>
              <a:rPr lang="en-US" altLang="zh-CN" dirty="0"/>
              <a:t>1990</a:t>
            </a:r>
            <a:r>
              <a:rPr lang="zh-CN" altLang="zh-CN" dirty="0"/>
              <a:t>年</a:t>
            </a:r>
            <a:r>
              <a:rPr lang="zh-CN" altLang="en-US" dirty="0"/>
              <a:t>，</a:t>
            </a:r>
            <a:r>
              <a:rPr lang="en-US" altLang="zh-CN" dirty="0"/>
              <a:t>ARPANET </a:t>
            </a:r>
            <a:r>
              <a:rPr lang="zh-CN" altLang="zh-CN" dirty="0"/>
              <a:t>正式宣布关闭</a:t>
            </a:r>
            <a:r>
              <a:rPr lang="zh-CN" altLang="en-US" dirty="0"/>
              <a:t>。</a:t>
            </a:r>
          </a:p>
          <a:p>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zh-CN" sz="3600" dirty="0"/>
              <a:t>1.2.2  </a:t>
            </a:r>
            <a:r>
              <a:rPr lang="zh-CN" altLang="zh-CN" sz="3600" dirty="0"/>
              <a:t>互联网基础结构发展的三个阶段</a:t>
            </a:r>
            <a:endParaRPr lang="zh-CN" altLang="en-US" sz="3600" dirty="0"/>
          </a:p>
        </p:txBody>
      </p:sp>
      <p:sp>
        <p:nvSpPr>
          <p:cNvPr id="303107" name="Rectangle 3"/>
          <p:cNvSpPr>
            <a:spLocks noGrp="1" noChangeArrowheads="1"/>
          </p:cNvSpPr>
          <p:nvPr>
            <p:ph idx="1"/>
          </p:nvPr>
        </p:nvSpPr>
        <p:spPr/>
        <p:txBody>
          <a:bodyPr/>
          <a:lstStyle/>
          <a:p>
            <a:r>
              <a:rPr lang="zh-CN" altLang="en-US" dirty="0">
                <a:solidFill>
                  <a:srgbClr val="FF0000"/>
                </a:solidFill>
              </a:rPr>
              <a:t>第二阶段：</a:t>
            </a:r>
            <a:r>
              <a:rPr lang="zh-CN" altLang="en-US" dirty="0"/>
              <a:t>建成了三级结构的互联网。 </a:t>
            </a:r>
          </a:p>
          <a:p>
            <a:r>
              <a:rPr lang="zh-CN" altLang="en-US" dirty="0"/>
              <a:t>它是一个三级计算机网络，分为主干网、地区网和校园网（或企业网）。</a:t>
            </a:r>
            <a:endParaRPr lang="en-US" altLang="zh-CN" dirty="0"/>
          </a:p>
        </p:txBody>
      </p:sp>
      <p:grpSp>
        <p:nvGrpSpPr>
          <p:cNvPr id="5" name="组合 4"/>
          <p:cNvGrpSpPr/>
          <p:nvPr/>
        </p:nvGrpSpPr>
        <p:grpSpPr>
          <a:xfrm>
            <a:off x="747784" y="2996952"/>
            <a:ext cx="8669712" cy="2952328"/>
            <a:chOff x="776536" y="3068960"/>
            <a:chExt cx="8669712" cy="2952328"/>
          </a:xfrm>
        </p:grpSpPr>
        <p:cxnSp>
          <p:nvCxnSpPr>
            <p:cNvPr id="6" name="直接连接符 5"/>
            <p:cNvCxnSpPr>
              <a:endCxn id="17" idx="7"/>
            </p:cNvCxnSpPr>
            <p:nvPr/>
          </p:nvCxnSpPr>
          <p:spPr bwMode="auto">
            <a:xfrm flipH="1">
              <a:off x="3013901" y="3392996"/>
              <a:ext cx="1522291" cy="84044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flipH="1">
              <a:off x="4536192" y="3622124"/>
              <a:ext cx="419100" cy="611319"/>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a:endCxn id="16" idx="1"/>
            </p:cNvCxnSpPr>
            <p:nvPr/>
          </p:nvCxnSpPr>
          <p:spPr bwMode="auto">
            <a:xfrm>
              <a:off x="5769487" y="3392996"/>
              <a:ext cx="1770684" cy="84044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8374" y="3645024"/>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192" y="378605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8116" y="37170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2" name="椭圆 11"/>
            <p:cNvSpPr/>
            <p:nvPr/>
          </p:nvSpPr>
          <p:spPr bwMode="auto">
            <a:xfrm>
              <a:off x="4232920" y="3068960"/>
              <a:ext cx="1800200" cy="648072"/>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mn-lt"/>
                  <a:ea typeface="黑体" panose="02010609060101010101" pitchFamily="2" charset="-122"/>
                </a:rPr>
                <a:t>主干网</a:t>
              </a:r>
            </a:p>
          </p:txBody>
        </p:sp>
        <p:grpSp>
          <p:nvGrpSpPr>
            <p:cNvPr id="13" name="组合 12"/>
            <p:cNvGrpSpPr/>
            <p:nvPr/>
          </p:nvGrpSpPr>
          <p:grpSpPr>
            <a:xfrm>
              <a:off x="776536" y="4581128"/>
              <a:ext cx="1354983" cy="1440160"/>
              <a:chOff x="776536" y="4581128"/>
              <a:chExt cx="1354983" cy="1440160"/>
            </a:xfrm>
          </p:grpSpPr>
          <p:cxnSp>
            <p:nvCxnSpPr>
              <p:cNvPr id="84" name="直接连接符 83"/>
              <p:cNvCxnSpPr>
                <a:endCxn id="99" idx="2"/>
              </p:cNvCxnSpPr>
              <p:nvPr/>
            </p:nvCxnSpPr>
            <p:spPr bwMode="auto">
              <a:xfrm flipH="1">
                <a:off x="1495726" y="4581128"/>
                <a:ext cx="635793" cy="83239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5"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86" name="组合 85"/>
              <p:cNvGrpSpPr/>
              <p:nvPr/>
            </p:nvGrpSpPr>
            <p:grpSpPr>
              <a:xfrm>
                <a:off x="776536" y="5341956"/>
                <a:ext cx="1249522" cy="679332"/>
                <a:chOff x="776536" y="5341956"/>
                <a:chExt cx="1249522" cy="679332"/>
              </a:xfrm>
            </p:grpSpPr>
            <p:grpSp>
              <p:nvGrpSpPr>
                <p:cNvPr id="87" name="Group 1428"/>
                <p:cNvGrpSpPr/>
                <p:nvPr/>
              </p:nvGrpSpPr>
              <p:grpSpPr bwMode="auto">
                <a:xfrm>
                  <a:off x="776536" y="5341956"/>
                  <a:ext cx="1226011" cy="679332"/>
                  <a:chOff x="2949" y="196"/>
                  <a:chExt cx="941" cy="598"/>
                </a:xfrm>
              </p:grpSpPr>
              <p:sp>
                <p:nvSpPr>
                  <p:cNvPr id="89" name="Oval 1429"/>
                  <p:cNvSpPr>
                    <a:spLocks noChangeArrowheads="1"/>
                  </p:cNvSpPr>
                  <p:nvPr/>
                </p:nvSpPr>
                <p:spPr bwMode="auto">
                  <a:xfrm>
                    <a:off x="3168" y="196"/>
                    <a:ext cx="407" cy="162"/>
                  </a:xfrm>
                  <a:prstGeom prst="ellipse">
                    <a:avLst/>
                  </a:prstGeom>
                  <a:solidFill>
                    <a:srgbClr val="C0C0C0"/>
                  </a:solidFill>
                  <a:ln w="12700">
                    <a:solidFill>
                      <a:schemeClr val="tx1"/>
                    </a:solidFill>
                    <a:round/>
                  </a:ln>
                </p:spPr>
                <p:txBody>
                  <a:bodyPr wrap="none" anchor="ctr"/>
                  <a:lstStyle/>
                  <a:p>
                    <a:endParaRPr lang="zh-CN" altLang="en-US"/>
                  </a:p>
                </p:txBody>
              </p:sp>
              <p:sp>
                <p:nvSpPr>
                  <p:cNvPr id="90"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ln>
                </p:spPr>
                <p:txBody>
                  <a:bodyPr wrap="none" anchor="ctr"/>
                  <a:lstStyle/>
                  <a:p>
                    <a:endParaRPr lang="zh-CN" altLang="en-US"/>
                  </a:p>
                </p:txBody>
              </p:sp>
              <p:sp>
                <p:nvSpPr>
                  <p:cNvPr id="91"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ln>
                </p:spPr>
                <p:txBody>
                  <a:bodyPr wrap="none" anchor="ctr"/>
                  <a:lstStyle/>
                  <a:p>
                    <a:endParaRPr lang="zh-CN" altLang="en-US"/>
                  </a:p>
                </p:txBody>
              </p:sp>
              <p:sp>
                <p:nvSpPr>
                  <p:cNvPr id="92"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ln>
                </p:spPr>
                <p:txBody>
                  <a:bodyPr wrap="none" anchor="ctr"/>
                  <a:lstStyle/>
                  <a:p>
                    <a:endParaRPr lang="zh-CN" altLang="en-US"/>
                  </a:p>
                </p:txBody>
              </p:sp>
              <p:sp>
                <p:nvSpPr>
                  <p:cNvPr id="93" name="Oval 1433"/>
                  <p:cNvSpPr>
                    <a:spLocks noChangeArrowheads="1"/>
                  </p:cNvSpPr>
                  <p:nvPr/>
                </p:nvSpPr>
                <p:spPr bwMode="auto">
                  <a:xfrm>
                    <a:off x="3216" y="555"/>
                    <a:ext cx="471" cy="239"/>
                  </a:xfrm>
                  <a:prstGeom prst="ellipse">
                    <a:avLst/>
                  </a:prstGeom>
                  <a:solidFill>
                    <a:srgbClr val="C0C0C0"/>
                  </a:solidFill>
                  <a:ln w="12700">
                    <a:solidFill>
                      <a:schemeClr val="tx1"/>
                    </a:solidFill>
                    <a:round/>
                  </a:ln>
                </p:spPr>
                <p:txBody>
                  <a:bodyPr wrap="none" anchor="ctr"/>
                  <a:lstStyle/>
                  <a:p>
                    <a:endParaRPr lang="zh-CN" altLang="en-US"/>
                  </a:p>
                </p:txBody>
              </p:sp>
              <p:sp>
                <p:nvSpPr>
                  <p:cNvPr id="94"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ln>
                </p:spPr>
                <p:txBody>
                  <a:bodyPr wrap="none" anchor="ctr"/>
                  <a:lstStyle/>
                  <a:p>
                    <a:endParaRPr lang="zh-CN" altLang="en-US"/>
                  </a:p>
                </p:txBody>
              </p:sp>
              <p:sp>
                <p:nvSpPr>
                  <p:cNvPr id="95" name="Oval 1435"/>
                  <p:cNvSpPr>
                    <a:spLocks noChangeArrowheads="1"/>
                  </p:cNvSpPr>
                  <p:nvPr/>
                </p:nvSpPr>
                <p:spPr bwMode="auto">
                  <a:xfrm>
                    <a:off x="2949" y="432"/>
                    <a:ext cx="217" cy="156"/>
                  </a:xfrm>
                  <a:prstGeom prst="ellipse">
                    <a:avLst/>
                  </a:prstGeom>
                  <a:solidFill>
                    <a:srgbClr val="C0C0C0"/>
                  </a:solidFill>
                  <a:ln w="12700">
                    <a:solidFill>
                      <a:schemeClr val="tx1"/>
                    </a:solidFill>
                    <a:round/>
                  </a:ln>
                </p:spPr>
                <p:txBody>
                  <a:bodyPr wrap="none" anchor="ctr"/>
                  <a:lstStyle/>
                  <a:p>
                    <a:endParaRPr lang="zh-CN" altLang="en-US"/>
                  </a:p>
                </p:txBody>
              </p:sp>
              <p:sp>
                <p:nvSpPr>
                  <p:cNvPr id="96"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ln>
                </p:spPr>
                <p:txBody>
                  <a:bodyPr wrap="none" anchor="ctr"/>
                  <a:lstStyle/>
                  <a:p>
                    <a:endParaRPr lang="zh-CN" altLang="en-US"/>
                  </a:p>
                </p:txBody>
              </p:sp>
              <p:sp>
                <p:nvSpPr>
                  <p:cNvPr id="97"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98"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99"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grpSp>
            <p:sp>
              <p:nvSpPr>
                <p:cNvPr id="88"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latin typeface="+mn-lt"/>
                      <a:ea typeface="黑体" panose="02010609060101010101" pitchFamily="2" charset="-122"/>
                    </a:rPr>
                    <a:t>校园网</a:t>
                  </a:r>
                </a:p>
              </p:txBody>
            </p:sp>
          </p:grpSp>
        </p:grpSp>
        <p:grpSp>
          <p:nvGrpSpPr>
            <p:cNvPr id="14" name="组合 13"/>
            <p:cNvGrpSpPr/>
            <p:nvPr/>
          </p:nvGrpSpPr>
          <p:grpSpPr>
            <a:xfrm>
              <a:off x="2328852" y="4581128"/>
              <a:ext cx="1249522" cy="1440160"/>
              <a:chOff x="2328852" y="4581128"/>
              <a:chExt cx="1249522" cy="1440160"/>
            </a:xfrm>
          </p:grpSpPr>
          <p:cxnSp>
            <p:nvCxnSpPr>
              <p:cNvPr id="68" name="直接连接符 67"/>
              <p:cNvCxnSpPr>
                <a:endCxn id="73" idx="4"/>
              </p:cNvCxnSpPr>
              <p:nvPr/>
            </p:nvCxnSpPr>
            <p:spPr bwMode="auto">
              <a:xfrm>
                <a:off x="2722973" y="4581128"/>
                <a:ext cx="156347" cy="94486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70" name="组合 69"/>
              <p:cNvGrpSpPr/>
              <p:nvPr/>
            </p:nvGrpSpPr>
            <p:grpSpPr>
              <a:xfrm>
                <a:off x="2328852" y="5341956"/>
                <a:ext cx="1249522" cy="679332"/>
                <a:chOff x="776536" y="5341956"/>
                <a:chExt cx="1249522" cy="679332"/>
              </a:xfrm>
            </p:grpSpPr>
            <p:grpSp>
              <p:nvGrpSpPr>
                <p:cNvPr id="71" name="Group 1428"/>
                <p:cNvGrpSpPr/>
                <p:nvPr/>
              </p:nvGrpSpPr>
              <p:grpSpPr bwMode="auto">
                <a:xfrm>
                  <a:off x="776536" y="5341956"/>
                  <a:ext cx="1226011" cy="679332"/>
                  <a:chOff x="2949" y="196"/>
                  <a:chExt cx="941" cy="598"/>
                </a:xfrm>
              </p:grpSpPr>
              <p:sp>
                <p:nvSpPr>
                  <p:cNvPr id="73" name="Oval 1429"/>
                  <p:cNvSpPr>
                    <a:spLocks noChangeArrowheads="1"/>
                  </p:cNvSpPr>
                  <p:nvPr/>
                </p:nvSpPr>
                <p:spPr bwMode="auto">
                  <a:xfrm>
                    <a:off x="3168" y="196"/>
                    <a:ext cx="407" cy="162"/>
                  </a:xfrm>
                  <a:prstGeom prst="ellipse">
                    <a:avLst/>
                  </a:prstGeom>
                  <a:solidFill>
                    <a:srgbClr val="C0C0C0"/>
                  </a:solidFill>
                  <a:ln w="12700">
                    <a:solidFill>
                      <a:schemeClr val="tx1"/>
                    </a:solidFill>
                    <a:round/>
                  </a:ln>
                </p:spPr>
                <p:txBody>
                  <a:bodyPr wrap="none" anchor="ctr"/>
                  <a:lstStyle/>
                  <a:p>
                    <a:endParaRPr lang="zh-CN" altLang="en-US"/>
                  </a:p>
                </p:txBody>
              </p:sp>
              <p:sp>
                <p:nvSpPr>
                  <p:cNvPr id="74"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ln>
                </p:spPr>
                <p:txBody>
                  <a:bodyPr wrap="none" anchor="ctr"/>
                  <a:lstStyle/>
                  <a:p>
                    <a:endParaRPr lang="zh-CN" altLang="en-US"/>
                  </a:p>
                </p:txBody>
              </p:sp>
              <p:sp>
                <p:nvSpPr>
                  <p:cNvPr id="75"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ln>
                </p:spPr>
                <p:txBody>
                  <a:bodyPr wrap="none" anchor="ctr"/>
                  <a:lstStyle/>
                  <a:p>
                    <a:endParaRPr lang="zh-CN" altLang="en-US"/>
                  </a:p>
                </p:txBody>
              </p:sp>
              <p:sp>
                <p:nvSpPr>
                  <p:cNvPr id="76"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ln>
                </p:spPr>
                <p:txBody>
                  <a:bodyPr wrap="none" anchor="ctr"/>
                  <a:lstStyle/>
                  <a:p>
                    <a:endParaRPr lang="zh-CN" altLang="en-US"/>
                  </a:p>
                </p:txBody>
              </p:sp>
              <p:sp>
                <p:nvSpPr>
                  <p:cNvPr id="77" name="Oval 1433"/>
                  <p:cNvSpPr>
                    <a:spLocks noChangeArrowheads="1"/>
                  </p:cNvSpPr>
                  <p:nvPr/>
                </p:nvSpPr>
                <p:spPr bwMode="auto">
                  <a:xfrm>
                    <a:off x="3216" y="555"/>
                    <a:ext cx="471" cy="239"/>
                  </a:xfrm>
                  <a:prstGeom prst="ellipse">
                    <a:avLst/>
                  </a:prstGeom>
                  <a:solidFill>
                    <a:srgbClr val="C0C0C0"/>
                  </a:solidFill>
                  <a:ln w="12700">
                    <a:solidFill>
                      <a:schemeClr val="tx1"/>
                    </a:solidFill>
                    <a:round/>
                  </a:ln>
                </p:spPr>
                <p:txBody>
                  <a:bodyPr wrap="none" anchor="ctr"/>
                  <a:lstStyle/>
                  <a:p>
                    <a:endParaRPr lang="zh-CN" altLang="en-US"/>
                  </a:p>
                </p:txBody>
              </p:sp>
              <p:sp>
                <p:nvSpPr>
                  <p:cNvPr id="78"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ln>
                </p:spPr>
                <p:txBody>
                  <a:bodyPr wrap="none" anchor="ctr"/>
                  <a:lstStyle/>
                  <a:p>
                    <a:endParaRPr lang="zh-CN" altLang="en-US"/>
                  </a:p>
                </p:txBody>
              </p:sp>
              <p:sp>
                <p:nvSpPr>
                  <p:cNvPr id="79" name="Oval 1435"/>
                  <p:cNvSpPr>
                    <a:spLocks noChangeArrowheads="1"/>
                  </p:cNvSpPr>
                  <p:nvPr/>
                </p:nvSpPr>
                <p:spPr bwMode="auto">
                  <a:xfrm>
                    <a:off x="2949" y="432"/>
                    <a:ext cx="217" cy="156"/>
                  </a:xfrm>
                  <a:prstGeom prst="ellipse">
                    <a:avLst/>
                  </a:prstGeom>
                  <a:solidFill>
                    <a:srgbClr val="C0C0C0"/>
                  </a:solidFill>
                  <a:ln w="12700">
                    <a:solidFill>
                      <a:schemeClr val="tx1"/>
                    </a:solidFill>
                    <a:round/>
                  </a:ln>
                </p:spPr>
                <p:txBody>
                  <a:bodyPr wrap="none" anchor="ctr"/>
                  <a:lstStyle/>
                  <a:p>
                    <a:endParaRPr lang="zh-CN" altLang="en-US"/>
                  </a:p>
                </p:txBody>
              </p:sp>
              <p:sp>
                <p:nvSpPr>
                  <p:cNvPr id="80"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ln>
                </p:spPr>
                <p:txBody>
                  <a:bodyPr wrap="none" anchor="ctr"/>
                  <a:lstStyle/>
                  <a:p>
                    <a:endParaRPr lang="zh-CN" altLang="en-US"/>
                  </a:p>
                </p:txBody>
              </p:sp>
              <p:sp>
                <p:nvSpPr>
                  <p:cNvPr id="81"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82"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83"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grpSp>
            <p:sp>
              <p:nvSpPr>
                <p:cNvPr id="72"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latin typeface="+mn-lt"/>
                      <a:ea typeface="黑体" panose="02010609060101010101" pitchFamily="2" charset="-122"/>
                    </a:rPr>
                    <a:t>校园网</a:t>
                  </a:r>
                </a:p>
              </p:txBody>
            </p:sp>
          </p:grpSp>
        </p:grpSp>
        <p:grpSp>
          <p:nvGrpSpPr>
            <p:cNvPr id="15" name="组合 14"/>
            <p:cNvGrpSpPr/>
            <p:nvPr/>
          </p:nvGrpSpPr>
          <p:grpSpPr>
            <a:xfrm>
              <a:off x="6644410" y="4581128"/>
              <a:ext cx="2801838" cy="1440160"/>
              <a:chOff x="776536" y="4581128"/>
              <a:chExt cx="2801838" cy="1440160"/>
            </a:xfrm>
          </p:grpSpPr>
          <p:cxnSp>
            <p:nvCxnSpPr>
              <p:cNvPr id="36" name="直接连接符 35"/>
              <p:cNvCxnSpPr>
                <a:endCxn id="67" idx="2"/>
              </p:cNvCxnSpPr>
              <p:nvPr/>
            </p:nvCxnSpPr>
            <p:spPr bwMode="auto">
              <a:xfrm flipH="1">
                <a:off x="1495726" y="4581128"/>
                <a:ext cx="635793" cy="83239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38" name="直接连接符 37"/>
              <p:cNvCxnSpPr>
                <a:endCxn id="44" idx="4"/>
              </p:cNvCxnSpPr>
              <p:nvPr/>
            </p:nvCxnSpPr>
            <p:spPr bwMode="auto">
              <a:xfrm>
                <a:off x="2722973" y="4581128"/>
                <a:ext cx="156347" cy="94486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40" name="组合 39"/>
              <p:cNvGrpSpPr/>
              <p:nvPr/>
            </p:nvGrpSpPr>
            <p:grpSpPr>
              <a:xfrm>
                <a:off x="776536" y="5341956"/>
                <a:ext cx="1249522" cy="679332"/>
                <a:chOff x="776536" y="5341956"/>
                <a:chExt cx="1249522" cy="679332"/>
              </a:xfrm>
            </p:grpSpPr>
            <p:grpSp>
              <p:nvGrpSpPr>
                <p:cNvPr id="55" name="Group 1428"/>
                <p:cNvGrpSpPr/>
                <p:nvPr/>
              </p:nvGrpSpPr>
              <p:grpSpPr bwMode="auto">
                <a:xfrm>
                  <a:off x="776536" y="5341956"/>
                  <a:ext cx="1226011" cy="679332"/>
                  <a:chOff x="2949" y="196"/>
                  <a:chExt cx="941" cy="598"/>
                </a:xfrm>
              </p:grpSpPr>
              <p:sp>
                <p:nvSpPr>
                  <p:cNvPr id="57" name="Oval 1429"/>
                  <p:cNvSpPr>
                    <a:spLocks noChangeArrowheads="1"/>
                  </p:cNvSpPr>
                  <p:nvPr/>
                </p:nvSpPr>
                <p:spPr bwMode="auto">
                  <a:xfrm>
                    <a:off x="3168" y="196"/>
                    <a:ext cx="407" cy="162"/>
                  </a:xfrm>
                  <a:prstGeom prst="ellipse">
                    <a:avLst/>
                  </a:prstGeom>
                  <a:solidFill>
                    <a:srgbClr val="C0C0C0"/>
                  </a:solidFill>
                  <a:ln w="12700">
                    <a:solidFill>
                      <a:schemeClr val="tx1"/>
                    </a:solidFill>
                    <a:round/>
                  </a:ln>
                </p:spPr>
                <p:txBody>
                  <a:bodyPr wrap="none" anchor="ctr"/>
                  <a:lstStyle/>
                  <a:p>
                    <a:endParaRPr lang="zh-CN" altLang="en-US"/>
                  </a:p>
                </p:txBody>
              </p:sp>
              <p:sp>
                <p:nvSpPr>
                  <p:cNvPr id="58"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ln>
                </p:spPr>
                <p:txBody>
                  <a:bodyPr wrap="none" anchor="ctr"/>
                  <a:lstStyle/>
                  <a:p>
                    <a:endParaRPr lang="zh-CN" altLang="en-US"/>
                  </a:p>
                </p:txBody>
              </p:sp>
              <p:sp>
                <p:nvSpPr>
                  <p:cNvPr id="59"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ln>
                </p:spPr>
                <p:txBody>
                  <a:bodyPr wrap="none" anchor="ctr"/>
                  <a:lstStyle/>
                  <a:p>
                    <a:endParaRPr lang="zh-CN" altLang="en-US"/>
                  </a:p>
                </p:txBody>
              </p:sp>
              <p:sp>
                <p:nvSpPr>
                  <p:cNvPr id="60"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ln>
                </p:spPr>
                <p:txBody>
                  <a:bodyPr wrap="none" anchor="ctr"/>
                  <a:lstStyle/>
                  <a:p>
                    <a:endParaRPr lang="zh-CN" altLang="en-US"/>
                  </a:p>
                </p:txBody>
              </p:sp>
              <p:sp>
                <p:nvSpPr>
                  <p:cNvPr id="61" name="Oval 1433"/>
                  <p:cNvSpPr>
                    <a:spLocks noChangeArrowheads="1"/>
                  </p:cNvSpPr>
                  <p:nvPr/>
                </p:nvSpPr>
                <p:spPr bwMode="auto">
                  <a:xfrm>
                    <a:off x="3216" y="555"/>
                    <a:ext cx="471" cy="239"/>
                  </a:xfrm>
                  <a:prstGeom prst="ellipse">
                    <a:avLst/>
                  </a:prstGeom>
                  <a:solidFill>
                    <a:srgbClr val="C0C0C0"/>
                  </a:solidFill>
                  <a:ln w="12700">
                    <a:solidFill>
                      <a:schemeClr val="tx1"/>
                    </a:solidFill>
                    <a:round/>
                  </a:ln>
                </p:spPr>
                <p:txBody>
                  <a:bodyPr wrap="none" anchor="ctr"/>
                  <a:lstStyle/>
                  <a:p>
                    <a:endParaRPr lang="zh-CN" altLang="en-US"/>
                  </a:p>
                </p:txBody>
              </p:sp>
              <p:sp>
                <p:nvSpPr>
                  <p:cNvPr id="62"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ln>
                </p:spPr>
                <p:txBody>
                  <a:bodyPr wrap="none" anchor="ctr"/>
                  <a:lstStyle/>
                  <a:p>
                    <a:endParaRPr lang="zh-CN" altLang="en-US"/>
                  </a:p>
                </p:txBody>
              </p:sp>
              <p:sp>
                <p:nvSpPr>
                  <p:cNvPr id="63" name="Oval 1435"/>
                  <p:cNvSpPr>
                    <a:spLocks noChangeArrowheads="1"/>
                  </p:cNvSpPr>
                  <p:nvPr/>
                </p:nvSpPr>
                <p:spPr bwMode="auto">
                  <a:xfrm>
                    <a:off x="2949" y="432"/>
                    <a:ext cx="217" cy="156"/>
                  </a:xfrm>
                  <a:prstGeom prst="ellipse">
                    <a:avLst/>
                  </a:prstGeom>
                  <a:solidFill>
                    <a:srgbClr val="C0C0C0"/>
                  </a:solidFill>
                  <a:ln w="12700">
                    <a:solidFill>
                      <a:schemeClr val="tx1"/>
                    </a:solidFill>
                    <a:round/>
                  </a:ln>
                </p:spPr>
                <p:txBody>
                  <a:bodyPr wrap="none" anchor="ctr"/>
                  <a:lstStyle/>
                  <a:p>
                    <a:endParaRPr lang="zh-CN" altLang="en-US"/>
                  </a:p>
                </p:txBody>
              </p:sp>
              <p:sp>
                <p:nvSpPr>
                  <p:cNvPr id="64"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ln>
                </p:spPr>
                <p:txBody>
                  <a:bodyPr wrap="none" anchor="ctr"/>
                  <a:lstStyle/>
                  <a:p>
                    <a:endParaRPr lang="zh-CN" altLang="en-US"/>
                  </a:p>
                </p:txBody>
              </p:sp>
              <p:sp>
                <p:nvSpPr>
                  <p:cNvPr id="65"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66"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67"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grpSp>
            <p:sp>
              <p:nvSpPr>
                <p:cNvPr id="56"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latin typeface="+mn-lt"/>
                      <a:ea typeface="黑体" panose="02010609060101010101" pitchFamily="2" charset="-122"/>
                    </a:rPr>
                    <a:t>校园网</a:t>
                  </a:r>
                </a:p>
              </p:txBody>
            </p:sp>
          </p:grpSp>
          <p:grpSp>
            <p:nvGrpSpPr>
              <p:cNvPr id="41" name="组合 40"/>
              <p:cNvGrpSpPr/>
              <p:nvPr/>
            </p:nvGrpSpPr>
            <p:grpSpPr>
              <a:xfrm>
                <a:off x="2328852" y="5341956"/>
                <a:ext cx="1249522" cy="679332"/>
                <a:chOff x="776536" y="5341956"/>
                <a:chExt cx="1249522" cy="679332"/>
              </a:xfrm>
            </p:grpSpPr>
            <p:grpSp>
              <p:nvGrpSpPr>
                <p:cNvPr id="42" name="Group 1428"/>
                <p:cNvGrpSpPr/>
                <p:nvPr/>
              </p:nvGrpSpPr>
              <p:grpSpPr bwMode="auto">
                <a:xfrm>
                  <a:off x="776536" y="5341956"/>
                  <a:ext cx="1226011" cy="679332"/>
                  <a:chOff x="2949" y="196"/>
                  <a:chExt cx="941" cy="598"/>
                </a:xfrm>
              </p:grpSpPr>
              <p:sp>
                <p:nvSpPr>
                  <p:cNvPr id="44" name="Oval 1429"/>
                  <p:cNvSpPr>
                    <a:spLocks noChangeArrowheads="1"/>
                  </p:cNvSpPr>
                  <p:nvPr/>
                </p:nvSpPr>
                <p:spPr bwMode="auto">
                  <a:xfrm>
                    <a:off x="3168" y="196"/>
                    <a:ext cx="407" cy="162"/>
                  </a:xfrm>
                  <a:prstGeom prst="ellipse">
                    <a:avLst/>
                  </a:prstGeom>
                  <a:solidFill>
                    <a:srgbClr val="C0C0C0"/>
                  </a:solidFill>
                  <a:ln w="12700">
                    <a:solidFill>
                      <a:schemeClr val="tx1"/>
                    </a:solidFill>
                    <a:round/>
                  </a:ln>
                </p:spPr>
                <p:txBody>
                  <a:bodyPr wrap="none" anchor="ctr"/>
                  <a:lstStyle/>
                  <a:p>
                    <a:endParaRPr lang="zh-CN" altLang="en-US"/>
                  </a:p>
                </p:txBody>
              </p:sp>
              <p:sp>
                <p:nvSpPr>
                  <p:cNvPr id="45"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ln>
                </p:spPr>
                <p:txBody>
                  <a:bodyPr wrap="none" anchor="ctr"/>
                  <a:lstStyle/>
                  <a:p>
                    <a:endParaRPr lang="zh-CN" altLang="en-US"/>
                  </a:p>
                </p:txBody>
              </p:sp>
              <p:sp>
                <p:nvSpPr>
                  <p:cNvPr id="46"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ln>
                </p:spPr>
                <p:txBody>
                  <a:bodyPr wrap="none" anchor="ctr"/>
                  <a:lstStyle/>
                  <a:p>
                    <a:endParaRPr lang="zh-CN" altLang="en-US"/>
                  </a:p>
                </p:txBody>
              </p:sp>
              <p:sp>
                <p:nvSpPr>
                  <p:cNvPr id="47"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ln>
                </p:spPr>
                <p:txBody>
                  <a:bodyPr wrap="none" anchor="ctr"/>
                  <a:lstStyle/>
                  <a:p>
                    <a:endParaRPr lang="zh-CN" altLang="en-US"/>
                  </a:p>
                </p:txBody>
              </p:sp>
              <p:sp>
                <p:nvSpPr>
                  <p:cNvPr id="48" name="Oval 1433"/>
                  <p:cNvSpPr>
                    <a:spLocks noChangeArrowheads="1"/>
                  </p:cNvSpPr>
                  <p:nvPr/>
                </p:nvSpPr>
                <p:spPr bwMode="auto">
                  <a:xfrm>
                    <a:off x="3216" y="555"/>
                    <a:ext cx="471" cy="239"/>
                  </a:xfrm>
                  <a:prstGeom prst="ellipse">
                    <a:avLst/>
                  </a:prstGeom>
                  <a:solidFill>
                    <a:srgbClr val="C0C0C0"/>
                  </a:solidFill>
                  <a:ln w="12700">
                    <a:solidFill>
                      <a:schemeClr val="tx1"/>
                    </a:solidFill>
                    <a:round/>
                  </a:ln>
                </p:spPr>
                <p:txBody>
                  <a:bodyPr wrap="none" anchor="ctr"/>
                  <a:lstStyle/>
                  <a:p>
                    <a:endParaRPr lang="zh-CN" altLang="en-US"/>
                  </a:p>
                </p:txBody>
              </p:sp>
              <p:sp>
                <p:nvSpPr>
                  <p:cNvPr id="49"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ln>
                </p:spPr>
                <p:txBody>
                  <a:bodyPr wrap="none" anchor="ctr"/>
                  <a:lstStyle/>
                  <a:p>
                    <a:endParaRPr lang="zh-CN" altLang="en-US"/>
                  </a:p>
                </p:txBody>
              </p:sp>
              <p:sp>
                <p:nvSpPr>
                  <p:cNvPr id="50" name="Oval 1435"/>
                  <p:cNvSpPr>
                    <a:spLocks noChangeArrowheads="1"/>
                  </p:cNvSpPr>
                  <p:nvPr/>
                </p:nvSpPr>
                <p:spPr bwMode="auto">
                  <a:xfrm>
                    <a:off x="2949" y="432"/>
                    <a:ext cx="217" cy="156"/>
                  </a:xfrm>
                  <a:prstGeom prst="ellipse">
                    <a:avLst/>
                  </a:prstGeom>
                  <a:solidFill>
                    <a:srgbClr val="C0C0C0"/>
                  </a:solidFill>
                  <a:ln w="12700">
                    <a:solidFill>
                      <a:schemeClr val="tx1"/>
                    </a:solidFill>
                    <a:round/>
                  </a:ln>
                </p:spPr>
                <p:txBody>
                  <a:bodyPr wrap="none" anchor="ctr"/>
                  <a:lstStyle/>
                  <a:p>
                    <a:endParaRPr lang="zh-CN" altLang="en-US"/>
                  </a:p>
                </p:txBody>
              </p:sp>
              <p:sp>
                <p:nvSpPr>
                  <p:cNvPr id="51"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ln>
                </p:spPr>
                <p:txBody>
                  <a:bodyPr wrap="none" anchor="ctr"/>
                  <a:lstStyle/>
                  <a:p>
                    <a:endParaRPr lang="zh-CN" altLang="en-US"/>
                  </a:p>
                </p:txBody>
              </p:sp>
              <p:sp>
                <p:nvSpPr>
                  <p:cNvPr id="52"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53"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54"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grpSp>
            <p:sp>
              <p:nvSpPr>
                <p:cNvPr id="43"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latin typeface="+mn-lt"/>
                      <a:ea typeface="黑体" panose="02010609060101010101" pitchFamily="2" charset="-122"/>
                    </a:rPr>
                    <a:t>校园网</a:t>
                  </a:r>
                </a:p>
              </p:txBody>
            </p:sp>
          </p:grpSp>
        </p:grpSp>
        <p:sp>
          <p:nvSpPr>
            <p:cNvPr id="16" name="椭圆 15"/>
            <p:cNvSpPr/>
            <p:nvPr/>
          </p:nvSpPr>
          <p:spPr bwMode="auto">
            <a:xfrm>
              <a:off x="7329264" y="4149080"/>
              <a:ext cx="1440160" cy="576064"/>
            </a:xfrm>
            <a:prstGeom prst="ellipse">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mn-lt"/>
                  <a:ea typeface="黑体" panose="02010609060101010101" pitchFamily="2" charset="-122"/>
                </a:rPr>
                <a:t>地区网</a:t>
              </a:r>
            </a:p>
          </p:txBody>
        </p:sp>
        <p:sp>
          <p:nvSpPr>
            <p:cNvPr id="17" name="椭圆 16"/>
            <p:cNvSpPr/>
            <p:nvPr/>
          </p:nvSpPr>
          <p:spPr bwMode="auto">
            <a:xfrm>
              <a:off x="1784648" y="4149080"/>
              <a:ext cx="1440160" cy="576064"/>
            </a:xfrm>
            <a:prstGeom prst="ellipse">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mn-lt"/>
                  <a:ea typeface="黑体" panose="02010609060101010101" pitchFamily="2" charset="-122"/>
                </a:rPr>
                <a:t>地区网</a:t>
              </a:r>
            </a:p>
          </p:txBody>
        </p:sp>
        <p:grpSp>
          <p:nvGrpSpPr>
            <p:cNvPr id="18" name="组合 17"/>
            <p:cNvGrpSpPr/>
            <p:nvPr/>
          </p:nvGrpSpPr>
          <p:grpSpPr>
            <a:xfrm>
              <a:off x="4330531" y="4581128"/>
              <a:ext cx="1249522" cy="1440160"/>
              <a:chOff x="4330531" y="4581128"/>
              <a:chExt cx="1249522" cy="1440160"/>
            </a:xfrm>
          </p:grpSpPr>
          <p:cxnSp>
            <p:nvCxnSpPr>
              <p:cNvPr id="20" name="直接连接符 19"/>
              <p:cNvCxnSpPr>
                <a:endCxn id="25" idx="4"/>
              </p:cNvCxnSpPr>
              <p:nvPr/>
            </p:nvCxnSpPr>
            <p:spPr bwMode="auto">
              <a:xfrm>
                <a:off x="4724652" y="4581128"/>
                <a:ext cx="156347" cy="94486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8415"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2" name="组合 21"/>
              <p:cNvGrpSpPr/>
              <p:nvPr/>
            </p:nvGrpSpPr>
            <p:grpSpPr>
              <a:xfrm>
                <a:off x="4330531" y="5341956"/>
                <a:ext cx="1249522" cy="679332"/>
                <a:chOff x="776536" y="5341956"/>
                <a:chExt cx="1249522" cy="679332"/>
              </a:xfrm>
            </p:grpSpPr>
            <p:grpSp>
              <p:nvGrpSpPr>
                <p:cNvPr id="23" name="Group 1428"/>
                <p:cNvGrpSpPr/>
                <p:nvPr/>
              </p:nvGrpSpPr>
              <p:grpSpPr bwMode="auto">
                <a:xfrm>
                  <a:off x="776536" y="5341956"/>
                  <a:ext cx="1226011" cy="679332"/>
                  <a:chOff x="2949" y="196"/>
                  <a:chExt cx="941" cy="598"/>
                </a:xfrm>
              </p:grpSpPr>
              <p:sp>
                <p:nvSpPr>
                  <p:cNvPr id="25" name="Oval 1429"/>
                  <p:cNvSpPr>
                    <a:spLocks noChangeArrowheads="1"/>
                  </p:cNvSpPr>
                  <p:nvPr/>
                </p:nvSpPr>
                <p:spPr bwMode="auto">
                  <a:xfrm>
                    <a:off x="3168" y="196"/>
                    <a:ext cx="407" cy="162"/>
                  </a:xfrm>
                  <a:prstGeom prst="ellipse">
                    <a:avLst/>
                  </a:prstGeom>
                  <a:solidFill>
                    <a:srgbClr val="C0C0C0"/>
                  </a:solidFill>
                  <a:ln w="12700">
                    <a:solidFill>
                      <a:schemeClr val="tx1"/>
                    </a:solidFill>
                    <a:round/>
                  </a:ln>
                </p:spPr>
                <p:txBody>
                  <a:bodyPr wrap="none" anchor="ctr"/>
                  <a:lstStyle/>
                  <a:p>
                    <a:endParaRPr lang="zh-CN" altLang="en-US"/>
                  </a:p>
                </p:txBody>
              </p:sp>
              <p:sp>
                <p:nvSpPr>
                  <p:cNvPr id="26"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ln>
                </p:spPr>
                <p:txBody>
                  <a:bodyPr wrap="none" anchor="ctr"/>
                  <a:lstStyle/>
                  <a:p>
                    <a:endParaRPr lang="zh-CN" altLang="en-US"/>
                  </a:p>
                </p:txBody>
              </p:sp>
              <p:sp>
                <p:nvSpPr>
                  <p:cNvPr id="27"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ln>
                </p:spPr>
                <p:txBody>
                  <a:bodyPr wrap="none" anchor="ctr"/>
                  <a:lstStyle/>
                  <a:p>
                    <a:endParaRPr lang="zh-CN" altLang="en-US"/>
                  </a:p>
                </p:txBody>
              </p:sp>
              <p:sp>
                <p:nvSpPr>
                  <p:cNvPr id="28"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ln>
                </p:spPr>
                <p:txBody>
                  <a:bodyPr wrap="none" anchor="ctr"/>
                  <a:lstStyle/>
                  <a:p>
                    <a:endParaRPr lang="zh-CN" altLang="en-US"/>
                  </a:p>
                </p:txBody>
              </p:sp>
              <p:sp>
                <p:nvSpPr>
                  <p:cNvPr id="29" name="Oval 1433"/>
                  <p:cNvSpPr>
                    <a:spLocks noChangeArrowheads="1"/>
                  </p:cNvSpPr>
                  <p:nvPr/>
                </p:nvSpPr>
                <p:spPr bwMode="auto">
                  <a:xfrm>
                    <a:off x="3216" y="555"/>
                    <a:ext cx="471" cy="239"/>
                  </a:xfrm>
                  <a:prstGeom prst="ellipse">
                    <a:avLst/>
                  </a:prstGeom>
                  <a:solidFill>
                    <a:srgbClr val="C0C0C0"/>
                  </a:solidFill>
                  <a:ln w="12700">
                    <a:solidFill>
                      <a:schemeClr val="tx1"/>
                    </a:solidFill>
                    <a:round/>
                  </a:ln>
                </p:spPr>
                <p:txBody>
                  <a:bodyPr wrap="none" anchor="ctr"/>
                  <a:lstStyle/>
                  <a:p>
                    <a:endParaRPr lang="zh-CN" altLang="en-US"/>
                  </a:p>
                </p:txBody>
              </p:sp>
              <p:sp>
                <p:nvSpPr>
                  <p:cNvPr id="30"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ln>
                </p:spPr>
                <p:txBody>
                  <a:bodyPr wrap="none" anchor="ctr"/>
                  <a:lstStyle/>
                  <a:p>
                    <a:endParaRPr lang="zh-CN" altLang="en-US"/>
                  </a:p>
                </p:txBody>
              </p:sp>
              <p:sp>
                <p:nvSpPr>
                  <p:cNvPr id="31" name="Oval 1435"/>
                  <p:cNvSpPr>
                    <a:spLocks noChangeArrowheads="1"/>
                  </p:cNvSpPr>
                  <p:nvPr/>
                </p:nvSpPr>
                <p:spPr bwMode="auto">
                  <a:xfrm>
                    <a:off x="2949" y="432"/>
                    <a:ext cx="217" cy="156"/>
                  </a:xfrm>
                  <a:prstGeom prst="ellipse">
                    <a:avLst/>
                  </a:prstGeom>
                  <a:solidFill>
                    <a:srgbClr val="C0C0C0"/>
                  </a:solidFill>
                  <a:ln w="12700">
                    <a:solidFill>
                      <a:schemeClr val="tx1"/>
                    </a:solidFill>
                    <a:round/>
                  </a:ln>
                </p:spPr>
                <p:txBody>
                  <a:bodyPr wrap="none" anchor="ctr"/>
                  <a:lstStyle/>
                  <a:p>
                    <a:endParaRPr lang="zh-CN" altLang="en-US"/>
                  </a:p>
                </p:txBody>
              </p:sp>
              <p:sp>
                <p:nvSpPr>
                  <p:cNvPr id="32"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ln>
                </p:spPr>
                <p:txBody>
                  <a:bodyPr wrap="none" anchor="ctr"/>
                  <a:lstStyle/>
                  <a:p>
                    <a:endParaRPr lang="zh-CN" altLang="en-US"/>
                  </a:p>
                </p:txBody>
              </p:sp>
              <p:sp>
                <p:nvSpPr>
                  <p:cNvPr id="33" name="Freeform 143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34" name="Freeform 143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sp>
                <p:nvSpPr>
                  <p:cNvPr id="35" name="Freeform 143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endParaRPr lang="zh-CN" altLang="en-US"/>
                  </a:p>
                </p:txBody>
              </p:sp>
            </p:grpSp>
            <p:sp>
              <p:nvSpPr>
                <p:cNvPr id="24"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dirty="0">
                      <a:latin typeface="+mn-lt"/>
                      <a:ea typeface="黑体" panose="02010609060101010101" pitchFamily="2" charset="-122"/>
                    </a:rPr>
                    <a:t>校园网</a:t>
                  </a:r>
                </a:p>
              </p:txBody>
            </p:sp>
          </p:grpSp>
        </p:grpSp>
        <p:sp>
          <p:nvSpPr>
            <p:cNvPr id="19" name="椭圆 18"/>
            <p:cNvSpPr/>
            <p:nvPr/>
          </p:nvSpPr>
          <p:spPr bwMode="auto">
            <a:xfrm>
              <a:off x="3728864" y="4149080"/>
              <a:ext cx="1440160" cy="576064"/>
            </a:xfrm>
            <a:prstGeom prst="ellipse">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mn-lt"/>
                  <a:ea typeface="黑体" panose="02010609060101010101" pitchFamily="2" charset="-122"/>
                </a:rPr>
                <a:t>地区网</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zh-CN" sz="3600" dirty="0"/>
              <a:t>1.2.2  </a:t>
            </a:r>
            <a:r>
              <a:rPr lang="zh-CN" altLang="zh-CN" sz="3600" dirty="0"/>
              <a:t>互联网基础结构发展的三个阶段</a:t>
            </a:r>
            <a:endParaRPr lang="zh-CN" altLang="en-US" sz="3600" dirty="0"/>
          </a:p>
        </p:txBody>
      </p:sp>
      <p:sp>
        <p:nvSpPr>
          <p:cNvPr id="303107" name="Rectangle 3"/>
          <p:cNvSpPr>
            <a:spLocks noGrp="1" noChangeArrowheads="1"/>
          </p:cNvSpPr>
          <p:nvPr>
            <p:ph idx="1"/>
          </p:nvPr>
        </p:nvSpPr>
        <p:spPr/>
        <p:txBody>
          <a:bodyPr/>
          <a:lstStyle/>
          <a:p>
            <a:r>
              <a:rPr lang="zh-CN" altLang="en-US" sz="2800" dirty="0">
                <a:solidFill>
                  <a:srgbClr val="FF0000"/>
                </a:solidFill>
              </a:rPr>
              <a:t>第三阶段：</a:t>
            </a:r>
            <a:r>
              <a:rPr lang="zh-CN" altLang="en-US" sz="2800" dirty="0"/>
              <a:t>逐渐形成了多层次 </a:t>
            </a:r>
            <a:r>
              <a:rPr lang="en-US" altLang="zh-CN" sz="2800" dirty="0"/>
              <a:t>ISP </a:t>
            </a:r>
            <a:r>
              <a:rPr lang="zh-CN" altLang="en-US" sz="2800" dirty="0"/>
              <a:t>结构的互联网。 </a:t>
            </a:r>
            <a:endParaRPr lang="en-US" altLang="zh-CN" sz="2800" dirty="0"/>
          </a:p>
          <a:p>
            <a:pPr algn="just"/>
            <a:r>
              <a:rPr lang="zh-CN" altLang="en-US" sz="2800" dirty="0"/>
              <a:t>出现了</a:t>
            </a:r>
            <a:r>
              <a:rPr lang="zh-CN" altLang="en-US" sz="2800" dirty="0">
                <a:solidFill>
                  <a:srgbClr val="0000CC"/>
                </a:solidFill>
              </a:rPr>
              <a:t>互联网服务提供者 </a:t>
            </a:r>
            <a:r>
              <a:rPr lang="en-US" altLang="zh-CN" sz="2800" dirty="0">
                <a:solidFill>
                  <a:srgbClr val="0000CC"/>
                </a:solidFill>
              </a:rPr>
              <a:t>ISP</a:t>
            </a:r>
            <a:r>
              <a:rPr lang="en-US" altLang="zh-CN" sz="2800" dirty="0"/>
              <a:t> (Internet Service Provider)</a:t>
            </a:r>
            <a:r>
              <a:rPr lang="zh-CN" altLang="en-US" sz="2800" dirty="0"/>
              <a:t>和</a:t>
            </a:r>
            <a:r>
              <a:rPr lang="zh-CN" altLang="en-US" sz="2800" dirty="0">
                <a:solidFill>
                  <a:srgbClr val="0000CC"/>
                </a:solidFill>
              </a:rPr>
              <a:t>互联网交换中心IXP</a:t>
            </a:r>
            <a:r>
              <a:rPr lang="en-US" altLang="zh-CN" sz="2800" dirty="0">
                <a:sym typeface="+mn-ea"/>
              </a:rPr>
              <a:t>(Internet Exchange Point).</a:t>
            </a:r>
            <a:endParaRPr lang="en-US" altLang="zh-CN" sz="2800" dirty="0"/>
          </a:p>
          <a:p>
            <a:r>
              <a:rPr lang="zh-CN" altLang="zh-CN" sz="2800" dirty="0"/>
              <a:t>任何机构和个人只要向某个</a:t>
            </a:r>
            <a:r>
              <a:rPr lang="en-US" altLang="zh-CN" sz="2800" dirty="0"/>
              <a:t> ISP </a:t>
            </a:r>
            <a:r>
              <a:rPr lang="zh-CN" altLang="zh-CN" sz="2800" dirty="0"/>
              <a:t>交纳规定的费用，就可</a:t>
            </a:r>
            <a:r>
              <a:rPr lang="zh-CN" altLang="en-US" sz="2800" dirty="0"/>
              <a:t>从</a:t>
            </a:r>
            <a:r>
              <a:rPr lang="zh-CN" altLang="zh-CN" sz="2800" dirty="0"/>
              <a:t>该</a:t>
            </a:r>
            <a:r>
              <a:rPr lang="en-US" altLang="zh-CN" sz="2800" dirty="0"/>
              <a:t> ISP </a:t>
            </a:r>
            <a:r>
              <a:rPr lang="zh-CN" altLang="zh-CN" sz="2800" dirty="0"/>
              <a:t>获取所需</a:t>
            </a:r>
            <a:r>
              <a:rPr lang="en-US" altLang="zh-CN" sz="2800" dirty="0"/>
              <a:t> IP </a:t>
            </a:r>
            <a:r>
              <a:rPr lang="zh-CN" altLang="zh-CN" sz="2800" dirty="0"/>
              <a:t>地址的使用权，并可通过该</a:t>
            </a:r>
            <a:r>
              <a:rPr lang="en-US" altLang="zh-CN" sz="2800" dirty="0"/>
              <a:t> ISP </a:t>
            </a:r>
            <a:r>
              <a:rPr lang="zh-CN" altLang="zh-CN" sz="2800" dirty="0"/>
              <a:t>接入到互联网</a:t>
            </a:r>
            <a:r>
              <a:rPr lang="zh-CN" altLang="en-US" sz="2800" dirty="0"/>
              <a:t>。</a:t>
            </a:r>
            <a:endParaRPr lang="en-US" altLang="zh-CN" sz="2800" dirty="0"/>
          </a:p>
          <a:p>
            <a:r>
              <a:rPr lang="zh-CN" altLang="zh-CN" sz="2800" dirty="0"/>
              <a:t>根据提供服务的覆盖面积大小以及所拥有的</a:t>
            </a:r>
            <a:r>
              <a:rPr lang="en-US" altLang="zh-CN" sz="2800" dirty="0"/>
              <a:t> IP </a:t>
            </a:r>
            <a:r>
              <a:rPr lang="zh-CN" altLang="zh-CN" sz="2800" dirty="0"/>
              <a:t>地址数目的不同，</a:t>
            </a:r>
            <a:r>
              <a:rPr lang="en-US" altLang="zh-CN" sz="2800" dirty="0"/>
              <a:t>ISP </a:t>
            </a:r>
            <a:r>
              <a:rPr lang="zh-CN" altLang="zh-CN" sz="2800" dirty="0"/>
              <a:t>也分成为</a:t>
            </a:r>
            <a:r>
              <a:rPr lang="zh-CN" altLang="zh-CN" sz="2800" dirty="0">
                <a:solidFill>
                  <a:srgbClr val="0000CC"/>
                </a:solidFill>
              </a:rPr>
              <a:t>不同层次的</a:t>
            </a:r>
            <a:r>
              <a:rPr lang="en-US" altLang="zh-CN" sz="2800" dirty="0">
                <a:solidFill>
                  <a:srgbClr val="0000CC"/>
                </a:solidFill>
              </a:rPr>
              <a:t> ISP</a:t>
            </a:r>
            <a:r>
              <a:rPr lang="zh-CN" altLang="zh-CN" sz="2800" dirty="0"/>
              <a:t>：</a:t>
            </a:r>
            <a:r>
              <a:rPr lang="zh-CN" altLang="zh-CN" sz="2800" dirty="0">
                <a:solidFill>
                  <a:srgbClr val="FF0000"/>
                </a:solidFill>
              </a:rPr>
              <a:t>主干</a:t>
            </a:r>
            <a:r>
              <a:rPr lang="en-US" altLang="zh-CN" sz="2800" dirty="0">
                <a:solidFill>
                  <a:srgbClr val="FF0000"/>
                </a:solidFill>
              </a:rPr>
              <a:t> ISP</a:t>
            </a:r>
            <a:r>
              <a:rPr lang="zh-CN" altLang="zh-CN" sz="2800" dirty="0">
                <a:solidFill>
                  <a:srgbClr val="FF0000"/>
                </a:solidFill>
              </a:rPr>
              <a:t>、地区</a:t>
            </a:r>
            <a:r>
              <a:rPr lang="en-US" altLang="zh-CN" sz="2800" dirty="0">
                <a:solidFill>
                  <a:srgbClr val="FF0000"/>
                </a:solidFill>
              </a:rPr>
              <a:t> ISP </a:t>
            </a:r>
            <a:r>
              <a:rPr lang="zh-CN" altLang="zh-CN" sz="2800" dirty="0"/>
              <a:t>和</a:t>
            </a:r>
            <a:r>
              <a:rPr lang="en-US" altLang="zh-CN" sz="2800" dirty="0"/>
              <a:t> </a:t>
            </a:r>
            <a:r>
              <a:rPr lang="zh-CN" altLang="zh-CN" sz="2800" dirty="0">
                <a:solidFill>
                  <a:srgbClr val="FF0000"/>
                </a:solidFill>
              </a:rPr>
              <a:t>本地</a:t>
            </a:r>
            <a:r>
              <a:rPr lang="en-US" altLang="zh-CN" sz="2800" dirty="0">
                <a:solidFill>
                  <a:srgbClr val="FF0000"/>
                </a:solidFill>
              </a:rPr>
              <a:t> ISP</a:t>
            </a:r>
            <a:r>
              <a:rPr lang="zh-CN" altLang="zh-CN" sz="2800" dirty="0">
                <a:solidFill>
                  <a:srgbClr val="FF0000"/>
                </a:solidFill>
              </a:rPr>
              <a:t>。</a:t>
            </a:r>
            <a:endParaRPr lang="zh-CN" altLang="en-US" sz="2800" dirty="0">
              <a:solidFill>
                <a:srgbClr val="FF0000"/>
              </a:solidFill>
            </a:endParaRPr>
          </a:p>
          <a:p>
            <a:endParaRPr lang="zh-CN" alt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920065" y="4796383"/>
            <a:ext cx="8466778" cy="504825"/>
            <a:chOff x="920065" y="4724375"/>
            <a:chExt cx="8466778" cy="504825"/>
          </a:xfrm>
        </p:grpSpPr>
        <p:sp>
          <p:nvSpPr>
            <p:cNvPr id="396459" name="Text Box 171"/>
            <p:cNvSpPr txBox="1">
              <a:spLocks noChangeArrowheads="1"/>
            </p:cNvSpPr>
            <p:nvPr/>
          </p:nvSpPr>
          <p:spPr bwMode="auto">
            <a:xfrm>
              <a:off x="1141542" y="4799397"/>
              <a:ext cx="8077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15000"/>
                </a:spcBef>
                <a:spcAft>
                  <a:spcPct val="15000"/>
                </a:spcAft>
              </a:pPr>
              <a:r>
                <a:rPr kumimoji="1" lang="zh-CN" altLang="en-US" b="1" dirty="0">
                  <a:latin typeface="Arial" panose="020B0604020202020204" pitchFamily="34" charset="0"/>
                  <a:ea typeface="黑体" panose="02010609060101010101" pitchFamily="2" charset="-122"/>
                  <a:cs typeface="Arial" panose="020B0604020202020204" pitchFamily="34" charset="0"/>
                </a:rPr>
                <a:t>主机</a:t>
              </a:r>
              <a:r>
                <a:rPr kumimoji="1" lang="en-US" altLang="zh-CN" b="1" dirty="0">
                  <a:latin typeface="Arial" panose="020B0604020202020204" pitchFamily="34" charset="0"/>
                  <a:ea typeface="黑体" panose="02010609060101010101" pitchFamily="2" charset="-122"/>
                  <a:cs typeface="Arial" panose="020B0604020202020204" pitchFamily="34" charset="0"/>
                </a:rPr>
                <a:t>A → </a:t>
              </a:r>
              <a:r>
                <a:rPr kumimoji="1" lang="zh-CN" altLang="en-US" b="1" dirty="0">
                  <a:latin typeface="Arial" panose="020B0604020202020204" pitchFamily="34" charset="0"/>
                  <a:ea typeface="黑体" panose="02010609060101010101" pitchFamily="2" charset="-122"/>
                  <a:cs typeface="Arial" panose="020B0604020202020204" pitchFamily="34" charset="0"/>
                </a:rPr>
                <a:t>本地 </a:t>
              </a:r>
              <a:r>
                <a:rPr kumimoji="1" lang="en-US" altLang="zh-CN" b="1" dirty="0">
                  <a:latin typeface="Arial" panose="020B0604020202020204" pitchFamily="34" charset="0"/>
                  <a:ea typeface="黑体" panose="02010609060101010101" pitchFamily="2" charset="-122"/>
                  <a:cs typeface="Arial" panose="020B0604020202020204" pitchFamily="34" charset="0"/>
                </a:rPr>
                <a:t>ISP → </a:t>
              </a:r>
              <a:r>
                <a:rPr kumimoji="1" lang="zh-CN" altLang="en-US" b="1" dirty="0">
                  <a:latin typeface="Arial" panose="020B0604020202020204" pitchFamily="34" charset="0"/>
                  <a:ea typeface="黑体" panose="02010609060101010101" pitchFamily="2" charset="-122"/>
                  <a:cs typeface="Arial" panose="020B0604020202020204" pitchFamily="34" charset="0"/>
                </a:rPr>
                <a:t>地区 </a:t>
              </a:r>
              <a:r>
                <a:rPr kumimoji="1" lang="en-US" altLang="zh-CN" b="1" dirty="0">
                  <a:latin typeface="Arial" panose="020B0604020202020204" pitchFamily="34" charset="0"/>
                  <a:ea typeface="黑体" panose="02010609060101010101" pitchFamily="2" charset="-122"/>
                  <a:cs typeface="Arial" panose="020B0604020202020204" pitchFamily="34" charset="0"/>
                </a:rPr>
                <a:t>ISP → </a:t>
              </a:r>
              <a:r>
                <a:rPr kumimoji="1" lang="zh-CN" altLang="en-US" b="1" dirty="0">
                  <a:latin typeface="Arial" panose="020B0604020202020204" pitchFamily="34" charset="0"/>
                  <a:ea typeface="黑体" panose="02010609060101010101" pitchFamily="2" charset="-122"/>
                  <a:cs typeface="Arial" panose="020B0604020202020204" pitchFamily="34" charset="0"/>
                </a:rPr>
                <a:t>主干 </a:t>
              </a:r>
              <a:r>
                <a:rPr kumimoji="1" lang="en-US" altLang="zh-CN" b="1" dirty="0">
                  <a:latin typeface="Arial" panose="020B0604020202020204" pitchFamily="34" charset="0"/>
                  <a:ea typeface="黑体" panose="02010609060101010101" pitchFamily="2" charset="-122"/>
                  <a:cs typeface="Arial" panose="020B0604020202020204" pitchFamily="34" charset="0"/>
                </a:rPr>
                <a:t>ISP → </a:t>
              </a:r>
              <a:r>
                <a:rPr kumimoji="1" lang="zh-CN" altLang="en-US" b="1" dirty="0">
                  <a:latin typeface="Arial" panose="020B0604020202020204" pitchFamily="34" charset="0"/>
                  <a:ea typeface="黑体" panose="02010609060101010101" pitchFamily="2" charset="-122"/>
                  <a:cs typeface="Arial" panose="020B0604020202020204" pitchFamily="34" charset="0"/>
                </a:rPr>
                <a:t>地区 </a:t>
              </a:r>
              <a:r>
                <a:rPr kumimoji="1" lang="en-US" altLang="zh-CN" b="1" dirty="0">
                  <a:latin typeface="Arial" panose="020B0604020202020204" pitchFamily="34" charset="0"/>
                  <a:ea typeface="黑体" panose="02010609060101010101" pitchFamily="2" charset="-122"/>
                  <a:cs typeface="Arial" panose="020B0604020202020204" pitchFamily="34" charset="0"/>
                </a:rPr>
                <a:t>ISP → </a:t>
              </a:r>
              <a:r>
                <a:rPr kumimoji="1" lang="zh-CN" altLang="en-US" b="1" dirty="0">
                  <a:latin typeface="Arial" panose="020B0604020202020204" pitchFamily="34" charset="0"/>
                  <a:ea typeface="黑体" panose="02010609060101010101" pitchFamily="2" charset="-122"/>
                  <a:cs typeface="Arial" panose="020B0604020202020204" pitchFamily="34" charset="0"/>
                </a:rPr>
                <a:t>本地 </a:t>
              </a:r>
              <a:r>
                <a:rPr kumimoji="1" lang="en-US" altLang="zh-CN" b="1" dirty="0">
                  <a:latin typeface="Arial" panose="020B0604020202020204" pitchFamily="34" charset="0"/>
                  <a:ea typeface="黑体" panose="02010609060101010101" pitchFamily="2" charset="-122"/>
                  <a:cs typeface="Arial" panose="020B0604020202020204" pitchFamily="34" charset="0"/>
                </a:rPr>
                <a:t>ISP → </a:t>
              </a:r>
              <a:r>
                <a:rPr kumimoji="1" lang="zh-CN" altLang="en-US" b="1" dirty="0">
                  <a:latin typeface="Arial" panose="020B0604020202020204" pitchFamily="34" charset="0"/>
                  <a:ea typeface="黑体" panose="02010609060101010101" pitchFamily="2" charset="-122"/>
                  <a:cs typeface="Arial" panose="020B0604020202020204" pitchFamily="34" charset="0"/>
                </a:rPr>
                <a:t>主机</a:t>
              </a:r>
              <a:r>
                <a:rPr kumimoji="1" lang="en-US" altLang="zh-CN" b="1" dirty="0">
                  <a:latin typeface="Arial" panose="020B0604020202020204" pitchFamily="34" charset="0"/>
                  <a:ea typeface="黑体" panose="02010609060101010101" pitchFamily="2" charset="-122"/>
                  <a:cs typeface="Arial" panose="020B0604020202020204" pitchFamily="34" charset="0"/>
                </a:rPr>
                <a:t>B</a:t>
              </a:r>
            </a:p>
          </p:txBody>
        </p:sp>
        <p:sp>
          <p:nvSpPr>
            <p:cNvPr id="396460" name="Rectangle 172"/>
            <p:cNvSpPr>
              <a:spLocks noChangeArrowheads="1"/>
            </p:cNvSpPr>
            <p:nvPr/>
          </p:nvSpPr>
          <p:spPr bwMode="auto">
            <a:xfrm>
              <a:off x="920065" y="4724375"/>
              <a:ext cx="8466778" cy="504825"/>
            </a:xfrm>
            <a:prstGeom prst="rect">
              <a:avLst/>
            </a:prstGeom>
            <a:noFill/>
            <a:ln w="38100" cmpd="dbl">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grpSp>
      <p:grpSp>
        <p:nvGrpSpPr>
          <p:cNvPr id="4" name="组合 3"/>
          <p:cNvGrpSpPr/>
          <p:nvPr/>
        </p:nvGrpSpPr>
        <p:grpSpPr>
          <a:xfrm>
            <a:off x="439997" y="527684"/>
            <a:ext cx="9254121" cy="4032448"/>
            <a:chOff x="128464" y="1412776"/>
            <a:chExt cx="9763258" cy="3876676"/>
          </a:xfrm>
        </p:grpSpPr>
        <p:sp>
          <p:nvSpPr>
            <p:cNvPr id="396429" name="Line 141"/>
            <p:cNvSpPr>
              <a:spLocks noChangeShapeType="1"/>
            </p:cNvSpPr>
            <p:nvPr/>
          </p:nvSpPr>
          <p:spPr bwMode="auto">
            <a:xfrm>
              <a:off x="6916483" y="3257451"/>
              <a:ext cx="1480740" cy="0"/>
            </a:xfrm>
            <a:prstGeom prst="line">
              <a:avLst/>
            </a:prstGeom>
            <a:noFill/>
            <a:ln w="76200" cmpd="tri">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0" name="Line 142"/>
            <p:cNvSpPr>
              <a:spLocks noChangeShapeType="1"/>
            </p:cNvSpPr>
            <p:nvPr/>
          </p:nvSpPr>
          <p:spPr bwMode="auto">
            <a:xfrm>
              <a:off x="8476333" y="4221064"/>
              <a:ext cx="311283" cy="7207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1" name="Line 143"/>
            <p:cNvSpPr>
              <a:spLocks noChangeShapeType="1"/>
            </p:cNvSpPr>
            <p:nvPr/>
          </p:nvSpPr>
          <p:spPr bwMode="auto">
            <a:xfrm flipH="1">
              <a:off x="7772939" y="4149626"/>
              <a:ext cx="469503" cy="7794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2" name="Text Box 144"/>
            <p:cNvSpPr txBox="1">
              <a:spLocks noChangeArrowheads="1"/>
            </p:cNvSpPr>
            <p:nvPr/>
          </p:nvSpPr>
          <p:spPr bwMode="auto">
            <a:xfrm>
              <a:off x="8008550" y="4509989"/>
              <a:ext cx="627772" cy="56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a:latin typeface="Arial" panose="020B0604020202020204" pitchFamily="34" charset="0"/>
                  <a:ea typeface="黑体" panose="02010609060101010101" pitchFamily="2" charset="-122"/>
                  <a:cs typeface="Arial" panose="020B0604020202020204" pitchFamily="34" charset="0"/>
                  <a:sym typeface="Symbol" panose="05050102010706020507" pitchFamily="18" charset="2"/>
                </a:rPr>
                <a:t></a:t>
              </a:r>
            </a:p>
          </p:txBody>
        </p:sp>
        <p:sp>
          <p:nvSpPr>
            <p:cNvPr id="396433" name="Line 145"/>
            <p:cNvSpPr>
              <a:spLocks noChangeShapeType="1"/>
            </p:cNvSpPr>
            <p:nvPr/>
          </p:nvSpPr>
          <p:spPr bwMode="auto">
            <a:xfrm flipH="1">
              <a:off x="8242441" y="3286026"/>
              <a:ext cx="545175" cy="863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4" name="Line 146"/>
            <p:cNvSpPr>
              <a:spLocks noChangeShapeType="1"/>
            </p:cNvSpPr>
            <p:nvPr/>
          </p:nvSpPr>
          <p:spPr bwMode="auto">
            <a:xfrm flipH="1">
              <a:off x="5667915" y="3286026"/>
              <a:ext cx="545173" cy="863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5" name="Line 147"/>
            <p:cNvSpPr>
              <a:spLocks noChangeShapeType="1"/>
            </p:cNvSpPr>
            <p:nvPr/>
          </p:nvSpPr>
          <p:spPr bwMode="auto">
            <a:xfrm>
              <a:off x="6446979" y="3213001"/>
              <a:ext cx="546894" cy="10080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6" name="Line 148"/>
            <p:cNvSpPr>
              <a:spLocks noChangeShapeType="1"/>
            </p:cNvSpPr>
            <p:nvPr/>
          </p:nvSpPr>
          <p:spPr bwMode="auto">
            <a:xfrm>
              <a:off x="3640279" y="3213002"/>
              <a:ext cx="545175" cy="9366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7" name="Line 149"/>
            <p:cNvSpPr>
              <a:spLocks noChangeShapeType="1"/>
            </p:cNvSpPr>
            <p:nvPr/>
          </p:nvSpPr>
          <p:spPr bwMode="auto">
            <a:xfrm flipH="1">
              <a:off x="2859494" y="3357464"/>
              <a:ext cx="390393" cy="79216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8" name="Line 150"/>
            <p:cNvSpPr>
              <a:spLocks noChangeShapeType="1"/>
            </p:cNvSpPr>
            <p:nvPr/>
          </p:nvSpPr>
          <p:spPr bwMode="auto">
            <a:xfrm>
              <a:off x="1065751" y="3357463"/>
              <a:ext cx="233892" cy="863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39" name="Line 151"/>
            <p:cNvSpPr>
              <a:spLocks noChangeShapeType="1"/>
            </p:cNvSpPr>
            <p:nvPr/>
          </p:nvSpPr>
          <p:spPr bwMode="auto">
            <a:xfrm>
              <a:off x="9021508" y="3430488"/>
              <a:ext cx="467783" cy="935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0" name="Line 152"/>
            <p:cNvSpPr>
              <a:spLocks noChangeShapeType="1"/>
            </p:cNvSpPr>
            <p:nvPr/>
          </p:nvSpPr>
          <p:spPr bwMode="auto">
            <a:xfrm flipH="1">
              <a:off x="909250" y="2349401"/>
              <a:ext cx="624285" cy="7921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1" name="Line 153"/>
            <p:cNvSpPr>
              <a:spLocks noChangeShapeType="1"/>
            </p:cNvSpPr>
            <p:nvPr/>
          </p:nvSpPr>
          <p:spPr bwMode="auto">
            <a:xfrm>
              <a:off x="5200130" y="1557238"/>
              <a:ext cx="1559851" cy="6477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2" name="Line 154"/>
            <p:cNvSpPr>
              <a:spLocks noChangeShapeType="1"/>
            </p:cNvSpPr>
            <p:nvPr/>
          </p:nvSpPr>
          <p:spPr bwMode="auto">
            <a:xfrm>
              <a:off x="7150375" y="4221064"/>
              <a:ext cx="311282" cy="7207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3" name="Line 155"/>
            <p:cNvSpPr>
              <a:spLocks noChangeShapeType="1"/>
            </p:cNvSpPr>
            <p:nvPr/>
          </p:nvSpPr>
          <p:spPr bwMode="auto">
            <a:xfrm>
              <a:off x="2936885" y="4294089"/>
              <a:ext cx="311282" cy="7207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4" name="Line 156"/>
            <p:cNvSpPr>
              <a:spLocks noChangeShapeType="1"/>
            </p:cNvSpPr>
            <p:nvPr/>
          </p:nvSpPr>
          <p:spPr bwMode="auto">
            <a:xfrm flipH="1">
              <a:off x="6446979" y="4149626"/>
              <a:ext cx="469504" cy="7794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5" name="Line 157"/>
            <p:cNvSpPr>
              <a:spLocks noChangeShapeType="1"/>
            </p:cNvSpPr>
            <p:nvPr/>
          </p:nvSpPr>
          <p:spPr bwMode="auto">
            <a:xfrm>
              <a:off x="9489291" y="4365526"/>
              <a:ext cx="156501" cy="6477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6" name="Line 158"/>
            <p:cNvSpPr>
              <a:spLocks noChangeShapeType="1"/>
            </p:cNvSpPr>
            <p:nvPr/>
          </p:nvSpPr>
          <p:spPr bwMode="auto">
            <a:xfrm flipH="1">
              <a:off x="2235210" y="4221063"/>
              <a:ext cx="624284" cy="8651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7" name="Line 159"/>
            <p:cNvSpPr>
              <a:spLocks noChangeShapeType="1"/>
            </p:cNvSpPr>
            <p:nvPr/>
          </p:nvSpPr>
          <p:spPr bwMode="auto">
            <a:xfrm flipH="1">
              <a:off x="597969" y="3357464"/>
              <a:ext cx="154781" cy="15287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8" name="Line 160"/>
            <p:cNvSpPr>
              <a:spLocks noChangeShapeType="1"/>
            </p:cNvSpPr>
            <p:nvPr/>
          </p:nvSpPr>
          <p:spPr bwMode="auto">
            <a:xfrm flipH="1" flipV="1">
              <a:off x="5824415" y="4294088"/>
              <a:ext cx="388673" cy="6477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49" name="Line 161"/>
            <p:cNvSpPr>
              <a:spLocks noChangeShapeType="1"/>
            </p:cNvSpPr>
            <p:nvPr/>
          </p:nvSpPr>
          <p:spPr bwMode="auto">
            <a:xfrm flipV="1">
              <a:off x="4262844" y="4294089"/>
              <a:ext cx="1086908" cy="7921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50" name="Line 162"/>
            <p:cNvSpPr>
              <a:spLocks noChangeShapeType="1"/>
            </p:cNvSpPr>
            <p:nvPr/>
          </p:nvSpPr>
          <p:spPr bwMode="auto">
            <a:xfrm>
              <a:off x="2548213" y="2349402"/>
              <a:ext cx="856456" cy="7207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51" name="Line 163"/>
            <p:cNvSpPr>
              <a:spLocks noChangeShapeType="1"/>
            </p:cNvSpPr>
            <p:nvPr/>
          </p:nvSpPr>
          <p:spPr bwMode="auto">
            <a:xfrm flipH="1">
              <a:off x="5277521" y="4294089"/>
              <a:ext cx="233892" cy="7921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52" name="Oval 164"/>
            <p:cNvSpPr>
              <a:spLocks noChangeArrowheads="1"/>
            </p:cNvSpPr>
            <p:nvPr/>
          </p:nvSpPr>
          <p:spPr bwMode="auto">
            <a:xfrm>
              <a:off x="128464" y="4654452"/>
              <a:ext cx="1012958" cy="504825"/>
            </a:xfrm>
            <a:prstGeom prst="ellipse">
              <a:avLst/>
            </a:prstGeom>
            <a:solidFill>
              <a:schemeClr val="bg1"/>
            </a:solidFill>
            <a:ln w="9525">
              <a:solidFill>
                <a:schemeClr val="tx1"/>
              </a:solidFill>
              <a:round/>
            </a:ln>
            <a:effectLst>
              <a:outerShdw dist="35921" dir="2700000" algn="ctr" rotWithShape="0">
                <a:schemeClr val="bg2"/>
              </a:outerShdw>
            </a:effectLst>
          </p:spPr>
          <p:txBody>
            <a:bodyPr wrap="none" anchor="ctr"/>
            <a:lstStyle/>
            <a:p>
              <a:pPr algn="ctr"/>
              <a:r>
                <a:rPr kumimoji="1" lang="zh-CN" altLang="en-US" b="1" dirty="0">
                  <a:latin typeface="Arial" panose="020B0604020202020204" pitchFamily="34" charset="0"/>
                  <a:ea typeface="黑体" panose="02010609060101010101" pitchFamily="2" charset="-122"/>
                  <a:cs typeface="Arial" panose="020B0604020202020204" pitchFamily="34" charset="0"/>
                </a:rPr>
                <a:t>大公司</a:t>
              </a:r>
            </a:p>
          </p:txBody>
        </p:sp>
        <p:sp>
          <p:nvSpPr>
            <p:cNvPr id="396453" name="Oval 165"/>
            <p:cNvSpPr>
              <a:spLocks noChangeArrowheads="1"/>
            </p:cNvSpPr>
            <p:nvPr/>
          </p:nvSpPr>
          <p:spPr bwMode="auto">
            <a:xfrm>
              <a:off x="3860412" y="4797326"/>
              <a:ext cx="1026716" cy="457200"/>
            </a:xfrm>
            <a:prstGeom prst="ellipse">
              <a:avLst/>
            </a:prstGeom>
            <a:solidFill>
              <a:schemeClr val="bg1"/>
            </a:solidFill>
            <a:ln w="9525">
              <a:solidFill>
                <a:schemeClr val="tx1"/>
              </a:solidFill>
              <a:round/>
            </a:ln>
            <a:effectLst>
              <a:outerShdw dist="35921" dir="2700000" algn="ctr" rotWithShape="0">
                <a:schemeClr val="bg2"/>
              </a:outerShdw>
            </a:effec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公司</a:t>
              </a:r>
            </a:p>
          </p:txBody>
        </p:sp>
        <p:sp>
          <p:nvSpPr>
            <p:cNvPr id="396454" name="Oval 166"/>
            <p:cNvSpPr>
              <a:spLocks noChangeArrowheads="1"/>
            </p:cNvSpPr>
            <p:nvPr/>
          </p:nvSpPr>
          <p:spPr bwMode="auto">
            <a:xfrm>
              <a:off x="5033310" y="4055964"/>
              <a:ext cx="1024996" cy="3857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9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pic>
          <p:nvPicPr>
            <p:cNvPr id="396455" name="Picture 1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6817" y="4870351"/>
              <a:ext cx="443706"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6456" name="Text Box 168"/>
            <p:cNvSpPr txBox="1">
              <a:spLocks noChangeArrowheads="1"/>
            </p:cNvSpPr>
            <p:nvPr/>
          </p:nvSpPr>
          <p:spPr bwMode="auto">
            <a:xfrm>
              <a:off x="4887128" y="4797326"/>
              <a:ext cx="370710" cy="35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Arial" panose="020B0604020202020204" pitchFamily="34" charset="0"/>
                  <a:ea typeface="黑体" panose="02010609060101010101" pitchFamily="2" charset="-122"/>
                  <a:cs typeface="Arial" panose="020B0604020202020204" pitchFamily="34" charset="0"/>
                </a:rPr>
                <a:t>A</a:t>
              </a:r>
            </a:p>
          </p:txBody>
        </p:sp>
        <p:pic>
          <p:nvPicPr>
            <p:cNvPr id="396457" name="Picture 1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35978" y="4870351"/>
              <a:ext cx="443706"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6458" name="Text Box 170"/>
            <p:cNvSpPr txBox="1">
              <a:spLocks noChangeArrowheads="1"/>
            </p:cNvSpPr>
            <p:nvPr/>
          </p:nvSpPr>
          <p:spPr bwMode="auto">
            <a:xfrm>
              <a:off x="9178008" y="4797326"/>
              <a:ext cx="370710" cy="35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Arial" panose="020B0604020202020204" pitchFamily="34" charset="0"/>
                  <a:ea typeface="黑体" panose="02010609060101010101" pitchFamily="2" charset="-122"/>
                  <a:cs typeface="Arial" panose="020B0604020202020204" pitchFamily="34" charset="0"/>
                </a:rPr>
                <a:t>B</a:t>
              </a:r>
            </a:p>
          </p:txBody>
        </p:sp>
        <p:sp>
          <p:nvSpPr>
            <p:cNvPr id="396461" name="Line 173"/>
            <p:cNvSpPr>
              <a:spLocks noChangeShapeType="1"/>
            </p:cNvSpPr>
            <p:nvPr/>
          </p:nvSpPr>
          <p:spPr bwMode="auto">
            <a:xfrm flipV="1">
              <a:off x="2625602" y="1630263"/>
              <a:ext cx="1405070" cy="431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62" name="Line 174"/>
            <p:cNvSpPr>
              <a:spLocks noChangeShapeType="1"/>
            </p:cNvSpPr>
            <p:nvPr/>
          </p:nvSpPr>
          <p:spPr bwMode="auto">
            <a:xfrm>
              <a:off x="2936885" y="2277963"/>
              <a:ext cx="382309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63" name="Oval 175"/>
            <p:cNvSpPr>
              <a:spLocks noChangeArrowheads="1"/>
            </p:cNvSpPr>
            <p:nvPr/>
          </p:nvSpPr>
          <p:spPr bwMode="auto">
            <a:xfrm>
              <a:off x="8866726" y="4060726"/>
              <a:ext cx="1024996" cy="381000"/>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10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64" name="Line 176"/>
            <p:cNvSpPr>
              <a:spLocks noChangeShapeType="1"/>
            </p:cNvSpPr>
            <p:nvPr/>
          </p:nvSpPr>
          <p:spPr bwMode="auto">
            <a:xfrm flipH="1">
              <a:off x="6292198" y="2422427"/>
              <a:ext cx="779066" cy="7191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65" name="Line 177"/>
            <p:cNvSpPr>
              <a:spLocks noChangeShapeType="1"/>
            </p:cNvSpPr>
            <p:nvPr/>
          </p:nvSpPr>
          <p:spPr bwMode="auto">
            <a:xfrm flipH="1" flipV="1">
              <a:off x="7929440" y="2349402"/>
              <a:ext cx="703395" cy="7207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66" name="Oval 178"/>
            <p:cNvSpPr>
              <a:spLocks noChangeArrowheads="1"/>
            </p:cNvSpPr>
            <p:nvPr/>
          </p:nvSpPr>
          <p:spPr bwMode="auto">
            <a:xfrm>
              <a:off x="909250" y="1989038"/>
              <a:ext cx="2105025" cy="503238"/>
            </a:xfrm>
            <a:prstGeom prst="ellipse">
              <a:avLst/>
            </a:prstGeom>
            <a:solidFill>
              <a:srgbClr val="FFFF00"/>
            </a:solidFill>
            <a:ln w="19050">
              <a:solidFill>
                <a:schemeClr val="tx1"/>
              </a:solidFill>
              <a:round/>
            </a:ln>
            <a:effectLst>
              <a:outerShdw dist="35921" dir="2700000" algn="ctr" rotWithShape="0">
                <a:schemeClr val="bg2"/>
              </a:outerShdw>
            </a:effectLst>
          </p:spPr>
          <p:txBody>
            <a:bodyPr wrap="none" anchor="ctr"/>
            <a:lstStyle/>
            <a:p>
              <a:pPr algn="ctr"/>
              <a:r>
                <a:rPr kumimoji="1" lang="zh-CN" altLang="en-US" b="1" dirty="0">
                  <a:latin typeface="Arial" panose="020B0604020202020204" pitchFamily="34" charset="0"/>
                  <a:ea typeface="黑体" panose="02010609060101010101" pitchFamily="2" charset="-122"/>
                  <a:cs typeface="Arial" panose="020B0604020202020204" pitchFamily="34" charset="0"/>
                </a:rPr>
                <a:t>主干 </a:t>
              </a:r>
              <a:r>
                <a:rPr kumimoji="1" lang="zh-CN" altLang="en-US" sz="900" b="1" dirty="0">
                  <a:latin typeface="Arial" panose="020B0604020202020204" pitchFamily="34" charset="0"/>
                  <a:ea typeface="黑体" panose="02010609060101010101" pitchFamily="2" charset="-122"/>
                  <a:cs typeface="Arial" panose="020B0604020202020204" pitchFamily="34" charset="0"/>
                </a:rPr>
                <a:t> </a:t>
              </a:r>
              <a:r>
                <a:rPr kumimoji="1" lang="en-US" altLang="zh-CN" b="1" dirty="0">
                  <a:latin typeface="Arial" panose="020B0604020202020204" pitchFamily="34" charset="0"/>
                  <a:ea typeface="黑体" panose="02010609060101010101" pitchFamily="2" charset="-122"/>
                  <a:cs typeface="Arial" panose="020B0604020202020204" pitchFamily="34" charset="0"/>
                </a:rPr>
                <a:t>ISP</a:t>
              </a:r>
            </a:p>
          </p:txBody>
        </p:sp>
        <p:sp>
          <p:nvSpPr>
            <p:cNvPr id="396467" name="Oval 179"/>
            <p:cNvSpPr>
              <a:spLocks noChangeArrowheads="1"/>
            </p:cNvSpPr>
            <p:nvPr/>
          </p:nvSpPr>
          <p:spPr bwMode="auto">
            <a:xfrm>
              <a:off x="2302281"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9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68" name="Oval 180"/>
            <p:cNvSpPr>
              <a:spLocks noChangeArrowheads="1"/>
            </p:cNvSpPr>
            <p:nvPr/>
          </p:nvSpPr>
          <p:spPr bwMode="auto">
            <a:xfrm>
              <a:off x="742431"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9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69" name="Oval 181"/>
            <p:cNvSpPr>
              <a:spLocks noChangeArrowheads="1"/>
            </p:cNvSpPr>
            <p:nvPr/>
          </p:nvSpPr>
          <p:spPr bwMode="auto">
            <a:xfrm>
              <a:off x="5590523" y="3070127"/>
              <a:ext cx="1458383" cy="388937"/>
            </a:xfrm>
            <a:prstGeom prst="ellipse">
              <a:avLst/>
            </a:prstGeom>
            <a:solidFill>
              <a:srgbClr val="00B0F0"/>
            </a:solidFill>
            <a:ln w="9525">
              <a:solidFill>
                <a:schemeClr val="tx1"/>
              </a:solidFill>
              <a:round/>
            </a:ln>
            <a:effectLst>
              <a:outerShdw dist="35921" dir="2700000" algn="ctr" rotWithShape="0">
                <a:schemeClr val="bg2"/>
              </a:outerShdw>
            </a:effec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地区 </a:t>
              </a:r>
              <a:r>
                <a:rPr kumimoji="1" lang="zh-CN" altLang="en-US" sz="6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70" name="Oval 182"/>
            <p:cNvSpPr>
              <a:spLocks noChangeArrowheads="1"/>
            </p:cNvSpPr>
            <p:nvPr/>
          </p:nvSpPr>
          <p:spPr bwMode="auto">
            <a:xfrm>
              <a:off x="3640279" y="1412776"/>
              <a:ext cx="2105025" cy="503237"/>
            </a:xfrm>
            <a:prstGeom prst="ellipse">
              <a:avLst/>
            </a:prstGeom>
            <a:solidFill>
              <a:srgbClr val="FFFF00"/>
            </a:solidFill>
            <a:ln w="19050">
              <a:solidFill>
                <a:schemeClr val="tx1"/>
              </a:solidFill>
              <a:round/>
            </a:ln>
            <a:effectLst>
              <a:outerShdw dist="35921" dir="2700000" algn="ctr" rotWithShape="0">
                <a:schemeClr val="bg2"/>
              </a:outerShdw>
            </a:effectLst>
          </p:spPr>
          <p:txBody>
            <a:bodyPr wrap="none" anchor="ctr"/>
            <a:lstStyle/>
            <a:p>
              <a:pPr algn="ctr"/>
              <a:r>
                <a:rPr kumimoji="1" lang="zh-CN" altLang="en-US" b="1" dirty="0">
                  <a:latin typeface="Arial" panose="020B0604020202020204" pitchFamily="34" charset="0"/>
                  <a:ea typeface="黑体" panose="02010609060101010101" pitchFamily="2" charset="-122"/>
                  <a:cs typeface="Arial" panose="020B0604020202020204" pitchFamily="34" charset="0"/>
                </a:rPr>
                <a:t>主干 </a:t>
              </a:r>
              <a:r>
                <a:rPr kumimoji="1" lang="zh-CN" altLang="en-US" sz="900" b="1" dirty="0">
                  <a:latin typeface="Arial" panose="020B0604020202020204" pitchFamily="34" charset="0"/>
                  <a:ea typeface="黑体" panose="02010609060101010101" pitchFamily="2" charset="-122"/>
                  <a:cs typeface="Arial" panose="020B0604020202020204" pitchFamily="34" charset="0"/>
                </a:rPr>
                <a:t> </a:t>
              </a:r>
              <a:r>
                <a:rPr kumimoji="1" lang="en-US" altLang="zh-CN" b="1" dirty="0">
                  <a:latin typeface="Arial" panose="020B0604020202020204" pitchFamily="34" charset="0"/>
                  <a:ea typeface="黑体" panose="02010609060101010101" pitchFamily="2" charset="-122"/>
                  <a:cs typeface="Arial" panose="020B0604020202020204" pitchFamily="34" charset="0"/>
                </a:rPr>
                <a:t>ISP</a:t>
              </a:r>
            </a:p>
          </p:txBody>
        </p:sp>
        <p:sp>
          <p:nvSpPr>
            <p:cNvPr id="396471" name="Oval 183"/>
            <p:cNvSpPr>
              <a:spLocks noChangeArrowheads="1"/>
            </p:cNvSpPr>
            <p:nvPr/>
          </p:nvSpPr>
          <p:spPr bwMode="auto">
            <a:xfrm>
              <a:off x="6369589" y="1989038"/>
              <a:ext cx="2105025" cy="503238"/>
            </a:xfrm>
            <a:prstGeom prst="ellipse">
              <a:avLst/>
            </a:prstGeom>
            <a:solidFill>
              <a:srgbClr val="FFFF00"/>
            </a:solidFill>
            <a:ln w="19050">
              <a:solidFill>
                <a:schemeClr val="tx1"/>
              </a:solidFill>
              <a:round/>
            </a:ln>
            <a:effectLst>
              <a:outerShdw dist="35921" dir="2700000" algn="ctr" rotWithShape="0">
                <a:schemeClr val="bg2"/>
              </a:outerShdw>
            </a:effec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主干 </a:t>
              </a:r>
              <a:r>
                <a:rPr kumimoji="1" lang="zh-CN" altLang="en-US" sz="9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72" name="Oval 184"/>
            <p:cNvSpPr>
              <a:spLocks noChangeArrowheads="1"/>
            </p:cNvSpPr>
            <p:nvPr/>
          </p:nvSpPr>
          <p:spPr bwMode="auto">
            <a:xfrm>
              <a:off x="8163331" y="3070127"/>
              <a:ext cx="1458383" cy="388937"/>
            </a:xfrm>
            <a:prstGeom prst="ellipse">
              <a:avLst/>
            </a:prstGeom>
            <a:solidFill>
              <a:srgbClr val="00B0F0"/>
            </a:solidFill>
            <a:ln w="9525">
              <a:solidFill>
                <a:schemeClr val="tx1"/>
              </a:solidFill>
              <a:round/>
            </a:ln>
            <a:effectLst>
              <a:outerShdw dist="35921" dir="2700000" algn="ctr" rotWithShape="0">
                <a:schemeClr val="bg2"/>
              </a:outerShdw>
            </a:effec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地区 </a:t>
              </a:r>
              <a:r>
                <a:rPr kumimoji="1" lang="zh-CN" altLang="en-US" sz="6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73" name="Oval 185"/>
            <p:cNvSpPr>
              <a:spLocks noChangeArrowheads="1"/>
            </p:cNvSpPr>
            <p:nvPr/>
          </p:nvSpPr>
          <p:spPr bwMode="auto">
            <a:xfrm>
              <a:off x="207575" y="3070127"/>
              <a:ext cx="1458383" cy="388937"/>
            </a:xfrm>
            <a:prstGeom prst="ellipse">
              <a:avLst/>
            </a:prstGeom>
            <a:solidFill>
              <a:srgbClr val="00B0F0"/>
            </a:solidFill>
            <a:ln w="9525">
              <a:solidFill>
                <a:schemeClr val="tx1"/>
              </a:solidFill>
              <a:round/>
            </a:ln>
            <a:effectLst>
              <a:outerShdw dist="35921" dir="2700000" algn="ctr" rotWithShape="0">
                <a:schemeClr val="bg2"/>
              </a:outerShdw>
            </a:effectLst>
          </p:spPr>
          <p:txBody>
            <a:bodyPr wrap="none" anchor="ctr"/>
            <a:lstStyle/>
            <a:p>
              <a:pPr algn="ctr"/>
              <a:r>
                <a:rPr kumimoji="1" lang="zh-CN" altLang="en-US" b="1" dirty="0">
                  <a:latin typeface="Arial" panose="020B0604020202020204" pitchFamily="34" charset="0"/>
                  <a:ea typeface="黑体" panose="02010609060101010101" pitchFamily="2" charset="-122"/>
                  <a:cs typeface="Arial" panose="020B0604020202020204" pitchFamily="34" charset="0"/>
                </a:rPr>
                <a:t>地区 </a:t>
              </a:r>
              <a:r>
                <a:rPr kumimoji="1" lang="zh-CN" altLang="en-US" sz="600" b="1" dirty="0">
                  <a:latin typeface="Arial" panose="020B0604020202020204" pitchFamily="34" charset="0"/>
                  <a:ea typeface="黑体" panose="02010609060101010101" pitchFamily="2" charset="-122"/>
                  <a:cs typeface="Arial" panose="020B0604020202020204" pitchFamily="34" charset="0"/>
                </a:rPr>
                <a:t> </a:t>
              </a:r>
              <a:r>
                <a:rPr kumimoji="1" lang="en-US" altLang="zh-CN" b="1" dirty="0">
                  <a:latin typeface="Arial" panose="020B0604020202020204" pitchFamily="34" charset="0"/>
                  <a:ea typeface="黑体" panose="02010609060101010101" pitchFamily="2" charset="-122"/>
                  <a:cs typeface="Arial" panose="020B0604020202020204" pitchFamily="34" charset="0"/>
                </a:rPr>
                <a:t>ISP</a:t>
              </a:r>
            </a:p>
          </p:txBody>
        </p:sp>
        <p:sp>
          <p:nvSpPr>
            <p:cNvPr id="396474" name="Oval 186"/>
            <p:cNvSpPr>
              <a:spLocks noChangeArrowheads="1"/>
            </p:cNvSpPr>
            <p:nvPr/>
          </p:nvSpPr>
          <p:spPr bwMode="auto">
            <a:xfrm>
              <a:off x="2702993" y="3070127"/>
              <a:ext cx="1458383" cy="388937"/>
            </a:xfrm>
            <a:prstGeom prst="ellipse">
              <a:avLst/>
            </a:prstGeom>
            <a:solidFill>
              <a:srgbClr val="00B0F0"/>
            </a:solidFill>
            <a:ln w="9525">
              <a:solidFill>
                <a:schemeClr val="tx1"/>
              </a:solidFill>
              <a:round/>
            </a:ln>
            <a:effectLst>
              <a:outerShdw dist="35921" dir="2700000" algn="ctr" rotWithShape="0">
                <a:schemeClr val="bg2"/>
              </a:outerShdw>
            </a:effec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地区 </a:t>
              </a:r>
              <a:r>
                <a:rPr kumimoji="1" lang="zh-CN" altLang="en-US" sz="6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75" name="Text Box 187"/>
            <p:cNvSpPr txBox="1">
              <a:spLocks noChangeArrowheads="1"/>
            </p:cNvSpPr>
            <p:nvPr/>
          </p:nvSpPr>
          <p:spPr bwMode="auto">
            <a:xfrm>
              <a:off x="1714112" y="2655789"/>
              <a:ext cx="925422" cy="88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b="1">
                  <a:latin typeface="Arial" panose="020B0604020202020204" pitchFamily="34" charset="0"/>
                  <a:ea typeface="黑体" panose="02010609060101010101" pitchFamily="2" charset="-122"/>
                  <a:cs typeface="Arial" panose="020B0604020202020204" pitchFamily="34" charset="0"/>
                  <a:sym typeface="Symbol" panose="05050102010706020507" pitchFamily="18" charset="2"/>
                </a:rPr>
                <a:t></a:t>
              </a:r>
            </a:p>
          </p:txBody>
        </p:sp>
        <p:sp>
          <p:nvSpPr>
            <p:cNvPr id="396476" name="Text Box 188"/>
            <p:cNvSpPr txBox="1">
              <a:spLocks noChangeArrowheads="1"/>
            </p:cNvSpPr>
            <p:nvPr/>
          </p:nvSpPr>
          <p:spPr bwMode="auto">
            <a:xfrm>
              <a:off x="4419345" y="2638326"/>
              <a:ext cx="925422" cy="88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b="1">
                  <a:latin typeface="Arial" panose="020B0604020202020204" pitchFamily="34" charset="0"/>
                  <a:ea typeface="黑体" panose="02010609060101010101" pitchFamily="2" charset="-122"/>
                  <a:cs typeface="Arial" panose="020B0604020202020204" pitchFamily="34" charset="0"/>
                  <a:sym typeface="Symbol" panose="05050102010706020507" pitchFamily="18" charset="2"/>
                </a:rPr>
                <a:t></a:t>
              </a:r>
            </a:p>
          </p:txBody>
        </p:sp>
        <p:sp>
          <p:nvSpPr>
            <p:cNvPr id="396477" name="Oval 189"/>
            <p:cNvSpPr>
              <a:spLocks noChangeArrowheads="1"/>
            </p:cNvSpPr>
            <p:nvPr/>
          </p:nvSpPr>
          <p:spPr bwMode="auto">
            <a:xfrm>
              <a:off x="6446979"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9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sp>
          <p:nvSpPr>
            <p:cNvPr id="396478" name="Oval 190"/>
            <p:cNvSpPr>
              <a:spLocks noChangeArrowheads="1"/>
            </p:cNvSpPr>
            <p:nvPr/>
          </p:nvSpPr>
          <p:spPr bwMode="auto">
            <a:xfrm>
              <a:off x="3640279"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9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grpSp>
          <p:nvGrpSpPr>
            <p:cNvPr id="396479" name="Group 191"/>
            <p:cNvGrpSpPr/>
            <p:nvPr/>
          </p:nvGrpSpPr>
          <p:grpSpPr bwMode="auto">
            <a:xfrm>
              <a:off x="7305156" y="3084414"/>
              <a:ext cx="586449" cy="355600"/>
              <a:chOff x="3334" y="255"/>
              <a:chExt cx="341" cy="224"/>
            </a:xfrm>
          </p:grpSpPr>
          <p:pic>
            <p:nvPicPr>
              <p:cNvPr id="396480" name="Picture 19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4" y="255"/>
                <a:ext cx="318"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6481" name="Text Box 193"/>
              <p:cNvSpPr txBox="1">
                <a:spLocks noChangeArrowheads="1"/>
              </p:cNvSpPr>
              <p:nvPr/>
            </p:nvSpPr>
            <p:spPr bwMode="auto">
              <a:xfrm>
                <a:off x="3334" y="255"/>
                <a:ext cx="34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Arial" panose="020B0604020202020204" pitchFamily="34" charset="0"/>
                    <a:ea typeface="黑体" panose="02010609060101010101" pitchFamily="2" charset="-122"/>
                    <a:cs typeface="Arial" panose="020B0604020202020204" pitchFamily="34" charset="0"/>
                  </a:rPr>
                  <a:t>IXP</a:t>
                </a:r>
              </a:p>
            </p:txBody>
          </p:sp>
        </p:grpSp>
        <p:sp>
          <p:nvSpPr>
            <p:cNvPr id="396482" name="Text Box 194"/>
            <p:cNvSpPr txBox="1">
              <a:spLocks noChangeArrowheads="1"/>
            </p:cNvSpPr>
            <p:nvPr/>
          </p:nvSpPr>
          <p:spPr bwMode="auto">
            <a:xfrm>
              <a:off x="1751948" y="3786088"/>
              <a:ext cx="681890" cy="62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a:latin typeface="Arial" panose="020B0604020202020204" pitchFamily="34" charset="0"/>
                  <a:ea typeface="黑体" panose="02010609060101010101" pitchFamily="2" charset="-122"/>
                  <a:cs typeface="Arial" panose="020B0604020202020204" pitchFamily="34" charset="0"/>
                  <a:sym typeface="Symbol" panose="05050102010706020507" pitchFamily="18" charset="2"/>
                </a:rPr>
                <a:t></a:t>
              </a:r>
            </a:p>
          </p:txBody>
        </p:sp>
        <p:sp>
          <p:nvSpPr>
            <p:cNvPr id="396483" name="Oval 195"/>
            <p:cNvSpPr>
              <a:spLocks noChangeArrowheads="1"/>
            </p:cNvSpPr>
            <p:nvPr/>
          </p:nvSpPr>
          <p:spPr bwMode="auto">
            <a:xfrm>
              <a:off x="7695548" y="4057551"/>
              <a:ext cx="1024996" cy="381000"/>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14:hiddenLine>
              </a:ext>
            </a:extLst>
          </p:spPr>
          <p:txBody>
            <a:bodyPr wrap="none" anchor="ctr"/>
            <a:lstStyle/>
            <a:p>
              <a:pPr algn="ctr"/>
              <a:r>
                <a:rPr kumimoji="1" lang="zh-CN" altLang="en-US" b="1">
                  <a:latin typeface="Arial" panose="020B0604020202020204" pitchFamily="34" charset="0"/>
                  <a:ea typeface="黑体" panose="02010609060101010101" pitchFamily="2" charset="-122"/>
                  <a:cs typeface="Arial" panose="020B0604020202020204" pitchFamily="34" charset="0"/>
                </a:rPr>
                <a:t>本地</a:t>
              </a:r>
              <a:r>
                <a:rPr kumimoji="1" lang="zh-CN" altLang="en-US" sz="1000" b="1">
                  <a:latin typeface="Arial" panose="020B0604020202020204" pitchFamily="34" charset="0"/>
                  <a:ea typeface="黑体" panose="02010609060101010101" pitchFamily="2" charset="-122"/>
                  <a:cs typeface="Arial" panose="020B0604020202020204" pitchFamily="34" charset="0"/>
                </a:rPr>
                <a:t> </a:t>
              </a:r>
              <a:r>
                <a:rPr kumimoji="1" lang="en-US" altLang="zh-CN" b="1">
                  <a:latin typeface="Arial" panose="020B0604020202020204" pitchFamily="34" charset="0"/>
                  <a:ea typeface="黑体" panose="02010609060101010101" pitchFamily="2" charset="-122"/>
                  <a:cs typeface="Arial" panose="020B0604020202020204" pitchFamily="34" charset="0"/>
                </a:rPr>
                <a:t>ISP</a:t>
              </a:r>
            </a:p>
          </p:txBody>
        </p:sp>
        <p:grpSp>
          <p:nvGrpSpPr>
            <p:cNvPr id="396484" name="Group 196"/>
            <p:cNvGrpSpPr/>
            <p:nvPr/>
          </p:nvGrpSpPr>
          <p:grpSpPr bwMode="auto">
            <a:xfrm>
              <a:off x="1724431" y="4725889"/>
              <a:ext cx="964803" cy="563563"/>
              <a:chOff x="295" y="2432"/>
              <a:chExt cx="561" cy="355"/>
            </a:xfrm>
          </p:grpSpPr>
          <p:pic>
            <p:nvPicPr>
              <p:cNvPr id="396485" name="Picture 19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6486" name="Text Box 198"/>
              <p:cNvSpPr txBox="1">
                <a:spLocks noChangeArrowheads="1"/>
              </p:cNvSpPr>
              <p:nvPr/>
            </p:nvSpPr>
            <p:spPr bwMode="auto">
              <a:xfrm>
                <a:off x="315" y="2513"/>
                <a:ext cx="54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Arial" panose="020B0604020202020204" pitchFamily="34" charset="0"/>
                    <a:ea typeface="黑体" panose="02010609060101010101" pitchFamily="2" charset="-122"/>
                    <a:cs typeface="Arial" panose="020B0604020202020204" pitchFamily="34" charset="0"/>
                  </a:rPr>
                  <a:t>校园网</a:t>
                </a:r>
              </a:p>
            </p:txBody>
          </p:sp>
        </p:grpSp>
        <p:grpSp>
          <p:nvGrpSpPr>
            <p:cNvPr id="396487" name="Group 199"/>
            <p:cNvGrpSpPr/>
            <p:nvPr/>
          </p:nvGrpSpPr>
          <p:grpSpPr bwMode="auto">
            <a:xfrm>
              <a:off x="2739108" y="4725889"/>
              <a:ext cx="964803" cy="563563"/>
              <a:chOff x="295" y="2432"/>
              <a:chExt cx="561" cy="355"/>
            </a:xfrm>
          </p:grpSpPr>
          <p:pic>
            <p:nvPicPr>
              <p:cNvPr id="396488" name="Picture 20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6489" name="Text Box 201"/>
              <p:cNvSpPr txBox="1">
                <a:spLocks noChangeArrowheads="1"/>
              </p:cNvSpPr>
              <p:nvPr/>
            </p:nvSpPr>
            <p:spPr bwMode="auto">
              <a:xfrm>
                <a:off x="315" y="2513"/>
                <a:ext cx="54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Arial" panose="020B0604020202020204" pitchFamily="34" charset="0"/>
                    <a:ea typeface="黑体" panose="02010609060101010101" pitchFamily="2" charset="-122"/>
                    <a:cs typeface="Arial" panose="020B0604020202020204" pitchFamily="34" charset="0"/>
                  </a:rPr>
                  <a:t>校园网</a:t>
                </a:r>
              </a:p>
            </p:txBody>
          </p:sp>
        </p:grpSp>
        <p:sp>
          <p:nvSpPr>
            <p:cNvPr id="396490" name="Text Box 202"/>
            <p:cNvSpPr txBox="1">
              <a:spLocks noChangeArrowheads="1"/>
            </p:cNvSpPr>
            <p:nvPr/>
          </p:nvSpPr>
          <p:spPr bwMode="auto">
            <a:xfrm>
              <a:off x="5628358" y="4654451"/>
              <a:ext cx="627772" cy="56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a:latin typeface="Arial" panose="020B0604020202020204" pitchFamily="34" charset="0"/>
                  <a:ea typeface="黑体" panose="02010609060101010101" pitchFamily="2" charset="-122"/>
                  <a:cs typeface="Arial" panose="020B0604020202020204" pitchFamily="34" charset="0"/>
                  <a:sym typeface="Symbol" panose="05050102010706020507" pitchFamily="18" charset="2"/>
                </a:rPr>
                <a:t></a:t>
              </a:r>
            </a:p>
          </p:txBody>
        </p:sp>
        <p:sp>
          <p:nvSpPr>
            <p:cNvPr id="396491" name="Text Box 203"/>
            <p:cNvSpPr txBox="1">
              <a:spLocks noChangeArrowheads="1"/>
            </p:cNvSpPr>
            <p:nvPr/>
          </p:nvSpPr>
          <p:spPr bwMode="auto">
            <a:xfrm>
              <a:off x="6682591" y="4509989"/>
              <a:ext cx="627772" cy="56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a:latin typeface="Arial" panose="020B0604020202020204" pitchFamily="34" charset="0"/>
                  <a:ea typeface="黑体" panose="02010609060101010101" pitchFamily="2" charset="-122"/>
                  <a:cs typeface="Arial" panose="020B0604020202020204" pitchFamily="34" charset="0"/>
                  <a:sym typeface="Symbol" panose="05050102010706020507" pitchFamily="18" charset="2"/>
                </a:rPr>
                <a:t></a:t>
              </a:r>
            </a:p>
          </p:txBody>
        </p:sp>
        <p:sp>
          <p:nvSpPr>
            <p:cNvPr id="396492" name="Freeform 204"/>
            <p:cNvSpPr/>
            <p:nvPr/>
          </p:nvSpPr>
          <p:spPr bwMode="auto">
            <a:xfrm>
              <a:off x="5504533" y="2349402"/>
              <a:ext cx="4017433" cy="2503487"/>
            </a:xfrm>
            <a:custGeom>
              <a:avLst/>
              <a:gdLst>
                <a:gd name="T0" fmla="*/ 0 w 2336"/>
                <a:gd name="T1" fmla="*/ 1577 h 1577"/>
                <a:gd name="T2" fmla="*/ 251 w 2336"/>
                <a:gd name="T3" fmla="*/ 1062 h 1577"/>
                <a:gd name="T4" fmla="*/ 794 w 2336"/>
                <a:gd name="T5" fmla="*/ 249 h 1577"/>
                <a:gd name="T6" fmla="*/ 1274 w 2336"/>
                <a:gd name="T7" fmla="*/ 27 h 1577"/>
                <a:gd name="T8" fmla="*/ 1661 w 2336"/>
                <a:gd name="T9" fmla="*/ 414 h 1577"/>
                <a:gd name="T10" fmla="*/ 2138 w 2336"/>
                <a:gd name="T11" fmla="*/ 1095 h 1577"/>
                <a:gd name="T12" fmla="*/ 2336 w 2336"/>
                <a:gd name="T13" fmla="*/ 1569 h 1577"/>
              </a:gdLst>
              <a:ahLst/>
              <a:cxnLst>
                <a:cxn ang="0">
                  <a:pos x="T0" y="T1"/>
                </a:cxn>
                <a:cxn ang="0">
                  <a:pos x="T2" y="T3"/>
                </a:cxn>
                <a:cxn ang="0">
                  <a:pos x="T4" y="T5"/>
                </a:cxn>
                <a:cxn ang="0">
                  <a:pos x="T6" y="T7"/>
                </a:cxn>
                <a:cxn ang="0">
                  <a:pos x="T8" y="T9"/>
                </a:cxn>
                <a:cxn ang="0">
                  <a:pos x="T10" y="T11"/>
                </a:cxn>
                <a:cxn ang="0">
                  <a:pos x="T12" y="T13"/>
                </a:cxn>
              </a:cxnLst>
              <a:rect l="0" t="0" r="r" b="b"/>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00000"/>
              </a:solidFill>
              <a:round/>
              <a:headEnd type="triangl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sp>
          <p:nvSpPr>
            <p:cNvPr id="396493" name="Line 205"/>
            <p:cNvSpPr>
              <a:spLocks noChangeShapeType="1"/>
            </p:cNvSpPr>
            <p:nvPr/>
          </p:nvSpPr>
          <p:spPr bwMode="auto">
            <a:xfrm>
              <a:off x="6362710" y="3440525"/>
              <a:ext cx="2340636" cy="0"/>
            </a:xfrm>
            <a:prstGeom prst="line">
              <a:avLst/>
            </a:prstGeom>
            <a:noFill/>
            <a:ln w="76200">
              <a:solidFill>
                <a:srgbClr val="0000FF"/>
              </a:solidFill>
              <a:prstDash val="sysDot"/>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anose="020B0604020202020204" pitchFamily="34" charset="0"/>
                <a:ea typeface="黑体" panose="02010609060101010101" pitchFamily="2" charset="-122"/>
                <a:cs typeface="Arial" panose="020B0604020202020204" pitchFamily="34" charset="0"/>
              </a:endParaRPr>
            </a:p>
          </p:txBody>
        </p:sp>
      </p:grpSp>
      <p:sp>
        <p:nvSpPr>
          <p:cNvPr id="8" name="矩形 7"/>
          <p:cNvSpPr/>
          <p:nvPr/>
        </p:nvSpPr>
        <p:spPr>
          <a:xfrm>
            <a:off x="885914" y="5589240"/>
            <a:ext cx="8586510" cy="461665"/>
          </a:xfrm>
          <a:prstGeom prst="rect">
            <a:avLst/>
          </a:prstGeom>
        </p:spPr>
        <p:txBody>
          <a:bodyPr wrap="square">
            <a:spAutoFit/>
          </a:bodyPr>
          <a:lstStyle/>
          <a:p>
            <a:pPr algn="ctr"/>
            <a:r>
              <a:rPr lang="zh-CN" altLang="zh-CN" sz="2400" b="1" dirty="0">
                <a:latin typeface="Arial" panose="020B0604020202020204" pitchFamily="34" charset="0"/>
                <a:ea typeface="黑体" panose="02010609060101010101" pitchFamily="2" charset="-122"/>
                <a:cs typeface="Arial" panose="020B0604020202020204" pitchFamily="34" charset="0"/>
              </a:rPr>
              <a:t>基于</a:t>
            </a:r>
            <a:r>
              <a:rPr lang="en-US" altLang="zh-CN" sz="2400" b="1" dirty="0">
                <a:latin typeface="Arial" panose="020B0604020202020204" pitchFamily="34" charset="0"/>
                <a:ea typeface="黑体" panose="02010609060101010101" pitchFamily="2" charset="-122"/>
                <a:cs typeface="Arial" panose="020B0604020202020204" pitchFamily="34" charset="0"/>
              </a:rPr>
              <a:t> ISP </a:t>
            </a:r>
            <a:r>
              <a:rPr lang="zh-CN" altLang="zh-CN" sz="2400" b="1" dirty="0">
                <a:latin typeface="Arial" panose="020B0604020202020204" pitchFamily="34" charset="0"/>
                <a:ea typeface="黑体" panose="02010609060101010101" pitchFamily="2" charset="-122"/>
                <a:cs typeface="Arial" panose="020B0604020202020204" pitchFamily="34" charset="0"/>
              </a:rPr>
              <a:t>的多层结构的互联网的概念示意图</a:t>
            </a:r>
            <a:endParaRPr lang="zh-CN" altLang="en-US" sz="2400" b="1" dirty="0">
              <a:latin typeface="Arial" panose="020B0604020202020204" pitchFamily="34" charset="0"/>
              <a:ea typeface="黑体" panose="02010609060101010101" pitchFamily="2" charset="-122"/>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7" name="Text Box 7"/>
          <p:cNvSpPr txBox="1">
            <a:spLocks noChangeArrowheads="1"/>
          </p:cNvSpPr>
          <p:nvPr/>
        </p:nvSpPr>
        <p:spPr bwMode="auto">
          <a:xfrm>
            <a:off x="416496" y="188640"/>
            <a:ext cx="856895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solidFill>
                  <a:srgbClr val="000099"/>
                </a:solidFill>
                <a:latin typeface="Arial" panose="020B0604020202020204" pitchFamily="34" charset="0"/>
                <a:ea typeface="黑体" panose="02010609060101010101" pitchFamily="2" charset="-122"/>
                <a:cs typeface="Arial" panose="020B0604020202020204" pitchFamily="34" charset="0"/>
              </a:rPr>
              <a:t>到</a:t>
            </a:r>
            <a:r>
              <a:rPr lang="en-US"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2016 </a:t>
            </a:r>
            <a:r>
              <a:rPr lang="zh-CN"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年</a:t>
            </a:r>
            <a:r>
              <a:rPr lang="en-US"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 3 </a:t>
            </a:r>
            <a:r>
              <a:rPr lang="zh-CN"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月，全球已经有</a:t>
            </a:r>
            <a:r>
              <a:rPr lang="en-US"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 226 </a:t>
            </a:r>
            <a:r>
              <a:rPr lang="zh-CN"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个</a:t>
            </a:r>
            <a:r>
              <a:rPr lang="en-US"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 IXP</a:t>
            </a:r>
            <a:r>
              <a:rPr lang="zh-CN"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，分布在</a:t>
            </a:r>
            <a:r>
              <a:rPr lang="en-US"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 172 </a:t>
            </a:r>
            <a:r>
              <a:rPr lang="zh-CN"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个国家和地区</a:t>
            </a:r>
            <a:r>
              <a:rPr lang="zh-CN" altLang="en-US" sz="3200" b="1" dirty="0">
                <a:solidFill>
                  <a:srgbClr val="000099"/>
                </a:solidFill>
                <a:latin typeface="Arial" panose="020B0604020202020204" pitchFamily="34" charset="0"/>
                <a:ea typeface="黑体" panose="02010609060101010101" pitchFamily="2" charset="-122"/>
                <a:cs typeface="Arial" panose="020B0604020202020204" pitchFamily="34" charset="0"/>
              </a:rPr>
              <a:t>。但</a:t>
            </a:r>
            <a:r>
              <a:rPr lang="zh-CN" altLang="zh-CN" sz="3200" b="1" dirty="0">
                <a:solidFill>
                  <a:srgbClr val="000099"/>
                </a:solidFill>
                <a:latin typeface="Arial" panose="020B0604020202020204" pitchFamily="34" charset="0"/>
                <a:ea typeface="黑体" panose="02010609060101010101" pitchFamily="2" charset="-122"/>
                <a:cs typeface="Arial" panose="020B0604020202020204" pitchFamily="34" charset="0"/>
              </a:rPr>
              <a:t>互联网的发展在全世界还很不平衡</a:t>
            </a:r>
            <a:r>
              <a:rPr lang="zh-CN" altLang="en-US" sz="3200" b="1" dirty="0">
                <a:solidFill>
                  <a:srgbClr val="000099"/>
                </a:solidFill>
                <a:latin typeface="Arial" panose="020B0604020202020204" pitchFamily="34" charset="0"/>
                <a:ea typeface="黑体" panose="02010609060101010101" pitchFamily="2" charset="-122"/>
                <a:cs typeface="Arial" panose="020B0604020202020204" pitchFamily="34" charset="0"/>
              </a:rPr>
              <a:t>。</a:t>
            </a:r>
          </a:p>
        </p:txBody>
      </p:sp>
      <p:pic>
        <p:nvPicPr>
          <p:cNvPr id="7" name="图片 6"/>
          <p:cNvPicPr/>
          <p:nvPr/>
        </p:nvPicPr>
        <p:blipFill>
          <a:blip r:embed="rId2" cstate="print"/>
          <a:srcRect l="23654" t="16245" r="32539" b="43791"/>
          <a:stretch>
            <a:fillRect/>
          </a:stretch>
        </p:blipFill>
        <p:spPr bwMode="auto">
          <a:xfrm>
            <a:off x="2000672" y="1772816"/>
            <a:ext cx="6264696" cy="3830940"/>
          </a:xfrm>
          <a:prstGeom prst="rect">
            <a:avLst/>
          </a:prstGeom>
          <a:noFill/>
          <a:ln w="9525">
            <a:noFill/>
            <a:miter lim="800000"/>
            <a:headEnd/>
            <a:tailEnd/>
          </a:ln>
        </p:spPr>
      </p:pic>
      <p:sp>
        <p:nvSpPr>
          <p:cNvPr id="2" name="矩形 1"/>
          <p:cNvSpPr/>
          <p:nvPr/>
        </p:nvSpPr>
        <p:spPr>
          <a:xfrm>
            <a:off x="1136576" y="5675764"/>
            <a:ext cx="7992888" cy="461665"/>
          </a:xfrm>
          <a:prstGeom prst="rect">
            <a:avLst/>
          </a:prstGeom>
        </p:spPr>
        <p:txBody>
          <a:bodyPr wrap="square">
            <a:spAutoFit/>
          </a:bodyPr>
          <a:lstStyle/>
          <a:p>
            <a:pPr algn="ctr"/>
            <a:r>
              <a:rPr lang="zh-CN" altLang="zh-CN" sz="2400" b="1" dirty="0">
                <a:latin typeface="Arial" panose="020B0604020202020204" pitchFamily="34" charset="0"/>
                <a:ea typeface="黑体" panose="02010609060101010101" pitchFamily="2" charset="-122"/>
                <a:cs typeface="Arial" panose="020B0604020202020204" pitchFamily="34" charset="0"/>
              </a:rPr>
              <a:t>互联网交换点</a:t>
            </a:r>
            <a:r>
              <a:rPr lang="en-US" altLang="zh-CN" sz="2400" b="1" dirty="0">
                <a:latin typeface="Arial" panose="020B0604020202020204" pitchFamily="34" charset="0"/>
                <a:ea typeface="黑体" panose="02010609060101010101" pitchFamily="2" charset="-122"/>
                <a:cs typeface="Arial" panose="020B0604020202020204" pitchFamily="34" charset="0"/>
              </a:rPr>
              <a:t> IXP </a:t>
            </a:r>
            <a:r>
              <a:rPr lang="zh-CN" altLang="zh-CN" sz="2400" b="1" dirty="0">
                <a:latin typeface="Arial" panose="020B0604020202020204" pitchFamily="34" charset="0"/>
                <a:ea typeface="黑体" panose="02010609060101010101" pitchFamily="2" charset="-122"/>
                <a:cs typeface="Arial" panose="020B0604020202020204" pitchFamily="34" charset="0"/>
              </a:rPr>
              <a:t>在全球的分布图（</a:t>
            </a:r>
            <a:r>
              <a:rPr lang="en-US" altLang="zh-CN" sz="2400" b="1" dirty="0">
                <a:latin typeface="Arial" panose="020B0604020202020204" pitchFamily="34" charset="0"/>
                <a:ea typeface="黑体" panose="02010609060101010101" pitchFamily="2" charset="-122"/>
                <a:cs typeface="Arial" panose="020B0604020202020204" pitchFamily="34" charset="0"/>
              </a:rPr>
              <a:t>2016</a:t>
            </a:r>
            <a:r>
              <a:rPr lang="zh-CN" altLang="zh-CN" sz="2400" b="1" dirty="0">
                <a:latin typeface="Arial" panose="020B0604020202020204" pitchFamily="34" charset="0"/>
                <a:ea typeface="黑体" panose="02010609060101010101" pitchFamily="2" charset="-122"/>
                <a:cs typeface="Arial" panose="020B0604020202020204" pitchFamily="34" charset="0"/>
              </a:rPr>
              <a:t>年）</a:t>
            </a:r>
            <a:endParaRPr lang="zh-CN" altLang="en-US" sz="2400" b="1" dirty="0">
              <a:latin typeface="Arial" panose="020B0604020202020204" pitchFamily="34" charset="0"/>
              <a:ea typeface="黑体" panose="02010609060101010101" pitchFamily="2" charset="-122"/>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pPr algn="ctr"/>
            <a:r>
              <a:rPr lang="zh-CN" altLang="en-US" dirty="0"/>
              <a:t>万维网 </a:t>
            </a:r>
            <a:r>
              <a:rPr lang="en-US" altLang="zh-CN" b="1" dirty="0"/>
              <a:t>WWW </a:t>
            </a:r>
            <a:r>
              <a:rPr lang="zh-CN" altLang="en-US" b="1" dirty="0"/>
              <a:t>的问世</a:t>
            </a:r>
          </a:p>
        </p:txBody>
      </p:sp>
      <p:sp>
        <p:nvSpPr>
          <p:cNvPr id="316419" name="Rectangle 3"/>
          <p:cNvSpPr>
            <a:spLocks noGrp="1" noChangeArrowheads="1"/>
          </p:cNvSpPr>
          <p:nvPr>
            <p:ph idx="1"/>
          </p:nvPr>
        </p:nvSpPr>
        <p:spPr/>
        <p:txBody>
          <a:bodyPr/>
          <a:lstStyle/>
          <a:p>
            <a:r>
              <a:rPr lang="zh-CN" altLang="en-US" dirty="0"/>
              <a:t>互联网已经成为世界上规模最大和增长速率最快的计算机网络，没有人能够准确说出互联网究竟有多大。</a:t>
            </a:r>
          </a:p>
          <a:p>
            <a:r>
              <a:rPr lang="zh-CN" altLang="en-US" dirty="0"/>
              <a:t>互联网的迅猛发展始于 </a:t>
            </a:r>
            <a:r>
              <a:rPr lang="en-US" altLang="zh-CN" dirty="0"/>
              <a:t>20 </a:t>
            </a:r>
            <a:r>
              <a:rPr lang="zh-CN" altLang="en-US" dirty="0"/>
              <a:t>世纪 </a:t>
            </a:r>
            <a:r>
              <a:rPr lang="en-US" altLang="zh-CN" dirty="0"/>
              <a:t>90 </a:t>
            </a:r>
            <a:r>
              <a:rPr lang="zh-CN" altLang="en-US" dirty="0"/>
              <a:t>年代。由欧洲原子核研究组织 </a:t>
            </a:r>
            <a:r>
              <a:rPr lang="en-US" altLang="zh-CN" dirty="0"/>
              <a:t>CERN </a:t>
            </a:r>
            <a:r>
              <a:rPr lang="zh-CN" altLang="en-US" dirty="0"/>
              <a:t>开发的</a:t>
            </a:r>
            <a:r>
              <a:rPr lang="zh-CN" altLang="en-US" dirty="0">
                <a:solidFill>
                  <a:srgbClr val="FF0000"/>
                </a:solidFill>
              </a:rPr>
              <a:t>万维网 </a:t>
            </a:r>
            <a:r>
              <a:rPr lang="en-US" altLang="zh-CN" b="1" dirty="0">
                <a:solidFill>
                  <a:srgbClr val="FF0000"/>
                </a:solidFill>
              </a:rPr>
              <a:t>WWW</a:t>
            </a:r>
            <a:r>
              <a:rPr lang="en-US" altLang="zh-CN" dirty="0"/>
              <a:t>  (World Wide Web) </a:t>
            </a:r>
            <a:r>
              <a:rPr lang="zh-CN" altLang="en-US" dirty="0"/>
              <a:t>被广泛使用在互联网上，大大方便了广大非网络专业人员对网络的使用，成为互联网的这种指数级增长的主要驱动力。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pPr algn="ctr"/>
            <a:r>
              <a:rPr lang="zh-CN" altLang="en-US" dirty="0"/>
              <a:t>互联网的发展情况概况</a:t>
            </a:r>
          </a:p>
        </p:txBody>
      </p:sp>
      <p:sp>
        <p:nvSpPr>
          <p:cNvPr id="8" name="内容占位符 7"/>
          <p:cNvSpPr>
            <a:spLocks noGrp="1"/>
          </p:cNvSpPr>
          <p:nvPr>
            <p:ph sz="half" idx="1"/>
          </p:nvPr>
        </p:nvSpPr>
        <p:spPr>
          <a:xfrm>
            <a:off x="416496" y="1196752"/>
            <a:ext cx="3975722" cy="4934173"/>
          </a:xfrm>
        </p:spPr>
        <p:txBody>
          <a:bodyPr/>
          <a:lstStyle/>
          <a:p>
            <a:pPr>
              <a:lnSpc>
                <a:spcPct val="110000"/>
              </a:lnSpc>
              <a:spcBef>
                <a:spcPts val="600"/>
              </a:spcBef>
            </a:pPr>
            <a:r>
              <a:rPr lang="zh-CN" altLang="zh-CN" dirty="0"/>
              <a:t>从</a:t>
            </a:r>
            <a:r>
              <a:rPr lang="en-US" altLang="zh-CN" dirty="0"/>
              <a:t> 1993 </a:t>
            </a:r>
            <a:r>
              <a:rPr lang="zh-CN" altLang="zh-CN" dirty="0"/>
              <a:t>年至</a:t>
            </a:r>
            <a:r>
              <a:rPr lang="en-US" altLang="zh-CN" dirty="0"/>
              <a:t> 2016 </a:t>
            </a:r>
            <a:r>
              <a:rPr lang="zh-CN" altLang="zh-CN" dirty="0"/>
              <a:t>年互联网用户数的增长情况</a:t>
            </a:r>
            <a:r>
              <a:rPr lang="zh-CN" altLang="en-US" dirty="0"/>
              <a:t>如图所示</a:t>
            </a:r>
            <a:r>
              <a:rPr lang="zh-CN" altLang="zh-CN" dirty="0"/>
              <a:t>。</a:t>
            </a:r>
            <a:r>
              <a:rPr lang="zh-CN" altLang="zh-CN" dirty="0">
                <a:solidFill>
                  <a:srgbClr val="0000CC"/>
                </a:solidFill>
              </a:rPr>
              <a:t>这里的用户是指在家中上网的人</a:t>
            </a:r>
            <a:r>
              <a:rPr lang="zh-CN" altLang="en-US" dirty="0">
                <a:solidFill>
                  <a:srgbClr val="0000CC"/>
                </a:solidFill>
              </a:rPr>
              <a:t>。</a:t>
            </a:r>
            <a:endParaRPr lang="en-US" altLang="zh-CN" dirty="0">
              <a:solidFill>
                <a:srgbClr val="0000CC"/>
              </a:solidFill>
            </a:endParaRPr>
          </a:p>
          <a:p>
            <a:pPr>
              <a:lnSpc>
                <a:spcPct val="110000"/>
              </a:lnSpc>
              <a:spcBef>
                <a:spcPts val="600"/>
              </a:spcBef>
            </a:pPr>
            <a:r>
              <a:rPr lang="zh-CN" altLang="zh-CN" dirty="0"/>
              <a:t>可以看出，在</a:t>
            </a:r>
            <a:r>
              <a:rPr lang="en-US" altLang="zh-CN" dirty="0"/>
              <a:t> 2005 </a:t>
            </a:r>
            <a:r>
              <a:rPr lang="zh-CN" altLang="zh-CN" dirty="0"/>
              <a:t>年互联网的用户数超过了</a:t>
            </a:r>
            <a:r>
              <a:rPr lang="en-US" altLang="zh-CN" dirty="0"/>
              <a:t> 10 </a:t>
            </a:r>
            <a:r>
              <a:rPr lang="zh-CN" altLang="zh-CN" dirty="0"/>
              <a:t>亿，在</a:t>
            </a:r>
            <a:r>
              <a:rPr lang="en-US" altLang="zh-CN" dirty="0"/>
              <a:t> 2010 </a:t>
            </a:r>
            <a:r>
              <a:rPr lang="zh-CN" altLang="zh-CN" dirty="0"/>
              <a:t>年超过了</a:t>
            </a:r>
            <a:r>
              <a:rPr lang="en-US" altLang="zh-CN" dirty="0"/>
              <a:t> 20 </a:t>
            </a:r>
            <a:r>
              <a:rPr lang="zh-CN" altLang="zh-CN" dirty="0"/>
              <a:t>亿，而在</a:t>
            </a:r>
            <a:r>
              <a:rPr lang="en-US" altLang="zh-CN" dirty="0"/>
              <a:t>2014</a:t>
            </a:r>
            <a:r>
              <a:rPr lang="zh-CN" altLang="zh-CN" dirty="0"/>
              <a:t>年</a:t>
            </a:r>
            <a:r>
              <a:rPr lang="en-US" altLang="zh-CN" dirty="0"/>
              <a:t> </a:t>
            </a:r>
            <a:r>
              <a:rPr lang="zh-CN" altLang="zh-CN" dirty="0"/>
              <a:t>已接近了</a:t>
            </a:r>
            <a:r>
              <a:rPr lang="en-US" altLang="zh-CN" dirty="0"/>
              <a:t> 30</a:t>
            </a:r>
            <a:r>
              <a:rPr lang="zh-CN" altLang="zh-CN" dirty="0"/>
              <a:t>亿。</a:t>
            </a:r>
            <a:endParaRPr lang="zh-CN" altLang="en-US" dirty="0"/>
          </a:p>
        </p:txBody>
      </p:sp>
      <p:sp>
        <p:nvSpPr>
          <p:cNvPr id="3" name="Rectangle 2"/>
          <p:cNvSpPr>
            <a:spLocks noChangeArrowheads="1"/>
          </p:cNvSpPr>
          <p:nvPr/>
        </p:nvSpPr>
        <p:spPr bwMode="auto">
          <a:xfrm>
            <a:off x="0" y="0"/>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descr="Internet.jpg"/>
          <p:cNvPicPr>
            <a:picLocks noChangeAspect="1"/>
          </p:cNvPicPr>
          <p:nvPr/>
        </p:nvPicPr>
        <p:blipFill>
          <a:blip r:embed="rId3" cstate="print"/>
          <a:srcRect t="3774" r="14465" b="7547"/>
          <a:stretch>
            <a:fillRect/>
          </a:stretch>
        </p:blipFill>
        <p:spPr>
          <a:xfrm>
            <a:off x="4592960" y="1484784"/>
            <a:ext cx="5015866" cy="3888432"/>
          </a:xfrm>
          <a:prstGeom prst="rect">
            <a:avLst/>
          </a:prstGeom>
        </p:spPr>
      </p:pic>
      <p:sp>
        <p:nvSpPr>
          <p:cNvPr id="11" name="矩形 10"/>
          <p:cNvSpPr/>
          <p:nvPr/>
        </p:nvSpPr>
        <p:spPr>
          <a:xfrm>
            <a:off x="4749943" y="5661248"/>
            <a:ext cx="4892686" cy="400110"/>
          </a:xfrm>
          <a:prstGeom prst="rect">
            <a:avLst/>
          </a:prstGeom>
        </p:spPr>
        <p:txBody>
          <a:bodyPr wrap="none">
            <a:spAutoFit/>
          </a:bodyPr>
          <a:lstStyle/>
          <a:p>
            <a:pPr algn="ctr"/>
            <a:r>
              <a:rPr lang="en-US" altLang="zh-CN" sz="2000" b="1" dirty="0">
                <a:latin typeface="+mn-lt"/>
                <a:ea typeface="黑体" panose="02010609060101010101" pitchFamily="2" charset="-122"/>
              </a:rPr>
              <a:t>1993 </a:t>
            </a:r>
            <a:r>
              <a:rPr lang="zh-CN" altLang="zh-CN" sz="2000" b="1" dirty="0">
                <a:latin typeface="+mn-lt"/>
                <a:ea typeface="黑体" panose="02010609060101010101" pitchFamily="2" charset="-122"/>
              </a:rPr>
              <a:t>年至</a:t>
            </a:r>
            <a:r>
              <a:rPr lang="en-US" altLang="zh-CN" sz="2000" b="1" dirty="0">
                <a:latin typeface="+mn-lt"/>
                <a:ea typeface="黑体" panose="02010609060101010101" pitchFamily="2" charset="-122"/>
              </a:rPr>
              <a:t> 2016 </a:t>
            </a:r>
            <a:r>
              <a:rPr lang="zh-CN" altLang="zh-CN" sz="2000" b="1" dirty="0">
                <a:latin typeface="+mn-lt"/>
                <a:ea typeface="黑体" panose="02010609060101010101" pitchFamily="2" charset="-122"/>
              </a:rPr>
              <a:t>年互联网用户的增长情况</a:t>
            </a:r>
            <a:endParaRPr lang="zh-CN" altLang="en-US" sz="2000" b="1" dirty="0">
              <a:latin typeface="+mn-lt"/>
              <a:ea typeface="黑体" panose="0201060906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r>
              <a:rPr lang="zh-CN" altLang="en-US" dirty="0"/>
              <a:t>移动互联网发展情况</a:t>
            </a:r>
          </a:p>
        </p:txBody>
      </p:sp>
      <p:pic>
        <p:nvPicPr>
          <p:cNvPr id="3" name="图片 2"/>
          <p:cNvPicPr>
            <a:picLocks noChangeAspect="1"/>
          </p:cNvPicPr>
          <p:nvPr/>
        </p:nvPicPr>
        <p:blipFill rotWithShape="1">
          <a:blip r:embed="rId2"/>
          <a:srcRect t="12987"/>
          <a:stretch>
            <a:fillRect/>
          </a:stretch>
        </p:blipFill>
        <p:spPr>
          <a:xfrm>
            <a:off x="743930" y="1556792"/>
            <a:ext cx="8568952" cy="482453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计算机网络发展历程</a:t>
            </a:r>
            <a:endParaRPr lang="zh-CN" altLang="en-US"/>
          </a:p>
        </p:txBody>
      </p:sp>
      <p:pic>
        <p:nvPicPr>
          <p:cNvPr id="5" name="d8b52a9d00ebeefeb2a8931064f5777f">
            <a:hlinkClick r:id="" action="ppaction://media"/>
          </p:cNvPr>
          <p:cNvPicPr/>
          <p:nvPr>
            <a:videoFile r:link="rId2"/>
            <p:extLst>
              <p:ext uri="{DAA4B4D4-6D71-4841-9C94-3DE7FCFB9230}">
                <p14:media xmlns:p14="http://schemas.microsoft.com/office/powerpoint/2010/main" r:embed="rId1"/>
              </p:ext>
            </p:extLst>
          </p:nvPr>
        </p:nvPicPr>
        <p:blipFill>
          <a:blip r:embed="rId4"/>
          <a:stretch>
            <a:fillRect/>
          </a:stretch>
        </p:blipFill>
        <p:spPr>
          <a:xfrm>
            <a:off x="495300" y="1097280"/>
            <a:ext cx="9326245" cy="5595620"/>
          </a:xfrm>
          <a:prstGeom prst="rect">
            <a:avLst/>
          </a:prstGeom>
        </p:spPr>
      </p:pic>
    </p:spTree>
  </p:cSld>
  <p:clrMapOvr>
    <a:masterClrMapping/>
  </p:clrMapOvr>
  <p:timing>
    <p:tnLst>
      <p:par>
        <p:cTn id="1" dur="indefinite" restart="never" nodeType="tmRoot">
          <p:childTnLst>
            <p:video>
              <p:cMediaNode>
                <p:cTn id="2" fill="hold" display="1">
                  <p:stCondLst>
                    <p:cond delay="indefinite"/>
                  </p:stCondLst>
                  <p:endCondLst>
                    <p:cond evt="onNext" delay="0">
                      <p:tgtEl>
                        <p:sldTgt/>
                      </p:tgtEl>
                    </p:cond>
                    <p:cond evt="onPrev" delay="0">
                      <p:tgtEl>
                        <p:sldTgt/>
                      </p:tgtEl>
                    </p:cond>
                  </p:endCondLst>
                </p:cTn>
                <p:tgtEl>
                  <p:spTgt spid="5"/>
                </p:tgtEl>
              </p:cMediaNode>
            </p:video>
            <p:seq concurrent="1" nextAc="seek">
              <p:cTn id="3" restart="whenNotActive" fill="hold" evtFilter="cancelBubble" nodeType="interactiveSeq">
                <p:stCondLst>
                  <p:cond evt="onClick" delay="0">
                    <p:tgtEl>
                      <p:spTgt spid="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a:t>
            </a:r>
            <a:r>
              <a:rPr lang="zh-CN" altLang="zh-CN" dirty="0"/>
              <a:t>互联网</a:t>
            </a:r>
            <a:r>
              <a:rPr lang="zh-CN" altLang="en-US" dirty="0"/>
              <a:t>的组成</a:t>
            </a:r>
          </a:p>
        </p:txBody>
      </p:sp>
      <p:sp>
        <p:nvSpPr>
          <p:cNvPr id="3" name="内容占位符 2"/>
          <p:cNvSpPr>
            <a:spLocks noGrp="1"/>
          </p:cNvSpPr>
          <p:nvPr>
            <p:ph idx="1"/>
          </p:nvPr>
        </p:nvSpPr>
        <p:spPr/>
        <p:txBody>
          <a:bodyPr/>
          <a:lstStyle/>
          <a:p>
            <a:r>
              <a:rPr lang="en-US" altLang="zh-CN" dirty="0"/>
              <a:t>1.3.1  </a:t>
            </a:r>
            <a:r>
              <a:rPr lang="zh-CN" altLang="zh-CN" dirty="0"/>
              <a:t>互联网的边缘部分</a:t>
            </a:r>
          </a:p>
          <a:p>
            <a:r>
              <a:rPr lang="en-US" altLang="zh-CN" dirty="0"/>
              <a:t>1.3.2  </a:t>
            </a:r>
            <a:r>
              <a:rPr lang="zh-CN" altLang="zh-CN" dirty="0"/>
              <a:t>互联网的核心部分</a:t>
            </a:r>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en-US" altLang="zh-CN" dirty="0"/>
              <a:t>1.3  </a:t>
            </a:r>
            <a:r>
              <a:rPr lang="zh-CN" altLang="zh-CN" dirty="0"/>
              <a:t>互联网</a:t>
            </a:r>
            <a:r>
              <a:rPr lang="zh-CN" altLang="en-US" dirty="0"/>
              <a:t>的组成</a:t>
            </a:r>
          </a:p>
        </p:txBody>
      </p:sp>
      <p:sp>
        <p:nvSpPr>
          <p:cNvPr id="326659" name="Rectangle 3"/>
          <p:cNvSpPr>
            <a:spLocks noGrp="1" noChangeArrowheads="1"/>
          </p:cNvSpPr>
          <p:nvPr>
            <p:ph idx="1"/>
          </p:nvPr>
        </p:nvSpPr>
        <p:spPr/>
        <p:txBody>
          <a:bodyPr/>
          <a:lstStyle/>
          <a:p>
            <a:pPr>
              <a:buFont typeface="Wingdings" panose="05000000000000000000" pitchFamily="2" charset="2"/>
              <a:buNone/>
            </a:pPr>
            <a:r>
              <a:rPr lang="zh-CN" altLang="en-US" dirty="0"/>
              <a:t>从互联网的工作方式上看，可以划分为两大块：</a:t>
            </a:r>
          </a:p>
          <a:p>
            <a:pPr>
              <a:buNone/>
            </a:pPr>
            <a:r>
              <a:rPr lang="en-US" altLang="zh-CN" dirty="0"/>
              <a:t>(1) </a:t>
            </a:r>
            <a:r>
              <a:rPr lang="zh-CN" altLang="en-US" dirty="0">
                <a:solidFill>
                  <a:srgbClr val="FF0000"/>
                </a:solidFill>
              </a:rPr>
              <a:t>边缘部分：</a:t>
            </a:r>
            <a:r>
              <a:rPr lang="zh-CN" altLang="en-US" dirty="0"/>
              <a:t> 由所有连接在互联网上的主机组成。这部分是用户直接使用的，用来进行通信（传送数据、音频或视频）和资源共享。</a:t>
            </a:r>
          </a:p>
          <a:p>
            <a:pPr>
              <a:buFont typeface="Wingdings" panose="05000000000000000000" pitchFamily="2" charset="2"/>
              <a:buNone/>
            </a:pPr>
            <a:r>
              <a:rPr lang="en-US" altLang="zh-CN" dirty="0"/>
              <a:t>(2) </a:t>
            </a:r>
            <a:r>
              <a:rPr lang="zh-CN" altLang="en-US" dirty="0">
                <a:solidFill>
                  <a:srgbClr val="FF0000"/>
                </a:solidFill>
              </a:rPr>
              <a:t>核心部分：</a:t>
            </a:r>
            <a:r>
              <a:rPr lang="zh-CN" altLang="en-US" dirty="0"/>
              <a:t>由大量网络和连接这些网络的路由器组成。这部分是为边缘部分提供服务的（提供连通性和交换）。</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2519" y="1268760"/>
            <a:ext cx="8928993" cy="4536504"/>
            <a:chOff x="560511" y="1484784"/>
            <a:chExt cx="8928993" cy="4536504"/>
          </a:xfrm>
        </p:grpSpPr>
        <p:sp>
          <p:nvSpPr>
            <p:cNvPr id="328708" name="Oval 4"/>
            <p:cNvSpPr>
              <a:spLocks noChangeArrowheads="1"/>
            </p:cNvSpPr>
            <p:nvPr/>
          </p:nvSpPr>
          <p:spPr bwMode="auto">
            <a:xfrm>
              <a:off x="560511" y="1484784"/>
              <a:ext cx="8928993" cy="4536504"/>
            </a:xfrm>
            <a:prstGeom prst="ellipse">
              <a:avLst/>
            </a:prstGeom>
            <a:solidFill>
              <a:srgbClr val="99CCFF"/>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09" name="Oval 5"/>
            <p:cNvSpPr>
              <a:spLocks noChangeArrowheads="1"/>
            </p:cNvSpPr>
            <p:nvPr/>
          </p:nvSpPr>
          <p:spPr bwMode="auto">
            <a:xfrm>
              <a:off x="2000672" y="2569395"/>
              <a:ext cx="6264696" cy="2416968"/>
            </a:xfrm>
            <a:prstGeom prst="ellipse">
              <a:avLst/>
            </a:prstGeom>
            <a:solidFill>
              <a:schemeClr val="bg1"/>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32871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8649" y="2517801"/>
              <a:ext cx="5073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11"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9078" y="3203600"/>
              <a:ext cx="53657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28712" name="Group 8"/>
            <p:cNvGrpSpPr/>
            <p:nvPr/>
          </p:nvGrpSpPr>
          <p:grpSpPr bwMode="auto">
            <a:xfrm rot="-448665">
              <a:off x="2355844" y="3421516"/>
              <a:ext cx="1056180" cy="583958"/>
              <a:chOff x="2949" y="196"/>
              <a:chExt cx="941" cy="598"/>
            </a:xfrm>
          </p:grpSpPr>
          <p:sp>
            <p:nvSpPr>
              <p:cNvPr id="328713" name="Oval 9"/>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4"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5"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6" name="Oval 12"/>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7" name="Oval 13"/>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8"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9" name="Oval 15"/>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0" name="Oval 16"/>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1" name="Freeform 1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22" name="Freeform 1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23" name="Freeform 1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24" name="Group 20"/>
            <p:cNvGrpSpPr/>
            <p:nvPr/>
          </p:nvGrpSpPr>
          <p:grpSpPr bwMode="auto">
            <a:xfrm rot="-448665">
              <a:off x="7012926" y="3365998"/>
              <a:ext cx="1083171" cy="654849"/>
              <a:chOff x="2949" y="196"/>
              <a:chExt cx="941" cy="598"/>
            </a:xfrm>
          </p:grpSpPr>
          <p:sp>
            <p:nvSpPr>
              <p:cNvPr id="328725" name="Oval 21"/>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6"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7"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8" name="Oval 24"/>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9" name="Oval 25"/>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0"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1" name="Oval 27"/>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2" name="Oval 28"/>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3" name="Freeform 29"/>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34" name="Freeform 30"/>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35" name="Freeform 3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36" name="Group 32"/>
            <p:cNvGrpSpPr/>
            <p:nvPr/>
          </p:nvGrpSpPr>
          <p:grpSpPr bwMode="auto">
            <a:xfrm rot="-448665">
              <a:off x="3879465" y="4175623"/>
              <a:ext cx="1083171" cy="654849"/>
              <a:chOff x="2949" y="196"/>
              <a:chExt cx="941" cy="598"/>
            </a:xfrm>
          </p:grpSpPr>
          <p:sp>
            <p:nvSpPr>
              <p:cNvPr id="328737" name="Oval 33"/>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8"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9"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0" name="Oval 36"/>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1" name="Oval 37"/>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2"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3" name="Oval 39"/>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4" name="Oval 40"/>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5" name="Freeform 4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46" name="Freeform 42"/>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47" name="Freeform 43"/>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48" name="Group 44"/>
            <p:cNvGrpSpPr/>
            <p:nvPr/>
          </p:nvGrpSpPr>
          <p:grpSpPr bwMode="auto">
            <a:xfrm rot="-448665">
              <a:off x="5881305" y="4175666"/>
              <a:ext cx="1080797" cy="654849"/>
              <a:chOff x="2949" y="196"/>
              <a:chExt cx="941" cy="598"/>
            </a:xfrm>
          </p:grpSpPr>
          <p:sp>
            <p:nvSpPr>
              <p:cNvPr id="328749" name="Oval 45"/>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0"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1"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2" name="Oval 48"/>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3" name="Oval 49"/>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4"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5" name="Oval 51"/>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6" name="Oval 52"/>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7" name="Freeform 5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8" name="Freeform 5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9" name="Freeform 5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60" name="Group 56"/>
            <p:cNvGrpSpPr/>
            <p:nvPr/>
          </p:nvGrpSpPr>
          <p:grpSpPr bwMode="auto">
            <a:xfrm rot="-448665">
              <a:off x="4749647" y="2881856"/>
              <a:ext cx="1080797" cy="652715"/>
              <a:chOff x="2949" y="196"/>
              <a:chExt cx="941" cy="598"/>
            </a:xfrm>
          </p:grpSpPr>
          <p:sp>
            <p:nvSpPr>
              <p:cNvPr id="328761" name="Oval 57"/>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2"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3"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4" name="Oval 60"/>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5" name="Oval 61"/>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6"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7" name="Oval 63"/>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8" name="Oval 64"/>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9" name="Freeform 6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70" name="Freeform 6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71" name="Freeform 6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328772"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50212" y="4035450"/>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3"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3770" y="4357713"/>
              <a:ext cx="53485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4"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3947" y="4010050"/>
              <a:ext cx="53485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5"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1694" y="3040088"/>
              <a:ext cx="534856"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6"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6764" y="4600601"/>
              <a:ext cx="50561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7"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8957" y="3487762"/>
              <a:ext cx="5073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8"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0522" y="2336826"/>
              <a:ext cx="5073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9"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6491" y="5107012"/>
              <a:ext cx="505619"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80"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6047" y="4519638"/>
              <a:ext cx="5073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81"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912" y="3327426"/>
              <a:ext cx="50561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782" name="Text Box 78"/>
            <p:cNvSpPr txBox="1">
              <a:spLocks noChangeArrowheads="1"/>
            </p:cNvSpPr>
            <p:nvPr/>
          </p:nvSpPr>
          <p:spPr bwMode="auto">
            <a:xfrm>
              <a:off x="3818290" y="3615407"/>
              <a:ext cx="2646878" cy="461665"/>
            </a:xfrm>
            <a:prstGeom prst="rect">
              <a:avLst/>
            </a:prstGeom>
            <a:solidFill>
              <a:srgbClr val="FFFF00"/>
            </a:solidFill>
            <a:ln w="9525">
              <a:solidFill>
                <a:schemeClr val="tx1"/>
              </a:solidFill>
              <a:miter lim="800000"/>
            </a:ln>
            <a:effectLst/>
          </p:spPr>
          <p:txBody>
            <a:bodyPr wrap="none">
              <a:spAutoFit/>
            </a:bodyPr>
            <a:lstStyle>
              <a:defPPr>
                <a:defRPr lang="en-US"/>
              </a:defPPr>
              <a:lvl1pPr>
                <a:defRPr sz="2400">
                  <a:solidFill>
                    <a:srgbClr val="333399"/>
                  </a:solidFill>
                  <a:ea typeface="黑体" panose="02010609060101010101" pitchFamily="2" charset="-122"/>
                </a:defRPr>
              </a:lvl1pPr>
            </a:lstStyle>
            <a:p>
              <a:r>
                <a:rPr lang="zh-CN" altLang="en-US" dirty="0"/>
                <a:t>互联网的核心部分</a:t>
              </a:r>
            </a:p>
          </p:txBody>
        </p:sp>
        <p:sp>
          <p:nvSpPr>
            <p:cNvPr id="328783" name="Text Box 79"/>
            <p:cNvSpPr txBox="1">
              <a:spLocks noChangeArrowheads="1"/>
            </p:cNvSpPr>
            <p:nvPr/>
          </p:nvSpPr>
          <p:spPr bwMode="auto">
            <a:xfrm>
              <a:off x="3818290" y="1844824"/>
              <a:ext cx="2646878" cy="461665"/>
            </a:xfrm>
            <a:prstGeom prst="rect">
              <a:avLst/>
            </a:prstGeom>
            <a:solidFill>
              <a:srgbClr val="FFFF00"/>
            </a:solidFill>
            <a:ln w="9525">
              <a:solidFill>
                <a:schemeClr val="tx1"/>
              </a:solidFill>
              <a:miter lim="800000"/>
            </a:ln>
            <a:effectLst/>
          </p:spPr>
          <p:txBody>
            <a:bodyPr wrap="none">
              <a:spAutoFit/>
            </a:bodyPr>
            <a:lstStyle/>
            <a:p>
              <a:r>
                <a:rPr lang="zh-CN" altLang="en-US" sz="2400" dirty="0">
                  <a:solidFill>
                    <a:srgbClr val="333399"/>
                  </a:solidFill>
                  <a:ea typeface="黑体" panose="02010609060101010101" pitchFamily="2" charset="-122"/>
                </a:rPr>
                <a:t>互联网的边缘部分</a:t>
              </a:r>
            </a:p>
          </p:txBody>
        </p:sp>
        <p:sp>
          <p:nvSpPr>
            <p:cNvPr id="328784" name="Text Box 80"/>
            <p:cNvSpPr txBox="1">
              <a:spLocks noChangeArrowheads="1"/>
            </p:cNvSpPr>
            <p:nvPr/>
          </p:nvSpPr>
          <p:spPr bwMode="auto">
            <a:xfrm>
              <a:off x="1712640" y="2132856"/>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anose="02010609060101010101" pitchFamily="2" charset="-122"/>
                </a:rPr>
                <a:t>主机</a:t>
              </a:r>
            </a:p>
          </p:txBody>
        </p:sp>
        <p:sp>
          <p:nvSpPr>
            <p:cNvPr id="328785" name="Text Box 81"/>
            <p:cNvSpPr txBox="1">
              <a:spLocks noChangeArrowheads="1"/>
            </p:cNvSpPr>
            <p:nvPr/>
          </p:nvSpPr>
          <p:spPr bwMode="auto">
            <a:xfrm>
              <a:off x="2496597" y="303934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anose="02010609060101010101" pitchFamily="2" charset="-122"/>
                </a:rPr>
                <a:t>网络</a:t>
              </a:r>
            </a:p>
          </p:txBody>
        </p:sp>
        <p:sp>
          <p:nvSpPr>
            <p:cNvPr id="328786" name="Text Box 82"/>
            <p:cNvSpPr txBox="1">
              <a:spLocks noChangeArrowheads="1"/>
            </p:cNvSpPr>
            <p:nvPr/>
          </p:nvSpPr>
          <p:spPr bwMode="auto">
            <a:xfrm>
              <a:off x="3296816" y="2823319"/>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anose="02010609060101010101" pitchFamily="2" charset="-122"/>
                </a:rPr>
                <a:t>路由器</a:t>
              </a:r>
            </a:p>
          </p:txBody>
        </p:sp>
      </p:grpSp>
      <p:sp>
        <p:nvSpPr>
          <p:cNvPr id="3" name="标题 2"/>
          <p:cNvSpPr>
            <a:spLocks noGrp="1"/>
          </p:cNvSpPr>
          <p:nvPr>
            <p:ph type="title"/>
          </p:nvPr>
        </p:nvSpPr>
        <p:spPr/>
        <p:txBody>
          <a:bodyPr/>
          <a:lstStyle/>
          <a:p>
            <a:pPr algn="ctr"/>
            <a:r>
              <a:rPr lang="zh-CN" altLang="en-US" dirty="0"/>
              <a:t>互联网的边缘部分与核心部分</a:t>
            </a:r>
          </a:p>
        </p:txBody>
      </p:sp>
      <p:sp>
        <p:nvSpPr>
          <p:cNvPr id="6" name="矩形 5"/>
          <p:cNvSpPr/>
          <p:nvPr/>
        </p:nvSpPr>
        <p:spPr>
          <a:xfrm>
            <a:off x="2701787" y="5919663"/>
            <a:ext cx="5131533" cy="461665"/>
          </a:xfrm>
          <a:prstGeom prst="rect">
            <a:avLst/>
          </a:prstGeom>
        </p:spPr>
        <p:txBody>
          <a:bodyPr wrap="square">
            <a:spAutoFit/>
          </a:bodyPr>
          <a:lstStyle/>
          <a:p>
            <a:pPr algn="ctr"/>
            <a:r>
              <a:rPr lang="zh-CN" altLang="zh-CN" sz="2400" b="1" dirty="0">
                <a:latin typeface="+mn-lt"/>
                <a:ea typeface="黑体" panose="02010609060101010101" pitchFamily="2" charset="-122"/>
              </a:rPr>
              <a:t>互联网的边缘部分与核心部分</a:t>
            </a:r>
            <a:endParaRPr lang="zh-CN" altLang="en-US" sz="2400" b="1" dirty="0">
              <a:latin typeface="+mn-lt"/>
              <a:ea typeface="黑体" panose="0201060906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altLang="zh-CN" dirty="0"/>
              <a:t>1.3.1  </a:t>
            </a:r>
            <a:r>
              <a:rPr lang="zh-CN" altLang="en-US" dirty="0"/>
              <a:t>互联网的边缘部分</a:t>
            </a:r>
          </a:p>
        </p:txBody>
      </p:sp>
      <p:sp>
        <p:nvSpPr>
          <p:cNvPr id="330755" name="Rectangle 3"/>
          <p:cNvSpPr>
            <a:spLocks noGrp="1" noChangeArrowheads="1"/>
          </p:cNvSpPr>
          <p:nvPr>
            <p:ph idx="1"/>
          </p:nvPr>
        </p:nvSpPr>
        <p:spPr/>
        <p:txBody>
          <a:bodyPr/>
          <a:lstStyle/>
          <a:p>
            <a:r>
              <a:rPr lang="zh-CN" altLang="en-US" dirty="0"/>
              <a:t>处在互联网边缘的部分就是连接在互联网上的所有的主机。这些主机又称为</a:t>
            </a:r>
            <a:r>
              <a:rPr lang="zh-CN" altLang="en-US" dirty="0">
                <a:solidFill>
                  <a:srgbClr val="FF0000"/>
                </a:solidFill>
              </a:rPr>
              <a:t>端系统 </a:t>
            </a:r>
            <a:r>
              <a:rPr lang="en-US" altLang="zh-CN" dirty="0"/>
              <a:t>(end system)</a:t>
            </a:r>
            <a:r>
              <a:rPr lang="zh-CN" altLang="en-US" dirty="0"/>
              <a:t>。</a:t>
            </a:r>
          </a:p>
          <a:p>
            <a:r>
              <a:rPr lang="zh-CN" altLang="zh-CN" dirty="0">
                <a:solidFill>
                  <a:srgbClr val="FF0000"/>
                </a:solidFill>
              </a:rPr>
              <a:t>端系统在功能上可能有很大的差别</a:t>
            </a:r>
            <a:endParaRPr lang="en-US" altLang="zh-CN" dirty="0">
              <a:solidFill>
                <a:srgbClr val="FF0000"/>
              </a:solidFill>
            </a:endParaRPr>
          </a:p>
          <a:p>
            <a:pPr lvl="1"/>
            <a:r>
              <a:rPr lang="zh-CN" altLang="zh-CN" dirty="0"/>
              <a:t>小的端系统可以是一台普通个人电脑</a:t>
            </a:r>
            <a:r>
              <a:rPr lang="zh-CN" altLang="en-US" dirty="0"/>
              <a:t>，</a:t>
            </a:r>
            <a:r>
              <a:rPr lang="zh-CN" altLang="zh-CN" dirty="0"/>
              <a:t>具有上网功能的智能手机，甚至是一个很小的网络摄像头</a:t>
            </a:r>
            <a:r>
              <a:rPr lang="zh-CN" altLang="en-US" dirty="0"/>
              <a:t>。</a:t>
            </a:r>
            <a:endParaRPr lang="en-US" altLang="zh-CN" dirty="0"/>
          </a:p>
          <a:p>
            <a:pPr lvl="1"/>
            <a:r>
              <a:rPr lang="zh-CN" altLang="zh-CN" dirty="0"/>
              <a:t>大的端系统则可以是一台非常昂贵的大型计算机。</a:t>
            </a:r>
            <a:endParaRPr lang="en-US" altLang="zh-CN" dirty="0"/>
          </a:p>
          <a:p>
            <a:pPr lvl="1"/>
            <a:r>
              <a:rPr lang="zh-CN" altLang="zh-CN" dirty="0"/>
              <a:t>端系统的拥有者可以是个人，也可以是单位（如学校、企业、政府机关等），当然也可以是某个</a:t>
            </a:r>
            <a:r>
              <a:rPr lang="en-US" altLang="zh-CN" dirty="0"/>
              <a:t> ISP</a:t>
            </a:r>
            <a:r>
              <a:rPr lang="zh-CN" altLang="en-US"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pPr algn="ctr"/>
            <a:r>
              <a:rPr lang="zh-CN" altLang="en-US" dirty="0"/>
              <a:t>端系统之间通信的含义</a:t>
            </a:r>
          </a:p>
        </p:txBody>
      </p:sp>
      <p:sp>
        <p:nvSpPr>
          <p:cNvPr id="330755" name="Rectangle 3"/>
          <p:cNvSpPr>
            <a:spLocks noGrp="1" noChangeArrowheads="1"/>
          </p:cNvSpPr>
          <p:nvPr>
            <p:ph idx="1"/>
          </p:nvPr>
        </p:nvSpPr>
        <p:spPr/>
        <p:txBody>
          <a:bodyPr/>
          <a:lstStyle/>
          <a:p>
            <a:r>
              <a:rPr lang="zh-CN" altLang="en-US" dirty="0"/>
              <a:t> “主机 </a:t>
            </a:r>
            <a:r>
              <a:rPr lang="en-US" altLang="zh-CN" dirty="0"/>
              <a:t>A </a:t>
            </a:r>
            <a:r>
              <a:rPr lang="zh-CN" altLang="en-US" dirty="0"/>
              <a:t>和主机 </a:t>
            </a:r>
            <a:r>
              <a:rPr lang="en-US" altLang="zh-CN" dirty="0"/>
              <a:t>B </a:t>
            </a:r>
            <a:r>
              <a:rPr lang="zh-CN" altLang="en-US" dirty="0"/>
              <a:t>进行通信”实际上是指：</a:t>
            </a:r>
            <a:r>
              <a:rPr lang="zh-CN" altLang="en-US" dirty="0">
                <a:solidFill>
                  <a:srgbClr val="FF0000"/>
                </a:solidFill>
              </a:rPr>
              <a:t>“运行在主机 </a:t>
            </a:r>
            <a:r>
              <a:rPr lang="en-US" altLang="zh-CN" dirty="0">
                <a:solidFill>
                  <a:srgbClr val="FF0000"/>
                </a:solidFill>
              </a:rPr>
              <a:t>A </a:t>
            </a:r>
            <a:r>
              <a:rPr lang="zh-CN" altLang="en-US" dirty="0">
                <a:solidFill>
                  <a:srgbClr val="FF0000"/>
                </a:solidFill>
              </a:rPr>
              <a:t>上的某个程序和运行在主机 </a:t>
            </a:r>
            <a:r>
              <a:rPr lang="en-US" altLang="zh-CN" dirty="0">
                <a:solidFill>
                  <a:srgbClr val="FF0000"/>
                </a:solidFill>
              </a:rPr>
              <a:t>B </a:t>
            </a:r>
            <a:r>
              <a:rPr lang="zh-CN" altLang="en-US" dirty="0">
                <a:solidFill>
                  <a:srgbClr val="FF0000"/>
                </a:solidFill>
              </a:rPr>
              <a:t>上的另一个程序进行通信”</a:t>
            </a:r>
            <a:r>
              <a:rPr lang="zh-CN" altLang="en-US" dirty="0"/>
              <a:t>。</a:t>
            </a:r>
          </a:p>
        </p:txBody>
      </p:sp>
      <p:sp>
        <p:nvSpPr>
          <p:cNvPr id="2" name="矩形 1"/>
          <p:cNvSpPr/>
          <p:nvPr/>
        </p:nvSpPr>
        <p:spPr>
          <a:xfrm>
            <a:off x="992560" y="2924944"/>
            <a:ext cx="8208912" cy="1569660"/>
          </a:xfrm>
          <a:prstGeom prst="rect">
            <a:avLst/>
          </a:prstGeom>
          <a:solidFill>
            <a:srgbClr val="000099"/>
          </a:solidFill>
        </p:spPr>
        <p:txBody>
          <a:bodyPr wrap="square">
            <a:spAutoFit/>
          </a:bodyPr>
          <a:lstStyle/>
          <a:p>
            <a:r>
              <a:rPr lang="zh-CN" altLang="en-US" sz="3200" b="1" dirty="0">
                <a:solidFill>
                  <a:schemeClr val="bg1"/>
                </a:solidFill>
                <a:latin typeface="+mn-lt"/>
                <a:ea typeface="黑体" panose="02010609060101010101" pitchFamily="2" charset="-122"/>
              </a:rPr>
              <a:t>即“主机 </a:t>
            </a:r>
            <a:r>
              <a:rPr lang="en-US" altLang="zh-CN" sz="3200" b="1" dirty="0">
                <a:solidFill>
                  <a:schemeClr val="bg1"/>
                </a:solidFill>
                <a:latin typeface="+mn-lt"/>
                <a:ea typeface="黑体" panose="02010609060101010101" pitchFamily="2" charset="-122"/>
              </a:rPr>
              <a:t>A </a:t>
            </a:r>
            <a:r>
              <a:rPr lang="zh-CN" altLang="en-US" sz="3200" b="1" dirty="0">
                <a:solidFill>
                  <a:schemeClr val="bg1"/>
                </a:solidFill>
                <a:latin typeface="+mn-lt"/>
                <a:ea typeface="黑体" panose="02010609060101010101" pitchFamily="2" charset="-122"/>
              </a:rPr>
              <a:t>的某个进程和主机 </a:t>
            </a:r>
            <a:r>
              <a:rPr lang="en-US" altLang="zh-CN" sz="3200" b="1" dirty="0">
                <a:solidFill>
                  <a:schemeClr val="bg1"/>
                </a:solidFill>
                <a:latin typeface="+mn-lt"/>
                <a:ea typeface="黑体" panose="02010609060101010101" pitchFamily="2" charset="-122"/>
              </a:rPr>
              <a:t>B </a:t>
            </a:r>
            <a:r>
              <a:rPr lang="zh-CN" altLang="en-US" sz="3200" b="1" dirty="0">
                <a:solidFill>
                  <a:schemeClr val="bg1"/>
                </a:solidFill>
                <a:latin typeface="+mn-lt"/>
                <a:ea typeface="黑体" panose="02010609060101010101" pitchFamily="2" charset="-122"/>
              </a:rPr>
              <a:t>上的另一个进程进行通信”。</a:t>
            </a:r>
            <a:endParaRPr lang="en-US" altLang="zh-CN" sz="3200" b="1" dirty="0">
              <a:solidFill>
                <a:schemeClr val="bg1"/>
              </a:solidFill>
              <a:latin typeface="+mn-lt"/>
              <a:ea typeface="黑体" panose="02010609060101010101" pitchFamily="2" charset="-122"/>
            </a:endParaRPr>
          </a:p>
          <a:p>
            <a:r>
              <a:rPr lang="zh-CN" altLang="en-US" sz="3200" b="1" dirty="0">
                <a:solidFill>
                  <a:schemeClr val="bg1"/>
                </a:solidFill>
                <a:latin typeface="+mn-lt"/>
                <a:ea typeface="黑体" panose="02010609060101010101" pitchFamily="2" charset="-122"/>
              </a:rPr>
              <a:t>简称为“计算机之间通信”。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pPr algn="ctr"/>
            <a:r>
              <a:rPr lang="zh-CN" altLang="en-US" dirty="0"/>
              <a:t>端系统之间的两种通信方式</a:t>
            </a:r>
          </a:p>
        </p:txBody>
      </p:sp>
      <p:sp>
        <p:nvSpPr>
          <p:cNvPr id="332803" name="Rectangle 3"/>
          <p:cNvSpPr>
            <a:spLocks noGrp="1" noChangeArrowheads="1"/>
          </p:cNvSpPr>
          <p:nvPr>
            <p:ph idx="1"/>
          </p:nvPr>
        </p:nvSpPr>
        <p:spPr/>
        <p:txBody>
          <a:bodyPr/>
          <a:lstStyle/>
          <a:p>
            <a:pPr>
              <a:buNone/>
            </a:pPr>
            <a:r>
              <a:rPr lang="en-US" altLang="zh-CN" dirty="0"/>
              <a:t>	</a:t>
            </a:r>
            <a:r>
              <a:rPr lang="zh-CN" altLang="zh-CN" dirty="0"/>
              <a:t>端系统之间的通信方式</a:t>
            </a:r>
            <a:r>
              <a:rPr lang="zh-CN" altLang="en-US" dirty="0"/>
              <a:t>通常可划分为两大类：</a:t>
            </a:r>
          </a:p>
          <a:p>
            <a:r>
              <a:rPr lang="zh-CN" altLang="en-US" dirty="0">
                <a:solidFill>
                  <a:srgbClr val="FF0000"/>
                </a:solidFill>
              </a:rPr>
              <a:t>客户</a:t>
            </a:r>
            <a:r>
              <a:rPr lang="zh-CN" altLang="en-US" dirty="0">
                <a:solidFill>
                  <a:srgbClr val="FF0000"/>
                </a:solidFill>
                <a:sym typeface="Symbol" panose="05050102010706020507" pitchFamily="18" charset="2"/>
              </a:rPr>
              <a:t></a:t>
            </a:r>
            <a:r>
              <a:rPr lang="zh-CN" altLang="en-US" dirty="0">
                <a:solidFill>
                  <a:srgbClr val="FF0000"/>
                </a:solidFill>
              </a:rPr>
              <a:t>服务器方式</a:t>
            </a:r>
            <a:r>
              <a:rPr lang="zh-CN" altLang="en-US" dirty="0"/>
              <a:t>（</a:t>
            </a:r>
            <a:r>
              <a:rPr lang="en-US" altLang="zh-CN" dirty="0"/>
              <a:t>C/S </a:t>
            </a:r>
            <a:r>
              <a:rPr lang="zh-CN" altLang="en-US" dirty="0"/>
              <a:t>方式）</a:t>
            </a:r>
          </a:p>
          <a:p>
            <a:pPr>
              <a:buNone/>
            </a:pPr>
            <a:r>
              <a:rPr lang="en-US" altLang="zh-CN" dirty="0"/>
              <a:t>	</a:t>
            </a:r>
            <a:r>
              <a:rPr lang="zh-CN" altLang="en-US" dirty="0"/>
              <a:t>即 </a:t>
            </a:r>
            <a:r>
              <a:rPr lang="en-US" altLang="zh-CN" dirty="0"/>
              <a:t>Client/Server </a:t>
            </a:r>
            <a:r>
              <a:rPr lang="zh-CN" altLang="en-US" dirty="0"/>
              <a:t>方式，简称为 </a:t>
            </a:r>
            <a:r>
              <a:rPr lang="en-US" altLang="zh-CN" dirty="0"/>
              <a:t>C/S </a:t>
            </a:r>
            <a:r>
              <a:rPr lang="zh-CN" altLang="en-US" dirty="0"/>
              <a:t>方式。 </a:t>
            </a:r>
          </a:p>
          <a:p>
            <a:r>
              <a:rPr lang="zh-CN" altLang="en-US" dirty="0">
                <a:solidFill>
                  <a:srgbClr val="FF0000"/>
                </a:solidFill>
              </a:rPr>
              <a:t>对等方式</a:t>
            </a:r>
            <a:r>
              <a:rPr lang="zh-CN" altLang="en-US" dirty="0"/>
              <a:t>（</a:t>
            </a:r>
            <a:r>
              <a:rPr lang="en-US" altLang="zh-CN" dirty="0"/>
              <a:t>P2P </a:t>
            </a:r>
            <a:r>
              <a:rPr lang="zh-CN" altLang="en-US" dirty="0"/>
              <a:t>方式）</a:t>
            </a:r>
          </a:p>
          <a:p>
            <a:pPr>
              <a:buNone/>
            </a:pPr>
            <a:r>
              <a:rPr lang="zh-CN" altLang="en-US" dirty="0"/>
              <a:t>   即 </a:t>
            </a:r>
            <a:r>
              <a:rPr lang="en-US" altLang="zh-CN" dirty="0"/>
              <a:t>Peer</a:t>
            </a:r>
            <a:r>
              <a:rPr lang="zh-CN" altLang="en-US" dirty="0">
                <a:sym typeface="Symbol" panose="05050102010706020507" pitchFamily="18" charset="2"/>
              </a:rPr>
              <a:t></a:t>
            </a:r>
            <a:r>
              <a:rPr lang="en-US" altLang="zh-CN" dirty="0"/>
              <a:t>to</a:t>
            </a:r>
            <a:r>
              <a:rPr lang="zh-CN" altLang="en-US" dirty="0">
                <a:sym typeface="Symbol" panose="05050102010706020507" pitchFamily="18" charset="2"/>
              </a:rPr>
              <a:t></a:t>
            </a:r>
            <a:r>
              <a:rPr lang="en-US" altLang="zh-CN" dirty="0"/>
              <a:t>Peer </a:t>
            </a:r>
            <a:r>
              <a:rPr lang="zh-CN" altLang="en-US" dirty="0"/>
              <a:t>方式 ，简称为 </a:t>
            </a:r>
            <a:r>
              <a:rPr lang="en-US" altLang="zh-CN" dirty="0"/>
              <a:t>P2P </a:t>
            </a:r>
            <a:r>
              <a:rPr lang="zh-CN" altLang="en-US" dirty="0"/>
              <a:t>方式。</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pPr marL="838200" indent="-838200"/>
            <a:r>
              <a:rPr lang="en-US" altLang="zh-CN" dirty="0"/>
              <a:t>1.  </a:t>
            </a:r>
            <a:r>
              <a:rPr lang="zh-CN" altLang="en-US" dirty="0"/>
              <a:t>客户</a:t>
            </a:r>
            <a:r>
              <a:rPr lang="zh-CN" altLang="en-US" dirty="0">
                <a:sym typeface="Symbol" panose="05050102010706020507" pitchFamily="18" charset="2"/>
              </a:rPr>
              <a:t></a:t>
            </a:r>
            <a:r>
              <a:rPr lang="zh-CN" altLang="en-US" dirty="0"/>
              <a:t>服务器方式</a:t>
            </a:r>
          </a:p>
        </p:txBody>
      </p:sp>
      <p:sp>
        <p:nvSpPr>
          <p:cNvPr id="343043" name="Rectangle 3"/>
          <p:cNvSpPr>
            <a:spLocks noGrp="1" noChangeArrowheads="1"/>
          </p:cNvSpPr>
          <p:nvPr>
            <p:ph idx="1"/>
          </p:nvPr>
        </p:nvSpPr>
        <p:spPr/>
        <p:txBody>
          <a:bodyPr/>
          <a:lstStyle/>
          <a:p>
            <a:r>
              <a:rPr lang="zh-CN" altLang="en-US" dirty="0">
                <a:solidFill>
                  <a:srgbClr val="FF0000"/>
                </a:solidFill>
              </a:rPr>
              <a:t>客户 </a:t>
            </a:r>
            <a:r>
              <a:rPr lang="en-US" altLang="zh-CN" dirty="0"/>
              <a:t>(client) </a:t>
            </a:r>
            <a:r>
              <a:rPr lang="zh-CN" altLang="en-US" dirty="0"/>
              <a:t>和</a:t>
            </a:r>
            <a:r>
              <a:rPr lang="zh-CN" altLang="en-US" dirty="0">
                <a:solidFill>
                  <a:srgbClr val="FF0000"/>
                </a:solidFill>
              </a:rPr>
              <a:t>服务器 </a:t>
            </a:r>
            <a:r>
              <a:rPr lang="en-US" altLang="zh-CN" dirty="0"/>
              <a:t>(server) </a:t>
            </a:r>
            <a:r>
              <a:rPr lang="zh-CN" altLang="en-US" dirty="0"/>
              <a:t>都是指通信中所涉及的两个应用进程。</a:t>
            </a:r>
          </a:p>
          <a:p>
            <a:r>
              <a:rPr lang="zh-CN" altLang="en-US" dirty="0"/>
              <a:t>客户</a:t>
            </a:r>
            <a:r>
              <a:rPr lang="zh-CN" altLang="en-US" dirty="0">
                <a:sym typeface="Symbol" panose="05050102010706020507" pitchFamily="18" charset="2"/>
              </a:rPr>
              <a:t></a:t>
            </a:r>
            <a:r>
              <a:rPr lang="zh-CN" altLang="en-US" dirty="0"/>
              <a:t>服务器方式所描述的是进程之间服务和被服务的关系。</a:t>
            </a:r>
          </a:p>
          <a:p>
            <a:r>
              <a:rPr lang="zh-CN" altLang="en-US" dirty="0"/>
              <a:t>客户是</a:t>
            </a:r>
            <a:r>
              <a:rPr lang="zh-CN" altLang="en-US" dirty="0">
                <a:solidFill>
                  <a:srgbClr val="0000CC"/>
                </a:solidFill>
              </a:rPr>
              <a:t>服务的请求方</a:t>
            </a:r>
            <a:r>
              <a:rPr lang="zh-CN" altLang="en-US" dirty="0"/>
              <a:t>，服务器是</a:t>
            </a:r>
            <a:r>
              <a:rPr lang="zh-CN" altLang="en-US" dirty="0">
                <a:solidFill>
                  <a:srgbClr val="0000CC"/>
                </a:solidFill>
              </a:rPr>
              <a:t>服务的提供方</a:t>
            </a:r>
            <a:r>
              <a:rPr lang="zh-CN" altLang="en-US" dirty="0"/>
              <a:t>。</a:t>
            </a:r>
            <a:endParaRPr lang="en-US" altLang="zh-CN" dirty="0"/>
          </a:p>
        </p:txBody>
      </p:sp>
      <p:sp>
        <p:nvSpPr>
          <p:cNvPr id="2" name="矩形 1"/>
          <p:cNvSpPr/>
          <p:nvPr/>
        </p:nvSpPr>
        <p:spPr>
          <a:xfrm>
            <a:off x="632520" y="4293096"/>
            <a:ext cx="8856984" cy="1077218"/>
          </a:xfrm>
          <a:prstGeom prst="rect">
            <a:avLst/>
          </a:prstGeom>
          <a:solidFill>
            <a:srgbClr val="FFFF66"/>
          </a:solidFill>
          <a:ln>
            <a:solidFill>
              <a:srgbClr val="000099"/>
            </a:solidFill>
          </a:ln>
        </p:spPr>
        <p:txBody>
          <a:bodyPr wrap="square">
            <a:spAutoFit/>
          </a:bodyPr>
          <a:lstStyle/>
          <a:p>
            <a:r>
              <a:rPr lang="zh-CN" altLang="zh-CN" sz="3200" b="1" dirty="0">
                <a:solidFill>
                  <a:srgbClr val="000099"/>
                </a:solidFill>
                <a:latin typeface="+mn-lt"/>
                <a:ea typeface="黑体" panose="02010609060101010101" pitchFamily="2" charset="-122"/>
              </a:rPr>
              <a:t>服务请求方和服务提供方都要使用网络核心部分所提供的服务。</a:t>
            </a:r>
            <a:endParaRPr lang="zh-CN" altLang="en-US" sz="3200" b="1" dirty="0">
              <a:solidFill>
                <a:srgbClr val="000099"/>
              </a:solidFill>
              <a:latin typeface="+mn-lt"/>
              <a:ea typeface="黑体" panose="0201060906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8" name="Oval 4"/>
          <p:cNvSpPr>
            <a:spLocks noChangeArrowheads="1"/>
          </p:cNvSpPr>
          <p:nvPr/>
        </p:nvSpPr>
        <p:spPr bwMode="auto">
          <a:xfrm>
            <a:off x="983581" y="1057773"/>
            <a:ext cx="7599759" cy="5035524"/>
          </a:xfrm>
          <a:prstGeom prst="ellipse">
            <a:avLst/>
          </a:prstGeom>
          <a:solidFill>
            <a:srgbClr val="FF99CC"/>
          </a:solidFill>
          <a:ln w="9525">
            <a:solidFill>
              <a:schemeClr val="tx1"/>
            </a:solidFill>
            <a:prstDash val="dash"/>
            <a:round/>
          </a:ln>
          <a:effectLst/>
        </p:spPr>
        <p:txBody>
          <a:bodyPr wrap="none" anchor="ctr"/>
          <a:lstStyle/>
          <a:p>
            <a:endParaRPr lang="zh-CN" altLang="en-US" b="1">
              <a:latin typeface="+mn-lt"/>
              <a:ea typeface="黑体" panose="02010609060101010101" pitchFamily="2" charset="-122"/>
            </a:endParaRPr>
          </a:p>
        </p:txBody>
      </p:sp>
      <p:sp>
        <p:nvSpPr>
          <p:cNvPr id="344069" name="Line 5"/>
          <p:cNvSpPr>
            <a:spLocks noChangeShapeType="1"/>
          </p:cNvSpPr>
          <p:nvPr/>
        </p:nvSpPr>
        <p:spPr bwMode="auto">
          <a:xfrm flipV="1">
            <a:off x="2603625" y="4281985"/>
            <a:ext cx="853017" cy="4667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4070" name="Line 6"/>
          <p:cNvSpPr>
            <a:spLocks noChangeShapeType="1"/>
          </p:cNvSpPr>
          <p:nvPr/>
        </p:nvSpPr>
        <p:spPr bwMode="auto">
          <a:xfrm flipH="1" flipV="1">
            <a:off x="2197754" y="3224709"/>
            <a:ext cx="921808" cy="22066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4071" name="Line 7"/>
          <p:cNvSpPr>
            <a:spLocks noChangeShapeType="1"/>
          </p:cNvSpPr>
          <p:nvPr/>
        </p:nvSpPr>
        <p:spPr bwMode="auto">
          <a:xfrm flipH="1">
            <a:off x="6461117" y="3777159"/>
            <a:ext cx="10955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4072" name="Line 8"/>
          <p:cNvSpPr>
            <a:spLocks noChangeShapeType="1"/>
          </p:cNvSpPr>
          <p:nvPr/>
        </p:nvSpPr>
        <p:spPr bwMode="auto">
          <a:xfrm flipH="1">
            <a:off x="5652816" y="2122985"/>
            <a:ext cx="808302" cy="11017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4073" name="Line 9"/>
          <p:cNvSpPr>
            <a:spLocks noChangeShapeType="1"/>
          </p:cNvSpPr>
          <p:nvPr/>
        </p:nvSpPr>
        <p:spPr bwMode="auto">
          <a:xfrm flipH="1" flipV="1">
            <a:off x="5539310" y="4659809"/>
            <a:ext cx="608806" cy="7000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4074" name="Line 10"/>
          <p:cNvSpPr>
            <a:spLocks noChangeShapeType="1"/>
          </p:cNvSpPr>
          <p:nvPr/>
        </p:nvSpPr>
        <p:spPr bwMode="auto">
          <a:xfrm>
            <a:off x="3463521" y="2232521"/>
            <a:ext cx="515938" cy="8048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4075" name="Line 11"/>
          <p:cNvSpPr>
            <a:spLocks noChangeShapeType="1"/>
          </p:cNvSpPr>
          <p:nvPr/>
        </p:nvSpPr>
        <p:spPr bwMode="auto">
          <a:xfrm flipV="1">
            <a:off x="3809199" y="4550272"/>
            <a:ext cx="230452" cy="8096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pic>
        <p:nvPicPr>
          <p:cNvPr id="344076"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98495" y="1680072"/>
            <a:ext cx="69823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4077"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9563" y="1680072"/>
            <a:ext cx="69823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4078"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3268" y="5212259"/>
            <a:ext cx="69823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4079"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3522" y="5212259"/>
            <a:ext cx="69823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4080" name="Text Box 16"/>
          <p:cNvSpPr txBox="1">
            <a:spLocks noChangeArrowheads="1"/>
          </p:cNvSpPr>
          <p:nvPr/>
        </p:nvSpPr>
        <p:spPr bwMode="auto">
          <a:xfrm>
            <a:off x="560512" y="903785"/>
            <a:ext cx="90281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latin typeface="+mn-lt"/>
                <a:ea typeface="黑体" panose="02010609060101010101" pitchFamily="2" charset="-122"/>
              </a:rPr>
              <a:t>运行</a:t>
            </a:r>
          </a:p>
          <a:p>
            <a:r>
              <a:rPr kumimoji="1" lang="zh-CN" altLang="en-US" sz="2800" b="1" dirty="0">
                <a:latin typeface="+mn-lt"/>
                <a:ea typeface="黑体" panose="02010609060101010101" pitchFamily="2" charset="-122"/>
              </a:rPr>
              <a:t>客户</a:t>
            </a:r>
          </a:p>
          <a:p>
            <a:r>
              <a:rPr kumimoji="1" lang="zh-CN" altLang="en-US" sz="2800" b="1" dirty="0">
                <a:latin typeface="+mn-lt"/>
                <a:ea typeface="黑体" panose="02010609060101010101" pitchFamily="2" charset="-122"/>
              </a:rPr>
              <a:t>程序</a:t>
            </a:r>
          </a:p>
        </p:txBody>
      </p:sp>
      <p:pic>
        <p:nvPicPr>
          <p:cNvPr id="344081" name="Picture 1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905" y="2562722"/>
            <a:ext cx="69823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4082" name="Group 18"/>
          <p:cNvGrpSpPr/>
          <p:nvPr/>
        </p:nvGrpSpPr>
        <p:grpSpPr bwMode="auto">
          <a:xfrm>
            <a:off x="2658659" y="2232522"/>
            <a:ext cx="4385469" cy="3046413"/>
            <a:chOff x="1680" y="240"/>
            <a:chExt cx="2529" cy="1270"/>
          </a:xfrm>
          <a:solidFill>
            <a:schemeClr val="bg1">
              <a:lumMod val="65000"/>
            </a:schemeClr>
          </a:solidFill>
        </p:grpSpPr>
        <p:sp>
          <p:nvSpPr>
            <p:cNvPr id="344083"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84"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85"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86"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87"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88"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89"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90"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4091"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grpSp>
      <p:sp>
        <p:nvSpPr>
          <p:cNvPr id="344092" name="Text Box 28"/>
          <p:cNvSpPr txBox="1">
            <a:spLocks noChangeArrowheads="1"/>
          </p:cNvSpPr>
          <p:nvPr/>
        </p:nvSpPr>
        <p:spPr bwMode="auto">
          <a:xfrm>
            <a:off x="4039651" y="1191122"/>
            <a:ext cx="1620957" cy="523220"/>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latin typeface="+mn-lt"/>
                <a:ea typeface="黑体" panose="02010609060101010101" pitchFamily="2" charset="-122"/>
              </a:rPr>
              <a:t>网络边缘</a:t>
            </a:r>
          </a:p>
        </p:txBody>
      </p:sp>
      <p:sp>
        <p:nvSpPr>
          <p:cNvPr id="344093" name="Text Box 29"/>
          <p:cNvSpPr txBox="1">
            <a:spLocks noChangeArrowheads="1"/>
          </p:cNvSpPr>
          <p:nvPr/>
        </p:nvSpPr>
        <p:spPr bwMode="auto">
          <a:xfrm>
            <a:off x="4154878" y="4127997"/>
            <a:ext cx="1620957" cy="523220"/>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latin typeface="+mn-lt"/>
                <a:ea typeface="黑体" panose="02010609060101010101" pitchFamily="2" charset="-122"/>
              </a:rPr>
              <a:t>网络核心</a:t>
            </a:r>
          </a:p>
        </p:txBody>
      </p:sp>
      <p:graphicFrame>
        <p:nvGraphicFramePr>
          <p:cNvPr id="344094" name="Object 30">
            <a:hlinkClick r:id="" action="ppaction://ole?verb=0"/>
          </p:cNvPr>
          <p:cNvGraphicFramePr/>
          <p:nvPr/>
        </p:nvGraphicFramePr>
        <p:xfrm>
          <a:off x="7379486" y="3226296"/>
          <a:ext cx="811742" cy="1049338"/>
        </p:xfrm>
        <a:graphic>
          <a:graphicData uri="http://schemas.openxmlformats.org/presentationml/2006/ole">
            <mc:AlternateContent xmlns:mc="http://schemas.openxmlformats.org/markup-compatibility/2006">
              <mc:Choice xmlns:v="urn:schemas-microsoft-com:vml" Requires="v">
                <p:oleObj spid="_x0000_s2052" name="Microsoft ClipArt Gallery" r:id="rId5" imgW="2735580" imgH="3825875" progId="">
                  <p:embed/>
                </p:oleObj>
              </mc:Choice>
              <mc:Fallback>
                <p:oleObj name="Microsoft ClipArt Gallery" r:id="rId5" imgW="2735580" imgH="3825875" progId="">
                  <p:embed/>
                  <p:pic>
                    <p:nvPicPr>
                      <p:cNvPr id="0" name="Picture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9486" y="3226296"/>
                        <a:ext cx="811742"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4095" name="Text Box 31"/>
          <p:cNvSpPr txBox="1">
            <a:spLocks noChangeArrowheads="1"/>
          </p:cNvSpPr>
          <p:nvPr/>
        </p:nvSpPr>
        <p:spPr bwMode="auto">
          <a:xfrm>
            <a:off x="7866749" y="980728"/>
            <a:ext cx="126188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dirty="0">
                <a:latin typeface="+mn-lt"/>
                <a:ea typeface="黑体" panose="02010609060101010101" pitchFamily="2" charset="-122"/>
              </a:rPr>
              <a:t>运行</a:t>
            </a:r>
          </a:p>
          <a:p>
            <a:pPr algn="ctr"/>
            <a:r>
              <a:rPr kumimoji="1" lang="zh-CN" altLang="en-US" sz="2800" b="1" dirty="0">
                <a:latin typeface="+mn-lt"/>
                <a:ea typeface="黑体" panose="02010609060101010101" pitchFamily="2" charset="-122"/>
              </a:rPr>
              <a:t>服务器</a:t>
            </a:r>
          </a:p>
          <a:p>
            <a:pPr algn="ctr"/>
            <a:r>
              <a:rPr kumimoji="1" lang="zh-CN" altLang="en-US" sz="2800" b="1" dirty="0">
                <a:latin typeface="+mn-lt"/>
                <a:ea typeface="黑体" panose="02010609060101010101" pitchFamily="2" charset="-122"/>
              </a:rPr>
              <a:t>程序</a:t>
            </a:r>
          </a:p>
        </p:txBody>
      </p:sp>
      <p:sp>
        <p:nvSpPr>
          <p:cNvPr id="344097" name="Line 33"/>
          <p:cNvSpPr>
            <a:spLocks noChangeShapeType="1"/>
          </p:cNvSpPr>
          <p:nvPr/>
        </p:nvSpPr>
        <p:spPr bwMode="auto">
          <a:xfrm>
            <a:off x="1217473" y="2276972"/>
            <a:ext cx="624284" cy="576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4098" name="Line 34"/>
          <p:cNvSpPr>
            <a:spLocks noChangeShapeType="1"/>
          </p:cNvSpPr>
          <p:nvPr/>
        </p:nvSpPr>
        <p:spPr bwMode="auto">
          <a:xfrm flipH="1">
            <a:off x="7937342" y="2371894"/>
            <a:ext cx="473575" cy="11049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4099" name="Text Box 35"/>
          <p:cNvSpPr txBox="1">
            <a:spLocks noChangeArrowheads="1"/>
          </p:cNvSpPr>
          <p:nvPr/>
        </p:nvSpPr>
        <p:spPr bwMode="auto">
          <a:xfrm>
            <a:off x="1852076" y="2110284"/>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mn-lt"/>
                <a:ea typeface="黑体" panose="02010609060101010101" pitchFamily="2" charset="-122"/>
              </a:rPr>
              <a:t>A</a:t>
            </a:r>
          </a:p>
        </p:txBody>
      </p:sp>
      <p:sp>
        <p:nvSpPr>
          <p:cNvPr id="344100" name="Text Box 36"/>
          <p:cNvSpPr txBox="1">
            <a:spLocks noChangeArrowheads="1"/>
          </p:cNvSpPr>
          <p:nvPr/>
        </p:nvSpPr>
        <p:spPr bwMode="auto">
          <a:xfrm>
            <a:off x="7492992" y="2770684"/>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mn-lt"/>
                <a:ea typeface="黑体" panose="02010609060101010101" pitchFamily="2" charset="-122"/>
              </a:rPr>
              <a:t>B</a:t>
            </a:r>
          </a:p>
        </p:txBody>
      </p:sp>
      <p:pic>
        <p:nvPicPr>
          <p:cNvPr id="344101"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0809" y="4550272"/>
            <a:ext cx="69823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4108" name="Group 44"/>
          <p:cNvGrpSpPr/>
          <p:nvPr/>
        </p:nvGrpSpPr>
        <p:grpSpPr bwMode="auto">
          <a:xfrm>
            <a:off x="2311260" y="2481759"/>
            <a:ext cx="5068226" cy="854075"/>
            <a:chOff x="1157" y="1197"/>
            <a:chExt cx="2947" cy="538"/>
          </a:xfrm>
        </p:grpSpPr>
        <p:sp>
          <p:nvSpPr>
            <p:cNvPr id="344096" name="Freeform 32"/>
            <p:cNvSpPr/>
            <p:nvPr/>
          </p:nvSpPr>
          <p:spPr bwMode="auto">
            <a:xfrm>
              <a:off x="1157" y="1319"/>
              <a:ext cx="2947" cy="416"/>
            </a:xfrm>
            <a:custGeom>
              <a:avLst/>
              <a:gdLst>
                <a:gd name="T0" fmla="*/ 0 w 2112"/>
                <a:gd name="T1" fmla="*/ 0 h 192"/>
                <a:gd name="T2" fmla="*/ 2112 w 2112"/>
                <a:gd name="T3" fmla="*/ 192 h 192"/>
              </a:gdLst>
              <a:ahLst/>
              <a:cxnLst>
                <a:cxn ang="0">
                  <a:pos x="T0" y="T1"/>
                </a:cxn>
                <a:cxn ang="0">
                  <a:pos x="T2" y="T3"/>
                </a:cxn>
              </a:cxnLst>
              <a:rect l="0" t="0" r="r" b="b"/>
              <a:pathLst>
                <a:path w="2112" h="192">
                  <a:moveTo>
                    <a:pt x="0" y="0"/>
                  </a:moveTo>
                  <a:lnTo>
                    <a:pt x="2112" y="192"/>
                  </a:lnTo>
                </a:path>
              </a:pathLst>
            </a:custGeom>
            <a:noFill/>
            <a:ln w="57150" cap="flat" cmpd="sng">
              <a:solidFill>
                <a:srgbClr val="000099">
                  <a:alpha val="80000"/>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4103" name="Text Box 39"/>
            <p:cNvSpPr txBox="1">
              <a:spLocks noChangeArrowheads="1"/>
            </p:cNvSpPr>
            <p:nvPr/>
          </p:nvSpPr>
          <p:spPr bwMode="auto">
            <a:xfrm rot="455053">
              <a:off x="2141" y="1197"/>
              <a:ext cx="12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mn-lt"/>
                  <a:ea typeface="黑体" panose="02010609060101010101" pitchFamily="2" charset="-122"/>
                </a:rPr>
                <a:t>① </a:t>
              </a:r>
              <a:r>
                <a:rPr kumimoji="1" lang="zh-CN" altLang="en-US" sz="2800" b="1">
                  <a:latin typeface="+mn-lt"/>
                  <a:ea typeface="黑体" panose="02010609060101010101" pitchFamily="2" charset="-122"/>
                </a:rPr>
                <a:t>请求服务</a:t>
              </a:r>
            </a:p>
          </p:txBody>
        </p:sp>
      </p:grpSp>
      <p:grpSp>
        <p:nvGrpSpPr>
          <p:cNvPr id="344109" name="Group 45"/>
          <p:cNvGrpSpPr/>
          <p:nvPr/>
        </p:nvGrpSpPr>
        <p:grpSpPr bwMode="auto">
          <a:xfrm>
            <a:off x="2197754" y="2894510"/>
            <a:ext cx="5068226" cy="831850"/>
            <a:chOff x="1091" y="1457"/>
            <a:chExt cx="2947" cy="524"/>
          </a:xfrm>
        </p:grpSpPr>
        <p:sp>
          <p:nvSpPr>
            <p:cNvPr id="344102" name="Freeform 38"/>
            <p:cNvSpPr/>
            <p:nvPr/>
          </p:nvSpPr>
          <p:spPr bwMode="auto">
            <a:xfrm rot="-10800000">
              <a:off x="1091" y="1457"/>
              <a:ext cx="2947" cy="416"/>
            </a:xfrm>
            <a:custGeom>
              <a:avLst/>
              <a:gdLst>
                <a:gd name="T0" fmla="*/ 0 w 2112"/>
                <a:gd name="T1" fmla="*/ 0 h 192"/>
                <a:gd name="T2" fmla="*/ 2112 w 2112"/>
                <a:gd name="T3" fmla="*/ 192 h 192"/>
              </a:gdLst>
              <a:ahLst/>
              <a:cxnLst>
                <a:cxn ang="0">
                  <a:pos x="T0" y="T1"/>
                </a:cxn>
                <a:cxn ang="0">
                  <a:pos x="T2" y="T3"/>
                </a:cxn>
              </a:cxnLst>
              <a:rect l="0" t="0" r="r" b="b"/>
              <a:pathLst>
                <a:path w="2112" h="192">
                  <a:moveTo>
                    <a:pt x="0" y="0"/>
                  </a:moveTo>
                  <a:lnTo>
                    <a:pt x="2112" y="192"/>
                  </a:lnTo>
                </a:path>
              </a:pathLst>
            </a:custGeom>
            <a:noFill/>
            <a:ln w="57150" cap="flat" cmpd="sng">
              <a:solidFill>
                <a:srgbClr val="000099">
                  <a:alpha val="80000"/>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4104" name="Text Box 40"/>
            <p:cNvSpPr txBox="1">
              <a:spLocks noChangeArrowheads="1"/>
            </p:cNvSpPr>
            <p:nvPr/>
          </p:nvSpPr>
          <p:spPr bwMode="auto">
            <a:xfrm rot="499003">
              <a:off x="2021" y="1651"/>
              <a:ext cx="12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latin typeface="+mn-lt"/>
                  <a:ea typeface="黑体" panose="02010609060101010101" pitchFamily="2" charset="-122"/>
                </a:rPr>
                <a:t>② </a:t>
              </a:r>
              <a:r>
                <a:rPr kumimoji="1" lang="zh-CN" altLang="en-US" sz="2800" b="1" dirty="0">
                  <a:latin typeface="+mn-lt"/>
                  <a:ea typeface="黑体" panose="02010609060101010101" pitchFamily="2" charset="-122"/>
                </a:rPr>
                <a:t>得到服务</a:t>
              </a:r>
            </a:p>
          </p:txBody>
        </p:sp>
      </p:grpSp>
      <p:sp>
        <p:nvSpPr>
          <p:cNvPr id="344105" name="Text Box 41"/>
          <p:cNvSpPr txBox="1">
            <a:spLocks noChangeArrowheads="1"/>
          </p:cNvSpPr>
          <p:nvPr/>
        </p:nvSpPr>
        <p:spPr bwMode="auto">
          <a:xfrm>
            <a:off x="1506398" y="321518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latin typeface="+mn-lt"/>
                <a:ea typeface="黑体" panose="02010609060101010101" pitchFamily="2" charset="-122"/>
              </a:rPr>
              <a:t>客户</a:t>
            </a:r>
          </a:p>
        </p:txBody>
      </p:sp>
      <p:sp>
        <p:nvSpPr>
          <p:cNvPr id="344106" name="Text Box 42"/>
          <p:cNvSpPr txBox="1">
            <a:spLocks noChangeArrowheads="1"/>
          </p:cNvSpPr>
          <p:nvPr/>
        </p:nvSpPr>
        <p:spPr bwMode="auto">
          <a:xfrm>
            <a:off x="7149034" y="4212134"/>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latin typeface="+mn-lt"/>
                <a:ea typeface="黑体" panose="02010609060101010101" pitchFamily="2" charset="-122"/>
              </a:rPr>
              <a:t>服务器</a:t>
            </a:r>
          </a:p>
        </p:txBody>
      </p:sp>
      <p:sp>
        <p:nvSpPr>
          <p:cNvPr id="344110" name="Text Box 46"/>
          <p:cNvSpPr txBox="1">
            <a:spLocks noChangeArrowheads="1"/>
          </p:cNvSpPr>
          <p:nvPr/>
        </p:nvSpPr>
        <p:spPr bwMode="auto">
          <a:xfrm>
            <a:off x="560512" y="6135687"/>
            <a:ext cx="92155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b="1" dirty="0">
                <a:solidFill>
                  <a:srgbClr val="000099"/>
                </a:solidFill>
                <a:latin typeface="+mn-lt"/>
                <a:ea typeface="黑体" panose="02010609060101010101" pitchFamily="2" charset="-122"/>
              </a:rPr>
              <a:t>客户 </a:t>
            </a:r>
            <a:r>
              <a:rPr lang="en-US" altLang="zh-CN" sz="2400" b="1" dirty="0">
                <a:solidFill>
                  <a:srgbClr val="000099"/>
                </a:solidFill>
                <a:latin typeface="+mn-lt"/>
                <a:ea typeface="黑体" panose="02010609060101010101" pitchFamily="2" charset="-122"/>
              </a:rPr>
              <a:t>A </a:t>
            </a:r>
            <a:r>
              <a:rPr lang="zh-CN" altLang="en-US" sz="2400" b="1" dirty="0">
                <a:solidFill>
                  <a:srgbClr val="000099"/>
                </a:solidFill>
                <a:latin typeface="+mn-lt"/>
                <a:ea typeface="黑体" panose="02010609060101010101" pitchFamily="2" charset="-122"/>
              </a:rPr>
              <a:t>向服务器 </a:t>
            </a:r>
            <a:r>
              <a:rPr lang="en-US" altLang="zh-CN" sz="2400" b="1" dirty="0">
                <a:solidFill>
                  <a:srgbClr val="000099"/>
                </a:solidFill>
                <a:latin typeface="+mn-lt"/>
                <a:ea typeface="黑体" panose="02010609060101010101" pitchFamily="2" charset="-122"/>
              </a:rPr>
              <a:t>B </a:t>
            </a:r>
            <a:r>
              <a:rPr lang="zh-CN" altLang="en-US" sz="2400" b="1" dirty="0">
                <a:solidFill>
                  <a:srgbClr val="000099"/>
                </a:solidFill>
                <a:latin typeface="+mn-lt"/>
                <a:ea typeface="黑体" panose="02010609060101010101" pitchFamily="2" charset="-122"/>
              </a:rPr>
              <a:t>发出请求服务，服务器 </a:t>
            </a:r>
            <a:r>
              <a:rPr lang="en-US" altLang="zh-CN" sz="2400" b="1" dirty="0">
                <a:solidFill>
                  <a:srgbClr val="000099"/>
                </a:solidFill>
                <a:latin typeface="+mn-lt"/>
                <a:ea typeface="黑体" panose="02010609060101010101" pitchFamily="2" charset="-122"/>
              </a:rPr>
              <a:t>B </a:t>
            </a:r>
            <a:r>
              <a:rPr lang="zh-CN" altLang="en-US" sz="2400" b="1" dirty="0">
                <a:solidFill>
                  <a:srgbClr val="000099"/>
                </a:solidFill>
                <a:latin typeface="+mn-lt"/>
                <a:ea typeface="黑体" panose="02010609060101010101" pitchFamily="2" charset="-122"/>
              </a:rPr>
              <a:t>向客户 </a:t>
            </a:r>
            <a:r>
              <a:rPr lang="en-US" altLang="zh-CN" sz="2400" b="1" dirty="0">
                <a:solidFill>
                  <a:srgbClr val="000099"/>
                </a:solidFill>
                <a:latin typeface="+mn-lt"/>
                <a:ea typeface="黑体" panose="02010609060101010101" pitchFamily="2" charset="-122"/>
              </a:rPr>
              <a:t>A </a:t>
            </a:r>
            <a:r>
              <a:rPr lang="zh-CN" altLang="en-US" sz="2400" b="1" dirty="0">
                <a:solidFill>
                  <a:srgbClr val="000099"/>
                </a:solidFill>
                <a:latin typeface="+mn-lt"/>
                <a:ea typeface="黑体" panose="02010609060101010101" pitchFamily="2" charset="-122"/>
              </a:rPr>
              <a:t>提供服务</a:t>
            </a:r>
          </a:p>
        </p:txBody>
      </p:sp>
      <p:sp>
        <p:nvSpPr>
          <p:cNvPr id="2" name="矩形 1"/>
          <p:cNvSpPr/>
          <p:nvPr/>
        </p:nvSpPr>
        <p:spPr>
          <a:xfrm>
            <a:off x="2288704" y="260648"/>
            <a:ext cx="4828258" cy="584775"/>
          </a:xfrm>
          <a:prstGeom prst="rect">
            <a:avLst/>
          </a:prstGeom>
          <a:solidFill>
            <a:srgbClr val="FFFF66"/>
          </a:solidFill>
        </p:spPr>
        <p:txBody>
          <a:bodyPr wrap="square">
            <a:spAutoFit/>
          </a:bodyPr>
          <a:lstStyle/>
          <a:p>
            <a:pPr algn="ctr"/>
            <a:r>
              <a:rPr lang="zh-CN" altLang="zh-CN" sz="3200" b="1" dirty="0">
                <a:latin typeface="+mn-lt"/>
                <a:ea typeface="黑体" panose="02010609060101010101" pitchFamily="2" charset="-122"/>
              </a:rPr>
              <a:t>客户</a:t>
            </a:r>
            <a:r>
              <a:rPr lang="zh-CN" altLang="en-US" sz="3200" dirty="0">
                <a:sym typeface="Symbol" panose="05050102010706020507" pitchFamily="18" charset="2"/>
              </a:rPr>
              <a:t></a:t>
            </a:r>
            <a:r>
              <a:rPr lang="zh-CN" altLang="zh-CN" sz="3200" b="1" dirty="0">
                <a:latin typeface="+mn-lt"/>
                <a:ea typeface="黑体" panose="02010609060101010101" pitchFamily="2" charset="-122"/>
              </a:rPr>
              <a:t>服务器工作方式</a:t>
            </a:r>
            <a:endParaRPr lang="zh-CN" altLang="en-US" sz="32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a:lstStyle/>
          <a:p>
            <a:pPr algn="ctr"/>
            <a:r>
              <a:rPr lang="zh-CN" altLang="en-US"/>
              <a:t>客户软件的特点 </a:t>
            </a:r>
          </a:p>
        </p:txBody>
      </p:sp>
      <p:sp>
        <p:nvSpPr>
          <p:cNvPr id="338947" name="Rectangle 3"/>
          <p:cNvSpPr>
            <a:spLocks noGrp="1" noChangeArrowheads="1"/>
          </p:cNvSpPr>
          <p:nvPr>
            <p:ph idx="1"/>
          </p:nvPr>
        </p:nvSpPr>
        <p:spPr/>
        <p:txBody>
          <a:bodyPr/>
          <a:lstStyle/>
          <a:p>
            <a:r>
              <a:rPr lang="zh-CN" altLang="en-US" dirty="0">
                <a:solidFill>
                  <a:srgbClr val="FF0000"/>
                </a:solidFill>
              </a:rPr>
              <a:t>被用户调用后运行，</a:t>
            </a:r>
            <a:r>
              <a:rPr lang="zh-CN" altLang="en-US" dirty="0"/>
              <a:t>在打算通信时主动向远地服务器发起通信（请求服务）。</a:t>
            </a:r>
            <a:r>
              <a:rPr lang="zh-CN" altLang="en-US" dirty="0">
                <a:solidFill>
                  <a:srgbClr val="0000CC"/>
                </a:solidFill>
              </a:rPr>
              <a:t>因此，客户程序必须知道服务器程序的地址。</a:t>
            </a:r>
          </a:p>
          <a:p>
            <a:r>
              <a:rPr lang="zh-CN" altLang="en-US" dirty="0"/>
              <a:t>不需要特殊的硬件和很复杂的操作系统。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pPr algn="ctr"/>
            <a:r>
              <a:rPr lang="zh-CN" altLang="en-US"/>
              <a:t>服务器软件的特点 </a:t>
            </a:r>
          </a:p>
        </p:txBody>
      </p:sp>
      <p:sp>
        <p:nvSpPr>
          <p:cNvPr id="340995" name="Rectangle 3"/>
          <p:cNvSpPr>
            <a:spLocks noGrp="1" noChangeArrowheads="1"/>
          </p:cNvSpPr>
          <p:nvPr>
            <p:ph idx="1"/>
          </p:nvPr>
        </p:nvSpPr>
        <p:spPr/>
        <p:txBody>
          <a:bodyPr/>
          <a:lstStyle/>
          <a:p>
            <a:r>
              <a:rPr lang="zh-CN" altLang="en-US" dirty="0"/>
              <a:t>一种专门用来提供某种服务的程序，可同时处理多个远地或本地客户的请求。</a:t>
            </a:r>
          </a:p>
          <a:p>
            <a:r>
              <a:rPr lang="zh-CN" altLang="en-US" dirty="0"/>
              <a:t>系统启动后即自动调用并</a:t>
            </a:r>
            <a:r>
              <a:rPr lang="zh-CN" altLang="en-US" dirty="0">
                <a:solidFill>
                  <a:srgbClr val="FF0000"/>
                </a:solidFill>
              </a:rPr>
              <a:t>一直不断地运行着，被动地等待</a:t>
            </a:r>
            <a:r>
              <a:rPr lang="zh-CN" altLang="en-US" dirty="0"/>
              <a:t>并接受来自各地的客户的通信请求。</a:t>
            </a:r>
            <a:r>
              <a:rPr lang="zh-CN" altLang="en-US" dirty="0">
                <a:solidFill>
                  <a:srgbClr val="0000CC"/>
                </a:solidFill>
              </a:rPr>
              <a:t>因此，服务器程序不需要知道客户程序的地址</a:t>
            </a:r>
            <a:r>
              <a:rPr lang="zh-CN" altLang="en-US" dirty="0"/>
              <a:t>。</a:t>
            </a:r>
          </a:p>
          <a:p>
            <a:r>
              <a:rPr lang="zh-CN" altLang="en-US" dirty="0"/>
              <a:t>一般需要强大的硬件和高级的操作系统支持。</a:t>
            </a:r>
          </a:p>
        </p:txBody>
      </p:sp>
      <p:sp>
        <p:nvSpPr>
          <p:cNvPr id="2" name="矩形 1"/>
          <p:cNvSpPr/>
          <p:nvPr/>
        </p:nvSpPr>
        <p:spPr>
          <a:xfrm>
            <a:off x="632520" y="4797152"/>
            <a:ext cx="8856984" cy="1077218"/>
          </a:xfrm>
          <a:prstGeom prst="rect">
            <a:avLst/>
          </a:prstGeom>
          <a:solidFill>
            <a:srgbClr val="FFFF66"/>
          </a:solidFill>
          <a:ln>
            <a:solidFill>
              <a:srgbClr val="000099"/>
            </a:solidFill>
          </a:ln>
        </p:spPr>
        <p:txBody>
          <a:bodyPr wrap="square">
            <a:spAutoFit/>
          </a:bodyPr>
          <a:lstStyle/>
          <a:p>
            <a:r>
              <a:rPr lang="zh-CN" altLang="zh-CN" sz="3200" b="1" dirty="0">
                <a:solidFill>
                  <a:srgbClr val="000099"/>
                </a:solidFill>
                <a:latin typeface="+mn-lt"/>
                <a:ea typeface="黑体" panose="02010609060101010101" pitchFamily="2" charset="-122"/>
              </a:rPr>
              <a:t>客户与服务器的通信关系建立后，</a:t>
            </a:r>
            <a:r>
              <a:rPr lang="zh-CN" altLang="zh-CN" sz="3200" b="1" dirty="0">
                <a:solidFill>
                  <a:srgbClr val="FF0000"/>
                </a:solidFill>
                <a:latin typeface="+mn-lt"/>
                <a:ea typeface="黑体" panose="02010609060101010101" pitchFamily="2" charset="-122"/>
              </a:rPr>
              <a:t>通信可以是双向的，</a:t>
            </a:r>
            <a:r>
              <a:rPr lang="zh-CN" altLang="zh-CN" sz="3200" b="1" dirty="0">
                <a:solidFill>
                  <a:srgbClr val="000099"/>
                </a:solidFill>
                <a:latin typeface="+mn-lt"/>
                <a:ea typeface="黑体" panose="02010609060101010101" pitchFamily="2" charset="-122"/>
              </a:rPr>
              <a:t>客户和服务器都可发送和接收数据。</a:t>
            </a:r>
            <a:endParaRPr lang="zh-CN" altLang="en-US" sz="3200" b="1" dirty="0">
              <a:solidFill>
                <a:srgbClr val="000099"/>
              </a:solidFill>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US" altLang="zh-CN" dirty="0"/>
              <a:t>2. </a:t>
            </a:r>
            <a:r>
              <a:rPr lang="zh-CN" altLang="en-US" dirty="0"/>
              <a:t>对等连接方式 </a:t>
            </a:r>
          </a:p>
        </p:txBody>
      </p:sp>
      <p:sp>
        <p:nvSpPr>
          <p:cNvPr id="34713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solidFill>
                  <a:srgbClr val="FF0000"/>
                </a:solidFill>
              </a:rPr>
              <a:t>对等连接 </a:t>
            </a:r>
            <a:r>
              <a:rPr lang="en-US" altLang="zh-CN" dirty="0"/>
              <a:t>(peer-to-peer</a:t>
            </a:r>
            <a:r>
              <a:rPr lang="zh-CN" altLang="en-US" dirty="0"/>
              <a:t>，简写为 </a:t>
            </a:r>
            <a:r>
              <a:rPr lang="en-US" altLang="zh-CN" dirty="0">
                <a:solidFill>
                  <a:srgbClr val="FF0000"/>
                </a:solidFill>
              </a:rPr>
              <a:t>P2P</a:t>
            </a:r>
            <a:r>
              <a:rPr lang="en-US" altLang="zh-CN" dirty="0"/>
              <a:t>) </a:t>
            </a:r>
            <a:r>
              <a:rPr lang="zh-CN" altLang="en-US" dirty="0"/>
              <a:t>是指两个主机在通信时并不区分哪一个是服务请求方还是服务提供方。</a:t>
            </a:r>
          </a:p>
          <a:p>
            <a:r>
              <a:rPr lang="zh-CN" altLang="en-US" dirty="0"/>
              <a:t>只要两个主机都运行了对等连接软件 </a:t>
            </a:r>
            <a:r>
              <a:rPr lang="en-US" altLang="zh-CN" dirty="0"/>
              <a:t>(P2P </a:t>
            </a:r>
            <a:r>
              <a:rPr lang="zh-CN" altLang="en-US" dirty="0"/>
              <a:t>软件</a:t>
            </a:r>
            <a:r>
              <a:rPr lang="en-US" altLang="zh-CN" dirty="0"/>
              <a:t>) </a:t>
            </a:r>
            <a:r>
              <a:rPr lang="zh-CN" altLang="en-US" dirty="0"/>
              <a:t>，它们就可以进行</a:t>
            </a:r>
            <a:r>
              <a:rPr lang="zh-CN" altLang="en-US" dirty="0">
                <a:solidFill>
                  <a:srgbClr val="FF0000"/>
                </a:solidFill>
              </a:rPr>
              <a:t>平等的、对等连接通信。</a:t>
            </a:r>
          </a:p>
          <a:p>
            <a:r>
              <a:rPr lang="zh-CN" altLang="en-US" dirty="0"/>
              <a:t>双方都可以下载对方已经存储在硬盘中的共享文档。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pPr algn="ctr"/>
            <a:r>
              <a:rPr lang="zh-CN" altLang="en-US"/>
              <a:t>对等连接方式的特点</a:t>
            </a:r>
          </a:p>
        </p:txBody>
      </p:sp>
      <p:sp>
        <p:nvSpPr>
          <p:cNvPr id="349187" name="Rectangle 3"/>
          <p:cNvSpPr>
            <a:spLocks noGrp="1" noChangeArrowheads="1"/>
          </p:cNvSpPr>
          <p:nvPr>
            <p:ph idx="1"/>
          </p:nvPr>
        </p:nvSpPr>
        <p:spPr/>
        <p:txBody>
          <a:bodyPr/>
          <a:lstStyle/>
          <a:p>
            <a:r>
              <a:rPr lang="zh-CN" altLang="en-US" dirty="0"/>
              <a:t>对等连接方式从本质上看仍然是使用客户服务器方式，只是对等连接中的</a:t>
            </a:r>
            <a:r>
              <a:rPr lang="zh-CN" altLang="en-US" dirty="0">
                <a:solidFill>
                  <a:srgbClr val="FF0000"/>
                </a:solidFill>
              </a:rPr>
              <a:t>每一个主机既是客户又是服务器。</a:t>
            </a:r>
          </a:p>
          <a:p>
            <a:r>
              <a:rPr lang="zh-CN" altLang="en-US" dirty="0"/>
              <a:t>例如主机 </a:t>
            </a:r>
            <a:r>
              <a:rPr lang="en-US" altLang="zh-CN" dirty="0"/>
              <a:t>C </a:t>
            </a:r>
            <a:r>
              <a:rPr lang="zh-CN" altLang="en-US" dirty="0"/>
              <a:t>请求 </a:t>
            </a:r>
            <a:r>
              <a:rPr lang="en-US" altLang="zh-CN" dirty="0"/>
              <a:t>D </a:t>
            </a:r>
            <a:r>
              <a:rPr lang="zh-CN" altLang="en-US" dirty="0"/>
              <a:t>的服务时，</a:t>
            </a:r>
            <a:r>
              <a:rPr lang="en-US" altLang="zh-CN" dirty="0"/>
              <a:t>C </a:t>
            </a:r>
            <a:r>
              <a:rPr lang="zh-CN" altLang="en-US" dirty="0"/>
              <a:t>是客户，</a:t>
            </a:r>
            <a:r>
              <a:rPr lang="en-US" altLang="zh-CN" dirty="0"/>
              <a:t>D </a:t>
            </a:r>
            <a:r>
              <a:rPr lang="zh-CN" altLang="en-US" dirty="0"/>
              <a:t>是服务器。但如果 </a:t>
            </a:r>
            <a:r>
              <a:rPr lang="en-US" altLang="zh-CN" dirty="0"/>
              <a:t>C </a:t>
            </a:r>
            <a:r>
              <a:rPr lang="zh-CN" altLang="en-US" dirty="0"/>
              <a:t>又同时向 </a:t>
            </a:r>
            <a:r>
              <a:rPr lang="en-US" altLang="zh-CN" dirty="0"/>
              <a:t>F</a:t>
            </a:r>
            <a:r>
              <a:rPr lang="zh-CN" altLang="en-US" dirty="0"/>
              <a:t>提供服务，那么 </a:t>
            </a:r>
            <a:r>
              <a:rPr lang="en-US" altLang="zh-CN" dirty="0"/>
              <a:t>C </a:t>
            </a:r>
            <a:r>
              <a:rPr lang="zh-CN" altLang="en-US" dirty="0"/>
              <a:t>又同时起着服务器的作用。</a:t>
            </a:r>
          </a:p>
        </p:txBody>
      </p:sp>
      <p:sp>
        <p:nvSpPr>
          <p:cNvPr id="2" name="矩形 1"/>
          <p:cNvSpPr/>
          <p:nvPr/>
        </p:nvSpPr>
        <p:spPr>
          <a:xfrm>
            <a:off x="992560" y="4725144"/>
            <a:ext cx="8352928" cy="1077218"/>
          </a:xfrm>
          <a:prstGeom prst="rect">
            <a:avLst/>
          </a:prstGeom>
          <a:solidFill>
            <a:srgbClr val="FFFF66"/>
          </a:solidFill>
          <a:ln>
            <a:solidFill>
              <a:srgbClr val="000099"/>
            </a:solidFill>
          </a:ln>
        </p:spPr>
        <p:txBody>
          <a:bodyPr wrap="square">
            <a:spAutoFit/>
          </a:bodyPr>
          <a:lstStyle/>
          <a:p>
            <a:r>
              <a:rPr lang="zh-CN" altLang="zh-CN" sz="3200" b="1" dirty="0">
                <a:solidFill>
                  <a:srgbClr val="000099"/>
                </a:solidFill>
                <a:latin typeface="+mn-lt"/>
                <a:ea typeface="黑体" panose="02010609060101010101" pitchFamily="2" charset="-122"/>
              </a:rPr>
              <a:t>对等连接工作方式可支持大量对等用户（如上百万个）同时工作。</a:t>
            </a:r>
            <a:endParaRPr lang="zh-CN" altLang="en-US" sz="3200" b="1" dirty="0">
              <a:solidFill>
                <a:srgbClr val="000099"/>
              </a:solidFill>
              <a:latin typeface="+mn-lt"/>
              <a:ea typeface="黑体" panose="0201060906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4" name="Oval 4"/>
          <p:cNvSpPr>
            <a:spLocks noChangeArrowheads="1"/>
          </p:cNvSpPr>
          <p:nvPr/>
        </p:nvSpPr>
        <p:spPr bwMode="auto">
          <a:xfrm>
            <a:off x="1594549" y="1475135"/>
            <a:ext cx="6624638" cy="4402137"/>
          </a:xfrm>
          <a:prstGeom prst="ellipse">
            <a:avLst/>
          </a:prstGeom>
          <a:solidFill>
            <a:srgbClr val="FF99CC"/>
          </a:solidFill>
          <a:ln w="9525">
            <a:solidFill>
              <a:schemeClr val="tx1"/>
            </a:solidFill>
            <a:prstDash val="dash"/>
            <a:round/>
          </a:ln>
          <a:effectLst/>
        </p:spPr>
        <p:txBody>
          <a:bodyPr wrap="none" anchor="ctr"/>
          <a:lstStyle/>
          <a:p>
            <a:endParaRPr lang="zh-CN" altLang="en-US" b="1">
              <a:latin typeface="+mn-lt"/>
              <a:ea typeface="黑体" panose="02010609060101010101" pitchFamily="2" charset="-122"/>
            </a:endParaRPr>
          </a:p>
        </p:txBody>
      </p:sp>
      <p:sp>
        <p:nvSpPr>
          <p:cNvPr id="348165" name="Line 5"/>
          <p:cNvSpPr>
            <a:spLocks noChangeShapeType="1"/>
          </p:cNvSpPr>
          <p:nvPr/>
        </p:nvSpPr>
        <p:spPr bwMode="auto">
          <a:xfrm flipV="1">
            <a:off x="3052933" y="4211986"/>
            <a:ext cx="744670" cy="3825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8166" name="Line 6"/>
          <p:cNvSpPr>
            <a:spLocks noChangeShapeType="1"/>
          </p:cNvSpPr>
          <p:nvPr/>
        </p:nvSpPr>
        <p:spPr bwMode="auto">
          <a:xfrm flipH="1" flipV="1">
            <a:off x="2698656" y="3345210"/>
            <a:ext cx="803143" cy="18256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8167" name="Line 7"/>
          <p:cNvSpPr>
            <a:spLocks noChangeShapeType="1"/>
          </p:cNvSpPr>
          <p:nvPr/>
        </p:nvSpPr>
        <p:spPr bwMode="auto">
          <a:xfrm flipH="1">
            <a:off x="6415126" y="3797647"/>
            <a:ext cx="95620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8168" name="Line 8"/>
          <p:cNvSpPr>
            <a:spLocks noChangeShapeType="1"/>
          </p:cNvSpPr>
          <p:nvPr/>
        </p:nvSpPr>
        <p:spPr bwMode="auto">
          <a:xfrm flipH="1">
            <a:off x="5610264" y="2443510"/>
            <a:ext cx="703394" cy="9017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8169" name="Line 9"/>
          <p:cNvSpPr>
            <a:spLocks noChangeShapeType="1"/>
          </p:cNvSpPr>
          <p:nvPr/>
        </p:nvSpPr>
        <p:spPr bwMode="auto">
          <a:xfrm flipH="1" flipV="1">
            <a:off x="5611983" y="4521547"/>
            <a:ext cx="531416" cy="5730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8170" name="Line 10"/>
          <p:cNvSpPr>
            <a:spLocks noChangeShapeType="1"/>
          </p:cNvSpPr>
          <p:nvPr/>
        </p:nvSpPr>
        <p:spPr bwMode="auto">
          <a:xfrm>
            <a:off x="3802762" y="2533998"/>
            <a:ext cx="450585" cy="6588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348171" name="Line 11"/>
          <p:cNvSpPr>
            <a:spLocks noChangeShapeType="1"/>
          </p:cNvSpPr>
          <p:nvPr/>
        </p:nvSpPr>
        <p:spPr bwMode="auto">
          <a:xfrm flipV="1">
            <a:off x="4103726" y="4431061"/>
            <a:ext cx="202935" cy="663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pic>
        <p:nvPicPr>
          <p:cNvPr id="348172"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2695" y="2081560"/>
            <a:ext cx="608806"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73"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01799" y="2081560"/>
            <a:ext cx="608806"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74"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12947" y="4972397"/>
            <a:ext cx="608806"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75"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02762" y="4972397"/>
            <a:ext cx="608806"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76"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96477" y="2803872"/>
            <a:ext cx="608806"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8177" name="Group 17"/>
          <p:cNvGrpSpPr/>
          <p:nvPr/>
        </p:nvGrpSpPr>
        <p:grpSpPr bwMode="auto">
          <a:xfrm>
            <a:off x="3101087" y="2533997"/>
            <a:ext cx="3823097" cy="2495550"/>
            <a:chOff x="1680" y="240"/>
            <a:chExt cx="2529" cy="1270"/>
          </a:xfrm>
          <a:solidFill>
            <a:schemeClr val="bg1">
              <a:lumMod val="75000"/>
            </a:schemeClr>
          </a:solidFill>
        </p:grpSpPr>
        <p:sp>
          <p:nvSpPr>
            <p:cNvPr id="34817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7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sp>
          <p:nvSpPr>
            <p:cNvPr id="34818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mn-lt"/>
                <a:ea typeface="黑体" panose="02010609060101010101" pitchFamily="2" charset="-122"/>
              </a:endParaRPr>
            </a:p>
          </p:txBody>
        </p:sp>
      </p:grpSp>
      <p:sp>
        <p:nvSpPr>
          <p:cNvPr id="348187" name="Text Box 27"/>
          <p:cNvSpPr txBox="1">
            <a:spLocks noChangeArrowheads="1"/>
          </p:cNvSpPr>
          <p:nvPr/>
        </p:nvSpPr>
        <p:spPr bwMode="auto">
          <a:xfrm>
            <a:off x="4146720" y="1819622"/>
            <a:ext cx="1620957" cy="523220"/>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latin typeface="+mn-lt"/>
                <a:ea typeface="黑体" panose="02010609060101010101" pitchFamily="2" charset="-122"/>
              </a:rPr>
              <a:t>网络边缘</a:t>
            </a:r>
          </a:p>
        </p:txBody>
      </p:sp>
      <p:sp>
        <p:nvSpPr>
          <p:cNvPr id="348188" name="Text Box 28"/>
          <p:cNvSpPr txBox="1">
            <a:spLocks noChangeArrowheads="1"/>
          </p:cNvSpPr>
          <p:nvPr/>
        </p:nvSpPr>
        <p:spPr bwMode="auto">
          <a:xfrm>
            <a:off x="4146720" y="3980211"/>
            <a:ext cx="1620957" cy="523220"/>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latin typeface="+mn-lt"/>
                <a:ea typeface="黑体" panose="02010609060101010101" pitchFamily="2" charset="-122"/>
              </a:rPr>
              <a:t>网络核心</a:t>
            </a:r>
          </a:p>
        </p:txBody>
      </p:sp>
      <p:graphicFrame>
        <p:nvGraphicFramePr>
          <p:cNvPr id="348189" name="Object 29">
            <a:hlinkClick r:id="" action="ppaction://ole?verb=0"/>
          </p:cNvPr>
          <p:cNvGraphicFramePr/>
          <p:nvPr/>
        </p:nvGraphicFramePr>
        <p:xfrm>
          <a:off x="7216549" y="3348385"/>
          <a:ext cx="708554" cy="857250"/>
        </p:xfrm>
        <a:graphic>
          <a:graphicData uri="http://schemas.openxmlformats.org/presentationml/2006/ole">
            <mc:AlternateContent xmlns:mc="http://schemas.openxmlformats.org/markup-compatibility/2006">
              <mc:Choice xmlns:v="urn:schemas-microsoft-com:vml" Requires="v">
                <p:oleObj spid="_x0000_s3076" name="Microsoft ClipArt Gallery" r:id="rId5" imgW="2735580" imgH="3825875" progId="">
                  <p:embed/>
                </p:oleObj>
              </mc:Choice>
              <mc:Fallback>
                <p:oleObj name="Microsoft ClipArt Gallery" r:id="rId5" imgW="2735580" imgH="3825875" progId="">
                  <p:embed/>
                  <p:pic>
                    <p:nvPicPr>
                      <p:cNvPr id="0" name="Picture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6549" y="3348385"/>
                        <a:ext cx="708554"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190" name="Text Box 30"/>
          <p:cNvSpPr txBox="1">
            <a:spLocks noChangeArrowheads="1"/>
          </p:cNvSpPr>
          <p:nvPr/>
        </p:nvSpPr>
        <p:spPr bwMode="auto">
          <a:xfrm>
            <a:off x="7556850" y="1475135"/>
            <a:ext cx="16737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latin typeface="+mn-lt"/>
                <a:ea typeface="黑体" panose="02010609060101010101" pitchFamily="2" charset="-122"/>
              </a:rPr>
              <a:t>运行</a:t>
            </a:r>
          </a:p>
          <a:p>
            <a:pPr algn="ctr"/>
            <a:r>
              <a:rPr kumimoji="1" lang="en-US" altLang="zh-CN" sz="2800" b="1">
                <a:latin typeface="+mn-lt"/>
                <a:ea typeface="黑体" panose="02010609060101010101" pitchFamily="2" charset="-122"/>
              </a:rPr>
              <a:t>P2P </a:t>
            </a:r>
            <a:r>
              <a:rPr kumimoji="1" lang="zh-CN" altLang="en-US" sz="2800" b="1">
                <a:latin typeface="+mn-lt"/>
                <a:ea typeface="黑体" panose="02010609060101010101" pitchFamily="2" charset="-122"/>
              </a:rPr>
              <a:t>程序</a:t>
            </a:r>
          </a:p>
        </p:txBody>
      </p:sp>
      <p:sp>
        <p:nvSpPr>
          <p:cNvPr id="348191" name="Text Box 31"/>
          <p:cNvSpPr txBox="1">
            <a:spLocks noChangeArrowheads="1"/>
          </p:cNvSpPr>
          <p:nvPr/>
        </p:nvSpPr>
        <p:spPr bwMode="auto">
          <a:xfrm>
            <a:off x="8103744" y="4802535"/>
            <a:ext cx="16737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latin typeface="+mn-lt"/>
                <a:ea typeface="黑体" panose="02010609060101010101" pitchFamily="2" charset="-122"/>
              </a:rPr>
              <a:t>运行</a:t>
            </a:r>
          </a:p>
          <a:p>
            <a:pPr algn="ctr"/>
            <a:r>
              <a:rPr kumimoji="1" lang="en-US" altLang="zh-CN" sz="2800" b="1">
                <a:latin typeface="+mn-lt"/>
                <a:ea typeface="黑体" panose="02010609060101010101" pitchFamily="2" charset="-122"/>
              </a:rPr>
              <a:t>P2P </a:t>
            </a:r>
            <a:r>
              <a:rPr kumimoji="1" lang="zh-CN" altLang="en-US" sz="2800" b="1">
                <a:latin typeface="+mn-lt"/>
                <a:ea typeface="黑体" panose="02010609060101010101" pitchFamily="2" charset="-122"/>
              </a:rPr>
              <a:t>程序</a:t>
            </a:r>
          </a:p>
        </p:txBody>
      </p:sp>
      <p:sp>
        <p:nvSpPr>
          <p:cNvPr id="348192" name="Line 32"/>
          <p:cNvSpPr>
            <a:spLocks noChangeShapeType="1"/>
          </p:cNvSpPr>
          <p:nvPr/>
        </p:nvSpPr>
        <p:spPr bwMode="auto">
          <a:xfrm flipH="1">
            <a:off x="6212190" y="2262536"/>
            <a:ext cx="101467" cy="2981325"/>
          </a:xfrm>
          <a:prstGeom prst="line">
            <a:avLst/>
          </a:prstGeom>
          <a:noFill/>
          <a:ln w="76200">
            <a:solidFill>
              <a:srgbClr val="000099">
                <a:alpha val="80000"/>
              </a:srgbClr>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8193" name="Line 33"/>
          <p:cNvSpPr>
            <a:spLocks noChangeShapeType="1"/>
          </p:cNvSpPr>
          <p:nvPr/>
        </p:nvSpPr>
        <p:spPr bwMode="auto">
          <a:xfrm flipH="1">
            <a:off x="6513154" y="1991073"/>
            <a:ext cx="904610" cy="2714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8194" name="Line 34"/>
          <p:cNvSpPr>
            <a:spLocks noChangeShapeType="1"/>
          </p:cNvSpPr>
          <p:nvPr/>
        </p:nvSpPr>
        <p:spPr bwMode="auto">
          <a:xfrm flipH="1" flipV="1">
            <a:off x="6413406" y="5154960"/>
            <a:ext cx="2024195" cy="746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8195" name="Text Box 35"/>
          <p:cNvSpPr txBox="1">
            <a:spLocks noChangeArrowheads="1"/>
          </p:cNvSpPr>
          <p:nvPr/>
        </p:nvSpPr>
        <p:spPr bwMode="auto">
          <a:xfrm>
            <a:off x="5606824" y="4823172"/>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mn-lt"/>
                <a:ea typeface="黑体" panose="02010609060101010101" pitchFamily="2" charset="-122"/>
              </a:rPr>
              <a:t>D</a:t>
            </a:r>
          </a:p>
        </p:txBody>
      </p:sp>
      <p:sp>
        <p:nvSpPr>
          <p:cNvPr id="348196" name="Text Box 36"/>
          <p:cNvSpPr txBox="1">
            <a:spLocks noChangeArrowheads="1"/>
          </p:cNvSpPr>
          <p:nvPr/>
        </p:nvSpPr>
        <p:spPr bwMode="auto">
          <a:xfrm>
            <a:off x="6012695" y="1598961"/>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mn-lt"/>
                <a:ea typeface="黑体" panose="02010609060101010101" pitchFamily="2" charset="-122"/>
              </a:rPr>
              <a:t>C</a:t>
            </a:r>
          </a:p>
        </p:txBody>
      </p:sp>
      <p:pic>
        <p:nvPicPr>
          <p:cNvPr id="348197"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97189" y="4431060"/>
            <a:ext cx="608806"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198" name="Line 38"/>
          <p:cNvSpPr>
            <a:spLocks noChangeShapeType="1"/>
          </p:cNvSpPr>
          <p:nvPr/>
        </p:nvSpPr>
        <p:spPr bwMode="auto">
          <a:xfrm flipH="1">
            <a:off x="2898152" y="2262536"/>
            <a:ext cx="904610" cy="2439987"/>
          </a:xfrm>
          <a:prstGeom prst="line">
            <a:avLst/>
          </a:prstGeom>
          <a:noFill/>
          <a:ln w="76200">
            <a:solidFill>
              <a:srgbClr val="000099">
                <a:alpha val="80000"/>
              </a:srgbClr>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8199" name="Text Box 39"/>
          <p:cNvSpPr txBox="1">
            <a:spLocks noChangeArrowheads="1"/>
          </p:cNvSpPr>
          <p:nvPr/>
        </p:nvSpPr>
        <p:spPr bwMode="auto">
          <a:xfrm>
            <a:off x="3574031" y="1568798"/>
            <a:ext cx="4235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latin typeface="+mn-lt"/>
                <a:ea typeface="黑体" panose="02010609060101010101" pitchFamily="2" charset="-122"/>
              </a:rPr>
              <a:t>E</a:t>
            </a:r>
          </a:p>
        </p:txBody>
      </p:sp>
      <p:sp>
        <p:nvSpPr>
          <p:cNvPr id="348200" name="Text Box 40"/>
          <p:cNvSpPr txBox="1">
            <a:spLocks noChangeArrowheads="1"/>
          </p:cNvSpPr>
          <p:nvPr/>
        </p:nvSpPr>
        <p:spPr bwMode="auto">
          <a:xfrm>
            <a:off x="2237751" y="4189760"/>
            <a:ext cx="404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mn-lt"/>
                <a:ea typeface="黑体" panose="02010609060101010101" pitchFamily="2" charset="-122"/>
              </a:rPr>
              <a:t>F</a:t>
            </a:r>
          </a:p>
        </p:txBody>
      </p:sp>
      <p:sp>
        <p:nvSpPr>
          <p:cNvPr id="348201" name="Text Box 41"/>
          <p:cNvSpPr txBox="1">
            <a:spLocks noChangeArrowheads="1"/>
          </p:cNvSpPr>
          <p:nvPr/>
        </p:nvSpPr>
        <p:spPr bwMode="auto">
          <a:xfrm>
            <a:off x="467869" y="1548160"/>
            <a:ext cx="16737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latin typeface="+mn-lt"/>
                <a:ea typeface="黑体" panose="02010609060101010101" pitchFamily="2" charset="-122"/>
              </a:rPr>
              <a:t>运行</a:t>
            </a:r>
          </a:p>
          <a:p>
            <a:pPr algn="ctr"/>
            <a:r>
              <a:rPr kumimoji="1" lang="en-US" altLang="zh-CN" sz="2800" b="1">
                <a:latin typeface="+mn-lt"/>
                <a:ea typeface="黑体" panose="02010609060101010101" pitchFamily="2" charset="-122"/>
              </a:rPr>
              <a:t>P2P </a:t>
            </a:r>
            <a:r>
              <a:rPr kumimoji="1" lang="zh-CN" altLang="en-US" sz="2800" b="1">
                <a:latin typeface="+mn-lt"/>
                <a:ea typeface="黑体" panose="02010609060101010101" pitchFamily="2" charset="-122"/>
              </a:rPr>
              <a:t>程序</a:t>
            </a:r>
          </a:p>
        </p:txBody>
      </p:sp>
      <p:sp>
        <p:nvSpPr>
          <p:cNvPr id="348202" name="Text Box 42"/>
          <p:cNvSpPr txBox="1">
            <a:spLocks noChangeArrowheads="1"/>
          </p:cNvSpPr>
          <p:nvPr/>
        </p:nvSpPr>
        <p:spPr bwMode="auto">
          <a:xfrm>
            <a:off x="691441" y="4858097"/>
            <a:ext cx="16737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latin typeface="+mn-lt"/>
                <a:ea typeface="黑体" panose="02010609060101010101" pitchFamily="2" charset="-122"/>
              </a:rPr>
              <a:t>运行</a:t>
            </a:r>
          </a:p>
          <a:p>
            <a:pPr algn="ctr"/>
            <a:r>
              <a:rPr kumimoji="1" lang="en-US" altLang="zh-CN" sz="2800" b="1">
                <a:latin typeface="+mn-lt"/>
                <a:ea typeface="黑体" panose="02010609060101010101" pitchFamily="2" charset="-122"/>
              </a:rPr>
              <a:t>P2P </a:t>
            </a:r>
            <a:r>
              <a:rPr kumimoji="1" lang="zh-CN" altLang="en-US" sz="2800" b="1">
                <a:latin typeface="+mn-lt"/>
                <a:ea typeface="黑体" panose="02010609060101010101" pitchFamily="2" charset="-122"/>
              </a:rPr>
              <a:t>程序</a:t>
            </a:r>
          </a:p>
        </p:txBody>
      </p:sp>
      <p:sp>
        <p:nvSpPr>
          <p:cNvPr id="348203" name="Line 43"/>
          <p:cNvSpPr>
            <a:spLocks noChangeShapeType="1"/>
          </p:cNvSpPr>
          <p:nvPr/>
        </p:nvSpPr>
        <p:spPr bwMode="auto">
          <a:xfrm>
            <a:off x="1728693" y="1987897"/>
            <a:ext cx="1872854" cy="2746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8204" name="Line 44"/>
          <p:cNvSpPr>
            <a:spLocks noChangeShapeType="1"/>
          </p:cNvSpPr>
          <p:nvPr/>
        </p:nvSpPr>
        <p:spPr bwMode="auto">
          <a:xfrm flipV="1">
            <a:off x="2096729" y="4972397"/>
            <a:ext cx="601927" cy="1825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348205" name="Line 45"/>
          <p:cNvSpPr>
            <a:spLocks noChangeShapeType="1"/>
          </p:cNvSpPr>
          <p:nvPr/>
        </p:nvSpPr>
        <p:spPr bwMode="auto">
          <a:xfrm flipH="1">
            <a:off x="3199115" y="2262536"/>
            <a:ext cx="3013075" cy="2528887"/>
          </a:xfrm>
          <a:prstGeom prst="line">
            <a:avLst/>
          </a:prstGeom>
          <a:noFill/>
          <a:ln w="76200">
            <a:solidFill>
              <a:srgbClr val="000099">
                <a:alpha val="80000"/>
              </a:srgbClr>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2" name="矩形 1"/>
          <p:cNvSpPr/>
          <p:nvPr/>
        </p:nvSpPr>
        <p:spPr>
          <a:xfrm>
            <a:off x="1928664" y="303039"/>
            <a:ext cx="6290524" cy="584775"/>
          </a:xfrm>
          <a:prstGeom prst="rect">
            <a:avLst/>
          </a:prstGeom>
          <a:solidFill>
            <a:srgbClr val="FFFF66"/>
          </a:solidFill>
        </p:spPr>
        <p:txBody>
          <a:bodyPr wrap="square">
            <a:spAutoFit/>
          </a:bodyPr>
          <a:lstStyle/>
          <a:p>
            <a:pPr algn="ctr"/>
            <a:r>
              <a:rPr lang="zh-CN" altLang="zh-CN" sz="3200" b="1" dirty="0">
                <a:latin typeface="+mn-lt"/>
                <a:ea typeface="黑体" panose="02010609060101010101" pitchFamily="2" charset="-122"/>
              </a:rPr>
              <a:t>对等连接工作方式（</a:t>
            </a:r>
            <a:r>
              <a:rPr lang="en-US" altLang="zh-CN" sz="3200" b="1" dirty="0">
                <a:latin typeface="+mn-lt"/>
                <a:ea typeface="黑体" panose="02010609060101010101" pitchFamily="2" charset="-122"/>
              </a:rPr>
              <a:t>P2P </a:t>
            </a:r>
            <a:r>
              <a:rPr lang="zh-CN" altLang="zh-CN" sz="3200" b="1" dirty="0">
                <a:latin typeface="+mn-lt"/>
                <a:ea typeface="黑体" panose="02010609060101010101" pitchFamily="2" charset="-122"/>
              </a:rPr>
              <a:t>方式）</a:t>
            </a:r>
            <a:endParaRPr lang="zh-CN" altLang="en-US" sz="32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p:stCondLst>
                              <p:cond delay="1000"/>
                            </p:stCondLst>
                            <p:childTnLst>
                              <p:par>
                                <p:cTn id="9" presetID="22" presetClass="entr" presetSubtype="1" fill="hold" grpId="0"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p:stCondLst>
                              <p:cond delay="2500"/>
                            </p:stCondLst>
                            <p:childTnLst>
                              <p:par>
                                <p:cTn id="13" presetID="22" presetClass="entr" presetSubtype="4" fill="hold" grpId="0"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2" grpId="0" animBg="1"/>
      <p:bldP spid="348198" grpId="0" animBg="1"/>
      <p:bldP spid="34820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1.3.2  </a:t>
            </a:r>
            <a:r>
              <a:rPr lang="zh-CN" altLang="en-US" dirty="0"/>
              <a:t>互联网的核心部分</a:t>
            </a:r>
          </a:p>
        </p:txBody>
      </p:sp>
      <p:sp>
        <p:nvSpPr>
          <p:cNvPr id="353283" name="Rectangle 3"/>
          <p:cNvSpPr>
            <a:spLocks noGrp="1" noChangeArrowheads="1"/>
          </p:cNvSpPr>
          <p:nvPr>
            <p:ph idx="1"/>
          </p:nvPr>
        </p:nvSpPr>
        <p:spPr/>
        <p:txBody>
          <a:bodyPr/>
          <a:lstStyle/>
          <a:p>
            <a:r>
              <a:rPr lang="zh-CN" altLang="en-US" dirty="0"/>
              <a:t>网络核心部分是互联网中最复杂的部分。</a:t>
            </a:r>
          </a:p>
          <a:p>
            <a:r>
              <a:rPr lang="zh-CN" altLang="en-US" dirty="0"/>
              <a:t>网络中的核心部分要向网络边缘中的大量主机提供连通性，使边缘部分中的任何一个主机都能够向其他主机通信（即传送或接收各种形式的数据）。</a:t>
            </a:r>
          </a:p>
          <a:p>
            <a:r>
              <a:rPr lang="zh-CN" altLang="en-US" dirty="0"/>
              <a:t>在网络核心部分起特殊作用的是</a:t>
            </a:r>
            <a:r>
              <a:rPr lang="zh-CN" altLang="en-US" dirty="0">
                <a:solidFill>
                  <a:srgbClr val="FF0000"/>
                </a:solidFill>
              </a:rPr>
              <a:t>路由器 </a:t>
            </a:r>
            <a:r>
              <a:rPr lang="en-US" altLang="zh-CN" dirty="0"/>
              <a:t>(router)</a:t>
            </a:r>
            <a:r>
              <a:rPr lang="zh-CN" altLang="en-US" dirty="0"/>
              <a:t>。 </a:t>
            </a:r>
          </a:p>
        </p:txBody>
      </p:sp>
      <p:pic>
        <p:nvPicPr>
          <p:cNvPr id="100" name="图片 99"/>
          <p:cNvPicPr/>
          <p:nvPr/>
        </p:nvPicPr>
        <p:blipFill>
          <a:blip r:embed="rId3"/>
          <a:stretch>
            <a:fillRect/>
          </a:stretch>
        </p:blipFill>
        <p:spPr>
          <a:xfrm>
            <a:off x="6033135" y="1196340"/>
            <a:ext cx="3783965" cy="294068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down)">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1.3.2  </a:t>
            </a:r>
            <a:r>
              <a:rPr lang="zh-CN" altLang="en-US" dirty="0"/>
              <a:t>互联网的核心部分</a:t>
            </a:r>
          </a:p>
        </p:txBody>
      </p:sp>
      <p:sp>
        <p:nvSpPr>
          <p:cNvPr id="353283" name="Rectangle 3"/>
          <p:cNvSpPr>
            <a:spLocks noGrp="1" noChangeArrowheads="1"/>
          </p:cNvSpPr>
          <p:nvPr>
            <p:ph idx="1"/>
          </p:nvPr>
        </p:nvSpPr>
        <p:spPr/>
        <p:txBody>
          <a:bodyPr/>
          <a:lstStyle/>
          <a:p>
            <a:r>
              <a:rPr lang="zh-CN" altLang="en-US" dirty="0"/>
              <a:t>路由器是实现</a:t>
            </a:r>
            <a:r>
              <a:rPr lang="zh-CN" altLang="en-US" dirty="0">
                <a:solidFill>
                  <a:srgbClr val="FF0000"/>
                </a:solidFill>
              </a:rPr>
              <a:t>分组交换 </a:t>
            </a:r>
            <a:r>
              <a:rPr lang="en-US" altLang="zh-CN" dirty="0"/>
              <a:t>(packet switching) </a:t>
            </a:r>
            <a:r>
              <a:rPr lang="zh-CN" altLang="en-US" dirty="0"/>
              <a:t>的关键构件，其任务是</a:t>
            </a:r>
            <a:r>
              <a:rPr lang="zh-CN" altLang="en-US" dirty="0">
                <a:solidFill>
                  <a:srgbClr val="FF0000"/>
                </a:solidFill>
              </a:rPr>
              <a:t>转发</a:t>
            </a:r>
            <a:r>
              <a:rPr lang="zh-CN" altLang="en-US" dirty="0"/>
              <a:t>收到的分组，这是网络核心部分最重要的功能。</a:t>
            </a:r>
            <a:endParaRPr lang="en-US" altLang="zh-CN" dirty="0"/>
          </a:p>
          <a:p>
            <a:r>
              <a:rPr lang="zh-CN" altLang="en-US" dirty="0"/>
              <a:t>为了理解</a:t>
            </a:r>
            <a:r>
              <a:rPr lang="zh-CN" altLang="zh-CN" dirty="0"/>
              <a:t>分组交换，</a:t>
            </a:r>
            <a:r>
              <a:rPr lang="zh-CN" altLang="en-US" dirty="0"/>
              <a:t>首先了解</a:t>
            </a:r>
            <a:r>
              <a:rPr lang="zh-CN" altLang="zh-CN" dirty="0">
                <a:solidFill>
                  <a:srgbClr val="FF0000"/>
                </a:solidFill>
              </a:rPr>
              <a:t>电路交换</a:t>
            </a:r>
            <a:r>
              <a:rPr lang="zh-CN" altLang="zh-CN" dirty="0"/>
              <a:t>的基本概念</a:t>
            </a:r>
            <a:r>
              <a:rPr lang="zh-CN" altLang="en-US"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dirty="0"/>
              <a:t>1. </a:t>
            </a:r>
            <a:r>
              <a:rPr lang="zh-CN" altLang="en-US" dirty="0"/>
              <a:t>电路交换的主要特点</a:t>
            </a:r>
          </a:p>
        </p:txBody>
      </p:sp>
      <p:sp>
        <p:nvSpPr>
          <p:cNvPr id="33796" name="Text Box 4"/>
          <p:cNvSpPr txBox="1">
            <a:spLocks noChangeArrowheads="1"/>
          </p:cNvSpPr>
          <p:nvPr/>
        </p:nvSpPr>
        <p:spPr bwMode="auto">
          <a:xfrm>
            <a:off x="6046539" y="3399383"/>
            <a:ext cx="8691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sym typeface="Wingdings" panose="05000000000000000000" pitchFamily="2" charset="2"/>
              </a:rPr>
              <a:t></a:t>
            </a:r>
            <a:r>
              <a:rPr kumimoji="1" lang="en-US" altLang="zh-CN" sz="4000" dirty="0">
                <a:latin typeface="Times New Roman" panose="02020603050405020304" pitchFamily="18" charset="0"/>
              </a:rPr>
              <a:t> </a:t>
            </a:r>
          </a:p>
        </p:txBody>
      </p:sp>
      <p:sp>
        <p:nvSpPr>
          <p:cNvPr id="33797" name="Text Box 5"/>
          <p:cNvSpPr txBox="1">
            <a:spLocks noChangeArrowheads="1"/>
          </p:cNvSpPr>
          <p:nvPr/>
        </p:nvSpPr>
        <p:spPr bwMode="auto">
          <a:xfrm>
            <a:off x="3368824" y="3399383"/>
            <a:ext cx="86914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000" dirty="0">
                <a:latin typeface="Times New Roman" panose="02020603050405020304" pitchFamily="18" charset="0"/>
                <a:sym typeface="Wingdings" panose="05000000000000000000" pitchFamily="2" charset="2"/>
              </a:rPr>
              <a:t></a:t>
            </a:r>
            <a:r>
              <a:rPr kumimoji="1" lang="en-US" altLang="zh-CN" sz="4000" dirty="0">
                <a:latin typeface="Times New Roman" panose="02020603050405020304" pitchFamily="18" charset="0"/>
              </a:rPr>
              <a:t> </a:t>
            </a:r>
          </a:p>
        </p:txBody>
      </p:sp>
      <p:sp>
        <p:nvSpPr>
          <p:cNvPr id="33798" name="Line 6"/>
          <p:cNvSpPr>
            <a:spLocks noChangeShapeType="1"/>
          </p:cNvSpPr>
          <p:nvPr/>
        </p:nvSpPr>
        <p:spPr bwMode="auto">
          <a:xfrm flipV="1">
            <a:off x="3699024" y="3850232"/>
            <a:ext cx="2658798" cy="15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矩形 1"/>
          <p:cNvSpPr/>
          <p:nvPr/>
        </p:nvSpPr>
        <p:spPr>
          <a:xfrm>
            <a:off x="704528" y="1268760"/>
            <a:ext cx="8640960" cy="1077218"/>
          </a:xfrm>
          <a:prstGeom prst="rect">
            <a:avLst/>
          </a:prstGeom>
          <a:solidFill>
            <a:srgbClr val="66FF66"/>
          </a:solidFill>
          <a:ln>
            <a:solidFill>
              <a:schemeClr val="tx1"/>
            </a:solidFill>
          </a:ln>
        </p:spPr>
        <p:txBody>
          <a:bodyPr wrap="square">
            <a:spAutoFit/>
          </a:bodyPr>
          <a:lstStyle/>
          <a:p>
            <a:pPr algn="ctr"/>
            <a:r>
              <a:rPr lang="en-US" altLang="zh-CN" sz="3200" b="1" dirty="0">
                <a:latin typeface="+mn-lt"/>
                <a:ea typeface="黑体" panose="02010609060101010101" pitchFamily="2" charset="-122"/>
              </a:rPr>
              <a:t>2 </a:t>
            </a:r>
            <a:r>
              <a:rPr lang="zh-CN" altLang="en-US" sz="3200" b="1" dirty="0">
                <a:latin typeface="+mn-lt"/>
                <a:ea typeface="黑体" panose="02010609060101010101" pitchFamily="2" charset="-122"/>
              </a:rPr>
              <a:t>部电话机只需要用 </a:t>
            </a:r>
            <a:r>
              <a:rPr lang="en-US" altLang="zh-CN" sz="3200" b="1" dirty="0">
                <a:latin typeface="+mn-lt"/>
                <a:ea typeface="黑体" panose="02010609060101010101" pitchFamily="2" charset="-122"/>
              </a:rPr>
              <a:t>1 </a:t>
            </a:r>
            <a:r>
              <a:rPr lang="zh-CN" altLang="en-US" sz="3200" b="1" dirty="0">
                <a:latin typeface="+mn-lt"/>
                <a:ea typeface="黑体" panose="02010609060101010101" pitchFamily="2" charset="-122"/>
              </a:rPr>
              <a:t>对电线直接连接就能够互相通话。 </a:t>
            </a:r>
          </a:p>
        </p:txBody>
      </p:sp>
      <p:sp>
        <p:nvSpPr>
          <p:cNvPr id="3" name="矩形 2"/>
          <p:cNvSpPr/>
          <p:nvPr/>
        </p:nvSpPr>
        <p:spPr>
          <a:xfrm>
            <a:off x="2144688" y="5271591"/>
            <a:ext cx="5976663" cy="461665"/>
          </a:xfrm>
          <a:prstGeom prst="rect">
            <a:avLst/>
          </a:prstGeom>
        </p:spPr>
        <p:txBody>
          <a:bodyPr wrap="square">
            <a:spAutoFit/>
          </a:bodyPr>
          <a:lstStyle/>
          <a:p>
            <a:pPr algn="ctr"/>
            <a:r>
              <a:rPr lang="zh-CN" altLang="zh-CN" sz="2400" b="1" dirty="0">
                <a:latin typeface="+mn-lt"/>
                <a:ea typeface="黑体" panose="02010609060101010101" pitchFamily="2" charset="-122"/>
              </a:rPr>
              <a:t>电话机的不同连接方法</a:t>
            </a:r>
            <a:endParaRPr lang="zh-CN" altLang="en-US" sz="2400" b="1" dirty="0">
              <a:latin typeface="+mn-lt"/>
              <a:ea typeface="黑体" panose="02010609060101010101" pitchFamily="2" charset="-122"/>
            </a:endParaRPr>
          </a:p>
        </p:txBody>
      </p:sp>
      <p:sp>
        <p:nvSpPr>
          <p:cNvPr id="4" name="矩形 3"/>
          <p:cNvSpPr/>
          <p:nvPr/>
        </p:nvSpPr>
        <p:spPr>
          <a:xfrm>
            <a:off x="3440832" y="4685074"/>
            <a:ext cx="3185487" cy="400110"/>
          </a:xfrm>
          <a:prstGeom prst="rect">
            <a:avLst/>
          </a:prstGeom>
        </p:spPr>
        <p:txBody>
          <a:bodyPr wrap="square">
            <a:spAutoFit/>
          </a:bodyPr>
          <a:lstStyle/>
          <a:p>
            <a:pPr algn="ctr"/>
            <a:r>
              <a:rPr lang="en-US" altLang="zh-CN" sz="2000" b="1" dirty="0">
                <a:latin typeface="+mn-lt"/>
                <a:ea typeface="黑体" panose="02010609060101010101" pitchFamily="2" charset="-122"/>
              </a:rPr>
              <a:t> (a) </a:t>
            </a:r>
            <a:r>
              <a:rPr lang="zh-CN" altLang="zh-CN" sz="2000" b="1" dirty="0">
                <a:latin typeface="+mn-lt"/>
                <a:ea typeface="黑体" panose="02010609060101010101" pitchFamily="2" charset="-122"/>
              </a:rPr>
              <a:t>两部电话直接相</a:t>
            </a:r>
            <a:r>
              <a:rPr lang="zh-CN" altLang="en-US" sz="2000" b="1" dirty="0">
                <a:latin typeface="+mn-lt"/>
                <a:ea typeface="黑体" panose="02010609060101010101" pitchFamily="2" charset="-122"/>
              </a:rPr>
              <a:t>连</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dirty="0"/>
              <a:t>1. </a:t>
            </a:r>
            <a:r>
              <a:rPr lang="zh-CN" altLang="en-US" dirty="0"/>
              <a:t>电路交换的主要特点</a:t>
            </a:r>
          </a:p>
        </p:txBody>
      </p:sp>
      <p:sp>
        <p:nvSpPr>
          <p:cNvPr id="2" name="矩形 1"/>
          <p:cNvSpPr/>
          <p:nvPr/>
        </p:nvSpPr>
        <p:spPr>
          <a:xfrm>
            <a:off x="704528" y="1268760"/>
            <a:ext cx="8640960" cy="584775"/>
          </a:xfrm>
          <a:prstGeom prst="rect">
            <a:avLst/>
          </a:prstGeom>
          <a:solidFill>
            <a:srgbClr val="66FF66"/>
          </a:solidFill>
          <a:ln>
            <a:solidFill>
              <a:schemeClr val="tx1"/>
            </a:solidFill>
          </a:ln>
        </p:spPr>
        <p:txBody>
          <a:bodyPr wrap="square">
            <a:spAutoFit/>
          </a:bodyPr>
          <a:lstStyle/>
          <a:p>
            <a:pPr algn="ctr"/>
            <a:r>
              <a:rPr lang="en-US" altLang="zh-CN" sz="3200" b="1" dirty="0">
                <a:latin typeface="+mn-lt"/>
                <a:ea typeface="黑体" panose="02010609060101010101" pitchFamily="2" charset="-122"/>
              </a:rPr>
              <a:t>5 </a:t>
            </a:r>
            <a:r>
              <a:rPr lang="zh-CN" altLang="en-US" sz="3200" b="1" dirty="0">
                <a:latin typeface="+mn-lt"/>
                <a:ea typeface="黑体" panose="02010609060101010101" pitchFamily="2" charset="-122"/>
              </a:rPr>
              <a:t>部电话机两两直接相连，需 </a:t>
            </a:r>
            <a:r>
              <a:rPr lang="en-US" altLang="zh-CN" sz="3200" b="1" dirty="0">
                <a:latin typeface="+mn-lt"/>
                <a:ea typeface="黑体" panose="02010609060101010101" pitchFamily="2" charset="-122"/>
              </a:rPr>
              <a:t>10 </a:t>
            </a:r>
            <a:r>
              <a:rPr lang="zh-CN" altLang="en-US" sz="3200" b="1" dirty="0">
                <a:latin typeface="+mn-lt"/>
                <a:ea typeface="黑体" panose="02010609060101010101" pitchFamily="2" charset="-122"/>
              </a:rPr>
              <a:t>对电线。</a:t>
            </a:r>
          </a:p>
        </p:txBody>
      </p:sp>
      <p:sp>
        <p:nvSpPr>
          <p:cNvPr id="3" name="矩形 2"/>
          <p:cNvSpPr/>
          <p:nvPr/>
        </p:nvSpPr>
        <p:spPr>
          <a:xfrm>
            <a:off x="2144688" y="5271591"/>
            <a:ext cx="5832647" cy="461665"/>
          </a:xfrm>
          <a:prstGeom prst="rect">
            <a:avLst/>
          </a:prstGeom>
        </p:spPr>
        <p:txBody>
          <a:bodyPr wrap="square">
            <a:spAutoFit/>
          </a:bodyPr>
          <a:lstStyle/>
          <a:p>
            <a:pPr algn="ctr"/>
            <a:r>
              <a:rPr lang="zh-CN" altLang="zh-CN" sz="2400" b="1" dirty="0">
                <a:latin typeface="+mn-lt"/>
                <a:ea typeface="黑体" panose="02010609060101010101" pitchFamily="2" charset="-122"/>
              </a:rPr>
              <a:t>电话机的不同连接方法</a:t>
            </a:r>
            <a:endParaRPr lang="zh-CN" altLang="en-US" sz="2400" b="1" dirty="0">
              <a:latin typeface="+mn-lt"/>
              <a:ea typeface="黑体" panose="02010609060101010101" pitchFamily="2" charset="-122"/>
            </a:endParaRPr>
          </a:p>
        </p:txBody>
      </p:sp>
      <p:sp>
        <p:nvSpPr>
          <p:cNvPr id="4" name="矩形 3"/>
          <p:cNvSpPr/>
          <p:nvPr/>
        </p:nvSpPr>
        <p:spPr>
          <a:xfrm>
            <a:off x="3238488" y="4685074"/>
            <a:ext cx="3571900" cy="400110"/>
          </a:xfrm>
          <a:prstGeom prst="rect">
            <a:avLst/>
          </a:prstGeom>
        </p:spPr>
        <p:txBody>
          <a:bodyPr wrap="square">
            <a:spAutoFit/>
          </a:bodyPr>
          <a:lstStyle/>
          <a:p>
            <a:pPr algn="ctr"/>
            <a:r>
              <a:rPr lang="en-US" altLang="zh-CN" sz="2000" b="1" dirty="0">
                <a:latin typeface="+mn-lt"/>
                <a:ea typeface="黑体" panose="02010609060101010101" pitchFamily="2" charset="-122"/>
              </a:rPr>
              <a:t> (b) 5 </a:t>
            </a:r>
            <a:r>
              <a:rPr lang="zh-CN" altLang="zh-CN" sz="2000" b="1" dirty="0">
                <a:latin typeface="+mn-lt"/>
                <a:ea typeface="黑体" panose="02010609060101010101" pitchFamily="2" charset="-122"/>
              </a:rPr>
              <a:t>部电话</a:t>
            </a:r>
            <a:r>
              <a:rPr lang="zh-CN" altLang="en-US" sz="2000" b="1" dirty="0">
                <a:latin typeface="+mn-lt"/>
                <a:ea typeface="黑体" panose="02010609060101010101" pitchFamily="2" charset="-122"/>
              </a:rPr>
              <a:t>机两两直接</a:t>
            </a:r>
            <a:r>
              <a:rPr lang="zh-CN" altLang="zh-CN" sz="2000" b="1" dirty="0">
                <a:latin typeface="+mn-lt"/>
                <a:ea typeface="黑体" panose="02010609060101010101" pitchFamily="2" charset="-122"/>
              </a:rPr>
              <a:t>相</a:t>
            </a:r>
            <a:r>
              <a:rPr lang="zh-CN" altLang="en-US" sz="2000" b="1" dirty="0">
                <a:latin typeface="+mn-lt"/>
                <a:ea typeface="黑体" panose="02010609060101010101" pitchFamily="2" charset="-122"/>
              </a:rPr>
              <a:t>连</a:t>
            </a:r>
          </a:p>
        </p:txBody>
      </p:sp>
      <p:sp>
        <p:nvSpPr>
          <p:cNvPr id="16" name="Line 9"/>
          <p:cNvSpPr>
            <a:spLocks noChangeShapeType="1"/>
          </p:cNvSpPr>
          <p:nvPr/>
        </p:nvSpPr>
        <p:spPr bwMode="auto">
          <a:xfrm flipV="1">
            <a:off x="3463620" y="2610568"/>
            <a:ext cx="1499658" cy="7334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0"/>
          <p:cNvSpPr>
            <a:spLocks noChangeShapeType="1"/>
          </p:cNvSpPr>
          <p:nvPr/>
        </p:nvSpPr>
        <p:spPr bwMode="auto">
          <a:xfrm>
            <a:off x="5112900" y="2648668"/>
            <a:ext cx="1664758" cy="773113"/>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1"/>
          <p:cNvSpPr>
            <a:spLocks noChangeShapeType="1"/>
          </p:cNvSpPr>
          <p:nvPr/>
        </p:nvSpPr>
        <p:spPr bwMode="auto">
          <a:xfrm>
            <a:off x="3310558" y="3393205"/>
            <a:ext cx="928688" cy="95408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2"/>
          <p:cNvSpPr>
            <a:spLocks noChangeShapeType="1"/>
          </p:cNvSpPr>
          <p:nvPr/>
        </p:nvSpPr>
        <p:spPr bwMode="auto">
          <a:xfrm flipV="1">
            <a:off x="4363071" y="4417142"/>
            <a:ext cx="135863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3"/>
          <p:cNvSpPr>
            <a:spLocks noChangeShapeType="1"/>
          </p:cNvSpPr>
          <p:nvPr/>
        </p:nvSpPr>
        <p:spPr bwMode="auto">
          <a:xfrm flipV="1">
            <a:off x="5811135" y="3388442"/>
            <a:ext cx="969963" cy="9398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4"/>
          <p:cNvSpPr>
            <a:spLocks noChangeShapeType="1"/>
          </p:cNvSpPr>
          <p:nvPr/>
        </p:nvSpPr>
        <p:spPr bwMode="auto">
          <a:xfrm>
            <a:off x="5020031" y="2647080"/>
            <a:ext cx="679318" cy="1770062"/>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5"/>
          <p:cNvSpPr>
            <a:spLocks noChangeShapeType="1"/>
          </p:cNvSpPr>
          <p:nvPr/>
        </p:nvSpPr>
        <p:spPr bwMode="auto">
          <a:xfrm flipH="1">
            <a:off x="4345873" y="2664542"/>
            <a:ext cx="527977" cy="17414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6"/>
          <p:cNvSpPr>
            <a:spLocks noChangeShapeType="1"/>
          </p:cNvSpPr>
          <p:nvPr/>
        </p:nvSpPr>
        <p:spPr bwMode="auto">
          <a:xfrm>
            <a:off x="3492856" y="3385267"/>
            <a:ext cx="3231489"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7"/>
          <p:cNvSpPr>
            <a:spLocks noChangeShapeType="1"/>
          </p:cNvSpPr>
          <p:nvPr/>
        </p:nvSpPr>
        <p:spPr bwMode="auto">
          <a:xfrm>
            <a:off x="3312278" y="3388442"/>
            <a:ext cx="2387071" cy="100965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18"/>
          <p:cNvSpPr>
            <a:spLocks noChangeShapeType="1"/>
          </p:cNvSpPr>
          <p:nvPr/>
        </p:nvSpPr>
        <p:spPr bwMode="auto">
          <a:xfrm flipV="1">
            <a:off x="4397467" y="3436067"/>
            <a:ext cx="2302802" cy="9667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 name="Group 20"/>
          <p:cNvGrpSpPr/>
          <p:nvPr/>
        </p:nvGrpSpPr>
        <p:grpSpPr bwMode="auto">
          <a:xfrm>
            <a:off x="2945962" y="2207343"/>
            <a:ext cx="4239286" cy="2416176"/>
            <a:chOff x="1824" y="1570"/>
            <a:chExt cx="2465" cy="1522"/>
          </a:xfrm>
        </p:grpSpPr>
        <p:sp>
          <p:nvSpPr>
            <p:cNvPr id="11" name="Text Box 4"/>
            <p:cNvSpPr txBox="1">
              <a:spLocks noChangeArrowheads="1"/>
            </p:cNvSpPr>
            <p:nvPr/>
          </p:nvSpPr>
          <p:spPr bwMode="auto">
            <a:xfrm>
              <a:off x="2792" y="1570"/>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12" name="Text Box 5"/>
            <p:cNvSpPr txBox="1">
              <a:spLocks noChangeArrowheads="1"/>
            </p:cNvSpPr>
            <p:nvPr/>
          </p:nvSpPr>
          <p:spPr bwMode="auto">
            <a:xfrm>
              <a:off x="1824" y="2058"/>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anose="02020603050405020304" pitchFamily="18" charset="0"/>
                  <a:sym typeface="Wingdings" panose="05000000000000000000" pitchFamily="2" charset="2"/>
                </a:rPr>
                <a:t></a:t>
              </a:r>
              <a:r>
                <a:rPr kumimoji="1" lang="en-US" altLang="zh-CN" sz="3600" dirty="0">
                  <a:latin typeface="Times New Roman" panose="02020603050405020304" pitchFamily="18" charset="0"/>
                </a:rPr>
                <a:t> </a:t>
              </a:r>
            </a:p>
          </p:txBody>
        </p:sp>
        <p:sp>
          <p:nvSpPr>
            <p:cNvPr id="14" name="Text Box 7"/>
            <p:cNvSpPr txBox="1">
              <a:spLocks noChangeArrowheads="1"/>
            </p:cNvSpPr>
            <p:nvPr/>
          </p:nvSpPr>
          <p:spPr bwMode="auto">
            <a:xfrm>
              <a:off x="3824" y="2058"/>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anose="02020603050405020304" pitchFamily="18" charset="0"/>
                  <a:sym typeface="Wingdings" panose="05000000000000000000" pitchFamily="2" charset="2"/>
                </a:rPr>
                <a:t></a:t>
              </a:r>
              <a:r>
                <a:rPr kumimoji="1" lang="en-US" altLang="zh-CN" sz="3600" dirty="0">
                  <a:latin typeface="Times New Roman" panose="02020603050405020304" pitchFamily="18" charset="0"/>
                </a:rPr>
                <a:t> </a:t>
              </a:r>
            </a:p>
          </p:txBody>
        </p:sp>
        <p:sp>
          <p:nvSpPr>
            <p:cNvPr id="15" name="Text Box 8"/>
            <p:cNvSpPr txBox="1">
              <a:spLocks noChangeArrowheads="1"/>
            </p:cNvSpPr>
            <p:nvPr/>
          </p:nvSpPr>
          <p:spPr bwMode="auto">
            <a:xfrm>
              <a:off x="3244" y="2685"/>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13" name="Text Box 6"/>
            <p:cNvSpPr txBox="1">
              <a:spLocks noChangeArrowheads="1"/>
            </p:cNvSpPr>
            <p:nvPr/>
          </p:nvSpPr>
          <p:spPr bwMode="auto">
            <a:xfrm>
              <a:off x="2405" y="2685"/>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anose="02020603050405020304" pitchFamily="18" charset="0"/>
                  <a:sym typeface="Wingdings" panose="05000000000000000000" pitchFamily="2" charset="2"/>
                </a:rPr>
                <a:t></a:t>
              </a:r>
              <a:r>
                <a:rPr kumimoji="1" lang="en-US" altLang="zh-CN" sz="3600" dirty="0">
                  <a:latin typeface="Times New Roman" panose="02020603050405020304"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300"/>
                                  </p:stCondLst>
                                  <p:childTnLst>
                                    <p:set>
                                      <p:cBhvr>
                                        <p:cTn id="9" dur="1" fill="hold">
                                          <p:stCondLst>
                                            <p:cond delay="0"/>
                                          </p:stCondLst>
                                        </p:cTn>
                                        <p:tgtEl>
                                          <p:spTgt spid="16"/>
                                        </p:tgtEl>
                                        <p:attrNameLst>
                                          <p:attrName>style.visibility</p:attrName>
                                        </p:attrNameLst>
                                      </p:cBhvr>
                                      <p:to>
                                        <p:strVal val="visible"/>
                                      </p:to>
                                    </p:set>
                                  </p:childTnLst>
                                </p:cTn>
                              </p:par>
                            </p:childTnLst>
                          </p:cTn>
                        </p:par>
                        <p:par>
                          <p:cTn id="10" fill="hold">
                            <p:stCondLst>
                              <p:cond delay="300"/>
                            </p:stCondLst>
                            <p:childTnLst>
                              <p:par>
                                <p:cTn id="11" presetID="1" presetClass="entr" presetSubtype="0" fill="hold" grpId="0" nodeType="afterEffect">
                                  <p:stCondLst>
                                    <p:cond delay="300"/>
                                  </p:stCondLst>
                                  <p:childTnLst>
                                    <p:set>
                                      <p:cBhvr>
                                        <p:cTn id="12" dur="1" fill="hold">
                                          <p:stCondLst>
                                            <p:cond delay="0"/>
                                          </p:stCondLst>
                                        </p:cTn>
                                        <p:tgtEl>
                                          <p:spTgt spid="23"/>
                                        </p:tgtEl>
                                        <p:attrNameLst>
                                          <p:attrName>style.visibility</p:attrName>
                                        </p:attrNameLst>
                                      </p:cBhvr>
                                      <p:to>
                                        <p:strVal val="visible"/>
                                      </p:to>
                                    </p:set>
                                  </p:childTnLst>
                                </p:cTn>
                              </p:par>
                            </p:childTnLst>
                          </p:cTn>
                        </p:par>
                        <p:par>
                          <p:cTn id="13" fill="hold">
                            <p:stCondLst>
                              <p:cond delay="600"/>
                            </p:stCondLst>
                            <p:childTnLst>
                              <p:par>
                                <p:cTn id="14" presetID="1" presetClass="entr" presetSubtype="0" fill="hold" grpId="0" nodeType="afterEffect">
                                  <p:stCondLst>
                                    <p:cond delay="300"/>
                                  </p:stCondLst>
                                  <p:childTnLst>
                                    <p:set>
                                      <p:cBhvr>
                                        <p:cTn id="15" dur="1" fill="hold">
                                          <p:stCondLst>
                                            <p:cond delay="0"/>
                                          </p:stCondLst>
                                        </p:cTn>
                                        <p:tgtEl>
                                          <p:spTgt spid="24"/>
                                        </p:tgtEl>
                                        <p:attrNameLst>
                                          <p:attrName>style.visibility</p:attrName>
                                        </p:attrNameLst>
                                      </p:cBhvr>
                                      <p:to>
                                        <p:strVal val="visible"/>
                                      </p:to>
                                    </p:set>
                                  </p:childTnLst>
                                </p:cTn>
                              </p:par>
                            </p:childTnLst>
                          </p:cTn>
                        </p:par>
                        <p:par>
                          <p:cTn id="16" fill="hold">
                            <p:stCondLst>
                              <p:cond delay="900"/>
                            </p:stCondLst>
                            <p:childTnLst>
                              <p:par>
                                <p:cTn id="17" presetID="1" presetClass="entr" presetSubtype="0" fill="hold" grpId="0" nodeType="afterEffect">
                                  <p:stCondLst>
                                    <p:cond delay="300"/>
                                  </p:stCondLst>
                                  <p:childTnLst>
                                    <p:set>
                                      <p:cBhvr>
                                        <p:cTn id="18" dur="1" fill="hold">
                                          <p:stCondLst>
                                            <p:cond delay="0"/>
                                          </p:stCondLst>
                                        </p:cTn>
                                        <p:tgtEl>
                                          <p:spTgt spid="18"/>
                                        </p:tgtEl>
                                        <p:attrNameLst>
                                          <p:attrName>style.visibility</p:attrName>
                                        </p:attrNameLst>
                                      </p:cBhvr>
                                      <p:to>
                                        <p:strVal val="visible"/>
                                      </p:to>
                                    </p:set>
                                  </p:childTnLst>
                                </p:cTn>
                              </p:par>
                            </p:childTnLst>
                          </p:cTn>
                        </p:par>
                        <p:par>
                          <p:cTn id="19" fill="hold">
                            <p:stCondLst>
                              <p:cond delay="1200"/>
                            </p:stCondLst>
                            <p:childTnLst>
                              <p:par>
                                <p:cTn id="20" presetID="1" presetClass="entr" presetSubtype="0" fill="hold" grpId="0" nodeType="afterEffect">
                                  <p:stCondLst>
                                    <p:cond delay="30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p:stCondLst>
                              <p:cond delay="1500"/>
                            </p:stCondLst>
                            <p:childTnLst>
                              <p:par>
                                <p:cTn id="23" presetID="1" presetClass="entr" presetSubtype="0" fill="hold" grpId="0" nodeType="afterEffect">
                                  <p:stCondLst>
                                    <p:cond delay="3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p:stCondLst>
                              <p:cond delay="1800"/>
                            </p:stCondLst>
                            <p:childTnLst>
                              <p:par>
                                <p:cTn id="26" presetID="1" presetClass="entr" presetSubtype="0" fill="hold" grpId="0" nodeType="afterEffect">
                                  <p:stCondLst>
                                    <p:cond delay="300"/>
                                  </p:stCondLst>
                                  <p:childTnLst>
                                    <p:set>
                                      <p:cBhvr>
                                        <p:cTn id="27" dur="1" fill="hold">
                                          <p:stCondLst>
                                            <p:cond delay="0"/>
                                          </p:stCondLst>
                                        </p:cTn>
                                        <p:tgtEl>
                                          <p:spTgt spid="17"/>
                                        </p:tgtEl>
                                        <p:attrNameLst>
                                          <p:attrName>style.visibility</p:attrName>
                                        </p:attrNameLst>
                                      </p:cBhvr>
                                      <p:to>
                                        <p:strVal val="visible"/>
                                      </p:to>
                                    </p:set>
                                  </p:childTnLst>
                                </p:cTn>
                              </p:par>
                            </p:childTnLst>
                          </p:cTn>
                        </p:par>
                        <p:par>
                          <p:cTn id="28" fill="hold">
                            <p:stCondLst>
                              <p:cond delay="2100"/>
                            </p:stCondLst>
                            <p:childTnLst>
                              <p:par>
                                <p:cTn id="29" presetID="1" presetClass="entr" presetSubtype="0" fill="hold" grpId="0" nodeType="afterEffect">
                                  <p:stCondLst>
                                    <p:cond delay="3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p:stCondLst>
                              <p:cond delay="2400"/>
                            </p:stCondLst>
                            <p:childTnLst>
                              <p:par>
                                <p:cTn id="32" presetID="1" presetClass="entr" presetSubtype="0" fill="hold" grpId="0" nodeType="afterEffect">
                                  <p:stCondLst>
                                    <p:cond delay="300"/>
                                  </p:stCondLst>
                                  <p:childTnLst>
                                    <p:set>
                                      <p:cBhvr>
                                        <p:cTn id="33" dur="1" fill="hold">
                                          <p:stCondLst>
                                            <p:cond delay="0"/>
                                          </p:stCondLst>
                                        </p:cTn>
                                        <p:tgtEl>
                                          <p:spTgt spid="19"/>
                                        </p:tgtEl>
                                        <p:attrNameLst>
                                          <p:attrName>style.visibility</p:attrName>
                                        </p:attrNameLst>
                                      </p:cBhvr>
                                      <p:to>
                                        <p:strVal val="visible"/>
                                      </p:to>
                                    </p:set>
                                  </p:childTnLst>
                                </p:cTn>
                              </p:par>
                            </p:childTnLst>
                          </p:cTn>
                        </p:par>
                        <p:par>
                          <p:cTn id="34" fill="hold">
                            <p:stCondLst>
                              <p:cond delay="2700"/>
                            </p:stCondLst>
                            <p:childTnLst>
                              <p:par>
                                <p:cTn id="35" presetID="1" presetClass="entr" presetSubtype="0" fill="hold" grpId="0" nodeType="afterEffect">
                                  <p:stCondLst>
                                    <p:cond delay="30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dirty="0"/>
              <a:t>1. </a:t>
            </a:r>
            <a:r>
              <a:rPr lang="zh-CN" altLang="en-US" dirty="0"/>
              <a:t>电路交换的主要特点</a:t>
            </a:r>
          </a:p>
        </p:txBody>
      </p:sp>
      <p:sp>
        <p:nvSpPr>
          <p:cNvPr id="2" name="矩形 1"/>
          <p:cNvSpPr/>
          <p:nvPr/>
        </p:nvSpPr>
        <p:spPr>
          <a:xfrm>
            <a:off x="704528" y="1268760"/>
            <a:ext cx="8640960" cy="1569660"/>
          </a:xfrm>
          <a:prstGeom prst="rect">
            <a:avLst/>
          </a:prstGeom>
          <a:solidFill>
            <a:srgbClr val="66FF66"/>
          </a:solidFill>
          <a:ln>
            <a:solidFill>
              <a:schemeClr val="tx1"/>
            </a:solidFill>
          </a:ln>
        </p:spPr>
        <p:txBody>
          <a:bodyPr wrap="square">
            <a:spAutoFit/>
          </a:bodyPr>
          <a:lstStyle/>
          <a:p>
            <a:r>
              <a:rPr lang="en-US" altLang="zh-CN" sz="3200" b="1" dirty="0">
                <a:latin typeface="+mn-lt"/>
                <a:ea typeface="黑体" panose="02010609060101010101" pitchFamily="2" charset="-122"/>
              </a:rPr>
              <a:t>N </a:t>
            </a:r>
            <a:r>
              <a:rPr lang="zh-CN" altLang="en-US" sz="3200" b="1" dirty="0">
                <a:latin typeface="+mn-lt"/>
                <a:ea typeface="黑体" panose="02010609060101010101" pitchFamily="2" charset="-122"/>
              </a:rPr>
              <a:t>部电话机两两直接相连，需 </a:t>
            </a:r>
            <a:r>
              <a:rPr lang="en-US" altLang="zh-CN" sz="3200" b="1" i="1" dirty="0">
                <a:solidFill>
                  <a:srgbClr val="FF0000"/>
                </a:solidFill>
                <a:latin typeface="+mn-lt"/>
                <a:ea typeface="黑体" panose="02010609060101010101" pitchFamily="2" charset="-122"/>
              </a:rPr>
              <a:t>N</a:t>
            </a:r>
            <a:r>
              <a:rPr lang="en-US" altLang="zh-CN" sz="3200" b="1" dirty="0">
                <a:solidFill>
                  <a:srgbClr val="FF0000"/>
                </a:solidFill>
                <a:latin typeface="+mn-lt"/>
                <a:ea typeface="黑体" panose="02010609060101010101" pitchFamily="2" charset="-122"/>
              </a:rPr>
              <a:t>(</a:t>
            </a:r>
            <a:r>
              <a:rPr lang="en-US" altLang="zh-CN" sz="3200" b="1" i="1" dirty="0">
                <a:solidFill>
                  <a:srgbClr val="FF0000"/>
                </a:solidFill>
                <a:latin typeface="+mn-lt"/>
                <a:ea typeface="黑体" panose="02010609060101010101" pitchFamily="2" charset="-122"/>
              </a:rPr>
              <a:t>N</a:t>
            </a:r>
            <a:r>
              <a:rPr lang="en-US" altLang="zh-CN" sz="3200" b="1" dirty="0">
                <a:solidFill>
                  <a:srgbClr val="FF0000"/>
                </a:solidFill>
                <a:latin typeface="+mn-lt"/>
                <a:ea typeface="黑体" panose="02010609060101010101" pitchFamily="2" charset="-122"/>
              </a:rPr>
              <a:t> – 1)/2 </a:t>
            </a:r>
            <a:r>
              <a:rPr lang="zh-CN" altLang="en-US" sz="3200" b="1" dirty="0">
                <a:latin typeface="+mn-lt"/>
                <a:ea typeface="黑体" panose="02010609060101010101" pitchFamily="2" charset="-122"/>
              </a:rPr>
              <a:t>对电线。</a:t>
            </a:r>
            <a:r>
              <a:rPr lang="zh-CN" altLang="en-US" sz="3200" b="1" dirty="0">
                <a:ea typeface="黑体" panose="02010609060101010101" pitchFamily="2" charset="-122"/>
              </a:rPr>
              <a:t>这种直接连接方法</a:t>
            </a:r>
            <a:r>
              <a:rPr lang="zh-CN" altLang="en-US" sz="3200" b="1" dirty="0">
                <a:latin typeface="+mn-lt"/>
                <a:ea typeface="黑体" panose="02010609060101010101" pitchFamily="2" charset="-122"/>
              </a:rPr>
              <a:t>所需要的电线对的数量与电话机数量的平方</a:t>
            </a:r>
            <a:r>
              <a:rPr lang="zh-CN" altLang="en-US" sz="3200" b="1" dirty="0">
                <a:solidFill>
                  <a:srgbClr val="FF0000"/>
                </a:solidFill>
                <a:latin typeface="+mn-lt"/>
                <a:ea typeface="黑体" panose="02010609060101010101" pitchFamily="2" charset="-122"/>
              </a:rPr>
              <a:t>（ </a:t>
            </a:r>
            <a:r>
              <a:rPr lang="en-US" altLang="zh-CN" sz="3200" b="1" i="1" dirty="0">
                <a:solidFill>
                  <a:srgbClr val="FF0000"/>
                </a:solidFill>
                <a:latin typeface="+mn-lt"/>
                <a:ea typeface="黑体" panose="02010609060101010101" pitchFamily="2" charset="-122"/>
              </a:rPr>
              <a:t>N</a:t>
            </a:r>
            <a:r>
              <a:rPr lang="en-US" altLang="zh-CN" sz="3200" b="1" baseline="30000" dirty="0">
                <a:solidFill>
                  <a:srgbClr val="FF0000"/>
                </a:solidFill>
                <a:latin typeface="+mn-lt"/>
                <a:ea typeface="黑体" panose="02010609060101010101" pitchFamily="2" charset="-122"/>
              </a:rPr>
              <a:t>2</a:t>
            </a:r>
            <a:r>
              <a:rPr lang="en-US" altLang="zh-CN" sz="3200" b="1" dirty="0">
                <a:solidFill>
                  <a:srgbClr val="FF0000"/>
                </a:solidFill>
                <a:latin typeface="+mn-lt"/>
                <a:ea typeface="黑体" panose="02010609060101010101" pitchFamily="2" charset="-122"/>
              </a:rPr>
              <a:t> </a:t>
            </a:r>
            <a:r>
              <a:rPr lang="zh-CN" altLang="en-US" sz="3200" b="1" dirty="0">
                <a:solidFill>
                  <a:srgbClr val="FF0000"/>
                </a:solidFill>
                <a:latin typeface="+mn-lt"/>
                <a:ea typeface="黑体" panose="02010609060101010101" pitchFamily="2" charset="-122"/>
              </a:rPr>
              <a:t>）</a:t>
            </a:r>
            <a:r>
              <a:rPr lang="zh-CN" altLang="en-US" sz="3200" b="1" dirty="0">
                <a:latin typeface="+mn-lt"/>
                <a:ea typeface="黑体" panose="02010609060101010101" pitchFamily="2" charset="-122"/>
              </a:rPr>
              <a:t>成正比。</a:t>
            </a:r>
            <a:endParaRPr lang="en-US" altLang="zh-CN" sz="3200" b="1" dirty="0">
              <a:latin typeface="+mn-lt"/>
              <a:ea typeface="黑体" panose="02010609060101010101" pitchFamily="2" charset="-122"/>
            </a:endParaRPr>
          </a:p>
        </p:txBody>
      </p:sp>
      <p:sp>
        <p:nvSpPr>
          <p:cNvPr id="5" name="AutoShape 2" descr="N 部话机两两直接相连 的图像结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53340" t="21760" b="5148"/>
          <a:stretch>
            <a:fillRect/>
          </a:stretch>
        </p:blipFill>
        <p:spPr>
          <a:xfrm>
            <a:off x="3602816" y="2996952"/>
            <a:ext cx="2844384" cy="313294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a:r>
              <a:rPr lang="zh-CN" altLang="en-US" dirty="0"/>
              <a:t>使用交换机</a:t>
            </a:r>
          </a:p>
        </p:txBody>
      </p:sp>
      <p:sp>
        <p:nvSpPr>
          <p:cNvPr id="35843" name="Rectangle 3"/>
          <p:cNvSpPr>
            <a:spLocks noGrp="1" noChangeArrowheads="1"/>
          </p:cNvSpPr>
          <p:nvPr>
            <p:ph idx="1"/>
          </p:nvPr>
        </p:nvSpPr>
        <p:spPr/>
        <p:txBody>
          <a:bodyPr/>
          <a:lstStyle/>
          <a:p>
            <a:r>
              <a:rPr lang="zh-CN" altLang="en-US" dirty="0"/>
              <a:t>当电话机的数量增多时，就要使用</a:t>
            </a:r>
            <a:r>
              <a:rPr lang="zh-CN" altLang="en-US" dirty="0">
                <a:solidFill>
                  <a:srgbClr val="FF0000"/>
                </a:solidFill>
              </a:rPr>
              <a:t>交换机</a:t>
            </a:r>
            <a:r>
              <a:rPr lang="zh-CN" altLang="en-US" dirty="0"/>
              <a:t>来完成全网的交换任务。</a:t>
            </a:r>
            <a:endParaRPr lang="en-US" altLang="zh-CN" dirty="0"/>
          </a:p>
        </p:txBody>
      </p:sp>
      <p:sp>
        <p:nvSpPr>
          <p:cNvPr id="35859" name="Text Box 19"/>
          <p:cNvSpPr txBox="1">
            <a:spLocks noChangeArrowheads="1"/>
          </p:cNvSpPr>
          <p:nvPr/>
        </p:nvSpPr>
        <p:spPr bwMode="auto">
          <a:xfrm rot="1458061">
            <a:off x="4172723" y="2548731"/>
            <a:ext cx="80021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a:solidFill>
                  <a:srgbClr val="333399"/>
                </a:solidFill>
                <a:latin typeface="Times New Roman" panose="02020603050405020304" pitchFamily="18" charset="0"/>
              </a:rPr>
              <a:t>…</a:t>
            </a:r>
          </a:p>
        </p:txBody>
      </p:sp>
      <p:sp>
        <p:nvSpPr>
          <p:cNvPr id="35844" name="Line 4"/>
          <p:cNvSpPr>
            <a:spLocks noChangeShapeType="1"/>
          </p:cNvSpPr>
          <p:nvPr/>
        </p:nvSpPr>
        <p:spPr bwMode="auto">
          <a:xfrm flipH="1" flipV="1">
            <a:off x="3674241" y="4207242"/>
            <a:ext cx="1370675" cy="4937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 name="Line 5"/>
          <p:cNvSpPr>
            <a:spLocks noChangeShapeType="1"/>
          </p:cNvSpPr>
          <p:nvPr/>
        </p:nvSpPr>
        <p:spPr bwMode="auto">
          <a:xfrm flipV="1">
            <a:off x="3283850" y="4207243"/>
            <a:ext cx="79110" cy="1006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 name="Line 6"/>
          <p:cNvSpPr>
            <a:spLocks noChangeShapeType="1"/>
          </p:cNvSpPr>
          <p:nvPr/>
        </p:nvSpPr>
        <p:spPr bwMode="auto">
          <a:xfrm flipV="1">
            <a:off x="1412717" y="4207242"/>
            <a:ext cx="1716352" cy="2603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7" name="Line 7"/>
          <p:cNvSpPr>
            <a:spLocks noChangeShapeType="1"/>
          </p:cNvSpPr>
          <p:nvPr/>
        </p:nvSpPr>
        <p:spPr bwMode="auto">
          <a:xfrm>
            <a:off x="2348283" y="2911842"/>
            <a:ext cx="667279" cy="9080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8" name="Text Box 8"/>
          <p:cNvSpPr txBox="1">
            <a:spLocks noChangeArrowheads="1"/>
          </p:cNvSpPr>
          <p:nvPr/>
        </p:nvSpPr>
        <p:spPr bwMode="auto">
          <a:xfrm>
            <a:off x="3087793" y="2424479"/>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49" name="Text Box 9"/>
          <p:cNvSpPr txBox="1">
            <a:spLocks noChangeArrowheads="1"/>
          </p:cNvSpPr>
          <p:nvPr/>
        </p:nvSpPr>
        <p:spPr bwMode="auto">
          <a:xfrm>
            <a:off x="1067037" y="3127742"/>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50" name="Text Box 10"/>
          <p:cNvSpPr txBox="1">
            <a:spLocks noChangeArrowheads="1"/>
          </p:cNvSpPr>
          <p:nvPr/>
        </p:nvSpPr>
        <p:spPr bwMode="auto">
          <a:xfrm>
            <a:off x="1785910" y="4710479"/>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51" name="Text Box 11"/>
          <p:cNvSpPr txBox="1">
            <a:spLocks noChangeArrowheads="1"/>
          </p:cNvSpPr>
          <p:nvPr/>
        </p:nvSpPr>
        <p:spPr bwMode="auto">
          <a:xfrm>
            <a:off x="5007081" y="3407142"/>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52" name="Text Box 12"/>
          <p:cNvSpPr txBox="1">
            <a:spLocks noChangeArrowheads="1"/>
          </p:cNvSpPr>
          <p:nvPr/>
        </p:nvSpPr>
        <p:spPr bwMode="auto">
          <a:xfrm>
            <a:off x="3908133" y="4646979"/>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53" name="Line 13"/>
          <p:cNvSpPr>
            <a:spLocks noChangeShapeType="1"/>
          </p:cNvSpPr>
          <p:nvPr/>
        </p:nvSpPr>
        <p:spPr bwMode="auto">
          <a:xfrm flipH="1" flipV="1">
            <a:off x="3440350" y="2767379"/>
            <a:ext cx="13758" cy="11557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4" name="Line 14"/>
          <p:cNvSpPr>
            <a:spLocks noChangeShapeType="1"/>
          </p:cNvSpPr>
          <p:nvPr/>
        </p:nvSpPr>
        <p:spPr bwMode="auto">
          <a:xfrm flipV="1">
            <a:off x="3830744" y="3775443"/>
            <a:ext cx="1544373" cy="2571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5" name="Line 15"/>
          <p:cNvSpPr>
            <a:spLocks noChangeShapeType="1"/>
          </p:cNvSpPr>
          <p:nvPr/>
        </p:nvSpPr>
        <p:spPr bwMode="auto">
          <a:xfrm>
            <a:off x="1490106" y="3559542"/>
            <a:ext cx="1589088" cy="46196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6" name="Line 16"/>
          <p:cNvSpPr>
            <a:spLocks noChangeShapeType="1"/>
          </p:cNvSpPr>
          <p:nvPr/>
        </p:nvSpPr>
        <p:spPr bwMode="auto">
          <a:xfrm flipV="1">
            <a:off x="2191782" y="4280267"/>
            <a:ext cx="1014677" cy="863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7" name="Line 17"/>
          <p:cNvSpPr>
            <a:spLocks noChangeShapeType="1"/>
          </p:cNvSpPr>
          <p:nvPr/>
        </p:nvSpPr>
        <p:spPr bwMode="auto">
          <a:xfrm flipH="1" flipV="1">
            <a:off x="3362960" y="4062779"/>
            <a:ext cx="921808" cy="9350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60" name="Text Box 20"/>
          <p:cNvSpPr txBox="1">
            <a:spLocks noChangeArrowheads="1"/>
          </p:cNvSpPr>
          <p:nvPr/>
        </p:nvSpPr>
        <p:spPr bwMode="auto">
          <a:xfrm>
            <a:off x="944933" y="4046904"/>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61" name="Text Box 21"/>
          <p:cNvSpPr txBox="1">
            <a:spLocks noChangeArrowheads="1"/>
          </p:cNvSpPr>
          <p:nvPr/>
        </p:nvSpPr>
        <p:spPr bwMode="auto">
          <a:xfrm>
            <a:off x="2007764" y="2565767"/>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62" name="Text Box 22"/>
          <p:cNvSpPr txBox="1">
            <a:spLocks noChangeArrowheads="1"/>
          </p:cNvSpPr>
          <p:nvPr/>
        </p:nvSpPr>
        <p:spPr bwMode="auto">
          <a:xfrm>
            <a:off x="2883137" y="4835892"/>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63" name="Text Box 23"/>
          <p:cNvSpPr txBox="1">
            <a:spLocks noChangeArrowheads="1"/>
          </p:cNvSpPr>
          <p:nvPr/>
        </p:nvSpPr>
        <p:spPr bwMode="auto">
          <a:xfrm>
            <a:off x="4647644" y="4312017"/>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anose="02020603050405020304" pitchFamily="18" charset="0"/>
                <a:sym typeface="Wingdings" panose="05000000000000000000" pitchFamily="2" charset="2"/>
              </a:rPr>
              <a:t></a:t>
            </a:r>
            <a:r>
              <a:rPr kumimoji="1" lang="en-US" altLang="zh-CN" sz="3600">
                <a:latin typeface="Times New Roman" panose="02020603050405020304" pitchFamily="18" charset="0"/>
              </a:rPr>
              <a:t> </a:t>
            </a:r>
          </a:p>
        </p:txBody>
      </p:sp>
      <p:sp>
        <p:nvSpPr>
          <p:cNvPr id="35858" name="AutoShape 18"/>
          <p:cNvSpPr>
            <a:spLocks noChangeArrowheads="1"/>
          </p:cNvSpPr>
          <p:nvPr/>
        </p:nvSpPr>
        <p:spPr bwMode="auto">
          <a:xfrm>
            <a:off x="2857341" y="3630979"/>
            <a:ext cx="1284684" cy="730250"/>
          </a:xfrm>
          <a:prstGeom prst="cube">
            <a:avLst>
              <a:gd name="adj" fmla="val 25000"/>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solidFill>
                <a:srgbClr val="333399"/>
              </a:solidFill>
              <a:latin typeface="Times New Roman" panose="02020603050405020304" pitchFamily="18" charset="0"/>
            </a:endParaRPr>
          </a:p>
        </p:txBody>
      </p:sp>
      <p:sp>
        <p:nvSpPr>
          <p:cNvPr id="35864" name="Text Box 24"/>
          <p:cNvSpPr txBox="1">
            <a:spLocks noChangeArrowheads="1"/>
          </p:cNvSpPr>
          <p:nvPr/>
        </p:nvSpPr>
        <p:spPr bwMode="auto">
          <a:xfrm>
            <a:off x="2843583" y="3824654"/>
            <a:ext cx="1107996" cy="46166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Times New Roman" panose="02020603050405020304" pitchFamily="18" charset="0"/>
                <a:ea typeface="黑体" panose="02010609060101010101" pitchFamily="2" charset="-122"/>
              </a:rPr>
              <a:t>交换机</a:t>
            </a:r>
          </a:p>
        </p:txBody>
      </p:sp>
      <p:sp>
        <p:nvSpPr>
          <p:cNvPr id="2" name="矩形 1"/>
          <p:cNvSpPr/>
          <p:nvPr/>
        </p:nvSpPr>
        <p:spPr>
          <a:xfrm>
            <a:off x="5817096" y="2776860"/>
            <a:ext cx="3928502" cy="2308324"/>
          </a:xfrm>
          <a:prstGeom prst="rect">
            <a:avLst/>
          </a:prstGeom>
          <a:solidFill>
            <a:srgbClr val="FFFF66"/>
          </a:solidFill>
        </p:spPr>
        <p:txBody>
          <a:bodyPr wrap="square">
            <a:spAutoFit/>
          </a:bodyPr>
          <a:lstStyle/>
          <a:p>
            <a:r>
              <a:rPr lang="zh-CN" altLang="zh-CN" sz="2400" b="1" dirty="0">
                <a:latin typeface="+mn-lt"/>
                <a:ea typeface="黑体" panose="02010609060101010101" pitchFamily="2" charset="-122"/>
              </a:rPr>
              <a:t>每一部电话都</a:t>
            </a:r>
            <a:r>
              <a:rPr lang="zh-CN" altLang="en-US" sz="2400" b="1" dirty="0">
                <a:latin typeface="+mn-lt"/>
                <a:ea typeface="黑体" panose="02010609060101010101" pitchFamily="2" charset="-122"/>
              </a:rPr>
              <a:t>直接</a:t>
            </a:r>
            <a:r>
              <a:rPr lang="zh-CN" altLang="zh-CN" sz="2400" b="1" dirty="0">
                <a:latin typeface="+mn-lt"/>
                <a:ea typeface="黑体" panose="02010609060101010101" pitchFamily="2" charset="-122"/>
              </a:rPr>
              <a:t>连接到交换机上，而交换机使用交换的方法，让电话用户彼此之间可以很方便地通信。</a:t>
            </a:r>
            <a:r>
              <a:rPr lang="zh-CN" altLang="en-US" sz="2400" b="1" dirty="0">
                <a:latin typeface="+mn-lt"/>
                <a:ea typeface="黑体" panose="02010609060101010101" pitchFamily="2" charset="-122"/>
              </a:rPr>
              <a:t> </a:t>
            </a:r>
            <a:endParaRPr lang="en-US" altLang="zh-CN" sz="2400" b="1" dirty="0">
              <a:latin typeface="+mn-lt"/>
              <a:ea typeface="黑体" panose="02010609060101010101" pitchFamily="2" charset="-122"/>
            </a:endParaRPr>
          </a:p>
          <a:p>
            <a:r>
              <a:rPr lang="zh-CN" altLang="en-US" sz="2400" b="1" dirty="0">
                <a:latin typeface="+mn-lt"/>
                <a:ea typeface="黑体" panose="02010609060101010101" pitchFamily="2" charset="-122"/>
              </a:rPr>
              <a:t>所采用的</a:t>
            </a:r>
            <a:r>
              <a:rPr lang="zh-CN" altLang="zh-CN" sz="2400" b="1" dirty="0">
                <a:latin typeface="+mn-lt"/>
                <a:ea typeface="黑体" panose="02010609060101010101" pitchFamily="2" charset="-122"/>
              </a:rPr>
              <a:t>交换方式</a:t>
            </a:r>
            <a:r>
              <a:rPr lang="zh-CN" altLang="en-US" sz="2400" b="1" dirty="0">
                <a:latin typeface="+mn-lt"/>
                <a:ea typeface="黑体" panose="02010609060101010101" pitchFamily="2" charset="-122"/>
              </a:rPr>
              <a:t>就</a:t>
            </a:r>
            <a:r>
              <a:rPr lang="zh-CN" altLang="zh-CN" sz="2400" b="1" dirty="0">
                <a:latin typeface="+mn-lt"/>
                <a:ea typeface="黑体" panose="02010609060101010101" pitchFamily="2" charset="-122"/>
              </a:rPr>
              <a:t>是</a:t>
            </a:r>
            <a:r>
              <a:rPr lang="zh-CN" altLang="zh-CN" sz="2400" b="1" dirty="0">
                <a:solidFill>
                  <a:srgbClr val="FF0000"/>
                </a:solidFill>
                <a:latin typeface="+mn-lt"/>
                <a:ea typeface="黑体" panose="02010609060101010101" pitchFamily="2" charset="-122"/>
              </a:rPr>
              <a:t>电路交换</a:t>
            </a:r>
            <a:r>
              <a:rPr lang="en-US" altLang="zh-CN" sz="2400" b="1" dirty="0">
                <a:solidFill>
                  <a:srgbClr val="FF0000"/>
                </a:solidFill>
                <a:latin typeface="+mn-lt"/>
                <a:ea typeface="黑体" panose="02010609060101010101" pitchFamily="2" charset="-122"/>
              </a:rPr>
              <a:t> (circuit switching)</a:t>
            </a:r>
            <a:r>
              <a:rPr lang="zh-CN" altLang="en-US" sz="2400" b="1" dirty="0">
                <a:solidFill>
                  <a:srgbClr val="FF0000"/>
                </a:solidFill>
                <a:latin typeface="+mn-lt"/>
                <a:ea typeface="黑体" panose="02010609060101010101" pitchFamily="2" charset="-122"/>
              </a:rPr>
              <a:t>。</a:t>
            </a:r>
          </a:p>
        </p:txBody>
      </p:sp>
      <p:sp>
        <p:nvSpPr>
          <p:cNvPr id="27" name="矩形 26"/>
          <p:cNvSpPr/>
          <p:nvPr/>
        </p:nvSpPr>
        <p:spPr>
          <a:xfrm>
            <a:off x="478708" y="5845334"/>
            <a:ext cx="5554412" cy="461665"/>
          </a:xfrm>
          <a:prstGeom prst="rect">
            <a:avLst/>
          </a:prstGeom>
        </p:spPr>
        <p:txBody>
          <a:bodyPr wrap="square">
            <a:spAutoFit/>
          </a:bodyPr>
          <a:lstStyle/>
          <a:p>
            <a:pPr algn="ctr"/>
            <a:r>
              <a:rPr lang="zh-CN" altLang="zh-CN" sz="2400" b="1" dirty="0">
                <a:latin typeface="+mn-lt"/>
                <a:ea typeface="黑体" panose="02010609060101010101" pitchFamily="2" charset="-122"/>
              </a:rPr>
              <a:t>电话机的不同连接方法</a:t>
            </a:r>
            <a:endParaRPr lang="zh-CN" altLang="en-US" sz="2400" b="1" dirty="0">
              <a:latin typeface="+mn-lt"/>
              <a:ea typeface="黑体" panose="02010609060101010101" pitchFamily="2" charset="-122"/>
            </a:endParaRPr>
          </a:p>
        </p:txBody>
      </p:sp>
      <p:sp>
        <p:nvSpPr>
          <p:cNvPr id="28" name="矩形 27"/>
          <p:cNvSpPr/>
          <p:nvPr/>
        </p:nvSpPr>
        <p:spPr>
          <a:xfrm>
            <a:off x="1067037" y="5405154"/>
            <a:ext cx="4164199" cy="400110"/>
          </a:xfrm>
          <a:prstGeom prst="rect">
            <a:avLst/>
          </a:prstGeom>
        </p:spPr>
        <p:txBody>
          <a:bodyPr wrap="square">
            <a:spAutoFit/>
          </a:bodyPr>
          <a:lstStyle/>
          <a:p>
            <a:pPr algn="ctr"/>
            <a:r>
              <a:rPr lang="en-US" altLang="zh-CN" sz="2000" b="1" dirty="0">
                <a:latin typeface="+mn-lt"/>
                <a:ea typeface="黑体" panose="02010609060101010101" pitchFamily="2" charset="-122"/>
              </a:rPr>
              <a:t> (c) </a:t>
            </a:r>
            <a:r>
              <a:rPr lang="zh-CN" altLang="en-US" sz="2000" b="1" dirty="0">
                <a:latin typeface="+mn-lt"/>
                <a:ea typeface="黑体" panose="02010609060101010101" pitchFamily="2" charset="-122"/>
              </a:rPr>
              <a:t>用交换机连接许多</a:t>
            </a:r>
            <a:r>
              <a:rPr lang="zh-CN" altLang="zh-CN" sz="2000" b="1" dirty="0">
                <a:latin typeface="+mn-lt"/>
                <a:ea typeface="黑体" panose="02010609060101010101" pitchFamily="2" charset="-122"/>
              </a:rPr>
              <a:t>部电话</a:t>
            </a:r>
            <a:endParaRPr lang="zh-CN" altLang="en-US" sz="2000" b="1" dirty="0">
              <a:latin typeface="+mn-lt"/>
              <a:ea typeface="黑体" panose="02010609060101010101" pitchFamily="2" charset="-122"/>
            </a:endParaRPr>
          </a:p>
        </p:txBody>
      </p:sp>
      <p:pic>
        <p:nvPicPr>
          <p:cNvPr id="101" name="图片 100"/>
          <p:cNvPicPr/>
          <p:nvPr/>
        </p:nvPicPr>
        <p:blipFill>
          <a:blip r:embed="rId3"/>
          <a:stretch>
            <a:fillRect/>
          </a:stretch>
        </p:blipFill>
        <p:spPr>
          <a:xfrm>
            <a:off x="6104890" y="260985"/>
            <a:ext cx="3518535" cy="21710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p:stCondLst>
                              <p:cond delay="300"/>
                            </p:stCondLst>
                            <p:childTnLst>
                              <p:par>
                                <p:cTn id="8" presetID="1" presetClass="entr" presetSubtype="0" fill="hold" grpId="0"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p:stCondLst>
                              <p:cond delay="600"/>
                            </p:stCondLst>
                            <p:childTnLst>
                              <p:par>
                                <p:cTn id="11" presetID="1" presetClass="entr" presetSubtype="0" fill="hold" grpId="0"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p:stCondLst>
                              <p:cond delay="900"/>
                            </p:stCondLst>
                            <p:childTnLst>
                              <p:par>
                                <p:cTn id="14" presetID="1" presetClass="entr" presetSubtype="0" fill="hold" grpId="0"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p:stCondLst>
                              <p:cond delay="1200"/>
                            </p:stCondLst>
                            <p:childTnLst>
                              <p:par>
                                <p:cTn id="17" presetID="1" presetClass="entr" presetSubtype="0" fill="hold" grpId="0"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p:stCondLst>
                              <p:cond delay="1800"/>
                            </p:stCondLst>
                            <p:childTnLst>
                              <p:par>
                                <p:cTn id="23" presetID="1" presetClass="entr" presetSubtype="0" fill="hold" grpId="0"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p:stCondLst>
                              <p:cond delay="2100"/>
                            </p:stCondLst>
                            <p:childTnLst>
                              <p:par>
                                <p:cTn id="26" presetID="1" presetClass="entr" presetSubtype="0" fill="hold" grpId="0"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p:stCondLst>
                              <p:cond delay="2400"/>
                            </p:stCondLst>
                            <p:childTnLst>
                              <p:par>
                                <p:cTn id="29" presetID="1" presetClass="entr" presetSubtype="0" fill="hold" grpId="0"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wipe(down)">
                                      <p:cBhvr>
                                        <p:cTn id="35"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P spid="35845" grpId="0" animBg="1"/>
      <p:bldP spid="35846" grpId="0" animBg="1"/>
      <p:bldP spid="35847" grpId="0" animBg="1"/>
      <p:bldP spid="35853" grpId="0" animBg="1"/>
      <p:bldP spid="35854" grpId="0" animBg="1"/>
      <p:bldP spid="35855" grpId="0" animBg="1"/>
      <p:bldP spid="35856" grpId="0" animBg="1"/>
      <p:bldP spid="3585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lgn="ctr"/>
            <a:r>
              <a:rPr lang="en-US" altLang="zh-CN"/>
              <a:t>“</a:t>
            </a:r>
            <a:r>
              <a:rPr lang="zh-CN" altLang="en-US"/>
              <a:t>交换”的含义</a:t>
            </a:r>
          </a:p>
        </p:txBody>
      </p:sp>
      <p:sp>
        <p:nvSpPr>
          <p:cNvPr id="40963" name="Rectangle 3"/>
          <p:cNvSpPr>
            <a:spLocks noGrp="1" noChangeArrowheads="1"/>
          </p:cNvSpPr>
          <p:nvPr>
            <p:ph idx="1"/>
          </p:nvPr>
        </p:nvSpPr>
        <p:spPr/>
        <p:txBody>
          <a:bodyPr/>
          <a:lstStyle/>
          <a:p>
            <a:r>
              <a:rPr lang="zh-CN" altLang="en-US" dirty="0"/>
              <a:t>在这里，“</a:t>
            </a:r>
            <a:r>
              <a:rPr lang="zh-CN" altLang="en-US" dirty="0">
                <a:solidFill>
                  <a:srgbClr val="FF0000"/>
                </a:solidFill>
              </a:rPr>
              <a:t>交换</a:t>
            </a:r>
            <a:r>
              <a:rPr lang="zh-CN" altLang="en-US" dirty="0"/>
              <a:t>”</a:t>
            </a:r>
            <a:r>
              <a:rPr lang="en-US" altLang="zh-CN" dirty="0"/>
              <a:t>(switching)</a:t>
            </a:r>
            <a:r>
              <a:rPr lang="zh-CN" altLang="en-US" dirty="0"/>
              <a:t>的含义就是</a:t>
            </a:r>
            <a:r>
              <a:rPr lang="zh-CN" altLang="en-US" dirty="0">
                <a:solidFill>
                  <a:srgbClr val="FF0000"/>
                </a:solidFill>
              </a:rPr>
              <a:t>转接 </a:t>
            </a:r>
            <a:r>
              <a:rPr lang="en-US" altLang="zh-CN" dirty="0"/>
              <a:t>—— </a:t>
            </a:r>
            <a:r>
              <a:rPr lang="zh-CN" altLang="en-US" dirty="0"/>
              <a:t>把一条电话线转接到另一条电话线，使它们连通起来。</a:t>
            </a:r>
          </a:p>
          <a:p>
            <a:r>
              <a:rPr lang="zh-CN" altLang="en-US" dirty="0"/>
              <a:t>从通信资源的分配角度来看，“交换”就是按照某种方式</a:t>
            </a:r>
            <a:r>
              <a:rPr lang="zh-CN" altLang="en-US" dirty="0">
                <a:solidFill>
                  <a:srgbClr val="FF0000"/>
                </a:solidFill>
              </a:rPr>
              <a:t>动态地分配</a:t>
            </a:r>
            <a:r>
              <a:rPr lang="zh-CN" altLang="en-US" dirty="0"/>
              <a:t>传输线路的资源。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a:r>
              <a:rPr lang="zh-CN" altLang="en-US" dirty="0"/>
              <a:t>电路交换特点</a:t>
            </a:r>
          </a:p>
        </p:txBody>
      </p:sp>
      <p:sp>
        <p:nvSpPr>
          <p:cNvPr id="41987" name="Rectangle 3"/>
          <p:cNvSpPr>
            <a:spLocks noGrp="1" noChangeArrowheads="1"/>
          </p:cNvSpPr>
          <p:nvPr>
            <p:ph idx="1"/>
          </p:nvPr>
        </p:nvSpPr>
        <p:spPr/>
        <p:txBody>
          <a:bodyPr/>
          <a:lstStyle/>
          <a:p>
            <a:r>
              <a:rPr lang="zh-CN" altLang="en-US" dirty="0"/>
              <a:t>电路交换必定是</a:t>
            </a:r>
            <a:r>
              <a:rPr lang="zh-CN" altLang="en-US" dirty="0">
                <a:solidFill>
                  <a:srgbClr val="FF0000"/>
                </a:solidFill>
              </a:rPr>
              <a:t>面向连接</a:t>
            </a:r>
            <a:r>
              <a:rPr lang="zh-CN" altLang="en-US" dirty="0"/>
              <a:t>的。 </a:t>
            </a:r>
          </a:p>
          <a:p>
            <a:r>
              <a:rPr lang="zh-CN" altLang="en-US" dirty="0"/>
              <a:t>电路交换分为三个阶段：</a:t>
            </a:r>
          </a:p>
          <a:p>
            <a:pPr lvl="1"/>
            <a:r>
              <a:rPr lang="zh-CN" altLang="en-US" dirty="0">
                <a:solidFill>
                  <a:srgbClr val="FF0000"/>
                </a:solidFill>
                <a:ea typeface="黑体" panose="02010609060101010101" pitchFamily="2" charset="-122"/>
              </a:rPr>
              <a:t>建立连接：</a:t>
            </a:r>
            <a:r>
              <a:rPr lang="zh-CN" altLang="en-US" dirty="0">
                <a:ea typeface="黑体" panose="02010609060101010101" pitchFamily="2" charset="-122"/>
              </a:rPr>
              <a:t>建立</a:t>
            </a:r>
            <a:r>
              <a:rPr lang="zh-CN" altLang="zh-CN" dirty="0"/>
              <a:t>一条专用的物理通路</a:t>
            </a:r>
            <a:r>
              <a:rPr lang="zh-CN" altLang="en-US" dirty="0"/>
              <a:t>，以</a:t>
            </a:r>
            <a:r>
              <a:rPr lang="zh-CN" altLang="zh-CN" dirty="0"/>
              <a:t>保证双方通话时所需的通信资源在通信时不会被其他用户占用</a:t>
            </a:r>
            <a:r>
              <a:rPr lang="zh-CN" altLang="en-US" dirty="0"/>
              <a:t>；</a:t>
            </a:r>
            <a:endParaRPr lang="zh-CN" altLang="en-US" dirty="0">
              <a:solidFill>
                <a:srgbClr val="0000CC"/>
              </a:solidFill>
              <a:ea typeface="黑体" panose="02010609060101010101" pitchFamily="2" charset="-122"/>
            </a:endParaRPr>
          </a:p>
          <a:p>
            <a:pPr lvl="1"/>
            <a:r>
              <a:rPr lang="zh-CN" altLang="en-US" dirty="0">
                <a:solidFill>
                  <a:srgbClr val="FF0000"/>
                </a:solidFill>
              </a:rPr>
              <a:t>通信：</a:t>
            </a:r>
            <a:r>
              <a:rPr lang="zh-CN" altLang="zh-CN" dirty="0"/>
              <a:t>主叫和被叫双方就能互相通电话</a:t>
            </a:r>
            <a:r>
              <a:rPr lang="zh-CN" altLang="en-US" dirty="0"/>
              <a:t>；</a:t>
            </a:r>
            <a:endParaRPr lang="zh-CN" altLang="en-US" dirty="0">
              <a:solidFill>
                <a:srgbClr val="0000CC"/>
              </a:solidFill>
              <a:ea typeface="黑体" panose="02010609060101010101" pitchFamily="2" charset="-122"/>
            </a:endParaRPr>
          </a:p>
          <a:p>
            <a:pPr lvl="1"/>
            <a:r>
              <a:rPr lang="zh-CN" altLang="en-US" dirty="0">
                <a:solidFill>
                  <a:srgbClr val="FF0000"/>
                </a:solidFill>
              </a:rPr>
              <a:t>释放连接：</a:t>
            </a:r>
            <a:r>
              <a:rPr lang="zh-CN" altLang="zh-CN" dirty="0"/>
              <a:t>释放刚才使用的这条专用的物理通路（</a:t>
            </a:r>
            <a:r>
              <a:rPr lang="zh-CN" altLang="en-US" dirty="0"/>
              <a:t>释放</a:t>
            </a:r>
            <a:r>
              <a:rPr lang="zh-CN" altLang="zh-CN" dirty="0"/>
              <a:t>刚才占用的所有通信资源</a:t>
            </a:r>
            <a:r>
              <a:rPr lang="zh-CN" altLang="en-US" dirty="0"/>
              <a:t>）。</a:t>
            </a:r>
            <a:endParaRPr lang="zh-CN" altLang="en-US" dirty="0">
              <a:solidFill>
                <a:srgbClr val="0000CC"/>
              </a:solidFill>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a:r>
              <a:rPr lang="zh-CN" altLang="en-US"/>
              <a:t>电路交换举例</a:t>
            </a:r>
          </a:p>
        </p:txBody>
      </p:sp>
      <p:sp>
        <p:nvSpPr>
          <p:cNvPr id="43011" name="Rectangle 3"/>
          <p:cNvSpPr>
            <a:spLocks noGrp="1" noChangeArrowheads="1"/>
          </p:cNvSpPr>
          <p:nvPr>
            <p:ph idx="1"/>
          </p:nvPr>
        </p:nvSpPr>
        <p:spPr/>
        <p:txBody>
          <a:bodyPr/>
          <a:lstStyle/>
          <a:p>
            <a:r>
              <a:rPr lang="en-US" altLang="zh-CN"/>
              <a:t>A </a:t>
            </a:r>
            <a:r>
              <a:rPr lang="zh-CN" altLang="en-US"/>
              <a:t>和 </a:t>
            </a:r>
            <a:r>
              <a:rPr lang="en-US" altLang="zh-CN"/>
              <a:t>B </a:t>
            </a:r>
            <a:r>
              <a:rPr lang="zh-CN" altLang="en-US"/>
              <a:t>通话经过四个交换机</a:t>
            </a:r>
          </a:p>
          <a:p>
            <a:r>
              <a:rPr lang="zh-CN" altLang="en-US"/>
              <a:t>通话在 </a:t>
            </a:r>
            <a:r>
              <a:rPr lang="en-US" altLang="zh-CN"/>
              <a:t>A </a:t>
            </a:r>
            <a:r>
              <a:rPr lang="zh-CN" altLang="en-US"/>
              <a:t>到 </a:t>
            </a:r>
            <a:r>
              <a:rPr lang="en-US" altLang="zh-CN"/>
              <a:t>B </a:t>
            </a:r>
            <a:r>
              <a:rPr lang="zh-CN" altLang="en-US"/>
              <a:t>的连接上进行</a:t>
            </a:r>
          </a:p>
        </p:txBody>
      </p:sp>
      <p:sp>
        <p:nvSpPr>
          <p:cNvPr id="43088" name="Rectangle 80"/>
          <p:cNvSpPr>
            <a:spLocks noChangeArrowheads="1"/>
          </p:cNvSpPr>
          <p:nvPr/>
        </p:nvSpPr>
        <p:spPr bwMode="auto">
          <a:xfrm>
            <a:off x="0" y="26585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2" name="组合 1"/>
          <p:cNvGrpSpPr/>
          <p:nvPr/>
        </p:nvGrpSpPr>
        <p:grpSpPr>
          <a:xfrm>
            <a:off x="1064270" y="2564557"/>
            <a:ext cx="8137202" cy="2376611"/>
            <a:chOff x="1064270" y="2564557"/>
            <a:chExt cx="7777162" cy="2160587"/>
          </a:xfrm>
        </p:grpSpPr>
        <p:grpSp>
          <p:nvGrpSpPr>
            <p:cNvPr id="8" name="Group 6"/>
            <p:cNvGrpSpPr/>
            <p:nvPr/>
          </p:nvGrpSpPr>
          <p:grpSpPr bwMode="auto">
            <a:xfrm>
              <a:off x="2743845" y="2564557"/>
              <a:ext cx="4535487" cy="2160587"/>
              <a:chOff x="1680" y="240"/>
              <a:chExt cx="2529" cy="1270"/>
            </a:xfrm>
          </p:grpSpPr>
          <p:sp>
            <p:nvSpPr>
              <p:cNvPr id="9" name="Oval 7"/>
              <p:cNvSpPr>
                <a:spLocks noChangeArrowheads="1"/>
              </p:cNvSpPr>
              <p:nvPr/>
            </p:nvSpPr>
            <p:spPr bwMode="auto">
              <a:xfrm>
                <a:off x="2554" y="240"/>
                <a:ext cx="1088"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0" name="Oval 8"/>
              <p:cNvSpPr>
                <a:spLocks noChangeArrowheads="1"/>
              </p:cNvSpPr>
              <p:nvPr/>
            </p:nvSpPr>
            <p:spPr bwMode="auto">
              <a:xfrm>
                <a:off x="1941" y="381"/>
                <a:ext cx="827"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1" name="Oval 9"/>
              <p:cNvSpPr>
                <a:spLocks noChangeArrowheads="1"/>
              </p:cNvSpPr>
              <p:nvPr/>
            </p:nvSpPr>
            <p:spPr bwMode="auto">
              <a:xfrm>
                <a:off x="1680" y="702"/>
                <a:ext cx="552" cy="411"/>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2" name="Oval 10"/>
              <p:cNvSpPr>
                <a:spLocks noChangeArrowheads="1"/>
              </p:cNvSpPr>
              <p:nvPr/>
            </p:nvSpPr>
            <p:spPr bwMode="auto">
              <a:xfrm>
                <a:off x="1849" y="894"/>
                <a:ext cx="842" cy="450"/>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3" name="Oval 11"/>
              <p:cNvSpPr>
                <a:spLocks noChangeArrowheads="1"/>
              </p:cNvSpPr>
              <p:nvPr/>
            </p:nvSpPr>
            <p:spPr bwMode="auto">
              <a:xfrm>
                <a:off x="2462" y="971"/>
                <a:ext cx="1272" cy="539"/>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4" name="Oval 12"/>
              <p:cNvSpPr>
                <a:spLocks noChangeArrowheads="1"/>
              </p:cNvSpPr>
              <p:nvPr/>
            </p:nvSpPr>
            <p:spPr bwMode="auto">
              <a:xfrm>
                <a:off x="3289" y="394"/>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5" name="Oval 13"/>
              <p:cNvSpPr>
                <a:spLocks noChangeArrowheads="1"/>
              </p:cNvSpPr>
              <p:nvPr/>
            </p:nvSpPr>
            <p:spPr bwMode="auto">
              <a:xfrm>
                <a:off x="3412" y="663"/>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6" name="Oval 14"/>
              <p:cNvSpPr>
                <a:spLocks noChangeArrowheads="1"/>
              </p:cNvSpPr>
              <p:nvPr/>
            </p:nvSpPr>
            <p:spPr bwMode="auto">
              <a:xfrm>
                <a:off x="3335" y="753"/>
                <a:ext cx="797" cy="66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sp>
            <p:nvSpPr>
              <p:cNvPr id="17" name="Oval 15"/>
              <p:cNvSpPr>
                <a:spLocks noChangeArrowheads="1"/>
              </p:cNvSpPr>
              <p:nvPr/>
            </p:nvSpPr>
            <p:spPr bwMode="auto">
              <a:xfrm>
                <a:off x="2140" y="548"/>
                <a:ext cx="1640" cy="667"/>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p>
            </p:txBody>
          </p:sp>
        </p:grpSp>
        <p:sp>
          <p:nvSpPr>
            <p:cNvPr id="18" name="Line 23"/>
            <p:cNvSpPr>
              <a:spLocks noChangeShapeType="1"/>
            </p:cNvSpPr>
            <p:nvPr/>
          </p:nvSpPr>
          <p:spPr bwMode="auto">
            <a:xfrm>
              <a:off x="3175645" y="3717082"/>
              <a:ext cx="3527425" cy="0"/>
            </a:xfrm>
            <a:prstGeom prst="line">
              <a:avLst/>
            </a:prstGeom>
            <a:noFill/>
            <a:ln w="38100" cmpd="dbl">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9" name="Text Box 4"/>
            <p:cNvSpPr txBox="1">
              <a:spLocks noChangeArrowheads="1"/>
            </p:cNvSpPr>
            <p:nvPr/>
          </p:nvSpPr>
          <p:spPr bwMode="auto">
            <a:xfrm>
              <a:off x="1064270" y="3352008"/>
              <a:ext cx="698500" cy="587582"/>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kumimoji="1" lang="en-US" altLang="zh-CN" sz="3600" b="1" dirty="0">
                  <a:solidFill>
                    <a:srgbClr val="000000"/>
                  </a:solidFill>
                  <a:latin typeface="Times New Roman" panose="02020603050405020304" pitchFamily="18" charset="0"/>
                  <a:sym typeface="Wingdings" panose="05000000000000000000" pitchFamily="2" charset="2"/>
                </a:rPr>
                <a:t></a:t>
              </a:r>
              <a:r>
                <a:rPr kumimoji="1" lang="en-US" altLang="zh-CN" sz="3600" b="1" dirty="0">
                  <a:solidFill>
                    <a:srgbClr val="000000"/>
                  </a:solidFill>
                  <a:latin typeface="Times New Roman" panose="02020603050405020304" pitchFamily="18" charset="0"/>
                </a:rPr>
                <a:t> </a:t>
              </a:r>
              <a:endParaRPr kumimoji="1" lang="en-US" altLang="zh-CN" sz="3200" b="1" dirty="0">
                <a:latin typeface="Times New Roman" panose="02020603050405020304" pitchFamily="18" charset="0"/>
              </a:endParaRPr>
            </a:p>
          </p:txBody>
        </p:sp>
        <p:sp>
          <p:nvSpPr>
            <p:cNvPr id="20" name="Text Box 5"/>
            <p:cNvSpPr txBox="1">
              <a:spLocks noChangeArrowheads="1"/>
            </p:cNvSpPr>
            <p:nvPr/>
          </p:nvSpPr>
          <p:spPr bwMode="auto">
            <a:xfrm>
              <a:off x="8142932" y="3352008"/>
              <a:ext cx="698500" cy="587582"/>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kumimoji="1" lang="en-US" altLang="zh-CN" sz="3600" b="1">
                  <a:solidFill>
                    <a:srgbClr val="000000"/>
                  </a:solidFill>
                  <a:latin typeface="Times New Roman" panose="02020603050405020304" pitchFamily="18" charset="0"/>
                  <a:sym typeface="Wingdings" panose="05000000000000000000" pitchFamily="2" charset="2"/>
                </a:rPr>
                <a:t></a:t>
              </a:r>
              <a:r>
                <a:rPr kumimoji="1" lang="en-US" altLang="zh-CN" sz="3600" b="1">
                  <a:solidFill>
                    <a:srgbClr val="000000"/>
                  </a:solidFill>
                  <a:latin typeface="Times New Roman" panose="02020603050405020304" pitchFamily="18" charset="0"/>
                </a:rPr>
                <a:t> </a:t>
              </a:r>
              <a:endParaRPr kumimoji="1" lang="en-US" altLang="zh-CN" sz="3200" b="1">
                <a:latin typeface="Times New Roman" panose="02020603050405020304" pitchFamily="18" charset="0"/>
              </a:endParaRPr>
            </a:p>
          </p:txBody>
        </p:sp>
        <p:sp>
          <p:nvSpPr>
            <p:cNvPr id="21" name="Text Box 24"/>
            <p:cNvSpPr txBox="1">
              <a:spLocks noChangeArrowheads="1"/>
            </p:cNvSpPr>
            <p:nvPr/>
          </p:nvSpPr>
          <p:spPr bwMode="auto">
            <a:xfrm>
              <a:off x="1238895" y="3140819"/>
              <a:ext cx="317446"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Times New Roman" panose="02020603050405020304" pitchFamily="18" charset="0"/>
                </a:rPr>
                <a:t>A</a:t>
              </a:r>
            </a:p>
          </p:txBody>
        </p:sp>
        <p:sp>
          <p:nvSpPr>
            <p:cNvPr id="22" name="Text Box 25"/>
            <p:cNvSpPr txBox="1">
              <a:spLocks noChangeArrowheads="1"/>
            </p:cNvSpPr>
            <p:nvPr/>
          </p:nvSpPr>
          <p:spPr bwMode="auto">
            <a:xfrm>
              <a:off x="8328670" y="3140819"/>
              <a:ext cx="306722"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Times New Roman" panose="02020603050405020304" pitchFamily="18" charset="0"/>
                </a:rPr>
                <a:t>B</a:t>
              </a:r>
            </a:p>
          </p:txBody>
        </p:sp>
        <p:sp>
          <p:nvSpPr>
            <p:cNvPr id="23" name="Line 26"/>
            <p:cNvSpPr>
              <a:spLocks noChangeShapeType="1"/>
            </p:cNvSpPr>
            <p:nvPr/>
          </p:nvSpPr>
          <p:spPr bwMode="auto">
            <a:xfrm>
              <a:off x="1496070" y="3717082"/>
              <a:ext cx="15351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24" name="Line 27"/>
            <p:cNvSpPr>
              <a:spLocks noChangeShapeType="1"/>
            </p:cNvSpPr>
            <p:nvPr/>
          </p:nvSpPr>
          <p:spPr bwMode="auto">
            <a:xfrm>
              <a:off x="6776095" y="3717082"/>
              <a:ext cx="16335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25" name="AutoShape 16"/>
            <p:cNvSpPr>
              <a:spLocks noChangeArrowheads="1"/>
            </p:cNvSpPr>
            <p:nvPr/>
          </p:nvSpPr>
          <p:spPr bwMode="auto">
            <a:xfrm>
              <a:off x="2959745" y="3501182"/>
              <a:ext cx="431800" cy="431800"/>
            </a:xfrm>
            <a:prstGeom prst="cube">
              <a:avLst>
                <a:gd name="adj" fmla="val 25000"/>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Times New Roman" panose="02020603050405020304" pitchFamily="18" charset="0"/>
                </a:rPr>
                <a:t>C</a:t>
              </a:r>
            </a:p>
          </p:txBody>
        </p:sp>
        <p:sp>
          <p:nvSpPr>
            <p:cNvPr id="26" name="AutoShape 20"/>
            <p:cNvSpPr>
              <a:spLocks noChangeArrowheads="1"/>
            </p:cNvSpPr>
            <p:nvPr/>
          </p:nvSpPr>
          <p:spPr bwMode="auto">
            <a:xfrm>
              <a:off x="4159895" y="3501182"/>
              <a:ext cx="431800" cy="431800"/>
            </a:xfrm>
            <a:prstGeom prst="cube">
              <a:avLst>
                <a:gd name="adj" fmla="val 25000"/>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Times New Roman" panose="02020603050405020304" pitchFamily="18" charset="0"/>
                </a:rPr>
                <a:t>D</a:t>
              </a:r>
            </a:p>
          </p:txBody>
        </p:sp>
        <p:sp>
          <p:nvSpPr>
            <p:cNvPr id="27" name="AutoShape 21"/>
            <p:cNvSpPr>
              <a:spLocks noChangeArrowheads="1"/>
            </p:cNvSpPr>
            <p:nvPr/>
          </p:nvSpPr>
          <p:spPr bwMode="auto">
            <a:xfrm>
              <a:off x="5360045" y="3501182"/>
              <a:ext cx="431800" cy="431800"/>
            </a:xfrm>
            <a:prstGeom prst="cube">
              <a:avLst>
                <a:gd name="adj" fmla="val 25000"/>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Times New Roman" panose="02020603050405020304" pitchFamily="18" charset="0"/>
                </a:rPr>
                <a:t>E</a:t>
              </a:r>
            </a:p>
          </p:txBody>
        </p:sp>
        <p:sp>
          <p:nvSpPr>
            <p:cNvPr id="28" name="AutoShape 22"/>
            <p:cNvSpPr>
              <a:spLocks noChangeArrowheads="1"/>
            </p:cNvSpPr>
            <p:nvPr/>
          </p:nvSpPr>
          <p:spPr bwMode="auto">
            <a:xfrm>
              <a:off x="6560195" y="3501182"/>
              <a:ext cx="431800" cy="431800"/>
            </a:xfrm>
            <a:prstGeom prst="cube">
              <a:avLst>
                <a:gd name="adj" fmla="val 25000"/>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Times New Roman" panose="02020603050405020304" pitchFamily="18" charset="0"/>
                </a:rPr>
                <a:t>F</a:t>
              </a:r>
            </a:p>
          </p:txBody>
        </p:sp>
        <p:sp>
          <p:nvSpPr>
            <p:cNvPr id="29" name="Text Box 28"/>
            <p:cNvSpPr txBox="1">
              <a:spLocks noChangeArrowheads="1"/>
            </p:cNvSpPr>
            <p:nvPr/>
          </p:nvSpPr>
          <p:spPr bwMode="auto">
            <a:xfrm>
              <a:off x="4831407" y="2564557"/>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电信网</a:t>
              </a:r>
            </a:p>
          </p:txBody>
        </p:sp>
        <p:sp>
          <p:nvSpPr>
            <p:cNvPr id="30" name="Text Box 29"/>
            <p:cNvSpPr txBox="1">
              <a:spLocks noChangeArrowheads="1"/>
            </p:cNvSpPr>
            <p:nvPr/>
          </p:nvSpPr>
          <p:spPr bwMode="auto">
            <a:xfrm>
              <a:off x="2815282" y="3140819"/>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交换机</a:t>
              </a:r>
            </a:p>
          </p:txBody>
        </p:sp>
        <p:sp>
          <p:nvSpPr>
            <p:cNvPr id="31" name="Text Box 30"/>
            <p:cNvSpPr txBox="1">
              <a:spLocks noChangeArrowheads="1"/>
            </p:cNvSpPr>
            <p:nvPr/>
          </p:nvSpPr>
          <p:spPr bwMode="auto">
            <a:xfrm>
              <a:off x="3966220" y="3140819"/>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交换机</a:t>
              </a:r>
            </a:p>
          </p:txBody>
        </p:sp>
        <p:sp>
          <p:nvSpPr>
            <p:cNvPr id="32" name="Text Box 31"/>
            <p:cNvSpPr txBox="1">
              <a:spLocks noChangeArrowheads="1"/>
            </p:cNvSpPr>
            <p:nvPr/>
          </p:nvSpPr>
          <p:spPr bwMode="auto">
            <a:xfrm>
              <a:off x="5190182" y="3140819"/>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交换机</a:t>
              </a:r>
            </a:p>
          </p:txBody>
        </p:sp>
        <p:sp>
          <p:nvSpPr>
            <p:cNvPr id="33" name="Text Box 32"/>
            <p:cNvSpPr txBox="1">
              <a:spLocks noChangeArrowheads="1"/>
            </p:cNvSpPr>
            <p:nvPr/>
          </p:nvSpPr>
          <p:spPr bwMode="auto">
            <a:xfrm>
              <a:off x="6414145" y="3140819"/>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交换机</a:t>
              </a:r>
            </a:p>
          </p:txBody>
        </p:sp>
        <p:sp>
          <p:nvSpPr>
            <p:cNvPr id="34" name="Text Box 34"/>
            <p:cNvSpPr txBox="1">
              <a:spLocks noChangeArrowheads="1"/>
            </p:cNvSpPr>
            <p:nvPr/>
          </p:nvSpPr>
          <p:spPr bwMode="auto">
            <a:xfrm>
              <a:off x="4615507" y="4364782"/>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中继线</a:t>
              </a:r>
            </a:p>
          </p:txBody>
        </p:sp>
        <p:sp>
          <p:nvSpPr>
            <p:cNvPr id="35" name="Line 35"/>
            <p:cNvSpPr>
              <a:spLocks noChangeShapeType="1"/>
            </p:cNvSpPr>
            <p:nvPr/>
          </p:nvSpPr>
          <p:spPr bwMode="auto">
            <a:xfrm>
              <a:off x="3691582" y="3739307"/>
              <a:ext cx="966788" cy="7096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6" name="Line 36"/>
            <p:cNvSpPr>
              <a:spLocks noChangeShapeType="1"/>
            </p:cNvSpPr>
            <p:nvPr/>
          </p:nvSpPr>
          <p:spPr bwMode="auto">
            <a:xfrm>
              <a:off x="5006032" y="3753594"/>
              <a:ext cx="0" cy="6429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7" name="Line 37"/>
            <p:cNvSpPr>
              <a:spLocks noChangeShapeType="1"/>
            </p:cNvSpPr>
            <p:nvPr/>
          </p:nvSpPr>
          <p:spPr bwMode="auto">
            <a:xfrm flipH="1">
              <a:off x="5198120" y="3753594"/>
              <a:ext cx="1030287" cy="6429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8" name="Line 38"/>
            <p:cNvSpPr>
              <a:spLocks noChangeShapeType="1"/>
            </p:cNvSpPr>
            <p:nvPr/>
          </p:nvSpPr>
          <p:spPr bwMode="auto">
            <a:xfrm>
              <a:off x="2467620" y="3726607"/>
              <a:ext cx="65087" cy="4778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9" name="Line 39"/>
            <p:cNvSpPr>
              <a:spLocks noChangeShapeType="1"/>
            </p:cNvSpPr>
            <p:nvPr/>
          </p:nvSpPr>
          <p:spPr bwMode="auto">
            <a:xfrm>
              <a:off x="7478298" y="3725584"/>
              <a:ext cx="133350" cy="4349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40" name="Text Box 40"/>
            <p:cNvSpPr txBox="1">
              <a:spLocks noChangeArrowheads="1"/>
            </p:cNvSpPr>
            <p:nvPr/>
          </p:nvSpPr>
          <p:spPr bwMode="auto">
            <a:xfrm>
              <a:off x="2167582" y="4148882"/>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用户线</a:t>
              </a:r>
            </a:p>
          </p:txBody>
        </p:sp>
        <p:sp>
          <p:nvSpPr>
            <p:cNvPr id="41" name="Text Box 41"/>
            <p:cNvSpPr txBox="1">
              <a:spLocks noChangeArrowheads="1"/>
            </p:cNvSpPr>
            <p:nvPr/>
          </p:nvSpPr>
          <p:spPr bwMode="auto">
            <a:xfrm>
              <a:off x="7134870" y="4148882"/>
              <a:ext cx="769410" cy="307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Times New Roman" panose="02020603050405020304" pitchFamily="18" charset="0"/>
                </a:rPr>
                <a:t>用户线</a:t>
              </a:r>
            </a:p>
          </p:txBody>
        </p:sp>
        <p:grpSp>
          <p:nvGrpSpPr>
            <p:cNvPr id="42" name="Group 56"/>
            <p:cNvGrpSpPr/>
            <p:nvPr/>
          </p:nvGrpSpPr>
          <p:grpSpPr bwMode="auto">
            <a:xfrm flipH="1">
              <a:off x="7185670" y="3528169"/>
              <a:ext cx="1008062" cy="146050"/>
              <a:chOff x="1519" y="2160"/>
              <a:chExt cx="953" cy="227"/>
            </a:xfrm>
          </p:grpSpPr>
          <p:sp>
            <p:nvSpPr>
              <p:cNvPr id="43" name="Freeform 57"/>
              <p:cNvSpPr/>
              <p:nvPr/>
            </p:nvSpPr>
            <p:spPr bwMode="auto">
              <a:xfrm>
                <a:off x="1519" y="2237"/>
                <a:ext cx="104"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4" name="Freeform 58"/>
              <p:cNvSpPr/>
              <p:nvPr/>
            </p:nvSpPr>
            <p:spPr bwMode="auto">
              <a:xfrm>
                <a:off x="1623" y="2160"/>
                <a:ext cx="179"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5" name="Freeform 59"/>
              <p:cNvSpPr/>
              <p:nvPr/>
            </p:nvSpPr>
            <p:spPr bwMode="auto">
              <a:xfrm>
                <a:off x="1978" y="2237"/>
                <a:ext cx="104"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6" name="Freeform 60"/>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7" name="Line 61"/>
              <p:cNvSpPr>
                <a:spLocks noChangeShapeType="1"/>
              </p:cNvSpPr>
              <p:nvPr/>
            </p:nvSpPr>
            <p:spPr bwMode="auto">
              <a:xfrm>
                <a:off x="2109" y="2259"/>
                <a:ext cx="363" cy="0"/>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48" name="Group 64"/>
            <p:cNvGrpSpPr/>
            <p:nvPr/>
          </p:nvGrpSpPr>
          <p:grpSpPr bwMode="auto">
            <a:xfrm>
              <a:off x="1713557" y="3501182"/>
              <a:ext cx="1008063" cy="146050"/>
              <a:chOff x="1519" y="2160"/>
              <a:chExt cx="953" cy="227"/>
            </a:xfrm>
          </p:grpSpPr>
          <p:sp>
            <p:nvSpPr>
              <p:cNvPr id="49" name="Freeform 65"/>
              <p:cNvSpPr/>
              <p:nvPr/>
            </p:nvSpPr>
            <p:spPr bwMode="auto">
              <a:xfrm>
                <a:off x="1519" y="2237"/>
                <a:ext cx="104"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0" name="Freeform 66"/>
              <p:cNvSpPr/>
              <p:nvPr/>
            </p:nvSpPr>
            <p:spPr bwMode="auto">
              <a:xfrm>
                <a:off x="1623" y="2160"/>
                <a:ext cx="179"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1" name="Freeform 67"/>
              <p:cNvSpPr/>
              <p:nvPr/>
            </p:nvSpPr>
            <p:spPr bwMode="auto">
              <a:xfrm>
                <a:off x="1978" y="2237"/>
                <a:ext cx="104"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2" name="Freeform 68"/>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4763">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53" name="Line 69"/>
              <p:cNvSpPr>
                <a:spLocks noChangeShapeType="1"/>
              </p:cNvSpPr>
              <p:nvPr/>
            </p:nvSpPr>
            <p:spPr bwMode="auto">
              <a:xfrm>
                <a:off x="2109" y="2259"/>
                <a:ext cx="363" cy="0"/>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54" name="Freeform 71"/>
            <p:cNvSpPr/>
            <p:nvPr/>
          </p:nvSpPr>
          <p:spPr bwMode="auto">
            <a:xfrm>
              <a:off x="3440757" y="3572619"/>
              <a:ext cx="719138"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55" name="Freeform 72"/>
            <p:cNvSpPr/>
            <p:nvPr/>
          </p:nvSpPr>
          <p:spPr bwMode="auto">
            <a:xfrm>
              <a:off x="4664720" y="3572619"/>
              <a:ext cx="719137"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56" name="Freeform 73"/>
            <p:cNvSpPr/>
            <p:nvPr/>
          </p:nvSpPr>
          <p:spPr bwMode="auto">
            <a:xfrm>
              <a:off x="5817245" y="3572619"/>
              <a:ext cx="719137"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3" name="矩形 2"/>
          <p:cNvSpPr/>
          <p:nvPr/>
        </p:nvSpPr>
        <p:spPr>
          <a:xfrm>
            <a:off x="1246980" y="5301208"/>
            <a:ext cx="7738914" cy="461665"/>
          </a:xfrm>
          <a:prstGeom prst="rect">
            <a:avLst/>
          </a:prstGeom>
        </p:spPr>
        <p:txBody>
          <a:bodyPr wrap="square">
            <a:spAutoFit/>
          </a:bodyPr>
          <a:lstStyle/>
          <a:p>
            <a:pPr algn="ctr"/>
            <a:r>
              <a:rPr lang="zh-CN" altLang="zh-CN" sz="2400" b="1" dirty="0">
                <a:latin typeface="+mn-lt"/>
                <a:ea typeface="黑体" panose="02010609060101010101" pitchFamily="2" charset="-122"/>
              </a:rPr>
              <a:t>电路交换的用户始终占用端到端的通信资源</a:t>
            </a:r>
            <a:endParaRPr lang="zh-CN" altLang="en-US" sz="24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zh-CN" dirty="0"/>
              <a:t>2. </a:t>
            </a:r>
            <a:r>
              <a:rPr lang="zh-CN" altLang="en-US" dirty="0"/>
              <a:t>分组交换的主要特点 </a:t>
            </a:r>
          </a:p>
        </p:txBody>
      </p:sp>
      <p:sp>
        <p:nvSpPr>
          <p:cNvPr id="49155" name="Rectangle 3"/>
          <p:cNvSpPr>
            <a:spLocks noGrp="1" noChangeArrowheads="1"/>
          </p:cNvSpPr>
          <p:nvPr>
            <p:ph idx="1"/>
          </p:nvPr>
        </p:nvSpPr>
        <p:spPr/>
        <p:txBody>
          <a:bodyPr/>
          <a:lstStyle/>
          <a:p>
            <a:r>
              <a:rPr lang="zh-CN" altLang="zh-CN" dirty="0"/>
              <a:t>分组交换则采用</a:t>
            </a:r>
            <a:r>
              <a:rPr lang="zh-CN" altLang="zh-CN" dirty="0">
                <a:solidFill>
                  <a:srgbClr val="FF0000"/>
                </a:solidFill>
              </a:rPr>
              <a:t>存储转发</a:t>
            </a:r>
            <a:r>
              <a:rPr lang="zh-CN" altLang="zh-CN" dirty="0"/>
              <a:t>技术</a:t>
            </a:r>
            <a:r>
              <a:rPr lang="zh-CN" altLang="en-US" dirty="0"/>
              <a:t>。</a:t>
            </a:r>
            <a:endParaRPr lang="en-US" altLang="zh-CN" dirty="0"/>
          </a:p>
          <a:p>
            <a:r>
              <a:rPr lang="zh-CN" altLang="en-US" dirty="0"/>
              <a:t>在发送端，先把较长的报文</a:t>
            </a:r>
            <a:r>
              <a:rPr lang="zh-CN" altLang="en-US" dirty="0">
                <a:solidFill>
                  <a:srgbClr val="FF0000"/>
                </a:solidFill>
              </a:rPr>
              <a:t>划分成较短的、固定长度的数据段。 </a:t>
            </a:r>
          </a:p>
        </p:txBody>
      </p:sp>
      <p:sp>
        <p:nvSpPr>
          <p:cNvPr id="49160" name="Line 8"/>
          <p:cNvSpPr>
            <a:spLocks noChangeShapeType="1"/>
          </p:cNvSpPr>
          <p:nvPr/>
        </p:nvSpPr>
        <p:spPr bwMode="auto">
          <a:xfrm>
            <a:off x="2144581" y="3286125"/>
            <a:ext cx="561684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49161" name="Text Box 9"/>
          <p:cNvSpPr txBox="1">
            <a:spLocks noChangeArrowheads="1"/>
          </p:cNvSpPr>
          <p:nvPr/>
        </p:nvSpPr>
        <p:spPr bwMode="auto">
          <a:xfrm>
            <a:off x="4641718" y="3046414"/>
            <a:ext cx="69762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Times New Roman" panose="02020603050405020304" pitchFamily="18" charset="0"/>
                <a:ea typeface="黑体" panose="02010609060101010101" pitchFamily="2" charset="-122"/>
              </a:rPr>
              <a:t>报文</a:t>
            </a:r>
          </a:p>
        </p:txBody>
      </p:sp>
      <p:grpSp>
        <p:nvGrpSpPr>
          <p:cNvPr id="49229" name="Group 77"/>
          <p:cNvGrpSpPr/>
          <p:nvPr/>
        </p:nvGrpSpPr>
        <p:grpSpPr bwMode="auto">
          <a:xfrm>
            <a:off x="2067190" y="3502025"/>
            <a:ext cx="5806016" cy="431800"/>
            <a:chOff x="1202" y="2206"/>
            <a:chExt cx="3376" cy="272"/>
          </a:xfrm>
        </p:grpSpPr>
        <p:grpSp>
          <p:nvGrpSpPr>
            <p:cNvPr id="49227" name="Group 75"/>
            <p:cNvGrpSpPr/>
            <p:nvPr/>
          </p:nvGrpSpPr>
          <p:grpSpPr bwMode="auto">
            <a:xfrm>
              <a:off x="1247" y="2206"/>
              <a:ext cx="3266" cy="272"/>
              <a:chOff x="1247" y="2931"/>
              <a:chExt cx="3266" cy="272"/>
            </a:xfrm>
          </p:grpSpPr>
          <p:sp>
            <p:nvSpPr>
              <p:cNvPr id="49222" name="Rectangle 70"/>
              <p:cNvSpPr>
                <a:spLocks noChangeArrowheads="1"/>
              </p:cNvSpPr>
              <p:nvPr/>
            </p:nvSpPr>
            <p:spPr bwMode="auto">
              <a:xfrm>
                <a:off x="1248"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rgbClr val="000099"/>
                  </a:solidFill>
                  <a:ea typeface="黑体" panose="02010609060101010101" pitchFamily="2" charset="-122"/>
                </a:endParaRPr>
              </a:p>
            </p:txBody>
          </p:sp>
          <p:sp>
            <p:nvSpPr>
              <p:cNvPr id="49223" name="Rectangle 71"/>
              <p:cNvSpPr>
                <a:spLocks noChangeArrowheads="1"/>
              </p:cNvSpPr>
              <p:nvPr/>
            </p:nvSpPr>
            <p:spPr bwMode="auto">
              <a:xfrm>
                <a:off x="2336"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rgbClr val="000099"/>
                  </a:solidFill>
                  <a:latin typeface="Tahoma" panose="020B0604030504040204" pitchFamily="34" charset="0"/>
                  <a:ea typeface="黑体" panose="02010609060101010101" pitchFamily="2" charset="-122"/>
                </a:endParaRPr>
              </a:p>
            </p:txBody>
          </p:sp>
          <p:sp>
            <p:nvSpPr>
              <p:cNvPr id="49224" name="Rectangle 72"/>
              <p:cNvSpPr>
                <a:spLocks noChangeArrowheads="1"/>
              </p:cNvSpPr>
              <p:nvPr/>
            </p:nvSpPr>
            <p:spPr bwMode="auto">
              <a:xfrm>
                <a:off x="3425"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rgbClr val="000099"/>
                  </a:solidFill>
                  <a:ea typeface="黑体" panose="02010609060101010101" pitchFamily="2" charset="-122"/>
                </a:endParaRPr>
              </a:p>
            </p:txBody>
          </p:sp>
          <p:sp>
            <p:nvSpPr>
              <p:cNvPr id="49226" name="Rectangle 74"/>
              <p:cNvSpPr>
                <a:spLocks noChangeArrowheads="1"/>
              </p:cNvSpPr>
              <p:nvPr/>
            </p:nvSpPr>
            <p:spPr bwMode="auto">
              <a:xfrm>
                <a:off x="1247" y="2931"/>
                <a:ext cx="3266" cy="27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49228" name="Text Box 76"/>
            <p:cNvSpPr txBox="1">
              <a:spLocks noChangeArrowheads="1"/>
            </p:cNvSpPr>
            <p:nvPr/>
          </p:nvSpPr>
          <p:spPr bwMode="auto">
            <a:xfrm>
              <a:off x="1202" y="2219"/>
              <a:ext cx="33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99"/>
                  </a:solidFill>
                </a:rPr>
                <a:t>1101000110101010110101011100010011010010</a:t>
              </a:r>
            </a:p>
          </p:txBody>
        </p:sp>
      </p:grpSp>
      <p:grpSp>
        <p:nvGrpSpPr>
          <p:cNvPr id="49233" name="Group 81"/>
          <p:cNvGrpSpPr/>
          <p:nvPr/>
        </p:nvGrpSpPr>
        <p:grpSpPr bwMode="auto">
          <a:xfrm>
            <a:off x="3389709" y="3933826"/>
            <a:ext cx="3057790" cy="1423988"/>
            <a:chOff x="1971" y="2478"/>
            <a:chExt cx="1778" cy="897"/>
          </a:xfrm>
        </p:grpSpPr>
        <p:sp>
          <p:nvSpPr>
            <p:cNvPr id="49230" name="Text Box 78"/>
            <p:cNvSpPr txBox="1">
              <a:spLocks noChangeArrowheads="1"/>
            </p:cNvSpPr>
            <p:nvPr/>
          </p:nvSpPr>
          <p:spPr bwMode="auto">
            <a:xfrm>
              <a:off x="1971" y="2774"/>
              <a:ext cx="1778"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800" b="1" dirty="0">
                  <a:solidFill>
                    <a:srgbClr val="000099"/>
                  </a:solidFill>
                  <a:latin typeface="Tahoma" panose="020B0604030504040204" pitchFamily="34" charset="0"/>
                  <a:ea typeface="黑体" panose="02010609060101010101" pitchFamily="2" charset="-122"/>
                </a:rPr>
                <a:t>假定这个报文较长</a:t>
              </a:r>
            </a:p>
            <a:p>
              <a:pPr algn="ctr"/>
              <a:r>
                <a:rPr lang="zh-CN" altLang="en-US" sz="2800" b="1" dirty="0">
                  <a:solidFill>
                    <a:srgbClr val="000099"/>
                  </a:solidFill>
                  <a:latin typeface="Tahoma" panose="020B0604030504040204" pitchFamily="34" charset="0"/>
                  <a:ea typeface="黑体" panose="02010609060101010101" pitchFamily="2" charset="-122"/>
                </a:rPr>
                <a:t>不便于传输</a:t>
              </a:r>
            </a:p>
          </p:txBody>
        </p:sp>
        <p:sp>
          <p:nvSpPr>
            <p:cNvPr id="49231" name="Line 79"/>
            <p:cNvSpPr>
              <a:spLocks noChangeShapeType="1"/>
            </p:cNvSpPr>
            <p:nvPr/>
          </p:nvSpPr>
          <p:spPr bwMode="auto">
            <a:xfrm flipV="1">
              <a:off x="2789" y="2478"/>
              <a:ext cx="91" cy="362"/>
            </a:xfrm>
            <a:prstGeom prst="line">
              <a:avLst/>
            </a:prstGeom>
            <a:noFill/>
            <a:ln w="28575">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cxnSp>
        <p:nvCxnSpPr>
          <p:cNvPr id="3" name="直接连接符 2"/>
          <p:cNvCxnSpPr/>
          <p:nvPr/>
        </p:nvCxnSpPr>
        <p:spPr bwMode="auto">
          <a:xfrm>
            <a:off x="2146301" y="3046414"/>
            <a:ext cx="0" cy="400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7746322" y="3046414"/>
            <a:ext cx="0" cy="400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ChangeArrowheads="1"/>
          </p:cNvSpPr>
          <p:nvPr>
            <p:ph type="title"/>
          </p:nvPr>
        </p:nvSpPr>
        <p:spPr/>
        <p:txBody>
          <a:bodyPr/>
          <a:lstStyle/>
          <a:p>
            <a:pPr algn="ctr"/>
            <a:r>
              <a:rPr lang="zh-CN" altLang="en-US" dirty="0"/>
              <a:t>添加首部构成分组</a:t>
            </a:r>
          </a:p>
        </p:txBody>
      </p:sp>
      <p:sp>
        <p:nvSpPr>
          <p:cNvPr id="53253" name="Rectangle 5"/>
          <p:cNvSpPr>
            <a:spLocks noGrp="1" noChangeArrowheads="1"/>
          </p:cNvSpPr>
          <p:nvPr>
            <p:ph idx="1"/>
          </p:nvPr>
        </p:nvSpPr>
        <p:spPr/>
        <p:txBody>
          <a:bodyPr/>
          <a:lstStyle/>
          <a:p>
            <a:r>
              <a:rPr lang="zh-CN" altLang="en-US" dirty="0"/>
              <a:t>每一个数据段前面添加上</a:t>
            </a:r>
            <a:r>
              <a:rPr lang="zh-CN" altLang="en-US" dirty="0">
                <a:solidFill>
                  <a:srgbClr val="FF0000"/>
                </a:solidFill>
              </a:rPr>
              <a:t>首部</a:t>
            </a:r>
            <a:r>
              <a:rPr lang="zh-CN" altLang="en-US" dirty="0"/>
              <a:t>构成</a:t>
            </a:r>
            <a:r>
              <a:rPr lang="zh-CN" altLang="en-US" dirty="0">
                <a:solidFill>
                  <a:srgbClr val="FF0000"/>
                </a:solidFill>
              </a:rPr>
              <a:t>分组</a:t>
            </a:r>
            <a:r>
              <a:rPr lang="en-US" altLang="zh-CN" dirty="0"/>
              <a:t>(packet)</a:t>
            </a:r>
            <a:r>
              <a:rPr lang="zh-CN" altLang="en-US" dirty="0"/>
              <a:t>。</a:t>
            </a:r>
          </a:p>
        </p:txBody>
      </p:sp>
      <p:sp>
        <p:nvSpPr>
          <p:cNvPr id="53260" name="Rectangle 12"/>
          <p:cNvSpPr>
            <a:spLocks noChangeArrowheads="1"/>
          </p:cNvSpPr>
          <p:nvPr/>
        </p:nvSpPr>
        <p:spPr bwMode="auto">
          <a:xfrm>
            <a:off x="2144581" y="2228428"/>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3261" name="Rectangle 13"/>
          <p:cNvSpPr>
            <a:spLocks noChangeArrowheads="1"/>
          </p:cNvSpPr>
          <p:nvPr/>
        </p:nvSpPr>
        <p:spPr bwMode="auto">
          <a:xfrm>
            <a:off x="4017434" y="2228428"/>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3262" name="Rectangle 14"/>
          <p:cNvSpPr>
            <a:spLocks noChangeArrowheads="1"/>
          </p:cNvSpPr>
          <p:nvPr/>
        </p:nvSpPr>
        <p:spPr bwMode="auto">
          <a:xfrm>
            <a:off x="5890287" y="2228428"/>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grpSp>
        <p:nvGrpSpPr>
          <p:cNvPr id="53263" name="Group 15"/>
          <p:cNvGrpSpPr/>
          <p:nvPr/>
        </p:nvGrpSpPr>
        <p:grpSpPr bwMode="auto">
          <a:xfrm>
            <a:off x="2144581" y="1772816"/>
            <a:ext cx="5616840" cy="400050"/>
            <a:chOff x="1247" y="1737"/>
            <a:chExt cx="3266" cy="252"/>
          </a:xfrm>
        </p:grpSpPr>
        <p:sp>
          <p:nvSpPr>
            <p:cNvPr id="53250" name="Line 2"/>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3251" name="Text Box 3"/>
            <p:cNvSpPr txBox="1">
              <a:spLocks noChangeArrowheads="1"/>
            </p:cNvSpPr>
            <p:nvPr/>
          </p:nvSpPr>
          <p:spPr bwMode="auto">
            <a:xfrm>
              <a:off x="2699" y="1737"/>
              <a:ext cx="406"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报文</a:t>
              </a:r>
            </a:p>
          </p:txBody>
        </p:sp>
      </p:grpSp>
      <p:sp>
        <p:nvSpPr>
          <p:cNvPr id="53264" name="Rectangle 16"/>
          <p:cNvSpPr>
            <a:spLocks noChangeArrowheads="1"/>
          </p:cNvSpPr>
          <p:nvPr/>
        </p:nvSpPr>
        <p:spPr bwMode="auto">
          <a:xfrm>
            <a:off x="1520296" y="2891118"/>
            <a:ext cx="624285" cy="43180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sp>
        <p:nvSpPr>
          <p:cNvPr id="53267" name="Rectangle 19"/>
          <p:cNvSpPr>
            <a:spLocks noChangeArrowheads="1"/>
          </p:cNvSpPr>
          <p:nvPr/>
        </p:nvSpPr>
        <p:spPr bwMode="auto">
          <a:xfrm>
            <a:off x="3393149" y="3741315"/>
            <a:ext cx="624284" cy="43180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sp>
        <p:nvSpPr>
          <p:cNvPr id="53268" name="Rectangle 20"/>
          <p:cNvSpPr>
            <a:spLocks noChangeArrowheads="1"/>
          </p:cNvSpPr>
          <p:nvPr/>
        </p:nvSpPr>
        <p:spPr bwMode="auto">
          <a:xfrm>
            <a:off x="5264283" y="4605618"/>
            <a:ext cx="624284" cy="43180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grpSp>
        <p:nvGrpSpPr>
          <p:cNvPr id="53273" name="Group 25"/>
          <p:cNvGrpSpPr/>
          <p:nvPr/>
        </p:nvGrpSpPr>
        <p:grpSpPr bwMode="auto">
          <a:xfrm>
            <a:off x="1522016" y="2314153"/>
            <a:ext cx="2495417" cy="488950"/>
            <a:chOff x="1973" y="2532"/>
            <a:chExt cx="1451" cy="308"/>
          </a:xfrm>
        </p:grpSpPr>
        <p:sp>
          <p:nvSpPr>
            <p:cNvPr id="53269" name="AutoShape 21"/>
            <p:cNvSpPr/>
            <p:nvPr/>
          </p:nvSpPr>
          <p:spPr bwMode="auto">
            <a:xfrm rot="5400000">
              <a:off x="2654" y="2069"/>
              <a:ext cx="90" cy="1451"/>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3272" name="Text Box 24"/>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1</a:t>
              </a:r>
            </a:p>
          </p:txBody>
        </p:sp>
      </p:grpSp>
      <p:grpSp>
        <p:nvGrpSpPr>
          <p:cNvPr id="53274" name="Group 26"/>
          <p:cNvGrpSpPr/>
          <p:nvPr/>
        </p:nvGrpSpPr>
        <p:grpSpPr bwMode="auto">
          <a:xfrm>
            <a:off x="3393150" y="3179340"/>
            <a:ext cx="2495417" cy="488950"/>
            <a:chOff x="1973" y="2532"/>
            <a:chExt cx="1451" cy="308"/>
          </a:xfrm>
        </p:grpSpPr>
        <p:sp>
          <p:nvSpPr>
            <p:cNvPr id="53275" name="AutoShape 27"/>
            <p:cNvSpPr/>
            <p:nvPr/>
          </p:nvSpPr>
          <p:spPr bwMode="auto">
            <a:xfrm rot="5400000">
              <a:off x="2654" y="2069"/>
              <a:ext cx="90" cy="1451"/>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3276" name="Text Box 28"/>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2</a:t>
              </a:r>
            </a:p>
          </p:txBody>
        </p:sp>
      </p:grpSp>
      <p:grpSp>
        <p:nvGrpSpPr>
          <p:cNvPr id="53277" name="Group 29"/>
          <p:cNvGrpSpPr/>
          <p:nvPr/>
        </p:nvGrpSpPr>
        <p:grpSpPr bwMode="auto">
          <a:xfrm>
            <a:off x="5264283" y="4042940"/>
            <a:ext cx="2495417" cy="488950"/>
            <a:chOff x="1973" y="2532"/>
            <a:chExt cx="1451" cy="308"/>
          </a:xfrm>
        </p:grpSpPr>
        <p:sp>
          <p:nvSpPr>
            <p:cNvPr id="53278" name="AutoShape 30"/>
            <p:cNvSpPr/>
            <p:nvPr/>
          </p:nvSpPr>
          <p:spPr bwMode="auto">
            <a:xfrm rot="5400000">
              <a:off x="2654" y="2069"/>
              <a:ext cx="90" cy="1451"/>
            </a:xfrm>
            <a:prstGeom prst="leftBrace">
              <a:avLst>
                <a:gd name="adj1" fmla="val 134352"/>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3279" name="Text Box 31"/>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3</a:t>
              </a:r>
            </a:p>
          </p:txBody>
        </p:sp>
      </p:grpSp>
      <p:sp>
        <p:nvSpPr>
          <p:cNvPr id="53281" name="Text Box 33"/>
          <p:cNvSpPr txBox="1">
            <a:spLocks noChangeArrowheads="1"/>
          </p:cNvSpPr>
          <p:nvPr/>
        </p:nvSpPr>
        <p:spPr bwMode="auto">
          <a:xfrm>
            <a:off x="1468542" y="5426060"/>
            <a:ext cx="48526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C00000"/>
                </a:solidFill>
                <a:latin typeface="Tahoma" panose="020B0604030504040204" pitchFamily="34" charset="0"/>
                <a:ea typeface="黑体" panose="02010609060101010101" pitchFamily="2" charset="-122"/>
              </a:rPr>
              <a:t>请注意：现在左边是</a:t>
            </a:r>
            <a:r>
              <a:rPr lang="zh-CN" altLang="en-US" sz="2800" b="1" dirty="0">
                <a:solidFill>
                  <a:srgbClr val="C00000"/>
                </a:solidFill>
                <a:latin typeface="Arial" panose="020B0604020202020204"/>
                <a:ea typeface="黑体" panose="02010609060101010101" pitchFamily="2" charset="-122"/>
              </a:rPr>
              <a:t>“</a:t>
            </a:r>
            <a:r>
              <a:rPr lang="zh-CN" altLang="en-US" sz="2800" b="1" dirty="0">
                <a:solidFill>
                  <a:srgbClr val="C00000"/>
                </a:solidFill>
                <a:latin typeface="Tahoma" panose="020B0604030504040204" pitchFamily="34" charset="0"/>
                <a:ea typeface="黑体" panose="02010609060101010101" pitchFamily="2" charset="-122"/>
              </a:rPr>
              <a:t>前面</a:t>
            </a:r>
            <a:r>
              <a:rPr lang="zh-CN" altLang="en-US" sz="2800" b="1" dirty="0">
                <a:solidFill>
                  <a:srgbClr val="C00000"/>
                </a:solidFill>
                <a:latin typeface="Arial" panose="020B0604020202020204"/>
                <a:ea typeface="黑体" panose="02010609060101010101" pitchFamily="2" charset="-122"/>
              </a:rPr>
              <a:t>”</a:t>
            </a:r>
            <a:endParaRPr lang="zh-CN" altLang="en-US" sz="2800" b="1" dirty="0">
              <a:solidFill>
                <a:srgbClr val="C00000"/>
              </a:solidFill>
              <a:latin typeface="Tahoma" panose="020B0604030504040204" pitchFamily="34" charset="0"/>
              <a:ea typeface="黑体" panose="02010609060101010101" pitchFamily="2" charset="-122"/>
            </a:endParaRPr>
          </a:p>
        </p:txBody>
      </p:sp>
      <p:cxnSp>
        <p:nvCxnSpPr>
          <p:cNvPr id="25" name="直接连接符 24"/>
          <p:cNvCxnSpPr/>
          <p:nvPr/>
        </p:nvCxnSpPr>
        <p:spPr bwMode="auto">
          <a:xfrm>
            <a:off x="2146301" y="1772816"/>
            <a:ext cx="0" cy="400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7746322" y="1772816"/>
            <a:ext cx="0" cy="400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p:stCondLst>
                              <p:cond delay="0"/>
                            </p:stCondLst>
                            <p:childTnLst>
                              <p:par>
                                <p:cTn id="8" presetID="42" presetClass="path" presetSubtype="0" accel="50000" decel="50000" fill="hold" grpId="0" nodeType="afterEffect">
                                  <p:stCondLst>
                                    <p:cond delay="0"/>
                                  </p:stCondLst>
                                  <p:childTnLst>
                                    <p:animMotion origin="layout" path="M 2.5E-6 0.0 L 2.5E-6 0.09653 " pathEditMode="relative" rAng="0" ptsTypes="AA">
                                      <p:cBhvr>
                                        <p:cTn id="9" dur="1000" fill="hold"/>
                                        <p:tgtEl>
                                          <p:spTgt spid="53260"/>
                                        </p:tgtEl>
                                        <p:attrNameLst>
                                          <p:attrName>ppt_x</p:attrName>
                                          <p:attrName>ppt_y</p:attrName>
                                        </p:attrNameLst>
                                      </p:cBhvr>
                                      <p:rCtr x="0" y="4815"/>
                                    </p:animMotion>
                                  </p:childTnLst>
                                </p:cTn>
                              </p:par>
                            </p:childTnLst>
                          </p:cTn>
                        </p:par>
                        <p:par>
                          <p:cTn id="10" fill="hold">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p:stCondLst>
                              <p:cond delay="2000"/>
                            </p:stCondLst>
                            <p:childTnLst>
                              <p:par>
                                <p:cTn id="17" presetID="42" presetClass="path" presetSubtype="0" accel="50000" decel="50000" fill="hold" grpId="0" nodeType="afterEffect">
                                  <p:stCondLst>
                                    <p:cond delay="500"/>
                                  </p:stCondLst>
                                  <p:childTnLst>
                                    <p:animMotion origin="layout" path="M 0.0 -1.96532E-6 L 0.0 0.22035 " pathEditMode="relative" rAng="0" ptsTypes="AA">
                                      <p:cBhvr>
                                        <p:cTn id="18" dur="1000" fill="hold"/>
                                        <p:tgtEl>
                                          <p:spTgt spid="53261"/>
                                        </p:tgtEl>
                                        <p:attrNameLst>
                                          <p:attrName>ppt_x</p:attrName>
                                          <p:attrName>ppt_y</p:attrName>
                                        </p:attrNameLst>
                                      </p:cBhvr>
                                      <p:rCtr x="0" y="11006"/>
                                    </p:animMotion>
                                  </p:childTnLst>
                                </p:cTn>
                              </p:par>
                            </p:childTnLst>
                          </p:cTn>
                        </p:par>
                        <p:par>
                          <p:cTn id="19" fill="hold">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p:stCondLst>
                              <p:cond delay="4000"/>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p:stCondLst>
                              <p:cond delay="4500"/>
                            </p:stCondLst>
                            <p:childTnLst>
                              <p:par>
                                <p:cTn id="26" presetID="42" presetClass="path" presetSubtype="0" accel="50000" decel="50000" fill="hold" grpId="0" nodeType="afterEffect">
                                  <p:stCondLst>
                                    <p:cond delay="500"/>
                                  </p:stCondLst>
                                  <p:childTnLst>
                                    <p:animMotion origin="layout" path="M -2.5E-6 -1.96532E-6 L -2.5E-6 0.34613 " pathEditMode="relative" rAng="0" ptsTypes="AA">
                                      <p:cBhvr>
                                        <p:cTn id="27" dur="1000" fill="hold"/>
                                        <p:tgtEl>
                                          <p:spTgt spid="53262"/>
                                        </p:tgtEl>
                                        <p:attrNameLst>
                                          <p:attrName>ppt_x</p:attrName>
                                          <p:attrName>ppt_y</p:attrName>
                                        </p:attrNameLst>
                                      </p:cBhvr>
                                      <p:rCtr x="0" y="17295"/>
                                    </p:animMotion>
                                  </p:childTnLst>
                                </p:cTn>
                              </p:par>
                            </p:childTnLst>
                          </p:cTn>
                        </p:par>
                        <p:par>
                          <p:cTn id="28" fill="hold">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p:stCondLst>
                              <p:cond delay="6500"/>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p:stCondLst>
                              <p:cond delay="7000"/>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2" name="Rectangle 8"/>
          <p:cNvSpPr>
            <a:spLocks noGrp="1" noChangeArrowheads="1"/>
          </p:cNvSpPr>
          <p:nvPr>
            <p:ph type="title"/>
          </p:nvPr>
        </p:nvSpPr>
        <p:spPr/>
        <p:txBody>
          <a:bodyPr/>
          <a:lstStyle/>
          <a:p>
            <a:pPr algn="ctr"/>
            <a:r>
              <a:rPr lang="zh-CN" altLang="en-US"/>
              <a:t>分组交换的传输单元</a:t>
            </a:r>
          </a:p>
        </p:txBody>
      </p:sp>
      <p:sp>
        <p:nvSpPr>
          <p:cNvPr id="57353" name="Rectangle 9"/>
          <p:cNvSpPr>
            <a:spLocks noGrp="1" noChangeArrowheads="1"/>
          </p:cNvSpPr>
          <p:nvPr>
            <p:ph idx="1"/>
          </p:nvPr>
        </p:nvSpPr>
        <p:spPr/>
        <p:txBody>
          <a:bodyPr/>
          <a:lstStyle/>
          <a:p>
            <a:pPr>
              <a:spcBef>
                <a:spcPct val="10000"/>
              </a:spcBef>
            </a:pPr>
            <a:r>
              <a:rPr lang="zh-CN" altLang="en-US" dirty="0"/>
              <a:t>分组交换网以“</a:t>
            </a:r>
            <a:r>
              <a:rPr lang="zh-CN" altLang="en-US" dirty="0">
                <a:solidFill>
                  <a:srgbClr val="FF0000"/>
                </a:solidFill>
              </a:rPr>
              <a:t>分组</a:t>
            </a:r>
            <a:r>
              <a:rPr lang="zh-CN" altLang="en-US" dirty="0"/>
              <a:t>”作为数据传输单元。</a:t>
            </a:r>
          </a:p>
          <a:p>
            <a:pPr>
              <a:spcBef>
                <a:spcPct val="10000"/>
              </a:spcBef>
            </a:pPr>
            <a:r>
              <a:rPr lang="zh-CN" altLang="en-US" dirty="0">
                <a:solidFill>
                  <a:srgbClr val="FF0000"/>
                </a:solidFill>
              </a:rPr>
              <a:t>依次</a:t>
            </a:r>
            <a:r>
              <a:rPr lang="zh-CN" altLang="en-US" dirty="0"/>
              <a:t>把各分组发送到接收端（假定接收端在左边）。</a:t>
            </a:r>
          </a:p>
        </p:txBody>
      </p:sp>
      <p:grpSp>
        <p:nvGrpSpPr>
          <p:cNvPr id="57366" name="Group 22"/>
          <p:cNvGrpSpPr/>
          <p:nvPr/>
        </p:nvGrpSpPr>
        <p:grpSpPr bwMode="auto">
          <a:xfrm>
            <a:off x="1803061" y="2924944"/>
            <a:ext cx="2497138" cy="993775"/>
            <a:chOff x="884" y="2078"/>
            <a:chExt cx="1452" cy="626"/>
          </a:xfrm>
        </p:grpSpPr>
        <p:sp>
          <p:nvSpPr>
            <p:cNvPr id="57346" name="Rectangle 2"/>
            <p:cNvSpPr>
              <a:spLocks noChangeArrowheads="1"/>
            </p:cNvSpPr>
            <p:nvPr/>
          </p:nvSpPr>
          <p:spPr bwMode="auto">
            <a:xfrm>
              <a:off x="1247" y="2432"/>
              <a:ext cx="1088" cy="272"/>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7354" name="Rectangle 10"/>
            <p:cNvSpPr>
              <a:spLocks noChangeArrowheads="1"/>
            </p:cNvSpPr>
            <p:nvPr/>
          </p:nvSpPr>
          <p:spPr bwMode="auto">
            <a:xfrm>
              <a:off x="884" y="2432"/>
              <a:ext cx="363" cy="272"/>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grpSp>
          <p:nvGrpSpPr>
            <p:cNvPr id="57357" name="Group 13"/>
            <p:cNvGrpSpPr/>
            <p:nvPr/>
          </p:nvGrpSpPr>
          <p:grpSpPr bwMode="auto">
            <a:xfrm>
              <a:off x="885" y="2078"/>
              <a:ext cx="1451" cy="308"/>
              <a:chOff x="1973" y="2532"/>
              <a:chExt cx="1451" cy="308"/>
            </a:xfrm>
          </p:grpSpPr>
          <p:sp>
            <p:nvSpPr>
              <p:cNvPr id="57358" name="AutoShape 14"/>
              <p:cNvSpPr/>
              <p:nvPr/>
            </p:nvSpPr>
            <p:spPr bwMode="auto">
              <a:xfrm rot="5400000">
                <a:off x="2654" y="2069"/>
                <a:ext cx="90" cy="1451"/>
              </a:xfrm>
              <a:prstGeom prst="leftBrace">
                <a:avLst>
                  <a:gd name="adj1" fmla="val 13435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7359" name="Text Box 15"/>
              <p:cNvSpPr txBox="1">
                <a:spLocks noChangeArrowheads="1"/>
              </p:cNvSpPr>
              <p:nvPr/>
            </p:nvSpPr>
            <p:spPr bwMode="auto">
              <a:xfrm>
                <a:off x="2489" y="2532"/>
                <a:ext cx="52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400" b="1">
                    <a:solidFill>
                      <a:srgbClr val="000099"/>
                    </a:solidFill>
                    <a:latin typeface="Tahoma" panose="020B0604030504040204" pitchFamily="34" charset="0"/>
                    <a:ea typeface="黑体" panose="02010609060101010101" pitchFamily="2" charset="-122"/>
                  </a:rPr>
                  <a:t> </a:t>
                </a:r>
                <a:r>
                  <a:rPr lang="en-US" altLang="zh-CN" sz="2000" b="1">
                    <a:solidFill>
                      <a:srgbClr val="000099"/>
                    </a:solidFill>
                    <a:ea typeface="黑体" panose="02010609060101010101" pitchFamily="2" charset="-122"/>
                  </a:rPr>
                  <a:t>1</a:t>
                </a:r>
              </a:p>
            </p:txBody>
          </p:sp>
        </p:grpSp>
      </p:grpSp>
      <p:grpSp>
        <p:nvGrpSpPr>
          <p:cNvPr id="57367" name="Group 23"/>
          <p:cNvGrpSpPr/>
          <p:nvPr/>
        </p:nvGrpSpPr>
        <p:grpSpPr bwMode="auto">
          <a:xfrm>
            <a:off x="3675915" y="3790131"/>
            <a:ext cx="2495417" cy="993775"/>
            <a:chOff x="1973" y="2623"/>
            <a:chExt cx="1451" cy="626"/>
          </a:xfrm>
        </p:grpSpPr>
        <p:sp>
          <p:nvSpPr>
            <p:cNvPr id="57347" name="Rectangle 3"/>
            <p:cNvSpPr>
              <a:spLocks noChangeArrowheads="1"/>
            </p:cNvSpPr>
            <p:nvPr/>
          </p:nvSpPr>
          <p:spPr bwMode="auto">
            <a:xfrm>
              <a:off x="2336" y="2977"/>
              <a:ext cx="1088" cy="272"/>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7355" name="Rectangle 11"/>
            <p:cNvSpPr>
              <a:spLocks noChangeArrowheads="1"/>
            </p:cNvSpPr>
            <p:nvPr/>
          </p:nvSpPr>
          <p:spPr bwMode="auto">
            <a:xfrm>
              <a:off x="1973" y="2977"/>
              <a:ext cx="363" cy="272"/>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grpSp>
          <p:nvGrpSpPr>
            <p:cNvPr id="57360" name="Group 16"/>
            <p:cNvGrpSpPr/>
            <p:nvPr/>
          </p:nvGrpSpPr>
          <p:grpSpPr bwMode="auto">
            <a:xfrm>
              <a:off x="1973" y="2623"/>
              <a:ext cx="1451" cy="308"/>
              <a:chOff x="1973" y="2532"/>
              <a:chExt cx="1451" cy="308"/>
            </a:xfrm>
          </p:grpSpPr>
          <p:sp>
            <p:nvSpPr>
              <p:cNvPr id="57361" name="AutoShape 17"/>
              <p:cNvSpPr/>
              <p:nvPr/>
            </p:nvSpPr>
            <p:spPr bwMode="auto">
              <a:xfrm rot="5400000">
                <a:off x="2654" y="2069"/>
                <a:ext cx="90" cy="1451"/>
              </a:xfrm>
              <a:prstGeom prst="leftBrace">
                <a:avLst>
                  <a:gd name="adj1" fmla="val 13435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7362" name="Text Box 18"/>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2</a:t>
                </a:r>
              </a:p>
            </p:txBody>
          </p:sp>
        </p:grpSp>
      </p:grpSp>
      <p:grpSp>
        <p:nvGrpSpPr>
          <p:cNvPr id="57368" name="Group 24"/>
          <p:cNvGrpSpPr/>
          <p:nvPr/>
        </p:nvGrpSpPr>
        <p:grpSpPr bwMode="auto">
          <a:xfrm>
            <a:off x="5547048" y="4653731"/>
            <a:ext cx="2502296" cy="981075"/>
            <a:chOff x="3061" y="3167"/>
            <a:chExt cx="1455" cy="618"/>
          </a:xfrm>
        </p:grpSpPr>
        <p:sp>
          <p:nvSpPr>
            <p:cNvPr id="57348" name="Rectangle 4"/>
            <p:cNvSpPr>
              <a:spLocks noChangeArrowheads="1"/>
            </p:cNvSpPr>
            <p:nvPr/>
          </p:nvSpPr>
          <p:spPr bwMode="auto">
            <a:xfrm>
              <a:off x="3428" y="3513"/>
              <a:ext cx="1088" cy="272"/>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7356" name="Rectangle 12"/>
            <p:cNvSpPr>
              <a:spLocks noChangeArrowheads="1"/>
            </p:cNvSpPr>
            <p:nvPr/>
          </p:nvSpPr>
          <p:spPr bwMode="auto">
            <a:xfrm>
              <a:off x="3061" y="3512"/>
              <a:ext cx="363" cy="273"/>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99"/>
                  </a:solidFill>
                  <a:latin typeface="Tahoma" panose="020B0604030504040204" pitchFamily="34" charset="0"/>
                  <a:ea typeface="黑体" panose="02010609060101010101" pitchFamily="2" charset="-122"/>
                </a:rPr>
                <a:t>首部</a:t>
              </a:r>
            </a:p>
          </p:txBody>
        </p:sp>
        <p:grpSp>
          <p:nvGrpSpPr>
            <p:cNvPr id="57363" name="Group 19"/>
            <p:cNvGrpSpPr/>
            <p:nvPr/>
          </p:nvGrpSpPr>
          <p:grpSpPr bwMode="auto">
            <a:xfrm>
              <a:off x="3061" y="3167"/>
              <a:ext cx="1451" cy="308"/>
              <a:chOff x="1973" y="2532"/>
              <a:chExt cx="1451" cy="308"/>
            </a:xfrm>
          </p:grpSpPr>
          <p:sp>
            <p:nvSpPr>
              <p:cNvPr id="57364" name="AutoShape 20"/>
              <p:cNvSpPr/>
              <p:nvPr/>
            </p:nvSpPr>
            <p:spPr bwMode="auto">
              <a:xfrm rot="5400000">
                <a:off x="2654" y="2069"/>
                <a:ext cx="90" cy="1451"/>
              </a:xfrm>
              <a:prstGeom prst="leftBrace">
                <a:avLst>
                  <a:gd name="adj1" fmla="val 13435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7365" name="Text Box 21"/>
              <p:cNvSpPr txBox="1">
                <a:spLocks noChangeArrowheads="1"/>
              </p:cNvSpPr>
              <p:nvPr/>
            </p:nvSpPr>
            <p:spPr bwMode="auto">
              <a:xfrm>
                <a:off x="2489" y="2532"/>
                <a:ext cx="5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2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3</a:t>
                </a:r>
              </a:p>
            </p:txBody>
          </p:sp>
        </p:grpSp>
      </p:grpSp>
      <p:sp>
        <p:nvSpPr>
          <p:cNvPr id="2" name="矩形 1"/>
          <p:cNvSpPr/>
          <p:nvPr/>
        </p:nvSpPr>
        <p:spPr>
          <a:xfrm>
            <a:off x="1803061" y="5805264"/>
            <a:ext cx="6534315" cy="461665"/>
          </a:xfrm>
          <a:prstGeom prst="rect">
            <a:avLst/>
          </a:prstGeom>
        </p:spPr>
        <p:txBody>
          <a:bodyPr wrap="square">
            <a:spAutoFit/>
          </a:bodyPr>
          <a:lstStyle/>
          <a:p>
            <a:pPr algn="ctr"/>
            <a:r>
              <a:rPr lang="zh-CN" altLang="zh-CN" sz="2400" b="1" dirty="0">
                <a:latin typeface="+mn-lt"/>
                <a:ea typeface="黑体" panose="02010609060101010101" pitchFamily="2" charset="-122"/>
              </a:rPr>
              <a:t>以分组为基本单位在网络中传送</a:t>
            </a:r>
            <a:endParaRPr lang="zh-CN" altLang="en-US" sz="24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p:stCondLst>
                              <p:cond delay="0"/>
                            </p:stCondLst>
                            <p:childTnLst>
                              <p:par>
                                <p:cTn id="18" presetID="2" presetClass="exit" presetSubtype="8" fill="hold" nodeType="afterEffect">
                                  <p:stCondLst>
                                    <p:cond delay="500"/>
                                  </p:stCondLst>
                                  <p:childTnLst>
                                    <p:anim calcmode="lin" valueType="num">
                                      <p:cBhvr additive="base">
                                        <p:cTn id="19" dur="2000"/>
                                        <p:tgtEl>
                                          <p:spTgt spid="57366"/>
                                        </p:tgtEl>
                                        <p:attrNameLst>
                                          <p:attrName>ppt_x</p:attrName>
                                        </p:attrNameLst>
                                      </p:cBhvr>
                                      <p:tavLst>
                                        <p:tav tm="0">
                                          <p:val>
                                            <p:strVal val="ppt_x"/>
                                          </p:val>
                                        </p:tav>
                                        <p:tav tm="100000">
                                          <p:val>
                                            <p:strVal val="0-ppt_w/2"/>
                                          </p:val>
                                        </p:tav>
                                      </p:tavLst>
                                    </p:anim>
                                    <p:anim calcmode="lin" valueType="num">
                                      <p:cBhvr additive="base">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p:stCondLst>
                              <p:cond delay="2500"/>
                            </p:stCondLst>
                            <p:childTnLst>
                              <p:par>
                                <p:cTn id="23" presetID="2" presetClass="exit" presetSubtype="8" fill="hold" nodeType="afterEffect">
                                  <p:stCondLst>
                                    <p:cond delay="500"/>
                                  </p:stCondLst>
                                  <p:childTnLst>
                                    <p:anim calcmode="lin" valueType="num">
                                      <p:cBhvr additive="base">
                                        <p:cTn id="24" dur="2000"/>
                                        <p:tgtEl>
                                          <p:spTgt spid="57367"/>
                                        </p:tgtEl>
                                        <p:attrNameLst>
                                          <p:attrName>ppt_x</p:attrName>
                                        </p:attrNameLst>
                                      </p:cBhvr>
                                      <p:tavLst>
                                        <p:tav tm="0">
                                          <p:val>
                                            <p:strVal val="ppt_x"/>
                                          </p:val>
                                        </p:tav>
                                        <p:tav tm="100000">
                                          <p:val>
                                            <p:strVal val="0-ppt_w/2"/>
                                          </p:val>
                                        </p:tav>
                                      </p:tavLst>
                                    </p:anim>
                                    <p:anim calcmode="lin" valueType="num">
                                      <p:cBhvr additive="base">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p:stCondLst>
                              <p:cond delay="5000"/>
                            </p:stCondLst>
                            <p:childTnLst>
                              <p:par>
                                <p:cTn id="28" presetID="2" presetClass="exit" presetSubtype="8" fill="hold" nodeType="afterEffect">
                                  <p:stCondLst>
                                    <p:cond delay="500"/>
                                  </p:stCondLst>
                                  <p:childTnLst>
                                    <p:anim calcmode="lin" valueType="num">
                                      <p:cBhvr additive="base">
                                        <p:cTn id="29" dur="2000"/>
                                        <p:tgtEl>
                                          <p:spTgt spid="57368"/>
                                        </p:tgtEl>
                                        <p:attrNameLst>
                                          <p:attrName>ppt_x</p:attrName>
                                        </p:attrNameLst>
                                      </p:cBhvr>
                                      <p:tavLst>
                                        <p:tav tm="0">
                                          <p:val>
                                            <p:strVal val="ppt_x"/>
                                          </p:val>
                                        </p:tav>
                                        <p:tav tm="100000">
                                          <p:val>
                                            <p:strVal val="0-ppt_w/2"/>
                                          </p:val>
                                        </p:tav>
                                      </p:tavLst>
                                    </p:anim>
                                    <p:anim calcmode="lin" valueType="num">
                                      <p:cBhvr additive="base">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algn="ctr"/>
            <a:r>
              <a:rPr lang="zh-CN" altLang="en-US"/>
              <a:t>分组首部的重要性</a:t>
            </a:r>
          </a:p>
        </p:txBody>
      </p:sp>
      <p:sp>
        <p:nvSpPr>
          <p:cNvPr id="58371" name="Rectangle 3"/>
          <p:cNvSpPr>
            <a:spLocks noGrp="1" noChangeArrowheads="1"/>
          </p:cNvSpPr>
          <p:nvPr>
            <p:ph idx="1"/>
          </p:nvPr>
        </p:nvSpPr>
        <p:spPr/>
        <p:txBody>
          <a:bodyPr/>
          <a:lstStyle/>
          <a:p>
            <a:r>
              <a:rPr lang="zh-CN" altLang="en-US" dirty="0">
                <a:solidFill>
                  <a:srgbClr val="FF0000"/>
                </a:solidFill>
              </a:rPr>
              <a:t>每一个</a:t>
            </a:r>
            <a:r>
              <a:rPr lang="zh-CN" altLang="en-US" dirty="0"/>
              <a:t>分组的首部都含有</a:t>
            </a:r>
            <a:r>
              <a:rPr lang="zh-CN" altLang="en-US" dirty="0">
                <a:solidFill>
                  <a:srgbClr val="FF0000"/>
                </a:solidFill>
              </a:rPr>
              <a:t>地址</a:t>
            </a:r>
            <a:r>
              <a:rPr lang="zh-CN" altLang="en-US" dirty="0"/>
              <a:t>（</a:t>
            </a:r>
            <a:r>
              <a:rPr lang="zh-CN" altLang="zh-CN" dirty="0"/>
              <a:t>诸如目的地址和源地址</a:t>
            </a:r>
            <a:r>
              <a:rPr lang="zh-CN" altLang="en-US" dirty="0"/>
              <a:t>）等控制信息。</a:t>
            </a:r>
          </a:p>
          <a:p>
            <a:r>
              <a:rPr lang="zh-CN" altLang="en-US" dirty="0"/>
              <a:t>分组交换网中的结点交换机根据收到的分组首部中的</a:t>
            </a:r>
            <a:r>
              <a:rPr lang="zh-CN" altLang="en-US" dirty="0">
                <a:solidFill>
                  <a:srgbClr val="FF0000"/>
                </a:solidFill>
              </a:rPr>
              <a:t>地址信息，</a:t>
            </a:r>
            <a:r>
              <a:rPr lang="zh-CN" altLang="en-US" dirty="0"/>
              <a:t>把分组</a:t>
            </a:r>
            <a:r>
              <a:rPr lang="zh-CN" altLang="en-US" dirty="0">
                <a:solidFill>
                  <a:srgbClr val="FF0000"/>
                </a:solidFill>
              </a:rPr>
              <a:t>转发</a:t>
            </a:r>
            <a:r>
              <a:rPr lang="zh-CN" altLang="en-US" dirty="0"/>
              <a:t>到下一个结点交换机。</a:t>
            </a:r>
            <a:endParaRPr lang="en-US" altLang="zh-CN" dirty="0"/>
          </a:p>
          <a:p>
            <a:r>
              <a:rPr lang="zh-CN" altLang="zh-CN" dirty="0"/>
              <a:t>每个分组在互联网中</a:t>
            </a:r>
            <a:r>
              <a:rPr lang="zh-CN" altLang="zh-CN" dirty="0">
                <a:solidFill>
                  <a:srgbClr val="FF0000"/>
                </a:solidFill>
              </a:rPr>
              <a:t>独立地选择传输路径</a:t>
            </a:r>
            <a:r>
              <a:rPr lang="zh-CN" altLang="en-US" dirty="0">
                <a:solidFill>
                  <a:srgbClr val="FF0000"/>
                </a:solidFill>
              </a:rPr>
              <a:t>。</a:t>
            </a:r>
            <a:endParaRPr lang="en-US" altLang="zh-CN" dirty="0">
              <a:solidFill>
                <a:srgbClr val="FF0000"/>
              </a:solidFill>
            </a:endParaRPr>
          </a:p>
          <a:p>
            <a:r>
              <a:rPr lang="zh-CN" altLang="en-US" dirty="0"/>
              <a:t>用这样的</a:t>
            </a:r>
            <a:r>
              <a:rPr lang="zh-CN" altLang="en-US" dirty="0">
                <a:solidFill>
                  <a:srgbClr val="FF0000"/>
                </a:solidFill>
              </a:rPr>
              <a:t>存储转发</a:t>
            </a:r>
            <a:r>
              <a:rPr lang="zh-CN" altLang="en-US" dirty="0"/>
              <a:t>方式，最后分组就能到达</a:t>
            </a:r>
            <a:r>
              <a:rPr lang="zh-CN" altLang="en-US" dirty="0">
                <a:solidFill>
                  <a:srgbClr val="FF0000"/>
                </a:solidFill>
              </a:rPr>
              <a:t>最终目的地。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lgn="ctr"/>
            <a:r>
              <a:rPr lang="zh-CN" altLang="en-US"/>
              <a:t>收到分组后剥去首部</a:t>
            </a:r>
          </a:p>
        </p:txBody>
      </p:sp>
      <p:sp>
        <p:nvSpPr>
          <p:cNvPr id="59395" name="Rectangle 3"/>
          <p:cNvSpPr>
            <a:spLocks noGrp="1" noChangeArrowheads="1"/>
          </p:cNvSpPr>
          <p:nvPr>
            <p:ph idx="1"/>
          </p:nvPr>
        </p:nvSpPr>
        <p:spPr/>
        <p:txBody>
          <a:bodyPr/>
          <a:lstStyle/>
          <a:p>
            <a:r>
              <a:rPr lang="zh-CN" altLang="en-US" dirty="0"/>
              <a:t>接收端收到分组后</a:t>
            </a:r>
            <a:r>
              <a:rPr lang="zh-CN" altLang="en-US" dirty="0">
                <a:solidFill>
                  <a:srgbClr val="FF0000"/>
                </a:solidFill>
              </a:rPr>
              <a:t>剥去</a:t>
            </a:r>
            <a:r>
              <a:rPr lang="zh-CN" altLang="en-US" dirty="0"/>
              <a:t>首部还原成报文。</a:t>
            </a:r>
          </a:p>
        </p:txBody>
      </p:sp>
      <p:sp>
        <p:nvSpPr>
          <p:cNvPr id="59397" name="Rectangle 5"/>
          <p:cNvSpPr>
            <a:spLocks noChangeArrowheads="1"/>
          </p:cNvSpPr>
          <p:nvPr/>
        </p:nvSpPr>
        <p:spPr bwMode="auto">
          <a:xfrm>
            <a:off x="2920206" y="2550815"/>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9398" name="Rectangle 6"/>
          <p:cNvSpPr>
            <a:spLocks noChangeArrowheads="1"/>
          </p:cNvSpPr>
          <p:nvPr/>
        </p:nvSpPr>
        <p:spPr bwMode="auto">
          <a:xfrm>
            <a:off x="2295922" y="2550815"/>
            <a:ext cx="624284" cy="43180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grpSp>
        <p:nvGrpSpPr>
          <p:cNvPr id="59399" name="Group 7"/>
          <p:cNvGrpSpPr/>
          <p:nvPr/>
        </p:nvGrpSpPr>
        <p:grpSpPr bwMode="auto">
          <a:xfrm>
            <a:off x="2297642" y="1988840"/>
            <a:ext cx="2495418" cy="488950"/>
            <a:chOff x="1973" y="2532"/>
            <a:chExt cx="1451" cy="308"/>
          </a:xfrm>
        </p:grpSpPr>
        <p:sp>
          <p:nvSpPr>
            <p:cNvPr id="59400" name="AutoShape 8"/>
            <p:cNvSpPr/>
            <p:nvPr/>
          </p:nvSpPr>
          <p:spPr bwMode="auto">
            <a:xfrm rot="5400000">
              <a:off x="2654" y="2069"/>
              <a:ext cx="90" cy="1451"/>
            </a:xfrm>
            <a:prstGeom prst="leftBrace">
              <a:avLst>
                <a:gd name="adj1" fmla="val 13435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9401" name="Text Box 9"/>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1</a:t>
              </a:r>
            </a:p>
          </p:txBody>
        </p:sp>
      </p:grpSp>
      <p:sp>
        <p:nvSpPr>
          <p:cNvPr id="59403" name="Rectangle 11"/>
          <p:cNvSpPr>
            <a:spLocks noChangeArrowheads="1"/>
          </p:cNvSpPr>
          <p:nvPr/>
        </p:nvSpPr>
        <p:spPr bwMode="auto">
          <a:xfrm>
            <a:off x="4793060" y="3416002"/>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59404" name="Rectangle 12"/>
          <p:cNvSpPr>
            <a:spLocks noChangeArrowheads="1"/>
          </p:cNvSpPr>
          <p:nvPr/>
        </p:nvSpPr>
        <p:spPr bwMode="auto">
          <a:xfrm>
            <a:off x="4168776" y="3416002"/>
            <a:ext cx="624285" cy="43180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grpSp>
        <p:nvGrpSpPr>
          <p:cNvPr id="59405" name="Group 13"/>
          <p:cNvGrpSpPr/>
          <p:nvPr/>
        </p:nvGrpSpPr>
        <p:grpSpPr bwMode="auto">
          <a:xfrm>
            <a:off x="4168776" y="2854027"/>
            <a:ext cx="2495418" cy="488950"/>
            <a:chOff x="1973" y="2532"/>
            <a:chExt cx="1451" cy="308"/>
          </a:xfrm>
        </p:grpSpPr>
        <p:sp>
          <p:nvSpPr>
            <p:cNvPr id="59406" name="AutoShape 14"/>
            <p:cNvSpPr/>
            <p:nvPr/>
          </p:nvSpPr>
          <p:spPr bwMode="auto">
            <a:xfrm rot="5400000">
              <a:off x="2654" y="2069"/>
              <a:ext cx="90" cy="1451"/>
            </a:xfrm>
            <a:prstGeom prst="leftBrace">
              <a:avLst>
                <a:gd name="adj1" fmla="val 13435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9407" name="Text Box 15"/>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2</a:t>
              </a:r>
            </a:p>
          </p:txBody>
        </p:sp>
      </p:grpSp>
      <p:sp>
        <p:nvSpPr>
          <p:cNvPr id="59409" name="Rectangle 17"/>
          <p:cNvSpPr>
            <a:spLocks noChangeArrowheads="1"/>
          </p:cNvSpPr>
          <p:nvPr/>
        </p:nvSpPr>
        <p:spPr bwMode="auto">
          <a:xfrm>
            <a:off x="6671073" y="4266902"/>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99"/>
                </a:solidFill>
                <a:latin typeface="Tahoma" panose="020B0604030504040204" pitchFamily="34" charset="0"/>
                <a:ea typeface="黑体" panose="02010609060101010101" pitchFamily="2" charset="-122"/>
              </a:rPr>
              <a:t>数     据</a:t>
            </a:r>
          </a:p>
        </p:txBody>
      </p:sp>
      <p:sp>
        <p:nvSpPr>
          <p:cNvPr id="59410" name="Rectangle 18"/>
          <p:cNvSpPr>
            <a:spLocks noChangeArrowheads="1"/>
          </p:cNvSpPr>
          <p:nvPr/>
        </p:nvSpPr>
        <p:spPr bwMode="auto">
          <a:xfrm>
            <a:off x="6039909" y="4265315"/>
            <a:ext cx="624285" cy="43180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首部</a:t>
            </a:r>
          </a:p>
        </p:txBody>
      </p:sp>
      <p:grpSp>
        <p:nvGrpSpPr>
          <p:cNvPr id="59423" name="Group 31"/>
          <p:cNvGrpSpPr/>
          <p:nvPr/>
        </p:nvGrpSpPr>
        <p:grpSpPr bwMode="auto">
          <a:xfrm>
            <a:off x="6039909" y="3717627"/>
            <a:ext cx="2495418" cy="488950"/>
            <a:chOff x="3061" y="2668"/>
            <a:chExt cx="1451" cy="308"/>
          </a:xfrm>
        </p:grpSpPr>
        <p:sp>
          <p:nvSpPr>
            <p:cNvPr id="59412" name="AutoShape 20"/>
            <p:cNvSpPr/>
            <p:nvPr/>
          </p:nvSpPr>
          <p:spPr bwMode="auto">
            <a:xfrm rot="5400000">
              <a:off x="3742" y="2205"/>
              <a:ext cx="90" cy="1451"/>
            </a:xfrm>
            <a:prstGeom prst="leftBrace">
              <a:avLst>
                <a:gd name="adj1" fmla="val 134352"/>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59413" name="Text Box 21"/>
            <p:cNvSpPr txBox="1">
              <a:spLocks noChangeArrowheads="1"/>
            </p:cNvSpPr>
            <p:nvPr/>
          </p:nvSpPr>
          <p:spPr bwMode="auto">
            <a:xfrm>
              <a:off x="3577" y="2668"/>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anose="020B0604030504040204" pitchFamily="34" charset="0"/>
                  <a:ea typeface="黑体" panose="02010609060101010101" pitchFamily="2" charset="-122"/>
                </a:rPr>
                <a:t>分组</a:t>
              </a:r>
              <a:r>
                <a:rPr lang="zh-CN" altLang="en-US" sz="1000" b="1">
                  <a:solidFill>
                    <a:srgbClr val="000099"/>
                  </a:solidFill>
                  <a:ea typeface="黑体" panose="02010609060101010101" pitchFamily="2" charset="-122"/>
                </a:rPr>
                <a:t> </a:t>
              </a:r>
              <a:r>
                <a:rPr lang="en-US" altLang="zh-CN" sz="2000" b="1">
                  <a:solidFill>
                    <a:srgbClr val="000099"/>
                  </a:solidFill>
                  <a:ea typeface="黑体" panose="02010609060101010101" pitchFamily="2" charset="-122"/>
                </a:rPr>
                <a:t>3</a:t>
              </a:r>
            </a:p>
          </p:txBody>
        </p:sp>
      </p:grpSp>
      <p:sp>
        <p:nvSpPr>
          <p:cNvPr id="59424" name="Text Box 32"/>
          <p:cNvSpPr txBox="1">
            <a:spLocks noChangeArrowheads="1"/>
          </p:cNvSpPr>
          <p:nvPr/>
        </p:nvSpPr>
        <p:spPr bwMode="auto">
          <a:xfrm>
            <a:off x="271728" y="5071765"/>
            <a:ext cx="218413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000099"/>
                </a:solidFill>
                <a:latin typeface="Tahoma" panose="020B0604030504040204" pitchFamily="34" charset="0"/>
                <a:ea typeface="黑体" panose="02010609060101010101" pitchFamily="2" charset="-122"/>
              </a:rPr>
              <a:t>收到的数据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p:stCondLst>
                              <p:cond delay="0"/>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p:stCondLst>
                              <p:cond delay="1500"/>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attrName>
                                          <p:attrName>ppt_y</p:attrName>
                                        </p:attrNameLst>
                                      </p:cBhvr>
                                      <p:rCtr x="0" y="18867"/>
                                    </p:animMotion>
                                  </p:childTnLst>
                                </p:cTn>
                              </p:par>
                            </p:childTnLst>
                          </p:cTn>
                        </p:par>
                        <p:par>
                          <p:cTn id="16" fill="hold">
                            <p:stCondLst>
                              <p:cond delay="2500"/>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p:stCondLst>
                              <p:cond delay="3000"/>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p:stCondLst>
                              <p:cond delay="4000"/>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attrName>
                                          <p:attrName>ppt_y</p:attrName>
                                        </p:attrNameLst>
                                      </p:cBhvr>
                                      <p:rCtr x="0" y="12578"/>
                                    </p:animMotion>
                                  </p:childTnLst>
                                </p:cTn>
                              </p:par>
                            </p:childTnLst>
                          </p:cTn>
                        </p:par>
                        <p:par>
                          <p:cTn id="28" fill="hold">
                            <p:stCondLst>
                              <p:cond delay="5000"/>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p:stCondLst>
                              <p:cond delay="5500"/>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p:stCondLst>
                              <p:cond delay="6500"/>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attrName>
                                          <p:attrName>ppt_y</p:attrName>
                                        </p:attrNameLst>
                                      </p:cBhvr>
                                      <p:rCtr x="-35" y="6382"/>
                                    </p:animMotion>
                                  </p:childTnLst>
                                </p:cTn>
                              </p:par>
                            </p:childTnLst>
                          </p:cTn>
                        </p:par>
                        <p:par>
                          <p:cTn id="40" fill="hold">
                            <p:stCondLst>
                              <p:cond delay="7500"/>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4" name="Rectangle 8"/>
          <p:cNvSpPr>
            <a:spLocks noGrp="1" noChangeArrowheads="1"/>
          </p:cNvSpPr>
          <p:nvPr>
            <p:ph type="title"/>
          </p:nvPr>
        </p:nvSpPr>
        <p:spPr/>
        <p:txBody>
          <a:bodyPr/>
          <a:lstStyle/>
          <a:p>
            <a:pPr algn="ctr"/>
            <a:r>
              <a:rPr lang="zh-CN" altLang="en-US"/>
              <a:t>最后还原成原来的报文</a:t>
            </a:r>
          </a:p>
        </p:txBody>
      </p:sp>
      <p:sp>
        <p:nvSpPr>
          <p:cNvPr id="60425" name="Rectangle 9"/>
          <p:cNvSpPr>
            <a:spLocks noGrp="1" noChangeArrowheads="1"/>
          </p:cNvSpPr>
          <p:nvPr>
            <p:ph idx="1"/>
          </p:nvPr>
        </p:nvSpPr>
        <p:spPr/>
        <p:txBody>
          <a:bodyPr/>
          <a:lstStyle/>
          <a:p>
            <a:r>
              <a:rPr lang="zh-CN" altLang="en-US" dirty="0"/>
              <a:t>最后，在接收端把收到的数据</a:t>
            </a:r>
            <a:r>
              <a:rPr lang="zh-CN" altLang="en-US" dirty="0">
                <a:solidFill>
                  <a:srgbClr val="FF0000"/>
                </a:solidFill>
              </a:rPr>
              <a:t>恢复成为原来的报文。</a:t>
            </a:r>
          </a:p>
          <a:p>
            <a:endParaRPr lang="zh-CN" altLang="en-US" dirty="0"/>
          </a:p>
          <a:p>
            <a:endParaRPr lang="zh-CN" altLang="en-US" dirty="0"/>
          </a:p>
          <a:p>
            <a:r>
              <a:rPr lang="zh-CN" altLang="en-US" dirty="0"/>
              <a:t>这里我们假定分组在传输过程中没有出现差错，在转发时也没有被丢弃。</a:t>
            </a:r>
          </a:p>
        </p:txBody>
      </p:sp>
      <p:sp>
        <p:nvSpPr>
          <p:cNvPr id="60418" name="Rectangle 2"/>
          <p:cNvSpPr>
            <a:spLocks noChangeArrowheads="1"/>
          </p:cNvSpPr>
          <p:nvPr/>
        </p:nvSpPr>
        <p:spPr bwMode="auto">
          <a:xfrm>
            <a:off x="2144581" y="2781176"/>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60419" name="Rectangle 3"/>
          <p:cNvSpPr>
            <a:spLocks noChangeArrowheads="1"/>
          </p:cNvSpPr>
          <p:nvPr/>
        </p:nvSpPr>
        <p:spPr bwMode="auto">
          <a:xfrm>
            <a:off x="4017434" y="2781176"/>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sp>
        <p:nvSpPr>
          <p:cNvPr id="60420" name="Rectangle 4"/>
          <p:cNvSpPr>
            <a:spLocks noChangeArrowheads="1"/>
          </p:cNvSpPr>
          <p:nvPr/>
        </p:nvSpPr>
        <p:spPr bwMode="auto">
          <a:xfrm>
            <a:off x="5890287" y="2781176"/>
            <a:ext cx="1871133" cy="431800"/>
          </a:xfrm>
          <a:prstGeom prst="rect">
            <a:avLst/>
          </a:prstGeom>
          <a:solidFill>
            <a:srgbClr val="CCEC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anose="020B0604030504040204" pitchFamily="34" charset="0"/>
                <a:ea typeface="黑体" panose="02010609060101010101" pitchFamily="2" charset="-122"/>
              </a:rPr>
              <a:t>数     据</a:t>
            </a:r>
          </a:p>
        </p:txBody>
      </p:sp>
      <p:grpSp>
        <p:nvGrpSpPr>
          <p:cNvPr id="60446" name="Group 30"/>
          <p:cNvGrpSpPr/>
          <p:nvPr/>
        </p:nvGrpSpPr>
        <p:grpSpPr bwMode="auto">
          <a:xfrm>
            <a:off x="2067190" y="2325564"/>
            <a:ext cx="5806016" cy="887412"/>
            <a:chOff x="1202" y="1919"/>
            <a:chExt cx="3376" cy="559"/>
          </a:xfrm>
        </p:grpSpPr>
        <p:grpSp>
          <p:nvGrpSpPr>
            <p:cNvPr id="60421" name="Group 5"/>
            <p:cNvGrpSpPr/>
            <p:nvPr/>
          </p:nvGrpSpPr>
          <p:grpSpPr bwMode="auto">
            <a:xfrm>
              <a:off x="1247" y="1919"/>
              <a:ext cx="3266" cy="252"/>
              <a:chOff x="1247" y="1737"/>
              <a:chExt cx="3266" cy="252"/>
            </a:xfrm>
          </p:grpSpPr>
          <p:sp>
            <p:nvSpPr>
              <p:cNvPr id="60422" name="Line 6"/>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0423" name="Text Box 7"/>
              <p:cNvSpPr txBox="1">
                <a:spLocks noChangeArrowheads="1"/>
              </p:cNvSpPr>
              <p:nvPr/>
            </p:nvSpPr>
            <p:spPr bwMode="auto">
              <a:xfrm>
                <a:off x="2699" y="1737"/>
                <a:ext cx="406" cy="2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报文</a:t>
                </a:r>
              </a:p>
            </p:txBody>
          </p:sp>
        </p:grpSp>
        <p:grpSp>
          <p:nvGrpSpPr>
            <p:cNvPr id="60439" name="Group 23"/>
            <p:cNvGrpSpPr/>
            <p:nvPr/>
          </p:nvGrpSpPr>
          <p:grpSpPr bwMode="auto">
            <a:xfrm>
              <a:off x="1202" y="2206"/>
              <a:ext cx="3376" cy="272"/>
              <a:chOff x="1202" y="2206"/>
              <a:chExt cx="3376" cy="272"/>
            </a:xfrm>
          </p:grpSpPr>
          <p:grpSp>
            <p:nvGrpSpPr>
              <p:cNvPr id="60440" name="Group 24"/>
              <p:cNvGrpSpPr/>
              <p:nvPr/>
            </p:nvGrpSpPr>
            <p:grpSpPr bwMode="auto">
              <a:xfrm>
                <a:off x="1247" y="2206"/>
                <a:ext cx="3266" cy="272"/>
                <a:chOff x="1247" y="2931"/>
                <a:chExt cx="3266" cy="272"/>
              </a:xfrm>
            </p:grpSpPr>
            <p:sp>
              <p:nvSpPr>
                <p:cNvPr id="60441" name="Rectangle 25"/>
                <p:cNvSpPr>
                  <a:spLocks noChangeArrowheads="1"/>
                </p:cNvSpPr>
                <p:nvPr/>
              </p:nvSpPr>
              <p:spPr bwMode="auto">
                <a:xfrm>
                  <a:off x="1248"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rgbClr val="000099"/>
                    </a:solidFill>
                    <a:ea typeface="黑体" panose="02010609060101010101" pitchFamily="2" charset="-122"/>
                  </a:endParaRPr>
                </a:p>
              </p:txBody>
            </p:sp>
            <p:sp>
              <p:nvSpPr>
                <p:cNvPr id="60442" name="Rectangle 26"/>
                <p:cNvSpPr>
                  <a:spLocks noChangeArrowheads="1"/>
                </p:cNvSpPr>
                <p:nvPr/>
              </p:nvSpPr>
              <p:spPr bwMode="auto">
                <a:xfrm>
                  <a:off x="2336"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rgbClr val="000099"/>
                    </a:solidFill>
                    <a:latin typeface="Tahoma" panose="020B0604030504040204" pitchFamily="34" charset="0"/>
                    <a:ea typeface="黑体" panose="02010609060101010101" pitchFamily="2" charset="-122"/>
                  </a:endParaRPr>
                </a:p>
              </p:txBody>
            </p:sp>
            <p:sp>
              <p:nvSpPr>
                <p:cNvPr id="60443" name="Rectangle 27"/>
                <p:cNvSpPr>
                  <a:spLocks noChangeArrowheads="1"/>
                </p:cNvSpPr>
                <p:nvPr/>
              </p:nvSpPr>
              <p:spPr bwMode="auto">
                <a:xfrm>
                  <a:off x="3425"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rgbClr val="000099"/>
                    </a:solidFill>
                    <a:ea typeface="黑体" panose="02010609060101010101" pitchFamily="2" charset="-122"/>
                  </a:endParaRPr>
                </a:p>
              </p:txBody>
            </p:sp>
            <p:sp>
              <p:nvSpPr>
                <p:cNvPr id="60444" name="Rectangle 28"/>
                <p:cNvSpPr>
                  <a:spLocks noChangeArrowheads="1"/>
                </p:cNvSpPr>
                <p:nvPr/>
              </p:nvSpPr>
              <p:spPr bwMode="auto">
                <a:xfrm>
                  <a:off x="1247" y="2931"/>
                  <a:ext cx="3266" cy="27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60445" name="Text Box 29"/>
              <p:cNvSpPr txBox="1">
                <a:spLocks noChangeArrowheads="1"/>
              </p:cNvSpPr>
              <p:nvPr/>
            </p:nvSpPr>
            <p:spPr bwMode="auto">
              <a:xfrm>
                <a:off x="1202" y="2219"/>
                <a:ext cx="33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99"/>
                    </a:solidFill>
                  </a:rPr>
                  <a:t>1101000110101010110101011100010011010010</a:t>
                </a:r>
              </a:p>
            </p:txBody>
          </p:sp>
        </p:grpSp>
      </p:grpSp>
      <p:cxnSp>
        <p:nvCxnSpPr>
          <p:cNvPr id="20" name="直接连接符 19"/>
          <p:cNvCxnSpPr/>
          <p:nvPr/>
        </p:nvCxnSpPr>
        <p:spPr bwMode="auto">
          <a:xfrm>
            <a:off x="2146301" y="2348880"/>
            <a:ext cx="0" cy="400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auto">
          <a:xfrm>
            <a:off x="7746322" y="2348880"/>
            <a:ext cx="0" cy="400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r>
              <a:rPr lang="en-US" altLang="zh-CN" dirty="0"/>
              <a:t>1.3.2  </a:t>
            </a:r>
            <a:r>
              <a:rPr lang="zh-CN" altLang="en-US" dirty="0"/>
              <a:t>互联网的核心部分</a:t>
            </a:r>
          </a:p>
        </p:txBody>
      </p:sp>
      <p:sp>
        <p:nvSpPr>
          <p:cNvPr id="361475" name="Rectangle 3"/>
          <p:cNvSpPr>
            <a:spLocks noGrp="1" noChangeArrowheads="1"/>
          </p:cNvSpPr>
          <p:nvPr>
            <p:ph idx="1"/>
          </p:nvPr>
        </p:nvSpPr>
        <p:spPr/>
        <p:txBody>
          <a:bodyPr/>
          <a:lstStyle/>
          <a:p>
            <a:r>
              <a:rPr lang="zh-CN" altLang="en-US" dirty="0"/>
              <a:t>互联网的核心部分是由</a:t>
            </a:r>
            <a:r>
              <a:rPr lang="zh-CN" altLang="en-US" dirty="0">
                <a:solidFill>
                  <a:srgbClr val="FF0000"/>
                </a:solidFill>
              </a:rPr>
              <a:t>许多网络</a:t>
            </a:r>
            <a:r>
              <a:rPr lang="zh-CN" altLang="en-US" dirty="0"/>
              <a:t>和把它们互连起来的</a:t>
            </a:r>
            <a:r>
              <a:rPr lang="zh-CN" altLang="en-US" dirty="0">
                <a:solidFill>
                  <a:srgbClr val="FF0000"/>
                </a:solidFill>
              </a:rPr>
              <a:t>路由器</a:t>
            </a:r>
            <a:r>
              <a:rPr lang="zh-CN" altLang="en-US" dirty="0"/>
              <a:t>组成，而</a:t>
            </a:r>
            <a:r>
              <a:rPr lang="zh-CN" altLang="en-US" dirty="0">
                <a:solidFill>
                  <a:srgbClr val="FF0000"/>
                </a:solidFill>
              </a:rPr>
              <a:t>主机处在互联网的边缘部分。</a:t>
            </a:r>
          </a:p>
          <a:p>
            <a:r>
              <a:rPr lang="zh-CN" altLang="en-US" dirty="0"/>
              <a:t>互联网核心部分中的路由器之间一般都用</a:t>
            </a:r>
            <a:r>
              <a:rPr lang="zh-CN" altLang="en-US" dirty="0">
                <a:solidFill>
                  <a:srgbClr val="FF0000"/>
                </a:solidFill>
              </a:rPr>
              <a:t>高速链路</a:t>
            </a:r>
            <a:r>
              <a:rPr lang="zh-CN" altLang="en-US" dirty="0"/>
              <a:t>相连接，而在网络边缘的主机接入到核心部分则通常以相对</a:t>
            </a:r>
            <a:r>
              <a:rPr lang="zh-CN" altLang="en-US" dirty="0">
                <a:solidFill>
                  <a:srgbClr val="FF0000"/>
                </a:solidFill>
              </a:rPr>
              <a:t>较低速率</a:t>
            </a:r>
            <a:r>
              <a:rPr lang="zh-CN" altLang="en-US" dirty="0"/>
              <a:t>的链路相连接。</a:t>
            </a:r>
          </a:p>
          <a:p>
            <a:r>
              <a:rPr lang="zh-CN" altLang="en-US" dirty="0">
                <a:solidFill>
                  <a:srgbClr val="FF0000"/>
                </a:solidFill>
              </a:rPr>
              <a:t>主机</a:t>
            </a:r>
            <a:r>
              <a:rPr lang="zh-CN" altLang="en-US" dirty="0"/>
              <a:t>的用途是为用户进行信息处理的，并且可以和其他主机通过网络交换信息。</a:t>
            </a:r>
            <a:r>
              <a:rPr lang="zh-CN" altLang="en-US" dirty="0">
                <a:solidFill>
                  <a:srgbClr val="FF0000"/>
                </a:solidFill>
              </a:rPr>
              <a:t>路由器</a:t>
            </a:r>
            <a:r>
              <a:rPr lang="zh-CN" altLang="en-US" dirty="0"/>
              <a:t>的用途则是用来转发分组的，即进行分组交换的。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700" name="Text Box 204"/>
          <p:cNvSpPr txBox="1">
            <a:spLocks noChangeArrowheads="1"/>
          </p:cNvSpPr>
          <p:nvPr/>
        </p:nvSpPr>
        <p:spPr bwMode="auto">
          <a:xfrm>
            <a:off x="3520640" y="35913"/>
            <a:ext cx="26564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C00000"/>
                </a:solidFill>
                <a:ea typeface="黑体" panose="02010609060101010101" pitchFamily="2" charset="-122"/>
              </a:rPr>
              <a:t>网络核心部分</a:t>
            </a:r>
          </a:p>
        </p:txBody>
      </p:sp>
      <p:grpSp>
        <p:nvGrpSpPr>
          <p:cNvPr id="4" name="组合 3"/>
          <p:cNvGrpSpPr/>
          <p:nvPr/>
        </p:nvGrpSpPr>
        <p:grpSpPr>
          <a:xfrm>
            <a:off x="560512" y="263341"/>
            <a:ext cx="7943931" cy="5325899"/>
            <a:chOff x="488504" y="235124"/>
            <a:chExt cx="8544166" cy="6118225"/>
          </a:xfrm>
        </p:grpSpPr>
        <p:sp>
          <p:nvSpPr>
            <p:cNvPr id="362500" name="Oval 4"/>
            <p:cNvSpPr>
              <a:spLocks noChangeArrowheads="1"/>
            </p:cNvSpPr>
            <p:nvPr/>
          </p:nvSpPr>
          <p:spPr bwMode="auto">
            <a:xfrm rot="-1674972">
              <a:off x="2504099" y="1500362"/>
              <a:ext cx="2567650" cy="1584325"/>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1" name="Oval 5"/>
            <p:cNvSpPr>
              <a:spLocks noChangeArrowheads="1"/>
            </p:cNvSpPr>
            <p:nvPr/>
          </p:nvSpPr>
          <p:spPr bwMode="auto">
            <a:xfrm rot="-774972">
              <a:off x="4223891" y="1179686"/>
              <a:ext cx="2242608" cy="147161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2" name="Oval 6"/>
            <p:cNvSpPr>
              <a:spLocks noChangeArrowheads="1"/>
            </p:cNvSpPr>
            <p:nvPr/>
          </p:nvSpPr>
          <p:spPr bwMode="auto">
            <a:xfrm rot="-174972">
              <a:off x="5862853" y="1716261"/>
              <a:ext cx="1656159" cy="190341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3" name="Oval 7"/>
            <p:cNvSpPr>
              <a:spLocks noChangeArrowheads="1"/>
            </p:cNvSpPr>
            <p:nvPr/>
          </p:nvSpPr>
          <p:spPr bwMode="auto">
            <a:xfrm rot="18365028">
              <a:off x="6151051" y="2757860"/>
              <a:ext cx="1571625" cy="154265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4" name="Oval 8"/>
            <p:cNvSpPr>
              <a:spLocks noChangeArrowheads="1"/>
            </p:cNvSpPr>
            <p:nvPr/>
          </p:nvSpPr>
          <p:spPr bwMode="auto">
            <a:xfrm rot="-1674972">
              <a:off x="4290964" y="3603798"/>
              <a:ext cx="2808419" cy="1766888"/>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5" name="Oval 9"/>
            <p:cNvSpPr>
              <a:spLocks noChangeArrowheads="1"/>
            </p:cNvSpPr>
            <p:nvPr/>
          </p:nvSpPr>
          <p:spPr bwMode="auto">
            <a:xfrm rot="-594972">
              <a:off x="3188577" y="4349924"/>
              <a:ext cx="2006997" cy="1222375"/>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6" name="Oval 10"/>
            <p:cNvSpPr>
              <a:spLocks noChangeArrowheads="1"/>
            </p:cNvSpPr>
            <p:nvPr/>
          </p:nvSpPr>
          <p:spPr bwMode="auto">
            <a:xfrm rot="-1674972">
              <a:off x="2418110" y="3818112"/>
              <a:ext cx="1270927" cy="1444625"/>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7" name="Oval 11"/>
            <p:cNvSpPr>
              <a:spLocks noChangeArrowheads="1"/>
            </p:cNvSpPr>
            <p:nvPr/>
          </p:nvSpPr>
          <p:spPr bwMode="auto">
            <a:xfrm rot="18065028">
              <a:off x="2120653" y="2784054"/>
              <a:ext cx="1590675" cy="1274365"/>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8" name="Freeform 12"/>
            <p:cNvSpPr/>
            <p:nvPr/>
          </p:nvSpPr>
          <p:spPr bwMode="auto">
            <a:xfrm>
              <a:off x="2536776" y="1455911"/>
              <a:ext cx="4884208" cy="3852862"/>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09" name="Line 13"/>
            <p:cNvSpPr>
              <a:spLocks noChangeShapeType="1"/>
            </p:cNvSpPr>
            <p:nvPr/>
          </p:nvSpPr>
          <p:spPr bwMode="auto">
            <a:xfrm flipV="1">
              <a:off x="3780185" y="1462261"/>
              <a:ext cx="1699154" cy="66516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0" name="Line 14"/>
            <p:cNvSpPr>
              <a:spLocks noChangeShapeType="1"/>
            </p:cNvSpPr>
            <p:nvPr/>
          </p:nvSpPr>
          <p:spPr bwMode="auto">
            <a:xfrm>
              <a:off x="5689154" y="1551162"/>
              <a:ext cx="1004358" cy="167163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1" name="Line 15"/>
            <p:cNvSpPr>
              <a:spLocks noChangeShapeType="1"/>
            </p:cNvSpPr>
            <p:nvPr/>
          </p:nvSpPr>
          <p:spPr bwMode="auto">
            <a:xfrm flipH="1">
              <a:off x="2779266" y="2235373"/>
              <a:ext cx="882254" cy="150653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2" name="Line 16"/>
            <p:cNvSpPr>
              <a:spLocks noChangeShapeType="1"/>
            </p:cNvSpPr>
            <p:nvPr/>
          </p:nvSpPr>
          <p:spPr bwMode="auto">
            <a:xfrm>
              <a:off x="2832580" y="3951461"/>
              <a:ext cx="2013876" cy="105886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3" name="Line 17"/>
            <p:cNvSpPr>
              <a:spLocks noChangeShapeType="1"/>
            </p:cNvSpPr>
            <p:nvPr/>
          </p:nvSpPr>
          <p:spPr bwMode="auto">
            <a:xfrm flipV="1">
              <a:off x="4932445" y="3554587"/>
              <a:ext cx="1761067" cy="156368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4" name="Line 18"/>
            <p:cNvSpPr>
              <a:spLocks noChangeShapeType="1"/>
            </p:cNvSpPr>
            <p:nvPr/>
          </p:nvSpPr>
          <p:spPr bwMode="auto">
            <a:xfrm>
              <a:off x="3848977" y="2243311"/>
              <a:ext cx="2823898" cy="113506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5" name="Line 19"/>
            <p:cNvSpPr>
              <a:spLocks noChangeShapeType="1"/>
            </p:cNvSpPr>
            <p:nvPr/>
          </p:nvSpPr>
          <p:spPr bwMode="auto">
            <a:xfrm>
              <a:off x="3714833" y="2051223"/>
              <a:ext cx="1327679" cy="29591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6" name="Line 20"/>
            <p:cNvSpPr>
              <a:spLocks noChangeShapeType="1"/>
            </p:cNvSpPr>
            <p:nvPr/>
          </p:nvSpPr>
          <p:spPr bwMode="auto">
            <a:xfrm flipV="1">
              <a:off x="4143062" y="5094462"/>
              <a:ext cx="849577" cy="6556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7" name="Line 21"/>
            <p:cNvSpPr>
              <a:spLocks noChangeShapeType="1"/>
            </p:cNvSpPr>
            <p:nvPr/>
          </p:nvSpPr>
          <p:spPr bwMode="auto">
            <a:xfrm rot="-5400000">
              <a:off x="5896322" y="767730"/>
              <a:ext cx="493713" cy="10731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8" name="Line 22"/>
            <p:cNvSpPr>
              <a:spLocks noChangeShapeType="1"/>
            </p:cNvSpPr>
            <p:nvPr/>
          </p:nvSpPr>
          <p:spPr bwMode="auto">
            <a:xfrm>
              <a:off x="6817337" y="3554587"/>
              <a:ext cx="849577" cy="120808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19" name="Line 23"/>
            <p:cNvSpPr>
              <a:spLocks noChangeShapeType="1"/>
            </p:cNvSpPr>
            <p:nvPr/>
          </p:nvSpPr>
          <p:spPr bwMode="auto">
            <a:xfrm>
              <a:off x="1608089" y="3872086"/>
              <a:ext cx="1181496" cy="190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20" name="Line 24"/>
            <p:cNvSpPr>
              <a:spLocks noChangeShapeType="1"/>
            </p:cNvSpPr>
            <p:nvPr/>
          </p:nvSpPr>
          <p:spPr bwMode="auto">
            <a:xfrm rot="5400000" flipH="1">
              <a:off x="3201278" y="1598654"/>
              <a:ext cx="923925" cy="34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21" name="Text Box 25"/>
            <p:cNvSpPr txBox="1">
              <a:spLocks noChangeArrowheads="1"/>
            </p:cNvSpPr>
            <p:nvPr/>
          </p:nvSpPr>
          <p:spPr bwMode="auto">
            <a:xfrm>
              <a:off x="488504" y="3540299"/>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1</a:t>
              </a:r>
              <a:endParaRPr kumimoji="1" lang="en-US" altLang="zh-CN" sz="2800" b="1">
                <a:solidFill>
                  <a:srgbClr val="000099"/>
                </a:solidFill>
                <a:ea typeface="黑体" panose="02010609060101010101" pitchFamily="2" charset="-122"/>
              </a:endParaRPr>
            </a:p>
          </p:txBody>
        </p:sp>
        <p:sp>
          <p:nvSpPr>
            <p:cNvPr id="362522" name="Text Box 26"/>
            <p:cNvSpPr txBox="1">
              <a:spLocks noChangeArrowheads="1"/>
            </p:cNvSpPr>
            <p:nvPr/>
          </p:nvSpPr>
          <p:spPr bwMode="auto">
            <a:xfrm>
              <a:off x="8158775" y="4468986"/>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5</a:t>
              </a:r>
              <a:endParaRPr kumimoji="1" lang="en-US" altLang="zh-CN" sz="2800" b="1">
                <a:solidFill>
                  <a:srgbClr val="000099"/>
                </a:solidFill>
                <a:ea typeface="黑体" panose="02010609060101010101" pitchFamily="2" charset="-122"/>
              </a:endParaRPr>
            </a:p>
          </p:txBody>
        </p:sp>
        <p:sp>
          <p:nvSpPr>
            <p:cNvPr id="362523" name="Text Box 27"/>
            <p:cNvSpPr txBox="1">
              <a:spLocks noChangeArrowheads="1"/>
            </p:cNvSpPr>
            <p:nvPr/>
          </p:nvSpPr>
          <p:spPr bwMode="auto">
            <a:xfrm>
              <a:off x="2787866" y="578024"/>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2</a:t>
              </a:r>
              <a:endParaRPr kumimoji="1" lang="en-US" altLang="zh-CN" sz="2800" b="1">
                <a:solidFill>
                  <a:srgbClr val="000099"/>
                </a:solidFill>
                <a:ea typeface="黑体" panose="02010609060101010101" pitchFamily="2" charset="-122"/>
              </a:endParaRPr>
            </a:p>
          </p:txBody>
        </p:sp>
        <p:sp>
          <p:nvSpPr>
            <p:cNvPr id="362524" name="Text Box 28"/>
            <p:cNvSpPr txBox="1">
              <a:spLocks noChangeArrowheads="1"/>
            </p:cNvSpPr>
            <p:nvPr/>
          </p:nvSpPr>
          <p:spPr bwMode="auto">
            <a:xfrm>
              <a:off x="7004795" y="235124"/>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4</a:t>
              </a:r>
              <a:endParaRPr kumimoji="1" lang="en-US" altLang="zh-CN" sz="2800" b="1">
                <a:solidFill>
                  <a:srgbClr val="000099"/>
                </a:solidFill>
                <a:ea typeface="黑体" panose="02010609060101010101" pitchFamily="2" charset="-122"/>
              </a:endParaRPr>
            </a:p>
          </p:txBody>
        </p:sp>
        <p:sp>
          <p:nvSpPr>
            <p:cNvPr id="362525" name="Text Box 29"/>
            <p:cNvSpPr txBox="1">
              <a:spLocks noChangeArrowheads="1"/>
            </p:cNvSpPr>
            <p:nvPr/>
          </p:nvSpPr>
          <p:spPr bwMode="auto">
            <a:xfrm>
              <a:off x="3142143" y="5618336"/>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3</a:t>
              </a:r>
              <a:endParaRPr kumimoji="1" lang="en-US" altLang="zh-CN" sz="2800" b="1">
                <a:solidFill>
                  <a:srgbClr val="000099"/>
                </a:solidFill>
                <a:ea typeface="黑体" panose="02010609060101010101" pitchFamily="2" charset="-122"/>
              </a:endParaRPr>
            </a:p>
          </p:txBody>
        </p:sp>
        <p:sp>
          <p:nvSpPr>
            <p:cNvPr id="362526" name="Line 30"/>
            <p:cNvSpPr>
              <a:spLocks noChangeShapeType="1"/>
            </p:cNvSpPr>
            <p:nvPr/>
          </p:nvSpPr>
          <p:spPr bwMode="auto">
            <a:xfrm flipV="1">
              <a:off x="6817337" y="2536999"/>
              <a:ext cx="1200415" cy="7969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27" name="Text Box 31"/>
            <p:cNvSpPr txBox="1">
              <a:spLocks noChangeArrowheads="1"/>
            </p:cNvSpPr>
            <p:nvPr/>
          </p:nvSpPr>
          <p:spPr bwMode="auto">
            <a:xfrm>
              <a:off x="8455268" y="1811878"/>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000099"/>
                  </a:solidFill>
                  <a:ea typeface="黑体" panose="02010609060101010101" pitchFamily="2" charset="-122"/>
                </a:rPr>
                <a:t>H</a:t>
              </a:r>
              <a:r>
                <a:rPr kumimoji="1" lang="en-US" altLang="zh-CN" sz="2800" b="1" baseline="-25000" dirty="0">
                  <a:solidFill>
                    <a:srgbClr val="000099"/>
                  </a:solidFill>
                  <a:ea typeface="黑体" panose="02010609060101010101" pitchFamily="2" charset="-122"/>
                </a:rPr>
                <a:t>6</a:t>
              </a:r>
              <a:endParaRPr kumimoji="1" lang="en-US" altLang="zh-CN" sz="2800" b="1" dirty="0">
                <a:solidFill>
                  <a:srgbClr val="000099"/>
                </a:solidFill>
                <a:ea typeface="黑体" panose="02010609060101010101" pitchFamily="2" charset="-122"/>
              </a:endParaRPr>
            </a:p>
          </p:txBody>
        </p:sp>
        <p:pic>
          <p:nvPicPr>
            <p:cNvPr id="362528"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2675" y="351012"/>
              <a:ext cx="773906"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2529"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33987" y="1944862"/>
              <a:ext cx="78078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2530"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474" y="3554586"/>
              <a:ext cx="777346"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2531"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1520" y="5638974"/>
              <a:ext cx="777346"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362532"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0985" y="4545187"/>
              <a:ext cx="78078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253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5204" y="590724"/>
              <a:ext cx="78078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2534" name="Picture 3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880" y="1921048"/>
              <a:ext cx="8255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2535"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4172" y="1303512"/>
              <a:ext cx="8255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2536"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3883" y="3149774"/>
              <a:ext cx="8255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2537" name="Picture 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3454" y="4629324"/>
              <a:ext cx="8255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2538"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21297" y="3519662"/>
              <a:ext cx="8255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62539" name="Group 43"/>
            <p:cNvGrpSpPr/>
            <p:nvPr/>
          </p:nvGrpSpPr>
          <p:grpSpPr bwMode="auto">
            <a:xfrm>
              <a:off x="4265167" y="1425748"/>
              <a:ext cx="803143" cy="617538"/>
              <a:chOff x="2949" y="196"/>
              <a:chExt cx="941" cy="598"/>
            </a:xfrm>
          </p:grpSpPr>
          <p:sp>
            <p:nvSpPr>
              <p:cNvPr id="362540" name="Oval 44"/>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1" name="Oval 45"/>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2" name="Oval 46"/>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3" name="Oval 47"/>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4" name="Oval 48"/>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5" name="Oval 49"/>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6" name="Oval 50"/>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7" name="Oval 51"/>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48" name="Freeform 5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49" name="Freeform 5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50" name="Freeform 5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551" name="Group 55"/>
            <p:cNvGrpSpPr/>
            <p:nvPr/>
          </p:nvGrpSpPr>
          <p:grpSpPr bwMode="auto">
            <a:xfrm rot="867730">
              <a:off x="4533453" y="2411586"/>
              <a:ext cx="1205575" cy="741362"/>
              <a:chOff x="2949" y="196"/>
              <a:chExt cx="941" cy="598"/>
            </a:xfrm>
          </p:grpSpPr>
          <p:sp>
            <p:nvSpPr>
              <p:cNvPr id="362552" name="Oval 56"/>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3" name="Oval 57"/>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4" name="Oval 58"/>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5" name="Oval 59"/>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6" name="Oval 60"/>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7" name="Oval 61"/>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8" name="Oval 62"/>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59" name="Oval 63"/>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60" name="Freeform 6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61" name="Freeform 6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62" name="Freeform 6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563" name="Group 67"/>
            <p:cNvGrpSpPr/>
            <p:nvPr/>
          </p:nvGrpSpPr>
          <p:grpSpPr bwMode="auto">
            <a:xfrm>
              <a:off x="6944601" y="2659236"/>
              <a:ext cx="804863" cy="615950"/>
              <a:chOff x="2949" y="196"/>
              <a:chExt cx="941" cy="598"/>
            </a:xfrm>
          </p:grpSpPr>
          <p:sp>
            <p:nvSpPr>
              <p:cNvPr id="362564" name="Oval 68"/>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65" name="Oval 69"/>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66" name="Oval 70"/>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67" name="Oval 71"/>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68" name="Oval 72"/>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69" name="Oval 73"/>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70" name="Oval 74"/>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71" name="Oval 75"/>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72" name="Freeform 7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73" name="Freeform 7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74" name="Freeform 7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575" name="Group 79"/>
            <p:cNvGrpSpPr/>
            <p:nvPr/>
          </p:nvGrpSpPr>
          <p:grpSpPr bwMode="auto">
            <a:xfrm rot="-448665">
              <a:off x="5739029" y="2043287"/>
              <a:ext cx="1205573" cy="739775"/>
              <a:chOff x="2949" y="196"/>
              <a:chExt cx="941" cy="598"/>
            </a:xfrm>
          </p:grpSpPr>
          <p:sp>
            <p:nvSpPr>
              <p:cNvPr id="362576" name="Oval 80"/>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77" name="Oval 81"/>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78" name="Oval 82"/>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79" name="Oval 83"/>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80" name="Oval 84"/>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81" name="Oval 85"/>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82" name="Oval 86"/>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83" name="Oval 87"/>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84" name="Freeform 8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85" name="Freeform 8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86" name="Freeform 9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587" name="Group 91"/>
            <p:cNvGrpSpPr/>
            <p:nvPr/>
          </p:nvGrpSpPr>
          <p:grpSpPr bwMode="auto">
            <a:xfrm>
              <a:off x="3730312" y="3149773"/>
              <a:ext cx="1337998" cy="863600"/>
              <a:chOff x="2949" y="196"/>
              <a:chExt cx="941" cy="598"/>
            </a:xfrm>
          </p:grpSpPr>
          <p:sp>
            <p:nvSpPr>
              <p:cNvPr id="362588" name="Oval 92"/>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89" name="Oval 93"/>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0" name="Oval 94"/>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1" name="Oval 95"/>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2" name="Oval 96"/>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3" name="Oval 97"/>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4" name="Oval 98"/>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5" name="Oval 99"/>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596" name="Freeform 10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97" name="Freeform 10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598" name="Freeform 10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599" name="Group 103"/>
            <p:cNvGrpSpPr/>
            <p:nvPr/>
          </p:nvGrpSpPr>
          <p:grpSpPr bwMode="auto">
            <a:xfrm rot="-485573">
              <a:off x="5338316" y="3765724"/>
              <a:ext cx="1205575" cy="741363"/>
              <a:chOff x="2949" y="196"/>
              <a:chExt cx="941" cy="598"/>
            </a:xfrm>
          </p:grpSpPr>
          <p:sp>
            <p:nvSpPr>
              <p:cNvPr id="362600" name="Oval 104"/>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1" name="Oval 105"/>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2" name="Oval 106"/>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3" name="Oval 107"/>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4" name="Oval 108"/>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5" name="Oval 109"/>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6" name="Oval 110"/>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7" name="Oval 111"/>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08" name="Freeform 11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09" name="Freeform 11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10" name="Freeform 11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11" name="Group 115"/>
            <p:cNvGrpSpPr/>
            <p:nvPr/>
          </p:nvGrpSpPr>
          <p:grpSpPr bwMode="auto">
            <a:xfrm rot="-2399024">
              <a:off x="6812178" y="3891136"/>
              <a:ext cx="803142" cy="615950"/>
              <a:chOff x="2949" y="196"/>
              <a:chExt cx="941" cy="598"/>
            </a:xfrm>
          </p:grpSpPr>
          <p:sp>
            <p:nvSpPr>
              <p:cNvPr id="362612" name="Oval 116"/>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3" name="Oval 117"/>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4" name="Oval 118"/>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5" name="Oval 119"/>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6" name="Oval 120"/>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7" name="Oval 121"/>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8" name="Oval 122"/>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19" name="Oval 123"/>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20" name="Freeform 12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21" name="Freeform 12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22" name="Freeform 12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23" name="Group 127"/>
            <p:cNvGrpSpPr/>
            <p:nvPr/>
          </p:nvGrpSpPr>
          <p:grpSpPr bwMode="auto">
            <a:xfrm rot="651098">
              <a:off x="4191216" y="5188123"/>
              <a:ext cx="803142" cy="495300"/>
              <a:chOff x="2949" y="196"/>
              <a:chExt cx="941" cy="598"/>
            </a:xfrm>
          </p:grpSpPr>
          <p:sp>
            <p:nvSpPr>
              <p:cNvPr id="362624" name="Oval 128"/>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25" name="Oval 129"/>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26" name="Oval 130"/>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27" name="Oval 131"/>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28" name="Oval 132"/>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29" name="Oval 133"/>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30" name="Oval 134"/>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31" name="Oval 135"/>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32" name="Freeform 13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33" name="Freeform 13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34" name="Freeform 13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35" name="Group 139"/>
            <p:cNvGrpSpPr/>
            <p:nvPr/>
          </p:nvGrpSpPr>
          <p:grpSpPr bwMode="auto">
            <a:xfrm rot="-564615">
              <a:off x="3192016" y="4135611"/>
              <a:ext cx="804863" cy="615950"/>
              <a:chOff x="2949" y="196"/>
              <a:chExt cx="941" cy="598"/>
            </a:xfrm>
          </p:grpSpPr>
          <p:sp>
            <p:nvSpPr>
              <p:cNvPr id="362636" name="Oval 140"/>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37" name="Oval 141"/>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38" name="Oval 142"/>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39" name="Oval 143"/>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40" name="Oval 144"/>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41" name="Oval 145"/>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42" name="Oval 146"/>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43" name="Oval 147"/>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44" name="Freeform 14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45" name="Freeform 14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46" name="Freeform 15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47" name="Group 151"/>
            <p:cNvGrpSpPr/>
            <p:nvPr/>
          </p:nvGrpSpPr>
          <p:grpSpPr bwMode="auto">
            <a:xfrm rot="1237793">
              <a:off x="5960880" y="1097137"/>
              <a:ext cx="593329" cy="388937"/>
              <a:chOff x="2949" y="196"/>
              <a:chExt cx="941" cy="598"/>
            </a:xfrm>
          </p:grpSpPr>
          <p:sp>
            <p:nvSpPr>
              <p:cNvPr id="362648" name="Oval 152"/>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49" name="Oval 153"/>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0" name="Oval 154"/>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1" name="Oval 155"/>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2" name="Oval 156"/>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3" name="Oval 157"/>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4" name="Oval 158"/>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5" name="Oval 159"/>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56" name="Freeform 16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57" name="Freeform 16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58" name="Freeform 16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59" name="Group 163"/>
            <p:cNvGrpSpPr/>
            <p:nvPr/>
          </p:nvGrpSpPr>
          <p:grpSpPr bwMode="auto">
            <a:xfrm rot="1582351">
              <a:off x="2789585" y="2659236"/>
              <a:ext cx="804863" cy="615950"/>
              <a:chOff x="2949" y="196"/>
              <a:chExt cx="941" cy="598"/>
            </a:xfrm>
          </p:grpSpPr>
          <p:sp>
            <p:nvSpPr>
              <p:cNvPr id="362660" name="Oval 164"/>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1" name="Oval 165"/>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2" name="Oval 166"/>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3" name="Oval 167"/>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4" name="Oval 168"/>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5" name="Oval 169"/>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6" name="Oval 170"/>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7" name="Oval 171"/>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68" name="Freeform 172"/>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69" name="Freeform 173"/>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70" name="Freeform 174"/>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71" name="Group 175"/>
            <p:cNvGrpSpPr/>
            <p:nvPr/>
          </p:nvGrpSpPr>
          <p:grpSpPr bwMode="auto">
            <a:xfrm rot="-311414">
              <a:off x="3377754" y="1416223"/>
              <a:ext cx="595048" cy="387350"/>
              <a:chOff x="2949" y="196"/>
              <a:chExt cx="941" cy="598"/>
            </a:xfrm>
          </p:grpSpPr>
          <p:sp>
            <p:nvSpPr>
              <p:cNvPr id="362672" name="Oval 176"/>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3" name="Oval 177"/>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4" name="Oval 178"/>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5" name="Oval 179"/>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6" name="Oval 180"/>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7" name="Oval 181"/>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8" name="Oval 182"/>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79" name="Oval 183"/>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80" name="Freeform 18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81" name="Freeform 18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82" name="Freeform 18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grpSp>
          <p:nvGrpSpPr>
            <p:cNvPr id="362683" name="Group 187"/>
            <p:cNvGrpSpPr/>
            <p:nvPr/>
          </p:nvGrpSpPr>
          <p:grpSpPr bwMode="auto">
            <a:xfrm rot="5241567">
              <a:off x="1752882" y="3622385"/>
              <a:ext cx="730250" cy="527977"/>
              <a:chOff x="2949" y="196"/>
              <a:chExt cx="941" cy="598"/>
            </a:xfrm>
          </p:grpSpPr>
          <p:sp>
            <p:nvSpPr>
              <p:cNvPr id="362684" name="Oval 188"/>
              <p:cNvSpPr>
                <a:spLocks noChangeArrowheads="1"/>
              </p:cNvSpPr>
              <p:nvPr/>
            </p:nvSpPr>
            <p:spPr bwMode="auto">
              <a:xfrm>
                <a:off x="3168" y="196"/>
                <a:ext cx="407" cy="162"/>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85" name="Oval 189"/>
              <p:cNvSpPr>
                <a:spLocks noChangeArrowheads="1"/>
              </p:cNvSpPr>
              <p:nvPr/>
            </p:nvSpPr>
            <p:spPr bwMode="auto">
              <a:xfrm rot="900000">
                <a:off x="3512" y="252"/>
                <a:ext cx="275" cy="131"/>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86" name="Oval 190"/>
              <p:cNvSpPr>
                <a:spLocks noChangeArrowheads="1"/>
              </p:cNvSpPr>
              <p:nvPr/>
            </p:nvSpPr>
            <p:spPr bwMode="auto">
              <a:xfrm rot="1500000">
                <a:off x="3650" y="385"/>
                <a:ext cx="240" cy="153"/>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87" name="Oval 191"/>
              <p:cNvSpPr>
                <a:spLocks noChangeArrowheads="1"/>
              </p:cNvSpPr>
              <p:nvPr/>
            </p:nvSpPr>
            <p:spPr bwMode="auto">
              <a:xfrm rot="20040000">
                <a:off x="3573" y="537"/>
                <a:ext cx="291" cy="18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88" name="Oval 192"/>
              <p:cNvSpPr>
                <a:spLocks noChangeArrowheads="1"/>
              </p:cNvSpPr>
              <p:nvPr/>
            </p:nvSpPr>
            <p:spPr bwMode="auto">
              <a:xfrm>
                <a:off x="3216" y="555"/>
                <a:ext cx="471" cy="239"/>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89" name="Oval 193"/>
              <p:cNvSpPr>
                <a:spLocks noChangeArrowheads="1"/>
              </p:cNvSpPr>
              <p:nvPr/>
            </p:nvSpPr>
            <p:spPr bwMode="auto">
              <a:xfrm rot="1080000">
                <a:off x="3023" y="555"/>
                <a:ext cx="26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90" name="Oval 194"/>
              <p:cNvSpPr>
                <a:spLocks noChangeArrowheads="1"/>
              </p:cNvSpPr>
              <p:nvPr/>
            </p:nvSpPr>
            <p:spPr bwMode="auto">
              <a:xfrm>
                <a:off x="2949" y="432"/>
                <a:ext cx="217"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91" name="Oval 195"/>
              <p:cNvSpPr>
                <a:spLocks noChangeArrowheads="1"/>
              </p:cNvSpPr>
              <p:nvPr/>
            </p:nvSpPr>
            <p:spPr bwMode="auto">
              <a:xfrm rot="19740000">
                <a:off x="2984" y="310"/>
                <a:ext cx="295" cy="156"/>
              </a:xfrm>
              <a:prstGeom prst="ellipse">
                <a:avLst/>
              </a:prstGeom>
              <a:solidFill>
                <a:srgbClr val="B2B2B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2692" name="Freeform 19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93" name="Freeform 19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94" name="Freeform 19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grpSp>
        <p:sp>
          <p:nvSpPr>
            <p:cNvPr id="362696" name="Text Box 200"/>
            <p:cNvSpPr txBox="1">
              <a:spLocks noChangeArrowheads="1"/>
            </p:cNvSpPr>
            <p:nvPr/>
          </p:nvSpPr>
          <p:spPr bwMode="auto">
            <a:xfrm>
              <a:off x="1047436" y="1082849"/>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00099"/>
                  </a:solidFill>
                  <a:ea typeface="黑体" panose="02010609060101010101" pitchFamily="2" charset="-122"/>
                </a:rPr>
                <a:t>路由器</a:t>
              </a:r>
            </a:p>
          </p:txBody>
        </p:sp>
        <p:sp>
          <p:nvSpPr>
            <p:cNvPr id="362697" name="Line 201"/>
            <p:cNvSpPr>
              <a:spLocks noChangeShapeType="1"/>
            </p:cNvSpPr>
            <p:nvPr/>
          </p:nvSpPr>
          <p:spPr bwMode="auto">
            <a:xfrm>
              <a:off x="2254730" y="1551162"/>
              <a:ext cx="1073150"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698" name="Text Box 202"/>
            <p:cNvSpPr txBox="1">
              <a:spLocks noChangeArrowheads="1"/>
            </p:cNvSpPr>
            <p:nvPr/>
          </p:nvSpPr>
          <p:spPr bwMode="auto">
            <a:xfrm>
              <a:off x="1236614" y="1801986"/>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rgbClr val="000099"/>
                  </a:solidFill>
                  <a:ea typeface="黑体" panose="02010609060101010101" pitchFamily="2" charset="-122"/>
                </a:rPr>
                <a:t>网络</a:t>
              </a:r>
            </a:p>
          </p:txBody>
        </p:sp>
        <p:sp>
          <p:nvSpPr>
            <p:cNvPr id="362699" name="Line 203"/>
            <p:cNvSpPr>
              <a:spLocks noChangeShapeType="1"/>
            </p:cNvSpPr>
            <p:nvPr/>
          </p:nvSpPr>
          <p:spPr bwMode="auto">
            <a:xfrm>
              <a:off x="2118866" y="2289349"/>
              <a:ext cx="804863"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701" name="Line 205"/>
            <p:cNvSpPr>
              <a:spLocks noChangeShapeType="1"/>
            </p:cNvSpPr>
            <p:nvPr/>
          </p:nvSpPr>
          <p:spPr bwMode="auto">
            <a:xfrm>
              <a:off x="5145700" y="638349"/>
              <a:ext cx="58473" cy="5429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2702" name="Text Box 206"/>
            <p:cNvSpPr txBox="1">
              <a:spLocks noChangeArrowheads="1"/>
            </p:cNvSpPr>
            <p:nvPr/>
          </p:nvSpPr>
          <p:spPr bwMode="auto">
            <a:xfrm>
              <a:off x="512581" y="2792586"/>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rgbClr val="000099"/>
                  </a:solidFill>
                  <a:ea typeface="黑体" panose="02010609060101010101" pitchFamily="2" charset="-122"/>
                </a:rPr>
                <a:t>主机</a:t>
              </a:r>
            </a:p>
          </p:txBody>
        </p:sp>
      </p:grpSp>
      <p:sp>
        <p:nvSpPr>
          <p:cNvPr id="2" name="矩形 1"/>
          <p:cNvSpPr/>
          <p:nvPr/>
        </p:nvSpPr>
        <p:spPr>
          <a:xfrm>
            <a:off x="2848397" y="6063679"/>
            <a:ext cx="4226621" cy="461665"/>
          </a:xfrm>
          <a:prstGeom prst="rect">
            <a:avLst/>
          </a:prstGeom>
        </p:spPr>
        <p:txBody>
          <a:bodyPr wrap="square">
            <a:spAutoFit/>
          </a:bodyPr>
          <a:lstStyle/>
          <a:p>
            <a:pPr algn="ctr"/>
            <a:r>
              <a:rPr lang="zh-CN" altLang="zh-CN" sz="2400" b="1" dirty="0">
                <a:latin typeface="+mn-lt"/>
                <a:ea typeface="黑体" panose="02010609060101010101" pitchFamily="2" charset="-122"/>
              </a:rPr>
              <a:t>分组交换的示意图</a:t>
            </a:r>
            <a:endParaRPr lang="zh-CN" altLang="en-US" sz="2400" b="1" dirty="0">
              <a:latin typeface="+mn-lt"/>
              <a:ea typeface="黑体" panose="02010609060101010101" pitchFamily="2" charset="-122"/>
            </a:endParaRPr>
          </a:p>
        </p:txBody>
      </p:sp>
      <p:sp>
        <p:nvSpPr>
          <p:cNvPr id="3" name="矩形 2"/>
          <p:cNvSpPr/>
          <p:nvPr/>
        </p:nvSpPr>
        <p:spPr>
          <a:xfrm>
            <a:off x="2681965" y="5637862"/>
            <a:ext cx="4575291" cy="400110"/>
          </a:xfrm>
          <a:prstGeom prst="rect">
            <a:avLst/>
          </a:prstGeom>
        </p:spPr>
        <p:txBody>
          <a:bodyPr wrap="none">
            <a:spAutoFit/>
          </a:bodyPr>
          <a:lstStyle/>
          <a:p>
            <a:pPr algn="ctr"/>
            <a:r>
              <a:rPr lang="en-US" altLang="zh-CN" sz="2000" b="1" dirty="0">
                <a:latin typeface="+mn-lt"/>
                <a:ea typeface="黑体" panose="02010609060101010101" pitchFamily="2" charset="-122"/>
              </a:rPr>
              <a:t>(a) </a:t>
            </a:r>
            <a:r>
              <a:rPr lang="zh-CN" altLang="zh-CN" sz="2000" b="1" dirty="0">
                <a:latin typeface="+mn-lt"/>
                <a:ea typeface="黑体" panose="02010609060101010101" pitchFamily="2" charset="-122"/>
              </a:rPr>
              <a:t>核心部分的路由器把网络互连起来</a:t>
            </a:r>
            <a:endParaRPr lang="zh-CN" altLang="en-US" sz="2000" b="1" dirty="0">
              <a:latin typeface="+mn-lt"/>
              <a:ea typeface="黑体" panose="0201060906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640" name="Text Box 72"/>
          <p:cNvSpPr txBox="1">
            <a:spLocks noChangeArrowheads="1"/>
          </p:cNvSpPr>
          <p:nvPr/>
        </p:nvSpPr>
        <p:spPr bwMode="auto">
          <a:xfrm>
            <a:off x="3512840" y="44624"/>
            <a:ext cx="26468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C00000"/>
                </a:solidFill>
                <a:ea typeface="黑体" panose="02010609060101010101" pitchFamily="2" charset="-122"/>
              </a:rPr>
              <a:t>网络核心部分</a:t>
            </a:r>
          </a:p>
        </p:txBody>
      </p:sp>
      <p:grpSp>
        <p:nvGrpSpPr>
          <p:cNvPr id="2" name="组合 1"/>
          <p:cNvGrpSpPr/>
          <p:nvPr/>
        </p:nvGrpSpPr>
        <p:grpSpPr>
          <a:xfrm>
            <a:off x="497858" y="401639"/>
            <a:ext cx="8199558" cy="5259609"/>
            <a:chOff x="384146" y="401639"/>
            <a:chExt cx="8809861" cy="5764211"/>
          </a:xfrm>
        </p:grpSpPr>
        <p:sp>
          <p:nvSpPr>
            <p:cNvPr id="365572" name="Oval 4"/>
            <p:cNvSpPr>
              <a:spLocks noChangeArrowheads="1"/>
            </p:cNvSpPr>
            <p:nvPr/>
          </p:nvSpPr>
          <p:spPr bwMode="auto">
            <a:xfrm rot="-1674972">
              <a:off x="2477133" y="1514475"/>
              <a:ext cx="2665677" cy="1519238"/>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3" name="Oval 5"/>
            <p:cNvSpPr>
              <a:spLocks noChangeArrowheads="1"/>
            </p:cNvSpPr>
            <p:nvPr/>
          </p:nvSpPr>
          <p:spPr bwMode="auto">
            <a:xfrm rot="-774972">
              <a:off x="4262276" y="1208088"/>
              <a:ext cx="2328598" cy="14097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4" name="Oval 6"/>
            <p:cNvSpPr>
              <a:spLocks noChangeArrowheads="1"/>
            </p:cNvSpPr>
            <p:nvPr/>
          </p:nvSpPr>
          <p:spPr bwMode="auto">
            <a:xfrm rot="-174972">
              <a:off x="5964870" y="1722439"/>
              <a:ext cx="1718071" cy="1824037"/>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5" name="Oval 7"/>
            <p:cNvSpPr>
              <a:spLocks noChangeArrowheads="1"/>
            </p:cNvSpPr>
            <p:nvPr/>
          </p:nvSpPr>
          <p:spPr bwMode="auto">
            <a:xfrm rot="18365028">
              <a:off x="6326026" y="2658534"/>
              <a:ext cx="1506537" cy="1602846"/>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6" name="Oval 8"/>
            <p:cNvSpPr>
              <a:spLocks noChangeArrowheads="1"/>
            </p:cNvSpPr>
            <p:nvPr/>
          </p:nvSpPr>
          <p:spPr bwMode="auto">
            <a:xfrm rot="-1674972">
              <a:off x="4332788" y="3530601"/>
              <a:ext cx="2915047" cy="16938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7" name="Oval 9"/>
            <p:cNvSpPr>
              <a:spLocks noChangeArrowheads="1"/>
            </p:cNvSpPr>
            <p:nvPr/>
          </p:nvSpPr>
          <p:spPr bwMode="auto">
            <a:xfrm rot="-594972">
              <a:off x="3187405" y="4246564"/>
              <a:ext cx="2084388" cy="1169987"/>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8" name="Oval 10"/>
            <p:cNvSpPr>
              <a:spLocks noChangeArrowheads="1"/>
            </p:cNvSpPr>
            <p:nvPr/>
          </p:nvSpPr>
          <p:spPr bwMode="auto">
            <a:xfrm rot="-1674972">
              <a:off x="2387703" y="3736975"/>
              <a:ext cx="1319080" cy="1384300"/>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79" name="Oval 11"/>
            <p:cNvSpPr>
              <a:spLocks noChangeArrowheads="1"/>
            </p:cNvSpPr>
            <p:nvPr/>
          </p:nvSpPr>
          <p:spPr bwMode="auto">
            <a:xfrm rot="18065028">
              <a:off x="2141707" y="2695510"/>
              <a:ext cx="1525588" cy="1322519"/>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0" name="Freeform 12"/>
            <p:cNvSpPr/>
            <p:nvPr/>
          </p:nvSpPr>
          <p:spPr bwMode="auto">
            <a:xfrm>
              <a:off x="2509808" y="1473200"/>
              <a:ext cx="5071666" cy="3690938"/>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1" name="Line 13"/>
            <p:cNvSpPr>
              <a:spLocks noChangeShapeType="1"/>
            </p:cNvSpPr>
            <p:nvPr/>
          </p:nvSpPr>
          <p:spPr bwMode="auto">
            <a:xfrm flipV="1">
              <a:off x="3801372" y="1477964"/>
              <a:ext cx="1764506" cy="6381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2" name="Line 14"/>
            <p:cNvSpPr>
              <a:spLocks noChangeShapeType="1"/>
            </p:cNvSpPr>
            <p:nvPr/>
          </p:nvSpPr>
          <p:spPr bwMode="auto">
            <a:xfrm>
              <a:off x="5784291" y="1563689"/>
              <a:ext cx="1042194" cy="16033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3" name="Line 15"/>
            <p:cNvSpPr>
              <a:spLocks noChangeShapeType="1"/>
            </p:cNvSpPr>
            <p:nvPr/>
          </p:nvSpPr>
          <p:spPr bwMode="auto">
            <a:xfrm flipH="1">
              <a:off x="2760898" y="2219326"/>
              <a:ext cx="918369" cy="144462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4" name="Line 16"/>
            <p:cNvSpPr>
              <a:spLocks noChangeShapeType="1"/>
            </p:cNvSpPr>
            <p:nvPr/>
          </p:nvSpPr>
          <p:spPr bwMode="auto">
            <a:xfrm>
              <a:off x="2817651" y="3863976"/>
              <a:ext cx="2091267" cy="101441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5" name="Line 17"/>
            <p:cNvSpPr>
              <a:spLocks noChangeShapeType="1"/>
            </p:cNvSpPr>
            <p:nvPr/>
          </p:nvSpPr>
          <p:spPr bwMode="auto">
            <a:xfrm flipV="1">
              <a:off x="4998347" y="3484563"/>
              <a:ext cx="1828138" cy="14986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6" name="Line 18"/>
            <p:cNvSpPr>
              <a:spLocks noChangeShapeType="1"/>
            </p:cNvSpPr>
            <p:nvPr/>
          </p:nvSpPr>
          <p:spPr bwMode="auto">
            <a:xfrm>
              <a:off x="3871883" y="2227264"/>
              <a:ext cx="2933965" cy="108743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7" name="Line 19"/>
            <p:cNvSpPr>
              <a:spLocks noChangeShapeType="1"/>
            </p:cNvSpPr>
            <p:nvPr/>
          </p:nvSpPr>
          <p:spPr bwMode="auto">
            <a:xfrm>
              <a:off x="3734299" y="2043114"/>
              <a:ext cx="1377554" cy="28352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8" name="Line 20"/>
            <p:cNvSpPr>
              <a:spLocks noChangeShapeType="1"/>
            </p:cNvSpPr>
            <p:nvPr/>
          </p:nvSpPr>
          <p:spPr bwMode="auto">
            <a:xfrm flipV="1">
              <a:off x="4179726" y="4959350"/>
              <a:ext cx="880533" cy="6302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89" name="Line 21"/>
            <p:cNvSpPr>
              <a:spLocks noChangeShapeType="1"/>
            </p:cNvSpPr>
            <p:nvPr/>
          </p:nvSpPr>
          <p:spPr bwMode="auto">
            <a:xfrm rot="-5400000">
              <a:off x="6018117" y="770798"/>
              <a:ext cx="473075" cy="111270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90" name="Line 22"/>
            <p:cNvSpPr>
              <a:spLocks noChangeShapeType="1"/>
            </p:cNvSpPr>
            <p:nvPr/>
          </p:nvSpPr>
          <p:spPr bwMode="auto">
            <a:xfrm>
              <a:off x="6955470" y="3484564"/>
              <a:ext cx="880533" cy="115728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91" name="Line 23"/>
            <p:cNvSpPr>
              <a:spLocks noChangeShapeType="1"/>
            </p:cNvSpPr>
            <p:nvPr/>
          </p:nvSpPr>
          <p:spPr bwMode="auto">
            <a:xfrm>
              <a:off x="1546725" y="3787775"/>
              <a:ext cx="1227931" cy="190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92" name="Line 24"/>
            <p:cNvSpPr>
              <a:spLocks noChangeShapeType="1"/>
            </p:cNvSpPr>
            <p:nvPr/>
          </p:nvSpPr>
          <p:spPr bwMode="auto">
            <a:xfrm rot="5400000" flipH="1">
              <a:off x="3238867" y="1608799"/>
              <a:ext cx="884238" cy="34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93" name="Text Box 25"/>
            <p:cNvSpPr txBox="1">
              <a:spLocks noChangeArrowheads="1"/>
            </p:cNvSpPr>
            <p:nvPr/>
          </p:nvSpPr>
          <p:spPr bwMode="auto">
            <a:xfrm>
              <a:off x="384146" y="3411539"/>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1</a:t>
              </a:r>
              <a:endParaRPr kumimoji="1" lang="en-US" altLang="zh-CN" sz="2800" b="1">
                <a:solidFill>
                  <a:srgbClr val="000099"/>
                </a:solidFill>
                <a:ea typeface="黑体" panose="02010609060101010101" pitchFamily="2" charset="-122"/>
              </a:endParaRPr>
            </a:p>
          </p:txBody>
        </p:sp>
        <p:sp>
          <p:nvSpPr>
            <p:cNvPr id="365594" name="Text Box 26"/>
            <p:cNvSpPr txBox="1">
              <a:spLocks noChangeArrowheads="1"/>
            </p:cNvSpPr>
            <p:nvPr/>
          </p:nvSpPr>
          <p:spPr bwMode="auto">
            <a:xfrm>
              <a:off x="8351941" y="4300539"/>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5</a:t>
              </a:r>
              <a:endParaRPr kumimoji="1" lang="en-US" altLang="zh-CN" sz="2800" b="1">
                <a:solidFill>
                  <a:srgbClr val="000099"/>
                </a:solidFill>
                <a:ea typeface="黑体" panose="02010609060101010101" pitchFamily="2" charset="-122"/>
              </a:endParaRPr>
            </a:p>
          </p:txBody>
        </p:sp>
        <p:sp>
          <p:nvSpPr>
            <p:cNvPr id="365595" name="Text Box 27"/>
            <p:cNvSpPr txBox="1">
              <a:spLocks noChangeArrowheads="1"/>
            </p:cNvSpPr>
            <p:nvPr/>
          </p:nvSpPr>
          <p:spPr bwMode="auto">
            <a:xfrm>
              <a:off x="2771216" y="617539"/>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000099"/>
                  </a:solidFill>
                  <a:ea typeface="黑体" panose="02010609060101010101" pitchFamily="2" charset="-122"/>
                </a:rPr>
                <a:t>H</a:t>
              </a:r>
              <a:r>
                <a:rPr kumimoji="1" lang="en-US" altLang="zh-CN" sz="2800" b="1" baseline="-25000" dirty="0">
                  <a:solidFill>
                    <a:srgbClr val="000099"/>
                  </a:solidFill>
                  <a:ea typeface="黑体" panose="02010609060101010101" pitchFamily="2" charset="-122"/>
                </a:rPr>
                <a:t>2</a:t>
              </a:r>
              <a:endParaRPr kumimoji="1" lang="en-US" altLang="zh-CN" sz="2800" b="1" dirty="0">
                <a:solidFill>
                  <a:srgbClr val="000099"/>
                </a:solidFill>
                <a:ea typeface="黑体" panose="02010609060101010101" pitchFamily="2" charset="-122"/>
              </a:endParaRPr>
            </a:p>
          </p:txBody>
        </p:sp>
        <p:sp>
          <p:nvSpPr>
            <p:cNvPr id="365596" name="Text Box 28"/>
            <p:cNvSpPr txBox="1">
              <a:spLocks noChangeArrowheads="1"/>
            </p:cNvSpPr>
            <p:nvPr/>
          </p:nvSpPr>
          <p:spPr bwMode="auto">
            <a:xfrm>
              <a:off x="7149806" y="401639"/>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4</a:t>
              </a:r>
              <a:endParaRPr kumimoji="1" lang="en-US" altLang="zh-CN" sz="2800" b="1">
                <a:solidFill>
                  <a:srgbClr val="000099"/>
                </a:solidFill>
                <a:ea typeface="黑体" panose="02010609060101010101" pitchFamily="2" charset="-122"/>
              </a:endParaRPr>
            </a:p>
          </p:txBody>
        </p:sp>
        <p:sp>
          <p:nvSpPr>
            <p:cNvPr id="365597" name="Text Box 29"/>
            <p:cNvSpPr txBox="1">
              <a:spLocks noChangeArrowheads="1"/>
            </p:cNvSpPr>
            <p:nvPr/>
          </p:nvSpPr>
          <p:spPr bwMode="auto">
            <a:xfrm>
              <a:off x="3173648" y="5297489"/>
              <a:ext cx="5774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3</a:t>
              </a:r>
              <a:endParaRPr kumimoji="1" lang="en-US" altLang="zh-CN" sz="2800" b="1">
                <a:solidFill>
                  <a:srgbClr val="000099"/>
                </a:solidFill>
                <a:ea typeface="黑体" panose="02010609060101010101" pitchFamily="2" charset="-122"/>
              </a:endParaRPr>
            </a:p>
          </p:txBody>
        </p:sp>
        <p:sp>
          <p:nvSpPr>
            <p:cNvPr id="365598" name="Line 30"/>
            <p:cNvSpPr>
              <a:spLocks noChangeShapeType="1"/>
            </p:cNvSpPr>
            <p:nvPr/>
          </p:nvSpPr>
          <p:spPr bwMode="auto">
            <a:xfrm flipV="1">
              <a:off x="6955470" y="2508251"/>
              <a:ext cx="1246848" cy="7651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599" name="Text Box 31"/>
            <p:cNvSpPr txBox="1">
              <a:spLocks noChangeArrowheads="1"/>
            </p:cNvSpPr>
            <p:nvPr/>
          </p:nvSpPr>
          <p:spPr bwMode="auto">
            <a:xfrm>
              <a:off x="8616604" y="1775727"/>
              <a:ext cx="5774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000099"/>
                  </a:solidFill>
                  <a:ea typeface="黑体" panose="02010609060101010101" pitchFamily="2" charset="-122"/>
                </a:rPr>
                <a:t>H</a:t>
              </a:r>
              <a:r>
                <a:rPr kumimoji="1" lang="en-US" altLang="zh-CN" sz="2800" b="1" baseline="-25000" dirty="0">
                  <a:solidFill>
                    <a:srgbClr val="000099"/>
                  </a:solidFill>
                  <a:ea typeface="黑体" panose="02010609060101010101" pitchFamily="2" charset="-122"/>
                </a:rPr>
                <a:t>6</a:t>
              </a:r>
              <a:endParaRPr kumimoji="1" lang="en-US" altLang="zh-CN" sz="2800" b="1" dirty="0">
                <a:solidFill>
                  <a:srgbClr val="000099"/>
                </a:solidFill>
                <a:ea typeface="黑体" panose="02010609060101010101" pitchFamily="2" charset="-122"/>
              </a:endParaRPr>
            </a:p>
          </p:txBody>
        </p:sp>
        <p:pic>
          <p:nvPicPr>
            <p:cNvPr id="365600"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889" y="414338"/>
              <a:ext cx="804863"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5601"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6515" y="1941513"/>
              <a:ext cx="810022"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5602"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754" y="3484564"/>
              <a:ext cx="808302"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5603"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9266" y="5481638"/>
              <a:ext cx="806583"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365604"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1474" y="4433888"/>
              <a:ext cx="810021"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560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9193" y="642938"/>
              <a:ext cx="810021"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5606" name="Text Box 38"/>
            <p:cNvSpPr txBox="1">
              <a:spLocks noChangeArrowheads="1"/>
            </p:cNvSpPr>
            <p:nvPr/>
          </p:nvSpPr>
          <p:spPr bwMode="auto">
            <a:xfrm>
              <a:off x="1343325" y="4738688"/>
              <a:ext cx="126669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a:solidFill>
                    <a:srgbClr val="000099"/>
                  </a:solidFill>
                  <a:ea typeface="黑体" panose="02010609060101010101" pitchFamily="2" charset="-122"/>
                </a:rPr>
                <a:t>发送的</a:t>
              </a:r>
            </a:p>
            <a:p>
              <a:pPr algn="ctr"/>
              <a:r>
                <a:rPr kumimoji="1" lang="zh-CN" altLang="en-US" sz="2800" b="1">
                  <a:solidFill>
                    <a:srgbClr val="000099"/>
                  </a:solidFill>
                  <a:ea typeface="黑体" panose="02010609060101010101" pitchFamily="2" charset="-122"/>
                </a:rPr>
                <a:t>分组</a:t>
              </a:r>
            </a:p>
          </p:txBody>
        </p:sp>
        <p:pic>
          <p:nvPicPr>
            <p:cNvPr id="365607"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5608"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5609" name="Picture 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5610"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65611"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65613" name="Text Box 45"/>
            <p:cNvSpPr txBox="1">
              <a:spLocks noChangeArrowheads="1"/>
            </p:cNvSpPr>
            <p:nvPr/>
          </p:nvSpPr>
          <p:spPr bwMode="auto">
            <a:xfrm>
              <a:off x="963715" y="977900"/>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00099"/>
                  </a:solidFill>
                  <a:ea typeface="黑体" panose="02010609060101010101" pitchFamily="2" charset="-122"/>
                </a:rPr>
                <a:t>路由器</a:t>
              </a:r>
            </a:p>
          </p:txBody>
        </p:sp>
        <p:sp>
          <p:nvSpPr>
            <p:cNvPr id="365614" name="Line 46"/>
            <p:cNvSpPr>
              <a:spLocks noChangeShapeType="1"/>
            </p:cNvSpPr>
            <p:nvPr/>
          </p:nvSpPr>
          <p:spPr bwMode="auto">
            <a:xfrm>
              <a:off x="2219163" y="1563689"/>
              <a:ext cx="1114425" cy="4714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5615" name="Text Box 47"/>
            <p:cNvSpPr txBox="1">
              <a:spLocks noChangeArrowheads="1"/>
            </p:cNvSpPr>
            <p:nvPr/>
          </p:nvSpPr>
          <p:spPr bwMode="auto">
            <a:xfrm>
              <a:off x="2465093" y="2921000"/>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A</a:t>
              </a:r>
            </a:p>
          </p:txBody>
        </p:sp>
        <p:sp>
          <p:nvSpPr>
            <p:cNvPr id="365616" name="Text Box 48"/>
            <p:cNvSpPr txBox="1">
              <a:spLocks noChangeArrowheads="1"/>
            </p:cNvSpPr>
            <p:nvPr/>
          </p:nvSpPr>
          <p:spPr bwMode="auto">
            <a:xfrm>
              <a:off x="6723298" y="2562225"/>
              <a:ext cx="4235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E</a:t>
              </a:r>
            </a:p>
          </p:txBody>
        </p:sp>
        <p:sp>
          <p:nvSpPr>
            <p:cNvPr id="365617" name="Text Box 49"/>
            <p:cNvSpPr txBox="1">
              <a:spLocks noChangeArrowheads="1"/>
            </p:cNvSpPr>
            <p:nvPr/>
          </p:nvSpPr>
          <p:spPr bwMode="auto">
            <a:xfrm>
              <a:off x="5376701" y="1697039"/>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D</a:t>
              </a:r>
            </a:p>
          </p:txBody>
        </p:sp>
        <p:sp>
          <p:nvSpPr>
            <p:cNvPr id="365618" name="Text Box 50"/>
            <p:cNvSpPr txBox="1">
              <a:spLocks noChangeArrowheads="1"/>
            </p:cNvSpPr>
            <p:nvPr/>
          </p:nvSpPr>
          <p:spPr bwMode="auto">
            <a:xfrm>
              <a:off x="3766976" y="1412875"/>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B</a:t>
              </a:r>
            </a:p>
          </p:txBody>
        </p:sp>
        <p:sp>
          <p:nvSpPr>
            <p:cNvPr id="365619" name="Text Box 51"/>
            <p:cNvSpPr txBox="1">
              <a:spLocks noChangeArrowheads="1"/>
            </p:cNvSpPr>
            <p:nvPr/>
          </p:nvSpPr>
          <p:spPr bwMode="auto">
            <a:xfrm>
              <a:off x="5405937" y="4578350"/>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ea typeface="黑体" panose="02010609060101010101" pitchFamily="2" charset="-122"/>
                </a:rPr>
                <a:t>C</a:t>
              </a:r>
            </a:p>
          </p:txBody>
        </p:sp>
        <p:sp>
          <p:nvSpPr>
            <p:cNvPr id="365620" name="Line 52"/>
            <p:cNvSpPr>
              <a:spLocks noChangeShapeType="1"/>
            </p:cNvSpPr>
            <p:nvPr/>
          </p:nvSpPr>
          <p:spPr bwMode="auto">
            <a:xfrm flipV="1">
              <a:off x="1768579" y="4121150"/>
              <a:ext cx="278606" cy="8255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5621" name="Rectangle 53"/>
            <p:cNvSpPr>
              <a:spLocks noChangeArrowheads="1"/>
            </p:cNvSpPr>
            <p:nvPr/>
          </p:nvSpPr>
          <p:spPr bwMode="auto">
            <a:xfrm>
              <a:off x="1854568" y="3884614"/>
              <a:ext cx="278606" cy="236537"/>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2" name="Rectangle 54"/>
            <p:cNvSpPr>
              <a:spLocks noChangeArrowheads="1"/>
            </p:cNvSpPr>
            <p:nvPr/>
          </p:nvSpPr>
          <p:spPr bwMode="auto">
            <a:xfrm>
              <a:off x="2267317" y="3884614"/>
              <a:ext cx="280326" cy="236537"/>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3" name="Rectangle 55"/>
            <p:cNvSpPr>
              <a:spLocks noChangeArrowheads="1"/>
            </p:cNvSpPr>
            <p:nvPr/>
          </p:nvSpPr>
          <p:spPr bwMode="auto">
            <a:xfrm>
              <a:off x="3436777" y="3884614"/>
              <a:ext cx="278606" cy="236537"/>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4" name="Rectangle 56"/>
            <p:cNvSpPr>
              <a:spLocks noChangeArrowheads="1"/>
            </p:cNvSpPr>
            <p:nvPr/>
          </p:nvSpPr>
          <p:spPr bwMode="auto">
            <a:xfrm>
              <a:off x="4133292" y="4238625"/>
              <a:ext cx="278606" cy="236538"/>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5" name="Rectangle 57"/>
            <p:cNvSpPr>
              <a:spLocks noChangeArrowheads="1"/>
            </p:cNvSpPr>
            <p:nvPr/>
          </p:nvSpPr>
          <p:spPr bwMode="auto">
            <a:xfrm>
              <a:off x="5283832" y="4198939"/>
              <a:ext cx="280326" cy="238125"/>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6" name="Rectangle 58"/>
            <p:cNvSpPr>
              <a:spLocks noChangeArrowheads="1"/>
            </p:cNvSpPr>
            <p:nvPr/>
          </p:nvSpPr>
          <p:spPr bwMode="auto">
            <a:xfrm>
              <a:off x="5682824" y="3846514"/>
              <a:ext cx="278606" cy="236537"/>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7" name="Rectangle 59"/>
            <p:cNvSpPr>
              <a:spLocks noChangeArrowheads="1"/>
            </p:cNvSpPr>
            <p:nvPr/>
          </p:nvSpPr>
          <p:spPr bwMode="auto">
            <a:xfrm>
              <a:off x="6841964" y="3775075"/>
              <a:ext cx="278606" cy="236538"/>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8" name="Rectangle 60"/>
            <p:cNvSpPr>
              <a:spLocks noChangeArrowheads="1"/>
            </p:cNvSpPr>
            <p:nvPr/>
          </p:nvSpPr>
          <p:spPr bwMode="auto">
            <a:xfrm>
              <a:off x="6062898" y="3521075"/>
              <a:ext cx="280327" cy="236538"/>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29" name="Rectangle 61"/>
            <p:cNvSpPr>
              <a:spLocks noChangeArrowheads="1"/>
            </p:cNvSpPr>
            <p:nvPr/>
          </p:nvSpPr>
          <p:spPr bwMode="auto">
            <a:xfrm>
              <a:off x="7251274" y="4308475"/>
              <a:ext cx="278606" cy="236538"/>
            </a:xfrm>
            <a:prstGeom prst="rect">
              <a:avLst/>
            </a:prstGeom>
            <a:solidFill>
              <a:schemeClr val="accent2"/>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0" name="Rectangle 62"/>
            <p:cNvSpPr>
              <a:spLocks noChangeArrowheads="1"/>
            </p:cNvSpPr>
            <p:nvPr/>
          </p:nvSpPr>
          <p:spPr bwMode="auto">
            <a:xfrm>
              <a:off x="1713545" y="3435350"/>
              <a:ext cx="278606" cy="236538"/>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1" name="Rectangle 63"/>
            <p:cNvSpPr>
              <a:spLocks noChangeArrowheads="1"/>
            </p:cNvSpPr>
            <p:nvPr/>
          </p:nvSpPr>
          <p:spPr bwMode="auto">
            <a:xfrm>
              <a:off x="3455694" y="2633664"/>
              <a:ext cx="278606" cy="236537"/>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2" name="Rectangle 64"/>
            <p:cNvSpPr>
              <a:spLocks noChangeArrowheads="1"/>
            </p:cNvSpPr>
            <p:nvPr/>
          </p:nvSpPr>
          <p:spPr bwMode="auto">
            <a:xfrm>
              <a:off x="4411898" y="2116139"/>
              <a:ext cx="280327" cy="236537"/>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3" name="Rectangle 65"/>
            <p:cNvSpPr>
              <a:spLocks noChangeArrowheads="1"/>
            </p:cNvSpPr>
            <p:nvPr/>
          </p:nvSpPr>
          <p:spPr bwMode="auto">
            <a:xfrm>
              <a:off x="4969110" y="2305050"/>
              <a:ext cx="276887" cy="236538"/>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4" name="Rectangle 66"/>
            <p:cNvSpPr>
              <a:spLocks noChangeArrowheads="1"/>
            </p:cNvSpPr>
            <p:nvPr/>
          </p:nvSpPr>
          <p:spPr bwMode="auto">
            <a:xfrm>
              <a:off x="6081816" y="2703514"/>
              <a:ext cx="278606" cy="236537"/>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5" name="Rectangle 67"/>
            <p:cNvSpPr>
              <a:spLocks noChangeArrowheads="1"/>
            </p:cNvSpPr>
            <p:nvPr/>
          </p:nvSpPr>
          <p:spPr bwMode="auto">
            <a:xfrm>
              <a:off x="3158170" y="3176589"/>
              <a:ext cx="278606" cy="236537"/>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6" name="Rectangle 68"/>
            <p:cNvSpPr>
              <a:spLocks noChangeArrowheads="1"/>
            </p:cNvSpPr>
            <p:nvPr/>
          </p:nvSpPr>
          <p:spPr bwMode="auto">
            <a:xfrm>
              <a:off x="7333824" y="3600450"/>
              <a:ext cx="278606" cy="238125"/>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7" name="Rectangle 69"/>
            <p:cNvSpPr>
              <a:spLocks noChangeArrowheads="1"/>
            </p:cNvSpPr>
            <p:nvPr/>
          </p:nvSpPr>
          <p:spPr bwMode="auto">
            <a:xfrm>
              <a:off x="2129735" y="3435350"/>
              <a:ext cx="278606" cy="236538"/>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8" name="Rectangle 70"/>
            <p:cNvSpPr>
              <a:spLocks noChangeArrowheads="1"/>
            </p:cNvSpPr>
            <p:nvPr/>
          </p:nvSpPr>
          <p:spPr bwMode="auto">
            <a:xfrm>
              <a:off x="7639947" y="4025900"/>
              <a:ext cx="278606" cy="236538"/>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39" name="Rectangle 71"/>
            <p:cNvSpPr>
              <a:spLocks noChangeArrowheads="1"/>
            </p:cNvSpPr>
            <p:nvPr/>
          </p:nvSpPr>
          <p:spPr bwMode="auto">
            <a:xfrm>
              <a:off x="5478168" y="2471739"/>
              <a:ext cx="276887" cy="236537"/>
            </a:xfrm>
            <a:prstGeom prst="rect">
              <a:avLst/>
            </a:prstGeom>
            <a:solidFill>
              <a:srgbClr val="CC0000"/>
            </a:solidFill>
            <a:ln w="19050">
              <a:solidFill>
                <a:srgbClr val="CC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65641" name="Line 73"/>
            <p:cNvSpPr>
              <a:spLocks noChangeShapeType="1"/>
            </p:cNvSpPr>
            <p:nvPr/>
          </p:nvSpPr>
          <p:spPr bwMode="auto">
            <a:xfrm>
              <a:off x="5108414" y="696913"/>
              <a:ext cx="137583" cy="4746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65642" name="Text Box 74"/>
            <p:cNvSpPr txBox="1">
              <a:spLocks noChangeArrowheads="1"/>
            </p:cNvSpPr>
            <p:nvPr/>
          </p:nvSpPr>
          <p:spPr bwMode="auto">
            <a:xfrm>
              <a:off x="765939" y="2768600"/>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rgbClr val="000099"/>
                  </a:solidFill>
                  <a:ea typeface="黑体" panose="02010609060101010101" pitchFamily="2" charset="-122"/>
                </a:rPr>
                <a:t>主机</a:t>
              </a:r>
            </a:p>
          </p:txBody>
        </p:sp>
      </p:grpSp>
      <p:sp>
        <p:nvSpPr>
          <p:cNvPr id="73" name="矩形 72"/>
          <p:cNvSpPr/>
          <p:nvPr/>
        </p:nvSpPr>
        <p:spPr>
          <a:xfrm>
            <a:off x="2848397" y="6063679"/>
            <a:ext cx="4226621" cy="461665"/>
          </a:xfrm>
          <a:prstGeom prst="rect">
            <a:avLst/>
          </a:prstGeom>
        </p:spPr>
        <p:txBody>
          <a:bodyPr wrap="square">
            <a:spAutoFit/>
          </a:bodyPr>
          <a:lstStyle/>
          <a:p>
            <a:pPr algn="ctr"/>
            <a:r>
              <a:rPr lang="zh-CN" altLang="zh-CN" sz="2400" b="1" dirty="0">
                <a:latin typeface="+mn-lt"/>
                <a:ea typeface="黑体" panose="02010609060101010101" pitchFamily="2" charset="-122"/>
              </a:rPr>
              <a:t>分组交换的示意图</a:t>
            </a:r>
            <a:endParaRPr lang="zh-CN" altLang="en-US" sz="2400" b="1" dirty="0">
              <a:latin typeface="+mn-lt"/>
              <a:ea typeface="黑体" panose="02010609060101010101" pitchFamily="2" charset="-122"/>
            </a:endParaRPr>
          </a:p>
        </p:txBody>
      </p:sp>
      <p:sp>
        <p:nvSpPr>
          <p:cNvPr id="74" name="矩形 73"/>
          <p:cNvSpPr/>
          <p:nvPr/>
        </p:nvSpPr>
        <p:spPr>
          <a:xfrm>
            <a:off x="2613837" y="5661248"/>
            <a:ext cx="4711546" cy="400110"/>
          </a:xfrm>
          <a:prstGeom prst="rect">
            <a:avLst/>
          </a:prstGeom>
        </p:spPr>
        <p:txBody>
          <a:bodyPr wrap="none">
            <a:spAutoFit/>
          </a:bodyPr>
          <a:lstStyle/>
          <a:p>
            <a:pPr algn="ctr"/>
            <a:r>
              <a:rPr lang="en-US" altLang="zh-CN" sz="2000" b="1" dirty="0">
                <a:latin typeface="+mn-lt"/>
                <a:ea typeface="黑体" panose="02010609060101010101" pitchFamily="2" charset="-122"/>
              </a:rPr>
              <a:t>(b) </a:t>
            </a:r>
            <a:r>
              <a:rPr lang="zh-CN" altLang="zh-CN" sz="2000" b="1" dirty="0">
                <a:latin typeface="+mn-lt"/>
                <a:ea typeface="黑体" panose="02010609060101010101" pitchFamily="2" charset="-122"/>
              </a:rPr>
              <a:t>核心部分</a:t>
            </a:r>
            <a:r>
              <a:rPr lang="zh-CN" altLang="en-US" sz="2000" b="1" dirty="0">
                <a:latin typeface="+mn-lt"/>
                <a:ea typeface="黑体" panose="02010609060101010101" pitchFamily="2" charset="-122"/>
              </a:rPr>
              <a:t>中</a:t>
            </a:r>
            <a:r>
              <a:rPr lang="zh-CN" altLang="zh-CN" sz="2000" b="1" dirty="0">
                <a:latin typeface="+mn-lt"/>
                <a:ea typeface="黑体" panose="02010609060101010101" pitchFamily="2" charset="-122"/>
              </a:rPr>
              <a:t>的</a:t>
            </a:r>
            <a:r>
              <a:rPr lang="zh-CN" altLang="en-US" sz="2000" b="1" dirty="0">
                <a:latin typeface="+mn-lt"/>
                <a:ea typeface="黑体" panose="02010609060101010101" pitchFamily="2" charset="-122"/>
              </a:rPr>
              <a:t>网络</a:t>
            </a:r>
            <a:r>
              <a:rPr lang="zh-CN" altLang="zh-CN" sz="2000" b="1" dirty="0">
                <a:latin typeface="+mn-lt"/>
                <a:ea typeface="黑体" panose="02010609060101010101" pitchFamily="2" charset="-122"/>
              </a:rPr>
              <a:t>可用一条链路表示</a:t>
            </a:r>
            <a:endParaRPr lang="zh-CN" altLang="en-US" sz="2000" b="1" dirty="0">
              <a:latin typeface="+mn-lt"/>
              <a:ea typeface="黑体" panose="0201060906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lgn="ctr"/>
            <a:r>
              <a:rPr lang="zh-CN" altLang="en-US"/>
              <a:t>分组交换网的示意图</a:t>
            </a:r>
          </a:p>
        </p:txBody>
      </p:sp>
      <p:grpSp>
        <p:nvGrpSpPr>
          <p:cNvPr id="61444" name="Group 4"/>
          <p:cNvGrpSpPr/>
          <p:nvPr/>
        </p:nvGrpSpPr>
        <p:grpSpPr bwMode="auto">
          <a:xfrm>
            <a:off x="1990509" y="2176934"/>
            <a:ext cx="4431903" cy="3667125"/>
            <a:chOff x="2256" y="2386"/>
            <a:chExt cx="2147" cy="1919"/>
          </a:xfrm>
        </p:grpSpPr>
        <p:sp>
          <p:nvSpPr>
            <p:cNvPr id="61445" name="Oval 5"/>
            <p:cNvSpPr>
              <a:spLocks noChangeArrowheads="1"/>
            </p:cNvSpPr>
            <p:nvPr/>
          </p:nvSpPr>
          <p:spPr bwMode="auto">
            <a:xfrm rot="-1674972">
              <a:off x="2346" y="2526"/>
              <a:ext cx="1015" cy="69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46" name="Oval 6"/>
            <p:cNvSpPr>
              <a:spLocks noChangeArrowheads="1"/>
            </p:cNvSpPr>
            <p:nvPr/>
          </p:nvSpPr>
          <p:spPr bwMode="auto">
            <a:xfrm rot="-774972">
              <a:off x="3025" y="2386"/>
              <a:ext cx="887" cy="64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47" name="Oval 7"/>
            <p:cNvSpPr>
              <a:spLocks noChangeArrowheads="1"/>
            </p:cNvSpPr>
            <p:nvPr/>
          </p:nvSpPr>
          <p:spPr bwMode="auto">
            <a:xfrm rot="-174972">
              <a:off x="3673" y="2621"/>
              <a:ext cx="655" cy="83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48" name="Oval 8"/>
            <p:cNvSpPr>
              <a:spLocks noChangeArrowheads="1"/>
            </p:cNvSpPr>
            <p:nvPr/>
          </p:nvSpPr>
          <p:spPr bwMode="auto">
            <a:xfrm rot="18365028">
              <a:off x="3754" y="3108"/>
              <a:ext cx="687" cy="610"/>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49" name="Oval 9"/>
            <p:cNvSpPr>
              <a:spLocks noChangeArrowheads="1"/>
            </p:cNvSpPr>
            <p:nvPr/>
          </p:nvSpPr>
          <p:spPr bwMode="auto">
            <a:xfrm rot="-1674972">
              <a:off x="3052" y="3445"/>
              <a:ext cx="1110" cy="77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0" name="Oval 10"/>
            <p:cNvSpPr>
              <a:spLocks noChangeArrowheads="1"/>
            </p:cNvSpPr>
            <p:nvPr/>
          </p:nvSpPr>
          <p:spPr bwMode="auto">
            <a:xfrm rot="-594972">
              <a:off x="2616" y="3772"/>
              <a:ext cx="793" cy="533"/>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1" name="Oval 11"/>
            <p:cNvSpPr>
              <a:spLocks noChangeArrowheads="1"/>
            </p:cNvSpPr>
            <p:nvPr/>
          </p:nvSpPr>
          <p:spPr bwMode="auto">
            <a:xfrm rot="-1674972">
              <a:off x="2311" y="3539"/>
              <a:ext cx="503" cy="631"/>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2" name="Oval 12"/>
            <p:cNvSpPr>
              <a:spLocks noChangeArrowheads="1"/>
            </p:cNvSpPr>
            <p:nvPr/>
          </p:nvSpPr>
          <p:spPr bwMode="auto">
            <a:xfrm rot="18065028">
              <a:off x="2160" y="3115"/>
              <a:ext cx="695" cy="504"/>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3" name="Freeform 13"/>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61454" name="Line 14"/>
          <p:cNvSpPr>
            <a:spLocks noChangeShapeType="1"/>
          </p:cNvSpPr>
          <p:nvPr/>
        </p:nvSpPr>
        <p:spPr bwMode="auto">
          <a:xfrm flipV="1">
            <a:off x="3216721" y="2411884"/>
            <a:ext cx="1387872" cy="5556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5" name="Line 15"/>
          <p:cNvSpPr>
            <a:spLocks noChangeShapeType="1"/>
          </p:cNvSpPr>
          <p:nvPr/>
        </p:nvSpPr>
        <p:spPr bwMode="auto">
          <a:xfrm>
            <a:off x="4774851" y="2486497"/>
            <a:ext cx="820341" cy="13985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6" name="Line 16"/>
          <p:cNvSpPr>
            <a:spLocks noChangeShapeType="1"/>
          </p:cNvSpPr>
          <p:nvPr/>
        </p:nvSpPr>
        <p:spPr bwMode="auto">
          <a:xfrm flipH="1">
            <a:off x="2398100" y="3059584"/>
            <a:ext cx="720593" cy="12557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7" name="Line 17"/>
          <p:cNvSpPr>
            <a:spLocks noChangeShapeType="1"/>
          </p:cNvSpPr>
          <p:nvPr/>
        </p:nvSpPr>
        <p:spPr bwMode="auto">
          <a:xfrm>
            <a:off x="2442814" y="4493096"/>
            <a:ext cx="1647560" cy="8826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8" name="Line 18"/>
          <p:cNvSpPr>
            <a:spLocks noChangeShapeType="1"/>
          </p:cNvSpPr>
          <p:nvPr/>
        </p:nvSpPr>
        <p:spPr bwMode="auto">
          <a:xfrm flipV="1">
            <a:off x="4159166" y="4161309"/>
            <a:ext cx="1436027" cy="13065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59" name="Line 19"/>
          <p:cNvSpPr>
            <a:spLocks noChangeShapeType="1"/>
          </p:cNvSpPr>
          <p:nvPr/>
        </p:nvSpPr>
        <p:spPr bwMode="auto">
          <a:xfrm>
            <a:off x="3273473" y="3065933"/>
            <a:ext cx="2302801" cy="9461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0" name="Line 20"/>
          <p:cNvSpPr>
            <a:spLocks noChangeShapeType="1"/>
          </p:cNvSpPr>
          <p:nvPr/>
        </p:nvSpPr>
        <p:spPr bwMode="auto">
          <a:xfrm>
            <a:off x="3163407" y="2902422"/>
            <a:ext cx="1083469" cy="247173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1" name="Line 21"/>
          <p:cNvSpPr>
            <a:spLocks noChangeShapeType="1"/>
          </p:cNvSpPr>
          <p:nvPr/>
        </p:nvSpPr>
        <p:spPr bwMode="auto">
          <a:xfrm flipV="1">
            <a:off x="3514244" y="5445597"/>
            <a:ext cx="693076" cy="5492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2" name="Line 22"/>
          <p:cNvSpPr>
            <a:spLocks noChangeShapeType="1"/>
          </p:cNvSpPr>
          <p:nvPr/>
        </p:nvSpPr>
        <p:spPr bwMode="auto">
          <a:xfrm rot="-5400000">
            <a:off x="4529186" y="2095971"/>
            <a:ext cx="3365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3" name="Line 23"/>
          <p:cNvSpPr>
            <a:spLocks noChangeShapeType="1"/>
          </p:cNvSpPr>
          <p:nvPr/>
        </p:nvSpPr>
        <p:spPr bwMode="auto">
          <a:xfrm>
            <a:off x="5694940" y="4161309"/>
            <a:ext cx="693076" cy="10080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4" name="Line 24"/>
          <p:cNvSpPr>
            <a:spLocks noChangeShapeType="1"/>
          </p:cNvSpPr>
          <p:nvPr/>
        </p:nvSpPr>
        <p:spPr bwMode="auto">
          <a:xfrm flipV="1">
            <a:off x="1447056" y="4418483"/>
            <a:ext cx="698235" cy="63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5" name="Line 25"/>
          <p:cNvSpPr>
            <a:spLocks noChangeShapeType="1"/>
          </p:cNvSpPr>
          <p:nvPr/>
        </p:nvSpPr>
        <p:spPr bwMode="auto">
          <a:xfrm rot="5400000" flipH="1">
            <a:off x="2732996" y="2527706"/>
            <a:ext cx="773113" cy="17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66" name="Text Box 26"/>
          <p:cNvSpPr txBox="1">
            <a:spLocks noChangeArrowheads="1"/>
          </p:cNvSpPr>
          <p:nvPr/>
        </p:nvSpPr>
        <p:spPr bwMode="auto">
          <a:xfrm>
            <a:off x="1073860" y="3783484"/>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1</a:t>
            </a:r>
            <a:endParaRPr kumimoji="1" lang="en-US" altLang="zh-CN" sz="2000" b="1">
              <a:solidFill>
                <a:srgbClr val="000099"/>
              </a:solidFill>
            </a:endParaRPr>
          </a:p>
        </p:txBody>
      </p:sp>
      <p:sp>
        <p:nvSpPr>
          <p:cNvPr id="61471" name="Oval 31"/>
          <p:cNvSpPr>
            <a:spLocks noChangeArrowheads="1"/>
          </p:cNvSpPr>
          <p:nvPr/>
        </p:nvSpPr>
        <p:spPr bwMode="auto">
          <a:xfrm>
            <a:off x="2128092" y="4161308"/>
            <a:ext cx="495300" cy="458788"/>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A</a:t>
            </a:r>
          </a:p>
        </p:txBody>
      </p:sp>
      <p:sp>
        <p:nvSpPr>
          <p:cNvPr id="61479" name="Line 39"/>
          <p:cNvSpPr>
            <a:spLocks noChangeShapeType="1"/>
          </p:cNvSpPr>
          <p:nvPr/>
        </p:nvSpPr>
        <p:spPr bwMode="auto">
          <a:xfrm flipV="1">
            <a:off x="5694940" y="3564408"/>
            <a:ext cx="873654" cy="4127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1483" name="AutoShape 43"/>
          <p:cNvSpPr>
            <a:spLocks noChangeArrowheads="1"/>
          </p:cNvSpPr>
          <p:nvPr/>
        </p:nvSpPr>
        <p:spPr bwMode="auto">
          <a:xfrm flipV="1">
            <a:off x="5209960" y="5902796"/>
            <a:ext cx="1246848" cy="334962"/>
          </a:xfrm>
          <a:prstGeom prst="wedgeRoundRectCallout">
            <a:avLst>
              <a:gd name="adj1" fmla="val -65315"/>
              <a:gd name="adj2" fmla="val 160426"/>
              <a:gd name="adj3" fmla="val 16667"/>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400" b="1">
              <a:solidFill>
                <a:srgbClr val="000099"/>
              </a:solidFill>
              <a:latin typeface="Times New Roman" panose="02020603050405020304" pitchFamily="18" charset="0"/>
            </a:endParaRPr>
          </a:p>
        </p:txBody>
      </p:sp>
      <p:sp>
        <p:nvSpPr>
          <p:cNvPr id="61484" name="Text Box 44"/>
          <p:cNvSpPr txBox="1">
            <a:spLocks noChangeArrowheads="1"/>
          </p:cNvSpPr>
          <p:nvPr/>
        </p:nvSpPr>
        <p:spPr bwMode="auto">
          <a:xfrm>
            <a:off x="5321745" y="5840884"/>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互联网</a:t>
            </a:r>
          </a:p>
        </p:txBody>
      </p:sp>
      <p:pic>
        <p:nvPicPr>
          <p:cNvPr id="61512"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6943" y="1484784"/>
            <a:ext cx="63460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13"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770" y="3199284"/>
            <a:ext cx="63632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15"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8693" y="5904384"/>
            <a:ext cx="63460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61516"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0240" y="4986809"/>
            <a:ext cx="63460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17"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1168" y="1683221"/>
            <a:ext cx="636323"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20" name="Oval 80"/>
          <p:cNvSpPr>
            <a:spLocks noChangeArrowheads="1"/>
          </p:cNvSpPr>
          <p:nvPr/>
        </p:nvSpPr>
        <p:spPr bwMode="auto">
          <a:xfrm>
            <a:off x="2912317" y="2794472"/>
            <a:ext cx="495300" cy="458787"/>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B</a:t>
            </a:r>
          </a:p>
        </p:txBody>
      </p:sp>
      <p:sp>
        <p:nvSpPr>
          <p:cNvPr id="61521" name="Oval 81"/>
          <p:cNvSpPr>
            <a:spLocks noChangeArrowheads="1"/>
          </p:cNvSpPr>
          <p:nvPr/>
        </p:nvSpPr>
        <p:spPr bwMode="auto">
          <a:xfrm>
            <a:off x="4451530" y="2183283"/>
            <a:ext cx="495300" cy="458788"/>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D</a:t>
            </a:r>
          </a:p>
        </p:txBody>
      </p:sp>
      <p:sp>
        <p:nvSpPr>
          <p:cNvPr id="61522" name="Oval 82"/>
          <p:cNvSpPr>
            <a:spLocks noChangeArrowheads="1"/>
          </p:cNvSpPr>
          <p:nvPr/>
        </p:nvSpPr>
        <p:spPr bwMode="auto">
          <a:xfrm>
            <a:off x="5376778" y="3812058"/>
            <a:ext cx="495300" cy="458788"/>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E</a:t>
            </a:r>
          </a:p>
        </p:txBody>
      </p:sp>
      <p:sp>
        <p:nvSpPr>
          <p:cNvPr id="61523" name="Oval 83"/>
          <p:cNvSpPr>
            <a:spLocks noChangeArrowheads="1"/>
          </p:cNvSpPr>
          <p:nvPr/>
        </p:nvSpPr>
        <p:spPr bwMode="auto">
          <a:xfrm>
            <a:off x="3959670" y="5131272"/>
            <a:ext cx="495300" cy="458787"/>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C</a:t>
            </a:r>
          </a:p>
        </p:txBody>
      </p:sp>
      <p:sp>
        <p:nvSpPr>
          <p:cNvPr id="61524" name="Text Box 84"/>
          <p:cNvSpPr txBox="1">
            <a:spLocks noChangeArrowheads="1"/>
          </p:cNvSpPr>
          <p:nvPr/>
        </p:nvSpPr>
        <p:spPr bwMode="auto">
          <a:xfrm>
            <a:off x="5834243" y="4940772"/>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5</a:t>
            </a:r>
            <a:endParaRPr kumimoji="1" lang="en-US" altLang="zh-CN" sz="2000" b="1">
              <a:solidFill>
                <a:srgbClr val="000099"/>
              </a:solidFill>
            </a:endParaRPr>
          </a:p>
        </p:txBody>
      </p:sp>
      <p:sp>
        <p:nvSpPr>
          <p:cNvPr id="61525" name="Text Box 85"/>
          <p:cNvSpPr txBox="1">
            <a:spLocks noChangeArrowheads="1"/>
          </p:cNvSpPr>
          <p:nvPr/>
        </p:nvSpPr>
        <p:spPr bwMode="auto">
          <a:xfrm>
            <a:off x="6926311" y="314054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6</a:t>
            </a:r>
            <a:endParaRPr kumimoji="1" lang="en-US" altLang="zh-CN" sz="2000" b="1">
              <a:solidFill>
                <a:srgbClr val="000099"/>
              </a:solidFill>
            </a:endParaRPr>
          </a:p>
        </p:txBody>
      </p:sp>
      <p:sp>
        <p:nvSpPr>
          <p:cNvPr id="61526" name="Text Box 86"/>
          <p:cNvSpPr txBox="1">
            <a:spLocks noChangeArrowheads="1"/>
          </p:cNvSpPr>
          <p:nvPr/>
        </p:nvSpPr>
        <p:spPr bwMode="auto">
          <a:xfrm>
            <a:off x="3961391" y="1484784"/>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4</a:t>
            </a:r>
            <a:endParaRPr kumimoji="1" lang="en-US" altLang="zh-CN" sz="2000" b="1">
              <a:solidFill>
                <a:srgbClr val="000099"/>
              </a:solidFill>
            </a:endParaRPr>
          </a:p>
        </p:txBody>
      </p:sp>
      <p:sp>
        <p:nvSpPr>
          <p:cNvPr id="61527" name="Text Box 87"/>
          <p:cNvSpPr txBox="1">
            <a:spLocks noChangeArrowheads="1"/>
          </p:cNvSpPr>
          <p:nvPr/>
        </p:nvSpPr>
        <p:spPr bwMode="auto">
          <a:xfrm>
            <a:off x="2478930" y="162924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2</a:t>
            </a:r>
            <a:endParaRPr kumimoji="1" lang="en-US" altLang="zh-CN" sz="2000" b="1">
              <a:solidFill>
                <a:srgbClr val="000099"/>
              </a:solidFill>
            </a:endParaRPr>
          </a:p>
        </p:txBody>
      </p:sp>
      <p:sp>
        <p:nvSpPr>
          <p:cNvPr id="61528" name="Text Box 88"/>
          <p:cNvSpPr txBox="1">
            <a:spLocks noChangeArrowheads="1"/>
          </p:cNvSpPr>
          <p:nvPr/>
        </p:nvSpPr>
        <p:spPr bwMode="auto">
          <a:xfrm>
            <a:off x="2712822" y="587739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3</a:t>
            </a:r>
            <a:endParaRPr kumimoji="1" lang="en-US" altLang="zh-CN" sz="2000" b="1">
              <a:solidFill>
                <a:srgbClr val="000099"/>
              </a:solidFill>
            </a:endParaRPr>
          </a:p>
        </p:txBody>
      </p:sp>
      <p:sp>
        <p:nvSpPr>
          <p:cNvPr id="61535" name="Rectangle 95"/>
          <p:cNvSpPr>
            <a:spLocks noChangeArrowheads="1"/>
          </p:cNvSpPr>
          <p:nvPr/>
        </p:nvSpPr>
        <p:spPr bwMode="auto">
          <a:xfrm>
            <a:off x="3025824" y="1845147"/>
            <a:ext cx="235611" cy="217487"/>
          </a:xfrm>
          <a:prstGeom prst="rect">
            <a:avLst/>
          </a:prstGeom>
          <a:solidFill>
            <a:srgbClr val="0000CC"/>
          </a:solidFill>
          <a:ln w="9525">
            <a:solidFill>
              <a:srgbClr val="0000CC"/>
            </a:solidFill>
            <a:miter lim="800000"/>
          </a:ln>
          <a:effectLst/>
        </p:spPr>
        <p:txBody>
          <a:bodyPr wrap="none" anchor="ctr"/>
          <a:lstStyle/>
          <a:p>
            <a:endParaRPr lang="zh-CN" altLang="en-US" b="1">
              <a:solidFill>
                <a:srgbClr val="000099"/>
              </a:solidFill>
            </a:endParaRPr>
          </a:p>
        </p:txBody>
      </p:sp>
      <p:pic>
        <p:nvPicPr>
          <p:cNvPr id="61514"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470" y="4161309"/>
            <a:ext cx="63632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32" name="Rectangle 92"/>
          <p:cNvSpPr>
            <a:spLocks noChangeArrowheads="1"/>
          </p:cNvSpPr>
          <p:nvPr/>
        </p:nvSpPr>
        <p:spPr bwMode="auto">
          <a:xfrm>
            <a:off x="1230362" y="4293072"/>
            <a:ext cx="235611" cy="217487"/>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1534" name="Rectangle 94"/>
          <p:cNvSpPr>
            <a:spLocks noChangeArrowheads="1"/>
          </p:cNvSpPr>
          <p:nvPr/>
        </p:nvSpPr>
        <p:spPr bwMode="auto">
          <a:xfrm>
            <a:off x="1230362" y="4293072"/>
            <a:ext cx="235611" cy="217487"/>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1538" name="Text Box 98"/>
          <p:cNvSpPr txBox="1">
            <a:spLocks noChangeArrowheads="1"/>
          </p:cNvSpPr>
          <p:nvPr/>
        </p:nvSpPr>
        <p:spPr bwMode="auto">
          <a:xfrm>
            <a:off x="7081092" y="4797897"/>
            <a:ext cx="2624436" cy="461665"/>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FF0000"/>
                </a:solidFill>
              </a:rPr>
              <a:t>H</a:t>
            </a:r>
            <a:r>
              <a:rPr kumimoji="1" lang="en-US" altLang="zh-CN" sz="2400" b="1" baseline="-25000">
                <a:solidFill>
                  <a:srgbClr val="FF0000"/>
                </a:solidFill>
              </a:rPr>
              <a:t>1 </a:t>
            </a:r>
            <a:r>
              <a:rPr kumimoji="1" lang="zh-CN" altLang="en-US" sz="2400" b="1">
                <a:solidFill>
                  <a:srgbClr val="FF0000"/>
                </a:solidFill>
                <a:ea typeface="黑体" panose="02010609060101010101" pitchFamily="2" charset="-122"/>
              </a:rPr>
              <a:t>向 </a:t>
            </a:r>
            <a:r>
              <a:rPr kumimoji="1" lang="en-US" altLang="zh-CN" sz="2400" b="1">
                <a:solidFill>
                  <a:srgbClr val="FF0000"/>
                </a:solidFill>
                <a:ea typeface="黑体" panose="02010609060101010101" pitchFamily="2" charset="-122"/>
              </a:rPr>
              <a:t>H</a:t>
            </a:r>
            <a:r>
              <a:rPr kumimoji="1" lang="en-US" altLang="zh-CN" sz="2400" b="1" baseline="-25000">
                <a:solidFill>
                  <a:srgbClr val="FF0000"/>
                </a:solidFill>
                <a:ea typeface="黑体" panose="02010609060101010101" pitchFamily="2" charset="-122"/>
              </a:rPr>
              <a:t>5</a:t>
            </a:r>
            <a:r>
              <a:rPr kumimoji="1" lang="en-US" altLang="zh-CN" sz="2400" b="1">
                <a:solidFill>
                  <a:srgbClr val="FF0000"/>
                </a:solidFill>
                <a:ea typeface="黑体" panose="02010609060101010101" pitchFamily="2" charset="-122"/>
              </a:rPr>
              <a:t> </a:t>
            </a:r>
            <a:r>
              <a:rPr kumimoji="1" lang="zh-CN" altLang="en-US" sz="2400" b="1">
                <a:solidFill>
                  <a:srgbClr val="FF0000"/>
                </a:solidFill>
                <a:ea typeface="黑体" panose="02010609060101010101" pitchFamily="2" charset="-122"/>
              </a:rPr>
              <a:t>发送分组</a:t>
            </a:r>
          </a:p>
        </p:txBody>
      </p:sp>
      <p:sp>
        <p:nvSpPr>
          <p:cNvPr id="61539" name="Text Box 99"/>
          <p:cNvSpPr txBox="1">
            <a:spLocks noChangeArrowheads="1"/>
          </p:cNvSpPr>
          <p:nvPr/>
        </p:nvSpPr>
        <p:spPr bwMode="auto">
          <a:xfrm>
            <a:off x="7081092" y="3932709"/>
            <a:ext cx="2624436" cy="461665"/>
          </a:xfrm>
          <a:prstGeom prst="rect">
            <a:avLst/>
          </a:prstGeom>
          <a:noFill/>
          <a:ln w="9525">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0000CC"/>
                </a:solidFill>
              </a:rPr>
              <a:t>H</a:t>
            </a:r>
            <a:r>
              <a:rPr kumimoji="1" lang="en-US" altLang="zh-CN" sz="2400" b="1" baseline="-25000" dirty="0">
                <a:solidFill>
                  <a:srgbClr val="0000CC"/>
                </a:solidFill>
              </a:rPr>
              <a:t>2 </a:t>
            </a:r>
            <a:r>
              <a:rPr kumimoji="1" lang="zh-CN" altLang="en-US" sz="2400" b="1" dirty="0">
                <a:solidFill>
                  <a:srgbClr val="0000CC"/>
                </a:solidFill>
                <a:ea typeface="黑体" panose="02010609060101010101" pitchFamily="2" charset="-122"/>
              </a:rPr>
              <a:t>向 </a:t>
            </a:r>
            <a:r>
              <a:rPr kumimoji="1" lang="en-US" altLang="zh-CN" sz="2400" b="1" dirty="0">
                <a:solidFill>
                  <a:srgbClr val="0000CC"/>
                </a:solidFill>
                <a:ea typeface="黑体" panose="02010609060101010101" pitchFamily="2" charset="-122"/>
              </a:rPr>
              <a:t>H</a:t>
            </a:r>
            <a:r>
              <a:rPr kumimoji="1" lang="en-US" altLang="zh-CN" sz="2400" b="1" baseline="-25000" dirty="0">
                <a:solidFill>
                  <a:srgbClr val="0000CC"/>
                </a:solidFill>
                <a:ea typeface="黑体" panose="02010609060101010101" pitchFamily="2" charset="-122"/>
              </a:rPr>
              <a:t>6</a:t>
            </a:r>
            <a:r>
              <a:rPr kumimoji="1" lang="en-US" altLang="zh-CN" sz="2400" b="1" dirty="0">
                <a:solidFill>
                  <a:srgbClr val="0000CC"/>
                </a:solidFill>
                <a:ea typeface="黑体" panose="02010609060101010101" pitchFamily="2" charset="-122"/>
              </a:rPr>
              <a:t> </a:t>
            </a:r>
            <a:r>
              <a:rPr kumimoji="1" lang="zh-CN" altLang="en-US" sz="2400" b="1" dirty="0">
                <a:solidFill>
                  <a:srgbClr val="0000CC"/>
                </a:solidFill>
                <a:ea typeface="黑体" panose="02010609060101010101" pitchFamily="2" charset="-122"/>
              </a:rPr>
              <a:t>发送分组</a:t>
            </a:r>
          </a:p>
        </p:txBody>
      </p:sp>
      <p:sp>
        <p:nvSpPr>
          <p:cNvPr id="61540" name="Rectangle 100"/>
          <p:cNvSpPr>
            <a:spLocks noChangeArrowheads="1"/>
          </p:cNvSpPr>
          <p:nvPr/>
        </p:nvSpPr>
        <p:spPr bwMode="auto">
          <a:xfrm>
            <a:off x="1230362" y="4293072"/>
            <a:ext cx="235611" cy="217487"/>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1541" name="Rectangle 101"/>
          <p:cNvSpPr>
            <a:spLocks noChangeArrowheads="1"/>
          </p:cNvSpPr>
          <p:nvPr/>
        </p:nvSpPr>
        <p:spPr bwMode="auto">
          <a:xfrm>
            <a:off x="3025824" y="1845147"/>
            <a:ext cx="235611" cy="217487"/>
          </a:xfrm>
          <a:prstGeom prst="rect">
            <a:avLst/>
          </a:prstGeom>
          <a:solidFill>
            <a:srgbClr val="0000CC"/>
          </a:solidFill>
          <a:ln w="9525">
            <a:solidFill>
              <a:srgbClr val="0000CC"/>
            </a:solidFill>
            <a:miter lim="800000"/>
          </a:ln>
          <a:effectLst/>
        </p:spPr>
        <p:txBody>
          <a:bodyPr wrap="none" anchor="ctr"/>
          <a:lstStyle/>
          <a:p>
            <a:endParaRPr lang="zh-CN" altLang="en-US" b="1">
              <a:solidFill>
                <a:srgbClr val="000099"/>
              </a:solidFill>
            </a:endParaRPr>
          </a:p>
        </p:txBody>
      </p:sp>
      <p:sp>
        <p:nvSpPr>
          <p:cNvPr id="61537" name="Rectangle 97"/>
          <p:cNvSpPr>
            <a:spLocks noChangeArrowheads="1"/>
          </p:cNvSpPr>
          <p:nvPr/>
        </p:nvSpPr>
        <p:spPr bwMode="auto">
          <a:xfrm>
            <a:off x="1230362" y="4293096"/>
            <a:ext cx="235611" cy="217487"/>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1536" name="Rectangle 96"/>
          <p:cNvSpPr>
            <a:spLocks noChangeArrowheads="1"/>
          </p:cNvSpPr>
          <p:nvPr/>
        </p:nvSpPr>
        <p:spPr bwMode="auto">
          <a:xfrm>
            <a:off x="3025824" y="1845147"/>
            <a:ext cx="235611" cy="217487"/>
          </a:xfrm>
          <a:prstGeom prst="rect">
            <a:avLst/>
          </a:prstGeom>
          <a:solidFill>
            <a:srgbClr val="0000CC"/>
          </a:solidFill>
          <a:ln w="9525">
            <a:solidFill>
              <a:srgbClr val="0000CC"/>
            </a:solidFill>
            <a:miter lim="800000"/>
          </a:ln>
          <a:effectLst/>
        </p:spPr>
        <p:txBody>
          <a:bodyPr wrap="none" anchor="ctr"/>
          <a:lstStyle/>
          <a:p>
            <a:endParaRPr lang="zh-CN" altLang="en-US" b="1">
              <a:solidFill>
                <a:srgbClr val="000099"/>
              </a:solidFill>
            </a:endParaRPr>
          </a:p>
        </p:txBody>
      </p:sp>
      <p:sp>
        <p:nvSpPr>
          <p:cNvPr id="61542" name="Text Box 102"/>
          <p:cNvSpPr txBox="1">
            <a:spLocks noChangeArrowheads="1"/>
          </p:cNvSpPr>
          <p:nvPr/>
        </p:nvSpPr>
        <p:spPr bwMode="auto">
          <a:xfrm>
            <a:off x="5834243" y="1897534"/>
            <a:ext cx="3775393" cy="523220"/>
          </a:xfrm>
          <a:prstGeom prst="rect">
            <a:avLst/>
          </a:prstGeom>
          <a:solidFill>
            <a:srgbClr val="FFFF66"/>
          </a:solidFill>
          <a:ln w="76200" cmpd="tri">
            <a:solidFill>
              <a:srgbClr val="333399"/>
            </a:solidFill>
            <a:miter lim="800000"/>
          </a:ln>
          <a:effectLst/>
        </p:spPr>
        <p:txBody>
          <a:bodyPr wrap="none">
            <a:spAutoFit/>
          </a:bodyPr>
          <a:lstStyle/>
          <a:p>
            <a:r>
              <a:rPr kumimoji="1" lang="zh-CN" altLang="en-US" sz="2800" b="1" dirty="0">
                <a:solidFill>
                  <a:srgbClr val="000099"/>
                </a:solidFill>
                <a:latin typeface="黑体" panose="02010609060101010101" pitchFamily="2" charset="-122"/>
                <a:ea typeface="黑体" panose="02010609060101010101" pitchFamily="2" charset="-122"/>
              </a:rPr>
              <a:t>注意分组路径的变化！</a:t>
            </a:r>
          </a:p>
        </p:txBody>
      </p:sp>
      <p:sp>
        <p:nvSpPr>
          <p:cNvPr id="61543" name="Text Box 103"/>
          <p:cNvSpPr txBox="1">
            <a:spLocks noChangeArrowheads="1"/>
          </p:cNvSpPr>
          <p:nvPr/>
        </p:nvSpPr>
        <p:spPr bwMode="auto">
          <a:xfrm>
            <a:off x="1142651" y="2421409"/>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路由器</a:t>
            </a:r>
          </a:p>
        </p:txBody>
      </p:sp>
      <p:sp>
        <p:nvSpPr>
          <p:cNvPr id="61545" name="Text Box 105"/>
          <p:cNvSpPr txBox="1">
            <a:spLocks noChangeArrowheads="1"/>
          </p:cNvSpPr>
          <p:nvPr/>
        </p:nvSpPr>
        <p:spPr bwMode="auto">
          <a:xfrm>
            <a:off x="334349" y="328500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主机</a:t>
            </a:r>
          </a:p>
        </p:txBody>
      </p:sp>
      <p:sp>
        <p:nvSpPr>
          <p:cNvPr id="61546" name="Line 106"/>
          <p:cNvSpPr>
            <a:spLocks noChangeShapeType="1"/>
          </p:cNvSpPr>
          <p:nvPr/>
        </p:nvSpPr>
        <p:spPr bwMode="auto">
          <a:xfrm>
            <a:off x="2088537" y="2708746"/>
            <a:ext cx="858177" cy="2159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1547" name="Line 107"/>
          <p:cNvSpPr>
            <a:spLocks noChangeShapeType="1"/>
          </p:cNvSpPr>
          <p:nvPr/>
        </p:nvSpPr>
        <p:spPr bwMode="auto">
          <a:xfrm>
            <a:off x="762578" y="3645371"/>
            <a:ext cx="390392" cy="576262"/>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ptsTypes="AAAAA">
                                      <p:cBhvr>
                                        <p:cTn id="9" dur="2000" fill="hold"/>
                                        <p:tgtEl>
                                          <p:spTgt spid="61532"/>
                                        </p:tgtEl>
                                        <p:attrNameLst>
                                          <p:attrName>ppt_x</p:attrName>
                                          <p:attrName>ppt_y</p:attrName>
                                        </p:attrNameLst>
                                      </p:cBhvr>
                                    </p:animMotion>
                                  </p:childTnLst>
                                </p:cTn>
                              </p:par>
                            </p:childTnLst>
                          </p:cTn>
                        </p:par>
                        <p:par>
                          <p:cTn id="10" fill="hold">
                            <p:stCondLst>
                              <p:cond delay="2000"/>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p:stCondLst>
                              <p:cond delay="2000"/>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18" dur="2000" fill="hold"/>
                                        <p:tgtEl>
                                          <p:spTgt spid="61534"/>
                                        </p:tgtEl>
                                        <p:attrNameLst>
                                          <p:attrName>ppt_x</p:attrName>
                                          <p:attrName>ppt_y</p:attrName>
                                        </p:attrNameLst>
                                      </p:cBhvr>
                                    </p:animMotion>
                                  </p:childTnLst>
                                </p:cTn>
                              </p:par>
                            </p:childTnLst>
                          </p:cTn>
                        </p:par>
                        <p:par>
                          <p:cTn id="19" fill="hold">
                            <p:stCondLst>
                              <p:cond delay="4000"/>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p:stCondLst>
                              <p:cond delay="4000"/>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p:stCondLst>
                              <p:cond delay="5000"/>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p:stCondLst>
                              <p:cond delay="5000"/>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33" dur="2000" fill="hold"/>
                                        <p:tgtEl>
                                          <p:spTgt spid="61535"/>
                                        </p:tgtEl>
                                        <p:attrNameLst>
                                          <p:attrName>ppt_x</p:attrName>
                                          <p:attrName>ppt_y</p:attrName>
                                        </p:attrNameLst>
                                      </p:cBhvr>
                                    </p:animMotion>
                                  </p:childTnLst>
                                </p:cTn>
                              </p:par>
                            </p:childTnLst>
                          </p:cTn>
                        </p:par>
                        <p:par>
                          <p:cTn id="34" fill="hold">
                            <p:stCondLst>
                              <p:cond delay="7000"/>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p:stCondLst>
                              <p:cond delay="7000"/>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p:stCondLst>
                              <p:cond delay="7000"/>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p:stCondLst>
                              <p:cond delay="8000"/>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p:stCondLst>
                              <p:cond delay="8000"/>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48" dur="2000" fill="hold"/>
                                        <p:tgtEl>
                                          <p:spTgt spid="61540"/>
                                        </p:tgtEl>
                                        <p:attrNameLst>
                                          <p:attrName>ppt_x</p:attrName>
                                          <p:attrName>ppt_y</p:attrName>
                                        </p:attrNameLst>
                                      </p:cBhvr>
                                    </p:animMotion>
                                  </p:childTnLst>
                                </p:cTn>
                              </p:par>
                            </p:childTnLst>
                          </p:cTn>
                        </p:par>
                        <p:par>
                          <p:cTn id="49" fill="hold">
                            <p:stCondLst>
                              <p:cond delay="10000"/>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p:stCondLst>
                              <p:cond delay="1000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p:stCondLst>
                              <p:cond delay="10000"/>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57" dur="2000" fill="hold"/>
                                        <p:tgtEl>
                                          <p:spTgt spid="61541"/>
                                        </p:tgtEl>
                                        <p:attrNameLst>
                                          <p:attrName>ppt_x</p:attrName>
                                          <p:attrName>ppt_y</p:attrName>
                                        </p:attrNameLst>
                                      </p:cBhvr>
                                    </p:animMotion>
                                  </p:childTnLst>
                                </p:cTn>
                              </p:par>
                            </p:childTnLst>
                          </p:cTn>
                        </p:par>
                        <p:par>
                          <p:cTn id="58" fill="hold">
                            <p:stCondLst>
                              <p:cond delay="12000"/>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p:stCondLst>
                              <p:cond delay="12000"/>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p:stCondLst>
                              <p:cond delay="12000"/>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ptsTypes="AAAAAA">
                                      <p:cBhvr>
                                        <p:cTn id="66" dur="2000" fill="hold"/>
                                        <p:tgtEl>
                                          <p:spTgt spid="61537"/>
                                        </p:tgtEl>
                                        <p:attrNameLst>
                                          <p:attrName>ppt_x</p:attrName>
                                          <p:attrName>ppt_y</p:attrName>
                                        </p:attrNameLst>
                                      </p:cBhvr>
                                    </p:animMotion>
                                  </p:childTnLst>
                                </p:cTn>
                              </p:par>
                            </p:childTnLst>
                          </p:cTn>
                        </p:par>
                        <p:par>
                          <p:cTn id="67" fill="hold">
                            <p:stCondLst>
                              <p:cond delay="14000"/>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p:stCondLst>
                              <p:cond delay="14000"/>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p:stCondLst>
                              <p:cond delay="14000"/>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ptsTypes="AAAAA">
                                      <p:cBhvr>
                                        <p:cTn id="75" dur="2000" fill="hold"/>
                                        <p:tgtEl>
                                          <p:spTgt spid="61536"/>
                                        </p:tgtEl>
                                        <p:attrNameLst>
                                          <p:attrName>ppt_x</p:attrName>
                                          <p:attrName>ppt_y</p:attrName>
                                        </p:attrNameLst>
                                      </p:cBhvr>
                                    </p:animMotion>
                                  </p:childTnLst>
                                </p:cTn>
                              </p:par>
                            </p:childTnLst>
                          </p:cTn>
                        </p:par>
                        <p:par>
                          <p:cTn id="76" fill="hold">
                            <p:stCondLst>
                              <p:cond delay="16000"/>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algn="ctr"/>
            <a:r>
              <a:rPr lang="zh-CN" altLang="en-US" dirty="0"/>
              <a:t>注意分组的</a:t>
            </a:r>
            <a:r>
              <a:rPr lang="zh-CN" altLang="en-US" dirty="0">
                <a:solidFill>
                  <a:srgbClr val="FF0000"/>
                </a:solidFill>
              </a:rPr>
              <a:t>存储转发</a:t>
            </a:r>
            <a:r>
              <a:rPr lang="zh-CN" altLang="en-US" dirty="0"/>
              <a:t>过程</a:t>
            </a:r>
          </a:p>
        </p:txBody>
      </p:sp>
      <p:grpSp>
        <p:nvGrpSpPr>
          <p:cNvPr id="65539" name="Group 3"/>
          <p:cNvGrpSpPr/>
          <p:nvPr/>
        </p:nvGrpSpPr>
        <p:grpSpPr bwMode="auto">
          <a:xfrm>
            <a:off x="1971615" y="2176934"/>
            <a:ext cx="4431903" cy="3667125"/>
            <a:chOff x="2256" y="2386"/>
            <a:chExt cx="2147" cy="1919"/>
          </a:xfrm>
        </p:grpSpPr>
        <p:sp>
          <p:nvSpPr>
            <p:cNvPr id="65540"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1"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2"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3" name="Oval 7"/>
            <p:cNvSpPr>
              <a:spLocks noChangeArrowheads="1"/>
            </p:cNvSpPr>
            <p:nvPr/>
          </p:nvSpPr>
          <p:spPr bwMode="auto">
            <a:xfrm rot="18365028">
              <a:off x="3754" y="3108"/>
              <a:ext cx="687" cy="610"/>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4"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5"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6"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7" name="Oval 11"/>
            <p:cNvSpPr>
              <a:spLocks noChangeArrowheads="1"/>
            </p:cNvSpPr>
            <p:nvPr/>
          </p:nvSpPr>
          <p:spPr bwMode="auto">
            <a:xfrm rot="18065028">
              <a:off x="2160" y="3115"/>
              <a:ext cx="695" cy="504"/>
            </a:xfrm>
            <a:prstGeom prst="ellipse">
              <a:avLst/>
            </a:prstGeom>
            <a:solidFill>
              <a:srgbClr val="FFFF99"/>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48" name="Freeform 12"/>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sp>
        <p:nvSpPr>
          <p:cNvPr id="65549" name="Line 13"/>
          <p:cNvSpPr>
            <a:spLocks noChangeShapeType="1"/>
          </p:cNvSpPr>
          <p:nvPr/>
        </p:nvSpPr>
        <p:spPr bwMode="auto">
          <a:xfrm flipV="1">
            <a:off x="3197827" y="2411884"/>
            <a:ext cx="1387872" cy="5556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0" name="Line 14"/>
          <p:cNvSpPr>
            <a:spLocks noChangeShapeType="1"/>
          </p:cNvSpPr>
          <p:nvPr/>
        </p:nvSpPr>
        <p:spPr bwMode="auto">
          <a:xfrm>
            <a:off x="4755957" y="2486497"/>
            <a:ext cx="820341" cy="13985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1" name="Line 15"/>
          <p:cNvSpPr>
            <a:spLocks noChangeShapeType="1"/>
          </p:cNvSpPr>
          <p:nvPr/>
        </p:nvSpPr>
        <p:spPr bwMode="auto">
          <a:xfrm flipH="1">
            <a:off x="2379206" y="3059584"/>
            <a:ext cx="720593" cy="12557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2" name="Line 16"/>
          <p:cNvSpPr>
            <a:spLocks noChangeShapeType="1"/>
          </p:cNvSpPr>
          <p:nvPr/>
        </p:nvSpPr>
        <p:spPr bwMode="auto">
          <a:xfrm>
            <a:off x="2423920" y="4493096"/>
            <a:ext cx="1647560" cy="8826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3" name="Line 17"/>
          <p:cNvSpPr>
            <a:spLocks noChangeShapeType="1"/>
          </p:cNvSpPr>
          <p:nvPr/>
        </p:nvSpPr>
        <p:spPr bwMode="auto">
          <a:xfrm flipV="1">
            <a:off x="4140272" y="4161309"/>
            <a:ext cx="1436027" cy="13065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4" name="Line 18"/>
          <p:cNvSpPr>
            <a:spLocks noChangeShapeType="1"/>
          </p:cNvSpPr>
          <p:nvPr/>
        </p:nvSpPr>
        <p:spPr bwMode="auto">
          <a:xfrm>
            <a:off x="3254579" y="3065933"/>
            <a:ext cx="2302801" cy="9461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5" name="Line 19"/>
          <p:cNvSpPr>
            <a:spLocks noChangeShapeType="1"/>
          </p:cNvSpPr>
          <p:nvPr/>
        </p:nvSpPr>
        <p:spPr bwMode="auto">
          <a:xfrm>
            <a:off x="3144513" y="2902422"/>
            <a:ext cx="1083469" cy="247173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6" name="Line 20"/>
          <p:cNvSpPr>
            <a:spLocks noChangeShapeType="1"/>
          </p:cNvSpPr>
          <p:nvPr/>
        </p:nvSpPr>
        <p:spPr bwMode="auto">
          <a:xfrm flipV="1">
            <a:off x="3495350" y="5445597"/>
            <a:ext cx="693076" cy="5492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7" name="Line 21"/>
          <p:cNvSpPr>
            <a:spLocks noChangeShapeType="1"/>
          </p:cNvSpPr>
          <p:nvPr/>
        </p:nvSpPr>
        <p:spPr bwMode="auto">
          <a:xfrm rot="-5400000">
            <a:off x="4510292" y="2095971"/>
            <a:ext cx="3365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8" name="Line 22"/>
          <p:cNvSpPr>
            <a:spLocks noChangeShapeType="1"/>
          </p:cNvSpPr>
          <p:nvPr/>
        </p:nvSpPr>
        <p:spPr bwMode="auto">
          <a:xfrm>
            <a:off x="5676046" y="4161309"/>
            <a:ext cx="693076" cy="10080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59" name="Line 23"/>
          <p:cNvSpPr>
            <a:spLocks noChangeShapeType="1"/>
          </p:cNvSpPr>
          <p:nvPr/>
        </p:nvSpPr>
        <p:spPr bwMode="auto">
          <a:xfrm flipV="1">
            <a:off x="1428162" y="4418483"/>
            <a:ext cx="698235" cy="63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60" name="Line 24"/>
          <p:cNvSpPr>
            <a:spLocks noChangeShapeType="1"/>
          </p:cNvSpPr>
          <p:nvPr/>
        </p:nvSpPr>
        <p:spPr bwMode="auto">
          <a:xfrm rot="5400000" flipH="1">
            <a:off x="2714102" y="2527706"/>
            <a:ext cx="773113" cy="17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61" name="Text Box 25"/>
          <p:cNvSpPr txBox="1">
            <a:spLocks noChangeArrowheads="1"/>
          </p:cNvSpPr>
          <p:nvPr/>
        </p:nvSpPr>
        <p:spPr bwMode="auto">
          <a:xfrm>
            <a:off x="1054966" y="3783484"/>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1</a:t>
            </a:r>
            <a:endParaRPr kumimoji="1" lang="en-US" altLang="zh-CN" sz="2000" b="1">
              <a:solidFill>
                <a:srgbClr val="000099"/>
              </a:solidFill>
            </a:endParaRPr>
          </a:p>
        </p:txBody>
      </p:sp>
      <p:sp>
        <p:nvSpPr>
          <p:cNvPr id="65562" name="Oval 26"/>
          <p:cNvSpPr>
            <a:spLocks noChangeArrowheads="1"/>
          </p:cNvSpPr>
          <p:nvPr/>
        </p:nvSpPr>
        <p:spPr bwMode="auto">
          <a:xfrm>
            <a:off x="2109199" y="4161309"/>
            <a:ext cx="607086" cy="561975"/>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A</a:t>
            </a:r>
          </a:p>
        </p:txBody>
      </p:sp>
      <p:sp>
        <p:nvSpPr>
          <p:cNvPr id="65563" name="Line 27"/>
          <p:cNvSpPr>
            <a:spLocks noChangeShapeType="1"/>
          </p:cNvSpPr>
          <p:nvPr/>
        </p:nvSpPr>
        <p:spPr bwMode="auto">
          <a:xfrm flipV="1">
            <a:off x="5676046" y="3564408"/>
            <a:ext cx="873654" cy="4127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65564" name="AutoShape 28"/>
          <p:cNvSpPr>
            <a:spLocks noChangeArrowheads="1"/>
          </p:cNvSpPr>
          <p:nvPr/>
        </p:nvSpPr>
        <p:spPr bwMode="auto">
          <a:xfrm flipV="1">
            <a:off x="5191065" y="5850408"/>
            <a:ext cx="1169458" cy="387350"/>
          </a:xfrm>
          <a:prstGeom prst="wedgeRoundRectCallout">
            <a:avLst>
              <a:gd name="adj1" fmla="val -66181"/>
              <a:gd name="adj2" fmla="val 131963"/>
              <a:gd name="adj3" fmla="val 16667"/>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400" b="1">
              <a:solidFill>
                <a:srgbClr val="000099"/>
              </a:solidFill>
              <a:latin typeface="Times New Roman" panose="02020603050405020304" pitchFamily="18" charset="0"/>
            </a:endParaRPr>
          </a:p>
        </p:txBody>
      </p:sp>
      <p:sp>
        <p:nvSpPr>
          <p:cNvPr id="65565" name="Text Box 29"/>
          <p:cNvSpPr txBox="1">
            <a:spLocks noChangeArrowheads="1"/>
          </p:cNvSpPr>
          <p:nvPr/>
        </p:nvSpPr>
        <p:spPr bwMode="auto">
          <a:xfrm>
            <a:off x="5302851" y="5840884"/>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互联网</a:t>
            </a:r>
          </a:p>
        </p:txBody>
      </p:sp>
      <p:pic>
        <p:nvPicPr>
          <p:cNvPr id="65566"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8049" y="1484784"/>
            <a:ext cx="63460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67"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5876" y="3199284"/>
            <a:ext cx="63632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68"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9799" y="5904384"/>
            <a:ext cx="63460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65569"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1346" y="4986809"/>
            <a:ext cx="63460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70"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2274" y="1683221"/>
            <a:ext cx="636323"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71" name="Oval 35"/>
          <p:cNvSpPr>
            <a:spLocks noChangeArrowheads="1"/>
          </p:cNvSpPr>
          <p:nvPr/>
        </p:nvSpPr>
        <p:spPr bwMode="auto">
          <a:xfrm>
            <a:off x="2893424" y="2794472"/>
            <a:ext cx="572690" cy="530225"/>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B</a:t>
            </a:r>
          </a:p>
        </p:txBody>
      </p:sp>
      <p:sp>
        <p:nvSpPr>
          <p:cNvPr id="65572" name="Oval 36"/>
          <p:cNvSpPr>
            <a:spLocks noChangeArrowheads="1"/>
          </p:cNvSpPr>
          <p:nvPr/>
        </p:nvSpPr>
        <p:spPr bwMode="auto">
          <a:xfrm>
            <a:off x="4432636" y="2183284"/>
            <a:ext cx="558933" cy="517525"/>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D</a:t>
            </a:r>
          </a:p>
        </p:txBody>
      </p:sp>
      <p:sp>
        <p:nvSpPr>
          <p:cNvPr id="65573" name="Oval 37"/>
          <p:cNvSpPr>
            <a:spLocks noChangeArrowheads="1"/>
          </p:cNvSpPr>
          <p:nvPr/>
        </p:nvSpPr>
        <p:spPr bwMode="auto">
          <a:xfrm>
            <a:off x="5326928" y="3783484"/>
            <a:ext cx="622565" cy="576263"/>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E</a:t>
            </a:r>
          </a:p>
        </p:txBody>
      </p:sp>
      <p:sp>
        <p:nvSpPr>
          <p:cNvPr id="65574" name="Oval 38"/>
          <p:cNvSpPr>
            <a:spLocks noChangeArrowheads="1"/>
          </p:cNvSpPr>
          <p:nvPr/>
        </p:nvSpPr>
        <p:spPr bwMode="auto">
          <a:xfrm>
            <a:off x="3940776" y="5131272"/>
            <a:ext cx="591608" cy="547687"/>
          </a:xfrm>
          <a:prstGeom prst="ellipse">
            <a:avLst/>
          </a:prstGeom>
          <a:solidFill>
            <a:srgbClr val="66FF33"/>
          </a:solid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000099"/>
                </a:solidFill>
              </a:rPr>
              <a:t>C</a:t>
            </a:r>
          </a:p>
        </p:txBody>
      </p:sp>
      <p:sp>
        <p:nvSpPr>
          <p:cNvPr id="65575" name="Text Box 39"/>
          <p:cNvSpPr txBox="1">
            <a:spLocks noChangeArrowheads="1"/>
          </p:cNvSpPr>
          <p:nvPr/>
        </p:nvSpPr>
        <p:spPr bwMode="auto">
          <a:xfrm>
            <a:off x="5815349" y="4940772"/>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5</a:t>
            </a:r>
            <a:endParaRPr kumimoji="1" lang="en-US" altLang="zh-CN" sz="2000" b="1">
              <a:solidFill>
                <a:srgbClr val="000099"/>
              </a:solidFill>
            </a:endParaRPr>
          </a:p>
        </p:txBody>
      </p:sp>
      <p:sp>
        <p:nvSpPr>
          <p:cNvPr id="65576" name="Text Box 40"/>
          <p:cNvSpPr txBox="1">
            <a:spLocks noChangeArrowheads="1"/>
          </p:cNvSpPr>
          <p:nvPr/>
        </p:nvSpPr>
        <p:spPr bwMode="auto">
          <a:xfrm>
            <a:off x="6907417" y="314054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6</a:t>
            </a:r>
            <a:endParaRPr kumimoji="1" lang="en-US" altLang="zh-CN" sz="2000" b="1">
              <a:solidFill>
                <a:srgbClr val="000099"/>
              </a:solidFill>
            </a:endParaRPr>
          </a:p>
        </p:txBody>
      </p:sp>
      <p:sp>
        <p:nvSpPr>
          <p:cNvPr id="65577" name="Text Box 41"/>
          <p:cNvSpPr txBox="1">
            <a:spLocks noChangeArrowheads="1"/>
          </p:cNvSpPr>
          <p:nvPr/>
        </p:nvSpPr>
        <p:spPr bwMode="auto">
          <a:xfrm>
            <a:off x="3942497" y="1484784"/>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4</a:t>
            </a:r>
            <a:endParaRPr kumimoji="1" lang="en-US" altLang="zh-CN" sz="2000" b="1">
              <a:solidFill>
                <a:srgbClr val="000099"/>
              </a:solidFill>
            </a:endParaRPr>
          </a:p>
        </p:txBody>
      </p:sp>
      <p:sp>
        <p:nvSpPr>
          <p:cNvPr id="65578" name="Text Box 42"/>
          <p:cNvSpPr txBox="1">
            <a:spLocks noChangeArrowheads="1"/>
          </p:cNvSpPr>
          <p:nvPr/>
        </p:nvSpPr>
        <p:spPr bwMode="auto">
          <a:xfrm>
            <a:off x="2460036" y="162924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2</a:t>
            </a:r>
            <a:endParaRPr kumimoji="1" lang="en-US" altLang="zh-CN" sz="2000" b="1">
              <a:solidFill>
                <a:srgbClr val="000099"/>
              </a:solidFill>
            </a:endParaRPr>
          </a:p>
        </p:txBody>
      </p:sp>
      <p:sp>
        <p:nvSpPr>
          <p:cNvPr id="65579" name="Text Box 43"/>
          <p:cNvSpPr txBox="1">
            <a:spLocks noChangeArrowheads="1"/>
          </p:cNvSpPr>
          <p:nvPr/>
        </p:nvSpPr>
        <p:spPr bwMode="auto">
          <a:xfrm>
            <a:off x="2693928" y="587739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rPr>
              <a:t>H</a:t>
            </a:r>
            <a:r>
              <a:rPr kumimoji="1" lang="en-US" altLang="zh-CN" sz="2000" b="1" baseline="-25000">
                <a:solidFill>
                  <a:srgbClr val="000099"/>
                </a:solidFill>
              </a:rPr>
              <a:t>3</a:t>
            </a:r>
            <a:endParaRPr kumimoji="1" lang="en-US" altLang="zh-CN" sz="2000" b="1">
              <a:solidFill>
                <a:srgbClr val="000099"/>
              </a:solidFill>
            </a:endParaRPr>
          </a:p>
        </p:txBody>
      </p:sp>
      <p:pic>
        <p:nvPicPr>
          <p:cNvPr id="65581"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576" y="4161309"/>
            <a:ext cx="63632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82" name="Rectangle 46"/>
          <p:cNvSpPr>
            <a:spLocks noChangeArrowheads="1"/>
          </p:cNvSpPr>
          <p:nvPr/>
        </p:nvSpPr>
        <p:spPr bwMode="auto">
          <a:xfrm>
            <a:off x="1211467" y="4293071"/>
            <a:ext cx="171979" cy="158750"/>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5584" name="Text Box 48"/>
          <p:cNvSpPr txBox="1">
            <a:spLocks noChangeArrowheads="1"/>
          </p:cNvSpPr>
          <p:nvPr/>
        </p:nvSpPr>
        <p:spPr bwMode="auto">
          <a:xfrm>
            <a:off x="6498107" y="2564904"/>
            <a:ext cx="2919389" cy="523220"/>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FF0000"/>
                </a:solidFill>
              </a:rPr>
              <a:t>H</a:t>
            </a:r>
            <a:r>
              <a:rPr kumimoji="1" lang="en-US" altLang="zh-CN" sz="2800" b="1" baseline="-25000">
                <a:solidFill>
                  <a:srgbClr val="FF0000"/>
                </a:solidFill>
              </a:rPr>
              <a:t>1</a:t>
            </a:r>
            <a:r>
              <a:rPr kumimoji="1" lang="en-US" altLang="zh-CN" sz="1600" b="1" baseline="-25000">
                <a:solidFill>
                  <a:srgbClr val="FF0000"/>
                </a:solidFill>
              </a:rPr>
              <a:t> </a:t>
            </a:r>
            <a:r>
              <a:rPr kumimoji="1" lang="zh-CN" altLang="en-US" sz="2800" b="1">
                <a:solidFill>
                  <a:srgbClr val="FF0000"/>
                </a:solidFill>
                <a:ea typeface="黑体" panose="02010609060101010101" pitchFamily="2" charset="-122"/>
              </a:rPr>
              <a:t>向</a:t>
            </a:r>
            <a:r>
              <a:rPr kumimoji="1" lang="zh-CN" altLang="en-US" sz="1600" b="1">
                <a:solidFill>
                  <a:srgbClr val="FF0000"/>
                </a:solidFill>
                <a:ea typeface="黑体" panose="02010609060101010101" pitchFamily="2" charset="-122"/>
              </a:rPr>
              <a:t> </a:t>
            </a:r>
            <a:r>
              <a:rPr kumimoji="1" lang="en-US" altLang="zh-CN" sz="2800" b="1">
                <a:solidFill>
                  <a:srgbClr val="FF0000"/>
                </a:solidFill>
                <a:ea typeface="黑体" panose="02010609060101010101" pitchFamily="2" charset="-122"/>
              </a:rPr>
              <a:t>H</a:t>
            </a:r>
            <a:r>
              <a:rPr kumimoji="1" lang="en-US" altLang="zh-CN" sz="2800" b="1" baseline="-25000">
                <a:solidFill>
                  <a:srgbClr val="FF0000"/>
                </a:solidFill>
                <a:ea typeface="黑体" panose="02010609060101010101" pitchFamily="2" charset="-122"/>
              </a:rPr>
              <a:t>5</a:t>
            </a:r>
            <a:r>
              <a:rPr kumimoji="1" lang="en-US" altLang="zh-CN" sz="1600" b="1">
                <a:solidFill>
                  <a:srgbClr val="FF0000"/>
                </a:solidFill>
                <a:ea typeface="黑体" panose="02010609060101010101" pitchFamily="2" charset="-122"/>
              </a:rPr>
              <a:t> </a:t>
            </a:r>
            <a:r>
              <a:rPr kumimoji="1" lang="zh-CN" altLang="en-US" sz="2800" b="1">
                <a:solidFill>
                  <a:srgbClr val="FF0000"/>
                </a:solidFill>
                <a:ea typeface="黑体" panose="02010609060101010101" pitchFamily="2" charset="-122"/>
              </a:rPr>
              <a:t>发送分组</a:t>
            </a:r>
          </a:p>
        </p:txBody>
      </p:sp>
      <p:sp>
        <p:nvSpPr>
          <p:cNvPr id="65591" name="Text Box 55"/>
          <p:cNvSpPr txBox="1">
            <a:spLocks noChangeArrowheads="1"/>
          </p:cNvSpPr>
          <p:nvPr/>
        </p:nvSpPr>
        <p:spPr bwMode="auto">
          <a:xfrm>
            <a:off x="1123757" y="249284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路由器</a:t>
            </a:r>
          </a:p>
        </p:txBody>
      </p:sp>
      <p:sp>
        <p:nvSpPr>
          <p:cNvPr id="65592" name="Text Box 56"/>
          <p:cNvSpPr txBox="1">
            <a:spLocks noChangeArrowheads="1"/>
          </p:cNvSpPr>
          <p:nvPr/>
        </p:nvSpPr>
        <p:spPr bwMode="auto">
          <a:xfrm>
            <a:off x="315455" y="328500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Times New Roman" panose="02020603050405020304" pitchFamily="18" charset="0"/>
                <a:ea typeface="黑体" panose="02010609060101010101" pitchFamily="2" charset="-122"/>
              </a:rPr>
              <a:t>主机</a:t>
            </a:r>
          </a:p>
        </p:txBody>
      </p:sp>
      <p:sp>
        <p:nvSpPr>
          <p:cNvPr id="65593" name="Line 57"/>
          <p:cNvSpPr>
            <a:spLocks noChangeShapeType="1"/>
          </p:cNvSpPr>
          <p:nvPr/>
        </p:nvSpPr>
        <p:spPr bwMode="auto">
          <a:xfrm>
            <a:off x="2069643" y="2708746"/>
            <a:ext cx="858177" cy="21590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5594" name="Line 58"/>
          <p:cNvSpPr>
            <a:spLocks noChangeShapeType="1"/>
          </p:cNvSpPr>
          <p:nvPr/>
        </p:nvSpPr>
        <p:spPr bwMode="auto">
          <a:xfrm>
            <a:off x="743684" y="3645371"/>
            <a:ext cx="390392" cy="576262"/>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65595" name="Rectangle 59"/>
          <p:cNvSpPr>
            <a:spLocks noChangeArrowheads="1"/>
          </p:cNvSpPr>
          <p:nvPr/>
        </p:nvSpPr>
        <p:spPr bwMode="auto">
          <a:xfrm>
            <a:off x="2147034" y="4293071"/>
            <a:ext cx="171979" cy="158750"/>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5597" name="Rectangle 61"/>
          <p:cNvSpPr>
            <a:spLocks noChangeArrowheads="1"/>
          </p:cNvSpPr>
          <p:nvPr/>
        </p:nvSpPr>
        <p:spPr bwMode="auto">
          <a:xfrm>
            <a:off x="4098997" y="5301134"/>
            <a:ext cx="156502" cy="144463"/>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5598" name="Text Box 62"/>
          <p:cNvSpPr txBox="1">
            <a:spLocks noChangeArrowheads="1"/>
          </p:cNvSpPr>
          <p:nvPr/>
        </p:nvSpPr>
        <p:spPr bwMode="auto">
          <a:xfrm>
            <a:off x="2069642" y="1845147"/>
            <a:ext cx="3977879" cy="1384995"/>
          </a:xfrm>
          <a:prstGeom prst="rect">
            <a:avLst/>
          </a:prstGeom>
          <a:solidFill>
            <a:srgbClr val="FF99FF"/>
          </a:solidFill>
          <a:ln w="76200" cmpd="tri">
            <a:solidFill>
              <a:srgbClr val="333399"/>
            </a:solidFill>
            <a:miter lim="800000"/>
          </a:ln>
          <a:effectLst/>
        </p:spPr>
        <p:txBody>
          <a:bodyPr>
            <a:spAutoFit/>
          </a:bodyPr>
          <a:lstStyle/>
          <a:p>
            <a:pPr algn="ctr"/>
            <a:r>
              <a:rPr kumimoji="1" lang="zh-CN" altLang="en-US" sz="2800" b="1">
                <a:solidFill>
                  <a:srgbClr val="000099"/>
                </a:solidFill>
                <a:latin typeface="黑体" panose="02010609060101010101" pitchFamily="2" charset="-122"/>
                <a:ea typeface="黑体" panose="02010609060101010101" pitchFamily="2" charset="-122"/>
              </a:rPr>
              <a:t>在路由器</a:t>
            </a:r>
            <a:r>
              <a:rPr kumimoji="1" lang="zh-CN" altLang="en-US" sz="1000" b="1">
                <a:solidFill>
                  <a:srgbClr val="000099"/>
                </a:solidFill>
                <a:latin typeface="黑体" panose="02010609060101010101" pitchFamily="2" charset="-122"/>
                <a:ea typeface="黑体" panose="02010609060101010101" pitchFamily="2" charset="-122"/>
              </a:rPr>
              <a:t> </a:t>
            </a:r>
            <a:r>
              <a:rPr kumimoji="1" lang="en-US" altLang="zh-CN" sz="2800" b="1">
                <a:solidFill>
                  <a:srgbClr val="000099"/>
                </a:solidFill>
                <a:ea typeface="黑体" panose="02010609060101010101" pitchFamily="2" charset="-122"/>
              </a:rPr>
              <a:t>E</a:t>
            </a:r>
            <a:r>
              <a:rPr kumimoji="1" lang="en-US" altLang="zh-CN" sz="1000" b="1">
                <a:solidFill>
                  <a:srgbClr val="000099"/>
                </a:solidFill>
                <a:latin typeface="黑体" panose="02010609060101010101" pitchFamily="2" charset="-122"/>
                <a:ea typeface="黑体" panose="02010609060101010101" pitchFamily="2" charset="-122"/>
              </a:rPr>
              <a:t> </a:t>
            </a:r>
            <a:r>
              <a:rPr kumimoji="1" lang="zh-CN" altLang="en-US" sz="2800" b="1">
                <a:solidFill>
                  <a:srgbClr val="000099"/>
                </a:solidFill>
                <a:latin typeface="黑体" panose="02010609060101010101" pitchFamily="2" charset="-122"/>
                <a:ea typeface="黑体" panose="02010609060101010101" pitchFamily="2" charset="-122"/>
              </a:rPr>
              <a:t>暂存</a:t>
            </a:r>
          </a:p>
          <a:p>
            <a:pPr algn="ctr"/>
            <a:r>
              <a:rPr kumimoji="1" lang="zh-CN" altLang="en-US" sz="2800" b="1">
                <a:solidFill>
                  <a:srgbClr val="000099"/>
                </a:solidFill>
                <a:latin typeface="黑体" panose="02010609060101010101" pitchFamily="2" charset="-122"/>
                <a:ea typeface="黑体" panose="02010609060101010101" pitchFamily="2" charset="-122"/>
              </a:rPr>
              <a:t>查找转发表</a:t>
            </a:r>
          </a:p>
          <a:p>
            <a:pPr algn="ctr"/>
            <a:r>
              <a:rPr kumimoji="1" lang="zh-CN" altLang="en-US" sz="2800" b="1">
                <a:solidFill>
                  <a:srgbClr val="000099"/>
                </a:solidFill>
                <a:latin typeface="黑体" panose="02010609060101010101" pitchFamily="2" charset="-122"/>
                <a:ea typeface="黑体" panose="02010609060101010101" pitchFamily="2" charset="-122"/>
              </a:rPr>
              <a:t>找到转发的端口</a:t>
            </a:r>
          </a:p>
        </p:txBody>
      </p:sp>
      <p:sp>
        <p:nvSpPr>
          <p:cNvPr id="65599" name="Rectangle 63"/>
          <p:cNvSpPr>
            <a:spLocks noChangeArrowheads="1"/>
          </p:cNvSpPr>
          <p:nvPr/>
        </p:nvSpPr>
        <p:spPr bwMode="auto">
          <a:xfrm>
            <a:off x="5502347" y="4148609"/>
            <a:ext cx="156502" cy="144463"/>
          </a:xfrm>
          <a:prstGeom prst="rect">
            <a:avLst/>
          </a:prstGeom>
          <a:solidFill>
            <a:srgbClr val="FF0000"/>
          </a:solidFill>
          <a:ln w="9525">
            <a:solidFill>
              <a:srgbClr val="FF0000"/>
            </a:solidFill>
            <a:miter lim="800000"/>
          </a:ln>
          <a:effectLst/>
        </p:spPr>
        <p:txBody>
          <a:bodyPr wrap="none" anchor="ctr"/>
          <a:lstStyle/>
          <a:p>
            <a:endParaRPr lang="zh-CN" altLang="en-US" b="1">
              <a:solidFill>
                <a:srgbClr val="000099"/>
              </a:solidFill>
            </a:endParaRPr>
          </a:p>
        </p:txBody>
      </p:sp>
      <p:sp>
        <p:nvSpPr>
          <p:cNvPr id="65600" name="Text Box 64"/>
          <p:cNvSpPr txBox="1">
            <a:spLocks noChangeArrowheads="1"/>
          </p:cNvSpPr>
          <p:nvPr/>
        </p:nvSpPr>
        <p:spPr bwMode="auto">
          <a:xfrm>
            <a:off x="2303534" y="1845146"/>
            <a:ext cx="4134379" cy="523220"/>
          </a:xfrm>
          <a:prstGeom prst="rect">
            <a:avLst/>
          </a:prstGeom>
          <a:solidFill>
            <a:srgbClr val="FF99FF"/>
          </a:solidFill>
          <a:ln w="76200" cmpd="tri">
            <a:solidFill>
              <a:srgbClr val="333399"/>
            </a:solidFill>
            <a:miter lim="800000"/>
          </a:ln>
          <a:effectLst/>
        </p:spPr>
        <p:txBody>
          <a:bodyPr>
            <a:spAutoFit/>
          </a:bodyPr>
          <a:lstStyle/>
          <a:p>
            <a:pPr algn="ctr"/>
            <a:r>
              <a:rPr kumimoji="1" lang="zh-CN" altLang="en-US" sz="2800" b="1">
                <a:solidFill>
                  <a:srgbClr val="000099"/>
                </a:solidFill>
                <a:latin typeface="黑体" panose="02010609060101010101" pitchFamily="2" charset="-122"/>
                <a:ea typeface="黑体" panose="02010609060101010101" pitchFamily="2" charset="-122"/>
              </a:rPr>
              <a:t>最后到达目的主机</a:t>
            </a:r>
            <a:r>
              <a:rPr kumimoji="1" lang="zh-CN" altLang="en-US" sz="800" b="1">
                <a:solidFill>
                  <a:srgbClr val="000099"/>
                </a:solidFill>
                <a:latin typeface="黑体" panose="02010609060101010101" pitchFamily="2" charset="-122"/>
                <a:ea typeface="黑体" panose="02010609060101010101" pitchFamily="2" charset="-122"/>
              </a:rPr>
              <a:t> </a:t>
            </a:r>
            <a:r>
              <a:rPr kumimoji="1" lang="en-US" altLang="zh-CN" sz="2800" b="1">
                <a:solidFill>
                  <a:srgbClr val="000099"/>
                </a:solidFill>
                <a:ea typeface="黑体" panose="02010609060101010101" pitchFamily="2" charset="-122"/>
              </a:rPr>
              <a:t>H</a:t>
            </a:r>
            <a:r>
              <a:rPr kumimoji="1" lang="en-US" altLang="zh-CN" sz="2800" b="1" baseline="-25000">
                <a:solidFill>
                  <a:srgbClr val="000099"/>
                </a:solidFill>
                <a:ea typeface="黑体" panose="02010609060101010101" pitchFamily="2" charset="-122"/>
              </a:rPr>
              <a:t>5</a:t>
            </a:r>
          </a:p>
        </p:txBody>
      </p:sp>
      <p:sp>
        <p:nvSpPr>
          <p:cNvPr id="65596" name="Text Box 60"/>
          <p:cNvSpPr txBox="1">
            <a:spLocks noChangeArrowheads="1"/>
          </p:cNvSpPr>
          <p:nvPr/>
        </p:nvSpPr>
        <p:spPr bwMode="auto">
          <a:xfrm flipH="1">
            <a:off x="1758361" y="1845147"/>
            <a:ext cx="3977878" cy="1384995"/>
          </a:xfrm>
          <a:prstGeom prst="rect">
            <a:avLst/>
          </a:prstGeom>
          <a:solidFill>
            <a:srgbClr val="FF99FF"/>
          </a:solidFill>
          <a:ln w="76200" cmpd="tri">
            <a:solidFill>
              <a:srgbClr val="333399"/>
            </a:solidFill>
            <a:miter lim="800000"/>
          </a:ln>
          <a:effectLst/>
        </p:spPr>
        <p:txBody>
          <a:bodyPr>
            <a:spAutoFit/>
          </a:bodyPr>
          <a:lstStyle/>
          <a:p>
            <a:pPr algn="ctr"/>
            <a:r>
              <a:rPr kumimoji="1" lang="zh-CN" altLang="en-US" sz="2800" b="1">
                <a:solidFill>
                  <a:srgbClr val="000099"/>
                </a:solidFill>
                <a:latin typeface="黑体" panose="02010609060101010101" pitchFamily="2" charset="-122"/>
                <a:ea typeface="黑体" panose="02010609060101010101" pitchFamily="2" charset="-122"/>
              </a:rPr>
              <a:t>在路由器</a:t>
            </a:r>
            <a:r>
              <a:rPr kumimoji="1" lang="zh-CN" altLang="en-US" sz="1000" b="1">
                <a:solidFill>
                  <a:srgbClr val="000099"/>
                </a:solidFill>
                <a:latin typeface="黑体" panose="02010609060101010101" pitchFamily="2" charset="-122"/>
                <a:ea typeface="黑体" panose="02010609060101010101" pitchFamily="2" charset="-122"/>
              </a:rPr>
              <a:t> </a:t>
            </a:r>
            <a:r>
              <a:rPr kumimoji="1" lang="en-US" altLang="zh-CN" sz="2800" b="1">
                <a:solidFill>
                  <a:srgbClr val="000099"/>
                </a:solidFill>
                <a:ea typeface="黑体" panose="02010609060101010101" pitchFamily="2" charset="-122"/>
              </a:rPr>
              <a:t>C</a:t>
            </a:r>
            <a:r>
              <a:rPr kumimoji="1" lang="en-US" altLang="zh-CN" sz="1000" b="1">
                <a:solidFill>
                  <a:srgbClr val="000099"/>
                </a:solidFill>
                <a:latin typeface="黑体" panose="02010609060101010101" pitchFamily="2" charset="-122"/>
                <a:ea typeface="黑体" panose="02010609060101010101" pitchFamily="2" charset="-122"/>
              </a:rPr>
              <a:t> </a:t>
            </a:r>
            <a:r>
              <a:rPr kumimoji="1" lang="zh-CN" altLang="en-US" sz="2800" b="1">
                <a:solidFill>
                  <a:srgbClr val="000099"/>
                </a:solidFill>
                <a:latin typeface="黑体" panose="02010609060101010101" pitchFamily="2" charset="-122"/>
                <a:ea typeface="黑体" panose="02010609060101010101" pitchFamily="2" charset="-122"/>
              </a:rPr>
              <a:t>暂存</a:t>
            </a:r>
          </a:p>
          <a:p>
            <a:pPr algn="ctr"/>
            <a:r>
              <a:rPr kumimoji="1" lang="zh-CN" altLang="en-US" sz="2800" b="1">
                <a:solidFill>
                  <a:srgbClr val="000099"/>
                </a:solidFill>
                <a:latin typeface="黑体" panose="02010609060101010101" pitchFamily="2" charset="-122"/>
                <a:ea typeface="黑体" panose="02010609060101010101" pitchFamily="2" charset="-122"/>
              </a:rPr>
              <a:t>查找转发表</a:t>
            </a:r>
          </a:p>
          <a:p>
            <a:pPr algn="ctr"/>
            <a:r>
              <a:rPr kumimoji="1" lang="zh-CN" altLang="en-US" sz="2800" b="1">
                <a:solidFill>
                  <a:srgbClr val="000099"/>
                </a:solidFill>
                <a:latin typeface="黑体" panose="02010609060101010101" pitchFamily="2" charset="-122"/>
                <a:ea typeface="黑体" panose="02010609060101010101" pitchFamily="2" charset="-122"/>
              </a:rPr>
              <a:t>找到转发的端口</a:t>
            </a:r>
          </a:p>
        </p:txBody>
      </p:sp>
      <p:sp>
        <p:nvSpPr>
          <p:cNvPr id="65590" name="Text Box 54"/>
          <p:cNvSpPr txBox="1">
            <a:spLocks noChangeArrowheads="1"/>
          </p:cNvSpPr>
          <p:nvPr/>
        </p:nvSpPr>
        <p:spPr bwMode="auto">
          <a:xfrm>
            <a:off x="1524469" y="1845147"/>
            <a:ext cx="3977878" cy="1384995"/>
          </a:xfrm>
          <a:prstGeom prst="rect">
            <a:avLst/>
          </a:prstGeom>
          <a:solidFill>
            <a:srgbClr val="FF99FF"/>
          </a:solidFill>
          <a:ln w="76200" cmpd="tri">
            <a:solidFill>
              <a:srgbClr val="333399"/>
            </a:solidFill>
            <a:miter lim="800000"/>
          </a:ln>
          <a:effectLst/>
        </p:spPr>
        <p:txBody>
          <a:bodyPr>
            <a:spAutoFit/>
          </a:bodyPr>
          <a:lstStyle/>
          <a:p>
            <a:pPr algn="ctr"/>
            <a:r>
              <a:rPr kumimoji="1" lang="zh-CN" altLang="en-US" sz="2800" b="1">
                <a:solidFill>
                  <a:srgbClr val="000099"/>
                </a:solidFill>
                <a:latin typeface="黑体" panose="02010609060101010101" pitchFamily="2" charset="-122"/>
                <a:ea typeface="黑体" panose="02010609060101010101" pitchFamily="2" charset="-122"/>
              </a:rPr>
              <a:t>在路由器</a:t>
            </a:r>
            <a:r>
              <a:rPr kumimoji="1" lang="zh-CN" altLang="en-US" sz="1000" b="1">
                <a:solidFill>
                  <a:srgbClr val="000099"/>
                </a:solidFill>
                <a:latin typeface="黑体" panose="02010609060101010101" pitchFamily="2" charset="-122"/>
                <a:ea typeface="黑体" panose="02010609060101010101" pitchFamily="2" charset="-122"/>
              </a:rPr>
              <a:t> </a:t>
            </a:r>
            <a:r>
              <a:rPr kumimoji="1" lang="en-US" altLang="zh-CN" sz="2800" b="1">
                <a:solidFill>
                  <a:srgbClr val="000099"/>
                </a:solidFill>
                <a:ea typeface="黑体" panose="02010609060101010101" pitchFamily="2" charset="-122"/>
              </a:rPr>
              <a:t>A</a:t>
            </a:r>
            <a:r>
              <a:rPr kumimoji="1" lang="en-US" altLang="zh-CN" sz="1000" b="1">
                <a:solidFill>
                  <a:srgbClr val="000099"/>
                </a:solidFill>
                <a:latin typeface="黑体" panose="02010609060101010101" pitchFamily="2" charset="-122"/>
                <a:ea typeface="黑体" panose="02010609060101010101" pitchFamily="2" charset="-122"/>
              </a:rPr>
              <a:t> </a:t>
            </a:r>
            <a:r>
              <a:rPr kumimoji="1" lang="zh-CN" altLang="en-US" sz="2800" b="1">
                <a:solidFill>
                  <a:srgbClr val="000099"/>
                </a:solidFill>
                <a:latin typeface="黑体" panose="02010609060101010101" pitchFamily="2" charset="-122"/>
                <a:ea typeface="黑体" panose="02010609060101010101" pitchFamily="2" charset="-122"/>
              </a:rPr>
              <a:t>暂存</a:t>
            </a:r>
          </a:p>
          <a:p>
            <a:pPr algn="ctr"/>
            <a:r>
              <a:rPr kumimoji="1" lang="zh-CN" altLang="en-US" sz="2800" b="1">
                <a:solidFill>
                  <a:srgbClr val="000099"/>
                </a:solidFill>
                <a:latin typeface="黑体" panose="02010609060101010101" pitchFamily="2" charset="-122"/>
                <a:ea typeface="黑体" panose="02010609060101010101" pitchFamily="2" charset="-122"/>
              </a:rPr>
              <a:t>查找转发表</a:t>
            </a:r>
          </a:p>
          <a:p>
            <a:pPr algn="ctr"/>
            <a:r>
              <a:rPr kumimoji="1" lang="zh-CN" altLang="en-US" sz="2800" b="1">
                <a:solidFill>
                  <a:srgbClr val="000099"/>
                </a:solidFill>
                <a:latin typeface="黑体" panose="02010609060101010101" pitchFamily="2" charset="-122"/>
                <a:ea typeface="黑体" panose="02010609060101010101" pitchFamily="2" charset="-122"/>
              </a:rPr>
              <a:t>找到转发的端口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attrName>
                                          <p:attrName>ppt_y</p:attrName>
                                        </p:attrNameLst>
                                      </p:cBhvr>
                                      <p:rCtr x="4531" y="370"/>
                                    </p:animMotion>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p:stCondLst>
                              <p:cond delay="2000"/>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p:stCondLst>
                              <p:cond delay="3300"/>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p:stCondLst>
                              <p:cond delay="5300"/>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p:stCondLst>
                              <p:cond delay="5300"/>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p:stCondLst>
                              <p:cond delay="5300"/>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attrName>
                                          <p:attrName>ppt_y</p:attrName>
                                        </p:attrNameLst>
                                      </p:cBhvr>
                                      <p:rCtr x="9132" y="7191"/>
                                    </p:animMotion>
                                  </p:childTnLst>
                                </p:cTn>
                              </p:par>
                            </p:childTnLst>
                          </p:cTn>
                        </p:par>
                        <p:par>
                          <p:cTn id="28" fill="hold">
                            <p:stCondLst>
                              <p:cond delay="7300"/>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p:stCondLst>
                              <p:cond delay="7300"/>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p:stCondLst>
                              <p:cond delay="8300"/>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p:stCondLst>
                              <p:cond delay="10300"/>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p:stCondLst>
                              <p:cond delay="10300"/>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p:stCondLst>
                              <p:cond delay="10300"/>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attrName>
                                          <p:attrName>ppt_y</p:attrName>
                                        </p:attrNameLst>
                                      </p:cBhvr>
                                      <p:rCtr x="6719" y="-8809"/>
                                    </p:animMotion>
                                  </p:childTnLst>
                                </p:cTn>
                              </p:par>
                            </p:childTnLst>
                          </p:cTn>
                        </p:par>
                        <p:par>
                          <p:cTn id="46" fill="hold">
                            <p:stCondLst>
                              <p:cond delay="12300"/>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p:stCondLst>
                              <p:cond delay="1230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p:stCondLst>
                              <p:cond delay="1330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p:stCondLst>
                              <p:cond delay="15300"/>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p:stCondLst>
                              <p:cond delay="15300"/>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p:stCondLst>
                              <p:cond delay="15300"/>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attrName>
                                          <p:attrName>ppt_y</p:attrName>
                                        </p:attrNameLst>
                                      </p:cBhvr>
                                      <p:rCtr x="3229" y="7006"/>
                                    </p:animMotion>
                                  </p:childTnLst>
                                </p:cTn>
                              </p:par>
                            </p:childTnLst>
                          </p:cTn>
                        </p:par>
                        <p:par>
                          <p:cTn id="64" fill="hold">
                            <p:stCondLst>
                              <p:cond delay="17300"/>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p:stCondLst>
                              <p:cond delay="17300"/>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lgn="ctr"/>
            <a:r>
              <a:rPr lang="zh-CN" altLang="en-US"/>
              <a:t>路由器</a:t>
            </a:r>
          </a:p>
        </p:txBody>
      </p:sp>
      <p:sp>
        <p:nvSpPr>
          <p:cNvPr id="63491" name="Rectangle 3"/>
          <p:cNvSpPr>
            <a:spLocks noGrp="1" noChangeArrowheads="1"/>
          </p:cNvSpPr>
          <p:nvPr>
            <p:ph idx="1"/>
          </p:nvPr>
        </p:nvSpPr>
        <p:spPr/>
        <p:txBody>
          <a:bodyPr/>
          <a:lstStyle/>
          <a:p>
            <a:r>
              <a:rPr lang="zh-CN" altLang="en-US" dirty="0"/>
              <a:t>在路由器中的输入和输出端口之间</a:t>
            </a:r>
            <a:r>
              <a:rPr lang="zh-CN" altLang="en-US" dirty="0">
                <a:solidFill>
                  <a:srgbClr val="FF0000"/>
                </a:solidFill>
              </a:rPr>
              <a:t>没有直接连线。</a:t>
            </a:r>
          </a:p>
          <a:p>
            <a:r>
              <a:rPr lang="zh-CN" altLang="en-US" dirty="0"/>
              <a:t>路由器处理分组的过程是：</a:t>
            </a:r>
          </a:p>
          <a:p>
            <a:pPr lvl="1"/>
            <a:r>
              <a:rPr lang="zh-CN" altLang="en-US" dirty="0">
                <a:ea typeface="黑体" panose="02010609060101010101" pitchFamily="2" charset="-122"/>
              </a:rPr>
              <a:t>把收到的分组先</a:t>
            </a:r>
            <a:r>
              <a:rPr lang="zh-CN" altLang="en-US" dirty="0">
                <a:solidFill>
                  <a:srgbClr val="FF0000"/>
                </a:solidFill>
                <a:ea typeface="黑体" panose="02010609060101010101" pitchFamily="2" charset="-122"/>
              </a:rPr>
              <a:t>放入缓存（暂时存储）；</a:t>
            </a:r>
          </a:p>
          <a:p>
            <a:pPr lvl="1"/>
            <a:r>
              <a:rPr lang="zh-CN" altLang="en-US" dirty="0">
                <a:solidFill>
                  <a:srgbClr val="FF0000"/>
                </a:solidFill>
                <a:ea typeface="黑体" panose="02010609060101010101" pitchFamily="2" charset="-122"/>
              </a:rPr>
              <a:t>查找转发表，</a:t>
            </a:r>
            <a:r>
              <a:rPr lang="zh-CN" altLang="en-US" dirty="0">
                <a:ea typeface="黑体" panose="02010609060101010101" pitchFamily="2" charset="-122"/>
              </a:rPr>
              <a:t>找出到某个目的地址应从哪个端口转发；</a:t>
            </a:r>
          </a:p>
          <a:p>
            <a:pPr lvl="1"/>
            <a:r>
              <a:rPr lang="zh-CN" altLang="en-US" dirty="0">
                <a:ea typeface="黑体" panose="02010609060101010101" pitchFamily="2" charset="-122"/>
              </a:rPr>
              <a:t>把分组送到适当的端口</a:t>
            </a:r>
            <a:r>
              <a:rPr lang="zh-CN" altLang="en-US" dirty="0">
                <a:solidFill>
                  <a:srgbClr val="FF0000"/>
                </a:solidFill>
                <a:ea typeface="黑体" panose="02010609060101010101" pitchFamily="2" charset="-122"/>
              </a:rPr>
              <a:t>转发</a:t>
            </a:r>
            <a:r>
              <a:rPr lang="zh-CN" altLang="en-US" dirty="0">
                <a:ea typeface="黑体" panose="02010609060101010101" pitchFamily="2" charset="-122"/>
              </a:rPr>
              <a:t>出去。</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lgn="ctr"/>
            <a:r>
              <a:rPr lang="zh-CN" altLang="en-US"/>
              <a:t>分组交换的优点</a:t>
            </a:r>
          </a:p>
        </p:txBody>
      </p:sp>
      <p:graphicFrame>
        <p:nvGraphicFramePr>
          <p:cNvPr id="3" name="内容占位符 2"/>
          <p:cNvGraphicFramePr>
            <a:graphicFrameLocks noGrp="1"/>
          </p:cNvGraphicFramePr>
          <p:nvPr>
            <p:ph idx="1"/>
          </p:nvPr>
        </p:nvGraphicFramePr>
        <p:xfrm>
          <a:off x="684000" y="1268760"/>
          <a:ext cx="8712968" cy="4626918"/>
        </p:xfrm>
        <a:graphic>
          <a:graphicData uri="http://schemas.openxmlformats.org/drawingml/2006/table">
            <a:tbl>
              <a:tblPr firstRow="1" firstCol="1" bandRow="1" bandCol="1">
                <a:tableStyleId>{073A0DAA-6AF3-43AB-8588-CEC1D06C72B9}</a:tableStyleId>
              </a:tblPr>
              <a:tblGrid>
                <a:gridCol w="1100648">
                  <a:extLst>
                    <a:ext uri="{9D8B030D-6E8A-4147-A177-3AD203B41FA5}">
                      <a16:colId xmlns:a16="http://schemas.microsoft.com/office/drawing/2014/main" val="20000"/>
                    </a:ext>
                  </a:extLst>
                </a:gridCol>
                <a:gridCol w="7612320">
                  <a:extLst>
                    <a:ext uri="{9D8B030D-6E8A-4147-A177-3AD203B41FA5}">
                      <a16:colId xmlns:a16="http://schemas.microsoft.com/office/drawing/2014/main" val="20001"/>
                    </a:ext>
                  </a:extLst>
                </a:gridCol>
              </a:tblGrid>
              <a:tr h="892899">
                <a:tc>
                  <a:txBody>
                    <a:bodyPr/>
                    <a:lstStyle/>
                    <a:p>
                      <a:pPr algn="ctr">
                        <a:lnSpc>
                          <a:spcPct val="100000"/>
                        </a:lnSpc>
                        <a:spcAft>
                          <a:spcPts val="0"/>
                        </a:spcAft>
                      </a:pPr>
                      <a:r>
                        <a:rPr lang="zh-CN" sz="2800" b="1" kern="100" cap="none" spc="0" dirty="0">
                          <a:ln>
                            <a:noFill/>
                          </a:ln>
                          <a:effectLst/>
                          <a:latin typeface="+mn-lt"/>
                          <a:ea typeface="黑体" panose="02010609060101010101" pitchFamily="2" charset="-122"/>
                        </a:rPr>
                        <a:t>优点</a:t>
                      </a:r>
                      <a:endParaRPr lang="zh-CN" sz="2800" b="1" kern="100" cap="none" spc="0" dirty="0">
                        <a:ln>
                          <a:noFill/>
                        </a:ln>
                        <a:solidFill>
                          <a:schemeClr val="tx1"/>
                        </a:solidFill>
                        <a:effectLst/>
                        <a:latin typeface="+mn-lt"/>
                        <a:ea typeface="黑体" panose="02010609060101010101" pitchFamily="2" charset="-122"/>
                      </a:endParaRPr>
                    </a:p>
                  </a:txBody>
                  <a:tcPr marL="108000" marR="108000" marT="72000" marB="72000" anchor="ctr"/>
                </a:tc>
                <a:tc>
                  <a:txBody>
                    <a:bodyPr/>
                    <a:lstStyle/>
                    <a:p>
                      <a:pPr algn="ctr">
                        <a:lnSpc>
                          <a:spcPct val="100000"/>
                        </a:lnSpc>
                        <a:spcAft>
                          <a:spcPts val="0"/>
                        </a:spcAft>
                      </a:pPr>
                      <a:r>
                        <a:rPr lang="zh-CN" sz="2800" b="1" kern="100" cap="none" spc="0" dirty="0">
                          <a:ln>
                            <a:noFill/>
                          </a:ln>
                          <a:effectLst/>
                          <a:latin typeface="+mn-lt"/>
                          <a:ea typeface="黑体" panose="02010609060101010101" pitchFamily="2" charset="-122"/>
                        </a:rPr>
                        <a:t>所采用的手段</a:t>
                      </a:r>
                      <a:endParaRPr lang="zh-CN" sz="2800" b="1" kern="100" cap="none" spc="0" dirty="0">
                        <a:ln>
                          <a:noFill/>
                        </a:ln>
                        <a:solidFill>
                          <a:schemeClr val="tx1"/>
                        </a:solidFill>
                        <a:effectLst/>
                        <a:latin typeface="+mn-lt"/>
                        <a:ea typeface="黑体" panose="02010609060101010101" pitchFamily="2" charset="-122"/>
                      </a:endParaRPr>
                    </a:p>
                  </a:txBody>
                  <a:tcPr marL="90000" marR="90000" marT="46800" marB="46800" anchor="ctr"/>
                </a:tc>
                <a:extLst>
                  <a:ext uri="{0D108BD9-81ED-4DB2-BD59-A6C34878D82A}">
                    <a16:rowId xmlns:a16="http://schemas.microsoft.com/office/drawing/2014/main" val="10000"/>
                  </a:ext>
                </a:extLst>
              </a:tr>
              <a:tr h="892899">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高效</a:t>
                      </a:r>
                      <a:endParaRPr lang="zh-CN" sz="2800" b="1" kern="100" cap="none" spc="0">
                        <a:ln>
                          <a:noFill/>
                        </a:ln>
                        <a:solidFill>
                          <a:schemeClr val="tx1"/>
                        </a:solidFill>
                        <a:effectLst/>
                        <a:latin typeface="+mn-lt"/>
                        <a:ea typeface="黑体" panose="02010609060101010101"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在分组传输的过程中</a:t>
                      </a:r>
                      <a:r>
                        <a:rPr lang="zh-CN" sz="2800" b="1" kern="100" cap="none" spc="0" dirty="0">
                          <a:ln>
                            <a:noFill/>
                          </a:ln>
                          <a:solidFill>
                            <a:srgbClr val="FF0000"/>
                          </a:solidFill>
                          <a:effectLst/>
                          <a:latin typeface="+mn-lt"/>
                          <a:ea typeface="黑体" panose="02010609060101010101" pitchFamily="2" charset="-122"/>
                        </a:rPr>
                        <a:t>动态分配</a:t>
                      </a:r>
                      <a:r>
                        <a:rPr lang="zh-CN" sz="2800" b="1" kern="100" cap="none" spc="0" dirty="0">
                          <a:ln>
                            <a:noFill/>
                          </a:ln>
                          <a:effectLst/>
                          <a:latin typeface="+mn-lt"/>
                          <a:ea typeface="黑体" panose="02010609060101010101" pitchFamily="2" charset="-122"/>
                        </a:rPr>
                        <a:t>传输带宽，对通信链路是逐段占用</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90000" marR="90000" marT="46800" marB="46800" anchor="ctr"/>
                </a:tc>
                <a:extLst>
                  <a:ext uri="{0D108BD9-81ED-4DB2-BD59-A6C34878D82A}">
                    <a16:rowId xmlns:a16="http://schemas.microsoft.com/office/drawing/2014/main" val="10001"/>
                  </a:ext>
                </a:extLst>
              </a:tr>
              <a:tr h="892899">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灵活</a:t>
                      </a:r>
                      <a:endParaRPr lang="zh-CN" sz="2800" b="1" kern="100" cap="none" spc="0">
                        <a:ln>
                          <a:noFill/>
                        </a:ln>
                        <a:solidFill>
                          <a:schemeClr val="tx1"/>
                        </a:solidFill>
                        <a:effectLst/>
                        <a:latin typeface="+mn-lt"/>
                        <a:ea typeface="黑体" panose="02010609060101010101"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为每一个分组</a:t>
                      </a:r>
                      <a:r>
                        <a:rPr lang="zh-CN" sz="2800" b="1" kern="100" cap="none" spc="0" dirty="0">
                          <a:ln>
                            <a:noFill/>
                          </a:ln>
                          <a:solidFill>
                            <a:srgbClr val="FF0000"/>
                          </a:solidFill>
                          <a:effectLst/>
                          <a:latin typeface="+mn-lt"/>
                          <a:ea typeface="黑体" panose="02010609060101010101" pitchFamily="2" charset="-122"/>
                        </a:rPr>
                        <a:t>独立</a:t>
                      </a:r>
                      <a:r>
                        <a:rPr lang="zh-CN" sz="2800" b="1" kern="100" cap="none" spc="0" dirty="0">
                          <a:ln>
                            <a:noFill/>
                          </a:ln>
                          <a:effectLst/>
                          <a:latin typeface="+mn-lt"/>
                          <a:ea typeface="黑体" panose="02010609060101010101" pitchFamily="2" charset="-122"/>
                        </a:rPr>
                        <a:t>地选择最合适的转发路由</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90000" marR="90000" marT="46800" marB="46800" anchor="ctr"/>
                </a:tc>
                <a:extLst>
                  <a:ext uri="{0D108BD9-81ED-4DB2-BD59-A6C34878D82A}">
                    <a16:rowId xmlns:a16="http://schemas.microsoft.com/office/drawing/2014/main" val="10002"/>
                  </a:ext>
                </a:extLst>
              </a:tr>
              <a:tr h="892899">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迅速</a:t>
                      </a:r>
                      <a:endParaRPr lang="zh-CN" sz="2800" b="1" kern="100" cap="none" spc="0">
                        <a:ln>
                          <a:noFill/>
                        </a:ln>
                        <a:solidFill>
                          <a:schemeClr val="tx1"/>
                        </a:solidFill>
                        <a:effectLst/>
                        <a:latin typeface="+mn-lt"/>
                        <a:ea typeface="黑体" panose="02010609060101010101"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以分组作为传送单位，可以</a:t>
                      </a:r>
                      <a:r>
                        <a:rPr lang="zh-CN" sz="2800" b="1" kern="100" cap="none" spc="0" dirty="0">
                          <a:ln>
                            <a:noFill/>
                          </a:ln>
                          <a:solidFill>
                            <a:srgbClr val="FF0000"/>
                          </a:solidFill>
                          <a:effectLst/>
                          <a:latin typeface="+mn-lt"/>
                          <a:ea typeface="黑体" panose="02010609060101010101" pitchFamily="2" charset="-122"/>
                        </a:rPr>
                        <a:t>不先建立连接</a:t>
                      </a:r>
                      <a:r>
                        <a:rPr lang="zh-CN" sz="2800" b="1" kern="100" cap="none" spc="0" dirty="0">
                          <a:ln>
                            <a:noFill/>
                          </a:ln>
                          <a:effectLst/>
                          <a:latin typeface="+mn-lt"/>
                          <a:ea typeface="黑体" panose="02010609060101010101" pitchFamily="2" charset="-122"/>
                        </a:rPr>
                        <a:t>就能向其他主机发送分组</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90000" marR="90000" marT="46800" marB="46800" anchor="ctr"/>
                </a:tc>
                <a:extLst>
                  <a:ext uri="{0D108BD9-81ED-4DB2-BD59-A6C34878D82A}">
                    <a16:rowId xmlns:a16="http://schemas.microsoft.com/office/drawing/2014/main" val="10003"/>
                  </a:ext>
                </a:extLst>
              </a:tr>
              <a:tr h="892899">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可靠</a:t>
                      </a:r>
                      <a:endParaRPr lang="zh-CN" sz="2800" b="1" kern="100" cap="none" spc="0">
                        <a:ln>
                          <a:noFill/>
                        </a:ln>
                        <a:solidFill>
                          <a:schemeClr val="tx1"/>
                        </a:solidFill>
                        <a:effectLst/>
                        <a:latin typeface="+mn-lt"/>
                        <a:ea typeface="黑体" panose="02010609060101010101"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保证可靠性的网络协议；分布式多路由的分组交换网，使网络有很好的生存性</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90000" marR="90000" marT="46800" marB="4680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algn="ctr"/>
            <a:r>
              <a:rPr lang="zh-CN" altLang="en-US" dirty="0"/>
              <a:t>分组交换带来的问题</a:t>
            </a:r>
          </a:p>
        </p:txBody>
      </p:sp>
      <p:sp>
        <p:nvSpPr>
          <p:cNvPr id="67587" name="Rectangle 3"/>
          <p:cNvSpPr>
            <a:spLocks noGrp="1" noChangeArrowheads="1"/>
          </p:cNvSpPr>
          <p:nvPr>
            <p:ph idx="1"/>
          </p:nvPr>
        </p:nvSpPr>
        <p:spPr/>
        <p:txBody>
          <a:bodyPr/>
          <a:lstStyle/>
          <a:p>
            <a:r>
              <a:rPr lang="zh-CN" altLang="en-US" dirty="0"/>
              <a:t>分组在各结点存储转发时需要</a:t>
            </a:r>
            <a:r>
              <a:rPr lang="zh-CN" altLang="en-US" dirty="0">
                <a:solidFill>
                  <a:srgbClr val="FF0000"/>
                </a:solidFill>
              </a:rPr>
              <a:t>排队，</a:t>
            </a:r>
            <a:r>
              <a:rPr lang="zh-CN" altLang="en-US" dirty="0"/>
              <a:t>这就会造成一定的</a:t>
            </a:r>
            <a:r>
              <a:rPr lang="zh-CN" altLang="en-US" dirty="0">
                <a:solidFill>
                  <a:srgbClr val="FF0000"/>
                </a:solidFill>
              </a:rPr>
              <a:t>时延。</a:t>
            </a:r>
            <a:r>
              <a:rPr lang="zh-CN" altLang="en-US" dirty="0"/>
              <a:t> </a:t>
            </a:r>
          </a:p>
          <a:p>
            <a:r>
              <a:rPr lang="zh-CN" altLang="en-US" dirty="0"/>
              <a:t>分组必须携带的首部（里面有必不可少的控制信息）也造成了一定的</a:t>
            </a:r>
            <a:r>
              <a:rPr lang="zh-CN" altLang="en-US" dirty="0">
                <a:solidFill>
                  <a:srgbClr val="FF0000"/>
                </a:solidFill>
              </a:rPr>
              <a:t>开销。</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lgn="ctr"/>
            <a:r>
              <a:rPr lang="zh-CN" altLang="en-US" sz="4000" dirty="0"/>
              <a:t>存储转发原理并非完全新的概念 </a:t>
            </a:r>
          </a:p>
        </p:txBody>
      </p:sp>
      <p:sp>
        <p:nvSpPr>
          <p:cNvPr id="153603" name="Rectangle 3"/>
          <p:cNvSpPr>
            <a:spLocks noGrp="1" noChangeArrowheads="1"/>
          </p:cNvSpPr>
          <p:nvPr>
            <p:ph idx="1"/>
          </p:nvPr>
        </p:nvSpPr>
        <p:spPr/>
        <p:txBody>
          <a:bodyPr/>
          <a:lstStyle/>
          <a:p>
            <a:r>
              <a:rPr lang="zh-CN" altLang="en-US" dirty="0"/>
              <a:t>在 </a:t>
            </a:r>
            <a:r>
              <a:rPr lang="en-US" altLang="zh-CN" dirty="0"/>
              <a:t>20 </a:t>
            </a:r>
            <a:r>
              <a:rPr lang="zh-CN" altLang="en-US" dirty="0"/>
              <a:t>世纪 </a:t>
            </a:r>
            <a:r>
              <a:rPr lang="en-US" altLang="zh-CN" dirty="0"/>
              <a:t>40 </a:t>
            </a:r>
            <a:r>
              <a:rPr lang="zh-CN" altLang="en-US" dirty="0"/>
              <a:t>年代，电报通信也采用了基于存储转发原理的</a:t>
            </a:r>
            <a:r>
              <a:rPr lang="zh-CN" altLang="en-US" dirty="0">
                <a:solidFill>
                  <a:srgbClr val="FF0000"/>
                </a:solidFill>
              </a:rPr>
              <a:t>报文交换 </a:t>
            </a:r>
            <a:r>
              <a:rPr lang="en-US" altLang="zh-CN" dirty="0"/>
              <a:t>(message switching)</a:t>
            </a:r>
            <a:r>
              <a:rPr lang="zh-CN" altLang="en-US" dirty="0"/>
              <a:t>。 </a:t>
            </a:r>
          </a:p>
          <a:p>
            <a:r>
              <a:rPr lang="zh-CN" altLang="en-US" dirty="0"/>
              <a:t>报文交换的时延较长，从几分钟到几小时不等。现在报文交换已经很少有人使用了。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a:xfrm>
            <a:off x="475630" y="0"/>
            <a:ext cx="9157890" cy="692150"/>
          </a:xfrm>
        </p:spPr>
        <p:txBody>
          <a:bodyPr/>
          <a:lstStyle/>
          <a:p>
            <a:pPr algn="ctr"/>
            <a:r>
              <a:rPr lang="zh-CN" altLang="en-US" sz="4000" dirty="0"/>
              <a:t>三种交换的比较 </a:t>
            </a:r>
          </a:p>
        </p:txBody>
      </p:sp>
      <p:grpSp>
        <p:nvGrpSpPr>
          <p:cNvPr id="154758" name="Group 134"/>
          <p:cNvGrpSpPr/>
          <p:nvPr/>
        </p:nvGrpSpPr>
        <p:grpSpPr bwMode="auto">
          <a:xfrm>
            <a:off x="8002192" y="1458916"/>
            <a:ext cx="629444" cy="396876"/>
            <a:chOff x="4653" y="1614"/>
            <a:chExt cx="366" cy="250"/>
          </a:xfrm>
        </p:grpSpPr>
        <p:sp>
          <p:nvSpPr>
            <p:cNvPr id="154628" name="AutoShape 4"/>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29" name="Text Box 5"/>
            <p:cNvSpPr txBox="1">
              <a:spLocks noChangeArrowheads="1"/>
            </p:cNvSpPr>
            <p:nvPr/>
          </p:nvSpPr>
          <p:spPr bwMode="auto">
            <a:xfrm rot="626605">
              <a:off x="4671" y="1614"/>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1</a:t>
              </a:r>
              <a:endParaRPr kumimoji="1" lang="en-US" altLang="zh-CN">
                <a:solidFill>
                  <a:srgbClr val="333399"/>
                </a:solidFill>
                <a:ea typeface="黑体" panose="02010609060101010101" pitchFamily="2" charset="-122"/>
              </a:endParaRPr>
            </a:p>
          </p:txBody>
        </p:sp>
        <p:sp>
          <p:nvSpPr>
            <p:cNvPr id="154630"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1"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2"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9" name="Group 135"/>
          <p:cNvGrpSpPr/>
          <p:nvPr/>
        </p:nvGrpSpPr>
        <p:grpSpPr bwMode="auto">
          <a:xfrm>
            <a:off x="7993592" y="1743073"/>
            <a:ext cx="631164" cy="396874"/>
            <a:chOff x="4648" y="1793"/>
            <a:chExt cx="367" cy="250"/>
          </a:xfrm>
        </p:grpSpPr>
        <p:sp>
          <p:nvSpPr>
            <p:cNvPr id="154633" name="AutoShape 9"/>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4" name="Text Box 10"/>
            <p:cNvSpPr txBox="1">
              <a:spLocks noChangeArrowheads="1"/>
            </p:cNvSpPr>
            <p:nvPr/>
          </p:nvSpPr>
          <p:spPr bwMode="auto">
            <a:xfrm rot="626605">
              <a:off x="4660" y="1793"/>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2</a:t>
              </a:r>
              <a:endParaRPr kumimoji="1" lang="en-US" altLang="zh-CN">
                <a:solidFill>
                  <a:srgbClr val="333399"/>
                </a:solidFill>
                <a:ea typeface="黑体" panose="02010609060101010101" pitchFamily="2" charset="-122"/>
              </a:endParaRPr>
            </a:p>
          </p:txBody>
        </p:sp>
        <p:sp>
          <p:nvSpPr>
            <p:cNvPr id="154635"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6"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7" name="AutoShape 13"/>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0" name="Group 136"/>
          <p:cNvGrpSpPr/>
          <p:nvPr/>
        </p:nvGrpSpPr>
        <p:grpSpPr bwMode="auto">
          <a:xfrm>
            <a:off x="8000471" y="2031996"/>
            <a:ext cx="629444" cy="387349"/>
            <a:chOff x="4652" y="1975"/>
            <a:chExt cx="366" cy="244"/>
          </a:xfrm>
        </p:grpSpPr>
        <p:sp>
          <p:nvSpPr>
            <p:cNvPr id="154638" name="AutoShape 14"/>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9" name="Text Box 15"/>
            <p:cNvSpPr txBox="1">
              <a:spLocks noChangeArrowheads="1"/>
            </p:cNvSpPr>
            <p:nvPr/>
          </p:nvSpPr>
          <p:spPr bwMode="auto">
            <a:xfrm rot="626605">
              <a:off x="4664" y="1975"/>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3</a:t>
              </a:r>
              <a:endParaRPr kumimoji="1" lang="en-US" altLang="zh-CN">
                <a:solidFill>
                  <a:srgbClr val="333399"/>
                </a:solidFill>
                <a:ea typeface="黑体" panose="02010609060101010101" pitchFamily="2" charset="-122"/>
              </a:endParaRPr>
            </a:p>
          </p:txBody>
        </p:sp>
        <p:sp>
          <p:nvSpPr>
            <p:cNvPr id="154640"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1"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2"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1" name="Group 137"/>
          <p:cNvGrpSpPr/>
          <p:nvPr/>
        </p:nvGrpSpPr>
        <p:grpSpPr bwMode="auto">
          <a:xfrm>
            <a:off x="8007350" y="2301880"/>
            <a:ext cx="629444" cy="395288"/>
            <a:chOff x="4656" y="2145"/>
            <a:chExt cx="366" cy="249"/>
          </a:xfrm>
        </p:grpSpPr>
        <p:sp>
          <p:nvSpPr>
            <p:cNvPr id="154643" name="AutoShape 19"/>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4" name="Text Box 20"/>
            <p:cNvSpPr txBox="1">
              <a:spLocks noChangeArrowheads="1"/>
            </p:cNvSpPr>
            <p:nvPr/>
          </p:nvSpPr>
          <p:spPr bwMode="auto">
            <a:xfrm rot="626605">
              <a:off x="4668" y="2145"/>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4</a:t>
              </a:r>
              <a:endParaRPr kumimoji="1" lang="en-US" altLang="zh-CN">
                <a:solidFill>
                  <a:srgbClr val="333399"/>
                </a:solidFill>
                <a:ea typeface="黑体" panose="02010609060101010101" pitchFamily="2" charset="-122"/>
              </a:endParaRPr>
            </a:p>
          </p:txBody>
        </p:sp>
        <p:sp>
          <p:nvSpPr>
            <p:cNvPr id="154645" name="Line 21"/>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6" name="Line 22"/>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7" name="AutoShape 23"/>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3" name="Group 139"/>
          <p:cNvGrpSpPr/>
          <p:nvPr/>
        </p:nvGrpSpPr>
        <p:grpSpPr bwMode="auto">
          <a:xfrm>
            <a:off x="8624761" y="1854204"/>
            <a:ext cx="629445" cy="385763"/>
            <a:chOff x="5015" y="1863"/>
            <a:chExt cx="366" cy="243"/>
          </a:xfrm>
        </p:grpSpPr>
        <p:sp>
          <p:nvSpPr>
            <p:cNvPr id="154648" name="AutoShape 24"/>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9" name="Text Box 25"/>
            <p:cNvSpPr txBox="1">
              <a:spLocks noChangeArrowheads="1"/>
            </p:cNvSpPr>
            <p:nvPr/>
          </p:nvSpPr>
          <p:spPr bwMode="auto">
            <a:xfrm rot="626605">
              <a:off x="5021" y="1863"/>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1</a:t>
              </a:r>
              <a:endParaRPr kumimoji="1" lang="en-US" altLang="zh-CN">
                <a:solidFill>
                  <a:srgbClr val="333399"/>
                </a:solidFill>
                <a:ea typeface="黑体" panose="02010609060101010101" pitchFamily="2" charset="-122"/>
              </a:endParaRPr>
            </a:p>
          </p:txBody>
        </p:sp>
        <p:sp>
          <p:nvSpPr>
            <p:cNvPr id="154650"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1"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2"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4" name="Group 140"/>
          <p:cNvGrpSpPr/>
          <p:nvPr/>
        </p:nvGrpSpPr>
        <p:grpSpPr bwMode="auto">
          <a:xfrm>
            <a:off x="8616162" y="2119317"/>
            <a:ext cx="629444" cy="404813"/>
            <a:chOff x="5010" y="2030"/>
            <a:chExt cx="366" cy="255"/>
          </a:xfrm>
        </p:grpSpPr>
        <p:sp>
          <p:nvSpPr>
            <p:cNvPr id="154653" name="AutoShape 29"/>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4" name="Text Box 30"/>
            <p:cNvSpPr txBox="1">
              <a:spLocks noChangeArrowheads="1"/>
            </p:cNvSpPr>
            <p:nvPr/>
          </p:nvSpPr>
          <p:spPr bwMode="auto">
            <a:xfrm rot="626605">
              <a:off x="5016" y="2030"/>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2</a:t>
              </a:r>
              <a:endParaRPr kumimoji="1" lang="en-US" altLang="zh-CN">
                <a:solidFill>
                  <a:srgbClr val="333399"/>
                </a:solidFill>
                <a:ea typeface="黑体" panose="02010609060101010101" pitchFamily="2" charset="-122"/>
              </a:endParaRPr>
            </a:p>
          </p:txBody>
        </p:sp>
        <p:sp>
          <p:nvSpPr>
            <p:cNvPr id="154655"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6"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7"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5" name="Group 141"/>
          <p:cNvGrpSpPr/>
          <p:nvPr/>
        </p:nvGrpSpPr>
        <p:grpSpPr bwMode="auto">
          <a:xfrm>
            <a:off x="8623036" y="2406647"/>
            <a:ext cx="629444" cy="396874"/>
            <a:chOff x="5014" y="2211"/>
            <a:chExt cx="366" cy="250"/>
          </a:xfrm>
        </p:grpSpPr>
        <p:sp>
          <p:nvSpPr>
            <p:cNvPr id="154658" name="AutoShape 34"/>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9" name="Text Box 35"/>
            <p:cNvSpPr txBox="1">
              <a:spLocks noChangeArrowheads="1"/>
            </p:cNvSpPr>
            <p:nvPr/>
          </p:nvSpPr>
          <p:spPr bwMode="auto">
            <a:xfrm rot="626605">
              <a:off x="5026" y="2211"/>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3</a:t>
              </a:r>
              <a:endParaRPr kumimoji="1" lang="en-US" altLang="zh-CN">
                <a:solidFill>
                  <a:srgbClr val="333399"/>
                </a:solidFill>
                <a:ea typeface="黑体" panose="02010609060101010101" pitchFamily="2" charset="-122"/>
              </a:endParaRPr>
            </a:p>
          </p:txBody>
        </p:sp>
        <p:sp>
          <p:nvSpPr>
            <p:cNvPr id="154660"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1"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2"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6" name="Group 142"/>
          <p:cNvGrpSpPr/>
          <p:nvPr/>
        </p:nvGrpSpPr>
        <p:grpSpPr bwMode="auto">
          <a:xfrm>
            <a:off x="8628201" y="2676521"/>
            <a:ext cx="631164" cy="406399"/>
            <a:chOff x="5017" y="2381"/>
            <a:chExt cx="367" cy="256"/>
          </a:xfrm>
        </p:grpSpPr>
        <p:sp>
          <p:nvSpPr>
            <p:cNvPr id="154663" name="AutoShape 39"/>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4" name="Text Box 40"/>
            <p:cNvSpPr txBox="1">
              <a:spLocks noChangeArrowheads="1"/>
            </p:cNvSpPr>
            <p:nvPr/>
          </p:nvSpPr>
          <p:spPr bwMode="auto">
            <a:xfrm rot="626605">
              <a:off x="5023" y="2381"/>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4</a:t>
              </a:r>
              <a:endParaRPr kumimoji="1" lang="en-US" altLang="zh-CN">
                <a:solidFill>
                  <a:srgbClr val="333399"/>
                </a:solidFill>
                <a:ea typeface="黑体" panose="02010609060101010101" pitchFamily="2" charset="-122"/>
              </a:endParaRPr>
            </a:p>
          </p:txBody>
        </p:sp>
        <p:sp>
          <p:nvSpPr>
            <p:cNvPr id="154665" name="Line 4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6" name="Line 4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7" name="AutoShape 43"/>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6" name="Group 132"/>
          <p:cNvGrpSpPr/>
          <p:nvPr/>
        </p:nvGrpSpPr>
        <p:grpSpPr bwMode="auto">
          <a:xfrm>
            <a:off x="7377912" y="1638304"/>
            <a:ext cx="629444" cy="395288"/>
            <a:chOff x="4290" y="1727"/>
            <a:chExt cx="366" cy="249"/>
          </a:xfrm>
        </p:grpSpPr>
        <p:sp>
          <p:nvSpPr>
            <p:cNvPr id="154673" name="AutoShape 49"/>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4" name="Text Box 50"/>
            <p:cNvSpPr txBox="1">
              <a:spLocks noChangeArrowheads="1"/>
            </p:cNvSpPr>
            <p:nvPr/>
          </p:nvSpPr>
          <p:spPr bwMode="auto">
            <a:xfrm rot="626605">
              <a:off x="4296" y="1727"/>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3</a:t>
              </a:r>
              <a:endParaRPr kumimoji="1" lang="en-US" altLang="zh-CN">
                <a:solidFill>
                  <a:srgbClr val="333399"/>
                </a:solidFill>
                <a:ea typeface="黑体" panose="02010609060101010101" pitchFamily="2" charset="-122"/>
              </a:endParaRPr>
            </a:p>
          </p:txBody>
        </p:sp>
        <p:sp>
          <p:nvSpPr>
            <p:cNvPr id="154675"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6"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7" name="AutoShape 53"/>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7" name="Group 133"/>
          <p:cNvGrpSpPr/>
          <p:nvPr/>
        </p:nvGrpSpPr>
        <p:grpSpPr bwMode="auto">
          <a:xfrm>
            <a:off x="7384786" y="1916116"/>
            <a:ext cx="629444" cy="396876"/>
            <a:chOff x="4294" y="1902"/>
            <a:chExt cx="366" cy="250"/>
          </a:xfrm>
        </p:grpSpPr>
        <p:sp>
          <p:nvSpPr>
            <p:cNvPr id="154678" name="AutoShape 54"/>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9" name="Text Box 55"/>
            <p:cNvSpPr txBox="1">
              <a:spLocks noChangeArrowheads="1"/>
            </p:cNvSpPr>
            <p:nvPr/>
          </p:nvSpPr>
          <p:spPr bwMode="auto">
            <a:xfrm rot="626605">
              <a:off x="4306" y="1902"/>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4</a:t>
              </a:r>
              <a:endParaRPr kumimoji="1" lang="en-US" altLang="zh-CN">
                <a:solidFill>
                  <a:srgbClr val="333399"/>
                </a:solidFill>
                <a:ea typeface="黑体" panose="02010609060101010101" pitchFamily="2" charset="-122"/>
              </a:endParaRPr>
            </a:p>
          </p:txBody>
        </p:sp>
        <p:sp>
          <p:nvSpPr>
            <p:cNvPr id="154680" name="Line 56"/>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1" name="Line 57"/>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2" name="AutoShape 58"/>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1" name="Group 127"/>
          <p:cNvGrpSpPr/>
          <p:nvPr/>
        </p:nvGrpSpPr>
        <p:grpSpPr bwMode="auto">
          <a:xfrm>
            <a:off x="4946121" y="2374901"/>
            <a:ext cx="631164" cy="1069975"/>
            <a:chOff x="2876" y="2191"/>
            <a:chExt cx="367" cy="674"/>
          </a:xfrm>
        </p:grpSpPr>
        <p:sp>
          <p:nvSpPr>
            <p:cNvPr id="154683" name="AutoShape 59"/>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4" name="AutoShape 60"/>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5" name="Text Box 61"/>
            <p:cNvSpPr txBox="1">
              <a:spLocks noChangeArrowheads="1"/>
            </p:cNvSpPr>
            <p:nvPr/>
          </p:nvSpPr>
          <p:spPr bwMode="auto">
            <a:xfrm>
              <a:off x="2919" y="2300"/>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anose="02010609060101010101" pitchFamily="2" charset="-122"/>
                </a:rPr>
                <a:t>报</a:t>
              </a:r>
            </a:p>
            <a:p>
              <a:pPr>
                <a:lnSpc>
                  <a:spcPct val="80000"/>
                </a:lnSpc>
              </a:pPr>
              <a:r>
                <a:rPr kumimoji="1" lang="zh-CN" altLang="en-US" b="1" dirty="0">
                  <a:solidFill>
                    <a:srgbClr val="333399"/>
                  </a:solidFill>
                  <a:ea typeface="黑体" panose="02010609060101010101" pitchFamily="2" charset="-122"/>
                </a:rPr>
                <a:t>文</a:t>
              </a:r>
            </a:p>
          </p:txBody>
        </p:sp>
        <p:sp>
          <p:nvSpPr>
            <p:cNvPr id="154686" name="Line 62"/>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7" name="Line 63"/>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2" name="Group 128"/>
          <p:cNvGrpSpPr/>
          <p:nvPr/>
        </p:nvGrpSpPr>
        <p:grpSpPr bwMode="auto">
          <a:xfrm>
            <a:off x="5591044" y="3711576"/>
            <a:ext cx="629444" cy="1071563"/>
            <a:chOff x="3251" y="3033"/>
            <a:chExt cx="366" cy="675"/>
          </a:xfrm>
        </p:grpSpPr>
        <p:sp>
          <p:nvSpPr>
            <p:cNvPr id="154688" name="AutoShape 64"/>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9" name="AutoShape 65"/>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0" name="Text Box 66"/>
            <p:cNvSpPr txBox="1">
              <a:spLocks noChangeArrowheads="1"/>
            </p:cNvSpPr>
            <p:nvPr/>
          </p:nvSpPr>
          <p:spPr bwMode="auto">
            <a:xfrm>
              <a:off x="3293" y="3143"/>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anose="02010609060101010101" pitchFamily="2" charset="-122"/>
                </a:rPr>
                <a:t>报</a:t>
              </a:r>
            </a:p>
            <a:p>
              <a:pPr>
                <a:lnSpc>
                  <a:spcPct val="80000"/>
                </a:lnSpc>
              </a:pPr>
              <a:r>
                <a:rPr kumimoji="1" lang="zh-CN" altLang="en-US" b="1" dirty="0">
                  <a:solidFill>
                    <a:srgbClr val="333399"/>
                  </a:solidFill>
                  <a:ea typeface="黑体" panose="02010609060101010101" pitchFamily="2" charset="-122"/>
                </a:rPr>
                <a:t>文</a:t>
              </a:r>
            </a:p>
          </p:txBody>
        </p:sp>
        <p:sp>
          <p:nvSpPr>
            <p:cNvPr id="154691" name="Line 67"/>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2" name="Line 68"/>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0" name="Group 126"/>
          <p:cNvGrpSpPr/>
          <p:nvPr/>
        </p:nvGrpSpPr>
        <p:grpSpPr bwMode="auto">
          <a:xfrm>
            <a:off x="4332156" y="1103314"/>
            <a:ext cx="620844" cy="1069975"/>
            <a:chOff x="2519" y="1390"/>
            <a:chExt cx="361" cy="674"/>
          </a:xfrm>
        </p:grpSpPr>
        <p:sp>
          <p:nvSpPr>
            <p:cNvPr id="154693" name="AutoShape 69"/>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4" name="AutoShape 70"/>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5" name="Text Box 71"/>
            <p:cNvSpPr txBox="1">
              <a:spLocks noChangeArrowheads="1"/>
            </p:cNvSpPr>
            <p:nvPr/>
          </p:nvSpPr>
          <p:spPr bwMode="auto">
            <a:xfrm>
              <a:off x="2567" y="1500"/>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anose="02010609060101010101" pitchFamily="2" charset="-122"/>
                </a:rPr>
                <a:t>报</a:t>
              </a:r>
            </a:p>
            <a:p>
              <a:pPr>
                <a:lnSpc>
                  <a:spcPct val="80000"/>
                </a:lnSpc>
              </a:pPr>
              <a:r>
                <a:rPr kumimoji="1" lang="zh-CN" altLang="en-US" b="1" dirty="0">
                  <a:solidFill>
                    <a:srgbClr val="333399"/>
                  </a:solidFill>
                  <a:ea typeface="黑体" panose="02010609060101010101" pitchFamily="2" charset="-122"/>
                </a:rPr>
                <a:t>文</a:t>
              </a:r>
            </a:p>
          </p:txBody>
        </p:sp>
        <p:sp>
          <p:nvSpPr>
            <p:cNvPr id="154696" name="Line 7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7" name="Line 7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698" name="Line 74"/>
          <p:cNvSpPr>
            <a:spLocks noChangeShapeType="1"/>
          </p:cNvSpPr>
          <p:nvPr/>
        </p:nvSpPr>
        <p:spPr bwMode="auto">
          <a:xfrm>
            <a:off x="2044833" y="1103314"/>
            <a:ext cx="0" cy="38131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9" name="Line 75"/>
          <p:cNvSpPr>
            <a:spLocks noChangeShapeType="1"/>
          </p:cNvSpPr>
          <p:nvPr/>
        </p:nvSpPr>
        <p:spPr bwMode="auto">
          <a:xfrm>
            <a:off x="2669117" y="1103314"/>
            <a:ext cx="0" cy="38131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0" name="Text Box 76"/>
          <p:cNvSpPr txBox="1">
            <a:spLocks noChangeArrowheads="1"/>
          </p:cNvSpPr>
          <p:nvPr/>
        </p:nvSpPr>
        <p:spPr bwMode="auto">
          <a:xfrm>
            <a:off x="1264711" y="4891089"/>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A      B      C     D </a:t>
            </a:r>
          </a:p>
        </p:txBody>
      </p:sp>
      <p:sp>
        <p:nvSpPr>
          <p:cNvPr id="154701" name="Text Box 77"/>
          <p:cNvSpPr txBox="1">
            <a:spLocks noChangeArrowheads="1"/>
          </p:cNvSpPr>
          <p:nvPr/>
        </p:nvSpPr>
        <p:spPr bwMode="auto">
          <a:xfrm>
            <a:off x="4186636" y="4891089"/>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A      B      C      D</a:t>
            </a:r>
          </a:p>
        </p:txBody>
      </p:sp>
      <p:sp>
        <p:nvSpPr>
          <p:cNvPr id="154702" name="Text Box 78"/>
          <p:cNvSpPr txBox="1">
            <a:spLocks noChangeArrowheads="1"/>
          </p:cNvSpPr>
          <p:nvPr/>
        </p:nvSpPr>
        <p:spPr bwMode="auto">
          <a:xfrm>
            <a:off x="7228948" y="4891089"/>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A      B      C      D</a:t>
            </a:r>
          </a:p>
        </p:txBody>
      </p:sp>
      <p:sp>
        <p:nvSpPr>
          <p:cNvPr id="154703" name="Line 79"/>
          <p:cNvSpPr>
            <a:spLocks noChangeShapeType="1"/>
          </p:cNvSpPr>
          <p:nvPr/>
        </p:nvSpPr>
        <p:spPr bwMode="auto">
          <a:xfrm>
            <a:off x="1420548" y="1236664"/>
            <a:ext cx="624285"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4" name="Line 80"/>
          <p:cNvSpPr>
            <a:spLocks noChangeShapeType="1"/>
          </p:cNvSpPr>
          <p:nvPr/>
        </p:nvSpPr>
        <p:spPr bwMode="auto">
          <a:xfrm>
            <a:off x="2044833" y="1504951"/>
            <a:ext cx="624284"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5" name="Line 81"/>
          <p:cNvSpPr>
            <a:spLocks noChangeShapeType="1"/>
          </p:cNvSpPr>
          <p:nvPr/>
        </p:nvSpPr>
        <p:spPr bwMode="auto">
          <a:xfrm>
            <a:off x="2669117" y="1771651"/>
            <a:ext cx="622565"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6" name="Line 82"/>
          <p:cNvSpPr>
            <a:spLocks noChangeShapeType="1"/>
          </p:cNvSpPr>
          <p:nvPr/>
        </p:nvSpPr>
        <p:spPr bwMode="auto">
          <a:xfrm flipH="1">
            <a:off x="1420548" y="2173289"/>
            <a:ext cx="1871133" cy="268287"/>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11" name="Text Box 87"/>
          <p:cNvSpPr txBox="1">
            <a:spLocks noChangeArrowheads="1"/>
          </p:cNvSpPr>
          <p:nvPr/>
        </p:nvSpPr>
        <p:spPr bwMode="auto">
          <a:xfrm>
            <a:off x="4665795" y="66040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C00000"/>
                </a:solidFill>
                <a:ea typeface="黑体" panose="02010609060101010101" pitchFamily="2" charset="-122"/>
              </a:rPr>
              <a:t>报文交换</a:t>
            </a:r>
          </a:p>
        </p:txBody>
      </p:sp>
      <p:sp>
        <p:nvSpPr>
          <p:cNvPr id="154712" name="Text Box 88"/>
          <p:cNvSpPr txBox="1">
            <a:spLocks noChangeArrowheads="1"/>
          </p:cNvSpPr>
          <p:nvPr/>
        </p:nvSpPr>
        <p:spPr bwMode="auto">
          <a:xfrm>
            <a:off x="1676797" y="66040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C00000"/>
                </a:solidFill>
                <a:ea typeface="黑体" panose="02010609060101010101" pitchFamily="2" charset="-122"/>
              </a:rPr>
              <a:t>电路交换</a:t>
            </a:r>
          </a:p>
        </p:txBody>
      </p:sp>
      <p:sp>
        <p:nvSpPr>
          <p:cNvPr id="154713" name="Text Box 89"/>
          <p:cNvSpPr txBox="1">
            <a:spLocks noChangeArrowheads="1"/>
          </p:cNvSpPr>
          <p:nvPr/>
        </p:nvSpPr>
        <p:spPr bwMode="auto">
          <a:xfrm>
            <a:off x="7646194" y="66040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C00000"/>
                </a:solidFill>
                <a:ea typeface="黑体" panose="02010609060101010101" pitchFamily="2" charset="-122"/>
              </a:rPr>
              <a:t>分组交换</a:t>
            </a:r>
          </a:p>
        </p:txBody>
      </p:sp>
      <p:sp>
        <p:nvSpPr>
          <p:cNvPr id="154714" name="Line 90"/>
          <p:cNvSpPr>
            <a:spLocks noChangeShapeType="1"/>
          </p:cNvSpPr>
          <p:nvPr/>
        </p:nvSpPr>
        <p:spPr bwMode="auto">
          <a:xfrm>
            <a:off x="3804179" y="1571625"/>
            <a:ext cx="0" cy="274320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15" name="Text Box 91"/>
          <p:cNvSpPr txBox="1">
            <a:spLocks noChangeArrowheads="1"/>
          </p:cNvSpPr>
          <p:nvPr/>
        </p:nvSpPr>
        <p:spPr bwMode="auto">
          <a:xfrm>
            <a:off x="3694112" y="4330701"/>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t</a:t>
            </a:r>
          </a:p>
        </p:txBody>
      </p:sp>
      <p:grpSp>
        <p:nvGrpSpPr>
          <p:cNvPr id="154746" name="Group 122"/>
          <p:cNvGrpSpPr/>
          <p:nvPr/>
        </p:nvGrpSpPr>
        <p:grpSpPr bwMode="auto">
          <a:xfrm>
            <a:off x="194337" y="1235075"/>
            <a:ext cx="1202134" cy="1230313"/>
            <a:chOff x="113" y="1473"/>
            <a:chExt cx="699" cy="775"/>
          </a:xfrm>
        </p:grpSpPr>
        <p:sp>
          <p:nvSpPr>
            <p:cNvPr id="154716" name="Line 92"/>
            <p:cNvSpPr>
              <a:spLocks noChangeShapeType="1"/>
            </p:cNvSpPr>
            <p:nvPr/>
          </p:nvSpPr>
          <p:spPr bwMode="auto">
            <a:xfrm>
              <a:off x="630" y="1474"/>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18" name="Line 94"/>
            <p:cNvSpPr>
              <a:spLocks noChangeShapeType="1"/>
            </p:cNvSpPr>
            <p:nvPr/>
          </p:nvSpPr>
          <p:spPr bwMode="auto">
            <a:xfrm>
              <a:off x="622" y="2248"/>
              <a:ext cx="181"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19" name="Text Box 95"/>
            <p:cNvSpPr txBox="1">
              <a:spLocks noChangeArrowheads="1"/>
            </p:cNvSpPr>
            <p:nvPr/>
          </p:nvSpPr>
          <p:spPr bwMode="auto">
            <a:xfrm>
              <a:off x="113" y="1733"/>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333399"/>
                  </a:solidFill>
                  <a:ea typeface="黑体" panose="02010609060101010101" pitchFamily="2" charset="-122"/>
                </a:rPr>
                <a:t>连接建立</a:t>
              </a:r>
            </a:p>
          </p:txBody>
        </p:sp>
        <p:sp>
          <p:nvSpPr>
            <p:cNvPr id="154721" name="Line 97"/>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54747" name="Group 123"/>
          <p:cNvGrpSpPr/>
          <p:nvPr/>
        </p:nvGrpSpPr>
        <p:grpSpPr bwMode="auto">
          <a:xfrm>
            <a:off x="194337" y="2462214"/>
            <a:ext cx="1202134" cy="1011237"/>
            <a:chOff x="113" y="2246"/>
            <a:chExt cx="699" cy="637"/>
          </a:xfrm>
        </p:grpSpPr>
        <p:sp>
          <p:nvSpPr>
            <p:cNvPr id="154717" name="Line 93"/>
            <p:cNvSpPr>
              <a:spLocks noChangeShapeType="1"/>
            </p:cNvSpPr>
            <p:nvPr/>
          </p:nvSpPr>
          <p:spPr bwMode="auto">
            <a:xfrm>
              <a:off x="630" y="2881"/>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20" name="Text Box 96"/>
            <p:cNvSpPr txBox="1">
              <a:spLocks noChangeArrowheads="1"/>
            </p:cNvSpPr>
            <p:nvPr/>
          </p:nvSpPr>
          <p:spPr bwMode="auto">
            <a:xfrm>
              <a:off x="113" y="2405"/>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333399"/>
                  </a:solidFill>
                  <a:ea typeface="黑体" panose="02010609060101010101" pitchFamily="2" charset="-122"/>
                </a:rPr>
                <a:t>数据传送</a:t>
              </a:r>
            </a:p>
          </p:txBody>
        </p:sp>
        <p:sp>
          <p:nvSpPr>
            <p:cNvPr id="154722" name="Line 98"/>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154723" name="Freeform 99"/>
          <p:cNvSpPr/>
          <p:nvPr/>
        </p:nvSpPr>
        <p:spPr bwMode="auto">
          <a:xfrm>
            <a:off x="1415389" y="1103313"/>
            <a:ext cx="5159" cy="3821112"/>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4" name="Freeform 100"/>
          <p:cNvSpPr/>
          <p:nvPr/>
        </p:nvSpPr>
        <p:spPr bwMode="auto">
          <a:xfrm>
            <a:off x="6215328" y="1081089"/>
            <a:ext cx="5160"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5" name="Line 101"/>
          <p:cNvSpPr>
            <a:spLocks noChangeShapeType="1"/>
          </p:cNvSpPr>
          <p:nvPr/>
        </p:nvSpPr>
        <p:spPr bwMode="auto">
          <a:xfrm>
            <a:off x="9250760" y="113030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6" name="Line 102"/>
          <p:cNvSpPr>
            <a:spLocks noChangeShapeType="1"/>
          </p:cNvSpPr>
          <p:nvPr/>
        </p:nvSpPr>
        <p:spPr bwMode="auto">
          <a:xfrm>
            <a:off x="8624756" y="1116014"/>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7" name="Line 103"/>
          <p:cNvSpPr>
            <a:spLocks noChangeShapeType="1"/>
          </p:cNvSpPr>
          <p:nvPr/>
        </p:nvSpPr>
        <p:spPr bwMode="auto">
          <a:xfrm>
            <a:off x="8009070" y="1103314"/>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8" name="Line 104"/>
          <p:cNvSpPr>
            <a:spLocks noChangeShapeType="1"/>
          </p:cNvSpPr>
          <p:nvPr/>
        </p:nvSpPr>
        <p:spPr bwMode="auto">
          <a:xfrm>
            <a:off x="4328716" y="108108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9" name="Line 105"/>
          <p:cNvSpPr>
            <a:spLocks noChangeShapeType="1"/>
          </p:cNvSpPr>
          <p:nvPr/>
        </p:nvSpPr>
        <p:spPr bwMode="auto">
          <a:xfrm>
            <a:off x="4946121" y="108108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0" name="Line 106"/>
          <p:cNvSpPr>
            <a:spLocks noChangeShapeType="1"/>
          </p:cNvSpPr>
          <p:nvPr/>
        </p:nvSpPr>
        <p:spPr bwMode="auto">
          <a:xfrm>
            <a:off x="5589323" y="1081089"/>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749" name="Group 125"/>
          <p:cNvGrpSpPr/>
          <p:nvPr/>
        </p:nvGrpSpPr>
        <p:grpSpPr bwMode="auto">
          <a:xfrm>
            <a:off x="1405071" y="2449514"/>
            <a:ext cx="1914128" cy="1279525"/>
            <a:chOff x="817" y="2238"/>
            <a:chExt cx="1113" cy="806"/>
          </a:xfrm>
        </p:grpSpPr>
        <p:sp>
          <p:nvSpPr>
            <p:cNvPr id="154707" name="Line 83"/>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8" name="AutoShape 84"/>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9" name="Text Box 85"/>
            <p:cNvSpPr txBox="1">
              <a:spLocks noChangeArrowheads="1"/>
            </p:cNvSpPr>
            <p:nvPr/>
          </p:nvSpPr>
          <p:spPr bwMode="auto">
            <a:xfrm>
              <a:off x="1113" y="2429"/>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333399"/>
                  </a:solidFill>
                  <a:ea typeface="黑体" panose="02010609060101010101" pitchFamily="2" charset="-122"/>
                </a:rPr>
                <a:t>报文</a:t>
              </a:r>
            </a:p>
          </p:txBody>
        </p:sp>
        <p:sp>
          <p:nvSpPr>
            <p:cNvPr id="154710" name="AutoShape 8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2" name="Line 108"/>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3" name="Line 109"/>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5" name="Group 131"/>
          <p:cNvGrpSpPr/>
          <p:nvPr/>
        </p:nvGrpSpPr>
        <p:grpSpPr bwMode="auto">
          <a:xfrm>
            <a:off x="7371028" y="1368422"/>
            <a:ext cx="631164" cy="387349"/>
            <a:chOff x="4286" y="1557"/>
            <a:chExt cx="367" cy="244"/>
          </a:xfrm>
        </p:grpSpPr>
        <p:sp>
          <p:nvSpPr>
            <p:cNvPr id="154668" name="AutoShape 44"/>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9" name="Text Box 45"/>
            <p:cNvSpPr txBox="1">
              <a:spLocks noChangeArrowheads="1"/>
            </p:cNvSpPr>
            <p:nvPr/>
          </p:nvSpPr>
          <p:spPr bwMode="auto">
            <a:xfrm rot="626605">
              <a:off x="4304" y="1557"/>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anose="02010609060101010101" pitchFamily="2" charset="-122"/>
                </a:rPr>
                <a:t>P</a:t>
              </a:r>
              <a:r>
                <a:rPr kumimoji="1" lang="en-US" altLang="zh-CN" baseline="-25000">
                  <a:solidFill>
                    <a:srgbClr val="333399"/>
                  </a:solidFill>
                  <a:ea typeface="黑体" panose="02010609060101010101" pitchFamily="2" charset="-122"/>
                </a:rPr>
                <a:t>2</a:t>
              </a:r>
              <a:endParaRPr kumimoji="1" lang="en-US" altLang="zh-CN">
                <a:solidFill>
                  <a:srgbClr val="333399"/>
                </a:solidFill>
                <a:ea typeface="黑体" panose="02010609060101010101" pitchFamily="2" charset="-122"/>
              </a:endParaRPr>
            </a:p>
          </p:txBody>
        </p:sp>
        <p:sp>
          <p:nvSpPr>
            <p:cNvPr id="154671"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2" name="AutoShape 48"/>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0"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4" name="Group 130"/>
          <p:cNvGrpSpPr/>
          <p:nvPr/>
        </p:nvGrpSpPr>
        <p:grpSpPr bwMode="auto">
          <a:xfrm>
            <a:off x="7379627" y="1074740"/>
            <a:ext cx="629444" cy="396876"/>
            <a:chOff x="4291" y="1372"/>
            <a:chExt cx="366" cy="250"/>
          </a:xfrm>
        </p:grpSpPr>
        <p:sp>
          <p:nvSpPr>
            <p:cNvPr id="154734" name="AutoShape 110"/>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5" name="Text Box 111"/>
            <p:cNvSpPr txBox="1">
              <a:spLocks noChangeArrowheads="1"/>
            </p:cNvSpPr>
            <p:nvPr/>
          </p:nvSpPr>
          <p:spPr bwMode="auto">
            <a:xfrm rot="626605">
              <a:off x="4303" y="1372"/>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ea typeface="黑体" panose="02010609060101010101" pitchFamily="2" charset="-122"/>
                </a:rPr>
                <a:t>P</a:t>
              </a:r>
              <a:r>
                <a:rPr kumimoji="1" lang="en-US" altLang="zh-CN" baseline="-25000" dirty="0">
                  <a:solidFill>
                    <a:srgbClr val="333399"/>
                  </a:solidFill>
                  <a:ea typeface="黑体" panose="02010609060101010101" pitchFamily="2" charset="-122"/>
                </a:rPr>
                <a:t>1</a:t>
              </a:r>
              <a:endParaRPr kumimoji="1" lang="en-US" altLang="zh-CN" dirty="0">
                <a:solidFill>
                  <a:srgbClr val="333399"/>
                </a:solidFill>
                <a:ea typeface="黑体" panose="02010609060101010101" pitchFamily="2" charset="-122"/>
              </a:endParaRPr>
            </a:p>
          </p:txBody>
        </p:sp>
        <p:sp>
          <p:nvSpPr>
            <p:cNvPr id="154736"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7"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8"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739" name="Line 115"/>
          <p:cNvSpPr>
            <a:spLocks noChangeShapeType="1"/>
          </p:cNvSpPr>
          <p:nvPr/>
        </p:nvSpPr>
        <p:spPr bwMode="auto">
          <a:xfrm>
            <a:off x="7376187" y="1090614"/>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0" name="Line 116"/>
          <p:cNvSpPr>
            <a:spLocks noChangeShapeType="1"/>
          </p:cNvSpPr>
          <p:nvPr/>
        </p:nvSpPr>
        <p:spPr bwMode="auto">
          <a:xfrm>
            <a:off x="1415389" y="3556000"/>
            <a:ext cx="624284" cy="9525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1" name="Line 117"/>
          <p:cNvSpPr>
            <a:spLocks noChangeShapeType="1"/>
          </p:cNvSpPr>
          <p:nvPr/>
        </p:nvSpPr>
        <p:spPr bwMode="auto">
          <a:xfrm>
            <a:off x="2049992" y="3736975"/>
            <a:ext cx="613966" cy="9525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2" name="Line 118"/>
          <p:cNvSpPr>
            <a:spLocks noChangeShapeType="1"/>
          </p:cNvSpPr>
          <p:nvPr/>
        </p:nvSpPr>
        <p:spPr bwMode="auto">
          <a:xfrm>
            <a:off x="2663958" y="3927476"/>
            <a:ext cx="622565" cy="8572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748" name="Group 124"/>
          <p:cNvGrpSpPr/>
          <p:nvPr/>
        </p:nvGrpSpPr>
        <p:grpSpPr bwMode="auto">
          <a:xfrm>
            <a:off x="194337" y="3451225"/>
            <a:ext cx="1176338" cy="592138"/>
            <a:chOff x="113" y="2869"/>
            <a:chExt cx="684" cy="373"/>
          </a:xfrm>
        </p:grpSpPr>
        <p:sp>
          <p:nvSpPr>
            <p:cNvPr id="154743" name="Line 119"/>
            <p:cNvSpPr>
              <a:spLocks noChangeShapeType="1"/>
            </p:cNvSpPr>
            <p:nvPr/>
          </p:nvSpPr>
          <p:spPr bwMode="auto">
            <a:xfrm>
              <a:off x="615" y="3241"/>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44" name="Line 120"/>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45" name="Text Box 121"/>
            <p:cNvSpPr txBox="1">
              <a:spLocks noChangeArrowheads="1"/>
            </p:cNvSpPr>
            <p:nvPr/>
          </p:nvSpPr>
          <p:spPr bwMode="auto">
            <a:xfrm>
              <a:off x="113" y="2933"/>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333399"/>
                  </a:solidFill>
                  <a:ea typeface="黑体" panose="02010609060101010101" pitchFamily="2" charset="-122"/>
                </a:rPr>
                <a:t>连接释放</a:t>
              </a:r>
            </a:p>
          </p:txBody>
        </p:sp>
      </p:grpSp>
      <p:sp>
        <p:nvSpPr>
          <p:cNvPr id="154731" name="Freeform 107"/>
          <p:cNvSpPr/>
          <p:nvPr/>
        </p:nvSpPr>
        <p:spPr bwMode="auto">
          <a:xfrm>
            <a:off x="3293402" y="1125539"/>
            <a:ext cx="5159"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67" name="AutoShape 143"/>
          <p:cNvSpPr>
            <a:spLocks noChangeArrowheads="1"/>
          </p:cNvSpPr>
          <p:nvPr/>
        </p:nvSpPr>
        <p:spPr bwMode="auto">
          <a:xfrm>
            <a:off x="416496" y="5365750"/>
            <a:ext cx="9220919" cy="1447800"/>
          </a:xfrm>
          <a:prstGeom prst="roundRect">
            <a:avLst>
              <a:gd name="adj" fmla="val 16667"/>
            </a:avLst>
          </a:prstGeom>
          <a:noFill/>
          <a:ln w="9525">
            <a:solidFill>
              <a:schemeClr val="tx1"/>
            </a:solidFill>
            <a:round/>
            <a:headEnd type="none" w="sm" len="lg"/>
            <a:tailEnd type="none" w="sm" len="lg"/>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68" name="Line 144"/>
          <p:cNvSpPr>
            <a:spLocks noChangeShapeType="1"/>
          </p:cNvSpPr>
          <p:nvPr/>
        </p:nvSpPr>
        <p:spPr bwMode="auto">
          <a:xfrm>
            <a:off x="7326015" y="6203950"/>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69" name="Line 145"/>
          <p:cNvSpPr>
            <a:spLocks noChangeShapeType="1"/>
          </p:cNvSpPr>
          <p:nvPr/>
        </p:nvSpPr>
        <p:spPr bwMode="auto">
          <a:xfrm>
            <a:off x="4271665" y="6203950"/>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70" name="Line 146"/>
          <p:cNvSpPr>
            <a:spLocks noChangeShapeType="1"/>
          </p:cNvSpPr>
          <p:nvPr/>
        </p:nvSpPr>
        <p:spPr bwMode="auto">
          <a:xfrm>
            <a:off x="1382415" y="6203950"/>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4771" name="Group 147"/>
          <p:cNvGrpSpPr/>
          <p:nvPr/>
        </p:nvGrpSpPr>
        <p:grpSpPr bwMode="auto">
          <a:xfrm>
            <a:off x="1299865" y="6051550"/>
            <a:ext cx="2063750" cy="228600"/>
            <a:chOff x="768" y="2544"/>
            <a:chExt cx="1200" cy="144"/>
          </a:xfrm>
        </p:grpSpPr>
        <p:sp>
          <p:nvSpPr>
            <p:cNvPr id="154772"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3"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4"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5"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76" name="Group 152"/>
          <p:cNvGrpSpPr/>
          <p:nvPr/>
        </p:nvGrpSpPr>
        <p:grpSpPr bwMode="auto">
          <a:xfrm>
            <a:off x="4189115" y="6051550"/>
            <a:ext cx="2063750" cy="228600"/>
            <a:chOff x="768" y="2544"/>
            <a:chExt cx="1200" cy="144"/>
          </a:xfrm>
        </p:grpSpPr>
        <p:sp>
          <p:nvSpPr>
            <p:cNvPr id="154777"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8"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79"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0"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81" name="Group 157"/>
          <p:cNvGrpSpPr/>
          <p:nvPr/>
        </p:nvGrpSpPr>
        <p:grpSpPr bwMode="auto">
          <a:xfrm>
            <a:off x="7243465" y="6051550"/>
            <a:ext cx="2063750" cy="228600"/>
            <a:chOff x="768" y="2544"/>
            <a:chExt cx="1200" cy="144"/>
          </a:xfrm>
        </p:grpSpPr>
        <p:sp>
          <p:nvSpPr>
            <p:cNvPr id="154782" name="AutoShape 15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3" name="AutoShape 15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4" name="AutoShape 16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5" name="AutoShape 16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786" name="AutoShape 162"/>
          <p:cNvSpPr>
            <a:spLocks noChangeArrowheads="1"/>
          </p:cNvSpPr>
          <p:nvPr/>
        </p:nvSpPr>
        <p:spPr bwMode="auto">
          <a:xfrm>
            <a:off x="4189115" y="5670550"/>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7" name="AutoShape 163"/>
          <p:cNvSpPr>
            <a:spLocks noChangeArrowheads="1"/>
          </p:cNvSpPr>
          <p:nvPr/>
        </p:nvSpPr>
        <p:spPr bwMode="auto">
          <a:xfrm>
            <a:off x="4890790" y="5670550"/>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8" name="AutoShape 164"/>
          <p:cNvSpPr>
            <a:spLocks noChangeArrowheads="1"/>
          </p:cNvSpPr>
          <p:nvPr/>
        </p:nvSpPr>
        <p:spPr bwMode="auto">
          <a:xfrm>
            <a:off x="5592465" y="5670550"/>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89" name="AutoShape 165"/>
          <p:cNvSpPr>
            <a:spLocks noChangeArrowheads="1"/>
          </p:cNvSpPr>
          <p:nvPr/>
        </p:nvSpPr>
        <p:spPr bwMode="auto">
          <a:xfrm>
            <a:off x="1382415" y="5746750"/>
            <a:ext cx="2063750" cy="3048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0" name="AutoShape 166"/>
          <p:cNvSpPr>
            <a:spLocks noChangeArrowheads="1"/>
          </p:cNvSpPr>
          <p:nvPr/>
        </p:nvSpPr>
        <p:spPr bwMode="auto">
          <a:xfrm>
            <a:off x="7243465" y="5670550"/>
            <a:ext cx="74295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1" name="AutoShape 167"/>
          <p:cNvSpPr>
            <a:spLocks noChangeArrowheads="1"/>
          </p:cNvSpPr>
          <p:nvPr/>
        </p:nvSpPr>
        <p:spPr bwMode="auto">
          <a:xfrm>
            <a:off x="7903865" y="5670550"/>
            <a:ext cx="74295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2" name="AutoShape 168"/>
          <p:cNvSpPr>
            <a:spLocks noChangeArrowheads="1"/>
          </p:cNvSpPr>
          <p:nvPr/>
        </p:nvSpPr>
        <p:spPr bwMode="auto">
          <a:xfrm>
            <a:off x="8564265" y="5670550"/>
            <a:ext cx="74295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93" name="Text Box 169"/>
          <p:cNvSpPr txBox="1">
            <a:spLocks noChangeArrowheads="1"/>
          </p:cNvSpPr>
          <p:nvPr/>
        </p:nvSpPr>
        <p:spPr bwMode="auto">
          <a:xfrm>
            <a:off x="562253" y="5613106"/>
            <a:ext cx="646331"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b="1" dirty="0">
                <a:solidFill>
                  <a:srgbClr val="FF0000"/>
                </a:solidFill>
                <a:latin typeface="Times New Roman" panose="02020603050405020304" pitchFamily="18" charset="0"/>
              </a:rPr>
              <a:t>数据</a:t>
            </a:r>
            <a:endParaRPr kumimoji="1" lang="en-US" altLang="zh-CN" b="1" dirty="0">
              <a:solidFill>
                <a:srgbClr val="FF0000"/>
              </a:solidFill>
              <a:latin typeface="Times New Roman" panose="02020603050405020304" pitchFamily="18" charset="0"/>
            </a:endParaRPr>
          </a:p>
          <a:p>
            <a:pPr algn="ctr">
              <a:lnSpc>
                <a:spcPct val="90000"/>
              </a:lnSpc>
            </a:pPr>
            <a:r>
              <a:rPr kumimoji="1" lang="zh-CN" altLang="en-US" b="1" dirty="0">
                <a:solidFill>
                  <a:srgbClr val="FF0000"/>
                </a:solidFill>
                <a:latin typeface="Times New Roman" panose="02020603050405020304" pitchFamily="18" charset="0"/>
              </a:rPr>
              <a:t>传送</a:t>
            </a:r>
          </a:p>
          <a:p>
            <a:pPr algn="ctr">
              <a:lnSpc>
                <a:spcPct val="90000"/>
              </a:lnSpc>
            </a:pPr>
            <a:r>
              <a:rPr kumimoji="1" lang="zh-CN" altLang="en-US" b="1" dirty="0">
                <a:solidFill>
                  <a:srgbClr val="FF0000"/>
                </a:solidFill>
                <a:latin typeface="Times New Roman" panose="02020603050405020304" pitchFamily="18" charset="0"/>
              </a:rPr>
              <a:t>特点</a:t>
            </a:r>
          </a:p>
        </p:txBody>
      </p:sp>
      <p:sp>
        <p:nvSpPr>
          <p:cNvPr id="154794" name="Text Box 170"/>
          <p:cNvSpPr txBox="1">
            <a:spLocks noChangeArrowheads="1"/>
          </p:cNvSpPr>
          <p:nvPr/>
        </p:nvSpPr>
        <p:spPr bwMode="auto">
          <a:xfrm>
            <a:off x="1342860" y="5465764"/>
            <a:ext cx="1800493"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比特流直达终点</a:t>
            </a:r>
          </a:p>
        </p:txBody>
      </p:sp>
      <p:sp>
        <p:nvSpPr>
          <p:cNvPr id="154795" name="Text Box 171"/>
          <p:cNvSpPr txBox="1">
            <a:spLocks noChangeArrowheads="1"/>
          </p:cNvSpPr>
          <p:nvPr/>
        </p:nvSpPr>
        <p:spPr bwMode="auto">
          <a:xfrm>
            <a:off x="4189115"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FF0000"/>
                </a:solidFill>
                <a:latin typeface="Times New Roman" panose="02020603050405020304" pitchFamily="18" charset="0"/>
              </a:rPr>
              <a:t>报文</a:t>
            </a:r>
          </a:p>
        </p:txBody>
      </p:sp>
      <p:sp>
        <p:nvSpPr>
          <p:cNvPr id="154796" name="Text Box 172"/>
          <p:cNvSpPr txBox="1">
            <a:spLocks noChangeArrowheads="1"/>
          </p:cNvSpPr>
          <p:nvPr/>
        </p:nvSpPr>
        <p:spPr bwMode="auto">
          <a:xfrm>
            <a:off x="4901109"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报文</a:t>
            </a:r>
          </a:p>
        </p:txBody>
      </p:sp>
      <p:sp>
        <p:nvSpPr>
          <p:cNvPr id="154797" name="Text Box 173"/>
          <p:cNvSpPr txBox="1">
            <a:spLocks noChangeArrowheads="1"/>
          </p:cNvSpPr>
          <p:nvPr/>
        </p:nvSpPr>
        <p:spPr bwMode="auto">
          <a:xfrm>
            <a:off x="5613102"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报文</a:t>
            </a:r>
          </a:p>
        </p:txBody>
      </p:sp>
      <p:sp>
        <p:nvSpPr>
          <p:cNvPr id="154798" name="Text Box 174"/>
          <p:cNvSpPr txBox="1">
            <a:spLocks noChangeArrowheads="1"/>
          </p:cNvSpPr>
          <p:nvPr/>
        </p:nvSpPr>
        <p:spPr bwMode="auto">
          <a:xfrm>
            <a:off x="7243465"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分组</a:t>
            </a:r>
          </a:p>
        </p:txBody>
      </p:sp>
      <p:sp>
        <p:nvSpPr>
          <p:cNvPr id="154799" name="Text Box 175"/>
          <p:cNvSpPr txBox="1">
            <a:spLocks noChangeArrowheads="1"/>
          </p:cNvSpPr>
          <p:nvPr/>
        </p:nvSpPr>
        <p:spPr bwMode="auto">
          <a:xfrm>
            <a:off x="7914184"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分组</a:t>
            </a:r>
          </a:p>
        </p:txBody>
      </p:sp>
      <p:sp>
        <p:nvSpPr>
          <p:cNvPr id="154800" name="Text Box 176"/>
          <p:cNvSpPr txBox="1">
            <a:spLocks noChangeArrowheads="1"/>
          </p:cNvSpPr>
          <p:nvPr/>
        </p:nvSpPr>
        <p:spPr bwMode="auto">
          <a:xfrm>
            <a:off x="8584902" y="5341939"/>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anose="02020603050405020304" pitchFamily="18" charset="0"/>
              </a:rPr>
              <a:t>分组</a:t>
            </a:r>
          </a:p>
        </p:txBody>
      </p:sp>
      <p:sp>
        <p:nvSpPr>
          <p:cNvPr id="154801" name="Text Box 177"/>
          <p:cNvSpPr txBox="1">
            <a:spLocks noChangeArrowheads="1"/>
          </p:cNvSpPr>
          <p:nvPr/>
        </p:nvSpPr>
        <p:spPr bwMode="auto">
          <a:xfrm>
            <a:off x="4569189" y="62801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dirty="0">
                <a:latin typeface="Times New Roman" panose="02020603050405020304" pitchFamily="18" charset="0"/>
              </a:rPr>
              <a:t>存储</a:t>
            </a:r>
          </a:p>
          <a:p>
            <a:pPr>
              <a:lnSpc>
                <a:spcPct val="90000"/>
              </a:lnSpc>
            </a:pPr>
            <a:r>
              <a:rPr kumimoji="1" lang="zh-CN" altLang="en-US" sz="1600" b="1" dirty="0">
                <a:latin typeface="Times New Roman" panose="02020603050405020304" pitchFamily="18" charset="0"/>
              </a:rPr>
              <a:t>转发</a:t>
            </a:r>
          </a:p>
        </p:txBody>
      </p:sp>
      <p:sp>
        <p:nvSpPr>
          <p:cNvPr id="154802" name="Text Box 178"/>
          <p:cNvSpPr txBox="1">
            <a:spLocks noChangeArrowheads="1"/>
          </p:cNvSpPr>
          <p:nvPr/>
        </p:nvSpPr>
        <p:spPr bwMode="auto">
          <a:xfrm>
            <a:off x="5200352" y="62801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anose="02020603050405020304" pitchFamily="18" charset="0"/>
              </a:rPr>
              <a:t>存储</a:t>
            </a:r>
          </a:p>
          <a:p>
            <a:pPr>
              <a:lnSpc>
                <a:spcPct val="90000"/>
              </a:lnSpc>
            </a:pPr>
            <a:r>
              <a:rPr kumimoji="1" lang="zh-CN" altLang="en-US" sz="1600" b="1">
                <a:latin typeface="Times New Roman" panose="02020603050405020304" pitchFamily="18" charset="0"/>
              </a:rPr>
              <a:t>转发</a:t>
            </a:r>
          </a:p>
        </p:txBody>
      </p:sp>
      <p:sp>
        <p:nvSpPr>
          <p:cNvPr id="154803" name="Text Box 179"/>
          <p:cNvSpPr txBox="1">
            <a:spLocks noChangeArrowheads="1"/>
          </p:cNvSpPr>
          <p:nvPr/>
        </p:nvSpPr>
        <p:spPr bwMode="auto">
          <a:xfrm>
            <a:off x="7642456" y="62674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anose="02020603050405020304" pitchFamily="18" charset="0"/>
              </a:rPr>
              <a:t>存储</a:t>
            </a:r>
          </a:p>
          <a:p>
            <a:pPr>
              <a:lnSpc>
                <a:spcPct val="90000"/>
              </a:lnSpc>
            </a:pPr>
            <a:r>
              <a:rPr kumimoji="1" lang="zh-CN" altLang="en-US" sz="1600" b="1">
                <a:latin typeface="Times New Roman" panose="02020603050405020304" pitchFamily="18" charset="0"/>
              </a:rPr>
              <a:t>转发</a:t>
            </a:r>
          </a:p>
        </p:txBody>
      </p:sp>
      <p:sp>
        <p:nvSpPr>
          <p:cNvPr id="154804" name="Text Box 180"/>
          <p:cNvSpPr txBox="1">
            <a:spLocks noChangeArrowheads="1"/>
          </p:cNvSpPr>
          <p:nvPr/>
        </p:nvSpPr>
        <p:spPr bwMode="auto">
          <a:xfrm>
            <a:off x="8254702" y="6280150"/>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anose="02020603050405020304" pitchFamily="18" charset="0"/>
              </a:rPr>
              <a:t>存储</a:t>
            </a:r>
          </a:p>
          <a:p>
            <a:pPr>
              <a:lnSpc>
                <a:spcPct val="90000"/>
              </a:lnSpc>
            </a:pPr>
            <a:r>
              <a:rPr kumimoji="1" lang="zh-CN" altLang="en-US" sz="1600" b="1">
                <a:latin typeface="Times New Roman" panose="02020603050405020304" pitchFamily="18" charset="0"/>
              </a:rPr>
              <a:t>转发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p:stCondLst>
                              <p:cond delay="3000"/>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p:stCondLst>
                              <p:cond delay="0"/>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p:stCondLst>
                              <p:cond delay="0"/>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p:stCondLst>
                              <p:cond delay="1000"/>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p:stCondLst>
                              <p:cond delay="1500"/>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p:stCondLst>
                              <p:cond delay="2000"/>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03" grpId="0" animBg="1"/>
      <p:bldP spid="154704" grpId="0" animBg="1"/>
      <p:bldP spid="154705" grpId="0" animBg="1"/>
      <p:bldP spid="154706" grpId="0" animBg="1"/>
      <p:bldP spid="154711" grpId="0"/>
      <p:bldP spid="154713" grpId="0"/>
      <p:bldP spid="154740" grpId="0" animBg="1"/>
      <p:bldP spid="154741" grpId="0" animBg="1"/>
      <p:bldP spid="15474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三种交换的比较</a:t>
            </a:r>
          </a:p>
        </p:txBody>
      </p:sp>
      <p:sp>
        <p:nvSpPr>
          <p:cNvPr id="3" name="内容占位符 2"/>
          <p:cNvSpPr>
            <a:spLocks noGrp="1"/>
          </p:cNvSpPr>
          <p:nvPr>
            <p:ph idx="1"/>
          </p:nvPr>
        </p:nvSpPr>
        <p:spPr/>
        <p:txBody>
          <a:bodyPr/>
          <a:lstStyle/>
          <a:p>
            <a:r>
              <a:rPr lang="zh-CN" altLang="zh-CN" dirty="0"/>
              <a:t>若要连续传送大量的数据，且其传送时间远大于连接建立时间，则电路交换的传输速率较快。</a:t>
            </a:r>
            <a:endParaRPr lang="en-US" altLang="zh-CN" dirty="0"/>
          </a:p>
          <a:p>
            <a:r>
              <a:rPr lang="zh-CN" altLang="zh-CN" dirty="0"/>
              <a:t>报文交换和分组交换</a:t>
            </a:r>
            <a:r>
              <a:rPr lang="zh-CN" altLang="zh-CN" dirty="0">
                <a:solidFill>
                  <a:srgbClr val="C00000"/>
                </a:solidFill>
              </a:rPr>
              <a:t>不需要预先分配传输带宽，在传送突发数据时可提高整个网络的信道利用率</a:t>
            </a:r>
            <a:r>
              <a:rPr lang="zh-CN" altLang="zh-CN" dirty="0"/>
              <a:t>。</a:t>
            </a:r>
            <a:endParaRPr lang="en-US" altLang="zh-CN" dirty="0"/>
          </a:p>
          <a:p>
            <a:r>
              <a:rPr lang="zh-CN" altLang="zh-CN" dirty="0"/>
              <a:t>由于一个分组的长度往往远小于整个报文的长度，因此</a:t>
            </a:r>
            <a:r>
              <a:rPr lang="zh-CN" altLang="zh-CN" dirty="0">
                <a:solidFill>
                  <a:srgbClr val="C00000"/>
                </a:solidFill>
              </a:rPr>
              <a:t>分组交换比报文交换的时延小，同时也具有更好的灵活性</a:t>
            </a:r>
            <a:r>
              <a:rPr lang="zh-CN" altLang="en-US" dirty="0"/>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1.4  </a:t>
            </a:r>
            <a:r>
              <a:rPr lang="zh-CN" altLang="zh-CN" dirty="0">
                <a:sym typeface="+mn-ea"/>
              </a:rPr>
              <a:t>计算机网络在我国的发展</a:t>
            </a:r>
            <a:endParaRPr lang="zh-CN" altLang="en-US"/>
          </a:p>
        </p:txBody>
      </p:sp>
      <p:sp>
        <p:nvSpPr>
          <p:cNvPr id="3" name="内容占位符 2"/>
          <p:cNvSpPr>
            <a:spLocks noGrp="1"/>
          </p:cNvSpPr>
          <p:nvPr>
            <p:ph idx="1"/>
          </p:nvPr>
        </p:nvSpPr>
        <p:spPr>
          <a:xfrm>
            <a:off x="495300" y="1196975"/>
            <a:ext cx="9065895" cy="5590540"/>
          </a:xfrm>
        </p:spPr>
        <p:txBody>
          <a:bodyPr/>
          <a:lstStyle/>
          <a:p>
            <a:pPr algn="just"/>
            <a:r>
              <a:rPr lang="zh-CN" altLang="en-US" sz="2800"/>
              <a:t>1、1986年8月25日，瑞士日内瓦时间4点11分，北京时间11点11分，由当时任高能物理所ALEPH组组长的吴为民，从北京发给ALEPH的领导——位于瑞士日内瓦西欧核子中心的诺贝尔奖获得者斯坦伯格（Jack Steinberger）的电子邮件（E-mail）是</a:t>
            </a:r>
            <a:r>
              <a:rPr lang="zh-CN" altLang="en-US" sz="2800">
                <a:solidFill>
                  <a:srgbClr val="C00000"/>
                </a:solidFill>
              </a:rPr>
              <a:t>中国第一封国际电子邮件</a:t>
            </a:r>
            <a:r>
              <a:rPr lang="zh-CN" altLang="en-US" sz="2800"/>
              <a:t>。</a:t>
            </a:r>
          </a:p>
          <a:p>
            <a:pPr algn="just"/>
            <a:endParaRPr lang="zh-CN" altLang="en-US" sz="2800"/>
          </a:p>
          <a:p>
            <a:pPr algn="just"/>
            <a:r>
              <a:rPr sz="2800">
                <a:sym typeface="+mn-ea"/>
              </a:rPr>
              <a:t>2、1989年8月，中国科学院承担了国家计委立项的“</a:t>
            </a:r>
            <a:r>
              <a:rPr sz="2800">
                <a:solidFill>
                  <a:srgbClr val="C00000"/>
                </a:solidFill>
                <a:sym typeface="+mn-ea"/>
              </a:rPr>
              <a:t>中关村教育与科研示范网络</a:t>
            </a:r>
            <a:r>
              <a:rPr sz="2800">
                <a:sym typeface="+mn-ea"/>
              </a:rPr>
              <a:t>”（NCFC）——中国科技网（CSTNET）前身的建设</a:t>
            </a:r>
            <a:r>
              <a:rPr lang="zh-CN" sz="2800">
                <a:sym typeface="+mn-ea"/>
              </a:rPr>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1.4  </a:t>
            </a:r>
            <a:r>
              <a:rPr lang="zh-CN" altLang="zh-CN" dirty="0">
                <a:sym typeface="+mn-ea"/>
              </a:rPr>
              <a:t>计算机网络在我国的发展</a:t>
            </a:r>
            <a:endParaRPr lang="zh-CN" altLang="en-US"/>
          </a:p>
        </p:txBody>
      </p:sp>
      <p:sp>
        <p:nvSpPr>
          <p:cNvPr id="3" name="内容占位符 2"/>
          <p:cNvSpPr>
            <a:spLocks noGrp="1"/>
          </p:cNvSpPr>
          <p:nvPr>
            <p:ph idx="1"/>
          </p:nvPr>
        </p:nvSpPr>
        <p:spPr>
          <a:xfrm>
            <a:off x="495300" y="1196975"/>
            <a:ext cx="9065895" cy="5660390"/>
          </a:xfrm>
        </p:spPr>
        <p:txBody>
          <a:bodyPr/>
          <a:lstStyle/>
          <a:p>
            <a:pPr algn="just"/>
            <a:r>
              <a:rPr lang="zh-CN" altLang="en-US" sz="2800"/>
              <a:t>3、1989年， 中国开始建设互联网 --- 5年目标 --- </a:t>
            </a:r>
            <a:r>
              <a:rPr lang="zh-CN" altLang="en-US" sz="2800">
                <a:solidFill>
                  <a:srgbClr val="C00000"/>
                </a:solidFill>
              </a:rPr>
              <a:t>国家级四大骨干网络联网。</a:t>
            </a:r>
            <a:endParaRPr lang="zh-CN" altLang="en-US" sz="2800"/>
          </a:p>
          <a:p>
            <a:pPr algn="just"/>
            <a:r>
              <a:rPr sz="2800">
                <a:sym typeface="+mn-ea"/>
              </a:rPr>
              <a:t>4、1991年， 在中美高能物理年会上，美方提出把中国纳入互联网络的合作计划</a:t>
            </a:r>
            <a:r>
              <a:rPr lang="zh-CN" sz="2800">
                <a:sym typeface="+mn-ea"/>
              </a:rPr>
              <a:t>。</a:t>
            </a:r>
            <a:endParaRPr sz="2800">
              <a:sym typeface="+mn-ea"/>
            </a:endParaRPr>
          </a:p>
          <a:p>
            <a:pPr algn="just"/>
            <a:r>
              <a:rPr sz="2800">
                <a:sym typeface="+mn-ea"/>
              </a:rPr>
              <a:t>5、1994年4月，NCFC率先与美国NSFNET直接互联，实现了中国与Internet全功能网络连接，</a:t>
            </a:r>
            <a:r>
              <a:rPr sz="2800">
                <a:solidFill>
                  <a:srgbClr val="C00000"/>
                </a:solidFill>
                <a:sym typeface="+mn-ea"/>
              </a:rPr>
              <a:t>标志着我国最早的国际互联网络的诞生。</a:t>
            </a:r>
            <a:r>
              <a:rPr sz="2800">
                <a:sym typeface="+mn-ea"/>
              </a:rPr>
              <a:t>中国科技网成为中国最早的国际互联网络</a:t>
            </a:r>
            <a:r>
              <a:rPr lang="zh-CN" sz="2800">
                <a:sym typeface="+mn-ea"/>
              </a:rPr>
              <a:t>。</a:t>
            </a:r>
            <a:endParaRPr sz="2800">
              <a:sym typeface="+mn-ea"/>
            </a:endParaRPr>
          </a:p>
          <a:p>
            <a:pPr algn="just"/>
            <a:r>
              <a:rPr sz="2800">
                <a:sym typeface="+mn-ea"/>
              </a:rPr>
              <a:t>6、1994年， </a:t>
            </a:r>
            <a:r>
              <a:rPr sz="2800">
                <a:solidFill>
                  <a:srgbClr val="C00000"/>
                </a:solidFill>
                <a:sym typeface="+mn-ea"/>
              </a:rPr>
              <a:t>中国第一个全国性 TCP/IP 互联网---CERNET示范网</a:t>
            </a:r>
            <a:r>
              <a:rPr sz="2800">
                <a:sym typeface="+mn-ea"/>
              </a:rPr>
              <a:t>工程建成,并于同年先后建成</a:t>
            </a:r>
            <a:r>
              <a:rPr lang="zh-CN" sz="2800">
                <a:sym typeface="+mn-ea"/>
              </a:rPr>
              <a:t>。</a:t>
            </a:r>
          </a:p>
        </p:txBody>
      </p:sp>
      <p:sp>
        <p:nvSpPr>
          <p:cNvPr id="5" name="线形标注 1 4"/>
          <p:cNvSpPr/>
          <p:nvPr/>
        </p:nvSpPr>
        <p:spPr>
          <a:xfrm>
            <a:off x="5755640" y="188595"/>
            <a:ext cx="3805555" cy="1588770"/>
          </a:xfrm>
          <a:prstGeom prst="borderCallout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Arial" panose="020B0604020202020204" pitchFamily="34" charset="0"/>
              </a:rPr>
              <a:t>中国科技网</a:t>
            </a:r>
            <a:endParaRPr kumimoji="0" lang="en-US" altLang="zh-CN" sz="2400" b="0" i="0" u="none" strike="noStrike" cap="none" normalizeH="0" baseline="0">
              <a:ln>
                <a:noFill/>
              </a:ln>
              <a:solidFill>
                <a:schemeClr val="tx1"/>
              </a:solidFill>
              <a:effectLst/>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Arial" panose="020B0604020202020204" pitchFamily="34" charset="0"/>
              </a:rPr>
              <a:t>中国公用计算机互联网</a:t>
            </a:r>
          </a:p>
          <a:p>
            <a:pPr marL="0" marR="0" indent="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Arial" panose="020B0604020202020204" pitchFamily="34" charset="0"/>
              </a:rPr>
              <a:t>中国教育和科研计算机网</a:t>
            </a:r>
          </a:p>
          <a:p>
            <a:pPr marL="0" marR="0" indent="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Arial" panose="020B0604020202020204" pitchFamily="34" charset="0"/>
              </a:rPr>
              <a:t>中国金桥信息网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1.4  </a:t>
            </a:r>
            <a:r>
              <a:rPr lang="zh-CN" altLang="zh-CN" dirty="0">
                <a:sym typeface="+mn-ea"/>
              </a:rPr>
              <a:t>计算机网络在我国的发展</a:t>
            </a:r>
            <a:endParaRPr lang="zh-CN" altLang="en-US"/>
          </a:p>
        </p:txBody>
      </p:sp>
      <p:sp>
        <p:nvSpPr>
          <p:cNvPr id="3" name="内容占位符 2"/>
          <p:cNvSpPr>
            <a:spLocks noGrp="1"/>
          </p:cNvSpPr>
          <p:nvPr>
            <p:ph idx="1"/>
          </p:nvPr>
        </p:nvSpPr>
        <p:spPr>
          <a:xfrm>
            <a:off x="495300" y="1196975"/>
            <a:ext cx="9065895" cy="5660390"/>
          </a:xfrm>
        </p:spPr>
        <p:txBody>
          <a:bodyPr/>
          <a:lstStyle/>
          <a:p>
            <a:pPr algn="just"/>
            <a:r>
              <a:rPr lang="en-US" altLang="zh-CN" sz="2800"/>
              <a:t>7</a:t>
            </a:r>
            <a:r>
              <a:rPr lang="zh-CN" altLang="en-US" sz="2800"/>
              <a:t>、1994年， 中国终于获准加入互联网并在同年5月完成全部中国联网工作。</a:t>
            </a:r>
          </a:p>
          <a:p>
            <a:pPr algn="just"/>
            <a:r>
              <a:rPr lang="en-US" altLang="zh-CN" sz="2800">
                <a:sym typeface="+mn-ea"/>
              </a:rPr>
              <a:t>8</a:t>
            </a:r>
            <a:r>
              <a:rPr lang="zh-CN" altLang="en-US" sz="2800">
                <a:sym typeface="+mn-ea"/>
              </a:rPr>
              <a:t>、</a:t>
            </a:r>
            <a:r>
              <a:rPr lang="en-US" altLang="zh-CN" sz="2800" dirty="0">
                <a:sym typeface="+mn-ea"/>
              </a:rPr>
              <a:t>1994 </a:t>
            </a:r>
            <a:r>
              <a:rPr lang="zh-CN" altLang="en-US" sz="2800" dirty="0">
                <a:sym typeface="+mn-ea"/>
              </a:rPr>
              <a:t>年 </a:t>
            </a:r>
            <a:r>
              <a:rPr lang="en-US" altLang="zh-CN" sz="2800" dirty="0">
                <a:sym typeface="+mn-ea"/>
              </a:rPr>
              <a:t>9 </a:t>
            </a:r>
            <a:r>
              <a:rPr lang="zh-CN" altLang="zh-CN" sz="2800" dirty="0">
                <a:sym typeface="+mn-ea"/>
              </a:rPr>
              <a:t>月中国公用计算机互联网</a:t>
            </a:r>
            <a:r>
              <a:rPr lang="en-US" altLang="zh-CN" sz="2800" dirty="0">
                <a:sym typeface="+mn-ea"/>
              </a:rPr>
              <a:t>  CHINANET </a:t>
            </a:r>
            <a:r>
              <a:rPr lang="zh-CN" altLang="zh-CN" sz="2800" dirty="0">
                <a:sym typeface="+mn-ea"/>
              </a:rPr>
              <a:t>正式启动</a:t>
            </a:r>
            <a:r>
              <a:rPr lang="zh-CN" altLang="en-US" sz="2800" dirty="0">
                <a:sym typeface="+mn-ea"/>
              </a:rPr>
              <a:t>。</a:t>
            </a:r>
            <a:endParaRPr lang="zh-CN" altLang="en-US" sz="2800"/>
          </a:p>
          <a:p>
            <a:pPr algn="just"/>
            <a:r>
              <a:rPr lang="en-US" altLang="zh-CN" sz="2800">
                <a:sym typeface="+mn-ea"/>
              </a:rPr>
              <a:t>9</a:t>
            </a:r>
            <a:r>
              <a:rPr lang="zh-CN" altLang="en-US" sz="2800">
                <a:sym typeface="+mn-ea"/>
              </a:rPr>
              <a:t>、</a:t>
            </a:r>
            <a:r>
              <a:rPr lang="zh-CN" altLang="en-US" sz="2800"/>
              <a:t>1998 年，CERNET 研究者在中国</a:t>
            </a:r>
            <a:r>
              <a:rPr lang="zh-CN" altLang="en-US" sz="2800">
                <a:solidFill>
                  <a:srgbClr val="C00000"/>
                </a:solidFill>
              </a:rPr>
              <a:t>首次搭建IPV6 试验床。</a:t>
            </a:r>
          </a:p>
          <a:p>
            <a:pPr algn="just"/>
            <a:r>
              <a:rPr lang="en-US" altLang="zh-CN" sz="2800">
                <a:sym typeface="+mn-ea"/>
              </a:rPr>
              <a:t>10</a:t>
            </a:r>
            <a:r>
              <a:rPr lang="zh-CN" altLang="en-US" sz="2800">
                <a:sym typeface="+mn-ea"/>
              </a:rPr>
              <a:t>、</a:t>
            </a:r>
            <a:r>
              <a:rPr lang="zh-CN" altLang="en-US" sz="2800">
                <a:solidFill>
                  <a:schemeClr val="tx1"/>
                </a:solidFill>
              </a:rPr>
              <a:t>2001 年，下一代互联网地区试验网在北京建成验收。</a:t>
            </a:r>
          </a:p>
          <a:p>
            <a:pPr algn="just"/>
            <a:r>
              <a:rPr lang="en-US" altLang="zh-CN" sz="2800">
                <a:sym typeface="+mn-ea"/>
              </a:rPr>
              <a:t>11</a:t>
            </a:r>
            <a:r>
              <a:rPr lang="zh-CN" altLang="en-US" sz="2800">
                <a:sym typeface="+mn-ea"/>
              </a:rPr>
              <a:t>、</a:t>
            </a:r>
            <a:r>
              <a:rPr lang="zh-CN" altLang="en-US" sz="2800">
                <a:solidFill>
                  <a:schemeClr val="tx1"/>
                </a:solidFill>
              </a:rPr>
              <a:t>2018 年 6月中国互联网主要骨干网络国际出口</a:t>
            </a:r>
            <a:r>
              <a:rPr lang="zh-CN" altLang="en-US" sz="2800">
                <a:solidFill>
                  <a:srgbClr val="C00000"/>
                </a:solidFill>
              </a:rPr>
              <a:t>带宽为8.826Tbps    相当于1994年的1.38亿倍</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a:t>
            </a:r>
            <a:r>
              <a:rPr lang="zh-CN" altLang="zh-CN" dirty="0"/>
              <a:t>计算机网络在我国的发展</a:t>
            </a:r>
            <a:endParaRPr lang="zh-CN" altLang="en-US" dirty="0"/>
          </a:p>
        </p:txBody>
      </p:sp>
      <p:sp>
        <p:nvSpPr>
          <p:cNvPr id="3" name="内容占位符 2"/>
          <p:cNvSpPr>
            <a:spLocks noGrp="1"/>
          </p:cNvSpPr>
          <p:nvPr>
            <p:ph idx="1"/>
          </p:nvPr>
        </p:nvSpPr>
        <p:spPr/>
        <p:txBody>
          <a:bodyPr/>
          <a:lstStyle/>
          <a:p>
            <a:r>
              <a:rPr lang="zh-CN" altLang="zh-CN" sz="2800" dirty="0"/>
              <a:t>到目前为止，我国陆续建造了基于互联网技术的并能够和互联网互连的多个全国范围的公用计算机网络，其中规模最大的就是下面这五个：</a:t>
            </a:r>
          </a:p>
          <a:p>
            <a:pPr lvl="1"/>
            <a:r>
              <a:rPr lang="en-US" altLang="zh-CN" sz="2400" dirty="0"/>
              <a:t>(1) </a:t>
            </a:r>
            <a:r>
              <a:rPr lang="zh-CN" altLang="zh-CN" sz="2400" dirty="0"/>
              <a:t>中国电信互联网</a:t>
            </a:r>
            <a:r>
              <a:rPr lang="en-US" altLang="zh-CN" sz="2400" dirty="0"/>
              <a:t> CHINANET</a:t>
            </a:r>
            <a:r>
              <a:rPr lang="zh-CN" altLang="zh-CN" sz="2400" dirty="0"/>
              <a:t>（也就是原来的中国公用计算机互联网）  </a:t>
            </a:r>
            <a:r>
              <a:rPr lang="zh-CN" altLang="zh-CN" sz="2400" dirty="0">
                <a:solidFill>
                  <a:srgbClr val="C00000"/>
                </a:solidFill>
              </a:rPr>
              <a:t>   4.422Tbps</a:t>
            </a:r>
            <a:endParaRPr lang="zh-CN" altLang="zh-CN" sz="2400" dirty="0"/>
          </a:p>
          <a:p>
            <a:pPr lvl="1"/>
            <a:r>
              <a:rPr lang="en-US" altLang="zh-CN" sz="2400" dirty="0"/>
              <a:t>(2) </a:t>
            </a:r>
            <a:r>
              <a:rPr lang="zh-CN" altLang="zh-CN" sz="2400" dirty="0"/>
              <a:t>中国联通互联网</a:t>
            </a:r>
            <a:r>
              <a:rPr lang="en-US" altLang="zh-CN" sz="2400" dirty="0"/>
              <a:t> UNINET       </a:t>
            </a:r>
            <a:r>
              <a:rPr lang="en-US" altLang="zh-CN" sz="2400" dirty="0">
                <a:solidFill>
                  <a:srgbClr val="C00000"/>
                </a:solidFill>
              </a:rPr>
              <a:t>2.27Tbps</a:t>
            </a:r>
            <a:endParaRPr lang="en-US" altLang="zh-CN" sz="2400" dirty="0"/>
          </a:p>
          <a:p>
            <a:pPr lvl="1"/>
            <a:r>
              <a:rPr lang="en-US" altLang="zh-CN" sz="2400" dirty="0"/>
              <a:t>(3) </a:t>
            </a:r>
            <a:r>
              <a:rPr lang="zh-CN" altLang="zh-CN" sz="2400" dirty="0"/>
              <a:t>中国移动互联网</a:t>
            </a:r>
            <a:r>
              <a:rPr lang="en-US" altLang="zh-CN" sz="2400" dirty="0"/>
              <a:t> CMNET      </a:t>
            </a:r>
            <a:r>
              <a:rPr lang="en-US" altLang="zh-CN" sz="2400" dirty="0">
                <a:solidFill>
                  <a:srgbClr val="C00000"/>
                </a:solidFill>
              </a:rPr>
              <a:t> </a:t>
            </a:r>
            <a:r>
              <a:rPr lang="zh-CN" altLang="zh-CN" sz="2400" dirty="0">
                <a:solidFill>
                  <a:srgbClr val="C00000"/>
                </a:solidFill>
              </a:rPr>
              <a:t>2.007Tbps</a:t>
            </a:r>
            <a:endParaRPr lang="zh-CN" altLang="zh-CN" sz="2400" dirty="0"/>
          </a:p>
          <a:p>
            <a:pPr lvl="1"/>
            <a:r>
              <a:rPr lang="en-US" altLang="zh-CN" sz="2400" dirty="0"/>
              <a:t>(4) </a:t>
            </a:r>
            <a:r>
              <a:rPr lang="zh-CN" altLang="zh-CN" sz="2400" dirty="0"/>
              <a:t>中国教育和科研计算机网</a:t>
            </a:r>
            <a:r>
              <a:rPr lang="en-US" altLang="zh-CN" sz="2400" dirty="0"/>
              <a:t> CERNET</a:t>
            </a:r>
            <a:endParaRPr lang="zh-CN" altLang="zh-CN" sz="2400" dirty="0"/>
          </a:p>
          <a:p>
            <a:pPr lvl="1"/>
            <a:r>
              <a:rPr lang="en-US" altLang="zh-CN" sz="2400" dirty="0"/>
              <a:t>(5) </a:t>
            </a:r>
            <a:r>
              <a:rPr lang="zh-CN" altLang="zh-CN" sz="2400" dirty="0"/>
              <a:t>中国科学技术网</a:t>
            </a:r>
            <a:r>
              <a:rPr lang="en-US" altLang="zh-CN" sz="2400" dirty="0"/>
              <a:t> CSTNET</a:t>
            </a:r>
            <a:endParaRPr lang="zh-CN" altLang="zh-CN" sz="2400" dirty="0"/>
          </a:p>
          <a:p>
            <a:endParaRPr lang="en-US" altLang="zh-CN" sz="2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中国电信互联网</a:t>
            </a:r>
          </a:p>
        </p:txBody>
      </p:sp>
      <p:sp>
        <p:nvSpPr>
          <p:cNvPr id="3" name="内容占位符 2"/>
          <p:cNvSpPr>
            <a:spLocks noGrp="1"/>
          </p:cNvSpPr>
          <p:nvPr>
            <p:ph idx="1"/>
          </p:nvPr>
        </p:nvSpPr>
        <p:spPr>
          <a:xfrm>
            <a:off x="495300" y="1196975"/>
            <a:ext cx="9065895" cy="5661660"/>
          </a:xfrm>
        </p:spPr>
        <p:txBody>
          <a:bodyPr/>
          <a:lstStyle/>
          <a:p>
            <a:r>
              <a:rPr lang="zh-CN" altLang="en-US" sz="2800"/>
              <a:t>ChinaNet 是中国最大的</a:t>
            </a:r>
            <a:r>
              <a:rPr lang="en-US" altLang="zh-CN" sz="2800"/>
              <a:t>ISP</a:t>
            </a:r>
            <a:r>
              <a:rPr lang="zh-CN" altLang="en-US" sz="2800"/>
              <a:t>。ChinaNet 是 Internet 在中国的一部分，它采用 TCP/IP 协议结构。</a:t>
            </a:r>
          </a:p>
          <a:p>
            <a:r>
              <a:rPr lang="zh-CN" altLang="en-US" sz="2800"/>
              <a:t>ChinaNet 网的拓扑结构分为核心层和大区层。</a:t>
            </a:r>
            <a:r>
              <a:rPr lang="zh-CN" altLang="en-US" sz="2800">
                <a:solidFill>
                  <a:srgbClr val="C00000"/>
                </a:solidFill>
              </a:rPr>
              <a:t>核心层由北京、上海、广州、沈阳、南京、武汉、成都和西安8个城市的核心节点组成</a:t>
            </a:r>
            <a:r>
              <a:rPr lang="zh-CN" altLang="en-US" sz="2800"/>
              <a:t>，提供与国际Internet互联,以及大区之间的信息交换通路。</a:t>
            </a:r>
          </a:p>
          <a:p>
            <a:r>
              <a:rPr lang="zh-CN" altLang="en-US" sz="2800"/>
              <a:t>ChinaNet 以中国电信为基础，凡是电信网通达的城市均可通过 ChinaNet 接入，享用 Internet 服务。 </a:t>
            </a:r>
            <a:r>
              <a:rPr lang="zh-CN" altLang="en-US" sz="2800">
                <a:solidFill>
                  <a:schemeClr val="tx1"/>
                </a:solidFill>
              </a:rPr>
              <a:t>ChinaNet 的服务包括：</a:t>
            </a:r>
            <a:r>
              <a:rPr lang="zh-CN" altLang="en-US" sz="2800">
                <a:solidFill>
                  <a:srgbClr val="C00000"/>
                </a:solidFill>
              </a:rPr>
              <a:t> Internet 接入服务，代为用户申请 IP 地址和域名，出租路由器和配套传输设备，提供域名备份服务，技术服务和应用培训。</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a:t>
            </a:r>
            <a:r>
              <a:rPr lang="zh-CN" altLang="zh-CN" dirty="0"/>
              <a:t>计算机网络在我国的发展</a:t>
            </a:r>
            <a:endParaRPr lang="zh-CN" altLang="en-US" dirty="0"/>
          </a:p>
        </p:txBody>
      </p:sp>
      <p:sp>
        <p:nvSpPr>
          <p:cNvPr id="3" name="内容占位符 2"/>
          <p:cNvSpPr>
            <a:spLocks noGrp="1"/>
          </p:cNvSpPr>
          <p:nvPr>
            <p:ph idx="1"/>
          </p:nvPr>
        </p:nvSpPr>
        <p:spPr/>
        <p:txBody>
          <a:bodyPr/>
          <a:lstStyle/>
          <a:p>
            <a:r>
              <a:rPr lang="zh-CN" altLang="en-US" sz="2800" dirty="0"/>
              <a:t>中国教育和科研计算机网 </a:t>
            </a:r>
            <a:r>
              <a:rPr lang="en-US" altLang="zh-CN" sz="2800" dirty="0"/>
              <a:t>CERNET (China Education and Research </a:t>
            </a:r>
            <a:r>
              <a:rPr lang="en-US" altLang="zh-CN" sz="2800" dirty="0" err="1"/>
              <a:t>NETwork</a:t>
            </a:r>
            <a:r>
              <a:rPr lang="en-US" altLang="zh-CN" sz="2800" dirty="0"/>
              <a:t>) </a:t>
            </a:r>
            <a:r>
              <a:rPr lang="zh-CN" altLang="en-US" sz="2800" dirty="0"/>
              <a:t>始建于 </a:t>
            </a:r>
            <a:r>
              <a:rPr lang="en-US" altLang="zh-CN" sz="2800" dirty="0"/>
              <a:t>1994 </a:t>
            </a:r>
            <a:r>
              <a:rPr lang="zh-CN" altLang="en-US" sz="2800" dirty="0"/>
              <a:t>年，是我国第一个 </a:t>
            </a:r>
            <a:r>
              <a:rPr lang="en-US" altLang="zh-CN" sz="2800" dirty="0"/>
              <a:t>IPv4 </a:t>
            </a:r>
            <a:r>
              <a:rPr lang="zh-CN" altLang="en-US" sz="2800" dirty="0"/>
              <a:t>互联网主干网。</a:t>
            </a:r>
          </a:p>
          <a:p>
            <a:r>
              <a:rPr lang="en-US" altLang="zh-CN" sz="2800" dirty="0"/>
              <a:t>2004 </a:t>
            </a:r>
            <a:r>
              <a:rPr lang="zh-CN" altLang="zh-CN" sz="2800" dirty="0"/>
              <a:t>年</a:t>
            </a:r>
            <a:r>
              <a:rPr lang="en-US" altLang="zh-CN" sz="2800" dirty="0"/>
              <a:t> 2 </a:t>
            </a:r>
            <a:r>
              <a:rPr lang="zh-CN" altLang="zh-CN" sz="2800" dirty="0"/>
              <a:t>月，我国的第一个下一代互联网</a:t>
            </a:r>
            <a:r>
              <a:rPr lang="en-US" altLang="zh-CN" sz="2800" dirty="0"/>
              <a:t> CNGI </a:t>
            </a:r>
            <a:r>
              <a:rPr lang="zh-CN" altLang="zh-CN" sz="2800" dirty="0"/>
              <a:t>的主干网</a:t>
            </a:r>
            <a:r>
              <a:rPr lang="en-US" altLang="zh-CN" sz="2800" dirty="0"/>
              <a:t> CERNET2 </a:t>
            </a:r>
            <a:r>
              <a:rPr lang="zh-CN" altLang="zh-CN" sz="2800" dirty="0"/>
              <a:t>试验网正式开通，并提供服务。</a:t>
            </a:r>
            <a:endParaRPr lang="en-US" altLang="zh-CN" sz="2800" dirty="0"/>
          </a:p>
          <a:p>
            <a:endParaRPr lang="en-US" altLang="zh-CN" sz="2800" dirty="0"/>
          </a:p>
          <a:p>
            <a:r>
              <a:rPr lang="zh-CN" altLang="en-US" sz="2800" dirty="0"/>
              <a:t>中国互联网络信息中心 </a:t>
            </a:r>
            <a:r>
              <a:rPr lang="en-US" altLang="zh-CN" sz="2800" dirty="0"/>
              <a:t>CNNIC (</a:t>
            </a:r>
            <a:r>
              <a:rPr lang="en-US" altLang="zh-CN" sz="2800" dirty="0" err="1"/>
              <a:t>China</a:t>
            </a:r>
            <a:r>
              <a:rPr lang="en-US" altLang="zh-CN" sz="2800" dirty="0"/>
              <a:t> Network Information Center) </a:t>
            </a:r>
            <a:r>
              <a:rPr lang="zh-CN" altLang="en-US" sz="2800" dirty="0"/>
              <a:t>每年两次公布我国互联网的发展情况。</a:t>
            </a:r>
          </a:p>
        </p:txBody>
      </p:sp>
      <p:pic>
        <p:nvPicPr>
          <p:cNvPr id="4" name="图片 3"/>
          <p:cNvPicPr>
            <a:picLocks noChangeAspect="1"/>
          </p:cNvPicPr>
          <p:nvPr/>
        </p:nvPicPr>
        <p:blipFill>
          <a:blip r:embed="rId2"/>
          <a:stretch>
            <a:fillRect/>
          </a:stretch>
        </p:blipFill>
        <p:spPr>
          <a:xfrm>
            <a:off x="1077595" y="408940"/>
            <a:ext cx="8206105" cy="6039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5300" y="1196975"/>
            <a:ext cx="9065895" cy="5581015"/>
          </a:xfrm>
        </p:spPr>
        <p:txBody>
          <a:bodyPr/>
          <a:lstStyle/>
          <a:p>
            <a:r>
              <a:rPr lang="en-US" altLang="zh-CN" sz="2800"/>
              <a:t>1996</a:t>
            </a:r>
            <a:r>
              <a:rPr lang="zh-CN" altLang="en-US" sz="2800"/>
              <a:t>年，张朝阳创立了中国第一家互联网公司</a:t>
            </a:r>
            <a:r>
              <a:rPr lang="en-US" altLang="zh-CN" sz="2800"/>
              <a:t>---</a:t>
            </a:r>
            <a:r>
              <a:rPr lang="zh-CN" altLang="en-US" sz="2800"/>
              <a:t>爱特信公司，两年后推出</a:t>
            </a:r>
            <a:r>
              <a:rPr lang="en-US" altLang="zh-CN" sz="2800"/>
              <a:t>“</a:t>
            </a:r>
            <a:r>
              <a:rPr lang="zh-CN" altLang="en-US" sz="2800"/>
              <a:t>搜狐</a:t>
            </a:r>
            <a:r>
              <a:rPr lang="en-US" altLang="zh-CN" sz="2800"/>
              <a:t>”</a:t>
            </a:r>
            <a:r>
              <a:rPr lang="zh-CN" altLang="en-US" sz="2800"/>
              <a:t>产品，并更名为搜狐公司。</a:t>
            </a:r>
          </a:p>
          <a:p>
            <a:r>
              <a:rPr lang="en-US" altLang="zh-CN" sz="2800"/>
              <a:t>1997</a:t>
            </a:r>
            <a:r>
              <a:rPr lang="zh-CN" altLang="en-US" sz="2800"/>
              <a:t>年，丁磊创立了网易公司，推出了中国第一家中文搜索引擎。</a:t>
            </a:r>
          </a:p>
          <a:p>
            <a:r>
              <a:rPr lang="en-US" altLang="zh-CN" sz="2800"/>
              <a:t>1998</a:t>
            </a:r>
            <a:r>
              <a:rPr lang="zh-CN" altLang="en-US" sz="2800"/>
              <a:t>年，王志东创立新浪网站。</a:t>
            </a:r>
          </a:p>
          <a:p>
            <a:r>
              <a:rPr lang="en-US" altLang="zh-CN" sz="2800"/>
              <a:t>1998</a:t>
            </a:r>
            <a:r>
              <a:rPr lang="zh-CN" altLang="en-US" sz="2800"/>
              <a:t>年，马化腾，张志东创立了腾讯公司。</a:t>
            </a:r>
            <a:r>
              <a:rPr lang="en-US" altLang="zh-CN" sz="2800"/>
              <a:t>1999</a:t>
            </a:r>
            <a:r>
              <a:rPr lang="zh-CN" altLang="en-US" sz="2800"/>
              <a:t>年推出了</a:t>
            </a:r>
            <a:r>
              <a:rPr lang="en-US" altLang="zh-CN" sz="2800"/>
              <a:t>OICQ(QQ).</a:t>
            </a:r>
            <a:endParaRPr lang="zh-CN" altLang="en-US" sz="2800"/>
          </a:p>
          <a:p>
            <a:r>
              <a:rPr lang="en-US" altLang="zh-CN" sz="2800"/>
              <a:t>2000</a:t>
            </a:r>
            <a:r>
              <a:rPr lang="zh-CN" altLang="en-US" sz="2800"/>
              <a:t>年，李彦宏和徐勇创立百度网站。</a:t>
            </a:r>
          </a:p>
          <a:p>
            <a:r>
              <a:rPr lang="en-US" altLang="zh-CN" sz="2800"/>
              <a:t>1999</a:t>
            </a:r>
            <a:r>
              <a:rPr lang="zh-CN" altLang="en-US" sz="2800"/>
              <a:t>年，马云创立</a:t>
            </a:r>
            <a:r>
              <a:rPr lang="en-US" altLang="zh-CN" sz="2800"/>
              <a:t>B2B</a:t>
            </a:r>
            <a:r>
              <a:rPr lang="zh-CN" altLang="en-US" sz="2800"/>
              <a:t>网上交易平台阿里巴巴，并于</a:t>
            </a:r>
            <a:r>
              <a:rPr lang="en-US" altLang="zh-CN" sz="2800"/>
              <a:t>2003</a:t>
            </a:r>
            <a:r>
              <a:rPr lang="zh-CN" altLang="en-US" sz="2800"/>
              <a:t>年创立淘宝网，</a:t>
            </a:r>
            <a:r>
              <a:rPr lang="en-US" altLang="zh-CN" sz="2800"/>
              <a:t>2004</a:t>
            </a:r>
            <a:r>
              <a:rPr lang="zh-CN" altLang="en-US" sz="2800"/>
              <a:t>年创立支付宝</a:t>
            </a:r>
          </a:p>
        </p:txBody>
      </p:sp>
      <p:sp>
        <p:nvSpPr>
          <p:cNvPr id="5" name="标题 4"/>
          <p:cNvSpPr>
            <a:spLocks noGrp="1"/>
          </p:cNvSpPr>
          <p:nvPr>
            <p:ph type="title"/>
          </p:nvPr>
        </p:nvSpPr>
        <p:spPr/>
        <p:txBody>
          <a:bodyPr/>
          <a:lstStyle/>
          <a:p>
            <a:r>
              <a:rPr lang="en-US" altLang="zh-CN" dirty="0"/>
              <a:t>1.4  </a:t>
            </a:r>
            <a:r>
              <a:rPr lang="zh-CN" altLang="zh-CN" dirty="0"/>
              <a:t>计算机网络在我国的发展</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  </a:t>
            </a:r>
            <a:r>
              <a:rPr lang="zh-CN" altLang="zh-CN" dirty="0"/>
              <a:t>计算机网络的类别</a:t>
            </a:r>
            <a:endParaRPr lang="zh-CN" altLang="en-US" dirty="0"/>
          </a:p>
        </p:txBody>
      </p:sp>
      <p:sp>
        <p:nvSpPr>
          <p:cNvPr id="3" name="内容占位符 2"/>
          <p:cNvSpPr>
            <a:spLocks noGrp="1"/>
          </p:cNvSpPr>
          <p:nvPr>
            <p:ph idx="1"/>
          </p:nvPr>
        </p:nvSpPr>
        <p:spPr/>
        <p:txBody>
          <a:bodyPr/>
          <a:lstStyle/>
          <a:p>
            <a:r>
              <a:rPr lang="en-US" altLang="zh-CN" dirty="0"/>
              <a:t>1.5.1  </a:t>
            </a:r>
            <a:r>
              <a:rPr lang="zh-CN" altLang="zh-CN" dirty="0"/>
              <a:t>计算机网络的定义</a:t>
            </a:r>
          </a:p>
          <a:p>
            <a:r>
              <a:rPr lang="en-US" altLang="zh-CN" dirty="0"/>
              <a:t>1.5.2  </a:t>
            </a:r>
            <a:r>
              <a:rPr lang="zh-CN" altLang="zh-CN" dirty="0"/>
              <a:t>几种不同类别的网络</a:t>
            </a:r>
          </a:p>
          <a:p>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dirty="0"/>
              <a:t>1.5.1  </a:t>
            </a:r>
            <a:r>
              <a:rPr lang="zh-CN" altLang="zh-CN" dirty="0"/>
              <a:t>计算机网络的定义</a:t>
            </a:r>
            <a:endParaRPr lang="zh-CN" altLang="en-US" dirty="0"/>
          </a:p>
        </p:txBody>
      </p:sp>
      <p:sp>
        <p:nvSpPr>
          <p:cNvPr id="79875" name="Rectangle 3"/>
          <p:cNvSpPr>
            <a:spLocks noGrp="1" noChangeArrowheads="1"/>
          </p:cNvSpPr>
          <p:nvPr>
            <p:ph idx="1"/>
          </p:nvPr>
        </p:nvSpPr>
        <p:spPr/>
        <p:txBody>
          <a:bodyPr/>
          <a:lstStyle/>
          <a:p>
            <a:r>
              <a:rPr lang="zh-CN" altLang="zh-CN" dirty="0"/>
              <a:t>计算机网络的精确定义并未统一。</a:t>
            </a:r>
            <a:endParaRPr lang="en-US" altLang="zh-CN" dirty="0">
              <a:solidFill>
                <a:srgbClr val="333399"/>
              </a:solidFill>
              <a:latin typeface="Arial" panose="020B0604020202020204" pitchFamily="34" charset="0"/>
              <a:ea typeface="黑体" panose="02010609060101010101" pitchFamily="2" charset="-122"/>
            </a:endParaRPr>
          </a:p>
          <a:p>
            <a:r>
              <a:rPr lang="zh-CN" altLang="zh-CN" dirty="0"/>
              <a:t>较好的定义</a:t>
            </a:r>
            <a:r>
              <a:rPr lang="zh-CN" altLang="en-US" dirty="0"/>
              <a:t>：</a:t>
            </a:r>
            <a:endParaRPr lang="en-US" altLang="zh-CN" dirty="0"/>
          </a:p>
          <a:p>
            <a:pPr marL="457200" lvl="1" indent="0">
              <a:buNone/>
            </a:pPr>
            <a:r>
              <a:rPr lang="zh-CN" altLang="zh-CN" sz="3200" dirty="0">
                <a:solidFill>
                  <a:srgbClr val="0000CC"/>
                </a:solidFill>
              </a:rPr>
              <a:t>计算机网络主要是由一些通用的、可编程的硬件互连而成的，而这些硬件并非专门用来实现某一特定目的（例如，传送数据或视频信号）。这些可编程的硬件能够用来传送多种不同类型的数据，并能支持广泛的和日益增长的应用。</a:t>
            </a:r>
            <a:endParaRPr lang="en-US" altLang="zh-CN" sz="3200" dirty="0">
              <a:solidFill>
                <a:srgbClr val="0000CC"/>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dirty="0"/>
              <a:t>1.5.1  </a:t>
            </a:r>
            <a:r>
              <a:rPr lang="zh-CN" altLang="zh-CN" dirty="0"/>
              <a:t>计算机网络的定义</a:t>
            </a:r>
            <a:endParaRPr lang="zh-CN" altLang="en-US" dirty="0"/>
          </a:p>
        </p:txBody>
      </p:sp>
      <p:sp>
        <p:nvSpPr>
          <p:cNvPr id="79875" name="Rectangle 3"/>
          <p:cNvSpPr>
            <a:spLocks noGrp="1" noChangeArrowheads="1"/>
          </p:cNvSpPr>
          <p:nvPr>
            <p:ph idx="1"/>
          </p:nvPr>
        </p:nvSpPr>
        <p:spPr/>
        <p:txBody>
          <a:bodyPr/>
          <a:lstStyle/>
          <a:p>
            <a:r>
              <a:rPr lang="zh-CN" altLang="zh-CN" dirty="0"/>
              <a:t>根据这个定义：</a:t>
            </a:r>
            <a:endParaRPr lang="en-US" altLang="zh-CN" dirty="0"/>
          </a:p>
          <a:p>
            <a:pPr lvl="1"/>
            <a:r>
              <a:rPr lang="en-US" altLang="zh-CN" dirty="0"/>
              <a:t>(1) </a:t>
            </a:r>
            <a:r>
              <a:rPr lang="zh-CN" altLang="zh-CN" dirty="0"/>
              <a:t>计算机网络所连接的硬件，并不限于一般的计算机，而是包括了智能手机。</a:t>
            </a:r>
            <a:endParaRPr lang="en-US" altLang="zh-CN" dirty="0"/>
          </a:p>
          <a:p>
            <a:pPr lvl="1"/>
            <a:r>
              <a:rPr lang="en-US" altLang="zh-CN" dirty="0"/>
              <a:t>(2) </a:t>
            </a:r>
            <a:r>
              <a:rPr lang="zh-CN" altLang="zh-CN" dirty="0"/>
              <a:t>计算机网络并非专门用来传送数据，而是能够支持很多种的应用（包括今后可能出现的各种应用）。</a:t>
            </a:r>
          </a:p>
        </p:txBody>
      </p:sp>
      <p:sp>
        <p:nvSpPr>
          <p:cNvPr id="2" name="矩形 1"/>
          <p:cNvSpPr/>
          <p:nvPr/>
        </p:nvSpPr>
        <p:spPr>
          <a:xfrm>
            <a:off x="1712640" y="4184969"/>
            <a:ext cx="6696744" cy="1040285"/>
          </a:xfrm>
          <a:prstGeom prst="rect">
            <a:avLst/>
          </a:prstGeom>
          <a:solidFill>
            <a:srgbClr val="FFFF66"/>
          </a:solidFill>
          <a:ln>
            <a:solidFill>
              <a:schemeClr val="tx1"/>
            </a:solidFill>
          </a:ln>
        </p:spPr>
        <p:txBody>
          <a:bodyPr wrap="square">
            <a:spAutoFit/>
          </a:bodyPr>
          <a:lstStyle/>
          <a:p>
            <a:pPr>
              <a:lnSpc>
                <a:spcPct val="110000"/>
              </a:lnSpc>
            </a:pPr>
            <a:r>
              <a:rPr lang="zh-CN" altLang="zh-CN" sz="2800" b="1" dirty="0">
                <a:latin typeface="+mn-lt"/>
                <a:ea typeface="黑体" panose="02010609060101010101" pitchFamily="2" charset="-122"/>
              </a:rPr>
              <a:t>请注意，上述的“可编程的硬件”表明这种硬件一定包含有中央处理机</a:t>
            </a:r>
            <a:r>
              <a:rPr lang="en-US" altLang="zh-CN" sz="2800" b="1" dirty="0">
                <a:latin typeface="+mn-lt"/>
                <a:ea typeface="黑体" panose="02010609060101010101" pitchFamily="2" charset="-122"/>
              </a:rPr>
              <a:t> (CPU)</a:t>
            </a:r>
            <a:r>
              <a:rPr lang="zh-CN" altLang="zh-CN" sz="2800" b="1" dirty="0">
                <a:latin typeface="+mn-lt"/>
                <a:ea typeface="黑体" panose="02010609060101010101" pitchFamily="2" charset="-122"/>
              </a:rPr>
              <a:t>。</a:t>
            </a:r>
            <a:endParaRPr lang="en-US" altLang="zh-CN" sz="2800" b="1" dirty="0">
              <a:solidFill>
                <a:srgbClr val="333399"/>
              </a:solidFill>
              <a:latin typeface="+mn-lt"/>
              <a:ea typeface="黑体" panose="0201060906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dirty="0"/>
              <a:t>1.5.2  </a:t>
            </a:r>
            <a:r>
              <a:rPr lang="zh-CN" altLang="en-US" dirty="0"/>
              <a:t>几种不同类别的网络</a:t>
            </a:r>
          </a:p>
        </p:txBody>
      </p:sp>
      <p:sp>
        <p:nvSpPr>
          <p:cNvPr id="81923" name="Rectangle 3"/>
          <p:cNvSpPr>
            <a:spLocks noGrp="1" noChangeArrowheads="1"/>
          </p:cNvSpPr>
          <p:nvPr>
            <p:ph idx="1"/>
          </p:nvPr>
        </p:nvSpPr>
        <p:spPr/>
        <p:txBody>
          <a:bodyPr/>
          <a:lstStyle/>
          <a:p>
            <a:r>
              <a:rPr lang="zh-CN" altLang="zh-CN" dirty="0"/>
              <a:t>计算机网络有多种类别</a:t>
            </a:r>
            <a:r>
              <a:rPr lang="zh-CN" altLang="en-US" dirty="0"/>
              <a:t>。典型包括：</a:t>
            </a:r>
            <a:endParaRPr lang="en-US" altLang="zh-CN" dirty="0"/>
          </a:p>
          <a:p>
            <a:pPr lvl="1"/>
            <a:r>
              <a:rPr lang="en-US" altLang="zh-CN" dirty="0"/>
              <a:t>1. </a:t>
            </a:r>
            <a:r>
              <a:rPr lang="zh-CN" altLang="en-US" dirty="0"/>
              <a:t>按照网络的作用范围进行分类</a:t>
            </a:r>
            <a:endParaRPr lang="en-US" altLang="zh-CN" dirty="0"/>
          </a:p>
          <a:p>
            <a:pPr lvl="1"/>
            <a:r>
              <a:rPr lang="en-US" altLang="zh-CN" dirty="0"/>
              <a:t>2. </a:t>
            </a:r>
            <a:r>
              <a:rPr lang="zh-CN" altLang="en-US" dirty="0"/>
              <a:t>按照</a:t>
            </a:r>
            <a:r>
              <a:rPr lang="zh-CN" altLang="zh-CN" dirty="0"/>
              <a:t>网络的使用者进行分类</a:t>
            </a:r>
          </a:p>
          <a:p>
            <a:pPr lvl="1"/>
            <a:r>
              <a:rPr lang="en-US" altLang="zh-CN" dirty="0"/>
              <a:t>3. </a:t>
            </a:r>
            <a:r>
              <a:rPr lang="zh-CN" altLang="zh-CN" dirty="0"/>
              <a:t>用来把用户接入到互联网的网络</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dirty="0"/>
              <a:t>1. </a:t>
            </a:r>
            <a:r>
              <a:rPr lang="zh-CN" altLang="en-US" dirty="0"/>
              <a:t>按照网络的作用范围进行分类</a:t>
            </a:r>
          </a:p>
        </p:txBody>
      </p:sp>
      <p:sp>
        <p:nvSpPr>
          <p:cNvPr id="8192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00000"/>
              </a:lnSpc>
              <a:spcBef>
                <a:spcPts val="1200"/>
              </a:spcBef>
            </a:pPr>
            <a:r>
              <a:rPr lang="zh-CN" altLang="en-US" sz="2800" dirty="0">
                <a:solidFill>
                  <a:srgbClr val="FF0000"/>
                </a:solidFill>
              </a:rPr>
              <a:t>广域网 </a:t>
            </a:r>
            <a:r>
              <a:rPr lang="en-US" altLang="zh-CN" sz="2800" dirty="0">
                <a:solidFill>
                  <a:srgbClr val="FF0000"/>
                </a:solidFill>
              </a:rPr>
              <a:t>WAN </a:t>
            </a:r>
            <a:r>
              <a:rPr lang="en-US" altLang="zh-CN" sz="2800" dirty="0"/>
              <a:t>(Wide Area Network)</a:t>
            </a:r>
            <a:r>
              <a:rPr lang="zh-CN" altLang="en-US" sz="2800" dirty="0"/>
              <a:t>：</a:t>
            </a:r>
            <a:r>
              <a:rPr lang="zh-CN" altLang="zh-CN" sz="2800" dirty="0"/>
              <a:t>作用范围通常为几十到几千公里</a:t>
            </a:r>
            <a:r>
              <a:rPr lang="zh-CN" altLang="en-US" sz="2800" dirty="0"/>
              <a:t>。</a:t>
            </a:r>
            <a:endParaRPr lang="en-US" altLang="zh-CN" sz="2800" dirty="0"/>
          </a:p>
          <a:p>
            <a:pPr>
              <a:lnSpc>
                <a:spcPct val="100000"/>
              </a:lnSpc>
              <a:spcBef>
                <a:spcPts val="1200"/>
              </a:spcBef>
            </a:pPr>
            <a:r>
              <a:rPr lang="zh-CN" altLang="en-US" sz="2800" dirty="0">
                <a:solidFill>
                  <a:srgbClr val="FF0000"/>
                </a:solidFill>
              </a:rPr>
              <a:t>城域网 </a:t>
            </a:r>
            <a:r>
              <a:rPr lang="en-US" altLang="zh-CN" sz="2800" dirty="0">
                <a:solidFill>
                  <a:srgbClr val="FF0000"/>
                </a:solidFill>
              </a:rPr>
              <a:t>MAN </a:t>
            </a:r>
            <a:r>
              <a:rPr lang="en-US" altLang="zh-CN" sz="2800" dirty="0"/>
              <a:t>(Metropolitan Area Network)</a:t>
            </a:r>
            <a:r>
              <a:rPr lang="zh-CN" altLang="en-US" sz="2800" dirty="0"/>
              <a:t>：</a:t>
            </a:r>
            <a:r>
              <a:rPr lang="zh-CN" altLang="zh-CN" sz="2800" dirty="0"/>
              <a:t>作用距离约为</a:t>
            </a:r>
            <a:r>
              <a:rPr lang="en-US" altLang="zh-CN" sz="2800" dirty="0"/>
              <a:t>  5 ~ 50 </a:t>
            </a:r>
            <a:r>
              <a:rPr lang="zh-CN" altLang="en-US" sz="2800" dirty="0"/>
              <a:t>公里。</a:t>
            </a:r>
            <a:endParaRPr lang="en-US" altLang="zh-CN" sz="2800" dirty="0"/>
          </a:p>
          <a:p>
            <a:pPr>
              <a:lnSpc>
                <a:spcPct val="100000"/>
              </a:lnSpc>
              <a:spcBef>
                <a:spcPts val="1200"/>
              </a:spcBef>
            </a:pPr>
            <a:r>
              <a:rPr lang="zh-CN" altLang="en-US" sz="2800" dirty="0">
                <a:solidFill>
                  <a:srgbClr val="FF0000"/>
                </a:solidFill>
              </a:rPr>
              <a:t>局域网 </a:t>
            </a:r>
            <a:r>
              <a:rPr lang="en-US" altLang="zh-CN" sz="2800" dirty="0">
                <a:solidFill>
                  <a:srgbClr val="FF0000"/>
                </a:solidFill>
              </a:rPr>
              <a:t>LAN </a:t>
            </a:r>
            <a:r>
              <a:rPr lang="en-US" altLang="zh-CN" sz="2800" dirty="0"/>
              <a:t>(Local Area Network) </a:t>
            </a:r>
            <a:r>
              <a:rPr lang="zh-CN" altLang="en-US" sz="2800" dirty="0"/>
              <a:t>：</a:t>
            </a:r>
            <a:r>
              <a:rPr lang="zh-CN" altLang="zh-CN" sz="2800" dirty="0"/>
              <a:t>局限在较小的范围（如</a:t>
            </a:r>
            <a:r>
              <a:rPr lang="en-US" altLang="zh-CN" sz="2800" dirty="0"/>
              <a:t> 1 </a:t>
            </a:r>
            <a:r>
              <a:rPr lang="zh-CN" altLang="en-US" sz="2800" dirty="0"/>
              <a:t>公里</a:t>
            </a:r>
            <a:r>
              <a:rPr lang="zh-CN" altLang="zh-CN" sz="2800" dirty="0"/>
              <a:t>左右）</a:t>
            </a:r>
            <a:r>
              <a:rPr lang="zh-CN" altLang="en-US" sz="2800" dirty="0"/>
              <a:t>。</a:t>
            </a:r>
            <a:endParaRPr lang="en-US" altLang="zh-CN" sz="2800" dirty="0"/>
          </a:p>
          <a:p>
            <a:pPr>
              <a:lnSpc>
                <a:spcPct val="100000"/>
              </a:lnSpc>
              <a:spcBef>
                <a:spcPts val="1200"/>
              </a:spcBef>
            </a:pPr>
            <a:r>
              <a:rPr lang="zh-CN" altLang="en-US" sz="2800" dirty="0">
                <a:solidFill>
                  <a:srgbClr val="FF0000"/>
                </a:solidFill>
              </a:rPr>
              <a:t>个人区域网 </a:t>
            </a:r>
            <a:r>
              <a:rPr lang="en-US" altLang="zh-CN" sz="2800" dirty="0">
                <a:solidFill>
                  <a:srgbClr val="FF0000"/>
                </a:solidFill>
              </a:rPr>
              <a:t>PAN </a:t>
            </a:r>
            <a:r>
              <a:rPr lang="en-US" altLang="zh-CN" sz="2800" dirty="0"/>
              <a:t>(Personal Area Network) </a:t>
            </a:r>
            <a:r>
              <a:rPr lang="zh-CN" altLang="en-US" sz="2800" dirty="0"/>
              <a:t>：</a:t>
            </a:r>
            <a:r>
              <a:rPr lang="zh-CN" altLang="zh-CN" sz="2800" dirty="0"/>
              <a:t>范围很小，大约在</a:t>
            </a:r>
            <a:r>
              <a:rPr lang="en-US" altLang="zh-CN" sz="2800" dirty="0"/>
              <a:t> 10 </a:t>
            </a:r>
            <a:r>
              <a:rPr lang="zh-CN" altLang="en-US" sz="2800"/>
              <a:t>米</a:t>
            </a:r>
            <a:r>
              <a:rPr lang="zh-CN" altLang="zh-CN" sz="2800"/>
              <a:t>左右</a:t>
            </a:r>
            <a:r>
              <a:rPr lang="zh-CN" altLang="en-US" sz="2800"/>
              <a:t>。</a:t>
            </a:r>
            <a:endParaRPr lang="en-US" altLang="zh-CN" sz="2800" dirty="0"/>
          </a:p>
        </p:txBody>
      </p:sp>
      <p:sp>
        <p:nvSpPr>
          <p:cNvPr id="2" name="Rectangle 1"/>
          <p:cNvSpPr>
            <a:spLocks noChangeArrowheads="1"/>
          </p:cNvSpPr>
          <p:nvPr/>
        </p:nvSpPr>
        <p:spPr bwMode="auto">
          <a:xfrm>
            <a:off x="416496" y="5188433"/>
            <a:ext cx="9345488" cy="904863"/>
          </a:xfrm>
          <a:prstGeom prst="rect">
            <a:avLst/>
          </a:prstGeom>
          <a:solidFill>
            <a:srgbClr val="FFFF66"/>
          </a:solidFill>
          <a:ln>
            <a:solidFill>
              <a:schemeClr val="tx1"/>
            </a:solidFill>
          </a:ln>
        </p:spPr>
        <p:txBody>
          <a:bodyPr wrap="square">
            <a:spAutoFit/>
          </a:bodyPr>
          <a:lstStyle/>
          <a:p>
            <a:pPr>
              <a:lnSpc>
                <a:spcPct val="110000"/>
              </a:lnSpc>
            </a:pPr>
            <a:r>
              <a:rPr lang="zh-CN" altLang="en-US" sz="2400" b="1" dirty="0">
                <a:solidFill>
                  <a:srgbClr val="000099"/>
                </a:solidFill>
                <a:latin typeface="+mn-lt"/>
                <a:ea typeface="黑体" panose="02010609060101010101" pitchFamily="2" charset="-122"/>
              </a:rPr>
              <a:t>若中央处理机之间的距离非常近（如仅</a:t>
            </a:r>
            <a:r>
              <a:rPr lang="en-US" altLang="zh-CN" sz="2400" b="1" dirty="0">
                <a:solidFill>
                  <a:srgbClr val="000099"/>
                </a:solidFill>
                <a:latin typeface="+mn-lt"/>
                <a:ea typeface="黑体" panose="02010609060101010101" pitchFamily="2" charset="-122"/>
              </a:rPr>
              <a:t>1</a:t>
            </a:r>
            <a:r>
              <a:rPr lang="zh-CN" altLang="en-US" sz="2400" b="1" dirty="0">
                <a:solidFill>
                  <a:srgbClr val="000099"/>
                </a:solidFill>
                <a:latin typeface="+mn-lt"/>
                <a:ea typeface="黑体" panose="02010609060101010101" pitchFamily="2" charset="-122"/>
              </a:rPr>
              <a:t>米的数量级甚至更小些），则一般就称之为</a:t>
            </a:r>
            <a:r>
              <a:rPr lang="zh-CN" altLang="en-US" sz="2400" b="1" dirty="0">
                <a:solidFill>
                  <a:srgbClr val="FF0000"/>
                </a:solidFill>
                <a:latin typeface="+mn-lt"/>
                <a:ea typeface="黑体" panose="02010609060101010101" pitchFamily="2" charset="-122"/>
              </a:rPr>
              <a:t>多处理机系统，</a:t>
            </a:r>
            <a:r>
              <a:rPr lang="zh-CN" altLang="en-US" sz="2400" b="1" dirty="0">
                <a:solidFill>
                  <a:srgbClr val="000099"/>
                </a:solidFill>
                <a:latin typeface="+mn-lt"/>
                <a:ea typeface="黑体" panose="02010609060101010101" pitchFamily="2" charset="-122"/>
              </a:rPr>
              <a:t>而不称它为计算机网络。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en-US" altLang="zh-CN" dirty="0"/>
              <a:t>2. </a:t>
            </a:r>
            <a:r>
              <a:rPr lang="zh-CN" altLang="en-US" dirty="0"/>
              <a:t>按照</a:t>
            </a:r>
            <a:r>
              <a:rPr lang="zh-CN" altLang="zh-CN" dirty="0"/>
              <a:t>网络的使用者进行分类</a:t>
            </a:r>
            <a:endParaRPr lang="zh-CN" altLang="en-US" dirty="0"/>
          </a:p>
        </p:txBody>
      </p:sp>
      <p:sp>
        <p:nvSpPr>
          <p:cNvPr id="16486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solidFill>
                  <a:srgbClr val="FF0000"/>
                </a:solidFill>
              </a:rPr>
              <a:t>公用网</a:t>
            </a:r>
            <a:r>
              <a:rPr lang="zh-CN" altLang="en-US" dirty="0"/>
              <a:t> </a:t>
            </a:r>
            <a:r>
              <a:rPr lang="en-US" altLang="zh-CN" dirty="0"/>
              <a:t>(public network) </a:t>
            </a:r>
          </a:p>
          <a:p>
            <a:pPr lvl="1"/>
            <a:r>
              <a:rPr lang="zh-CN" altLang="en-US" dirty="0"/>
              <a:t>按</a:t>
            </a:r>
            <a:r>
              <a:rPr lang="zh-CN" altLang="zh-CN" dirty="0"/>
              <a:t>规定交纳费用的人都可以</a:t>
            </a:r>
            <a:r>
              <a:rPr lang="zh-CN" altLang="en-US" dirty="0"/>
              <a:t>使用的</a:t>
            </a:r>
            <a:r>
              <a:rPr lang="zh-CN" altLang="zh-CN" dirty="0"/>
              <a:t>网络。因此也可称为公众网。</a:t>
            </a:r>
            <a:endParaRPr lang="en-US" altLang="zh-CN" dirty="0"/>
          </a:p>
          <a:p>
            <a:r>
              <a:rPr lang="zh-CN" altLang="en-US" dirty="0">
                <a:solidFill>
                  <a:srgbClr val="FF0000"/>
                </a:solidFill>
              </a:rPr>
              <a:t>专用网 </a:t>
            </a:r>
            <a:r>
              <a:rPr lang="en-US" altLang="zh-CN" dirty="0"/>
              <a:t>(private network) </a:t>
            </a:r>
          </a:p>
          <a:p>
            <a:pPr lvl="1"/>
            <a:r>
              <a:rPr lang="zh-CN" altLang="zh-CN" dirty="0"/>
              <a:t>为特殊业务工作的需要而建造的网络</a:t>
            </a:r>
            <a:r>
              <a:rPr lang="zh-CN" altLang="en-US" dirty="0"/>
              <a:t>。</a:t>
            </a:r>
            <a:endParaRPr lang="en-US" altLang="zh-CN" dirty="0"/>
          </a:p>
        </p:txBody>
      </p:sp>
      <p:sp>
        <p:nvSpPr>
          <p:cNvPr id="2" name="矩形 1"/>
          <p:cNvSpPr/>
          <p:nvPr/>
        </p:nvSpPr>
        <p:spPr>
          <a:xfrm>
            <a:off x="560512" y="4365104"/>
            <a:ext cx="9001000" cy="999697"/>
          </a:xfrm>
          <a:prstGeom prst="rect">
            <a:avLst/>
          </a:prstGeom>
          <a:solidFill>
            <a:srgbClr val="FFFF66"/>
          </a:solidFill>
          <a:ln>
            <a:solidFill>
              <a:schemeClr val="tx1"/>
            </a:solidFill>
          </a:ln>
        </p:spPr>
        <p:txBody>
          <a:bodyPr wrap="square">
            <a:spAutoFit/>
          </a:bodyPr>
          <a:lstStyle/>
          <a:p>
            <a:pPr>
              <a:lnSpc>
                <a:spcPct val="110000"/>
              </a:lnSpc>
            </a:pPr>
            <a:r>
              <a:rPr lang="zh-CN" altLang="zh-CN" sz="2800" b="1" dirty="0">
                <a:solidFill>
                  <a:srgbClr val="000099"/>
                </a:solidFill>
                <a:latin typeface="+mn-lt"/>
                <a:ea typeface="黑体" panose="02010609060101010101" pitchFamily="2" charset="-122"/>
              </a:rPr>
              <a:t>公用网和专用网都可以提供多种服务。如传送的是计算机数据，则分别是公用计算机网络和专用计算机网络。</a:t>
            </a:r>
            <a:endParaRPr lang="zh-CN" altLang="en-US" sz="2800" b="1" dirty="0">
              <a:solidFill>
                <a:srgbClr val="000099"/>
              </a:solidFill>
              <a:latin typeface="+mn-lt"/>
              <a:ea typeface="黑体" panose="0201060906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sz="4000" dirty="0"/>
              <a:t>3. </a:t>
            </a:r>
            <a:r>
              <a:rPr lang="zh-CN" altLang="zh-CN" sz="4000" dirty="0"/>
              <a:t>用来把用户接入到互联网的</a:t>
            </a:r>
            <a:r>
              <a:rPr lang="zh-CN" altLang="en-US" sz="4000" dirty="0"/>
              <a:t>网络</a:t>
            </a:r>
          </a:p>
        </p:txBody>
      </p:sp>
      <p:sp>
        <p:nvSpPr>
          <p:cNvPr id="375811" name="Rectangle 3"/>
          <p:cNvSpPr>
            <a:spLocks noGrp="1" noChangeArrowheads="1"/>
          </p:cNvSpPr>
          <p:nvPr>
            <p:ph idx="1"/>
          </p:nvPr>
        </p:nvSpPr>
        <p:spPr/>
        <p:txBody>
          <a:bodyPr/>
          <a:lstStyle/>
          <a:p>
            <a:r>
              <a:rPr lang="zh-CN" altLang="en-US" sz="2800" dirty="0">
                <a:solidFill>
                  <a:srgbClr val="FF0000"/>
                </a:solidFill>
              </a:rPr>
              <a:t>接入网 </a:t>
            </a:r>
            <a:r>
              <a:rPr lang="en-US" altLang="zh-CN" sz="2800" dirty="0">
                <a:solidFill>
                  <a:srgbClr val="FF0000"/>
                </a:solidFill>
              </a:rPr>
              <a:t>AN </a:t>
            </a:r>
            <a:r>
              <a:rPr lang="en-US" altLang="zh-CN" sz="2800" dirty="0"/>
              <a:t>(Access Network)</a:t>
            </a:r>
            <a:r>
              <a:rPr lang="zh-CN" altLang="en-US" sz="2800" dirty="0"/>
              <a:t>，它又称为本地接入网或居民接入网。</a:t>
            </a:r>
          </a:p>
          <a:p>
            <a:r>
              <a:rPr lang="zh-CN" altLang="zh-CN" sz="2800" dirty="0"/>
              <a:t>接入网</a:t>
            </a:r>
            <a:r>
              <a:rPr lang="zh-CN" altLang="en-US" sz="2800" dirty="0"/>
              <a:t>是</a:t>
            </a:r>
            <a:r>
              <a:rPr lang="zh-CN" altLang="zh-CN" sz="2800" dirty="0"/>
              <a:t>一类比较特殊的计算机网络</a:t>
            </a:r>
            <a:r>
              <a:rPr lang="zh-CN" altLang="en-US" sz="2800" dirty="0"/>
              <a:t>，用于将用户接入互联网。</a:t>
            </a:r>
            <a:endParaRPr lang="en-US" altLang="zh-CN" sz="2800" dirty="0"/>
          </a:p>
          <a:p>
            <a:r>
              <a:rPr lang="zh-CN" altLang="zh-CN" sz="2800" dirty="0"/>
              <a:t>接入网本身既不属于互联网的核心部分，也不属于互联网的边缘部分。</a:t>
            </a:r>
            <a:endParaRPr lang="en-US" altLang="zh-CN" sz="2800" dirty="0"/>
          </a:p>
          <a:p>
            <a:r>
              <a:rPr lang="zh-CN" altLang="zh-CN" sz="2800" dirty="0">
                <a:solidFill>
                  <a:srgbClr val="FF0000"/>
                </a:solidFill>
              </a:rPr>
              <a:t>接入网是从某个用户端系统到互联网中的第一个路由器（也称为边缘路由器）之间的一种网络。</a:t>
            </a:r>
            <a:endParaRPr lang="en-US" altLang="zh-CN" sz="2800" dirty="0">
              <a:solidFill>
                <a:srgbClr val="FF0000"/>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a:t>
            </a:r>
            <a:r>
              <a:rPr lang="zh-CN" altLang="zh-CN" dirty="0"/>
              <a:t>计算机网络的性能</a:t>
            </a:r>
            <a:endParaRPr lang="zh-CN" altLang="en-US" dirty="0"/>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en-US" altLang="zh-CN" dirty="0"/>
              <a:t>1.6.1  </a:t>
            </a:r>
            <a:r>
              <a:rPr lang="zh-CN" altLang="zh-CN" dirty="0"/>
              <a:t>计算机网络的性能指标</a:t>
            </a:r>
          </a:p>
          <a:p>
            <a:pPr>
              <a:lnSpc>
                <a:spcPct val="110000"/>
              </a:lnSpc>
              <a:spcBef>
                <a:spcPts val="600"/>
              </a:spcBef>
            </a:pPr>
            <a:r>
              <a:rPr lang="en-US" altLang="zh-CN" dirty="0"/>
              <a:t>1.6.2  </a:t>
            </a:r>
            <a:r>
              <a:rPr lang="zh-CN" altLang="zh-CN" dirty="0"/>
              <a:t>计算机网络的非性能特征</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1.6.1  </a:t>
            </a:r>
            <a:r>
              <a:rPr lang="zh-CN" altLang="en-US" dirty="0"/>
              <a:t>计算机网络的性能指标</a:t>
            </a:r>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zh-CN" altLang="zh-CN" dirty="0"/>
              <a:t>计算机网络的性能一般是指它的几个重要的性能指标</a:t>
            </a:r>
            <a:r>
              <a:rPr lang="zh-CN" altLang="en-US" dirty="0"/>
              <a:t>，主要包括：</a:t>
            </a:r>
            <a:endParaRPr lang="en-US" altLang="zh-CN" dirty="0"/>
          </a:p>
          <a:p>
            <a:pPr lvl="1"/>
            <a:r>
              <a:rPr lang="zh-CN" altLang="zh-CN" dirty="0"/>
              <a:t>速率</a:t>
            </a:r>
            <a:endParaRPr lang="en-US" altLang="zh-CN" dirty="0"/>
          </a:p>
          <a:p>
            <a:pPr lvl="1"/>
            <a:r>
              <a:rPr lang="zh-CN" altLang="en-US" dirty="0"/>
              <a:t>带宽</a:t>
            </a:r>
            <a:endParaRPr lang="en-US" altLang="zh-CN" dirty="0"/>
          </a:p>
          <a:p>
            <a:pPr lvl="1"/>
            <a:r>
              <a:rPr lang="zh-CN" altLang="en-US" dirty="0"/>
              <a:t>吞吐率</a:t>
            </a:r>
            <a:endParaRPr lang="en-US" altLang="zh-CN" dirty="0"/>
          </a:p>
          <a:p>
            <a:pPr lvl="1"/>
            <a:r>
              <a:rPr lang="zh-CN" altLang="en-US" dirty="0"/>
              <a:t>时延</a:t>
            </a:r>
            <a:endParaRPr lang="en-US" altLang="zh-CN" dirty="0"/>
          </a:p>
          <a:p>
            <a:pPr lvl="1"/>
            <a:r>
              <a:rPr lang="zh-CN" altLang="en-US" dirty="0"/>
              <a:t>时延带宽积</a:t>
            </a:r>
            <a:endParaRPr lang="en-US" altLang="zh-CN" dirty="0"/>
          </a:p>
          <a:p>
            <a:pPr lvl="1"/>
            <a:r>
              <a:rPr lang="zh-CN" altLang="en-US" dirty="0"/>
              <a:t>往返时间 </a:t>
            </a:r>
            <a:r>
              <a:rPr lang="en-US" altLang="zh-CN" dirty="0"/>
              <a:t>RTT</a:t>
            </a:r>
          </a:p>
          <a:p>
            <a:pPr lvl="1"/>
            <a:r>
              <a:rPr lang="zh-CN" altLang="en-US" dirty="0"/>
              <a:t>利用率</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dirty="0"/>
              <a:t>1. </a:t>
            </a:r>
            <a:r>
              <a:rPr lang="zh-CN" altLang="en-US" dirty="0"/>
              <a:t>速率</a:t>
            </a:r>
          </a:p>
        </p:txBody>
      </p:sp>
      <p:sp>
        <p:nvSpPr>
          <p:cNvPr id="849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spcBef>
                <a:spcPts val="600"/>
              </a:spcBef>
            </a:pPr>
            <a:r>
              <a:rPr lang="zh-CN" altLang="en-US" sz="2600" dirty="0"/>
              <a:t>比特（</a:t>
            </a:r>
            <a:r>
              <a:rPr lang="en-US" altLang="zh-CN" sz="2600" dirty="0"/>
              <a:t>bit</a:t>
            </a:r>
            <a:r>
              <a:rPr lang="zh-CN" altLang="en-US" sz="2600" dirty="0"/>
              <a:t>）是计算机中数据量的单位，也是信息论中使用的信息量的单位。</a:t>
            </a:r>
          </a:p>
          <a:p>
            <a:pPr>
              <a:spcBef>
                <a:spcPts val="600"/>
              </a:spcBef>
            </a:pPr>
            <a:r>
              <a:rPr lang="zh-CN" altLang="en-US" sz="2600" dirty="0"/>
              <a:t>比特（</a:t>
            </a:r>
            <a:r>
              <a:rPr lang="en-US" altLang="zh-CN" sz="2600" dirty="0"/>
              <a:t>bit</a:t>
            </a:r>
            <a:r>
              <a:rPr lang="zh-CN" altLang="en-US" sz="2600" dirty="0"/>
              <a:t>）来源于 </a:t>
            </a:r>
            <a:r>
              <a:rPr lang="en-US" altLang="zh-CN" sz="2600" dirty="0"/>
              <a:t>binary digit</a:t>
            </a:r>
            <a:r>
              <a:rPr lang="zh-CN" altLang="en-US" sz="2600" dirty="0"/>
              <a:t>，意思是一个“二进制数字”，因此一个比特就是二进制数字中的一个 </a:t>
            </a:r>
            <a:r>
              <a:rPr lang="en-US" altLang="zh-CN" sz="2600" dirty="0"/>
              <a:t>1 </a:t>
            </a:r>
            <a:r>
              <a:rPr lang="zh-CN" altLang="en-US" sz="2600" dirty="0"/>
              <a:t>或 </a:t>
            </a:r>
            <a:r>
              <a:rPr lang="en-US" altLang="zh-CN" sz="2600" dirty="0"/>
              <a:t>0</a:t>
            </a:r>
            <a:r>
              <a:rPr lang="zh-CN" altLang="en-US" sz="2600" dirty="0"/>
              <a:t>。</a:t>
            </a:r>
            <a:endParaRPr lang="en-US" altLang="zh-CN" sz="2600" dirty="0"/>
          </a:p>
          <a:p>
            <a:pPr>
              <a:spcBef>
                <a:spcPts val="600"/>
              </a:spcBef>
            </a:pPr>
            <a:r>
              <a:rPr lang="zh-CN" altLang="zh-CN" sz="2600" dirty="0"/>
              <a:t>速率是计算机网络中最重要的一个性能指标</a:t>
            </a:r>
            <a:r>
              <a:rPr lang="zh-CN" altLang="en-US" sz="2600" dirty="0"/>
              <a:t>，</a:t>
            </a:r>
            <a:r>
              <a:rPr lang="zh-CN" altLang="zh-CN" sz="2600" dirty="0"/>
              <a:t>指的是</a:t>
            </a:r>
            <a:r>
              <a:rPr lang="zh-CN" altLang="zh-CN" sz="2600" dirty="0">
                <a:solidFill>
                  <a:srgbClr val="FF0000"/>
                </a:solidFill>
              </a:rPr>
              <a:t>数据的传送速率，</a:t>
            </a:r>
            <a:r>
              <a:rPr lang="zh-CN" altLang="zh-CN" sz="2600" dirty="0"/>
              <a:t>它也称为</a:t>
            </a:r>
            <a:r>
              <a:rPr lang="zh-CN" altLang="zh-CN" sz="2600" dirty="0">
                <a:solidFill>
                  <a:srgbClr val="FF0000"/>
                </a:solidFill>
              </a:rPr>
              <a:t>数据率</a:t>
            </a:r>
            <a:r>
              <a:rPr lang="en-US" altLang="zh-CN" sz="2600" dirty="0">
                <a:solidFill>
                  <a:srgbClr val="FF0000"/>
                </a:solidFill>
              </a:rPr>
              <a:t> </a:t>
            </a:r>
            <a:r>
              <a:rPr lang="en-US" altLang="zh-CN" sz="2600" dirty="0"/>
              <a:t>(data rate)</a:t>
            </a:r>
            <a:r>
              <a:rPr lang="zh-CN" altLang="zh-CN" sz="2600" dirty="0"/>
              <a:t>或</a:t>
            </a:r>
            <a:r>
              <a:rPr lang="zh-CN" altLang="zh-CN" sz="2600" dirty="0">
                <a:solidFill>
                  <a:srgbClr val="FF0000"/>
                </a:solidFill>
              </a:rPr>
              <a:t>比特率</a:t>
            </a:r>
            <a:r>
              <a:rPr lang="en-US" altLang="zh-CN" sz="2600" dirty="0">
                <a:solidFill>
                  <a:srgbClr val="FF0000"/>
                </a:solidFill>
              </a:rPr>
              <a:t> </a:t>
            </a:r>
            <a:r>
              <a:rPr lang="en-US" altLang="zh-CN" sz="2600" dirty="0"/>
              <a:t>(bit rate)</a:t>
            </a:r>
            <a:r>
              <a:rPr lang="zh-CN" altLang="zh-CN" sz="2600" dirty="0"/>
              <a:t>。</a:t>
            </a:r>
            <a:endParaRPr lang="en-US" altLang="zh-CN" sz="2600" dirty="0"/>
          </a:p>
          <a:p>
            <a:pPr>
              <a:spcBef>
                <a:spcPts val="600"/>
              </a:spcBef>
            </a:pPr>
            <a:r>
              <a:rPr lang="zh-CN" altLang="en-US" sz="2600" dirty="0"/>
              <a:t>速率的</a:t>
            </a:r>
            <a:r>
              <a:rPr lang="zh-CN" altLang="en-US" sz="2600" dirty="0">
                <a:solidFill>
                  <a:srgbClr val="FF0000"/>
                </a:solidFill>
              </a:rPr>
              <a:t>单位</a:t>
            </a:r>
            <a:r>
              <a:rPr lang="zh-CN" altLang="en-US" sz="2600" dirty="0"/>
              <a:t>是 </a:t>
            </a:r>
            <a:r>
              <a:rPr lang="en-US" altLang="zh-CN" sz="2600" dirty="0"/>
              <a:t>bit/s</a:t>
            </a:r>
            <a:r>
              <a:rPr lang="zh-CN" altLang="en-US" sz="2600" dirty="0"/>
              <a:t>，或 </a:t>
            </a:r>
            <a:r>
              <a:rPr lang="en-US" altLang="zh-CN" sz="2600" dirty="0" err="1"/>
              <a:t>kbit</a:t>
            </a:r>
            <a:r>
              <a:rPr lang="en-US" altLang="zh-CN" sz="2600" dirty="0"/>
              <a:t>/s</a:t>
            </a:r>
            <a:r>
              <a:rPr lang="zh-CN" altLang="en-US" sz="2600" dirty="0"/>
              <a:t>、</a:t>
            </a:r>
            <a:r>
              <a:rPr lang="en-US" altLang="zh-CN" sz="2600" dirty="0"/>
              <a:t>Mbit/s</a:t>
            </a:r>
            <a:r>
              <a:rPr lang="zh-CN" altLang="en-US" sz="2600" dirty="0"/>
              <a:t>、</a:t>
            </a:r>
            <a:r>
              <a:rPr lang="en-US" altLang="zh-CN" sz="2600" dirty="0"/>
              <a:t> </a:t>
            </a:r>
            <a:r>
              <a:rPr lang="en-US" altLang="zh-CN" sz="2600" dirty="0" err="1"/>
              <a:t>Gbit</a:t>
            </a:r>
            <a:r>
              <a:rPr lang="en-US" altLang="zh-CN" sz="2600" dirty="0"/>
              <a:t>/s </a:t>
            </a:r>
            <a:r>
              <a:rPr lang="zh-CN" altLang="en-US" sz="2600" dirty="0"/>
              <a:t>等。例如 </a:t>
            </a:r>
            <a:r>
              <a:rPr lang="en-US" altLang="zh-CN" sz="2600" dirty="0"/>
              <a:t>4 </a:t>
            </a:r>
            <a:r>
              <a:rPr lang="en-US" altLang="zh-CN" sz="2600" dirty="0">
                <a:sym typeface="Symbol" panose="05050102010706020507"/>
              </a:rPr>
              <a:t></a:t>
            </a:r>
            <a:r>
              <a:rPr lang="en-US" altLang="zh-CN" sz="2600" dirty="0"/>
              <a:t> 10</a:t>
            </a:r>
            <a:r>
              <a:rPr lang="en-US" altLang="zh-CN" sz="2600" baseline="30000" dirty="0"/>
              <a:t>10</a:t>
            </a:r>
            <a:r>
              <a:rPr lang="en-US" altLang="zh-CN" sz="2600" dirty="0"/>
              <a:t> bit/s </a:t>
            </a:r>
            <a:r>
              <a:rPr lang="zh-CN" altLang="zh-CN" sz="2600" dirty="0"/>
              <a:t>的数据率就记为 </a:t>
            </a:r>
            <a:r>
              <a:rPr lang="en-US" altLang="zh-CN" sz="2600" dirty="0"/>
              <a:t>40 </a:t>
            </a:r>
            <a:r>
              <a:rPr lang="en-US" altLang="zh-CN" sz="2600" dirty="0" err="1"/>
              <a:t>Gbit</a:t>
            </a:r>
            <a:r>
              <a:rPr lang="en-US" altLang="zh-CN" sz="2600" dirty="0"/>
              <a:t>/s</a:t>
            </a:r>
            <a:r>
              <a:rPr lang="zh-CN" altLang="en-US" sz="2600" dirty="0"/>
              <a:t>。</a:t>
            </a:r>
          </a:p>
          <a:p>
            <a:pPr>
              <a:spcBef>
                <a:spcPts val="600"/>
              </a:spcBef>
            </a:pPr>
            <a:r>
              <a:rPr lang="zh-CN" altLang="en-US" sz="2600" dirty="0">
                <a:solidFill>
                  <a:srgbClr val="C00000"/>
                </a:solidFill>
              </a:rPr>
              <a:t>速率往往是指额定速率或标称速率，非</a:t>
            </a:r>
            <a:r>
              <a:rPr lang="zh-CN" altLang="zh-CN" sz="2600" dirty="0">
                <a:solidFill>
                  <a:srgbClr val="C00000"/>
                </a:solidFill>
              </a:rPr>
              <a:t>实际运行速率</a:t>
            </a:r>
            <a:r>
              <a:rPr lang="zh-CN" altLang="en-US" sz="2600" dirty="0">
                <a:solidFill>
                  <a:srgbClr val="C0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en-US" altLang="zh-CN" dirty="0"/>
              <a:t>2. </a:t>
            </a:r>
            <a:r>
              <a:rPr lang="zh-CN" altLang="en-US" dirty="0"/>
              <a:t>带宽 </a:t>
            </a:r>
          </a:p>
        </p:txBody>
      </p:sp>
      <p:sp>
        <p:nvSpPr>
          <p:cNvPr id="376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indent="0">
              <a:lnSpc>
                <a:spcPct val="110000"/>
              </a:lnSpc>
              <a:spcBef>
                <a:spcPts val="600"/>
              </a:spcBef>
              <a:buNone/>
            </a:pPr>
            <a:r>
              <a:rPr lang="zh-CN" altLang="en-US" dirty="0"/>
              <a:t>两种不同意义：</a:t>
            </a:r>
            <a:endParaRPr lang="en-US" altLang="zh-CN" dirty="0"/>
          </a:p>
          <a:p>
            <a:pPr>
              <a:lnSpc>
                <a:spcPct val="110000"/>
              </a:lnSpc>
              <a:spcBef>
                <a:spcPts val="600"/>
              </a:spcBef>
            </a:pPr>
            <a:r>
              <a:rPr lang="en-US" altLang="zh-CN" sz="2800" dirty="0"/>
              <a:t>“</a:t>
            </a:r>
            <a:r>
              <a:rPr lang="zh-CN" altLang="en-US" sz="2800" dirty="0"/>
              <a:t>带宽”</a:t>
            </a:r>
            <a:r>
              <a:rPr lang="en-US" altLang="zh-CN" sz="2800" dirty="0"/>
              <a:t>(bandwidth) </a:t>
            </a:r>
            <a:r>
              <a:rPr lang="zh-CN" altLang="en-US" sz="2800" dirty="0"/>
              <a:t>本来是指信号具有的</a:t>
            </a:r>
            <a:r>
              <a:rPr lang="zh-CN" altLang="en-US" sz="2800" dirty="0">
                <a:solidFill>
                  <a:srgbClr val="FF0000"/>
                </a:solidFill>
              </a:rPr>
              <a:t>频带宽度，</a:t>
            </a:r>
            <a:r>
              <a:rPr lang="zh-CN" altLang="en-US" sz="2800" dirty="0"/>
              <a:t>其单位是赫（或千赫、兆赫、吉赫等）。</a:t>
            </a:r>
          </a:p>
          <a:p>
            <a:r>
              <a:rPr lang="zh-CN" altLang="zh-CN" sz="2800" dirty="0"/>
              <a:t>在计算机网络中，带宽用来表示网络中某通道传送数据的能力</a:t>
            </a:r>
            <a:r>
              <a:rPr lang="zh-CN" altLang="en-US" sz="2800" dirty="0"/>
              <a:t>。</a:t>
            </a:r>
            <a:r>
              <a:rPr lang="zh-CN" altLang="zh-CN" sz="2800" dirty="0"/>
              <a:t>表示在单位时间内网络中的某信道所能通过的“</a:t>
            </a:r>
            <a:r>
              <a:rPr lang="zh-CN" altLang="zh-CN" sz="2800" dirty="0">
                <a:solidFill>
                  <a:srgbClr val="FF0000"/>
                </a:solidFill>
              </a:rPr>
              <a:t>最高数据率</a:t>
            </a:r>
            <a:r>
              <a:rPr lang="zh-CN" altLang="zh-CN" sz="2800" dirty="0"/>
              <a:t>”。</a:t>
            </a:r>
            <a:r>
              <a:rPr lang="zh-CN" altLang="en-US" sz="2800" dirty="0"/>
              <a:t>单位是 </a:t>
            </a:r>
            <a:r>
              <a:rPr lang="en-US" altLang="zh-CN" sz="2800" dirty="0"/>
              <a:t>bit/s </a:t>
            </a:r>
            <a:r>
              <a:rPr lang="zh-CN" altLang="en-US" sz="2800" dirty="0"/>
              <a:t>，即</a:t>
            </a:r>
            <a:r>
              <a:rPr lang="en-US" altLang="zh-CN" sz="2800" dirty="0"/>
              <a:t> </a:t>
            </a:r>
            <a:r>
              <a:rPr lang="zh-CN" altLang="en-US" sz="2800" dirty="0"/>
              <a:t>“比特每秒”。    </a:t>
            </a:r>
          </a:p>
          <a:p>
            <a:pPr>
              <a:lnSpc>
                <a:spcPct val="110000"/>
              </a:lnSpc>
              <a:spcBef>
                <a:spcPts val="600"/>
              </a:spcBef>
            </a:pPr>
            <a:endParaRPr lang="en-US" altLang="zh-CN" sz="2800" dirty="0"/>
          </a:p>
        </p:txBody>
      </p:sp>
      <p:sp>
        <p:nvSpPr>
          <p:cNvPr id="2" name="矩形 1"/>
          <p:cNvSpPr/>
          <p:nvPr/>
        </p:nvSpPr>
        <p:spPr>
          <a:xfrm>
            <a:off x="632520" y="4365104"/>
            <a:ext cx="8856984" cy="1815882"/>
          </a:xfrm>
          <a:prstGeom prst="rect">
            <a:avLst/>
          </a:prstGeom>
          <a:solidFill>
            <a:srgbClr val="FFFF66"/>
          </a:solidFill>
          <a:ln>
            <a:solidFill>
              <a:schemeClr val="tx1"/>
            </a:solidFill>
          </a:ln>
        </p:spPr>
        <p:txBody>
          <a:bodyPr wrap="square">
            <a:spAutoFit/>
          </a:bodyPr>
          <a:lstStyle/>
          <a:p>
            <a:r>
              <a:rPr lang="zh-CN" altLang="zh-CN" sz="2800" b="1" dirty="0">
                <a:solidFill>
                  <a:srgbClr val="000099"/>
                </a:solidFill>
                <a:latin typeface="+mn-lt"/>
                <a:ea typeface="黑体" panose="02010609060101010101" pitchFamily="2" charset="-122"/>
              </a:rPr>
              <a:t>在“带宽”的上述两种表述中，前者为</a:t>
            </a:r>
            <a:r>
              <a:rPr lang="zh-CN" altLang="zh-CN" sz="2800" b="1" dirty="0">
                <a:solidFill>
                  <a:srgbClr val="C00000"/>
                </a:solidFill>
                <a:latin typeface="+mn-lt"/>
                <a:ea typeface="黑体" panose="02010609060101010101" pitchFamily="2" charset="-122"/>
              </a:rPr>
              <a:t>频域</a:t>
            </a:r>
            <a:r>
              <a:rPr lang="zh-CN" altLang="zh-CN" sz="2800" b="1" dirty="0">
                <a:solidFill>
                  <a:srgbClr val="000099"/>
                </a:solidFill>
                <a:latin typeface="+mn-lt"/>
                <a:ea typeface="黑体" panose="02010609060101010101" pitchFamily="2" charset="-122"/>
              </a:rPr>
              <a:t>称谓，而后者为</a:t>
            </a:r>
            <a:r>
              <a:rPr lang="zh-CN" altLang="zh-CN" sz="2800" b="1" dirty="0">
                <a:solidFill>
                  <a:srgbClr val="C00000"/>
                </a:solidFill>
                <a:latin typeface="+mn-lt"/>
                <a:ea typeface="黑体" panose="02010609060101010101" pitchFamily="2" charset="-122"/>
              </a:rPr>
              <a:t>时域</a:t>
            </a:r>
            <a:r>
              <a:rPr lang="zh-CN" altLang="zh-CN" sz="2800" b="1" dirty="0">
                <a:solidFill>
                  <a:srgbClr val="000099"/>
                </a:solidFill>
                <a:latin typeface="+mn-lt"/>
                <a:ea typeface="黑体" panose="02010609060101010101" pitchFamily="2" charset="-122"/>
              </a:rPr>
              <a:t>称谓，其本质是相同的。也就是说，一条通信链路的“带宽”越宽，其所能传输的“最高数据率”也越高。</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lgn="ctr"/>
            <a:r>
              <a:rPr lang="zh-CN" altLang="en-US"/>
              <a:t>数字信号流随时间的变化</a:t>
            </a:r>
          </a:p>
        </p:txBody>
      </p:sp>
      <p:sp>
        <p:nvSpPr>
          <p:cNvPr id="8704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zh-CN" altLang="en-US" dirty="0"/>
              <a:t>在</a:t>
            </a:r>
            <a:r>
              <a:rPr lang="zh-CN" altLang="en-US" dirty="0">
                <a:solidFill>
                  <a:srgbClr val="C00000"/>
                </a:solidFill>
              </a:rPr>
              <a:t>时间轴</a:t>
            </a:r>
            <a:r>
              <a:rPr lang="zh-CN" altLang="en-US" dirty="0"/>
              <a:t>上信号的宽度随带宽的增大而变窄。     </a:t>
            </a:r>
          </a:p>
        </p:txBody>
      </p:sp>
      <p:grpSp>
        <p:nvGrpSpPr>
          <p:cNvPr id="87073" name="Group 33"/>
          <p:cNvGrpSpPr/>
          <p:nvPr/>
        </p:nvGrpSpPr>
        <p:grpSpPr bwMode="auto">
          <a:xfrm>
            <a:off x="427252" y="1824404"/>
            <a:ext cx="9278276" cy="1662112"/>
            <a:chOff x="204" y="1799"/>
            <a:chExt cx="5395" cy="1047"/>
          </a:xfrm>
        </p:grpSpPr>
        <p:sp>
          <p:nvSpPr>
            <p:cNvPr id="87044" name="Line 4"/>
            <p:cNvSpPr>
              <a:spLocks noChangeShapeType="1"/>
            </p:cNvSpPr>
            <p:nvPr/>
          </p:nvSpPr>
          <p:spPr bwMode="auto">
            <a:xfrm>
              <a:off x="1345" y="2602"/>
              <a:ext cx="0" cy="196"/>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5" name="Line 5"/>
            <p:cNvSpPr>
              <a:spLocks noChangeShapeType="1"/>
            </p:cNvSpPr>
            <p:nvPr/>
          </p:nvSpPr>
          <p:spPr bwMode="auto">
            <a:xfrm>
              <a:off x="1122" y="2357"/>
              <a:ext cx="4340" cy="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6" name="Line 6"/>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8" name="Freeform 8"/>
            <p:cNvSpPr/>
            <p:nvPr/>
          </p:nvSpPr>
          <p:spPr bwMode="auto">
            <a:xfrm>
              <a:off x="1345" y="2161"/>
              <a:ext cx="2559" cy="392"/>
            </a:xfrm>
            <a:custGeom>
              <a:avLst/>
              <a:gdLst>
                <a:gd name="T0" fmla="*/ 0 w 2208"/>
                <a:gd name="T1" fmla="*/ 384 h 384"/>
                <a:gd name="T2" fmla="*/ 0 w 2208"/>
                <a:gd name="T3" fmla="*/ 0 h 384"/>
                <a:gd name="T4" fmla="*/ 384 w 2208"/>
                <a:gd name="T5" fmla="*/ 0 h 384"/>
                <a:gd name="T6" fmla="*/ 384 w 2208"/>
                <a:gd name="T7" fmla="*/ 384 h 384"/>
                <a:gd name="T8" fmla="*/ 768 w 2208"/>
                <a:gd name="T9" fmla="*/ 384 h 384"/>
                <a:gd name="T10" fmla="*/ 768 w 2208"/>
                <a:gd name="T11" fmla="*/ 0 h 384"/>
                <a:gd name="T12" fmla="*/ 1152 w 2208"/>
                <a:gd name="T13" fmla="*/ 0 h 384"/>
                <a:gd name="T14" fmla="*/ 1152 w 2208"/>
                <a:gd name="T15" fmla="*/ 384 h 384"/>
                <a:gd name="T16" fmla="*/ 1536 w 2208"/>
                <a:gd name="T17" fmla="*/ 384 h 384"/>
                <a:gd name="T18" fmla="*/ 1536 w 2208"/>
                <a:gd name="T19" fmla="*/ 0 h 384"/>
                <a:gd name="T20" fmla="*/ 1920 w 2208"/>
                <a:gd name="T21" fmla="*/ 0 h 384"/>
                <a:gd name="T22" fmla="*/ 1920 w 2208"/>
                <a:gd name="T23" fmla="*/ 384 h 384"/>
                <a:gd name="T24" fmla="*/ 2208 w 2208"/>
                <a:gd name="T25"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9" name="Freeform 9"/>
            <p:cNvSpPr/>
            <p:nvPr/>
          </p:nvSpPr>
          <p:spPr bwMode="auto">
            <a:xfrm>
              <a:off x="4404" y="2161"/>
              <a:ext cx="724" cy="392"/>
            </a:xfrm>
            <a:custGeom>
              <a:avLst/>
              <a:gdLst>
                <a:gd name="T0" fmla="*/ 0 w 624"/>
                <a:gd name="T1" fmla="*/ 384 h 384"/>
                <a:gd name="T2" fmla="*/ 240 w 624"/>
                <a:gd name="T3" fmla="*/ 384 h 384"/>
                <a:gd name="T4" fmla="*/ 240 w 624"/>
                <a:gd name="T5" fmla="*/ 0 h 384"/>
                <a:gd name="T6" fmla="*/ 624 w 624"/>
                <a:gd name="T7" fmla="*/ 0 h 384"/>
                <a:gd name="T8" fmla="*/ 624 w 624"/>
                <a:gd name="T9" fmla="*/ 384 h 384"/>
              </a:gdLst>
              <a:ahLst/>
              <a:cxnLst>
                <a:cxn ang="0">
                  <a:pos x="T0" y="T1"/>
                </a:cxn>
                <a:cxn ang="0">
                  <a:pos x="T2" y="T3"/>
                </a:cxn>
                <a:cxn ang="0">
                  <a:pos x="T4" y="T5"/>
                </a:cxn>
                <a:cxn ang="0">
                  <a:pos x="T6" y="T7"/>
                </a:cxn>
                <a:cxn ang="0">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1" name="Line 11"/>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3" name="Line 13"/>
            <p:cNvSpPr>
              <a:spLocks noChangeShapeType="1"/>
            </p:cNvSpPr>
            <p:nvPr/>
          </p:nvSpPr>
          <p:spPr bwMode="auto">
            <a:xfrm>
              <a:off x="5128" y="2602"/>
              <a:ext cx="0" cy="196"/>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4" name="Text Box 14"/>
            <p:cNvSpPr txBox="1">
              <a:spLocks noChangeArrowheads="1"/>
            </p:cNvSpPr>
            <p:nvPr/>
          </p:nvSpPr>
          <p:spPr bwMode="auto">
            <a:xfrm>
              <a:off x="2528" y="2594"/>
              <a:ext cx="1119" cy="252"/>
            </a:xfrm>
            <a:prstGeom prst="rect">
              <a:avLst/>
            </a:prstGeom>
            <a:solidFill>
              <a:schemeClr val="bg1"/>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333399"/>
                  </a:solidFill>
                  <a:ea typeface="黑体" panose="02010609060101010101" pitchFamily="2" charset="-122"/>
                </a:rPr>
                <a:t>每</a:t>
              </a:r>
              <a:r>
                <a:rPr kumimoji="1" lang="zh-CN" altLang="en-US" sz="2000" b="1">
                  <a:solidFill>
                    <a:srgbClr val="333399"/>
                  </a:solidFill>
                  <a:ea typeface="黑体" panose="02010609060101010101" pitchFamily="2" charset="-122"/>
                  <a:sym typeface="Symbol" panose="05050102010706020507" pitchFamily="18" charset="2"/>
                </a:rPr>
                <a:t>秒</a:t>
              </a:r>
              <a:r>
                <a:rPr kumimoji="1" lang="zh-CN" altLang="en-US" sz="1200" b="1">
                  <a:solidFill>
                    <a:srgbClr val="333399"/>
                  </a:solidFill>
                  <a:ea typeface="黑体" panose="02010609060101010101" pitchFamily="2" charset="-122"/>
                  <a:sym typeface="Symbol" panose="05050102010706020507" pitchFamily="18" charset="2"/>
                </a:rPr>
                <a:t> </a:t>
              </a:r>
              <a:r>
                <a:rPr kumimoji="1" lang="en-US" altLang="zh-CN" sz="2000" b="1">
                  <a:solidFill>
                    <a:srgbClr val="333399"/>
                  </a:solidFill>
                  <a:ea typeface="黑体" panose="02010609060101010101" pitchFamily="2" charset="-122"/>
                  <a:sym typeface="Symbol" panose="05050102010706020507" pitchFamily="18" charset="2"/>
                </a:rPr>
                <a:t>10</a:t>
              </a:r>
              <a:r>
                <a:rPr kumimoji="1" lang="en-US" altLang="zh-CN" sz="2000" b="1" baseline="30000">
                  <a:solidFill>
                    <a:srgbClr val="333399"/>
                  </a:solidFill>
                  <a:ea typeface="黑体" panose="02010609060101010101" pitchFamily="2" charset="-122"/>
                  <a:sym typeface="Symbol" panose="05050102010706020507" pitchFamily="18" charset="2"/>
                </a:rPr>
                <a:t>6</a:t>
              </a:r>
              <a:r>
                <a:rPr kumimoji="1" lang="en-US" altLang="zh-CN" sz="1400" b="1" baseline="30000">
                  <a:solidFill>
                    <a:srgbClr val="333399"/>
                  </a:solidFill>
                  <a:ea typeface="黑体" panose="02010609060101010101" pitchFamily="2" charset="-122"/>
                  <a:sym typeface="Symbol" panose="05050102010706020507" pitchFamily="18" charset="2"/>
                </a:rPr>
                <a:t> </a:t>
              </a:r>
              <a:r>
                <a:rPr kumimoji="1" lang="zh-CN" altLang="en-US" sz="2000" b="1">
                  <a:solidFill>
                    <a:srgbClr val="333399"/>
                  </a:solidFill>
                  <a:ea typeface="黑体" panose="02010609060101010101" pitchFamily="2" charset="-122"/>
                  <a:sym typeface="Symbol" panose="05050102010706020507" pitchFamily="18" charset="2"/>
                </a:rPr>
                <a:t>个比特</a:t>
              </a:r>
              <a:endParaRPr kumimoji="1" lang="zh-CN" altLang="en-US" sz="2000" b="1">
                <a:solidFill>
                  <a:srgbClr val="333399"/>
                </a:solidFill>
                <a:ea typeface="黑体" panose="02010609060101010101" pitchFamily="2" charset="-122"/>
              </a:endParaRPr>
            </a:p>
          </p:txBody>
        </p:sp>
        <p:sp>
          <p:nvSpPr>
            <p:cNvPr id="87055" name="Text Box 15"/>
            <p:cNvSpPr txBox="1">
              <a:spLocks noChangeArrowheads="1"/>
            </p:cNvSpPr>
            <p:nvPr/>
          </p:nvSpPr>
          <p:spPr bwMode="auto">
            <a:xfrm>
              <a:off x="5193" y="2086"/>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333399"/>
                  </a:solidFill>
                  <a:ea typeface="黑体" panose="02010609060101010101" pitchFamily="2" charset="-122"/>
                </a:rPr>
                <a:t>时间</a:t>
              </a:r>
            </a:p>
          </p:txBody>
        </p:sp>
        <p:sp>
          <p:nvSpPr>
            <p:cNvPr id="87067" name="Text Box 27"/>
            <p:cNvSpPr txBox="1">
              <a:spLocks noChangeArrowheads="1"/>
            </p:cNvSpPr>
            <p:nvPr/>
          </p:nvSpPr>
          <p:spPr bwMode="auto">
            <a:xfrm>
              <a:off x="1440" y="2137"/>
              <a:ext cx="3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1 </a:t>
              </a:r>
              <a:r>
                <a:rPr kumimoji="1" lang="en-US" altLang="zh-CN" sz="1200" b="1">
                  <a:solidFill>
                    <a:srgbClr val="333399"/>
                  </a:solidFill>
                  <a:ea typeface="黑体" panose="02010609060101010101" pitchFamily="2" charset="-122"/>
                </a:rPr>
                <a:t>  </a:t>
              </a:r>
              <a:r>
                <a:rPr kumimoji="1" lang="en-US" altLang="zh-CN" sz="2000" b="1">
                  <a:solidFill>
                    <a:srgbClr val="333399"/>
                  </a:solidFill>
                  <a:ea typeface="黑体" panose="02010609060101010101" pitchFamily="2" charset="-122"/>
                </a:rPr>
                <a:t>      0        1    </a:t>
              </a:r>
              <a:r>
                <a:rPr kumimoji="1" lang="en-US" altLang="zh-CN" sz="1400" b="1">
                  <a:solidFill>
                    <a:srgbClr val="333399"/>
                  </a:solidFill>
                  <a:ea typeface="黑体" panose="02010609060101010101" pitchFamily="2" charset="-122"/>
                </a:rPr>
                <a:t>  </a:t>
              </a:r>
              <a:r>
                <a:rPr kumimoji="1" lang="en-US" altLang="zh-CN" sz="2000" b="1">
                  <a:solidFill>
                    <a:srgbClr val="333399"/>
                  </a:solidFill>
                  <a:ea typeface="黑体" panose="02010609060101010101" pitchFamily="2" charset="-122"/>
                </a:rPr>
                <a:t>   0  </a:t>
              </a:r>
              <a:r>
                <a:rPr kumimoji="1" lang="en-US" altLang="zh-CN" b="1">
                  <a:solidFill>
                    <a:srgbClr val="333399"/>
                  </a:solidFill>
                  <a:ea typeface="黑体" panose="02010609060101010101" pitchFamily="2" charset="-122"/>
                </a:rPr>
                <a:t>  </a:t>
              </a:r>
              <a:r>
                <a:rPr kumimoji="1" lang="en-US" altLang="zh-CN" sz="2000" b="1">
                  <a:solidFill>
                    <a:srgbClr val="333399"/>
                  </a:solidFill>
                  <a:ea typeface="黑体" panose="02010609060101010101" pitchFamily="2" charset="-122"/>
                </a:rPr>
                <a:t>    1                                 1</a:t>
              </a:r>
            </a:p>
          </p:txBody>
        </p:sp>
        <p:sp>
          <p:nvSpPr>
            <p:cNvPr id="87052" name="Text Box 12"/>
            <p:cNvSpPr txBox="1">
              <a:spLocks noChangeArrowheads="1"/>
            </p:cNvSpPr>
            <p:nvPr/>
          </p:nvSpPr>
          <p:spPr bwMode="auto">
            <a:xfrm>
              <a:off x="2211" y="1799"/>
              <a:ext cx="40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1 </a:t>
              </a:r>
              <a:r>
                <a:rPr kumimoji="1" lang="en-US" altLang="zh-CN" sz="2000" b="1">
                  <a:solidFill>
                    <a:srgbClr val="333399"/>
                  </a:solidFill>
                  <a:ea typeface="黑体" panose="02010609060101010101" pitchFamily="2" charset="-122"/>
                  <a:sym typeface="Symbol" panose="05050102010706020507" pitchFamily="18" charset="2"/>
                </a:rPr>
                <a:t>s</a:t>
              </a:r>
              <a:endParaRPr kumimoji="1" lang="en-US" altLang="zh-CN" sz="2000" b="1">
                <a:solidFill>
                  <a:srgbClr val="333399"/>
                </a:solidFill>
                <a:ea typeface="黑体" panose="02010609060101010101" pitchFamily="2" charset="-122"/>
              </a:endParaRPr>
            </a:p>
          </p:txBody>
        </p:sp>
        <p:sp>
          <p:nvSpPr>
            <p:cNvPr id="87071" name="Text Box 31"/>
            <p:cNvSpPr txBox="1">
              <a:spLocks noChangeArrowheads="1"/>
            </p:cNvSpPr>
            <p:nvPr/>
          </p:nvSpPr>
          <p:spPr bwMode="auto">
            <a:xfrm>
              <a:off x="204" y="2115"/>
              <a:ext cx="822" cy="523"/>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CC"/>
                  </a:solidFill>
                  <a:ea typeface="黑体" panose="02010609060101010101" pitchFamily="2" charset="-122"/>
                </a:rPr>
                <a:t>带宽为</a:t>
              </a:r>
            </a:p>
            <a:p>
              <a:r>
                <a:rPr lang="en-US" altLang="zh-CN" sz="2400" b="1" dirty="0">
                  <a:solidFill>
                    <a:srgbClr val="0000CC"/>
                  </a:solidFill>
                  <a:ea typeface="黑体" panose="02010609060101010101" pitchFamily="2" charset="-122"/>
                </a:rPr>
                <a:t>1 Mbit/s </a:t>
              </a:r>
            </a:p>
          </p:txBody>
        </p:sp>
      </p:grpSp>
      <p:grpSp>
        <p:nvGrpSpPr>
          <p:cNvPr id="87074" name="Group 34"/>
          <p:cNvGrpSpPr/>
          <p:nvPr/>
        </p:nvGrpSpPr>
        <p:grpSpPr bwMode="auto">
          <a:xfrm>
            <a:off x="427252" y="3656378"/>
            <a:ext cx="9231841" cy="1697037"/>
            <a:chOff x="204" y="2953"/>
            <a:chExt cx="5368" cy="1069"/>
          </a:xfrm>
        </p:grpSpPr>
        <p:sp>
          <p:nvSpPr>
            <p:cNvPr id="87047" name="Freeform 7"/>
            <p:cNvSpPr/>
            <p:nvPr/>
          </p:nvSpPr>
          <p:spPr bwMode="auto">
            <a:xfrm>
              <a:off x="1352" y="3337"/>
              <a:ext cx="2614" cy="392"/>
            </a:xfrm>
            <a:custGeom>
              <a:avLst/>
              <a:gdLst>
                <a:gd name="T0" fmla="*/ 0 w 2256"/>
                <a:gd name="T1" fmla="*/ 384 h 384"/>
                <a:gd name="T2" fmla="*/ 0 w 2256"/>
                <a:gd name="T3" fmla="*/ 0 h 384"/>
                <a:gd name="T4" fmla="*/ 96 w 2256"/>
                <a:gd name="T5" fmla="*/ 0 h 384"/>
                <a:gd name="T6" fmla="*/ 96 w 2256"/>
                <a:gd name="T7" fmla="*/ 384 h 384"/>
                <a:gd name="T8" fmla="*/ 192 w 2256"/>
                <a:gd name="T9" fmla="*/ 384 h 384"/>
                <a:gd name="T10" fmla="*/ 192 w 2256"/>
                <a:gd name="T11" fmla="*/ 0 h 384"/>
                <a:gd name="T12" fmla="*/ 288 w 2256"/>
                <a:gd name="T13" fmla="*/ 0 h 384"/>
                <a:gd name="T14" fmla="*/ 288 w 2256"/>
                <a:gd name="T15" fmla="*/ 384 h 384"/>
                <a:gd name="T16" fmla="*/ 384 w 2256"/>
                <a:gd name="T17" fmla="*/ 384 h 384"/>
                <a:gd name="T18" fmla="*/ 384 w 2256"/>
                <a:gd name="T19" fmla="*/ 0 h 384"/>
                <a:gd name="T20" fmla="*/ 480 w 2256"/>
                <a:gd name="T21" fmla="*/ 0 h 384"/>
                <a:gd name="T22" fmla="*/ 480 w 2256"/>
                <a:gd name="T23" fmla="*/ 384 h 384"/>
                <a:gd name="T24" fmla="*/ 576 w 2256"/>
                <a:gd name="T25" fmla="*/ 384 h 384"/>
                <a:gd name="T26" fmla="*/ 576 w 2256"/>
                <a:gd name="T27" fmla="*/ 0 h 384"/>
                <a:gd name="T28" fmla="*/ 672 w 2256"/>
                <a:gd name="T29" fmla="*/ 0 h 384"/>
                <a:gd name="T30" fmla="*/ 672 w 2256"/>
                <a:gd name="T31" fmla="*/ 384 h 384"/>
                <a:gd name="T32" fmla="*/ 768 w 2256"/>
                <a:gd name="T33" fmla="*/ 384 h 384"/>
                <a:gd name="T34" fmla="*/ 768 w 2256"/>
                <a:gd name="T35" fmla="*/ 0 h 384"/>
                <a:gd name="T36" fmla="*/ 864 w 2256"/>
                <a:gd name="T37" fmla="*/ 0 h 384"/>
                <a:gd name="T38" fmla="*/ 864 w 2256"/>
                <a:gd name="T39" fmla="*/ 384 h 384"/>
                <a:gd name="T40" fmla="*/ 960 w 2256"/>
                <a:gd name="T41" fmla="*/ 384 h 384"/>
                <a:gd name="T42" fmla="*/ 960 w 2256"/>
                <a:gd name="T43" fmla="*/ 0 h 384"/>
                <a:gd name="T44" fmla="*/ 1056 w 2256"/>
                <a:gd name="T45" fmla="*/ 0 h 384"/>
                <a:gd name="T46" fmla="*/ 1056 w 2256"/>
                <a:gd name="T47" fmla="*/ 384 h 384"/>
                <a:gd name="T48" fmla="*/ 1152 w 2256"/>
                <a:gd name="T49" fmla="*/ 384 h 384"/>
                <a:gd name="T50" fmla="*/ 1152 w 2256"/>
                <a:gd name="T51" fmla="*/ 0 h 384"/>
                <a:gd name="T52" fmla="*/ 1248 w 2256"/>
                <a:gd name="T53" fmla="*/ 0 h 384"/>
                <a:gd name="T54" fmla="*/ 1248 w 2256"/>
                <a:gd name="T55" fmla="*/ 384 h 384"/>
                <a:gd name="T56" fmla="*/ 1344 w 2256"/>
                <a:gd name="T57" fmla="*/ 384 h 384"/>
                <a:gd name="T58" fmla="*/ 1344 w 2256"/>
                <a:gd name="T59" fmla="*/ 0 h 384"/>
                <a:gd name="T60" fmla="*/ 1440 w 2256"/>
                <a:gd name="T61" fmla="*/ 0 h 384"/>
                <a:gd name="T62" fmla="*/ 1440 w 2256"/>
                <a:gd name="T63" fmla="*/ 384 h 384"/>
                <a:gd name="T64" fmla="*/ 1536 w 2256"/>
                <a:gd name="T65" fmla="*/ 384 h 384"/>
                <a:gd name="T66" fmla="*/ 1536 w 2256"/>
                <a:gd name="T67" fmla="*/ 0 h 384"/>
                <a:gd name="T68" fmla="*/ 1632 w 2256"/>
                <a:gd name="T69" fmla="*/ 0 h 384"/>
                <a:gd name="T70" fmla="*/ 1632 w 2256"/>
                <a:gd name="T71" fmla="*/ 384 h 384"/>
                <a:gd name="T72" fmla="*/ 1728 w 2256"/>
                <a:gd name="T73" fmla="*/ 384 h 384"/>
                <a:gd name="T74" fmla="*/ 1728 w 2256"/>
                <a:gd name="T75" fmla="*/ 0 h 384"/>
                <a:gd name="T76" fmla="*/ 1824 w 2256"/>
                <a:gd name="T77" fmla="*/ 0 h 384"/>
                <a:gd name="T78" fmla="*/ 1824 w 2256"/>
                <a:gd name="T79" fmla="*/ 384 h 384"/>
                <a:gd name="T80" fmla="*/ 2256 w 2256"/>
                <a:gd name="T81"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0" name="Freeform 10"/>
            <p:cNvSpPr/>
            <p:nvPr/>
          </p:nvSpPr>
          <p:spPr bwMode="auto">
            <a:xfrm>
              <a:off x="4245" y="3337"/>
              <a:ext cx="890" cy="392"/>
            </a:xfrm>
            <a:custGeom>
              <a:avLst/>
              <a:gdLst>
                <a:gd name="T0" fmla="*/ 768 w 768"/>
                <a:gd name="T1" fmla="*/ 384 h 384"/>
                <a:gd name="T2" fmla="*/ 672 w 768"/>
                <a:gd name="T3" fmla="*/ 384 h 384"/>
                <a:gd name="T4" fmla="*/ 672 w 768"/>
                <a:gd name="T5" fmla="*/ 0 h 384"/>
                <a:gd name="T6" fmla="*/ 576 w 768"/>
                <a:gd name="T7" fmla="*/ 0 h 384"/>
                <a:gd name="T8" fmla="*/ 576 w 768"/>
                <a:gd name="T9" fmla="*/ 384 h 384"/>
                <a:gd name="T10" fmla="*/ 480 w 768"/>
                <a:gd name="T11" fmla="*/ 384 h 384"/>
                <a:gd name="T12" fmla="*/ 480 w 768"/>
                <a:gd name="T13" fmla="*/ 0 h 384"/>
                <a:gd name="T14" fmla="*/ 384 w 768"/>
                <a:gd name="T15" fmla="*/ 0 h 384"/>
                <a:gd name="T16" fmla="*/ 384 w 768"/>
                <a:gd name="T17" fmla="*/ 384 h 384"/>
                <a:gd name="T18" fmla="*/ 288 w 768"/>
                <a:gd name="T19" fmla="*/ 384 h 384"/>
                <a:gd name="T20" fmla="*/ 288 w 768"/>
                <a:gd name="T21" fmla="*/ 0 h 384"/>
                <a:gd name="T22" fmla="*/ 192 w 768"/>
                <a:gd name="T23" fmla="*/ 0 h 384"/>
                <a:gd name="T24" fmla="*/ 192 w 768"/>
                <a:gd name="T25" fmla="*/ 384 h 384"/>
                <a:gd name="T26" fmla="*/ 0 w 768"/>
                <a:gd name="T27"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6" name="Line 16"/>
            <p:cNvSpPr>
              <a:spLocks noChangeShapeType="1"/>
            </p:cNvSpPr>
            <p:nvPr/>
          </p:nvSpPr>
          <p:spPr bwMode="auto">
            <a:xfrm>
              <a:off x="1129" y="3533"/>
              <a:ext cx="4340" cy="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7" name="Text Box 17"/>
            <p:cNvSpPr txBox="1">
              <a:spLocks noChangeArrowheads="1"/>
            </p:cNvSpPr>
            <p:nvPr/>
          </p:nvSpPr>
          <p:spPr bwMode="auto">
            <a:xfrm>
              <a:off x="5166" y="3271"/>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333399"/>
                  </a:solidFill>
                  <a:ea typeface="黑体" panose="02010609060101010101" pitchFamily="2" charset="-122"/>
                </a:rPr>
                <a:t>时间</a:t>
              </a:r>
            </a:p>
          </p:txBody>
        </p:sp>
        <p:sp>
          <p:nvSpPr>
            <p:cNvPr id="87058" name="Line 18"/>
            <p:cNvSpPr>
              <a:spLocks noChangeShapeType="1"/>
            </p:cNvSpPr>
            <p:nvPr/>
          </p:nvSpPr>
          <p:spPr bwMode="auto">
            <a:xfrm>
              <a:off x="1352" y="3778"/>
              <a:ext cx="0" cy="196"/>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9" name="Line 19"/>
            <p:cNvSpPr>
              <a:spLocks noChangeShapeType="1"/>
            </p:cNvSpPr>
            <p:nvPr/>
          </p:nvSpPr>
          <p:spPr bwMode="auto">
            <a:xfrm>
              <a:off x="5135" y="3778"/>
              <a:ext cx="0" cy="196"/>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0" name="Line 20"/>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1" name="Text Box 21"/>
            <p:cNvSpPr txBox="1">
              <a:spLocks noChangeArrowheads="1"/>
            </p:cNvSpPr>
            <p:nvPr/>
          </p:nvSpPr>
          <p:spPr bwMode="auto">
            <a:xfrm>
              <a:off x="2468" y="3770"/>
              <a:ext cx="1331" cy="252"/>
            </a:xfrm>
            <a:prstGeom prst="rect">
              <a:avLst/>
            </a:prstGeom>
            <a:solidFill>
              <a:schemeClr val="bg1"/>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333399"/>
                  </a:solidFill>
                  <a:ea typeface="黑体" panose="02010609060101010101" pitchFamily="2" charset="-122"/>
                </a:rPr>
                <a:t>每</a:t>
              </a:r>
              <a:r>
                <a:rPr kumimoji="1" lang="zh-CN" altLang="en-US" sz="2000" b="1" dirty="0">
                  <a:solidFill>
                    <a:srgbClr val="333399"/>
                  </a:solidFill>
                  <a:ea typeface="黑体" panose="02010609060101010101" pitchFamily="2" charset="-122"/>
                  <a:sym typeface="Symbol" panose="05050102010706020507" pitchFamily="18" charset="2"/>
                </a:rPr>
                <a:t>秒</a:t>
              </a:r>
              <a:r>
                <a:rPr kumimoji="1" lang="zh-CN" altLang="en-US" sz="1600" b="1" dirty="0">
                  <a:solidFill>
                    <a:srgbClr val="333399"/>
                  </a:solidFill>
                  <a:ea typeface="黑体" panose="02010609060101010101" pitchFamily="2" charset="-122"/>
                  <a:sym typeface="Symbol" panose="05050102010706020507" pitchFamily="18" charset="2"/>
                </a:rPr>
                <a:t> </a:t>
              </a:r>
              <a:r>
                <a:rPr kumimoji="1" lang="en-US" altLang="zh-CN" sz="2000" b="1" dirty="0">
                  <a:solidFill>
                    <a:srgbClr val="333399"/>
                  </a:solidFill>
                  <a:ea typeface="黑体" panose="02010609060101010101" pitchFamily="2" charset="-122"/>
                  <a:sym typeface="Symbol" panose="05050102010706020507" pitchFamily="18" charset="2"/>
                </a:rPr>
                <a:t>4</a:t>
              </a:r>
              <a:r>
                <a:rPr kumimoji="1" lang="en-US" altLang="zh-CN" sz="1000" b="1" dirty="0">
                  <a:solidFill>
                    <a:srgbClr val="333399"/>
                  </a:solidFill>
                  <a:ea typeface="黑体" panose="02010609060101010101" pitchFamily="2" charset="-122"/>
                  <a:sym typeface="Symbol" panose="05050102010706020507" pitchFamily="18" charset="2"/>
                </a:rPr>
                <a:t> </a:t>
              </a:r>
              <a:r>
                <a:rPr kumimoji="1" lang="en-US" altLang="zh-CN" sz="2000" b="1" dirty="0">
                  <a:solidFill>
                    <a:srgbClr val="333399"/>
                  </a:solidFill>
                  <a:ea typeface="黑体" panose="02010609060101010101" pitchFamily="2" charset="-122"/>
                  <a:sym typeface="Symbol" panose="05050102010706020507" pitchFamily="18" charset="2"/>
                </a:rPr>
                <a:t></a:t>
              </a:r>
              <a:r>
                <a:rPr kumimoji="1" lang="en-US" altLang="zh-CN" sz="900" b="1" dirty="0">
                  <a:solidFill>
                    <a:srgbClr val="333399"/>
                  </a:solidFill>
                  <a:ea typeface="黑体" panose="02010609060101010101" pitchFamily="2" charset="-122"/>
                  <a:sym typeface="Symbol" panose="05050102010706020507" pitchFamily="18" charset="2"/>
                </a:rPr>
                <a:t> </a:t>
              </a:r>
              <a:r>
                <a:rPr kumimoji="1" lang="en-US" altLang="zh-CN" sz="2000" b="1" dirty="0">
                  <a:solidFill>
                    <a:srgbClr val="333399"/>
                  </a:solidFill>
                  <a:ea typeface="黑体" panose="02010609060101010101" pitchFamily="2" charset="-122"/>
                  <a:sym typeface="Symbol" panose="05050102010706020507" pitchFamily="18" charset="2"/>
                </a:rPr>
                <a:t>10</a:t>
              </a:r>
              <a:r>
                <a:rPr kumimoji="1" lang="en-US" altLang="zh-CN" sz="2000" b="1" baseline="30000" dirty="0">
                  <a:solidFill>
                    <a:srgbClr val="333399"/>
                  </a:solidFill>
                  <a:ea typeface="黑体" panose="02010609060101010101" pitchFamily="2" charset="-122"/>
                  <a:sym typeface="Symbol" panose="05050102010706020507" pitchFamily="18" charset="2"/>
                </a:rPr>
                <a:t>6</a:t>
              </a:r>
              <a:r>
                <a:rPr kumimoji="1" lang="en-US" altLang="zh-CN" sz="1400" b="1" baseline="30000" dirty="0">
                  <a:solidFill>
                    <a:srgbClr val="333399"/>
                  </a:solidFill>
                  <a:ea typeface="黑体" panose="02010609060101010101" pitchFamily="2" charset="-122"/>
                  <a:sym typeface="Symbol" panose="05050102010706020507" pitchFamily="18" charset="2"/>
                </a:rPr>
                <a:t> </a:t>
              </a:r>
              <a:r>
                <a:rPr kumimoji="1" lang="zh-CN" altLang="en-US" sz="2000" b="1" dirty="0">
                  <a:solidFill>
                    <a:srgbClr val="333399"/>
                  </a:solidFill>
                  <a:ea typeface="黑体" panose="02010609060101010101" pitchFamily="2" charset="-122"/>
                  <a:sym typeface="Symbol" panose="05050102010706020507" pitchFamily="18" charset="2"/>
                </a:rPr>
                <a:t>个比特</a:t>
              </a:r>
              <a:endParaRPr kumimoji="1" lang="zh-CN" altLang="en-US" sz="2000" b="1" dirty="0">
                <a:solidFill>
                  <a:srgbClr val="333399"/>
                </a:solidFill>
                <a:ea typeface="黑体" panose="02010609060101010101" pitchFamily="2" charset="-122"/>
              </a:endParaRPr>
            </a:p>
          </p:txBody>
        </p:sp>
        <p:sp>
          <p:nvSpPr>
            <p:cNvPr id="87062" name="Line 22"/>
            <p:cNvSpPr>
              <a:spLocks noChangeShapeType="1"/>
            </p:cNvSpPr>
            <p:nvPr/>
          </p:nvSpPr>
          <p:spPr bwMode="auto">
            <a:xfrm>
              <a:off x="2242" y="3190"/>
              <a:ext cx="0" cy="9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3" name="Line 23"/>
            <p:cNvSpPr>
              <a:spLocks noChangeShapeType="1"/>
            </p:cNvSpPr>
            <p:nvPr/>
          </p:nvSpPr>
          <p:spPr bwMode="auto">
            <a:xfrm>
              <a:off x="2353" y="3190"/>
              <a:ext cx="0" cy="9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4" name="Line 24"/>
            <p:cNvSpPr>
              <a:spLocks noChangeShapeType="1"/>
            </p:cNvSpPr>
            <p:nvPr/>
          </p:nvSpPr>
          <p:spPr bwMode="auto">
            <a:xfrm>
              <a:off x="1963" y="3239"/>
              <a:ext cx="279" cy="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5" name="Line 25"/>
            <p:cNvSpPr>
              <a:spLocks noChangeShapeType="1"/>
            </p:cNvSpPr>
            <p:nvPr/>
          </p:nvSpPr>
          <p:spPr bwMode="auto">
            <a:xfrm flipH="1">
              <a:off x="2353" y="3239"/>
              <a:ext cx="278" cy="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6" name="Text Box 26"/>
            <p:cNvSpPr txBox="1">
              <a:spLocks noChangeArrowheads="1"/>
            </p:cNvSpPr>
            <p:nvPr/>
          </p:nvSpPr>
          <p:spPr bwMode="auto">
            <a:xfrm>
              <a:off x="2074" y="2953"/>
              <a:ext cx="6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anose="02010609060101010101" pitchFamily="2" charset="-122"/>
                </a:rPr>
                <a:t>0.25 </a:t>
              </a:r>
              <a:r>
                <a:rPr kumimoji="1" lang="en-US" altLang="zh-CN" sz="2000" b="1">
                  <a:solidFill>
                    <a:srgbClr val="333399"/>
                  </a:solidFill>
                  <a:ea typeface="黑体" panose="02010609060101010101" pitchFamily="2" charset="-122"/>
                  <a:sym typeface="Symbol" panose="05050102010706020507" pitchFamily="18" charset="2"/>
                </a:rPr>
                <a:t>s</a:t>
              </a:r>
              <a:endParaRPr kumimoji="1" lang="en-US" altLang="zh-CN" sz="2000" b="1">
                <a:solidFill>
                  <a:srgbClr val="333399"/>
                </a:solidFill>
                <a:ea typeface="黑体" panose="02010609060101010101" pitchFamily="2" charset="-122"/>
              </a:endParaRPr>
            </a:p>
          </p:txBody>
        </p:sp>
        <p:sp>
          <p:nvSpPr>
            <p:cNvPr id="87072" name="Text Box 32"/>
            <p:cNvSpPr txBox="1">
              <a:spLocks noChangeArrowheads="1"/>
            </p:cNvSpPr>
            <p:nvPr/>
          </p:nvSpPr>
          <p:spPr bwMode="auto">
            <a:xfrm>
              <a:off x="204" y="3269"/>
              <a:ext cx="822" cy="523"/>
            </a:xfrm>
            <a:prstGeom prst="rect">
              <a:avLst/>
            </a:prstGeom>
            <a:solidFill>
              <a:srgbClr val="FFFF99"/>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CC"/>
                  </a:solidFill>
                  <a:ea typeface="黑体" panose="02010609060101010101" pitchFamily="2" charset="-122"/>
                </a:rPr>
                <a:t>带宽为</a:t>
              </a:r>
            </a:p>
            <a:p>
              <a:r>
                <a:rPr lang="en-US" altLang="zh-CN" sz="2400" b="1" dirty="0">
                  <a:solidFill>
                    <a:srgbClr val="0000CC"/>
                  </a:solidFill>
                  <a:ea typeface="黑体" panose="02010609060101010101" pitchFamily="2" charset="-122"/>
                </a:rPr>
                <a:t>4 Mbit/s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en-US" altLang="zh-CN" dirty="0"/>
              <a:t>3. </a:t>
            </a:r>
            <a:r>
              <a:rPr lang="zh-CN" altLang="en-US" dirty="0"/>
              <a:t>吞吐量</a:t>
            </a:r>
          </a:p>
        </p:txBody>
      </p:sp>
      <p:sp>
        <p:nvSpPr>
          <p:cNvPr id="379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zh-CN" altLang="en-US" dirty="0"/>
              <a:t>吞吐量 </a:t>
            </a:r>
            <a:r>
              <a:rPr lang="en-US" altLang="zh-CN" dirty="0"/>
              <a:t>(throughput) </a:t>
            </a:r>
            <a:r>
              <a:rPr lang="zh-CN" altLang="en-US" dirty="0"/>
              <a:t>表示在单位时间内通过某个网络（或信道、接口）的数据量。</a:t>
            </a:r>
          </a:p>
          <a:p>
            <a:pPr>
              <a:lnSpc>
                <a:spcPct val="110000"/>
              </a:lnSpc>
              <a:spcBef>
                <a:spcPts val="600"/>
              </a:spcBef>
            </a:pPr>
            <a:r>
              <a:rPr lang="zh-CN" altLang="en-US" dirty="0"/>
              <a:t>吞吐量更经常地用于对现实世界中的网络的一种测量，以便知道</a:t>
            </a:r>
            <a:r>
              <a:rPr lang="zh-CN" altLang="en-US" dirty="0">
                <a:solidFill>
                  <a:srgbClr val="FF0000"/>
                </a:solidFill>
              </a:rPr>
              <a:t>实际上到底有多少数据量能够通过网络。</a:t>
            </a:r>
          </a:p>
          <a:p>
            <a:pPr>
              <a:lnSpc>
                <a:spcPct val="110000"/>
              </a:lnSpc>
              <a:spcBef>
                <a:spcPts val="600"/>
              </a:spcBef>
            </a:pPr>
            <a:r>
              <a:rPr lang="zh-CN" altLang="en-US" dirty="0">
                <a:solidFill>
                  <a:srgbClr val="0000CC"/>
                </a:solidFill>
              </a:rPr>
              <a:t>吞吐量受网络的带宽或网络的额定速率的限制。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
        <p:nvSpPr>
          <p:cNvPr id="3" name="内容占位符 2"/>
          <p:cNvSpPr>
            <a:spLocks noGrp="1"/>
          </p:cNvSpPr>
          <p:nvPr>
            <p:ph idx="1"/>
          </p:nvPr>
        </p:nvSpPr>
        <p:spPr>
          <a:xfrm>
            <a:off x="495300" y="1196975"/>
            <a:ext cx="9065895" cy="5381625"/>
          </a:xfrm>
        </p:spPr>
        <p:txBody>
          <a:bodyPr/>
          <a:lstStyle/>
          <a:p>
            <a:r>
              <a:rPr lang="zh-CN" altLang="zh-CN" dirty="0"/>
              <a:t>时延</a:t>
            </a:r>
            <a:r>
              <a:rPr lang="en-US" altLang="zh-CN" dirty="0"/>
              <a:t> (delay </a:t>
            </a:r>
            <a:r>
              <a:rPr lang="zh-CN" altLang="zh-CN" dirty="0"/>
              <a:t>或</a:t>
            </a:r>
            <a:r>
              <a:rPr lang="en-US" altLang="zh-CN" dirty="0"/>
              <a:t> latency) </a:t>
            </a:r>
            <a:r>
              <a:rPr lang="zh-CN" altLang="zh-CN" dirty="0"/>
              <a:t>是指数据（一个报文或分组，甚至比特）从网络（或链路）的一端传送到另一端所需的时间</a:t>
            </a:r>
            <a:r>
              <a:rPr lang="zh-CN" altLang="en-US" dirty="0"/>
              <a:t>。</a:t>
            </a:r>
            <a:endParaRPr lang="en-US" altLang="zh-CN" dirty="0"/>
          </a:p>
          <a:p>
            <a:r>
              <a:rPr lang="zh-CN" altLang="zh-CN" dirty="0"/>
              <a:t>有时也称为</a:t>
            </a:r>
            <a:r>
              <a:rPr lang="zh-CN" altLang="zh-CN" dirty="0">
                <a:solidFill>
                  <a:srgbClr val="FF0000"/>
                </a:solidFill>
              </a:rPr>
              <a:t>延迟</a:t>
            </a:r>
            <a:r>
              <a:rPr lang="zh-CN" altLang="zh-CN" dirty="0"/>
              <a:t>或</a:t>
            </a:r>
            <a:r>
              <a:rPr lang="zh-CN" altLang="zh-CN" dirty="0">
                <a:solidFill>
                  <a:srgbClr val="FF0000"/>
                </a:solidFill>
              </a:rPr>
              <a:t>迟延</a:t>
            </a:r>
            <a:r>
              <a:rPr lang="zh-CN" altLang="en-US" dirty="0">
                <a:solidFill>
                  <a:srgbClr val="FF0000"/>
                </a:solidFill>
              </a:rPr>
              <a:t>。</a:t>
            </a:r>
            <a:endParaRPr lang="en-US" altLang="zh-CN" dirty="0">
              <a:solidFill>
                <a:srgbClr val="FF0000"/>
              </a:solidFill>
            </a:endParaRPr>
          </a:p>
          <a:p>
            <a:r>
              <a:rPr lang="zh-CN" altLang="zh-CN" dirty="0"/>
              <a:t>网络中的时延由以下几个不同的部分组成</a:t>
            </a:r>
            <a:r>
              <a:rPr lang="zh-CN" altLang="en-US" dirty="0"/>
              <a:t>：</a:t>
            </a:r>
            <a:endParaRPr lang="en-US" altLang="zh-CN" dirty="0"/>
          </a:p>
          <a:p>
            <a:pPr lvl="1"/>
            <a:r>
              <a:rPr lang="en-US" altLang="zh-CN" dirty="0"/>
              <a:t>(1) </a:t>
            </a:r>
            <a:r>
              <a:rPr lang="zh-CN" altLang="en-US" dirty="0"/>
              <a:t>发送时延</a:t>
            </a:r>
            <a:endParaRPr lang="en-US" altLang="zh-CN" dirty="0"/>
          </a:p>
          <a:p>
            <a:pPr lvl="1"/>
            <a:r>
              <a:rPr lang="en-US" altLang="zh-CN" dirty="0"/>
              <a:t>(2) </a:t>
            </a:r>
            <a:r>
              <a:rPr lang="zh-CN" altLang="en-US" dirty="0"/>
              <a:t>传播时延</a:t>
            </a:r>
            <a:endParaRPr lang="en-US" altLang="zh-CN" dirty="0"/>
          </a:p>
          <a:p>
            <a:pPr lvl="1"/>
            <a:r>
              <a:rPr lang="en-US" altLang="zh-CN" dirty="0"/>
              <a:t>(3) </a:t>
            </a:r>
            <a:r>
              <a:rPr lang="zh-CN" altLang="en-US" dirty="0"/>
              <a:t>处理时延</a:t>
            </a:r>
            <a:endParaRPr lang="en-US" altLang="zh-CN" dirty="0"/>
          </a:p>
          <a:p>
            <a:pPr lvl="1"/>
            <a:r>
              <a:rPr lang="en-US" altLang="zh-CN" dirty="0"/>
              <a:t>(4) </a:t>
            </a:r>
            <a:r>
              <a:rPr lang="zh-CN" altLang="en-US" dirty="0"/>
              <a:t>排队时延</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p>
        </p:txBody>
      </p:sp>
      <p:sp>
        <p:nvSpPr>
          <p:cNvPr id="8806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en-US" altLang="zh-CN" dirty="0">
                <a:solidFill>
                  <a:srgbClr val="0000CC"/>
                </a:solidFill>
              </a:rPr>
              <a:t>(1) </a:t>
            </a:r>
            <a:r>
              <a:rPr lang="zh-CN" altLang="en-US" dirty="0">
                <a:solidFill>
                  <a:srgbClr val="0000CC"/>
                </a:solidFill>
              </a:rPr>
              <a:t>发送时延</a:t>
            </a:r>
            <a:endParaRPr lang="en-US" altLang="zh-CN" dirty="0">
              <a:solidFill>
                <a:srgbClr val="0000CC"/>
              </a:solidFill>
            </a:endParaRPr>
          </a:p>
          <a:p>
            <a:pPr lvl="1">
              <a:lnSpc>
                <a:spcPct val="110000"/>
              </a:lnSpc>
              <a:spcBef>
                <a:spcPts val="600"/>
              </a:spcBef>
            </a:pPr>
            <a:r>
              <a:rPr lang="zh-CN" altLang="en-US" dirty="0"/>
              <a:t>也称为</a:t>
            </a:r>
            <a:r>
              <a:rPr lang="zh-CN" altLang="en-US" dirty="0">
                <a:solidFill>
                  <a:srgbClr val="FF0000"/>
                </a:solidFill>
              </a:rPr>
              <a:t>传输时延。</a:t>
            </a:r>
            <a:endParaRPr lang="en-US" altLang="zh-CN" dirty="0">
              <a:solidFill>
                <a:srgbClr val="FF0000"/>
              </a:solidFill>
            </a:endParaRPr>
          </a:p>
          <a:p>
            <a:pPr lvl="1">
              <a:lnSpc>
                <a:spcPct val="110000"/>
              </a:lnSpc>
              <a:spcBef>
                <a:spcPts val="600"/>
              </a:spcBef>
            </a:pPr>
            <a:r>
              <a:rPr lang="zh-CN" altLang="en-US" dirty="0"/>
              <a:t>发送数据时，数据帧从结点进入到传输媒体所需要的时间。</a:t>
            </a:r>
          </a:p>
          <a:p>
            <a:pPr lvl="1">
              <a:lnSpc>
                <a:spcPct val="110000"/>
              </a:lnSpc>
              <a:spcBef>
                <a:spcPts val="600"/>
              </a:spcBef>
            </a:pPr>
            <a:r>
              <a:rPr lang="zh-CN" altLang="en-US" dirty="0"/>
              <a:t>也就是从发送数据帧的第一个比特算起，到该帧的最后一个比特发送完毕所需的时间。 </a:t>
            </a:r>
          </a:p>
        </p:txBody>
      </p:sp>
      <p:sp>
        <p:nvSpPr>
          <p:cNvPr id="88069" name="Rectangle 5"/>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8081" name="Group 17"/>
          <p:cNvGrpSpPr/>
          <p:nvPr/>
        </p:nvGrpSpPr>
        <p:grpSpPr bwMode="auto">
          <a:xfrm>
            <a:off x="2144688" y="4571622"/>
            <a:ext cx="5695950" cy="1225550"/>
            <a:chOff x="1574" y="3066"/>
            <a:chExt cx="3211" cy="772"/>
          </a:xfrm>
        </p:grpSpPr>
        <p:sp>
          <p:nvSpPr>
            <p:cNvPr id="88078" name="Rectangle 14"/>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黑体" panose="02010609060101010101" pitchFamily="2" charset="-122"/>
              </a:endParaRPr>
            </a:p>
          </p:txBody>
        </p:sp>
        <p:sp>
          <p:nvSpPr>
            <p:cNvPr id="88073" name="Text Box 9"/>
            <p:cNvSpPr txBox="1">
              <a:spLocks noChangeArrowheads="1"/>
            </p:cNvSpPr>
            <p:nvPr/>
          </p:nvSpPr>
          <p:spPr bwMode="auto">
            <a:xfrm>
              <a:off x="1688" y="3286"/>
              <a:ext cx="1148"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anose="02010609060101010101" pitchFamily="2" charset="-122"/>
                </a:rPr>
                <a:t>发送时延 </a:t>
              </a:r>
              <a:r>
                <a:rPr lang="en-US" altLang="zh-CN" sz="2800" b="1" dirty="0">
                  <a:solidFill>
                    <a:srgbClr val="0000CC"/>
                  </a:solidFill>
                  <a:latin typeface="+mn-lt"/>
                  <a:ea typeface="黑体" panose="02010609060101010101" pitchFamily="2" charset="-122"/>
                </a:rPr>
                <a:t>= </a:t>
              </a:r>
            </a:p>
          </p:txBody>
        </p:sp>
        <p:sp>
          <p:nvSpPr>
            <p:cNvPr id="88074" name="Text Box 10"/>
            <p:cNvSpPr txBox="1">
              <a:spLocks noChangeArrowheads="1"/>
            </p:cNvSpPr>
            <p:nvPr/>
          </p:nvSpPr>
          <p:spPr bwMode="auto">
            <a:xfrm>
              <a:off x="2789" y="3150"/>
              <a:ext cx="1775"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anose="02010609060101010101" pitchFamily="2" charset="-122"/>
                </a:rPr>
                <a:t>数据帧长度（</a:t>
              </a:r>
              <a:r>
                <a:rPr lang="en-US" altLang="zh-CN" sz="2800" b="1" dirty="0">
                  <a:solidFill>
                    <a:srgbClr val="FF0000"/>
                  </a:solidFill>
                  <a:latin typeface="+mn-lt"/>
                  <a:ea typeface="黑体" panose="02010609060101010101" pitchFamily="2" charset="-122"/>
                </a:rPr>
                <a:t>bit</a:t>
              </a:r>
              <a:r>
                <a:rPr lang="zh-CN" altLang="en-US" sz="2800" b="1" dirty="0">
                  <a:solidFill>
                    <a:srgbClr val="0000CC"/>
                  </a:solidFill>
                  <a:latin typeface="+mn-lt"/>
                  <a:ea typeface="黑体" panose="02010609060101010101" pitchFamily="2" charset="-122"/>
                </a:rPr>
                <a:t>）</a:t>
              </a:r>
            </a:p>
          </p:txBody>
        </p:sp>
        <p:sp>
          <p:nvSpPr>
            <p:cNvPr id="88075" name="Text Box 11"/>
            <p:cNvSpPr txBox="1">
              <a:spLocks noChangeArrowheads="1"/>
            </p:cNvSpPr>
            <p:nvPr/>
          </p:nvSpPr>
          <p:spPr bwMode="auto">
            <a:xfrm>
              <a:off x="2858" y="3467"/>
              <a:ext cx="1741"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anose="02010609060101010101" pitchFamily="2" charset="-122"/>
                </a:rPr>
                <a:t>发送速率（</a:t>
              </a:r>
              <a:r>
                <a:rPr lang="en-US" altLang="zh-CN" sz="2800" b="1" dirty="0">
                  <a:solidFill>
                    <a:srgbClr val="FF0000"/>
                  </a:solidFill>
                  <a:latin typeface="+mn-lt"/>
                  <a:ea typeface="黑体" panose="02010609060101010101" pitchFamily="2" charset="-122"/>
                </a:rPr>
                <a:t>bit/s</a:t>
              </a:r>
              <a:r>
                <a:rPr lang="zh-CN" altLang="en-US" sz="2800" b="1" dirty="0">
                  <a:solidFill>
                    <a:srgbClr val="0000CC"/>
                  </a:solidFill>
                  <a:latin typeface="+mn-lt"/>
                  <a:ea typeface="黑体" panose="02010609060101010101" pitchFamily="2" charset="-122"/>
                </a:rPr>
                <a:t>）</a:t>
              </a:r>
            </a:p>
          </p:txBody>
        </p:sp>
        <p:sp>
          <p:nvSpPr>
            <p:cNvPr id="88076" name="Line 12"/>
            <p:cNvSpPr>
              <a:spLocks noChangeShapeType="1"/>
            </p:cNvSpPr>
            <p:nvPr/>
          </p:nvSpPr>
          <p:spPr bwMode="auto">
            <a:xfrm>
              <a:off x="2789" y="3459"/>
              <a:ext cx="1819" cy="0"/>
            </a:xfrm>
            <a:prstGeom prst="line">
              <a:avLst/>
            </a:prstGeom>
            <a:noFill/>
            <a:ln w="28575">
              <a:solidFill>
                <a:srgbClr val="0000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0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8081"/>
                                        </p:tgtEl>
                                        <p:attrNameLst>
                                          <p:attrName>style.visibility</p:attrName>
                                        </p:attrNameLst>
                                      </p:cBhvr>
                                      <p:to>
                                        <p:strVal val="visible"/>
                                      </p:to>
                                    </p:set>
                                  </p:childTnLst>
                                </p:cTn>
                              </p:par>
                            </p:childTnLst>
                          </p:cTn>
                        </p:par>
                        <p:par>
                          <p:cTn id="17" fill="hold">
                            <p:stCondLst>
                              <p:cond delay="0"/>
                            </p:stCondLst>
                            <p:childTnLst>
                              <p:par>
                                <p:cTn id="18" presetID="6" presetClass="emph" presetSubtype="0" fill="hold" nodeType="afterEffect">
                                  <p:stCondLst>
                                    <p:cond delay="0"/>
                                  </p:stCondLst>
                                  <p:childTnLst>
                                    <p:animScale>
                                      <p:cBhvr>
                                        <p:cTn id="19" dur="1000" fill="hold"/>
                                        <p:tgtEl>
                                          <p:spTgt spid="8808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p>
        </p:txBody>
      </p:sp>
      <p:sp>
        <p:nvSpPr>
          <p:cNvPr id="890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en-US" altLang="zh-CN" dirty="0">
                <a:solidFill>
                  <a:srgbClr val="0000CC"/>
                </a:solidFill>
              </a:rPr>
              <a:t>(2) </a:t>
            </a:r>
            <a:r>
              <a:rPr lang="zh-CN" altLang="en-US" dirty="0">
                <a:solidFill>
                  <a:srgbClr val="0000CC"/>
                </a:solidFill>
              </a:rPr>
              <a:t>传播时延</a:t>
            </a:r>
            <a:endParaRPr lang="en-US" altLang="zh-CN" dirty="0">
              <a:solidFill>
                <a:srgbClr val="0000CC"/>
              </a:solidFill>
            </a:endParaRPr>
          </a:p>
          <a:p>
            <a:pPr lvl="1">
              <a:lnSpc>
                <a:spcPct val="110000"/>
              </a:lnSpc>
              <a:spcBef>
                <a:spcPts val="600"/>
              </a:spcBef>
            </a:pPr>
            <a:r>
              <a:rPr lang="zh-CN" altLang="en-US" dirty="0"/>
              <a:t>电磁波在信道中需要传播一定的距离而花费的时间。 </a:t>
            </a:r>
          </a:p>
          <a:p>
            <a:pPr lvl="1">
              <a:lnSpc>
                <a:spcPct val="110000"/>
              </a:lnSpc>
              <a:spcBef>
                <a:spcPts val="600"/>
              </a:spcBef>
            </a:pPr>
            <a:r>
              <a:rPr lang="zh-CN" altLang="en-US" dirty="0">
                <a:solidFill>
                  <a:srgbClr val="FF0000"/>
                </a:solidFill>
              </a:rPr>
              <a:t>发送时延与传播时延</a:t>
            </a:r>
            <a:r>
              <a:rPr lang="zh-CN" altLang="zh-CN" dirty="0">
                <a:solidFill>
                  <a:srgbClr val="FF0000"/>
                </a:solidFill>
              </a:rPr>
              <a:t>有本质上的不同</a:t>
            </a:r>
            <a:r>
              <a:rPr lang="zh-CN" altLang="en-US" dirty="0">
                <a:solidFill>
                  <a:srgbClr val="FF0000"/>
                </a:solidFill>
              </a:rPr>
              <a:t>。</a:t>
            </a:r>
            <a:endParaRPr lang="en-US" altLang="zh-CN" dirty="0">
              <a:solidFill>
                <a:srgbClr val="FF0000"/>
              </a:solidFill>
            </a:endParaRPr>
          </a:p>
          <a:p>
            <a:pPr lvl="1">
              <a:lnSpc>
                <a:spcPct val="110000"/>
              </a:lnSpc>
              <a:spcBef>
                <a:spcPts val="600"/>
              </a:spcBef>
            </a:pPr>
            <a:r>
              <a:rPr lang="zh-CN" altLang="en-US" dirty="0"/>
              <a:t>信号</a:t>
            </a:r>
            <a:r>
              <a:rPr lang="zh-CN" altLang="en-US" dirty="0">
                <a:solidFill>
                  <a:srgbClr val="FF0000"/>
                </a:solidFill>
              </a:rPr>
              <a:t>发送速率</a:t>
            </a:r>
            <a:r>
              <a:rPr lang="zh-CN" altLang="en-US" dirty="0"/>
              <a:t>和信号在信道上的</a:t>
            </a:r>
            <a:r>
              <a:rPr lang="zh-CN" altLang="en-US" dirty="0">
                <a:solidFill>
                  <a:srgbClr val="FF0000"/>
                </a:solidFill>
              </a:rPr>
              <a:t>传播速率</a:t>
            </a:r>
            <a:r>
              <a:rPr lang="zh-CN" altLang="en-US" dirty="0"/>
              <a:t>是</a:t>
            </a:r>
            <a:r>
              <a:rPr lang="zh-CN" altLang="en-US" dirty="0">
                <a:solidFill>
                  <a:srgbClr val="FF0000"/>
                </a:solidFill>
              </a:rPr>
              <a:t>完全不同</a:t>
            </a:r>
            <a:r>
              <a:rPr lang="zh-CN" altLang="en-US" dirty="0"/>
              <a:t>的概念。 </a:t>
            </a:r>
          </a:p>
          <a:p>
            <a:pPr>
              <a:lnSpc>
                <a:spcPct val="110000"/>
              </a:lnSpc>
              <a:spcBef>
                <a:spcPts val="600"/>
              </a:spcBef>
            </a:pPr>
            <a:endParaRPr lang="en-US" altLang="zh-CN" dirty="0"/>
          </a:p>
        </p:txBody>
      </p:sp>
      <p:sp>
        <p:nvSpPr>
          <p:cNvPr id="89092"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9108" name="Group 20"/>
          <p:cNvGrpSpPr/>
          <p:nvPr/>
        </p:nvGrpSpPr>
        <p:grpSpPr bwMode="auto">
          <a:xfrm>
            <a:off x="992560" y="4149080"/>
            <a:ext cx="8016546" cy="1225550"/>
            <a:chOff x="1020" y="2840"/>
            <a:chExt cx="4316" cy="772"/>
          </a:xfrm>
        </p:grpSpPr>
        <p:sp>
          <p:nvSpPr>
            <p:cNvPr id="89095" name="Rectangle 7"/>
            <p:cNvSpPr>
              <a:spLocks noChangeArrowheads="1"/>
            </p:cNvSpPr>
            <p:nvPr/>
          </p:nvSpPr>
          <p:spPr bwMode="auto">
            <a:xfrm>
              <a:off x="1020" y="2840"/>
              <a:ext cx="4316" cy="772"/>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anose="02010609060101010101" pitchFamily="2" charset="-122"/>
              </a:endParaRPr>
            </a:p>
          </p:txBody>
        </p:sp>
        <p:sp>
          <p:nvSpPr>
            <p:cNvPr id="89097" name="Text Box 9"/>
            <p:cNvSpPr txBox="1">
              <a:spLocks noChangeArrowheads="1"/>
            </p:cNvSpPr>
            <p:nvPr/>
          </p:nvSpPr>
          <p:spPr bwMode="auto">
            <a:xfrm>
              <a:off x="1134" y="3060"/>
              <a:ext cx="1096"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anose="02010609060101010101" pitchFamily="2" charset="-122"/>
                </a:rPr>
                <a:t>传播时延 </a:t>
              </a:r>
              <a:r>
                <a:rPr lang="en-US" altLang="zh-CN" sz="2800" b="1" dirty="0">
                  <a:solidFill>
                    <a:srgbClr val="0000CC"/>
                  </a:solidFill>
                  <a:latin typeface="+mn-lt"/>
                  <a:ea typeface="黑体" panose="02010609060101010101" pitchFamily="2" charset="-122"/>
                </a:rPr>
                <a:t>= </a:t>
              </a:r>
            </a:p>
          </p:txBody>
        </p:sp>
        <p:sp>
          <p:nvSpPr>
            <p:cNvPr id="89098" name="Text Box 10"/>
            <p:cNvSpPr txBox="1">
              <a:spLocks noChangeArrowheads="1"/>
            </p:cNvSpPr>
            <p:nvPr/>
          </p:nvSpPr>
          <p:spPr bwMode="auto">
            <a:xfrm>
              <a:off x="3015" y="2916"/>
              <a:ext cx="1459"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anose="02010609060101010101" pitchFamily="2" charset="-122"/>
                </a:rPr>
                <a:t>信道长度（</a:t>
              </a:r>
              <a:r>
                <a:rPr lang="zh-CN" altLang="en-US" sz="2800" b="1" dirty="0">
                  <a:solidFill>
                    <a:srgbClr val="FF0000"/>
                  </a:solidFill>
                  <a:latin typeface="+mn-lt"/>
                  <a:ea typeface="黑体" panose="02010609060101010101" pitchFamily="2" charset="-122"/>
                </a:rPr>
                <a:t>米</a:t>
              </a:r>
              <a:r>
                <a:rPr lang="zh-CN" altLang="en-US" sz="2800" b="1" dirty="0">
                  <a:solidFill>
                    <a:srgbClr val="0000CC"/>
                  </a:solidFill>
                  <a:latin typeface="+mn-lt"/>
                  <a:ea typeface="黑体" panose="02010609060101010101" pitchFamily="2" charset="-122"/>
                </a:rPr>
                <a:t>）</a:t>
              </a:r>
            </a:p>
          </p:txBody>
        </p:sp>
        <p:sp>
          <p:nvSpPr>
            <p:cNvPr id="89099" name="Text Box 11"/>
            <p:cNvSpPr txBox="1">
              <a:spLocks noChangeArrowheads="1"/>
            </p:cNvSpPr>
            <p:nvPr/>
          </p:nvSpPr>
          <p:spPr bwMode="auto">
            <a:xfrm>
              <a:off x="2147" y="3248"/>
              <a:ext cx="3137"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0000CC"/>
                  </a:solidFill>
                  <a:latin typeface="+mn-lt"/>
                  <a:ea typeface="黑体" panose="02010609060101010101" pitchFamily="2" charset="-122"/>
                </a:rPr>
                <a:t>信号在信道上的传播速率（</a:t>
              </a:r>
              <a:r>
                <a:rPr lang="zh-CN" altLang="en-US" sz="2800" b="1" dirty="0">
                  <a:solidFill>
                    <a:srgbClr val="FF0000"/>
                  </a:solidFill>
                  <a:latin typeface="+mn-lt"/>
                  <a:ea typeface="黑体" panose="02010609060101010101" pitchFamily="2" charset="-122"/>
                </a:rPr>
                <a:t>米</a:t>
              </a:r>
              <a:r>
                <a:rPr lang="en-US" altLang="zh-CN" sz="2800" b="1" dirty="0">
                  <a:solidFill>
                    <a:srgbClr val="FF0000"/>
                  </a:solidFill>
                  <a:latin typeface="+mn-lt"/>
                  <a:ea typeface="黑体" panose="02010609060101010101" pitchFamily="2" charset="-122"/>
                </a:rPr>
                <a:t>/</a:t>
              </a:r>
              <a:r>
                <a:rPr lang="zh-CN" altLang="en-US" sz="2800" b="1" dirty="0">
                  <a:solidFill>
                    <a:srgbClr val="FF0000"/>
                  </a:solidFill>
                  <a:latin typeface="+mn-lt"/>
                  <a:ea typeface="黑体" panose="02010609060101010101" pitchFamily="2" charset="-122"/>
                </a:rPr>
                <a:t>秒</a:t>
              </a:r>
              <a:r>
                <a:rPr lang="zh-CN" altLang="en-US" sz="2800" b="1" dirty="0">
                  <a:solidFill>
                    <a:srgbClr val="0000CC"/>
                  </a:solidFill>
                  <a:latin typeface="+mn-lt"/>
                  <a:ea typeface="黑体" panose="02010609060101010101" pitchFamily="2" charset="-122"/>
                </a:rPr>
                <a:t>）</a:t>
              </a:r>
            </a:p>
          </p:txBody>
        </p:sp>
        <p:sp>
          <p:nvSpPr>
            <p:cNvPr id="89100" name="Line 12"/>
            <p:cNvSpPr>
              <a:spLocks noChangeShapeType="1"/>
            </p:cNvSpPr>
            <p:nvPr/>
          </p:nvSpPr>
          <p:spPr bwMode="auto">
            <a:xfrm>
              <a:off x="2152" y="3233"/>
              <a:ext cx="2977" cy="13"/>
            </a:xfrm>
            <a:prstGeom prst="line">
              <a:avLst/>
            </a:prstGeom>
            <a:noFill/>
            <a:ln w="28575">
              <a:solidFill>
                <a:srgbClr val="0000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CC"/>
                </a:solidFill>
                <a:latin typeface="+mn-lt"/>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0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90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09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9108"/>
                                        </p:tgtEl>
                                        <p:attrNameLst>
                                          <p:attrName>style.visibility</p:attrName>
                                        </p:attrNameLst>
                                      </p:cBhvr>
                                      <p:to>
                                        <p:strVal val="visible"/>
                                      </p:to>
                                    </p:set>
                                  </p:childTnLst>
                                </p:cTn>
                              </p:par>
                            </p:childTnLst>
                          </p:cTn>
                        </p:par>
                        <p:par>
                          <p:cTn id="17" fill="hold">
                            <p:stCondLst>
                              <p:cond delay="0"/>
                            </p:stCondLst>
                            <p:childTnLst>
                              <p:par>
                                <p:cTn id="18" presetID="6" presetClass="emph" presetSubtype="0" fill="hold" nodeType="afterEffect">
                                  <p:stCondLst>
                                    <p:cond delay="0"/>
                                  </p:stCondLst>
                                  <p:childTnLst>
                                    <p:animScale>
                                      <p:cBhvr>
                                        <p:cTn id="19" dur="1000" fill="hold"/>
                                        <p:tgtEl>
                                          <p:spTgt spid="8910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发送时延与传播时延对比</a:t>
            </a:r>
          </a:p>
        </p:txBody>
      </p:sp>
      <p:pic>
        <p:nvPicPr>
          <p:cNvPr id="3" name="图片 2"/>
          <p:cNvPicPr>
            <a:picLocks noChangeAspect="1"/>
          </p:cNvPicPr>
          <p:nvPr/>
        </p:nvPicPr>
        <p:blipFill rotWithShape="1">
          <a:blip r:embed="rId2"/>
          <a:srcRect t="1" b="27886"/>
          <a:stretch>
            <a:fillRect/>
          </a:stretch>
        </p:blipFill>
        <p:spPr>
          <a:xfrm>
            <a:off x="323056" y="1283052"/>
            <a:ext cx="9410699" cy="2217956"/>
          </a:xfrm>
          <a:prstGeom prst="rect">
            <a:avLst/>
          </a:prstGeom>
        </p:spPr>
      </p:pic>
      <p:sp>
        <p:nvSpPr>
          <p:cNvPr id="4" name="文本框 3"/>
          <p:cNvSpPr txBox="1"/>
          <p:nvPr/>
        </p:nvSpPr>
        <p:spPr>
          <a:xfrm>
            <a:off x="815937" y="3787288"/>
            <a:ext cx="8424936" cy="2862322"/>
          </a:xfrm>
          <a:prstGeom prst="rect">
            <a:avLst/>
          </a:prstGeom>
          <a:noFill/>
        </p:spPr>
        <p:txBody>
          <a:bodyPr wrap="square" rtlCol="0">
            <a:spAutoFit/>
          </a:bodyPr>
          <a:lstStyle/>
          <a:p>
            <a:r>
              <a:rPr lang="zh-CN" altLang="en-US" sz="2000" b="1" dirty="0">
                <a:latin typeface="+mn-lt"/>
                <a:ea typeface="黑体" panose="02010609060101010101" pitchFamily="2" charset="-122"/>
              </a:rPr>
              <a:t>     可认为收费站间的公路段是链路，收费站是路由器。假定汽车以</a:t>
            </a:r>
            <a:r>
              <a:rPr lang="en-US" altLang="zh-CN" sz="2000" b="1" dirty="0">
                <a:latin typeface="+mn-lt"/>
                <a:ea typeface="黑体" panose="02010609060101010101" pitchFamily="2" charset="-122"/>
              </a:rPr>
              <a:t>100km/h</a:t>
            </a:r>
            <a:r>
              <a:rPr lang="zh-CN" altLang="en-US" sz="2000" b="1" dirty="0">
                <a:latin typeface="+mn-lt"/>
                <a:ea typeface="黑体" panose="02010609060101010101" pitchFamily="2" charset="-122"/>
              </a:rPr>
              <a:t>的速度在该公路上行驶（即传播）（即当一辆汽车离开一个收费站时，它立即加速到</a:t>
            </a:r>
            <a:r>
              <a:rPr lang="en-US" altLang="zh-CN" sz="2000" b="1" dirty="0">
                <a:latin typeface="+mn-lt"/>
                <a:ea typeface="黑体" panose="02010609060101010101" pitchFamily="2" charset="-122"/>
              </a:rPr>
              <a:t>100km/h</a:t>
            </a:r>
            <a:r>
              <a:rPr lang="zh-CN" altLang="en-US" sz="2000" b="1" dirty="0">
                <a:latin typeface="+mn-lt"/>
                <a:ea typeface="黑体" panose="02010609060101010101" pitchFamily="2" charset="-122"/>
              </a:rPr>
              <a:t>并在收费站间维持该速度）。假定这时有</a:t>
            </a:r>
            <a:r>
              <a:rPr lang="en-US" altLang="zh-CN" sz="2000" b="1" dirty="0">
                <a:latin typeface="+mn-lt"/>
                <a:ea typeface="黑体" panose="02010609060101010101" pitchFamily="2" charset="-122"/>
              </a:rPr>
              <a:t>10</a:t>
            </a:r>
            <a:r>
              <a:rPr lang="zh-CN" altLang="en-US" sz="2000" b="1" dirty="0">
                <a:latin typeface="+mn-lt"/>
                <a:ea typeface="黑体" panose="02010609060101010101" pitchFamily="2" charset="-122"/>
              </a:rPr>
              <a:t>辆汽车的车队在行驶，并且这</a:t>
            </a:r>
            <a:r>
              <a:rPr lang="en-US" altLang="zh-CN" sz="2000" b="1" dirty="0">
                <a:latin typeface="+mn-lt"/>
                <a:ea typeface="黑体" panose="02010609060101010101" pitchFamily="2" charset="-122"/>
              </a:rPr>
              <a:t>10</a:t>
            </a:r>
            <a:r>
              <a:rPr lang="zh-CN" altLang="en-US" sz="2000" b="1" dirty="0">
                <a:latin typeface="+mn-lt"/>
                <a:ea typeface="黑体" panose="02010609060101010101" pitchFamily="2" charset="-122"/>
              </a:rPr>
              <a:t>辆汽车以固定的顺序互相跟随。可以认为每辆汽车是一个比特，该车队是一个分组。同时假定每个收费站以每辆车</a:t>
            </a:r>
            <a:r>
              <a:rPr lang="en-US" altLang="zh-CN" sz="2000" b="1" dirty="0">
                <a:latin typeface="+mn-lt"/>
                <a:ea typeface="黑体" panose="02010609060101010101" pitchFamily="2" charset="-122"/>
              </a:rPr>
              <a:t>12s</a:t>
            </a:r>
            <a:r>
              <a:rPr lang="zh-CN" altLang="en-US" sz="2000" b="1" dirty="0">
                <a:latin typeface="+mn-lt"/>
                <a:ea typeface="黑体" panose="02010609060101010101" pitchFamily="2" charset="-122"/>
              </a:rPr>
              <a:t>的速度服务（即传输）一辆汽车，由于时间是深夜，因此该车队是公路上唯一一批汽车。最后，假定无论该车队的第一辆汽车何时到达收费站，它在入口处等待，直到其他</a:t>
            </a:r>
            <a:r>
              <a:rPr lang="en-US" altLang="zh-CN" sz="2000" b="1" dirty="0">
                <a:latin typeface="+mn-lt"/>
                <a:ea typeface="黑体" panose="02010609060101010101" pitchFamily="2" charset="-122"/>
              </a:rPr>
              <a:t>9</a:t>
            </a:r>
            <a:r>
              <a:rPr lang="zh-CN" altLang="en-US" sz="2000" b="1" dirty="0">
                <a:latin typeface="+mn-lt"/>
                <a:ea typeface="黑体" panose="02010609060101010101" pitchFamily="2" charset="-122"/>
              </a:rPr>
              <a:t>辆汽车到达并整队依次前行。问：发送时延和传播时延的计算。</a:t>
            </a:r>
          </a:p>
        </p:txBody>
      </p:sp>
      <p:sp>
        <p:nvSpPr>
          <p:cNvPr id="5" name="文本框 4"/>
          <p:cNvSpPr txBox="1"/>
          <p:nvPr/>
        </p:nvSpPr>
        <p:spPr>
          <a:xfrm>
            <a:off x="1136576" y="3614323"/>
            <a:ext cx="7488832" cy="3046988"/>
          </a:xfrm>
          <a:prstGeom prst="rect">
            <a:avLst/>
          </a:prstGeom>
          <a:noFill/>
        </p:spPr>
        <p:txBody>
          <a:bodyPr wrap="square" rtlCol="0">
            <a:spAutoFit/>
          </a:bodyPr>
          <a:lstStyle/>
          <a:p>
            <a:r>
              <a:rPr lang="zh-CN" altLang="en-US" sz="2400" b="1" dirty="0">
                <a:latin typeface="+mn-lt"/>
                <a:ea typeface="黑体" panose="02010609060101010101" pitchFamily="2" charset="-122"/>
              </a:rPr>
              <a:t>收费站将整个车队推向公路所需要的时间是（</a:t>
            </a:r>
            <a:r>
              <a:rPr lang="en-US" altLang="zh-CN" sz="2400" b="1" dirty="0">
                <a:latin typeface="+mn-lt"/>
                <a:ea typeface="黑体" panose="02010609060101010101" pitchFamily="2" charset="-122"/>
              </a:rPr>
              <a:t>10</a:t>
            </a:r>
            <a:r>
              <a:rPr lang="zh-CN" altLang="en-US" sz="2400" b="1" dirty="0">
                <a:latin typeface="+mn-lt"/>
                <a:ea typeface="黑体" panose="02010609060101010101" pitchFamily="2" charset="-122"/>
              </a:rPr>
              <a:t>辆车）</a:t>
            </a:r>
            <a:r>
              <a:rPr lang="en-US" altLang="zh-CN" sz="2400" b="1" dirty="0">
                <a:latin typeface="+mn-lt"/>
                <a:ea typeface="黑体" panose="02010609060101010101" pitchFamily="2" charset="-122"/>
              </a:rPr>
              <a:t>/</a:t>
            </a:r>
            <a:r>
              <a:rPr lang="zh-CN" altLang="en-US" sz="2400" b="1" dirty="0">
                <a:latin typeface="+mn-lt"/>
                <a:ea typeface="黑体" panose="02010609060101010101" pitchFamily="2" charset="-122"/>
              </a:rPr>
              <a:t>（</a:t>
            </a:r>
            <a:r>
              <a:rPr lang="en-US" altLang="zh-CN" sz="2400" b="1" dirty="0">
                <a:latin typeface="+mn-lt"/>
                <a:ea typeface="黑体" panose="02010609060101010101" pitchFamily="2" charset="-122"/>
              </a:rPr>
              <a:t>5</a:t>
            </a:r>
            <a:r>
              <a:rPr lang="zh-CN" altLang="en-US" sz="2400" b="1" dirty="0">
                <a:latin typeface="+mn-lt"/>
                <a:ea typeface="黑体" panose="02010609060101010101" pitchFamily="2" charset="-122"/>
              </a:rPr>
              <a:t>辆车</a:t>
            </a:r>
            <a:r>
              <a:rPr lang="en-US" altLang="zh-CN" sz="2400" b="1" dirty="0">
                <a:latin typeface="+mn-lt"/>
                <a:ea typeface="黑体" panose="02010609060101010101" pitchFamily="2" charset="-122"/>
              </a:rPr>
              <a:t>/min</a:t>
            </a:r>
            <a:r>
              <a:rPr lang="zh-CN" altLang="en-US" sz="2400" b="1" dirty="0">
                <a:latin typeface="+mn-lt"/>
                <a:ea typeface="黑体" panose="02010609060101010101" pitchFamily="2" charset="-122"/>
              </a:rPr>
              <a:t>）</a:t>
            </a:r>
            <a:r>
              <a:rPr lang="en-US" altLang="zh-CN" sz="2400" b="1" dirty="0">
                <a:latin typeface="+mn-lt"/>
                <a:ea typeface="黑体" panose="02010609060101010101" pitchFamily="2" charset="-122"/>
              </a:rPr>
              <a:t>=2min</a:t>
            </a:r>
            <a:r>
              <a:rPr lang="zh-CN" altLang="en-US" sz="2400" b="1" dirty="0">
                <a:latin typeface="+mn-lt"/>
                <a:ea typeface="黑体" panose="02010609060101010101" pitchFamily="2" charset="-122"/>
              </a:rPr>
              <a:t>。该时间类比于一台路由器中的传输时延。因此，一辆汽车从一个收费站出口行驶到下一个收费站所需要的时间是</a:t>
            </a:r>
            <a:r>
              <a:rPr lang="en-US" altLang="zh-CN" sz="2400" b="1" dirty="0">
                <a:latin typeface="+mn-lt"/>
                <a:ea typeface="黑体" panose="02010609060101010101" pitchFamily="2" charset="-122"/>
              </a:rPr>
              <a:t>100h/</a:t>
            </a:r>
            <a:r>
              <a:rPr lang="zh-CN" altLang="en-US" sz="2400" b="1" dirty="0">
                <a:latin typeface="+mn-lt"/>
                <a:ea typeface="黑体" panose="02010609060101010101" pitchFamily="2" charset="-122"/>
              </a:rPr>
              <a:t>（</a:t>
            </a:r>
            <a:r>
              <a:rPr lang="en-US" altLang="zh-CN" sz="2400" b="1" dirty="0">
                <a:latin typeface="+mn-lt"/>
                <a:ea typeface="黑体" panose="02010609060101010101" pitchFamily="2" charset="-122"/>
              </a:rPr>
              <a:t>100km/h</a:t>
            </a:r>
            <a:r>
              <a:rPr lang="zh-CN" altLang="en-US" sz="2400" b="1" dirty="0">
                <a:latin typeface="+mn-lt"/>
                <a:ea typeface="黑体" panose="02010609060101010101" pitchFamily="2" charset="-122"/>
              </a:rPr>
              <a:t>）</a:t>
            </a:r>
            <a:r>
              <a:rPr lang="en-US" altLang="zh-CN" sz="2400" b="1" dirty="0">
                <a:latin typeface="+mn-lt"/>
                <a:ea typeface="黑体" panose="02010609060101010101" pitchFamily="2" charset="-122"/>
              </a:rPr>
              <a:t>=1h</a:t>
            </a:r>
            <a:r>
              <a:rPr lang="zh-CN" altLang="en-US" sz="2400" b="1" dirty="0">
                <a:latin typeface="+mn-lt"/>
                <a:ea typeface="黑体" panose="02010609060101010101" pitchFamily="2" charset="-122"/>
              </a:rPr>
              <a:t>。这个时间类比于传播时延。因此，从该车队存储在收费站前到该车队存储在下一个收费站前的时间是“传输时延”和“传播时间”总和，在本例中为</a:t>
            </a:r>
            <a:r>
              <a:rPr lang="en-US" altLang="zh-CN" sz="2400" b="1" dirty="0">
                <a:latin typeface="+mn-lt"/>
                <a:ea typeface="黑体" panose="02010609060101010101" pitchFamily="2" charset="-122"/>
              </a:rPr>
              <a:t>62min</a:t>
            </a:r>
            <a:r>
              <a:rPr lang="zh-CN" altLang="en-US" sz="2400" b="1" dirty="0">
                <a:latin typeface="+mn-lt"/>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
        <p:nvSpPr>
          <p:cNvPr id="3" name="内容占位符 2"/>
          <p:cNvSpPr>
            <a:spLocks noGrp="1"/>
          </p:cNvSpPr>
          <p:nvPr>
            <p:ph idx="1"/>
          </p:nvPr>
        </p:nvSpPr>
        <p:spPr/>
        <p:txBody>
          <a:bodyPr/>
          <a:lstStyle/>
          <a:p>
            <a:pPr>
              <a:lnSpc>
                <a:spcPct val="110000"/>
              </a:lnSpc>
              <a:spcBef>
                <a:spcPts val="600"/>
              </a:spcBef>
            </a:pPr>
            <a:r>
              <a:rPr lang="en-US" altLang="zh-CN" dirty="0">
                <a:solidFill>
                  <a:srgbClr val="0000CC"/>
                </a:solidFill>
              </a:rPr>
              <a:t>(3) </a:t>
            </a:r>
            <a:r>
              <a:rPr lang="zh-CN" altLang="en-US" dirty="0">
                <a:solidFill>
                  <a:srgbClr val="0000CC"/>
                </a:solidFill>
              </a:rPr>
              <a:t>处理时延</a:t>
            </a:r>
            <a:endParaRPr lang="en-US" altLang="zh-CN" dirty="0">
              <a:solidFill>
                <a:srgbClr val="0000CC"/>
              </a:solidFill>
            </a:endParaRPr>
          </a:p>
          <a:p>
            <a:pPr lvl="1">
              <a:lnSpc>
                <a:spcPct val="110000"/>
              </a:lnSpc>
              <a:spcBef>
                <a:spcPts val="600"/>
              </a:spcBef>
            </a:pPr>
            <a:r>
              <a:rPr lang="zh-CN" altLang="zh-CN" dirty="0"/>
              <a:t>主机或路由器</a:t>
            </a:r>
            <a:r>
              <a:rPr lang="zh-CN" altLang="en-US" dirty="0"/>
              <a:t>在收到分组时，为处理分组（例如分析</a:t>
            </a:r>
            <a:r>
              <a:rPr lang="zh-CN" altLang="zh-CN" dirty="0"/>
              <a:t>首部、提取数据、差错检验或查找路由</a:t>
            </a:r>
            <a:r>
              <a:rPr lang="zh-CN" altLang="en-US" dirty="0"/>
              <a:t>）所花费的时间。 </a:t>
            </a:r>
          </a:p>
          <a:p>
            <a:pPr>
              <a:lnSpc>
                <a:spcPct val="110000"/>
              </a:lnSpc>
              <a:spcBef>
                <a:spcPts val="600"/>
              </a:spcBef>
            </a:pPr>
            <a:r>
              <a:rPr lang="en-US" altLang="zh-CN" dirty="0">
                <a:solidFill>
                  <a:srgbClr val="0000CC"/>
                </a:solidFill>
              </a:rPr>
              <a:t>(4) </a:t>
            </a:r>
            <a:r>
              <a:rPr lang="zh-CN" altLang="en-US" dirty="0">
                <a:solidFill>
                  <a:srgbClr val="0000CC"/>
                </a:solidFill>
              </a:rPr>
              <a:t>排队时延</a:t>
            </a:r>
            <a:endParaRPr lang="en-US" altLang="zh-CN" dirty="0">
              <a:solidFill>
                <a:srgbClr val="0000CC"/>
              </a:solidFill>
            </a:endParaRPr>
          </a:p>
          <a:p>
            <a:pPr lvl="1">
              <a:lnSpc>
                <a:spcPct val="110000"/>
              </a:lnSpc>
              <a:spcBef>
                <a:spcPts val="600"/>
              </a:spcBef>
            </a:pPr>
            <a:r>
              <a:rPr lang="zh-CN" altLang="en-US" dirty="0"/>
              <a:t>分组在路由器输入输出队列中</a:t>
            </a:r>
            <a:r>
              <a:rPr lang="zh-CN" altLang="en-US" dirty="0">
                <a:solidFill>
                  <a:srgbClr val="FF0000"/>
                </a:solidFill>
              </a:rPr>
              <a:t>排队等待处理</a:t>
            </a:r>
            <a:r>
              <a:rPr lang="zh-CN" altLang="en-US" dirty="0"/>
              <a:t>所经历的时延。</a:t>
            </a:r>
          </a:p>
          <a:p>
            <a:pPr lvl="1">
              <a:lnSpc>
                <a:spcPct val="110000"/>
              </a:lnSpc>
              <a:spcBef>
                <a:spcPts val="600"/>
              </a:spcBef>
            </a:pPr>
            <a:r>
              <a:rPr lang="zh-CN" altLang="en-US" dirty="0">
                <a:solidFill>
                  <a:srgbClr val="FF0000"/>
                </a:solidFill>
              </a:rPr>
              <a:t>排队时延的长短往往取决于网络中当时的通信量。</a:t>
            </a:r>
          </a:p>
          <a:p>
            <a:pPr>
              <a:lnSpc>
                <a:spcPct val="110000"/>
              </a:lnSpc>
              <a:spcBef>
                <a:spcPts val="600"/>
              </a:spcBef>
            </a:pP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时延 </a:t>
            </a:r>
            <a:r>
              <a:rPr lang="en-US" altLang="zh-CN" dirty="0"/>
              <a:t>(delay </a:t>
            </a:r>
            <a:r>
              <a:rPr lang="zh-CN" altLang="en-US" dirty="0"/>
              <a:t>或 </a:t>
            </a:r>
            <a:r>
              <a:rPr lang="en-US" altLang="zh-CN" dirty="0"/>
              <a:t>latency)</a:t>
            </a:r>
            <a:endParaRPr lang="zh-CN" altLang="en-US" dirty="0"/>
          </a:p>
        </p:txBody>
      </p:sp>
      <p:sp>
        <p:nvSpPr>
          <p:cNvPr id="3" name="内容占位符 2"/>
          <p:cNvSpPr>
            <a:spLocks noGrp="1"/>
          </p:cNvSpPr>
          <p:nvPr>
            <p:ph idx="1"/>
          </p:nvPr>
        </p:nvSpPr>
        <p:spPr/>
        <p:txBody>
          <a:bodyPr/>
          <a:lstStyle/>
          <a:p>
            <a:pPr>
              <a:lnSpc>
                <a:spcPct val="110000"/>
              </a:lnSpc>
              <a:spcBef>
                <a:spcPts val="600"/>
              </a:spcBef>
            </a:pPr>
            <a:r>
              <a:rPr lang="zh-CN" altLang="en-US" dirty="0"/>
              <a:t>数据在网络中经历的总时延就是发送时延、传播时延、处理时延和排队时延</a:t>
            </a:r>
            <a:r>
              <a:rPr lang="zh-CN" altLang="en-US" dirty="0">
                <a:solidFill>
                  <a:srgbClr val="FF0000"/>
                </a:solidFill>
              </a:rPr>
              <a:t>之和。</a:t>
            </a:r>
          </a:p>
        </p:txBody>
      </p:sp>
      <p:sp>
        <p:nvSpPr>
          <p:cNvPr id="4" name="Text Box 6"/>
          <p:cNvSpPr txBox="1">
            <a:spLocks noChangeArrowheads="1"/>
          </p:cNvSpPr>
          <p:nvPr/>
        </p:nvSpPr>
        <p:spPr bwMode="auto">
          <a:xfrm>
            <a:off x="2576737" y="2492896"/>
            <a:ext cx="4896543" cy="2292935"/>
          </a:xfrm>
          <a:prstGeom prst="rect">
            <a:avLst/>
          </a:prstGeom>
          <a:solidFill>
            <a:srgbClr val="FFFF00"/>
          </a:solidFill>
          <a:ln>
            <a:noFill/>
          </a:ln>
          <a:effectLst/>
        </p:spPr>
        <p:txBody>
          <a:bodyPr wrap="square">
            <a:spAutoFit/>
          </a:bodyPr>
          <a:lstStyle/>
          <a:p>
            <a:pPr>
              <a:spcBef>
                <a:spcPts val="600"/>
              </a:spcBef>
            </a:pPr>
            <a:r>
              <a:rPr lang="zh-CN" altLang="en-US" sz="3200" b="1" dirty="0">
                <a:solidFill>
                  <a:srgbClr val="0000CC"/>
                </a:solidFill>
                <a:latin typeface="+mn-lt"/>
                <a:ea typeface="黑体" panose="02010609060101010101" pitchFamily="2" charset="-122"/>
              </a:rPr>
              <a:t>总时延  </a:t>
            </a:r>
            <a:r>
              <a:rPr lang="en-US" altLang="zh-CN" sz="3200" b="1" dirty="0">
                <a:solidFill>
                  <a:srgbClr val="0000CC"/>
                </a:solidFill>
                <a:latin typeface="+mn-lt"/>
                <a:ea typeface="黑体" panose="02010609060101010101" pitchFamily="2" charset="-122"/>
              </a:rPr>
              <a:t>= 	   </a:t>
            </a:r>
            <a:r>
              <a:rPr lang="zh-CN" altLang="en-US" sz="3200" b="1" dirty="0">
                <a:solidFill>
                  <a:srgbClr val="0000CC"/>
                </a:solidFill>
                <a:latin typeface="+mn-lt"/>
                <a:ea typeface="黑体" panose="02010609060101010101" pitchFamily="2" charset="-122"/>
              </a:rPr>
              <a:t>发送时延 </a:t>
            </a:r>
            <a:r>
              <a:rPr lang="en-US" altLang="zh-CN" sz="3200" b="1" dirty="0">
                <a:solidFill>
                  <a:srgbClr val="0000CC"/>
                </a:solidFill>
                <a:latin typeface="+mn-lt"/>
                <a:ea typeface="黑体" panose="02010609060101010101" pitchFamily="2" charset="-122"/>
              </a:rPr>
              <a:t> </a:t>
            </a:r>
          </a:p>
          <a:p>
            <a:pPr>
              <a:spcBef>
                <a:spcPts val="600"/>
              </a:spcBef>
            </a:pPr>
            <a:r>
              <a:rPr lang="en-US" altLang="zh-CN" sz="3200" b="1" dirty="0">
                <a:solidFill>
                  <a:srgbClr val="0000CC"/>
                </a:solidFill>
                <a:latin typeface="+mn-lt"/>
                <a:ea typeface="黑体" panose="02010609060101010101" pitchFamily="2" charset="-122"/>
              </a:rPr>
              <a:t>		+ </a:t>
            </a:r>
            <a:r>
              <a:rPr lang="zh-CN" altLang="en-US" sz="3200" b="1" dirty="0">
                <a:solidFill>
                  <a:srgbClr val="0000CC"/>
                </a:solidFill>
                <a:latin typeface="+mn-lt"/>
                <a:ea typeface="黑体" panose="02010609060101010101" pitchFamily="2" charset="-122"/>
              </a:rPr>
              <a:t>传播时延 </a:t>
            </a:r>
            <a:r>
              <a:rPr lang="en-US" altLang="zh-CN" sz="3200" b="1" dirty="0">
                <a:solidFill>
                  <a:srgbClr val="0000CC"/>
                </a:solidFill>
                <a:latin typeface="+mn-lt"/>
                <a:ea typeface="黑体" panose="02010609060101010101" pitchFamily="2" charset="-122"/>
              </a:rPr>
              <a:t> </a:t>
            </a:r>
          </a:p>
          <a:p>
            <a:pPr>
              <a:spcBef>
                <a:spcPts val="600"/>
              </a:spcBef>
            </a:pPr>
            <a:r>
              <a:rPr lang="en-US" altLang="zh-CN" sz="3200" b="1" dirty="0">
                <a:solidFill>
                  <a:srgbClr val="0000CC"/>
                </a:solidFill>
                <a:latin typeface="+mn-lt"/>
                <a:ea typeface="黑体" panose="02010609060101010101" pitchFamily="2" charset="-122"/>
              </a:rPr>
              <a:t>		+ </a:t>
            </a:r>
            <a:r>
              <a:rPr lang="zh-CN" altLang="en-US" sz="3200" b="1" dirty="0">
                <a:solidFill>
                  <a:srgbClr val="0000CC"/>
                </a:solidFill>
                <a:latin typeface="+mn-lt"/>
                <a:ea typeface="黑体" panose="02010609060101010101" pitchFamily="2" charset="-122"/>
              </a:rPr>
              <a:t>处理时延 </a:t>
            </a:r>
            <a:r>
              <a:rPr lang="en-US" altLang="zh-CN" sz="3200" b="1" dirty="0">
                <a:solidFill>
                  <a:srgbClr val="0000CC"/>
                </a:solidFill>
                <a:latin typeface="+mn-lt"/>
                <a:ea typeface="黑体" panose="02010609060101010101" pitchFamily="2" charset="-122"/>
              </a:rPr>
              <a:t> </a:t>
            </a:r>
          </a:p>
          <a:p>
            <a:pPr>
              <a:spcBef>
                <a:spcPts val="600"/>
              </a:spcBef>
            </a:pPr>
            <a:r>
              <a:rPr lang="en-US" altLang="zh-CN" sz="3200" b="1" dirty="0">
                <a:solidFill>
                  <a:srgbClr val="0000CC"/>
                </a:solidFill>
                <a:latin typeface="+mn-lt"/>
                <a:ea typeface="黑体" panose="02010609060101010101" pitchFamily="2" charset="-122"/>
              </a:rPr>
              <a:t>		+ </a:t>
            </a:r>
            <a:r>
              <a:rPr lang="zh-CN" altLang="en-US" sz="3200" b="1" dirty="0">
                <a:solidFill>
                  <a:srgbClr val="0000CC"/>
                </a:solidFill>
                <a:latin typeface="+mn-lt"/>
                <a:ea typeface="黑体" panose="02010609060101010101" pitchFamily="2" charset="-122"/>
              </a:rPr>
              <a:t>排队时延</a:t>
            </a:r>
          </a:p>
        </p:txBody>
      </p:sp>
      <p:sp>
        <p:nvSpPr>
          <p:cNvPr id="5" name="矩形 4"/>
          <p:cNvSpPr/>
          <p:nvPr/>
        </p:nvSpPr>
        <p:spPr>
          <a:xfrm>
            <a:off x="1208584" y="5046275"/>
            <a:ext cx="7632848" cy="954107"/>
          </a:xfrm>
          <a:prstGeom prst="rect">
            <a:avLst/>
          </a:prstGeom>
          <a:solidFill>
            <a:srgbClr val="000099"/>
          </a:solidFill>
        </p:spPr>
        <p:txBody>
          <a:bodyPr wrap="square">
            <a:spAutoFit/>
          </a:bodyPr>
          <a:lstStyle/>
          <a:p>
            <a:r>
              <a:rPr lang="zh-CN" altLang="zh-CN" sz="2800" b="1" dirty="0">
                <a:solidFill>
                  <a:schemeClr val="bg1"/>
                </a:solidFill>
                <a:latin typeface="+mn-lt"/>
                <a:ea typeface="黑体" panose="02010609060101010101" pitchFamily="2" charset="-122"/>
              </a:rPr>
              <a:t>必须指出，在总时延中，究竟是哪一种时延占主导地位，必须具体分析</a:t>
            </a:r>
            <a:r>
              <a:rPr lang="zh-CN" altLang="en-US" sz="2800" b="1" dirty="0">
                <a:solidFill>
                  <a:schemeClr val="bg1"/>
                </a:solidFill>
                <a:latin typeface="+mn-lt"/>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6" presetClass="emph" presetSubtype="0" fill="hold" grpId="1" nodeType="afterEffect">
                                  <p:stCondLst>
                                    <p:cond delay="0"/>
                                  </p:stCondLst>
                                  <p:childTnLst>
                                    <p:animScale>
                                      <p:cBhvr>
                                        <p:cTn id="9" dur="1000" fill="hold"/>
                                        <p:tgtEl>
                                          <p:spTgt spid="4"/>
                                        </p:tgtEl>
                                      </p:cBhvr>
                                      <p:by x="120000" y="120000"/>
                                    </p:animScale>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algn="ctr"/>
            <a:r>
              <a:rPr lang="zh-CN" altLang="en-US" dirty="0"/>
              <a:t>四种时延所产生的地方 </a:t>
            </a:r>
          </a:p>
        </p:txBody>
      </p:sp>
      <p:sp>
        <p:nvSpPr>
          <p:cNvPr id="92167" name="Rectangle 7"/>
          <p:cNvSpPr>
            <a:spLocks noChangeArrowheads="1"/>
          </p:cNvSpPr>
          <p:nvPr/>
        </p:nvSpPr>
        <p:spPr bwMode="auto">
          <a:xfrm>
            <a:off x="2348259" y="4394919"/>
            <a:ext cx="5983156" cy="265113"/>
          </a:xfrm>
          <a:prstGeom prst="rect">
            <a:avLst/>
          </a:prstGeom>
          <a:gradFill rotWithShape="1">
            <a:gsLst>
              <a:gs pos="0">
                <a:srgbClr val="B2B2B2">
                  <a:gamma/>
                  <a:shade val="27451"/>
                  <a:invGamma/>
                </a:srgbClr>
              </a:gs>
              <a:gs pos="50000">
                <a:srgbClr val="B2B2B2"/>
              </a:gs>
              <a:gs pos="100000">
                <a:srgbClr val="B2B2B2">
                  <a:gamma/>
                  <a:shade val="27451"/>
                  <a:invGamma/>
                </a:srgbClr>
              </a:gs>
            </a:gsLst>
            <a:lin ang="5400000" scaled="1"/>
          </a:gra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69" name="Oval 9"/>
          <p:cNvSpPr>
            <a:spLocks noChangeArrowheads="1"/>
          </p:cNvSpPr>
          <p:nvPr/>
        </p:nvSpPr>
        <p:spPr bwMode="auto">
          <a:xfrm>
            <a:off x="974145" y="3861519"/>
            <a:ext cx="1472142" cy="1331913"/>
          </a:xfrm>
          <a:prstGeom prst="ellipse">
            <a:avLst/>
          </a:prstGeom>
          <a:gradFill rotWithShape="1">
            <a:gsLst>
              <a:gs pos="0">
                <a:srgbClr val="FFFF99"/>
              </a:gs>
              <a:gs pos="100000">
                <a:srgbClr val="FFFF99">
                  <a:gamma/>
                  <a:shade val="69804"/>
                  <a:invGamma/>
                </a:srgbClr>
              </a:gs>
            </a:gsLst>
            <a:path path="shape">
              <a:fillToRect l="50000" t="50000" r="50000" b="50000"/>
            </a:path>
          </a:gra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70" name="Oval 10"/>
          <p:cNvSpPr>
            <a:spLocks noChangeArrowheads="1"/>
          </p:cNvSpPr>
          <p:nvPr/>
        </p:nvSpPr>
        <p:spPr bwMode="auto">
          <a:xfrm>
            <a:off x="8233386" y="3861519"/>
            <a:ext cx="1472142" cy="1331913"/>
          </a:xfrm>
          <a:prstGeom prst="ellipse">
            <a:avLst/>
          </a:prstGeom>
          <a:gradFill rotWithShape="1">
            <a:gsLst>
              <a:gs pos="0">
                <a:srgbClr val="FFFF99"/>
              </a:gs>
              <a:gs pos="100000">
                <a:srgbClr val="FFFF99">
                  <a:gamma/>
                  <a:shade val="66667"/>
                  <a:invGamma/>
                </a:srgbClr>
              </a:gs>
            </a:gsLst>
            <a:path path="shape">
              <a:fillToRect l="50000" t="50000" r="50000" b="50000"/>
            </a:path>
          </a:gradFill>
          <a:ln w="9525">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grpSp>
        <p:nvGrpSpPr>
          <p:cNvPr id="92171" name="Group 11"/>
          <p:cNvGrpSpPr/>
          <p:nvPr/>
        </p:nvGrpSpPr>
        <p:grpSpPr bwMode="auto">
          <a:xfrm>
            <a:off x="1366258" y="4269507"/>
            <a:ext cx="784225" cy="458787"/>
            <a:chOff x="1567" y="1056"/>
            <a:chExt cx="384" cy="336"/>
          </a:xfrm>
        </p:grpSpPr>
        <p:sp>
          <p:nvSpPr>
            <p:cNvPr id="92172" name="Rectangle 12"/>
            <p:cNvSpPr>
              <a:spLocks noChangeArrowheads="1"/>
            </p:cNvSpPr>
            <p:nvPr/>
          </p:nvSpPr>
          <p:spPr bwMode="auto">
            <a:xfrm>
              <a:off x="1663" y="1056"/>
              <a:ext cx="288" cy="336"/>
            </a:xfrm>
            <a:prstGeom prst="rect">
              <a:avLst/>
            </a:prstGeom>
            <a:solidFill>
              <a:srgbClr val="FF6600"/>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73" name="Freeform 13"/>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Lst>
              <a:ahLst/>
              <a:cxnLst>
                <a:cxn ang="0">
                  <a:pos x="T0" y="T1"/>
                </a:cxn>
                <a:cxn ang="0">
                  <a:pos x="T2" y="T3"/>
                </a:cxn>
                <a:cxn ang="0">
                  <a:pos x="T4" y="T5"/>
                </a:cxn>
                <a:cxn ang="0">
                  <a:pos x="T6" y="T7"/>
                </a:cxn>
              </a:cxnLst>
              <a:rect l="0" t="0" r="r" b="b"/>
              <a:pathLst>
                <a:path w="384" h="336">
                  <a:moveTo>
                    <a:pt x="0" y="0"/>
                  </a:moveTo>
                  <a:lnTo>
                    <a:pt x="384" y="0"/>
                  </a:lnTo>
                  <a:lnTo>
                    <a:pt x="384" y="336"/>
                  </a:lnTo>
                  <a:lnTo>
                    <a:pt x="0" y="336"/>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4" name="Line 14"/>
            <p:cNvSpPr>
              <a:spLocks noChangeShapeType="1"/>
            </p:cNvSpPr>
            <p:nvPr/>
          </p:nvSpPr>
          <p:spPr bwMode="auto">
            <a:xfrm>
              <a:off x="1855" y="1056"/>
              <a:ext cx="0"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5" name="Line 15"/>
            <p:cNvSpPr>
              <a:spLocks noChangeShapeType="1"/>
            </p:cNvSpPr>
            <p:nvPr/>
          </p:nvSpPr>
          <p:spPr bwMode="auto">
            <a:xfrm>
              <a:off x="1759" y="1056"/>
              <a:ext cx="0"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6" name="Line 16"/>
            <p:cNvSpPr>
              <a:spLocks noChangeShapeType="1"/>
            </p:cNvSpPr>
            <p:nvPr/>
          </p:nvSpPr>
          <p:spPr bwMode="auto">
            <a:xfrm>
              <a:off x="1663" y="1056"/>
              <a:ext cx="0" cy="33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grpSp>
      <p:sp>
        <p:nvSpPr>
          <p:cNvPr id="92177" name="Line 17"/>
          <p:cNvSpPr>
            <a:spLocks noChangeShapeType="1"/>
          </p:cNvSpPr>
          <p:nvPr/>
        </p:nvSpPr>
        <p:spPr bwMode="auto">
          <a:xfrm>
            <a:off x="2145324" y="4515568"/>
            <a:ext cx="294085" cy="6350"/>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78" name="Rectangle 18"/>
          <p:cNvSpPr>
            <a:spLocks noChangeArrowheads="1"/>
          </p:cNvSpPr>
          <p:nvPr/>
        </p:nvSpPr>
        <p:spPr bwMode="auto">
          <a:xfrm>
            <a:off x="2212396" y="4421907"/>
            <a:ext cx="184017" cy="193675"/>
          </a:xfrm>
          <a:prstGeom prst="rect">
            <a:avLst/>
          </a:prstGeom>
          <a:solidFill>
            <a:srgbClr val="0000CC"/>
          </a:solidFill>
          <a:ln w="9525">
            <a:solidFill>
              <a:schemeClr val="bg1">
                <a:lumMod val="50000"/>
              </a:schemeClr>
            </a:solidFill>
            <a:miter lim="800000"/>
          </a:ln>
          <a:effectLst/>
        </p:spPr>
        <p:txBody>
          <a:bodyPr wrap="none" anchor="ctr"/>
          <a:lstStyle/>
          <a:p>
            <a:endParaRPr lang="zh-CN" altLang="en-US" b="1">
              <a:latin typeface="+mn-lt"/>
              <a:ea typeface="黑体" panose="02010609060101010101" pitchFamily="2" charset="-122"/>
            </a:endParaRPr>
          </a:p>
        </p:txBody>
      </p:sp>
      <p:sp>
        <p:nvSpPr>
          <p:cNvPr id="92181" name="AutoShape 21"/>
          <p:cNvSpPr>
            <a:spLocks noChangeArrowheads="1"/>
          </p:cNvSpPr>
          <p:nvPr/>
        </p:nvSpPr>
        <p:spPr bwMode="auto">
          <a:xfrm>
            <a:off x="3034456" y="4447306"/>
            <a:ext cx="1372394" cy="177800"/>
          </a:xfrm>
          <a:prstGeom prst="rightArrow">
            <a:avLst>
              <a:gd name="adj1" fmla="val 50000"/>
              <a:gd name="adj2" fmla="val 178125"/>
            </a:avLst>
          </a:prstGeom>
          <a:solidFill>
            <a:srgbClr val="00FFCC"/>
          </a:solidFill>
          <a:ln w="9525" algn="ctr">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86" name="AutoShape 26"/>
          <p:cNvSpPr>
            <a:spLocks noChangeArrowheads="1"/>
          </p:cNvSpPr>
          <p:nvPr/>
        </p:nvSpPr>
        <p:spPr bwMode="auto">
          <a:xfrm>
            <a:off x="322317" y="4447306"/>
            <a:ext cx="1236557" cy="177800"/>
          </a:xfrm>
          <a:prstGeom prst="rightArrow">
            <a:avLst>
              <a:gd name="adj1" fmla="val 50000"/>
              <a:gd name="adj2" fmla="val 178348"/>
            </a:avLst>
          </a:prstGeom>
          <a:solidFill>
            <a:srgbClr val="00FFCC"/>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87" name="AutoShape 27"/>
          <p:cNvSpPr>
            <a:spLocks noChangeArrowheads="1"/>
          </p:cNvSpPr>
          <p:nvPr/>
        </p:nvSpPr>
        <p:spPr bwMode="auto">
          <a:xfrm>
            <a:off x="7144759" y="4439369"/>
            <a:ext cx="1372394" cy="176213"/>
          </a:xfrm>
          <a:prstGeom prst="rightArrow">
            <a:avLst>
              <a:gd name="adj1" fmla="val 50000"/>
              <a:gd name="adj2" fmla="val 179729"/>
            </a:avLst>
          </a:prstGeom>
          <a:solidFill>
            <a:srgbClr val="00FFCC"/>
          </a:solidFill>
          <a:ln w="9525" algn="ctr">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anose="02010609060101010101" pitchFamily="2" charset="-122"/>
            </a:endParaRPr>
          </a:p>
        </p:txBody>
      </p:sp>
      <p:sp>
        <p:nvSpPr>
          <p:cNvPr id="92188" name="Text Box 28"/>
          <p:cNvSpPr txBox="1">
            <a:spLocks noChangeArrowheads="1"/>
          </p:cNvSpPr>
          <p:nvPr/>
        </p:nvSpPr>
        <p:spPr bwMode="auto">
          <a:xfrm>
            <a:off x="4432646" y="4337769"/>
            <a:ext cx="160653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anose="02010609060101010101" pitchFamily="2" charset="-122"/>
              </a:rPr>
              <a:t>1 0 1 1 0 0 1</a:t>
            </a:r>
          </a:p>
        </p:txBody>
      </p:sp>
      <p:sp>
        <p:nvSpPr>
          <p:cNvPr id="92189" name="Text Box 29"/>
          <p:cNvSpPr txBox="1">
            <a:spLocks noChangeArrowheads="1"/>
          </p:cNvSpPr>
          <p:nvPr/>
        </p:nvSpPr>
        <p:spPr bwMode="auto">
          <a:xfrm>
            <a:off x="6181675" y="420441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333399"/>
                </a:solidFill>
                <a:latin typeface="+mn-lt"/>
                <a:ea typeface="黑体" panose="02010609060101010101" pitchFamily="2" charset="-122"/>
              </a:rPr>
              <a:t>…</a:t>
            </a:r>
          </a:p>
        </p:txBody>
      </p:sp>
      <p:sp>
        <p:nvSpPr>
          <p:cNvPr id="92192" name="Text Box 32"/>
          <p:cNvSpPr txBox="1">
            <a:spLocks noChangeArrowheads="1"/>
          </p:cNvSpPr>
          <p:nvPr/>
        </p:nvSpPr>
        <p:spPr bwMode="auto">
          <a:xfrm>
            <a:off x="2451446" y="5166443"/>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发送器</a:t>
            </a:r>
          </a:p>
        </p:txBody>
      </p:sp>
      <p:sp>
        <p:nvSpPr>
          <p:cNvPr id="92194" name="Text Box 34"/>
          <p:cNvSpPr txBox="1">
            <a:spLocks noChangeArrowheads="1"/>
          </p:cNvSpPr>
          <p:nvPr/>
        </p:nvSpPr>
        <p:spPr bwMode="auto">
          <a:xfrm>
            <a:off x="1319823" y="468066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队列</a:t>
            </a:r>
          </a:p>
        </p:txBody>
      </p:sp>
      <p:grpSp>
        <p:nvGrpSpPr>
          <p:cNvPr id="92205" name="Group 45"/>
          <p:cNvGrpSpPr/>
          <p:nvPr/>
        </p:nvGrpSpPr>
        <p:grpSpPr bwMode="auto">
          <a:xfrm>
            <a:off x="6145559" y="2761381"/>
            <a:ext cx="2031074" cy="1612900"/>
            <a:chOff x="3486" y="1933"/>
            <a:chExt cx="1181" cy="1016"/>
          </a:xfrm>
        </p:grpSpPr>
        <p:sp>
          <p:nvSpPr>
            <p:cNvPr id="92193" name="Line 33"/>
            <p:cNvSpPr>
              <a:spLocks noChangeShapeType="1"/>
            </p:cNvSpPr>
            <p:nvPr/>
          </p:nvSpPr>
          <p:spPr bwMode="auto">
            <a:xfrm flipH="1">
              <a:off x="3602" y="2495"/>
              <a:ext cx="276" cy="454"/>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96" name="Text Box 36"/>
            <p:cNvSpPr txBox="1">
              <a:spLocks noChangeArrowheads="1"/>
            </p:cNvSpPr>
            <p:nvPr/>
          </p:nvSpPr>
          <p:spPr bwMode="auto">
            <a:xfrm>
              <a:off x="3486" y="1933"/>
              <a:ext cx="1181" cy="523"/>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anose="02010609060101010101" pitchFamily="2" charset="-122"/>
                </a:rPr>
                <a:t>在链路上产生</a:t>
              </a:r>
            </a:p>
            <a:p>
              <a:pPr algn="ctr"/>
              <a:r>
                <a:rPr kumimoji="1" lang="zh-CN" altLang="en-US" sz="2400" b="1">
                  <a:solidFill>
                    <a:srgbClr val="333399"/>
                  </a:solidFill>
                  <a:latin typeface="+mn-lt"/>
                  <a:ea typeface="黑体" panose="02010609060101010101" pitchFamily="2" charset="-122"/>
                </a:rPr>
                <a:t>传播时延</a:t>
              </a:r>
            </a:p>
          </p:txBody>
        </p:sp>
      </p:grpSp>
      <p:sp>
        <p:nvSpPr>
          <p:cNvPr id="92197" name="Text Box 37"/>
          <p:cNvSpPr txBox="1">
            <a:spLocks noChangeArrowheads="1"/>
          </p:cNvSpPr>
          <p:nvPr/>
        </p:nvSpPr>
        <p:spPr bwMode="auto">
          <a:xfrm>
            <a:off x="8379568" y="5256931"/>
            <a:ext cx="1083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结点</a:t>
            </a:r>
            <a:r>
              <a:rPr kumimoji="1" lang="zh-CN" altLang="en-US" sz="1600" b="1">
                <a:solidFill>
                  <a:srgbClr val="333399"/>
                </a:solidFill>
                <a:latin typeface="+mn-lt"/>
                <a:ea typeface="黑体" panose="02010609060101010101" pitchFamily="2" charset="-122"/>
              </a:rPr>
              <a:t> </a:t>
            </a:r>
            <a:r>
              <a:rPr kumimoji="1" lang="en-US" altLang="zh-CN" sz="2400" b="1">
                <a:solidFill>
                  <a:srgbClr val="333399"/>
                </a:solidFill>
                <a:latin typeface="+mn-lt"/>
                <a:ea typeface="黑体" panose="02010609060101010101" pitchFamily="2" charset="-122"/>
              </a:rPr>
              <a:t>B</a:t>
            </a:r>
          </a:p>
        </p:txBody>
      </p:sp>
      <p:sp>
        <p:nvSpPr>
          <p:cNvPr id="92198" name="Text Box 38"/>
          <p:cNvSpPr txBox="1">
            <a:spLocks noChangeArrowheads="1"/>
          </p:cNvSpPr>
          <p:nvPr/>
        </p:nvSpPr>
        <p:spPr bwMode="auto">
          <a:xfrm>
            <a:off x="1125487" y="5166443"/>
            <a:ext cx="1083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anose="02010609060101010101" pitchFamily="2" charset="-122"/>
              </a:rPr>
              <a:t>结点</a:t>
            </a:r>
            <a:r>
              <a:rPr kumimoji="1" lang="zh-CN" altLang="en-US" sz="1600" b="1" dirty="0">
                <a:solidFill>
                  <a:srgbClr val="333399"/>
                </a:solidFill>
                <a:latin typeface="+mn-lt"/>
                <a:ea typeface="黑体" panose="02010609060101010101" pitchFamily="2" charset="-122"/>
              </a:rPr>
              <a:t> </a:t>
            </a:r>
            <a:r>
              <a:rPr kumimoji="1" lang="en-US" altLang="zh-CN" sz="2400" b="1" dirty="0">
                <a:solidFill>
                  <a:srgbClr val="333399"/>
                </a:solidFill>
                <a:latin typeface="+mn-lt"/>
                <a:ea typeface="黑体" panose="02010609060101010101" pitchFamily="2" charset="-122"/>
              </a:rPr>
              <a:t>A</a:t>
            </a:r>
          </a:p>
        </p:txBody>
      </p:sp>
      <p:grpSp>
        <p:nvGrpSpPr>
          <p:cNvPr id="92204" name="Group 44"/>
          <p:cNvGrpSpPr/>
          <p:nvPr/>
        </p:nvGrpSpPr>
        <p:grpSpPr bwMode="auto">
          <a:xfrm>
            <a:off x="2291506" y="2977282"/>
            <a:ext cx="3262445" cy="1470025"/>
            <a:chOff x="1245" y="2069"/>
            <a:chExt cx="1897" cy="926"/>
          </a:xfrm>
        </p:grpSpPr>
        <p:sp>
          <p:nvSpPr>
            <p:cNvPr id="92184" name="Text Box 24"/>
            <p:cNvSpPr txBox="1">
              <a:spLocks noChangeArrowheads="1"/>
            </p:cNvSpPr>
            <p:nvPr/>
          </p:nvSpPr>
          <p:spPr bwMode="auto">
            <a:xfrm>
              <a:off x="1245" y="2069"/>
              <a:ext cx="1897" cy="523"/>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anose="02010609060101010101" pitchFamily="2" charset="-122"/>
                </a:rPr>
                <a:t>在发送器产生发送时延</a:t>
              </a:r>
            </a:p>
            <a:p>
              <a:pPr algn="ctr"/>
              <a:r>
                <a:rPr kumimoji="1" lang="en-US" altLang="zh-CN" sz="2400" b="1">
                  <a:solidFill>
                    <a:srgbClr val="333399"/>
                  </a:solidFill>
                  <a:latin typeface="+mn-lt"/>
                  <a:ea typeface="黑体" panose="02010609060101010101" pitchFamily="2" charset="-122"/>
                </a:rPr>
                <a:t>(</a:t>
              </a:r>
              <a:r>
                <a:rPr kumimoji="1" lang="zh-CN" altLang="en-US" sz="2400" b="1">
                  <a:solidFill>
                    <a:srgbClr val="333399"/>
                  </a:solidFill>
                  <a:latin typeface="+mn-lt"/>
                  <a:ea typeface="黑体" panose="02010609060101010101" pitchFamily="2" charset="-122"/>
                </a:rPr>
                <a:t>即传输时延</a:t>
              </a:r>
              <a:r>
                <a:rPr kumimoji="1" lang="en-US" altLang="zh-CN" sz="2400" b="1">
                  <a:solidFill>
                    <a:srgbClr val="333399"/>
                  </a:solidFill>
                  <a:latin typeface="+mn-lt"/>
                  <a:ea typeface="黑体" panose="02010609060101010101" pitchFamily="2" charset="-122"/>
                </a:rPr>
                <a:t>)</a:t>
              </a:r>
            </a:p>
          </p:txBody>
        </p:sp>
        <p:sp>
          <p:nvSpPr>
            <p:cNvPr id="92200" name="Line 40"/>
            <p:cNvSpPr>
              <a:spLocks noChangeShapeType="1"/>
            </p:cNvSpPr>
            <p:nvPr/>
          </p:nvSpPr>
          <p:spPr bwMode="auto">
            <a:xfrm flipH="1">
              <a:off x="1247" y="2614"/>
              <a:ext cx="454" cy="381"/>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grpSp>
      <p:sp>
        <p:nvSpPr>
          <p:cNvPr id="92201" name="Line 41"/>
          <p:cNvSpPr>
            <a:spLocks noChangeShapeType="1"/>
          </p:cNvSpPr>
          <p:nvPr/>
        </p:nvSpPr>
        <p:spPr bwMode="auto">
          <a:xfrm flipH="1" flipV="1">
            <a:off x="2294946" y="4590181"/>
            <a:ext cx="467783" cy="647700"/>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199" name="Line 39"/>
          <p:cNvSpPr>
            <a:spLocks noChangeShapeType="1"/>
          </p:cNvSpPr>
          <p:nvPr/>
        </p:nvSpPr>
        <p:spPr bwMode="auto">
          <a:xfrm flipH="1">
            <a:off x="1710217" y="2834406"/>
            <a:ext cx="60192" cy="1008062"/>
          </a:xfrm>
          <a:prstGeom prst="line">
            <a:avLst/>
          </a:prstGeom>
          <a:noFill/>
          <a:ln w="28575">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anose="02010609060101010101" pitchFamily="2" charset="-122"/>
            </a:endParaRPr>
          </a:p>
        </p:txBody>
      </p:sp>
      <p:sp>
        <p:nvSpPr>
          <p:cNvPr id="92202" name="Text Box 42"/>
          <p:cNvSpPr txBox="1">
            <a:spLocks noChangeArrowheads="1"/>
          </p:cNvSpPr>
          <p:nvPr/>
        </p:nvSpPr>
        <p:spPr bwMode="auto">
          <a:xfrm>
            <a:off x="322318" y="1916832"/>
            <a:ext cx="2954655" cy="830997"/>
          </a:xfrm>
          <a:prstGeom prst="rect">
            <a:avLst/>
          </a:prstGeom>
          <a:solidFill>
            <a:srgbClr val="FFFF99"/>
          </a:solidFill>
          <a:ln w="76200" cmpd="tri">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anose="02010609060101010101" pitchFamily="2" charset="-122"/>
              </a:rPr>
              <a:t>在结点 </a:t>
            </a:r>
            <a:r>
              <a:rPr kumimoji="1" lang="en-US" altLang="zh-CN" sz="2400" b="1">
                <a:solidFill>
                  <a:srgbClr val="333399"/>
                </a:solidFill>
                <a:latin typeface="+mn-lt"/>
                <a:ea typeface="黑体" panose="02010609060101010101" pitchFamily="2" charset="-122"/>
              </a:rPr>
              <a:t>A </a:t>
            </a:r>
            <a:r>
              <a:rPr kumimoji="1" lang="zh-CN" altLang="en-US" sz="2400" b="1">
                <a:solidFill>
                  <a:srgbClr val="333399"/>
                </a:solidFill>
                <a:latin typeface="+mn-lt"/>
                <a:ea typeface="黑体" panose="02010609060101010101" pitchFamily="2" charset="-122"/>
              </a:rPr>
              <a:t>中产生</a:t>
            </a:r>
          </a:p>
          <a:p>
            <a:pPr algn="ctr"/>
            <a:r>
              <a:rPr kumimoji="1" lang="zh-CN" altLang="en-US" sz="2400" b="1">
                <a:solidFill>
                  <a:srgbClr val="333399"/>
                </a:solidFill>
                <a:latin typeface="+mn-lt"/>
                <a:ea typeface="黑体" panose="02010609060101010101" pitchFamily="2" charset="-122"/>
              </a:rPr>
              <a:t>处理时延和排队时延</a:t>
            </a:r>
          </a:p>
        </p:txBody>
      </p:sp>
      <p:sp>
        <p:nvSpPr>
          <p:cNvPr id="92206" name="Text Box 46"/>
          <p:cNvSpPr txBox="1">
            <a:spLocks noChangeArrowheads="1"/>
          </p:cNvSpPr>
          <p:nvPr/>
        </p:nvSpPr>
        <p:spPr bwMode="auto">
          <a:xfrm>
            <a:off x="297768" y="398534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anose="02010609060101010101" pitchFamily="2" charset="-122"/>
              </a:rPr>
              <a:t>数据</a:t>
            </a:r>
          </a:p>
        </p:txBody>
      </p:sp>
      <p:sp>
        <p:nvSpPr>
          <p:cNvPr id="92207" name="Text Box 47"/>
          <p:cNvSpPr txBox="1">
            <a:spLocks noChangeArrowheads="1"/>
          </p:cNvSpPr>
          <p:nvPr/>
        </p:nvSpPr>
        <p:spPr bwMode="auto">
          <a:xfrm>
            <a:off x="1366258" y="1116033"/>
            <a:ext cx="73038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3200" b="1" dirty="0">
                <a:solidFill>
                  <a:srgbClr val="C00000"/>
                </a:solidFill>
                <a:latin typeface="+mn-lt"/>
                <a:ea typeface="黑体" panose="02010609060101010101" pitchFamily="2" charset="-122"/>
              </a:rPr>
              <a:t>假设从结点 </a:t>
            </a:r>
            <a:r>
              <a:rPr kumimoji="1" lang="en-US" altLang="zh-CN" sz="3200" b="1" dirty="0">
                <a:solidFill>
                  <a:srgbClr val="C00000"/>
                </a:solidFill>
                <a:latin typeface="+mn-lt"/>
                <a:ea typeface="黑体" panose="02010609060101010101" pitchFamily="2" charset="-122"/>
              </a:rPr>
              <a:t>A </a:t>
            </a:r>
            <a:r>
              <a:rPr kumimoji="1" lang="zh-CN" altLang="en-US" sz="3200" b="1" dirty="0">
                <a:solidFill>
                  <a:srgbClr val="C00000"/>
                </a:solidFill>
                <a:latin typeface="+mn-lt"/>
                <a:ea typeface="黑体" panose="02010609060101010101" pitchFamily="2" charset="-122"/>
              </a:rPr>
              <a:t>向结点 </a:t>
            </a:r>
            <a:r>
              <a:rPr kumimoji="1" lang="en-US" altLang="zh-CN" sz="3200" b="1" dirty="0">
                <a:solidFill>
                  <a:srgbClr val="C00000"/>
                </a:solidFill>
                <a:latin typeface="+mn-lt"/>
                <a:ea typeface="黑体" panose="02010609060101010101" pitchFamily="2" charset="-122"/>
              </a:rPr>
              <a:t>B </a:t>
            </a:r>
            <a:r>
              <a:rPr kumimoji="1" lang="zh-CN" altLang="en-US" sz="3200" b="1" dirty="0">
                <a:solidFill>
                  <a:srgbClr val="C00000"/>
                </a:solidFill>
                <a:latin typeface="+mn-lt"/>
                <a:ea typeface="黑体" panose="02010609060101010101" pitchFamily="2" charset="-122"/>
              </a:rPr>
              <a:t>发送数据</a:t>
            </a:r>
          </a:p>
        </p:txBody>
      </p:sp>
      <p:sp>
        <p:nvSpPr>
          <p:cNvPr id="92208" name="Text Box 48"/>
          <p:cNvSpPr txBox="1">
            <a:spLocks noChangeArrowheads="1"/>
          </p:cNvSpPr>
          <p:nvPr/>
        </p:nvSpPr>
        <p:spPr bwMode="auto">
          <a:xfrm>
            <a:off x="4752527" y="470606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anose="02010609060101010101" pitchFamily="2" charset="-122"/>
              </a:rPr>
              <a:t>链路</a:t>
            </a:r>
          </a:p>
        </p:txBody>
      </p:sp>
      <p:sp>
        <p:nvSpPr>
          <p:cNvPr id="2" name="矩形 1"/>
          <p:cNvSpPr/>
          <p:nvPr/>
        </p:nvSpPr>
        <p:spPr>
          <a:xfrm>
            <a:off x="2792760" y="5862612"/>
            <a:ext cx="4536504" cy="523220"/>
          </a:xfrm>
          <a:prstGeom prst="rect">
            <a:avLst/>
          </a:prstGeom>
        </p:spPr>
        <p:txBody>
          <a:bodyPr wrap="square">
            <a:spAutoFit/>
          </a:bodyPr>
          <a:lstStyle/>
          <a:p>
            <a:pPr algn="ctr"/>
            <a:r>
              <a:rPr lang="zh-CN" altLang="zh-CN" sz="2800" b="1" dirty="0">
                <a:latin typeface="+mn-lt"/>
                <a:ea typeface="黑体" panose="02010609060101010101" pitchFamily="2" charset="-122"/>
              </a:rPr>
              <a:t>几种时延产生的地方不一样</a:t>
            </a:r>
            <a:endParaRPr lang="zh-CN" altLang="en-US" sz="2800" b="1" dirty="0">
              <a:latin typeface="+mn-lt"/>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algn="ctr"/>
            <a:r>
              <a:rPr lang="zh-CN" altLang="en-US"/>
              <a:t>容易产生的错误概念 </a:t>
            </a:r>
          </a:p>
        </p:txBody>
      </p:sp>
      <p:sp>
        <p:nvSpPr>
          <p:cNvPr id="1658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对于高速网络链路，我们提高的仅仅是数据的</a:t>
            </a:r>
            <a:r>
              <a:rPr lang="zh-CN" altLang="en-US" dirty="0">
                <a:solidFill>
                  <a:srgbClr val="FF0000"/>
                </a:solidFill>
              </a:rPr>
              <a:t>发送速率</a:t>
            </a:r>
            <a:r>
              <a:rPr lang="zh-CN" altLang="en-US" dirty="0"/>
              <a:t>而不是比特在链路上的</a:t>
            </a:r>
            <a:r>
              <a:rPr lang="zh-CN" altLang="en-US" dirty="0">
                <a:solidFill>
                  <a:srgbClr val="FF0000"/>
                </a:solidFill>
              </a:rPr>
              <a:t>传播速率。</a:t>
            </a:r>
            <a:r>
              <a:rPr lang="zh-CN" altLang="en-US" dirty="0"/>
              <a:t> </a:t>
            </a:r>
          </a:p>
          <a:p>
            <a:r>
              <a:rPr lang="zh-CN" altLang="en-US" dirty="0"/>
              <a:t>提高链路带宽减小了数据的发送时延。 </a:t>
            </a:r>
            <a:endParaRPr lang="en-US" altLang="zh-CN" dirty="0"/>
          </a:p>
        </p:txBody>
      </p:sp>
      <p:sp>
        <p:nvSpPr>
          <p:cNvPr id="2" name="矩形 1"/>
          <p:cNvSpPr/>
          <p:nvPr/>
        </p:nvSpPr>
        <p:spPr>
          <a:xfrm>
            <a:off x="1151829" y="3493027"/>
            <a:ext cx="7776864" cy="1569660"/>
          </a:xfrm>
          <a:prstGeom prst="rect">
            <a:avLst/>
          </a:prstGeom>
          <a:solidFill>
            <a:srgbClr val="FFFF66"/>
          </a:solidFill>
          <a:ln>
            <a:solidFill>
              <a:schemeClr val="bg1">
                <a:lumMod val="50000"/>
              </a:schemeClr>
            </a:solidFill>
          </a:ln>
        </p:spPr>
        <p:txBody>
          <a:bodyPr wrap="square">
            <a:spAutoFit/>
          </a:bodyPr>
          <a:lstStyle/>
          <a:p>
            <a:r>
              <a:rPr lang="zh-CN" altLang="en-US" sz="3200" b="1" dirty="0">
                <a:latin typeface="+mn-lt"/>
                <a:ea typeface="黑体" panose="02010609060101010101" pitchFamily="2" charset="-122"/>
              </a:rPr>
              <a:t>以下说法是</a:t>
            </a:r>
            <a:r>
              <a:rPr lang="zh-CN" altLang="en-US" sz="3200" b="1" dirty="0">
                <a:solidFill>
                  <a:srgbClr val="FF0000"/>
                </a:solidFill>
                <a:latin typeface="+mn-lt"/>
                <a:ea typeface="黑体" panose="02010609060101010101" pitchFamily="2" charset="-122"/>
              </a:rPr>
              <a:t>错误</a:t>
            </a:r>
            <a:r>
              <a:rPr lang="zh-CN" altLang="en-US" sz="3200" b="1" dirty="0">
                <a:latin typeface="+mn-lt"/>
                <a:ea typeface="黑体" panose="02010609060101010101" pitchFamily="2" charset="-122"/>
              </a:rPr>
              <a:t>的：</a:t>
            </a:r>
            <a:endParaRPr lang="en-US" altLang="zh-CN" sz="3200" b="1" dirty="0">
              <a:latin typeface="+mn-lt"/>
              <a:ea typeface="黑体" panose="02010609060101010101" pitchFamily="2" charset="-122"/>
            </a:endParaRPr>
          </a:p>
          <a:p>
            <a:r>
              <a:rPr lang="zh-CN" altLang="zh-CN" sz="3200" b="1" dirty="0">
                <a:solidFill>
                  <a:srgbClr val="0000CC"/>
                </a:solidFill>
                <a:latin typeface="+mn-lt"/>
                <a:ea typeface="黑体" panose="02010609060101010101" pitchFamily="2" charset="-122"/>
              </a:rPr>
              <a:t>“在高速链路（或高带宽链路）上，比特会传送得更快些”。</a:t>
            </a:r>
            <a:endParaRPr lang="zh-CN" altLang="en-US" sz="3200" b="1" dirty="0">
              <a:solidFill>
                <a:srgbClr val="0000CC"/>
              </a:solidFill>
              <a:latin typeface="+mn-lt"/>
              <a:ea typeface="黑体" panose="0201060906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时延计算举例</a:t>
            </a:r>
          </a:p>
        </p:txBody>
      </p:sp>
      <p:sp>
        <p:nvSpPr>
          <p:cNvPr id="3" name="内容占位符 2"/>
          <p:cNvSpPr>
            <a:spLocks noGrp="1"/>
          </p:cNvSpPr>
          <p:nvPr>
            <p:ph idx="1"/>
          </p:nvPr>
        </p:nvSpPr>
        <p:spPr>
          <a:xfrm>
            <a:off x="495300" y="1196975"/>
            <a:ext cx="9065895" cy="5481955"/>
          </a:xfrm>
        </p:spPr>
        <p:txBody>
          <a:bodyPr/>
          <a:lstStyle/>
          <a:p>
            <a:r>
              <a:rPr lang="zh-CN" altLang="en-US" sz="2800"/>
              <a:t>数据块长度为</a:t>
            </a:r>
            <a:r>
              <a:rPr lang="en-US" altLang="zh-CN" sz="2800"/>
              <a:t>100MB</a:t>
            </a:r>
            <a:r>
              <a:rPr lang="zh-CN" altLang="en-US" sz="2800"/>
              <a:t>，信道带宽为</a:t>
            </a:r>
            <a:r>
              <a:rPr lang="en-US" altLang="zh-CN" sz="2800"/>
              <a:t>1Mb/s, </a:t>
            </a:r>
            <a:r>
              <a:rPr lang="zh-CN" altLang="en-US" sz="2800"/>
              <a:t>将此数据块用光纤传送到</a:t>
            </a:r>
            <a:r>
              <a:rPr lang="en-US" altLang="zh-CN" sz="2800"/>
              <a:t>1000km</a:t>
            </a:r>
            <a:r>
              <a:rPr lang="zh-CN" altLang="en-US" sz="2800"/>
              <a:t>远的计算机，忽略处理时延和排队时延，分别求发送时延和传播时延？</a:t>
            </a:r>
          </a:p>
          <a:p>
            <a:pPr marL="0" indent="0">
              <a:buNone/>
            </a:pPr>
            <a:r>
              <a:rPr lang="zh-CN" altLang="en-US" sz="2800">
                <a:solidFill>
                  <a:srgbClr val="FF0000"/>
                </a:solidFill>
              </a:rPr>
              <a:t>计算：</a:t>
            </a:r>
          </a:p>
          <a:p>
            <a:pPr marL="0" indent="0">
              <a:buNone/>
            </a:pPr>
            <a:r>
              <a:rPr lang="zh-CN" altLang="en-US" sz="2800">
                <a:solidFill>
                  <a:srgbClr val="FF0000"/>
                </a:solidFill>
              </a:rPr>
              <a:t>      发送时延：（</a:t>
            </a:r>
            <a:r>
              <a:rPr lang="en-US" altLang="zh-CN" sz="2800">
                <a:solidFill>
                  <a:srgbClr val="FF0000"/>
                </a:solidFill>
              </a:rPr>
              <a:t>100*2</a:t>
            </a:r>
            <a:r>
              <a:rPr lang="en-US" altLang="zh-CN" sz="2800" baseline="30000">
                <a:solidFill>
                  <a:srgbClr val="FF0000"/>
                </a:solidFill>
              </a:rPr>
              <a:t>20</a:t>
            </a:r>
            <a:r>
              <a:rPr lang="en-US" altLang="zh-CN" sz="2800">
                <a:solidFill>
                  <a:srgbClr val="FF0000"/>
                </a:solidFill>
              </a:rPr>
              <a:t>B*8bit</a:t>
            </a:r>
            <a:r>
              <a:rPr lang="zh-CN" altLang="en-US" sz="2800">
                <a:solidFill>
                  <a:srgbClr val="FF0000"/>
                </a:solidFill>
              </a:rPr>
              <a:t>）</a:t>
            </a:r>
            <a:r>
              <a:rPr lang="en-US" altLang="zh-CN" sz="2800">
                <a:solidFill>
                  <a:srgbClr val="FF0000"/>
                </a:solidFill>
              </a:rPr>
              <a:t>/</a:t>
            </a:r>
            <a:r>
              <a:rPr lang="zh-CN" altLang="en-US" sz="2800">
                <a:solidFill>
                  <a:srgbClr val="FF0000"/>
                </a:solidFill>
              </a:rPr>
              <a:t>（</a:t>
            </a:r>
            <a:r>
              <a:rPr lang="en-US" altLang="zh-CN" sz="2800">
                <a:solidFill>
                  <a:srgbClr val="FF0000"/>
                </a:solidFill>
              </a:rPr>
              <a:t>1*10</a:t>
            </a:r>
            <a:r>
              <a:rPr lang="en-US" altLang="zh-CN" sz="2800" baseline="30000">
                <a:solidFill>
                  <a:srgbClr val="FF0000"/>
                </a:solidFill>
              </a:rPr>
              <a:t>6</a:t>
            </a:r>
            <a:r>
              <a:rPr lang="en-US" altLang="zh-CN" sz="2800">
                <a:solidFill>
                  <a:srgbClr val="FF0000"/>
                </a:solidFill>
              </a:rPr>
              <a:t>b/s</a:t>
            </a:r>
            <a:r>
              <a:rPr lang="zh-CN" altLang="en-US" sz="2800">
                <a:solidFill>
                  <a:srgbClr val="FF0000"/>
                </a:solidFill>
              </a:rPr>
              <a:t>）</a:t>
            </a:r>
            <a:r>
              <a:rPr lang="en-US" altLang="zh-CN" sz="2800">
                <a:solidFill>
                  <a:srgbClr val="FF0000"/>
                </a:solidFill>
              </a:rPr>
              <a:t>=838.9s</a:t>
            </a:r>
          </a:p>
          <a:p>
            <a:pPr marL="0" indent="0">
              <a:buNone/>
            </a:pPr>
            <a:endParaRPr lang="zh-CN" altLang="en-US" sz="2800">
              <a:solidFill>
                <a:srgbClr val="FF0000"/>
              </a:solidFill>
            </a:endParaRPr>
          </a:p>
          <a:p>
            <a:pPr marL="0" indent="0">
              <a:buNone/>
            </a:pPr>
            <a:r>
              <a:rPr lang="zh-CN" altLang="en-US" sz="2800">
                <a:solidFill>
                  <a:srgbClr val="FF0000"/>
                </a:solidFill>
              </a:rPr>
              <a:t>      传播时延： </a:t>
            </a:r>
            <a:r>
              <a:rPr lang="en-US" altLang="zh-CN" sz="2800">
                <a:solidFill>
                  <a:srgbClr val="FF0000"/>
                </a:solidFill>
              </a:rPr>
              <a:t>1000km/(2*10</a:t>
            </a:r>
            <a:r>
              <a:rPr lang="en-US" altLang="zh-CN" sz="2800" baseline="30000">
                <a:solidFill>
                  <a:srgbClr val="FF0000"/>
                </a:solidFill>
              </a:rPr>
              <a:t>5</a:t>
            </a:r>
            <a:r>
              <a:rPr lang="en-US" altLang="zh-CN" sz="2800">
                <a:solidFill>
                  <a:srgbClr val="FF0000"/>
                </a:solidFill>
              </a:rPr>
              <a:t>km/s) = 5*10</a:t>
            </a:r>
            <a:r>
              <a:rPr lang="en-US" altLang="zh-CN" sz="2800" baseline="30000">
                <a:solidFill>
                  <a:srgbClr val="FF0000"/>
                </a:solidFill>
              </a:rPr>
              <a:t>-3</a:t>
            </a:r>
            <a:r>
              <a:rPr lang="en-US" altLang="zh-CN" sz="2800">
                <a:solidFill>
                  <a:srgbClr val="FF0000"/>
                </a:solidFill>
              </a:rPr>
              <a:t>s=5ms</a:t>
            </a:r>
          </a:p>
          <a:p>
            <a:pPr marL="0" indent="0">
              <a:buNone/>
            </a:pPr>
            <a:endParaRPr lang="en-US" altLang="zh-CN" sz="2800">
              <a:solidFill>
                <a:srgbClr val="FF0000"/>
              </a:solidFill>
            </a:endParaRPr>
          </a:p>
          <a:p>
            <a:pPr marL="0" indent="0">
              <a:buNone/>
            </a:pPr>
            <a:r>
              <a:rPr lang="zh-CN" altLang="en-US" sz="2800">
                <a:solidFill>
                  <a:srgbClr val="FF0000"/>
                </a:solidFill>
              </a:rPr>
              <a:t>      发送时延占主导</a:t>
            </a:r>
          </a:p>
          <a:p>
            <a:endParaRPr lang="zh-CN" altLang="en-US" sz="2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down)">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时延计算举例</a:t>
            </a:r>
          </a:p>
        </p:txBody>
      </p:sp>
      <p:sp>
        <p:nvSpPr>
          <p:cNvPr id="3" name="内容占位符 2"/>
          <p:cNvSpPr>
            <a:spLocks noGrp="1"/>
          </p:cNvSpPr>
          <p:nvPr>
            <p:ph idx="1"/>
          </p:nvPr>
        </p:nvSpPr>
        <p:spPr>
          <a:xfrm>
            <a:off x="495300" y="1196975"/>
            <a:ext cx="9065895" cy="5481955"/>
          </a:xfrm>
        </p:spPr>
        <p:txBody>
          <a:bodyPr/>
          <a:lstStyle/>
          <a:p>
            <a:r>
              <a:rPr lang="zh-CN" altLang="en-US" sz="2800"/>
              <a:t>数据块长度为</a:t>
            </a:r>
            <a:r>
              <a:rPr lang="en-US" altLang="zh-CN" sz="2800"/>
              <a:t>1B</a:t>
            </a:r>
            <a:r>
              <a:rPr lang="zh-CN" altLang="en-US" sz="2800"/>
              <a:t>，信道带宽为</a:t>
            </a:r>
            <a:r>
              <a:rPr lang="en-US" altLang="zh-CN" sz="2800"/>
              <a:t>1Mb/s, </a:t>
            </a:r>
            <a:r>
              <a:rPr lang="zh-CN" altLang="en-US" sz="2800"/>
              <a:t>将此数据块用光纤传送到</a:t>
            </a:r>
            <a:r>
              <a:rPr lang="en-US" altLang="zh-CN" sz="2800"/>
              <a:t>1000km</a:t>
            </a:r>
            <a:r>
              <a:rPr lang="zh-CN" altLang="en-US" sz="2800"/>
              <a:t>远的计算机，忽略处理时延和排队时延，分别求发送时延和传播时延？</a:t>
            </a:r>
          </a:p>
          <a:p>
            <a:pPr marL="0" indent="0">
              <a:buNone/>
            </a:pPr>
            <a:r>
              <a:rPr lang="zh-CN" altLang="en-US" sz="2800">
                <a:solidFill>
                  <a:srgbClr val="FF0000"/>
                </a:solidFill>
              </a:rPr>
              <a:t>计算：</a:t>
            </a:r>
          </a:p>
          <a:p>
            <a:pPr marL="0" indent="0">
              <a:buNone/>
            </a:pPr>
            <a:r>
              <a:rPr lang="zh-CN" altLang="en-US" sz="2800">
                <a:solidFill>
                  <a:srgbClr val="FF0000"/>
                </a:solidFill>
              </a:rPr>
              <a:t>      发送时延：（</a:t>
            </a:r>
            <a:r>
              <a:rPr lang="en-US" altLang="zh-CN" sz="2800">
                <a:solidFill>
                  <a:srgbClr val="FF0000"/>
                </a:solidFill>
              </a:rPr>
              <a:t>1*8bit</a:t>
            </a:r>
            <a:r>
              <a:rPr lang="zh-CN" altLang="en-US" sz="2800">
                <a:solidFill>
                  <a:srgbClr val="FF0000"/>
                </a:solidFill>
              </a:rPr>
              <a:t>）</a:t>
            </a:r>
            <a:r>
              <a:rPr lang="en-US" altLang="zh-CN" sz="2800">
                <a:solidFill>
                  <a:srgbClr val="FF0000"/>
                </a:solidFill>
              </a:rPr>
              <a:t>/</a:t>
            </a:r>
            <a:r>
              <a:rPr lang="zh-CN" altLang="en-US" sz="2800">
                <a:solidFill>
                  <a:srgbClr val="FF0000"/>
                </a:solidFill>
              </a:rPr>
              <a:t>（</a:t>
            </a:r>
            <a:r>
              <a:rPr lang="en-US" altLang="zh-CN" sz="2800">
                <a:solidFill>
                  <a:srgbClr val="FF0000"/>
                </a:solidFill>
              </a:rPr>
              <a:t>1*10</a:t>
            </a:r>
            <a:r>
              <a:rPr lang="en-US" altLang="zh-CN" sz="2800" baseline="30000">
                <a:solidFill>
                  <a:srgbClr val="FF0000"/>
                </a:solidFill>
              </a:rPr>
              <a:t>6</a:t>
            </a:r>
            <a:r>
              <a:rPr lang="en-US" altLang="zh-CN" sz="2800">
                <a:solidFill>
                  <a:srgbClr val="FF0000"/>
                </a:solidFill>
              </a:rPr>
              <a:t>b/s</a:t>
            </a:r>
            <a:r>
              <a:rPr lang="zh-CN" altLang="en-US" sz="2800">
                <a:solidFill>
                  <a:srgbClr val="FF0000"/>
                </a:solidFill>
              </a:rPr>
              <a:t>）</a:t>
            </a:r>
            <a:r>
              <a:rPr lang="en-US" altLang="zh-CN" sz="2800">
                <a:solidFill>
                  <a:srgbClr val="FF0000"/>
                </a:solidFill>
              </a:rPr>
              <a:t>=8*10</a:t>
            </a:r>
            <a:r>
              <a:rPr lang="en-US" altLang="zh-CN" sz="2800" baseline="30000">
                <a:solidFill>
                  <a:srgbClr val="FF0000"/>
                </a:solidFill>
              </a:rPr>
              <a:t>-6</a:t>
            </a:r>
            <a:r>
              <a:rPr lang="en-US" altLang="zh-CN" sz="2800">
                <a:solidFill>
                  <a:srgbClr val="FF0000"/>
                </a:solidFill>
              </a:rPr>
              <a:t>s</a:t>
            </a:r>
          </a:p>
          <a:p>
            <a:pPr marL="0" indent="0">
              <a:buNone/>
            </a:pPr>
            <a:endParaRPr lang="zh-CN" altLang="en-US" sz="2800">
              <a:solidFill>
                <a:srgbClr val="FF0000"/>
              </a:solidFill>
            </a:endParaRPr>
          </a:p>
          <a:p>
            <a:pPr marL="0" indent="0">
              <a:buNone/>
            </a:pPr>
            <a:r>
              <a:rPr lang="zh-CN" altLang="en-US" sz="2800">
                <a:solidFill>
                  <a:srgbClr val="FF0000"/>
                </a:solidFill>
              </a:rPr>
              <a:t>      传播时延： </a:t>
            </a:r>
            <a:r>
              <a:rPr lang="en-US" altLang="zh-CN" sz="2800">
                <a:solidFill>
                  <a:srgbClr val="FF0000"/>
                </a:solidFill>
              </a:rPr>
              <a:t>1000km/(2*10</a:t>
            </a:r>
            <a:r>
              <a:rPr lang="en-US" altLang="zh-CN" sz="2800" baseline="30000">
                <a:solidFill>
                  <a:srgbClr val="FF0000"/>
                </a:solidFill>
              </a:rPr>
              <a:t>5</a:t>
            </a:r>
            <a:r>
              <a:rPr lang="en-US" altLang="zh-CN" sz="2800">
                <a:solidFill>
                  <a:srgbClr val="FF0000"/>
                </a:solidFill>
              </a:rPr>
              <a:t>km/s) = 5*10</a:t>
            </a:r>
            <a:r>
              <a:rPr lang="en-US" altLang="zh-CN" sz="2800" baseline="30000">
                <a:solidFill>
                  <a:srgbClr val="FF0000"/>
                </a:solidFill>
              </a:rPr>
              <a:t>-3</a:t>
            </a:r>
            <a:r>
              <a:rPr lang="en-US" altLang="zh-CN" sz="2800">
                <a:solidFill>
                  <a:srgbClr val="FF0000"/>
                </a:solidFill>
              </a:rPr>
              <a:t>s</a:t>
            </a:r>
          </a:p>
          <a:p>
            <a:pPr marL="0" indent="0">
              <a:buNone/>
            </a:pPr>
            <a:endParaRPr lang="en-US" altLang="zh-CN" sz="2800">
              <a:solidFill>
                <a:srgbClr val="FF0000"/>
              </a:solidFill>
            </a:endParaRPr>
          </a:p>
          <a:p>
            <a:pPr marL="0" indent="0">
              <a:buNone/>
            </a:pPr>
            <a:r>
              <a:rPr lang="zh-CN" altLang="en-US" sz="2800">
                <a:solidFill>
                  <a:srgbClr val="FF0000"/>
                </a:solidFill>
              </a:rPr>
              <a:t>      传播时延占主导</a:t>
            </a:r>
          </a:p>
          <a:p>
            <a:endParaRPr lang="zh-CN" altLang="en-US" sz="2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down)">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信道利用率</a:t>
            </a:r>
          </a:p>
        </p:txBody>
      </p:sp>
      <p:sp>
        <p:nvSpPr>
          <p:cNvPr id="3" name="内容占位符 2"/>
          <p:cNvSpPr>
            <a:spLocks noGrp="1"/>
          </p:cNvSpPr>
          <p:nvPr>
            <p:ph idx="1"/>
          </p:nvPr>
        </p:nvSpPr>
        <p:spPr/>
        <p:txBody>
          <a:bodyPr/>
          <a:lstStyle/>
          <a:p>
            <a:pPr>
              <a:lnSpc>
                <a:spcPct val="110000"/>
              </a:lnSpc>
              <a:spcBef>
                <a:spcPts val="600"/>
              </a:spcBef>
            </a:pPr>
            <a:r>
              <a:rPr lang="zh-CN" altLang="en-US" dirty="0">
                <a:solidFill>
                  <a:srgbClr val="FF0000"/>
                </a:solidFill>
              </a:rPr>
              <a:t>信道利用率</a:t>
            </a:r>
            <a:r>
              <a:rPr lang="zh-CN" altLang="en-US" dirty="0">
                <a:solidFill>
                  <a:schemeClr val="tx1"/>
                </a:solidFill>
              </a:rPr>
              <a:t>指出某信道有百分之几的时间是被利用的（有数据通过）。完全空闲的信道的利用率是零。</a:t>
            </a:r>
          </a:p>
          <a:p>
            <a:pPr>
              <a:lnSpc>
                <a:spcPct val="110000"/>
              </a:lnSpc>
              <a:spcBef>
                <a:spcPts val="600"/>
              </a:spcBef>
            </a:pPr>
            <a:r>
              <a:rPr lang="zh-CN" altLang="en-US" dirty="0">
                <a:solidFill>
                  <a:schemeClr val="tx1"/>
                </a:solidFill>
              </a:rPr>
              <a:t>网络利用率则是全网络的信道利用率的加权平均值。</a:t>
            </a:r>
          </a:p>
          <a:p>
            <a:pPr>
              <a:lnSpc>
                <a:spcPct val="110000"/>
              </a:lnSpc>
              <a:spcBef>
                <a:spcPts val="600"/>
              </a:spcBef>
            </a:pPr>
            <a:r>
              <a:rPr lang="zh-CN" altLang="en-US" dirty="0">
                <a:solidFill>
                  <a:srgbClr val="C00000"/>
                </a:solidFill>
              </a:rPr>
              <a:t>信道利用率并非越高越好。</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信道利用率</a:t>
            </a:r>
          </a:p>
        </p:txBody>
      </p:sp>
      <p:sp>
        <p:nvSpPr>
          <p:cNvPr id="3" name="内容占位符 2"/>
          <p:cNvSpPr>
            <a:spLocks noGrp="1"/>
          </p:cNvSpPr>
          <p:nvPr>
            <p:ph idx="1"/>
          </p:nvPr>
        </p:nvSpPr>
        <p:spPr>
          <a:xfrm>
            <a:off x="495300" y="1196975"/>
            <a:ext cx="9065895" cy="2903220"/>
          </a:xfrm>
        </p:spPr>
        <p:txBody>
          <a:bodyPr/>
          <a:lstStyle/>
          <a:p>
            <a:pPr>
              <a:lnSpc>
                <a:spcPct val="110000"/>
              </a:lnSpc>
              <a:spcBef>
                <a:spcPts val="600"/>
              </a:spcBef>
            </a:pPr>
            <a:r>
              <a:rPr lang="zh-CN" altLang="en-US" sz="2800" dirty="0">
                <a:solidFill>
                  <a:schemeClr val="tx1"/>
                </a:solidFill>
              </a:rPr>
              <a:t>根据排队论的理论，当信道的利用率增大时，该信道引起的时延也就会迅速增加。</a:t>
            </a:r>
          </a:p>
          <a:p>
            <a:pPr>
              <a:lnSpc>
                <a:spcPct val="110000"/>
              </a:lnSpc>
              <a:spcBef>
                <a:spcPts val="600"/>
              </a:spcBef>
            </a:pPr>
            <a:r>
              <a:rPr lang="zh-CN" altLang="en-US" sz="2800" dirty="0">
                <a:solidFill>
                  <a:schemeClr val="tx1"/>
                </a:solidFill>
              </a:rPr>
              <a:t>若令</a:t>
            </a:r>
            <a:r>
              <a:rPr lang="en-US" altLang="zh-CN" sz="2800" dirty="0">
                <a:solidFill>
                  <a:schemeClr val="tx1"/>
                </a:solidFill>
              </a:rPr>
              <a:t>D</a:t>
            </a:r>
            <a:r>
              <a:rPr lang="en-US" altLang="zh-CN" sz="2800" baseline="-25000" dirty="0">
                <a:solidFill>
                  <a:schemeClr val="tx1"/>
                </a:solidFill>
              </a:rPr>
              <a:t>0</a:t>
            </a:r>
            <a:r>
              <a:rPr lang="zh-CN" altLang="en-US" sz="2800" dirty="0">
                <a:solidFill>
                  <a:schemeClr val="tx1"/>
                </a:solidFill>
              </a:rPr>
              <a:t>表示网络空闲时的时延，</a:t>
            </a:r>
            <a:r>
              <a:rPr lang="en-US" altLang="zh-CN" sz="2800" dirty="0">
                <a:solidFill>
                  <a:schemeClr val="tx1"/>
                </a:solidFill>
              </a:rPr>
              <a:t>D</a:t>
            </a:r>
            <a:r>
              <a:rPr lang="zh-CN" altLang="en-US" sz="2800" dirty="0">
                <a:solidFill>
                  <a:schemeClr val="tx1"/>
                </a:solidFill>
              </a:rPr>
              <a:t>表示网络当前时延，则在适当的假定条件下，可以用下面的简单公式表示</a:t>
            </a:r>
            <a:r>
              <a:rPr lang="en-US" altLang="zh-CN" sz="2800" dirty="0">
                <a:solidFill>
                  <a:schemeClr val="tx1"/>
                </a:solidFill>
              </a:rPr>
              <a:t>D</a:t>
            </a:r>
            <a:r>
              <a:rPr lang="zh-CN" altLang="en-US" sz="2800" dirty="0">
                <a:solidFill>
                  <a:schemeClr val="tx1"/>
                </a:solidFill>
              </a:rPr>
              <a:t>和</a:t>
            </a:r>
            <a:r>
              <a:rPr lang="en-US" altLang="zh-CN" sz="2800" dirty="0">
                <a:solidFill>
                  <a:schemeClr val="tx1"/>
                </a:solidFill>
              </a:rPr>
              <a:t>D</a:t>
            </a:r>
            <a:r>
              <a:rPr lang="en-US" altLang="zh-CN" sz="2800" baseline="-25000" dirty="0">
                <a:solidFill>
                  <a:schemeClr val="tx1"/>
                </a:solidFill>
              </a:rPr>
              <a:t>0</a:t>
            </a:r>
            <a:r>
              <a:rPr lang="zh-CN" altLang="en-US" sz="2800" dirty="0">
                <a:solidFill>
                  <a:schemeClr val="tx1"/>
                </a:solidFill>
              </a:rPr>
              <a:t>之间的关系：</a:t>
            </a:r>
          </a:p>
        </p:txBody>
      </p:sp>
      <p:pic>
        <p:nvPicPr>
          <p:cNvPr id="4" name="图片 3"/>
          <p:cNvPicPr>
            <a:picLocks noChangeAspect="1"/>
          </p:cNvPicPr>
          <p:nvPr/>
        </p:nvPicPr>
        <p:blipFill>
          <a:blip r:embed="rId2"/>
          <a:stretch>
            <a:fillRect/>
          </a:stretch>
        </p:blipFill>
        <p:spPr>
          <a:xfrm>
            <a:off x="1412240" y="4051935"/>
            <a:ext cx="2061210" cy="1210310"/>
          </a:xfrm>
          <a:prstGeom prst="rect">
            <a:avLst/>
          </a:prstGeom>
        </p:spPr>
      </p:pic>
      <p:pic>
        <p:nvPicPr>
          <p:cNvPr id="5" name="图片 4"/>
          <p:cNvPicPr>
            <a:picLocks noChangeAspect="1"/>
          </p:cNvPicPr>
          <p:nvPr/>
        </p:nvPicPr>
        <p:blipFill>
          <a:blip r:embed="rId3"/>
          <a:stretch>
            <a:fillRect/>
          </a:stretch>
        </p:blipFill>
        <p:spPr>
          <a:xfrm>
            <a:off x="824865" y="5720080"/>
            <a:ext cx="3462655" cy="857250"/>
          </a:xfrm>
          <a:prstGeom prst="rect">
            <a:avLst/>
          </a:prstGeom>
        </p:spPr>
      </p:pic>
      <p:pic>
        <p:nvPicPr>
          <p:cNvPr id="7" name="图片 6"/>
          <p:cNvPicPr>
            <a:picLocks noChangeAspect="1"/>
          </p:cNvPicPr>
          <p:nvPr/>
        </p:nvPicPr>
        <p:blipFill>
          <a:blip r:embed="rId4"/>
          <a:stretch>
            <a:fillRect/>
          </a:stretch>
        </p:blipFill>
        <p:spPr>
          <a:xfrm>
            <a:off x="4726940" y="3813810"/>
            <a:ext cx="4749165" cy="2821305"/>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1.6.2  </a:t>
            </a:r>
            <a:r>
              <a:rPr lang="zh-CN" altLang="en-US" dirty="0"/>
              <a:t>计算机网络的非性能指标</a:t>
            </a:r>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nSpc>
                <a:spcPct val="110000"/>
              </a:lnSpc>
              <a:spcBef>
                <a:spcPts val="600"/>
              </a:spcBef>
            </a:pPr>
            <a:r>
              <a:rPr lang="zh-CN" altLang="zh-CN" dirty="0"/>
              <a:t>计算机网络的非性能指标</a:t>
            </a:r>
            <a:r>
              <a:rPr lang="zh-CN" altLang="en-US" dirty="0"/>
              <a:t>主要包括：</a:t>
            </a:r>
            <a:endParaRPr lang="en-US" altLang="zh-CN" dirty="0"/>
          </a:p>
          <a:p>
            <a:pPr lvl="1"/>
            <a:r>
              <a:rPr lang="zh-CN" altLang="zh-CN" dirty="0"/>
              <a:t>费用</a:t>
            </a:r>
          </a:p>
          <a:p>
            <a:pPr lvl="1"/>
            <a:r>
              <a:rPr lang="zh-CN" altLang="en-US" dirty="0"/>
              <a:t>质量</a:t>
            </a:r>
          </a:p>
          <a:p>
            <a:pPr lvl="1"/>
            <a:r>
              <a:rPr lang="zh-CN" altLang="en-US" dirty="0"/>
              <a:t>标准化</a:t>
            </a:r>
          </a:p>
          <a:p>
            <a:pPr lvl="1"/>
            <a:r>
              <a:rPr lang="zh-CN" altLang="en-US" dirty="0"/>
              <a:t>可靠性</a:t>
            </a:r>
          </a:p>
          <a:p>
            <a:pPr lvl="1"/>
            <a:r>
              <a:rPr lang="zh-CN" altLang="en-US" dirty="0"/>
              <a:t>扩展性和可升级性</a:t>
            </a:r>
          </a:p>
          <a:p>
            <a:pPr lvl="1"/>
            <a:r>
              <a:rPr lang="zh-CN" altLang="en-US" dirty="0"/>
              <a:t>易于管理和维护</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a:t>
            </a:r>
            <a:r>
              <a:rPr lang="zh-CN" altLang="zh-CN" dirty="0"/>
              <a:t>计算机网络的体系结构</a:t>
            </a:r>
            <a:endParaRPr lang="zh-CN" altLang="en-US" dirty="0"/>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dirty="0"/>
              <a:t>1.7.1  </a:t>
            </a:r>
            <a:r>
              <a:rPr lang="zh-CN" altLang="zh-CN" dirty="0"/>
              <a:t>计算机网络体系结构的形成</a:t>
            </a:r>
          </a:p>
          <a:p>
            <a:r>
              <a:rPr lang="en-US" altLang="zh-CN" dirty="0"/>
              <a:t>1.7.2  </a:t>
            </a:r>
            <a:r>
              <a:rPr lang="zh-CN" altLang="zh-CN" dirty="0"/>
              <a:t>协议与划分层次</a:t>
            </a:r>
          </a:p>
          <a:p>
            <a:r>
              <a:rPr lang="en-US" altLang="zh-CN" dirty="0"/>
              <a:t>1.7.3  </a:t>
            </a:r>
            <a:r>
              <a:rPr lang="zh-CN" altLang="zh-CN" dirty="0"/>
              <a:t>具有五层协议的体系结构</a:t>
            </a:r>
          </a:p>
          <a:p>
            <a:r>
              <a:rPr lang="en-US" altLang="zh-CN" dirty="0"/>
              <a:t>1.7.4  </a:t>
            </a:r>
            <a:r>
              <a:rPr lang="zh-CN" altLang="zh-CN" dirty="0"/>
              <a:t>实体、协议、服务和服务访问点</a:t>
            </a:r>
          </a:p>
          <a:p>
            <a:r>
              <a:rPr lang="en-US" altLang="zh-CN" dirty="0"/>
              <a:t>1.7.5  TCP/IP </a:t>
            </a:r>
            <a:r>
              <a:rPr lang="zh-CN" altLang="zh-CN" dirty="0"/>
              <a:t>的体系结构</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sz="4000" dirty="0"/>
              <a:t>1.7.1  </a:t>
            </a:r>
            <a:r>
              <a:rPr lang="zh-CN" altLang="zh-CN" sz="4000" dirty="0"/>
              <a:t>计算机网络体系结构的形成</a:t>
            </a:r>
            <a:endParaRPr lang="zh-CN" altLang="en-US" sz="4000" dirty="0"/>
          </a:p>
        </p:txBody>
      </p:sp>
      <p:sp>
        <p:nvSpPr>
          <p:cNvPr id="100355" name="Rectangle 3"/>
          <p:cNvSpPr>
            <a:spLocks noGrp="1" noChangeArrowheads="1"/>
          </p:cNvSpPr>
          <p:nvPr>
            <p:ph idx="1"/>
          </p:nvPr>
        </p:nvSpPr>
        <p:spPr/>
        <p:txBody>
          <a:bodyPr/>
          <a:lstStyle/>
          <a:p>
            <a:r>
              <a:rPr lang="zh-CN" altLang="zh-CN" dirty="0"/>
              <a:t>计算机网络是个非常复杂的系统</a:t>
            </a:r>
            <a:r>
              <a:rPr lang="zh-CN" altLang="en-US" dirty="0"/>
              <a:t>。</a:t>
            </a:r>
            <a:endParaRPr lang="en-US" altLang="zh-CN" dirty="0"/>
          </a:p>
          <a:p>
            <a:r>
              <a:rPr lang="zh-CN" altLang="en-US" dirty="0"/>
              <a:t>相互通信的两个计算机系统必须</a:t>
            </a:r>
            <a:r>
              <a:rPr lang="zh-CN" altLang="en-US" dirty="0">
                <a:solidFill>
                  <a:srgbClr val="FF0000"/>
                </a:solidFill>
              </a:rPr>
              <a:t>高度协调工作</a:t>
            </a:r>
            <a:r>
              <a:rPr lang="zh-CN" altLang="en-US" dirty="0"/>
              <a:t>才行，而这种“协调”是相当复杂的。 </a:t>
            </a:r>
          </a:p>
          <a:p>
            <a:r>
              <a:rPr lang="zh-CN" altLang="en-US" dirty="0"/>
              <a:t>“</a:t>
            </a:r>
            <a:r>
              <a:rPr lang="zh-CN" altLang="en-US" dirty="0">
                <a:solidFill>
                  <a:srgbClr val="FF0000"/>
                </a:solidFill>
              </a:rPr>
              <a:t>分层</a:t>
            </a:r>
            <a:r>
              <a:rPr lang="zh-CN" altLang="en-US" dirty="0"/>
              <a:t>”可将庞大而复杂的问题，转化为若干较小的局部问题，而这些较小的局部问题就比较易于研究和处理。 </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atinLnBrk="1"/>
            <a:r>
              <a:rPr lang="zh-CN" altLang="zh-CN" sz="3600" dirty="0"/>
              <a:t>一</a:t>
            </a:r>
            <a:r>
              <a:rPr lang="en-US" altLang="zh-CN" sz="3600" dirty="0"/>
              <a:t>. </a:t>
            </a:r>
            <a:r>
              <a:rPr lang="zh-CN" altLang="zh-CN" sz="3600" dirty="0"/>
              <a:t>为什么需要计算机网络体系结构</a:t>
            </a:r>
            <a:r>
              <a:rPr lang="zh-CN" altLang="zh-CN" dirty="0"/>
              <a:t>？</a:t>
            </a:r>
          </a:p>
        </p:txBody>
      </p:sp>
      <p:sp>
        <p:nvSpPr>
          <p:cNvPr id="3" name="内容占位符 2"/>
          <p:cNvSpPr>
            <a:spLocks noGrp="1"/>
          </p:cNvSpPr>
          <p:nvPr>
            <p:ph idx="1"/>
          </p:nvPr>
        </p:nvSpPr>
        <p:spPr>
          <a:xfrm>
            <a:off x="495300" y="1196752"/>
            <a:ext cx="9066212" cy="540060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dirty="0"/>
              <a:t>连接在网络上的两台计算机需要进行通信时，由于计算机网络的复杂性和异质性，需要考虑很多复杂的因素，比如：</a:t>
            </a:r>
          </a:p>
          <a:p>
            <a:r>
              <a:rPr lang="zh-CN" altLang="en-US" sz="2400" dirty="0"/>
              <a:t>   </a:t>
            </a:r>
            <a:r>
              <a:rPr lang="en-US" altLang="zh-CN" sz="2400" dirty="0"/>
              <a:t>(1) </a:t>
            </a:r>
            <a:r>
              <a:rPr lang="zh-CN" altLang="en-US" sz="2400" dirty="0"/>
              <a:t>这两台计算机之间必须有一条传送数据的通路； </a:t>
            </a:r>
          </a:p>
          <a:p>
            <a:r>
              <a:rPr lang="zh-CN" altLang="en-US" sz="2400" dirty="0"/>
              <a:t>　</a:t>
            </a:r>
            <a:r>
              <a:rPr lang="en-US" altLang="zh-CN" sz="2400" dirty="0"/>
              <a:t>(2) </a:t>
            </a:r>
            <a:r>
              <a:rPr lang="zh-CN" altLang="en-US" sz="2400" dirty="0"/>
              <a:t>告诉网络如何识别接收数据的计算机； </a:t>
            </a:r>
          </a:p>
          <a:p>
            <a:r>
              <a:rPr lang="zh-CN" altLang="en-US" sz="2400" dirty="0"/>
              <a:t>　</a:t>
            </a:r>
            <a:r>
              <a:rPr lang="en-US" altLang="zh-CN" sz="2400" dirty="0"/>
              <a:t>(3) </a:t>
            </a:r>
            <a:r>
              <a:rPr lang="zh-CN" altLang="en-US" sz="2400" dirty="0"/>
              <a:t>发起通信的计算机必须保证要传送的数据能在这条通路上正确发送和接收； </a:t>
            </a:r>
          </a:p>
          <a:p>
            <a:r>
              <a:rPr lang="zh-CN" altLang="en-US" sz="2400" dirty="0"/>
              <a:t>　</a:t>
            </a:r>
            <a:r>
              <a:rPr lang="en-US" altLang="zh-CN" sz="2400" dirty="0"/>
              <a:t>(4) </a:t>
            </a:r>
            <a:r>
              <a:rPr lang="zh-CN" altLang="en-US" sz="2400" dirty="0"/>
              <a:t>对出现的各种差错和意外事故，如数据传送错误、网络中某个节点交换机出现故障等问题，应该有可靠完善的措施保证对方计算机最终能正确收到数据。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atinLnBrk="1"/>
            <a:r>
              <a:rPr lang="zh-CN" altLang="zh-CN" sz="3600" dirty="0"/>
              <a:t>一</a:t>
            </a:r>
            <a:r>
              <a:rPr lang="en-US" altLang="zh-CN" sz="3600" dirty="0"/>
              <a:t>. </a:t>
            </a:r>
            <a:r>
              <a:rPr lang="zh-CN" altLang="zh-CN" sz="3600" dirty="0"/>
              <a:t>为什么需要计算机网络体系结构</a:t>
            </a:r>
            <a:r>
              <a:rPr lang="zh-CN" altLang="zh-CN" dirty="0"/>
              <a:t>？</a:t>
            </a:r>
          </a:p>
        </p:txBody>
      </p:sp>
      <p:sp>
        <p:nvSpPr>
          <p:cNvPr id="3" name="内容占位符 2"/>
          <p:cNvSpPr>
            <a:spLocks noGrp="1"/>
          </p:cNvSpPr>
          <p:nvPr>
            <p:ph idx="1"/>
          </p:nvPr>
        </p:nvSpPr>
        <p:spPr>
          <a:xfrm>
            <a:off x="495300" y="1196752"/>
            <a:ext cx="9066212" cy="540060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zh-CN" sz="2800" dirty="0"/>
              <a:t>计算机网络体系结构标准的制定正是为了解决这些问题从而让两台计算机</a:t>
            </a:r>
            <a:r>
              <a:rPr lang="en-US" altLang="zh-CN" sz="2800" dirty="0"/>
              <a:t>(</a:t>
            </a:r>
            <a:r>
              <a:rPr lang="zh-CN" altLang="zh-CN" sz="2800" dirty="0"/>
              <a:t>网络设备</a:t>
            </a:r>
            <a:r>
              <a:rPr lang="en-US" altLang="zh-CN" sz="2800" dirty="0"/>
              <a:t>)</a:t>
            </a:r>
            <a:r>
              <a:rPr lang="zh-CN" altLang="zh-CN" sz="2800" dirty="0"/>
              <a:t>能够像两个知心朋友那样能够互相准确理解对方的意思并做出优雅的回应。</a:t>
            </a:r>
            <a:r>
              <a:rPr lang="zh-CN" altLang="zh-CN" sz="2800" dirty="0">
                <a:solidFill>
                  <a:srgbClr val="C00000"/>
                </a:solidFill>
              </a:rPr>
              <a:t>要想完成这种网络通信就必须保证相互通信的这两个计算机系统达成高度默契。</a:t>
            </a:r>
            <a:r>
              <a:rPr lang="zh-CN" altLang="zh-CN" sz="2800" dirty="0"/>
              <a:t>事实上，在网络通信领域，两台计算机</a:t>
            </a:r>
            <a:r>
              <a:rPr lang="en-US" altLang="zh-CN" sz="2800" dirty="0"/>
              <a:t>(</a:t>
            </a:r>
            <a:r>
              <a:rPr lang="zh-CN" altLang="zh-CN" sz="2800" dirty="0"/>
              <a:t>网络设备</a:t>
            </a:r>
            <a:r>
              <a:rPr lang="en-US" altLang="zh-CN" sz="2800" dirty="0"/>
              <a:t>)</a:t>
            </a:r>
            <a:r>
              <a:rPr lang="zh-CN" altLang="zh-CN" sz="2800" dirty="0"/>
              <a:t>之间的通信并不像人与人之间的交流那样自然天然，这种计算机间高度默契的交流</a:t>
            </a:r>
            <a:r>
              <a:rPr lang="en-US" altLang="zh-CN" sz="2800" dirty="0"/>
              <a:t>(</a:t>
            </a:r>
            <a:r>
              <a:rPr lang="zh-CN" altLang="zh-CN" sz="2800" dirty="0"/>
              <a:t>通信</a:t>
            </a:r>
            <a:r>
              <a:rPr lang="en-US" altLang="zh-CN" sz="2800" dirty="0"/>
              <a:t>) </a:t>
            </a:r>
            <a:r>
              <a:rPr lang="zh-CN" altLang="zh-CN" sz="2800" dirty="0"/>
              <a:t>背后需要十分复杂、完备的网络体系结构作为支撑。</a:t>
            </a:r>
            <a:endParaRPr lang="zh-CN" altLang="en-US" sz="2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atinLnBrk="1"/>
            <a:r>
              <a:rPr lang="zh-CN" altLang="en-US" sz="3600" dirty="0"/>
              <a:t>二</a:t>
            </a:r>
            <a:r>
              <a:rPr lang="en-US" altLang="zh-CN" sz="3600" dirty="0"/>
              <a:t>. </a:t>
            </a:r>
            <a:r>
              <a:rPr lang="zh-CN" altLang="zh-CN" sz="3600" dirty="0"/>
              <a:t>计算机网络体系结构</a:t>
            </a:r>
            <a:r>
              <a:rPr lang="zh-CN" altLang="en-US" sz="3600" dirty="0"/>
              <a:t>设计的基本思想</a:t>
            </a:r>
            <a:endParaRPr lang="zh-CN" altLang="zh-CN" dirty="0"/>
          </a:p>
        </p:txBody>
      </p:sp>
      <p:sp>
        <p:nvSpPr>
          <p:cNvPr id="3" name="内容占位符 2"/>
          <p:cNvSpPr>
            <a:spLocks noGrp="1"/>
          </p:cNvSpPr>
          <p:nvPr>
            <p:ph idx="1"/>
          </p:nvPr>
        </p:nvSpPr>
        <p:spPr>
          <a:xfrm>
            <a:off x="495300" y="1196752"/>
            <a:ext cx="9066212" cy="5400600"/>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zh-CN" altLang="en-US" sz="2800" dirty="0"/>
              <a:t>那么，用什么方法才能合理地组织网络的结构，以保证其具有结构清晰、设计与实现简化、便于更新和维护、较强的独立性和适应性，从而使网络设备之间具有这种 “高度默契” 呢？ </a:t>
            </a:r>
          </a:p>
          <a:p>
            <a:r>
              <a:rPr lang="zh-CN" altLang="en-US" sz="2800" dirty="0">
                <a:solidFill>
                  <a:srgbClr val="FF0000"/>
                </a:solidFill>
              </a:rPr>
              <a:t>分而治之，更进一步地说就是分层思想。</a:t>
            </a:r>
            <a:endParaRPr lang="en-US" altLang="zh-CN" sz="2800" dirty="0">
              <a:solidFill>
                <a:srgbClr val="FF0000"/>
              </a:solidFill>
            </a:endParaRPr>
          </a:p>
          <a:p>
            <a:r>
              <a:rPr lang="zh-CN" altLang="zh-CN" sz="2800" dirty="0"/>
              <a:t>在计算机网络体系结构中，分层思想的内涵就是</a:t>
            </a:r>
            <a:r>
              <a:rPr lang="en-US" altLang="zh-CN" sz="2800" dirty="0"/>
              <a:t>: </a:t>
            </a:r>
            <a:r>
              <a:rPr lang="zh-CN" altLang="en-US" sz="2800" dirty="0">
                <a:solidFill>
                  <a:srgbClr val="FF0000"/>
                </a:solidFill>
              </a:rPr>
              <a:t>每层在依赖自己下层所提供的服务的基础上，通过自身内部功能实现一种特定的服务</a:t>
            </a:r>
            <a:r>
              <a:rPr lang="zh-CN" altLang="zh-CN" sz="2800" dirty="0"/>
              <a:t>。</a:t>
            </a:r>
          </a:p>
          <a:p>
            <a:endParaRPr lang="zh-CN" altLang="en-US" sz="2800" dirty="0">
              <a:solidFill>
                <a:srgbClr val="FF0000"/>
              </a:solidFill>
            </a:endParaRPr>
          </a:p>
          <a:p>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algn="ctr"/>
            <a:r>
              <a:rPr lang="zh-CN" altLang="en-US" dirty="0"/>
              <a:t>划分层次的应用举例 </a:t>
            </a:r>
          </a:p>
        </p:txBody>
      </p:sp>
      <p:sp>
        <p:nvSpPr>
          <p:cNvPr id="103427" name="Rectangle 3"/>
          <p:cNvSpPr>
            <a:spLocks noGrp="1" noChangeArrowheads="1"/>
          </p:cNvSpPr>
          <p:nvPr>
            <p:ph idx="1"/>
          </p:nvPr>
        </p:nvSpPr>
        <p:spPr/>
        <p:txBody>
          <a:bodyPr/>
          <a:lstStyle/>
          <a:p>
            <a:r>
              <a:rPr lang="zh-CN" altLang="en-US" dirty="0"/>
              <a:t>邮政系统</a:t>
            </a:r>
            <a:endParaRPr lang="en-US" altLang="zh-CN" dirty="0"/>
          </a:p>
          <a:p>
            <a:endParaRPr lang="zh-CN" altLang="en-US" dirty="0"/>
          </a:p>
        </p:txBody>
      </p:sp>
      <p:pic>
        <p:nvPicPr>
          <p:cNvPr id="4" name="图片 3" descr="http://static.zybuluo.com/Rico123/fet80vmpprv5twl92iknzxtm/%E9%82%AE%E6%94%BF%E7%B3%BB%E7%BB%9F1.png"/>
          <p:cNvPicPr/>
          <p:nvPr/>
        </p:nvPicPr>
        <p:blipFill>
          <a:blip r:embed="rId3">
            <a:extLst>
              <a:ext uri="{28A0092B-C50C-407E-A947-70E740481C1C}">
                <a14:useLocalDpi xmlns:a14="http://schemas.microsoft.com/office/drawing/2010/main" val="0"/>
              </a:ext>
            </a:extLst>
          </a:blip>
          <a:srcRect/>
          <a:stretch>
            <a:fillRect/>
          </a:stretch>
        </p:blipFill>
        <p:spPr bwMode="auto">
          <a:xfrm>
            <a:off x="992560" y="1959803"/>
            <a:ext cx="6597595" cy="417112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algn="ctr"/>
            <a:r>
              <a:rPr lang="zh-CN" altLang="en-US" dirty="0"/>
              <a:t>邮政系统的分层思想</a:t>
            </a:r>
          </a:p>
        </p:txBody>
      </p:sp>
      <p:pic>
        <p:nvPicPr>
          <p:cNvPr id="17" name="图片 16" descr="http://static.zybuluo.com/Rico123/q3ddag10n1nwyno8urneutv2/%E9%82%AE%E6%94%BF%E7%B3%BB%E7%BB%9F2.png"/>
          <p:cNvPicPr/>
          <p:nvPr/>
        </p:nvPicPr>
        <p:blipFill>
          <a:blip r:embed="rId3">
            <a:extLst>
              <a:ext uri="{28A0092B-C50C-407E-A947-70E740481C1C}">
                <a14:useLocalDpi xmlns:a14="http://schemas.microsoft.com/office/drawing/2010/main" val="0"/>
              </a:ext>
            </a:extLst>
          </a:blip>
          <a:srcRect/>
          <a:stretch>
            <a:fillRect/>
          </a:stretch>
        </p:blipFill>
        <p:spPr bwMode="auto">
          <a:xfrm>
            <a:off x="1064568" y="1556792"/>
            <a:ext cx="7128792" cy="482453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lgn="ctr"/>
            <a:r>
              <a:rPr lang="zh-CN" altLang="en-US" dirty="0"/>
              <a:t>分层的优缺点 </a:t>
            </a:r>
          </a:p>
        </p:txBody>
      </p:sp>
      <p:sp>
        <p:nvSpPr>
          <p:cNvPr id="2" name="文本占位符 1"/>
          <p:cNvSpPr>
            <a:spLocks noGrp="1"/>
          </p:cNvSpPr>
          <p:nvPr>
            <p:ph type="body" idx="1"/>
          </p:nvPr>
        </p:nvSpPr>
        <p:spPr>
          <a:solidFill>
            <a:srgbClr val="FFFF66"/>
          </a:solidFill>
          <a:ln>
            <a:solidFill>
              <a:srgbClr val="000099"/>
            </a:solidFill>
          </a:ln>
        </p:spPr>
        <p:txBody>
          <a:bodyPr anchor="ctr"/>
          <a:lstStyle/>
          <a:p>
            <a:r>
              <a:rPr lang="zh-CN" altLang="en-US" dirty="0">
                <a:solidFill>
                  <a:srgbClr val="FF0000"/>
                </a:solidFill>
              </a:rPr>
              <a:t>好处</a:t>
            </a:r>
          </a:p>
        </p:txBody>
      </p:sp>
      <p:sp>
        <p:nvSpPr>
          <p:cNvPr id="110595" name="Rectangle 3"/>
          <p:cNvSpPr>
            <a:spLocks noGrp="1" noChangeArrowheads="1"/>
          </p:cNvSpPr>
          <p:nvPr>
            <p:ph sz="half" idx="2"/>
          </p:nvPr>
        </p:nvSpPr>
        <p:spPr>
          <a:xfrm>
            <a:off x="495299" y="1844824"/>
            <a:ext cx="4455513" cy="4292770"/>
          </a:xfrm>
          <a:ln>
            <a:solidFill>
              <a:srgbClr val="000099"/>
            </a:solidFill>
          </a:ln>
        </p:spPr>
        <p:txBody>
          <a:bodyPr/>
          <a:lstStyle/>
          <a:p>
            <a:r>
              <a:rPr lang="zh-CN" altLang="en-US" dirty="0"/>
              <a:t>各层之间是独立的。</a:t>
            </a:r>
          </a:p>
          <a:p>
            <a:r>
              <a:rPr lang="zh-CN" altLang="en-US" dirty="0"/>
              <a:t>灵活性好。</a:t>
            </a:r>
          </a:p>
          <a:p>
            <a:r>
              <a:rPr lang="zh-CN" altLang="en-US" dirty="0"/>
              <a:t>结构上可分割开。</a:t>
            </a:r>
          </a:p>
          <a:p>
            <a:r>
              <a:rPr lang="zh-CN" altLang="en-US" dirty="0"/>
              <a:t>易于实现和维护。</a:t>
            </a:r>
          </a:p>
          <a:p>
            <a:r>
              <a:rPr lang="zh-CN" altLang="en-US" dirty="0"/>
              <a:t>能促进标准化工作。  </a:t>
            </a:r>
          </a:p>
        </p:txBody>
      </p:sp>
      <p:sp>
        <p:nvSpPr>
          <p:cNvPr id="3" name="文本占位符 2"/>
          <p:cNvSpPr>
            <a:spLocks noGrp="1"/>
          </p:cNvSpPr>
          <p:nvPr>
            <p:ph type="body" sz="quarter" idx="3"/>
          </p:nvPr>
        </p:nvSpPr>
        <p:spPr>
          <a:solidFill>
            <a:srgbClr val="FFFF66"/>
          </a:solidFill>
          <a:ln>
            <a:solidFill>
              <a:srgbClr val="000099"/>
            </a:solidFill>
          </a:ln>
        </p:spPr>
        <p:txBody>
          <a:bodyPr/>
          <a:lstStyle/>
          <a:p>
            <a:r>
              <a:rPr lang="zh-CN" altLang="en-US" dirty="0">
                <a:solidFill>
                  <a:srgbClr val="0000CC"/>
                </a:solidFill>
              </a:rPr>
              <a:t>缺点</a:t>
            </a:r>
          </a:p>
        </p:txBody>
      </p:sp>
      <p:sp>
        <p:nvSpPr>
          <p:cNvPr id="4" name="内容占位符 3"/>
          <p:cNvSpPr>
            <a:spLocks noGrp="1"/>
          </p:cNvSpPr>
          <p:nvPr>
            <p:ph sz="quarter" idx="4"/>
          </p:nvPr>
        </p:nvSpPr>
        <p:spPr>
          <a:xfrm>
            <a:off x="5104383" y="1844824"/>
            <a:ext cx="4457129" cy="4292770"/>
          </a:xfrm>
          <a:ln>
            <a:solidFill>
              <a:srgbClr val="000099"/>
            </a:solidFill>
          </a:ln>
        </p:spPr>
        <p:txBody>
          <a:bodyPr/>
          <a:lstStyle/>
          <a:p>
            <a:r>
              <a:rPr lang="zh-CN" altLang="en-US" dirty="0"/>
              <a:t>降低效率。</a:t>
            </a:r>
            <a:endParaRPr lang="en-US" altLang="zh-CN" dirty="0"/>
          </a:p>
          <a:p>
            <a:r>
              <a:rPr lang="zh-CN" altLang="zh-CN" dirty="0"/>
              <a:t>有些功能会在不同的层次中重复出现，因而产生了额外开销</a:t>
            </a:r>
            <a:r>
              <a:rPr lang="zh-CN" altLang="en-US" dirty="0"/>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0" y="188640"/>
            <a:ext cx="9066212" cy="792088"/>
          </a:xfrm>
        </p:spPr>
        <p:txBody>
          <a:bodyPr/>
          <a:lstStyle/>
          <a:p>
            <a:pPr algn="ctr"/>
            <a:r>
              <a:rPr lang="zh-CN" altLang="en-US" dirty="0"/>
              <a:t>计算机网络体系结构概念与标准 </a:t>
            </a:r>
          </a:p>
        </p:txBody>
      </p:sp>
      <p:sp>
        <p:nvSpPr>
          <p:cNvPr id="112643" name="Rectangle 3"/>
          <p:cNvSpPr>
            <a:spLocks noGrp="1" noChangeArrowheads="1"/>
          </p:cNvSpPr>
          <p:nvPr>
            <p:ph idx="1"/>
          </p:nvPr>
        </p:nvSpPr>
        <p:spPr>
          <a:xfrm>
            <a:off x="488504" y="1196752"/>
            <a:ext cx="9066212" cy="4934173"/>
          </a:xfrm>
        </p:spPr>
        <p:txBody>
          <a:bodyPr/>
          <a:lstStyle/>
          <a:p>
            <a:pPr latinLnBrk="1"/>
            <a:r>
              <a:rPr lang="zh-CN" altLang="zh-CN" dirty="0"/>
              <a:t>计算机网络体系结构也采用了分层的思想。那么，既然计算机网络体系结构的设计采用的是分层思想，那么它</a:t>
            </a:r>
            <a:r>
              <a:rPr lang="zh-CN" altLang="en-US" dirty="0"/>
              <a:t>需</a:t>
            </a:r>
            <a:r>
              <a:rPr lang="zh-CN" altLang="zh-CN" dirty="0"/>
              <a:t>解决以下几个问题：</a:t>
            </a:r>
          </a:p>
          <a:p>
            <a:pPr latinLnBrk="1"/>
            <a:r>
              <a:rPr lang="en-US" altLang="zh-CN" dirty="0"/>
              <a:t>(1)</a:t>
            </a:r>
            <a:r>
              <a:rPr lang="zh-CN" altLang="zh-CN" dirty="0"/>
              <a:t>网络体系结构应该具有哪些层次，每个层次又负责哪些功能呢？</a:t>
            </a:r>
            <a:r>
              <a:rPr lang="en-US" altLang="zh-CN" dirty="0"/>
              <a:t> </a:t>
            </a:r>
            <a:r>
              <a:rPr lang="en-US" altLang="zh-CN" dirty="0">
                <a:solidFill>
                  <a:srgbClr val="FF0000"/>
                </a:solidFill>
              </a:rPr>
              <a:t>(</a:t>
            </a:r>
            <a:r>
              <a:rPr lang="zh-CN" altLang="zh-CN" dirty="0">
                <a:solidFill>
                  <a:srgbClr val="FF0000"/>
                </a:solidFill>
              </a:rPr>
              <a:t>分层与功能</a:t>
            </a:r>
            <a:r>
              <a:rPr lang="en-US" altLang="zh-CN" dirty="0">
                <a:solidFill>
                  <a:srgbClr val="FF0000"/>
                </a:solidFill>
              </a:rPr>
              <a:t>)</a:t>
            </a:r>
          </a:p>
          <a:p>
            <a:pPr latinLnBrk="1"/>
            <a:r>
              <a:rPr lang="en-US" altLang="zh-CN" dirty="0"/>
              <a:t>(2)</a:t>
            </a:r>
            <a:r>
              <a:rPr lang="zh-CN" altLang="zh-CN" dirty="0"/>
              <a:t>各个层次之间的关系是怎样的，它们又是如何进行交互的呢？</a:t>
            </a:r>
            <a:r>
              <a:rPr lang="en-US" altLang="zh-CN" dirty="0"/>
              <a:t> </a:t>
            </a:r>
            <a:r>
              <a:rPr lang="en-US" altLang="zh-CN" dirty="0">
                <a:solidFill>
                  <a:srgbClr val="FF0000"/>
                </a:solidFill>
              </a:rPr>
              <a:t>(</a:t>
            </a:r>
            <a:r>
              <a:rPr lang="zh-CN" altLang="zh-CN" dirty="0">
                <a:solidFill>
                  <a:srgbClr val="FF0000"/>
                </a:solidFill>
              </a:rPr>
              <a:t>服务与接口</a:t>
            </a:r>
            <a:r>
              <a:rPr lang="en-US" altLang="zh-CN" dirty="0">
                <a:solidFill>
                  <a:srgbClr val="FF0000"/>
                </a:solidFill>
              </a:rPr>
              <a:t>)</a:t>
            </a:r>
          </a:p>
          <a:p>
            <a:pPr latinLnBrk="1"/>
            <a:r>
              <a:rPr lang="en-US" altLang="zh-CN" dirty="0"/>
              <a:t>(3)</a:t>
            </a:r>
            <a:r>
              <a:rPr lang="zh-CN" altLang="zh-CN" dirty="0"/>
              <a:t>要想确保通信的双方能够达成高度默契，它们又需要遵循哪些规则呢？</a:t>
            </a:r>
            <a:r>
              <a:rPr lang="en-US" altLang="zh-CN" dirty="0">
                <a:solidFill>
                  <a:srgbClr val="FF0000"/>
                </a:solidFill>
              </a:rPr>
              <a:t>(</a:t>
            </a:r>
            <a:r>
              <a:rPr lang="zh-CN" altLang="zh-CN" dirty="0">
                <a:solidFill>
                  <a:srgbClr val="FF0000"/>
                </a:solidFill>
              </a:rPr>
              <a:t>协议</a:t>
            </a:r>
            <a:r>
              <a:rPr lang="en-US" altLang="zh-CN" dirty="0">
                <a:solidFill>
                  <a:srgbClr val="FF0000"/>
                </a:solidFill>
              </a:rPr>
              <a:t>)</a:t>
            </a:r>
            <a:endParaRPr lang="zh-CN" altLang="zh-C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0" y="188640"/>
            <a:ext cx="9066212" cy="792088"/>
          </a:xfrm>
        </p:spPr>
        <p:txBody>
          <a:bodyPr/>
          <a:lstStyle/>
          <a:p>
            <a:pPr algn="ctr"/>
            <a:r>
              <a:rPr lang="en-US" altLang="zh-CN" dirty="0"/>
              <a:t>   </a:t>
            </a:r>
            <a:r>
              <a:rPr lang="zh-CN" altLang="en-US" dirty="0"/>
              <a:t>计算机网络体系结构概念</a:t>
            </a:r>
          </a:p>
        </p:txBody>
      </p:sp>
      <p:sp>
        <p:nvSpPr>
          <p:cNvPr id="112643" name="Rectangle 3"/>
          <p:cNvSpPr>
            <a:spLocks noGrp="1" noChangeArrowheads="1"/>
          </p:cNvSpPr>
          <p:nvPr>
            <p:ph idx="1"/>
          </p:nvPr>
        </p:nvSpPr>
        <p:spPr/>
        <p:txBody>
          <a:bodyPr/>
          <a:lstStyle/>
          <a:p>
            <a:r>
              <a:rPr lang="zh-CN" altLang="zh-CN" dirty="0"/>
              <a:t>计算机网络体系结构必须包括三个内容，即分层结构与每层的功能，服务与层间接口 和 协议。所以，计算机网络体系结构的定义为</a:t>
            </a:r>
            <a:endParaRPr lang="en-US" altLang="zh-CN" dirty="0">
              <a:solidFill>
                <a:srgbClr val="FF0000"/>
              </a:solidFill>
            </a:endParaRPr>
          </a:p>
          <a:p>
            <a:r>
              <a:rPr lang="zh-CN" altLang="en-US" dirty="0">
                <a:solidFill>
                  <a:srgbClr val="FF0000"/>
                </a:solidFill>
              </a:rPr>
              <a:t>计算机网络的体系结构 </a:t>
            </a:r>
            <a:r>
              <a:rPr lang="en-US" altLang="zh-CN" dirty="0"/>
              <a:t>(architecture) </a:t>
            </a:r>
            <a:r>
              <a:rPr lang="zh-CN" altLang="en-US" dirty="0"/>
              <a:t>是计算机网络的各层、层间接口及其协议的集合。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zh-CN" dirty="0"/>
              <a:t>具有五层协议的体系结构</a:t>
            </a:r>
            <a:endParaRPr lang="zh-CN" altLang="en-US" dirty="0"/>
          </a:p>
        </p:txBody>
      </p:sp>
      <p:sp>
        <p:nvSpPr>
          <p:cNvPr id="6" name="AutoShape 58"/>
          <p:cNvSpPr>
            <a:spLocks noChangeArrowheads="1"/>
          </p:cNvSpPr>
          <p:nvPr/>
        </p:nvSpPr>
        <p:spPr bwMode="auto">
          <a:xfrm>
            <a:off x="900757" y="1653952"/>
            <a:ext cx="2054225" cy="353060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7" name="Freeform 50"/>
          <p:cNvSpPr/>
          <p:nvPr/>
        </p:nvSpPr>
        <p:spPr bwMode="auto">
          <a:xfrm>
            <a:off x="902345" y="2036540"/>
            <a:ext cx="2039937" cy="260350"/>
          </a:xfrm>
          <a:custGeom>
            <a:avLst/>
            <a:gdLst>
              <a:gd name="T0" fmla="*/ 2030913617 w 2049"/>
              <a:gd name="T1" fmla="*/ 0 h 182"/>
              <a:gd name="T2" fmla="*/ 1853492943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8" name="Freeform 59"/>
          <p:cNvSpPr/>
          <p:nvPr/>
        </p:nvSpPr>
        <p:spPr bwMode="auto">
          <a:xfrm>
            <a:off x="900757" y="25159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9" name="Freeform 60"/>
          <p:cNvSpPr/>
          <p:nvPr/>
        </p:nvSpPr>
        <p:spPr bwMode="auto">
          <a:xfrm>
            <a:off x="900757" y="2995390"/>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0" name="Freeform 61"/>
          <p:cNvSpPr/>
          <p:nvPr/>
        </p:nvSpPr>
        <p:spPr bwMode="auto">
          <a:xfrm>
            <a:off x="900757" y="3474815"/>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1" name="Freeform 62"/>
          <p:cNvSpPr/>
          <p:nvPr/>
        </p:nvSpPr>
        <p:spPr bwMode="auto">
          <a:xfrm>
            <a:off x="899170" y="3954240"/>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2" name="Freeform 63"/>
          <p:cNvSpPr/>
          <p:nvPr/>
        </p:nvSpPr>
        <p:spPr bwMode="auto">
          <a:xfrm>
            <a:off x="897582" y="44336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3" name="Text Box 22"/>
          <p:cNvSpPr txBox="1">
            <a:spLocks noChangeArrowheads="1"/>
          </p:cNvSpPr>
          <p:nvPr/>
        </p:nvSpPr>
        <p:spPr bwMode="auto">
          <a:xfrm>
            <a:off x="1618307" y="193652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14" name="Text Box 23"/>
          <p:cNvSpPr txBox="1">
            <a:spLocks noChangeArrowheads="1"/>
          </p:cNvSpPr>
          <p:nvPr/>
        </p:nvSpPr>
        <p:spPr bwMode="auto">
          <a:xfrm>
            <a:off x="1584970" y="335099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运输层</a:t>
            </a:r>
          </a:p>
        </p:txBody>
      </p:sp>
      <p:sp>
        <p:nvSpPr>
          <p:cNvPr id="15" name="Text Box 24"/>
          <p:cNvSpPr txBox="1">
            <a:spLocks noChangeArrowheads="1"/>
          </p:cNvSpPr>
          <p:nvPr/>
        </p:nvSpPr>
        <p:spPr bwMode="auto">
          <a:xfrm>
            <a:off x="1597670" y="383041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网络层</a:t>
            </a:r>
          </a:p>
        </p:txBody>
      </p:sp>
      <p:sp>
        <p:nvSpPr>
          <p:cNvPr id="16" name="Text Box 54"/>
          <p:cNvSpPr txBox="1">
            <a:spLocks noChangeArrowheads="1"/>
          </p:cNvSpPr>
          <p:nvPr/>
        </p:nvSpPr>
        <p:spPr bwMode="auto">
          <a:xfrm>
            <a:off x="1597670" y="238896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表示层</a:t>
            </a:r>
          </a:p>
        </p:txBody>
      </p:sp>
      <p:sp>
        <p:nvSpPr>
          <p:cNvPr id="17" name="Text Box 55"/>
          <p:cNvSpPr txBox="1">
            <a:spLocks noChangeArrowheads="1"/>
          </p:cNvSpPr>
          <p:nvPr/>
        </p:nvSpPr>
        <p:spPr bwMode="auto">
          <a:xfrm>
            <a:off x="1597670" y="28699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会话层</a:t>
            </a:r>
          </a:p>
        </p:txBody>
      </p:sp>
      <p:sp>
        <p:nvSpPr>
          <p:cNvPr id="18" name="Text Box 56"/>
          <p:cNvSpPr txBox="1">
            <a:spLocks noChangeArrowheads="1"/>
          </p:cNvSpPr>
          <p:nvPr/>
        </p:nvSpPr>
        <p:spPr bwMode="auto">
          <a:xfrm>
            <a:off x="1438920" y="428444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数据链路层</a:t>
            </a:r>
          </a:p>
        </p:txBody>
      </p:sp>
      <p:sp>
        <p:nvSpPr>
          <p:cNvPr id="19" name="Text Box 57"/>
          <p:cNvSpPr txBox="1">
            <a:spLocks noChangeArrowheads="1"/>
          </p:cNvSpPr>
          <p:nvPr/>
        </p:nvSpPr>
        <p:spPr bwMode="auto">
          <a:xfrm>
            <a:off x="1597670" y="47368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000099"/>
                </a:solidFill>
                <a:latin typeface="+mn-lt"/>
                <a:ea typeface="黑体" panose="02010609060101010101" pitchFamily="2" charset="-122"/>
              </a:rPr>
              <a:t>物理层</a:t>
            </a:r>
          </a:p>
        </p:txBody>
      </p:sp>
      <p:sp>
        <p:nvSpPr>
          <p:cNvPr id="20" name="Text Box 43"/>
          <p:cNvSpPr txBox="1">
            <a:spLocks noChangeArrowheads="1"/>
          </p:cNvSpPr>
          <p:nvPr/>
        </p:nvSpPr>
        <p:spPr bwMode="auto">
          <a:xfrm>
            <a:off x="996007" y="1785715"/>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pPr>
            <a:r>
              <a:rPr lang="en-US" altLang="zh-CN" sz="1600" b="1" dirty="0">
                <a:solidFill>
                  <a:srgbClr val="000099"/>
                </a:solidFill>
                <a:latin typeface="+mn-lt"/>
                <a:ea typeface="黑体" panose="02010609060101010101" pitchFamily="2" charset="-122"/>
              </a:rPr>
              <a:t>7</a:t>
            </a:r>
          </a:p>
          <a:p>
            <a:pPr eaLnBrk="1" hangingPunct="1">
              <a:lnSpc>
                <a:spcPct val="190000"/>
              </a:lnSpc>
            </a:pPr>
            <a:r>
              <a:rPr lang="en-US" altLang="zh-CN" sz="1600" b="1" dirty="0">
                <a:solidFill>
                  <a:srgbClr val="000099"/>
                </a:solidFill>
                <a:latin typeface="+mn-lt"/>
                <a:ea typeface="黑体" panose="02010609060101010101" pitchFamily="2" charset="-122"/>
              </a:rPr>
              <a:t>6</a:t>
            </a:r>
          </a:p>
          <a:p>
            <a:pPr eaLnBrk="1" hangingPunct="1">
              <a:lnSpc>
                <a:spcPct val="190000"/>
              </a:lnSpc>
            </a:pPr>
            <a:r>
              <a:rPr lang="en-US" altLang="zh-CN" sz="1600" b="1" dirty="0">
                <a:solidFill>
                  <a:srgbClr val="000099"/>
                </a:solidFill>
                <a:latin typeface="+mn-lt"/>
                <a:ea typeface="黑体" panose="02010609060101010101" pitchFamily="2" charset="-122"/>
              </a:rPr>
              <a:t>5</a:t>
            </a:r>
          </a:p>
          <a:p>
            <a:pPr eaLnBrk="1" hangingPunct="1">
              <a:lnSpc>
                <a:spcPct val="190000"/>
              </a:lnSpc>
            </a:pPr>
            <a:r>
              <a:rPr lang="en-US" altLang="zh-CN" sz="1600" b="1" dirty="0">
                <a:solidFill>
                  <a:srgbClr val="000099"/>
                </a:solidFill>
                <a:latin typeface="+mn-lt"/>
                <a:ea typeface="黑体" panose="02010609060101010101" pitchFamily="2" charset="-122"/>
              </a:rPr>
              <a:t>4</a:t>
            </a:r>
          </a:p>
          <a:p>
            <a:pPr eaLnBrk="1" hangingPunct="1">
              <a:lnSpc>
                <a:spcPct val="190000"/>
              </a:lnSpc>
            </a:pPr>
            <a:r>
              <a:rPr lang="en-US" altLang="zh-CN" sz="1600" b="1" dirty="0">
                <a:solidFill>
                  <a:srgbClr val="000099"/>
                </a:solidFill>
                <a:latin typeface="+mn-lt"/>
                <a:ea typeface="黑体" panose="02010609060101010101" pitchFamily="2" charset="-122"/>
              </a:rPr>
              <a:t>3</a:t>
            </a:r>
          </a:p>
          <a:p>
            <a:pPr eaLnBrk="1" hangingPunct="1">
              <a:lnSpc>
                <a:spcPct val="190000"/>
              </a:lnSpc>
            </a:pPr>
            <a:r>
              <a:rPr lang="en-US" altLang="zh-CN" sz="1600" b="1" dirty="0">
                <a:solidFill>
                  <a:srgbClr val="000099"/>
                </a:solidFill>
                <a:latin typeface="+mn-lt"/>
                <a:ea typeface="黑体" panose="02010609060101010101" pitchFamily="2" charset="-122"/>
              </a:rPr>
              <a:t>2</a:t>
            </a:r>
          </a:p>
          <a:p>
            <a:pPr eaLnBrk="1" hangingPunct="1">
              <a:lnSpc>
                <a:spcPct val="190000"/>
              </a:lnSpc>
            </a:pPr>
            <a:r>
              <a:rPr lang="en-US" altLang="zh-CN" sz="1600" b="1" dirty="0">
                <a:solidFill>
                  <a:srgbClr val="000099"/>
                </a:solidFill>
                <a:latin typeface="+mn-lt"/>
                <a:ea typeface="黑体" panose="02010609060101010101" pitchFamily="2" charset="-122"/>
              </a:rPr>
              <a:t>1</a:t>
            </a:r>
          </a:p>
        </p:txBody>
      </p:sp>
      <p:sp>
        <p:nvSpPr>
          <p:cNvPr id="21" name="Text Box 13"/>
          <p:cNvSpPr txBox="1">
            <a:spLocks noChangeArrowheads="1"/>
          </p:cNvSpPr>
          <p:nvPr/>
        </p:nvSpPr>
        <p:spPr bwMode="auto">
          <a:xfrm>
            <a:off x="776536" y="1222152"/>
            <a:ext cx="2345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C00000"/>
                </a:solidFill>
                <a:latin typeface="+mn-lt"/>
                <a:ea typeface="黑体" panose="02010609060101010101" pitchFamily="2" charset="-122"/>
              </a:rPr>
              <a:t>OSI </a:t>
            </a:r>
            <a:r>
              <a:rPr lang="zh-CN" altLang="en-US" b="1" dirty="0">
                <a:solidFill>
                  <a:srgbClr val="C00000"/>
                </a:solidFill>
                <a:latin typeface="+mn-lt"/>
                <a:ea typeface="黑体" panose="02010609060101010101" pitchFamily="2" charset="-122"/>
              </a:rPr>
              <a:t>的体系结构</a:t>
            </a:r>
          </a:p>
        </p:txBody>
      </p:sp>
      <p:sp>
        <p:nvSpPr>
          <p:cNvPr id="22" name="AutoShape 66"/>
          <p:cNvSpPr>
            <a:spLocks noChangeArrowheads="1"/>
          </p:cNvSpPr>
          <p:nvPr/>
        </p:nvSpPr>
        <p:spPr bwMode="auto">
          <a:xfrm>
            <a:off x="3512195" y="1606327"/>
            <a:ext cx="2668587" cy="358775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23" name="Freeform 69"/>
          <p:cNvSpPr/>
          <p:nvPr/>
        </p:nvSpPr>
        <p:spPr bwMode="auto">
          <a:xfrm>
            <a:off x="3504257" y="2981102"/>
            <a:ext cx="2673350" cy="279400"/>
          </a:xfrm>
          <a:custGeom>
            <a:avLst/>
            <a:gdLst>
              <a:gd name="T0" fmla="*/ 2147483647 w 1684"/>
              <a:gd name="T1" fmla="*/ 0 h 176"/>
              <a:gd name="T2" fmla="*/ 2147483647 w 1684"/>
              <a:gd name="T3" fmla="*/ 433466923 h 176"/>
              <a:gd name="T4" fmla="*/ 0 w 1684"/>
              <a:gd name="T5" fmla="*/ 443547545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4" name="Freeform 70"/>
          <p:cNvSpPr/>
          <p:nvPr/>
        </p:nvSpPr>
        <p:spPr bwMode="auto">
          <a:xfrm>
            <a:off x="3505845" y="3457352"/>
            <a:ext cx="2665412" cy="295275"/>
          </a:xfrm>
          <a:custGeom>
            <a:avLst/>
            <a:gdLst>
              <a:gd name="T0" fmla="*/ 2147483647 w 1679"/>
              <a:gd name="T1" fmla="*/ 0 h 186"/>
              <a:gd name="T2" fmla="*/ 2147483647 w 1679"/>
              <a:gd name="T3" fmla="*/ 468749107 h 186"/>
              <a:gd name="T4" fmla="*/ 0 w 1679"/>
              <a:gd name="T5" fmla="*/ 461189435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5" name="Freeform 71"/>
          <p:cNvSpPr/>
          <p:nvPr/>
        </p:nvSpPr>
        <p:spPr bwMode="auto">
          <a:xfrm>
            <a:off x="3504257" y="3965352"/>
            <a:ext cx="2647950" cy="257175"/>
          </a:xfrm>
          <a:custGeom>
            <a:avLst/>
            <a:gdLst>
              <a:gd name="T0" fmla="*/ 2147483647 w 1668"/>
              <a:gd name="T1" fmla="*/ 0 h 162"/>
              <a:gd name="T2" fmla="*/ 2147483647 w 1668"/>
              <a:gd name="T3" fmla="*/ 403224947 h 162"/>
              <a:gd name="T4" fmla="*/ 0 w 1668"/>
              <a:gd name="T5" fmla="*/ 408265258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6" name="Text Box 73"/>
          <p:cNvSpPr txBox="1">
            <a:spLocks noChangeArrowheads="1"/>
          </p:cNvSpPr>
          <p:nvPr/>
        </p:nvSpPr>
        <p:spPr bwMode="auto">
          <a:xfrm>
            <a:off x="4290070" y="196510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27" name="Text Box 15"/>
          <p:cNvSpPr txBox="1">
            <a:spLocks noChangeArrowheads="1"/>
          </p:cNvSpPr>
          <p:nvPr/>
        </p:nvSpPr>
        <p:spPr bwMode="auto">
          <a:xfrm>
            <a:off x="4088457" y="434159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网络接口层</a:t>
            </a:r>
          </a:p>
        </p:txBody>
      </p:sp>
      <p:sp>
        <p:nvSpPr>
          <p:cNvPr id="28" name="Text Box 9"/>
          <p:cNvSpPr txBox="1">
            <a:spLocks noChangeArrowheads="1"/>
          </p:cNvSpPr>
          <p:nvPr/>
        </p:nvSpPr>
        <p:spPr bwMode="auto">
          <a:xfrm>
            <a:off x="4196407" y="3878040"/>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网际层 </a:t>
            </a:r>
            <a:r>
              <a:rPr lang="en-US" altLang="zh-CN" sz="1800" b="1">
                <a:solidFill>
                  <a:srgbClr val="000099"/>
                </a:solidFill>
                <a:latin typeface="+mn-lt"/>
                <a:ea typeface="黑体" panose="02010609060101010101" pitchFamily="2" charset="-122"/>
              </a:rPr>
              <a:t>IP</a:t>
            </a:r>
          </a:p>
        </p:txBody>
      </p:sp>
      <p:sp>
        <p:nvSpPr>
          <p:cNvPr id="29" name="Text Box 16"/>
          <p:cNvSpPr txBox="1">
            <a:spLocks noChangeArrowheads="1"/>
          </p:cNvSpPr>
          <p:nvPr/>
        </p:nvSpPr>
        <p:spPr bwMode="auto">
          <a:xfrm>
            <a:off x="3640716" y="2365152"/>
            <a:ext cx="22527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rgbClr val="000099"/>
                </a:solidFill>
                <a:latin typeface="+mn-lt"/>
                <a:ea typeface="黑体" panose="02010609060101010101" pitchFamily="2" charset="-122"/>
              </a:rPr>
              <a:t>(</a:t>
            </a:r>
            <a:r>
              <a:rPr lang="zh-CN" altLang="en-US" sz="1600" b="1" dirty="0">
                <a:solidFill>
                  <a:srgbClr val="000099"/>
                </a:solidFill>
                <a:latin typeface="+mn-lt"/>
                <a:ea typeface="黑体" panose="02010609060101010101" pitchFamily="2" charset="-122"/>
              </a:rPr>
              <a:t>各种应用层协议，如</a:t>
            </a:r>
          </a:p>
          <a:p>
            <a:pPr algn="ctr" eaLnBrk="1" hangingPunct="1"/>
            <a:r>
              <a:rPr lang="en-US" altLang="zh-CN" sz="1600" b="1" dirty="0">
                <a:solidFill>
                  <a:srgbClr val="000099"/>
                </a:solidFill>
                <a:latin typeface="+mn-lt"/>
                <a:ea typeface="黑体" panose="02010609060101010101" pitchFamily="2" charset="-122"/>
              </a:rPr>
              <a:t>DNS, HTTP, SMTP </a:t>
            </a:r>
            <a:r>
              <a:rPr lang="zh-CN" altLang="zh-CN" sz="1600" b="1" dirty="0">
                <a:solidFill>
                  <a:srgbClr val="000099"/>
                </a:solidFill>
                <a:latin typeface="+mn-lt"/>
                <a:ea typeface="黑体" panose="02010609060101010101" pitchFamily="2" charset="-122"/>
              </a:rPr>
              <a:t>等</a:t>
            </a:r>
            <a:r>
              <a:rPr lang="en-US" altLang="zh-CN" sz="1600" b="1" dirty="0">
                <a:solidFill>
                  <a:srgbClr val="000099"/>
                </a:solidFill>
                <a:latin typeface="+mn-lt"/>
                <a:ea typeface="黑体" panose="02010609060101010101" pitchFamily="2" charset="-122"/>
              </a:rPr>
              <a:t>)</a:t>
            </a:r>
          </a:p>
        </p:txBody>
      </p:sp>
      <p:sp>
        <p:nvSpPr>
          <p:cNvPr id="30" name="Text Box 41"/>
          <p:cNvSpPr txBox="1">
            <a:spLocks noChangeArrowheads="1"/>
          </p:cNvSpPr>
          <p:nvPr/>
        </p:nvSpPr>
        <p:spPr bwMode="auto">
          <a:xfrm>
            <a:off x="3505643" y="3333527"/>
            <a:ext cx="240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solidFill>
                  <a:srgbClr val="000099"/>
                </a:solidFill>
                <a:latin typeface="+mn-lt"/>
                <a:ea typeface="黑体" panose="02010609060101010101" pitchFamily="2" charset="-122"/>
              </a:rPr>
              <a:t>运输层 </a:t>
            </a:r>
            <a:r>
              <a:rPr lang="en-US" altLang="zh-CN" sz="1800" b="1">
                <a:solidFill>
                  <a:srgbClr val="000099"/>
                </a:solidFill>
                <a:latin typeface="+mn-lt"/>
                <a:ea typeface="黑体" panose="02010609060101010101" pitchFamily="2" charset="-122"/>
              </a:rPr>
              <a:t>(TCP </a:t>
            </a:r>
            <a:r>
              <a:rPr lang="zh-CN" altLang="en-US" sz="1800" b="1">
                <a:solidFill>
                  <a:srgbClr val="000099"/>
                </a:solidFill>
                <a:latin typeface="+mn-lt"/>
                <a:ea typeface="黑体" panose="02010609060101010101" pitchFamily="2" charset="-122"/>
              </a:rPr>
              <a:t>或 </a:t>
            </a:r>
            <a:r>
              <a:rPr lang="en-US" altLang="zh-CN" sz="1800" b="1">
                <a:solidFill>
                  <a:srgbClr val="000099"/>
                </a:solidFill>
                <a:latin typeface="+mn-lt"/>
                <a:ea typeface="黑体" panose="02010609060101010101" pitchFamily="2" charset="-122"/>
              </a:rPr>
              <a:t>UDP)</a:t>
            </a:r>
          </a:p>
        </p:txBody>
      </p:sp>
      <p:sp>
        <p:nvSpPr>
          <p:cNvPr id="31" name="Text Box 12"/>
          <p:cNvSpPr txBox="1">
            <a:spLocks noChangeArrowheads="1"/>
          </p:cNvSpPr>
          <p:nvPr/>
        </p:nvSpPr>
        <p:spPr bwMode="auto">
          <a:xfrm>
            <a:off x="3524499" y="1222152"/>
            <a:ext cx="2801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00000"/>
                </a:solidFill>
                <a:latin typeface="+mn-lt"/>
                <a:ea typeface="黑体" panose="02010609060101010101" pitchFamily="2" charset="-122"/>
              </a:rPr>
              <a:t>TCP/IP </a:t>
            </a:r>
            <a:r>
              <a:rPr lang="zh-CN" altLang="en-US" b="1">
                <a:solidFill>
                  <a:srgbClr val="C00000"/>
                </a:solidFill>
                <a:latin typeface="+mn-lt"/>
                <a:ea typeface="黑体" panose="02010609060101010101" pitchFamily="2" charset="-122"/>
              </a:rPr>
              <a:t>的体系结构</a:t>
            </a:r>
          </a:p>
        </p:txBody>
      </p:sp>
      <p:sp>
        <p:nvSpPr>
          <p:cNvPr id="32" name="Text Box 95"/>
          <p:cNvSpPr txBox="1">
            <a:spLocks noChangeArrowheads="1"/>
          </p:cNvSpPr>
          <p:nvPr/>
        </p:nvSpPr>
        <p:spPr bwMode="auto">
          <a:xfrm>
            <a:off x="1608782" y="524170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(a)</a:t>
            </a:r>
          </a:p>
        </p:txBody>
      </p:sp>
      <p:sp>
        <p:nvSpPr>
          <p:cNvPr id="33" name="Text Box 96"/>
          <p:cNvSpPr txBox="1">
            <a:spLocks noChangeArrowheads="1"/>
          </p:cNvSpPr>
          <p:nvPr/>
        </p:nvSpPr>
        <p:spPr bwMode="auto">
          <a:xfrm>
            <a:off x="4464695" y="5241702"/>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(b)</a:t>
            </a:r>
          </a:p>
        </p:txBody>
      </p:sp>
      <p:sp>
        <p:nvSpPr>
          <p:cNvPr id="34" name="Text Box 97"/>
          <p:cNvSpPr txBox="1">
            <a:spLocks noChangeArrowheads="1"/>
          </p:cNvSpPr>
          <p:nvPr/>
        </p:nvSpPr>
        <p:spPr bwMode="auto">
          <a:xfrm>
            <a:off x="7609532" y="524170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(c)</a:t>
            </a:r>
          </a:p>
        </p:txBody>
      </p:sp>
      <p:sp>
        <p:nvSpPr>
          <p:cNvPr id="35" name="AutoShape 98"/>
          <p:cNvSpPr>
            <a:spLocks noChangeArrowheads="1"/>
          </p:cNvSpPr>
          <p:nvPr/>
        </p:nvSpPr>
        <p:spPr bwMode="auto">
          <a:xfrm>
            <a:off x="6787207" y="1641252"/>
            <a:ext cx="2054225" cy="353060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36" name="Freeform 101"/>
          <p:cNvSpPr/>
          <p:nvPr/>
        </p:nvSpPr>
        <p:spPr bwMode="auto">
          <a:xfrm>
            <a:off x="6787207" y="2982690"/>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7" name="Freeform 102"/>
          <p:cNvSpPr/>
          <p:nvPr/>
        </p:nvSpPr>
        <p:spPr bwMode="auto">
          <a:xfrm>
            <a:off x="6787207" y="3462115"/>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8" name="Freeform 103"/>
          <p:cNvSpPr/>
          <p:nvPr/>
        </p:nvSpPr>
        <p:spPr bwMode="auto">
          <a:xfrm>
            <a:off x="6785620" y="3941540"/>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9" name="Freeform 104"/>
          <p:cNvSpPr/>
          <p:nvPr/>
        </p:nvSpPr>
        <p:spPr bwMode="auto">
          <a:xfrm>
            <a:off x="6784032" y="44209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0" name="Text Box 106"/>
          <p:cNvSpPr txBox="1">
            <a:spLocks noChangeArrowheads="1"/>
          </p:cNvSpPr>
          <p:nvPr/>
        </p:nvSpPr>
        <p:spPr bwMode="auto">
          <a:xfrm>
            <a:off x="7471420" y="333829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运输层</a:t>
            </a:r>
          </a:p>
        </p:txBody>
      </p:sp>
      <p:sp>
        <p:nvSpPr>
          <p:cNvPr id="41" name="Text Box 107"/>
          <p:cNvSpPr txBox="1">
            <a:spLocks noChangeArrowheads="1"/>
          </p:cNvSpPr>
          <p:nvPr/>
        </p:nvSpPr>
        <p:spPr bwMode="auto">
          <a:xfrm>
            <a:off x="7484120" y="381771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网络层</a:t>
            </a:r>
          </a:p>
        </p:txBody>
      </p:sp>
      <p:sp>
        <p:nvSpPr>
          <p:cNvPr id="42" name="Text Box 108"/>
          <p:cNvSpPr txBox="1">
            <a:spLocks noChangeArrowheads="1"/>
          </p:cNvSpPr>
          <p:nvPr/>
        </p:nvSpPr>
        <p:spPr bwMode="auto">
          <a:xfrm>
            <a:off x="7484120" y="237626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43" name="Text Box 110"/>
          <p:cNvSpPr txBox="1">
            <a:spLocks noChangeArrowheads="1"/>
          </p:cNvSpPr>
          <p:nvPr/>
        </p:nvSpPr>
        <p:spPr bwMode="auto">
          <a:xfrm>
            <a:off x="7325370" y="427174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数据链路层</a:t>
            </a:r>
          </a:p>
        </p:txBody>
      </p:sp>
      <p:sp>
        <p:nvSpPr>
          <p:cNvPr id="44" name="Text Box 111"/>
          <p:cNvSpPr txBox="1">
            <a:spLocks noChangeArrowheads="1"/>
          </p:cNvSpPr>
          <p:nvPr/>
        </p:nvSpPr>
        <p:spPr bwMode="auto">
          <a:xfrm>
            <a:off x="7484120" y="47241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物理层</a:t>
            </a:r>
          </a:p>
        </p:txBody>
      </p:sp>
      <p:sp>
        <p:nvSpPr>
          <p:cNvPr id="45" name="Text Box 112"/>
          <p:cNvSpPr txBox="1">
            <a:spLocks noChangeArrowheads="1"/>
          </p:cNvSpPr>
          <p:nvPr/>
        </p:nvSpPr>
        <p:spPr bwMode="auto">
          <a:xfrm>
            <a:off x="6882457" y="1749202"/>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pPr>
            <a:endParaRPr lang="en-US" altLang="zh-CN" sz="1600" b="1" dirty="0">
              <a:solidFill>
                <a:srgbClr val="000099"/>
              </a:solidFill>
              <a:latin typeface="+mn-lt"/>
              <a:ea typeface="黑体" panose="02010609060101010101" pitchFamily="2" charset="-122"/>
            </a:endParaRPr>
          </a:p>
          <a:p>
            <a:pPr eaLnBrk="1" hangingPunct="1">
              <a:lnSpc>
                <a:spcPct val="190000"/>
              </a:lnSpc>
            </a:pPr>
            <a:r>
              <a:rPr lang="en-US" altLang="zh-CN" sz="1600" b="1" dirty="0">
                <a:solidFill>
                  <a:srgbClr val="000099"/>
                </a:solidFill>
                <a:latin typeface="+mn-lt"/>
                <a:ea typeface="黑体" panose="02010609060101010101" pitchFamily="2" charset="-122"/>
              </a:rPr>
              <a:t>5</a:t>
            </a:r>
          </a:p>
          <a:p>
            <a:pPr eaLnBrk="1" hangingPunct="1">
              <a:lnSpc>
                <a:spcPct val="190000"/>
              </a:lnSpc>
            </a:pPr>
            <a:endParaRPr lang="en-US" altLang="zh-CN" sz="1600" b="1" dirty="0">
              <a:solidFill>
                <a:srgbClr val="000099"/>
              </a:solidFill>
              <a:latin typeface="+mn-lt"/>
              <a:ea typeface="黑体" panose="02010609060101010101" pitchFamily="2" charset="-122"/>
            </a:endParaRPr>
          </a:p>
          <a:p>
            <a:pPr eaLnBrk="1" hangingPunct="1">
              <a:lnSpc>
                <a:spcPct val="190000"/>
              </a:lnSpc>
            </a:pPr>
            <a:r>
              <a:rPr lang="en-US" altLang="zh-CN" sz="1600" b="1" dirty="0">
                <a:solidFill>
                  <a:srgbClr val="000099"/>
                </a:solidFill>
                <a:latin typeface="+mn-lt"/>
                <a:ea typeface="黑体" panose="02010609060101010101" pitchFamily="2" charset="-122"/>
              </a:rPr>
              <a:t>4</a:t>
            </a:r>
          </a:p>
          <a:p>
            <a:pPr eaLnBrk="1" hangingPunct="1">
              <a:lnSpc>
                <a:spcPct val="190000"/>
              </a:lnSpc>
            </a:pPr>
            <a:r>
              <a:rPr lang="en-US" altLang="zh-CN" sz="1600" b="1" dirty="0">
                <a:solidFill>
                  <a:srgbClr val="000099"/>
                </a:solidFill>
                <a:latin typeface="+mn-lt"/>
                <a:ea typeface="黑体" panose="02010609060101010101" pitchFamily="2" charset="-122"/>
              </a:rPr>
              <a:t>3</a:t>
            </a:r>
          </a:p>
          <a:p>
            <a:pPr eaLnBrk="1" hangingPunct="1">
              <a:lnSpc>
                <a:spcPct val="190000"/>
              </a:lnSpc>
            </a:pPr>
            <a:r>
              <a:rPr lang="en-US" altLang="zh-CN" sz="1600" b="1" dirty="0">
                <a:solidFill>
                  <a:srgbClr val="000099"/>
                </a:solidFill>
                <a:latin typeface="+mn-lt"/>
                <a:ea typeface="黑体" panose="02010609060101010101" pitchFamily="2" charset="-122"/>
              </a:rPr>
              <a:t>2</a:t>
            </a:r>
          </a:p>
          <a:p>
            <a:pPr eaLnBrk="1" hangingPunct="1">
              <a:lnSpc>
                <a:spcPct val="190000"/>
              </a:lnSpc>
            </a:pPr>
            <a:r>
              <a:rPr lang="en-US" altLang="zh-CN" sz="1600" b="1" dirty="0">
                <a:solidFill>
                  <a:srgbClr val="000099"/>
                </a:solidFill>
                <a:latin typeface="+mn-lt"/>
                <a:ea typeface="黑体" panose="02010609060101010101" pitchFamily="2" charset="-122"/>
              </a:rPr>
              <a:t>1</a:t>
            </a:r>
          </a:p>
        </p:txBody>
      </p:sp>
      <p:sp>
        <p:nvSpPr>
          <p:cNvPr id="46" name="Text Box 113"/>
          <p:cNvSpPr txBox="1">
            <a:spLocks noChangeArrowheads="1"/>
          </p:cNvSpPr>
          <p:nvPr/>
        </p:nvSpPr>
        <p:spPr bwMode="auto">
          <a:xfrm>
            <a:off x="6602785" y="119675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C00000"/>
                </a:solidFill>
                <a:latin typeface="+mn-lt"/>
                <a:ea typeface="黑体" panose="02010609060101010101" pitchFamily="2" charset="-122"/>
              </a:rPr>
              <a:t>五层协议的体系结构</a:t>
            </a:r>
          </a:p>
        </p:txBody>
      </p:sp>
      <p:sp>
        <p:nvSpPr>
          <p:cNvPr id="47" name="Text Box 15"/>
          <p:cNvSpPr txBox="1">
            <a:spLocks noChangeArrowheads="1"/>
          </p:cNvSpPr>
          <p:nvPr/>
        </p:nvSpPr>
        <p:spPr bwMode="auto">
          <a:xfrm>
            <a:off x="3386782" y="4701952"/>
            <a:ext cx="26661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99"/>
                </a:solidFill>
                <a:latin typeface="+mn-lt"/>
                <a:ea typeface="黑体" panose="02010609060101010101" pitchFamily="2" charset="-122"/>
              </a:rPr>
              <a:t>（这一层并没有具体内容）</a:t>
            </a:r>
          </a:p>
        </p:txBody>
      </p:sp>
      <p:sp>
        <p:nvSpPr>
          <p:cNvPr id="3" name="矩形 2"/>
          <p:cNvSpPr/>
          <p:nvPr/>
        </p:nvSpPr>
        <p:spPr>
          <a:xfrm>
            <a:off x="560512" y="5622339"/>
            <a:ext cx="9201472" cy="830997"/>
          </a:xfrm>
          <a:prstGeom prst="rect">
            <a:avLst/>
          </a:prstGeom>
        </p:spPr>
        <p:txBody>
          <a:bodyPr wrap="square">
            <a:spAutoFit/>
          </a:bodyPr>
          <a:lstStyle/>
          <a:p>
            <a:pPr algn="ctr"/>
            <a:r>
              <a:rPr lang="zh-CN" altLang="zh-CN" sz="2400" b="1" dirty="0">
                <a:latin typeface="+mn-lt"/>
                <a:ea typeface="黑体" panose="02010609060101010101" pitchFamily="2" charset="-122"/>
              </a:rPr>
              <a:t>计算机网络体系结构：</a:t>
            </a:r>
            <a:endParaRPr lang="en-US" altLang="zh-CN" sz="2400" b="1" dirty="0">
              <a:latin typeface="+mn-lt"/>
              <a:ea typeface="黑体" panose="02010609060101010101" pitchFamily="2" charset="-122"/>
            </a:endParaRPr>
          </a:p>
          <a:p>
            <a:pPr algn="ctr"/>
            <a:r>
              <a:rPr lang="en-US" altLang="zh-CN" sz="2400" b="1" dirty="0">
                <a:latin typeface="+mn-lt"/>
                <a:ea typeface="黑体" panose="02010609060101010101" pitchFamily="2" charset="-122"/>
              </a:rPr>
              <a:t>(a) OSI </a:t>
            </a:r>
            <a:r>
              <a:rPr lang="zh-CN" altLang="zh-CN" sz="2400" b="1" dirty="0">
                <a:latin typeface="+mn-lt"/>
                <a:ea typeface="黑体" panose="02010609060101010101" pitchFamily="2" charset="-122"/>
              </a:rPr>
              <a:t>的七层协议；</a:t>
            </a:r>
            <a:r>
              <a:rPr lang="en-US" altLang="zh-CN" sz="2400" b="1" dirty="0">
                <a:latin typeface="+mn-lt"/>
                <a:ea typeface="黑体" panose="02010609060101010101" pitchFamily="2" charset="-122"/>
              </a:rPr>
              <a:t>(b) TCP/IP </a:t>
            </a:r>
            <a:r>
              <a:rPr lang="zh-CN" altLang="zh-CN" sz="2400" b="1" dirty="0">
                <a:latin typeface="+mn-lt"/>
                <a:ea typeface="黑体" panose="02010609060101010101" pitchFamily="2" charset="-122"/>
              </a:rPr>
              <a:t>的四层协议；</a:t>
            </a:r>
            <a:r>
              <a:rPr lang="en-US" altLang="zh-CN" sz="2400" b="1" dirty="0">
                <a:latin typeface="+mn-lt"/>
                <a:ea typeface="黑体" panose="02010609060101010101" pitchFamily="2" charset="-122"/>
              </a:rPr>
              <a:t>(c) </a:t>
            </a:r>
            <a:r>
              <a:rPr lang="zh-CN" altLang="zh-CN" sz="2400" b="1" dirty="0">
                <a:latin typeface="+mn-lt"/>
                <a:ea typeface="黑体" panose="02010609060101010101" pitchFamily="2" charset="-122"/>
              </a:rPr>
              <a:t>五层协议</a:t>
            </a:r>
            <a:endParaRPr lang="zh-CN" altLang="en-US" sz="2400" b="1" dirty="0">
              <a:latin typeface="+mn-lt"/>
              <a:ea typeface="黑体" panose="02010609060101010101" pitchFamily="2" charset="-122"/>
            </a:endParaRPr>
          </a:p>
        </p:txBody>
      </p:sp>
    </p:spTree>
    <p:extLst>
      <p:ext uri="{BB962C8B-B14F-4D97-AF65-F5344CB8AC3E}">
        <p14:creationId xmlns:p14="http://schemas.microsoft.com/office/powerpoint/2010/main" val="38113919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a:r>
              <a:rPr lang="zh-CN" altLang="en-US" dirty="0"/>
              <a:t>网络体系结构的分层原理</a:t>
            </a:r>
          </a:p>
        </p:txBody>
      </p:sp>
      <p:sp>
        <p:nvSpPr>
          <p:cNvPr id="111619" name="Rectangle 3"/>
          <p:cNvSpPr>
            <a:spLocks noGrp="1" noChangeArrowheads="1"/>
          </p:cNvSpPr>
          <p:nvPr>
            <p:ph idx="1"/>
          </p:nvPr>
        </p:nvSpPr>
        <p:spPr/>
        <p:txBody>
          <a:bodyPr/>
          <a:lstStyle/>
          <a:p>
            <a:r>
              <a:rPr lang="zh-CN" altLang="en-US" sz="2800" dirty="0"/>
              <a:t>在介绍网络体系结构的分层原理前，我们有必要先了解以下几个基本概念，其对应关系如下图所示：</a:t>
            </a:r>
            <a:endParaRPr lang="en-US" altLang="zh-CN" sz="2800" dirty="0"/>
          </a:p>
          <a:p>
            <a:endParaRPr lang="zh-CN" altLang="en-US" sz="2800" dirty="0"/>
          </a:p>
        </p:txBody>
      </p:sp>
      <p:pic>
        <p:nvPicPr>
          <p:cNvPr id="4" name="图片 3" descr="http://static.zybuluo.com/Rico123/45qy054ytu0ek4h3yi5k2uzv/%E7%BD%91%E7%BB%9C%E7%B3%BB%E7%BB%9F%E7%BB%93%E6%9E%84%E7%9A%84%E5%9F%BA%E6%9C%AC%E6%A6%82%E5%BF%B5.png"/>
          <p:cNvPicPr/>
          <p:nvPr/>
        </p:nvPicPr>
        <p:blipFill>
          <a:blip r:embed="rId3">
            <a:extLst>
              <a:ext uri="{28A0092B-C50C-407E-A947-70E740481C1C}">
                <a14:useLocalDpi xmlns:a14="http://schemas.microsoft.com/office/drawing/2010/main" val="0"/>
              </a:ext>
            </a:extLst>
          </a:blip>
          <a:srcRect/>
          <a:stretch>
            <a:fillRect/>
          </a:stretch>
        </p:blipFill>
        <p:spPr bwMode="auto">
          <a:xfrm>
            <a:off x="1280592" y="2406537"/>
            <a:ext cx="6840760" cy="37243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zh-CN" altLang="en-US" sz="3600" dirty="0"/>
              <a:t>几个概念</a:t>
            </a:r>
          </a:p>
        </p:txBody>
      </p:sp>
      <p:sp>
        <p:nvSpPr>
          <p:cNvPr id="138243" name="Rectangle 3"/>
          <p:cNvSpPr>
            <a:spLocks noGrp="1" noChangeArrowheads="1"/>
          </p:cNvSpPr>
          <p:nvPr>
            <p:ph idx="1"/>
          </p:nvPr>
        </p:nvSpPr>
        <p:spPr/>
        <p:txBody>
          <a:bodyPr/>
          <a:lstStyle/>
          <a:p>
            <a:r>
              <a:rPr lang="zh-CN" altLang="en-US" sz="2400" dirty="0">
                <a:solidFill>
                  <a:srgbClr val="FF0000"/>
                </a:solidFill>
              </a:rPr>
              <a:t>实体 </a:t>
            </a:r>
            <a:r>
              <a:rPr lang="en-US" altLang="zh-CN" sz="2400" dirty="0"/>
              <a:t>(entity) </a:t>
            </a:r>
            <a:r>
              <a:rPr lang="zh-CN" altLang="en-US" sz="2400" dirty="0"/>
              <a:t>表示任何可发送或接收信息的硬件或软件进程。 </a:t>
            </a:r>
            <a:endParaRPr lang="en-US" altLang="zh-CN" sz="2400" dirty="0"/>
          </a:p>
          <a:p>
            <a:pPr latinLnBrk="1"/>
            <a:r>
              <a:rPr lang="zh-CN" altLang="zh-CN" sz="2400" dirty="0">
                <a:solidFill>
                  <a:srgbClr val="FF0000"/>
                </a:solidFill>
              </a:rPr>
              <a:t>对等层</a:t>
            </a:r>
            <a:r>
              <a:rPr lang="zh-CN" altLang="zh-CN" sz="2400" dirty="0"/>
              <a:t>： 两个不同系统的同一层次；</a:t>
            </a:r>
          </a:p>
          <a:p>
            <a:pPr latinLnBrk="1"/>
            <a:r>
              <a:rPr lang="zh-CN" altLang="zh-CN" sz="2400" dirty="0">
                <a:solidFill>
                  <a:srgbClr val="FF0000"/>
                </a:solidFill>
              </a:rPr>
              <a:t>对等实体</a:t>
            </a:r>
            <a:r>
              <a:rPr lang="zh-CN" altLang="en-US" sz="2400" dirty="0"/>
              <a:t>：</a:t>
            </a:r>
            <a:r>
              <a:rPr lang="zh-CN" altLang="zh-CN" sz="2400" dirty="0"/>
              <a:t>分别位于不同系统对等层的两个实体；</a:t>
            </a:r>
          </a:p>
          <a:p>
            <a:pPr latinLnBrk="1"/>
            <a:r>
              <a:rPr lang="zh-CN" altLang="zh-CN" sz="2400" dirty="0">
                <a:solidFill>
                  <a:srgbClr val="FF0000"/>
                </a:solidFill>
              </a:rPr>
              <a:t>接口</a:t>
            </a:r>
            <a:r>
              <a:rPr lang="zh-CN" altLang="zh-CN" sz="2400" dirty="0"/>
              <a:t>： 上层使用下层所提供的功能的方式；</a:t>
            </a:r>
          </a:p>
          <a:p>
            <a:pPr latinLnBrk="1"/>
            <a:r>
              <a:rPr lang="zh-CN" altLang="zh-CN" sz="2400" dirty="0">
                <a:solidFill>
                  <a:srgbClr val="FF0000"/>
                </a:solidFill>
              </a:rPr>
              <a:t>服务</a:t>
            </a:r>
            <a:r>
              <a:rPr lang="zh-CN" altLang="zh-CN" sz="2400" dirty="0"/>
              <a:t>： 某一层及其以下各层的所完成的功能，通过接口提供给相邻的上层；</a:t>
            </a:r>
            <a:endParaRPr lang="zh-CN" altLang="en-US" sz="2400" dirty="0"/>
          </a:p>
          <a:p>
            <a:pPr algn="l"/>
            <a:r>
              <a:rPr lang="zh-CN" altLang="en-US" sz="2400" dirty="0">
                <a:solidFill>
                  <a:srgbClr val="FF0000"/>
                </a:solidFill>
              </a:rPr>
              <a:t>协议</a:t>
            </a:r>
            <a:r>
              <a:rPr lang="zh-CN" altLang="en-US" sz="2400" dirty="0"/>
              <a:t>是控制</a:t>
            </a:r>
            <a:r>
              <a:rPr lang="zh-CN" altLang="en-US" sz="2400" dirty="0">
                <a:solidFill>
                  <a:srgbClr val="FF0000"/>
                </a:solidFill>
              </a:rPr>
              <a:t>两个对等实体</a:t>
            </a:r>
            <a:r>
              <a:rPr lang="zh-CN" altLang="en-US" sz="2400" dirty="0"/>
              <a:t>进行通信的规则的集合。 </a:t>
            </a:r>
          </a:p>
          <a:p>
            <a:r>
              <a:rPr lang="zh-CN" altLang="en-US" sz="2400" dirty="0"/>
              <a:t>在协议的控制下，两个对等实体间的通信使得本层能够</a:t>
            </a:r>
            <a:r>
              <a:rPr lang="zh-CN" altLang="en-US" sz="2400" dirty="0">
                <a:solidFill>
                  <a:srgbClr val="FF0000"/>
                </a:solidFill>
              </a:rPr>
              <a:t>向上一层提供服务。</a:t>
            </a:r>
          </a:p>
          <a:p>
            <a:r>
              <a:rPr lang="zh-CN" altLang="en-US" sz="2400" dirty="0"/>
              <a:t>要实现本层协议，还需要</a:t>
            </a:r>
            <a:r>
              <a:rPr lang="zh-CN" altLang="en-US" sz="2400" dirty="0">
                <a:solidFill>
                  <a:srgbClr val="FF0000"/>
                </a:solidFill>
              </a:rPr>
              <a:t>使用下层所提供的服务。</a:t>
            </a:r>
            <a:r>
              <a:rPr lang="zh-CN" alt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82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2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82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8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a:r>
              <a:rPr lang="zh-CN" altLang="en-US" dirty="0"/>
              <a:t>网络体系结构模型</a:t>
            </a:r>
          </a:p>
        </p:txBody>
      </p:sp>
      <p:sp>
        <p:nvSpPr>
          <p:cNvPr id="111619" name="Rectangle 3"/>
          <p:cNvSpPr>
            <a:spLocks noGrp="1" noChangeArrowheads="1"/>
          </p:cNvSpPr>
          <p:nvPr>
            <p:ph idx="1"/>
          </p:nvPr>
        </p:nvSpPr>
        <p:spPr>
          <a:xfrm>
            <a:off x="5457057" y="1196752"/>
            <a:ext cx="4104455" cy="4934173"/>
          </a:xfrm>
        </p:spPr>
        <p:txBody>
          <a:bodyPr/>
          <a:lstStyle/>
          <a:p>
            <a:r>
              <a:rPr lang="zh-CN" altLang="en-US" sz="2000" dirty="0"/>
              <a:t>网络中的任何一个系统都是按照上图中的层次结构模型来组织的，该模型具有以下特点：</a:t>
            </a:r>
          </a:p>
          <a:p>
            <a:r>
              <a:rPr lang="zh-CN" altLang="en-US" sz="2000" dirty="0"/>
              <a:t>同一网络中，任意两个端系统必须具有相同的层次；</a:t>
            </a:r>
          </a:p>
          <a:p>
            <a:r>
              <a:rPr lang="zh-CN" altLang="en-US" sz="2000" dirty="0"/>
              <a:t>每层使用其下层提供的服务，并向其上层提供服务；</a:t>
            </a:r>
          </a:p>
          <a:p>
            <a:r>
              <a:rPr lang="zh-CN" altLang="en-US" sz="2000" dirty="0"/>
              <a:t>通信只在对等层间进行，当然这里所指的通信是间接的、逻辑的、虚拟的，非对等层之间不能互相“通信”；</a:t>
            </a:r>
          </a:p>
          <a:p>
            <a:r>
              <a:rPr lang="zh-CN" altLang="en-US" sz="2000" dirty="0"/>
              <a:t>实际的物理通信只在最底层完成；</a:t>
            </a:r>
          </a:p>
          <a:p>
            <a:r>
              <a:rPr lang="en-US" altLang="zh-CN" sz="2000" dirty="0" err="1"/>
              <a:t>Pn</a:t>
            </a:r>
            <a:r>
              <a:rPr lang="zh-CN" altLang="en-US" sz="2000" dirty="0"/>
              <a:t>代表第</a:t>
            </a:r>
            <a:r>
              <a:rPr lang="en-US" altLang="zh-CN" sz="2000" dirty="0"/>
              <a:t>n</a:t>
            </a:r>
            <a:r>
              <a:rPr lang="zh-CN" altLang="en-US" sz="2000" dirty="0"/>
              <a:t>层的协议，即第</a:t>
            </a:r>
            <a:r>
              <a:rPr lang="en-US" altLang="zh-CN" sz="2000" dirty="0"/>
              <a:t>n</a:t>
            </a:r>
            <a:r>
              <a:rPr lang="zh-CN" altLang="en-US" sz="2000" dirty="0"/>
              <a:t>层对等实体间通信时必须遵循的规则或约定。</a:t>
            </a:r>
          </a:p>
          <a:p>
            <a:endParaRPr lang="zh-CN" altLang="en-US" sz="2800" dirty="0"/>
          </a:p>
        </p:txBody>
      </p:sp>
      <p:pic>
        <p:nvPicPr>
          <p:cNvPr id="5" name="图片 4" descr="http://static.zybuluo.com/Rico123/f6q90lk991ndk4n91b2awuid/%E7%BD%91%E7%BB%9C%E4%BD%93%E7%B3%BB%E7%BB%93%E6%9E%84%E6%A8%A1%E5%9E%8B.png"/>
          <p:cNvPicPr/>
          <p:nvPr/>
        </p:nvPicPr>
        <p:blipFill>
          <a:blip r:embed="rId3">
            <a:extLst>
              <a:ext uri="{28A0092B-C50C-407E-A947-70E740481C1C}">
                <a14:useLocalDpi xmlns:a14="http://schemas.microsoft.com/office/drawing/2010/main" val="0"/>
              </a:ext>
            </a:extLst>
          </a:blip>
          <a:srcRect/>
          <a:stretch>
            <a:fillRect/>
          </a:stretch>
        </p:blipFill>
        <p:spPr bwMode="auto">
          <a:xfrm>
            <a:off x="504961" y="1196752"/>
            <a:ext cx="4952096" cy="54726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6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6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16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a:r>
              <a:rPr lang="zh-CN" altLang="en-US" dirty="0"/>
              <a:t>对等层通信的实质</a:t>
            </a:r>
          </a:p>
        </p:txBody>
      </p:sp>
      <p:sp>
        <p:nvSpPr>
          <p:cNvPr id="111619" name="Rectangle 3"/>
          <p:cNvSpPr>
            <a:spLocks noGrp="1" noChangeArrowheads="1"/>
          </p:cNvSpPr>
          <p:nvPr>
            <p:ph idx="1"/>
          </p:nvPr>
        </p:nvSpPr>
        <p:spPr>
          <a:xfrm>
            <a:off x="848545" y="1196753"/>
            <a:ext cx="8712968" cy="2448272"/>
          </a:xfrm>
        </p:spPr>
        <p:txBody>
          <a:bodyPr/>
          <a:lstStyle/>
          <a:p>
            <a:r>
              <a:rPr lang="zh-CN" altLang="en-US" sz="2400" dirty="0"/>
              <a:t>在逻辑上，网络分层体系结构原理允许不同主机的对等实体进行通信，但禁止不同主机非对等实体间进行直接通信；</a:t>
            </a:r>
            <a:endParaRPr lang="en-US" altLang="zh-CN" sz="2400" dirty="0"/>
          </a:p>
          <a:p>
            <a:r>
              <a:rPr lang="zh-CN" altLang="en-US" sz="2400" dirty="0"/>
              <a:t>在物理上，每一层必须依靠下层提供的服务来与另一台主机的对等层通信，这是 对等层通信的实质 。也就是说，</a:t>
            </a:r>
            <a:r>
              <a:rPr lang="zh-CN" altLang="en-US" sz="2400" dirty="0">
                <a:solidFill>
                  <a:srgbClr val="C00000"/>
                </a:solidFill>
              </a:rPr>
              <a:t>模型中的上层（第</a:t>
            </a:r>
            <a:r>
              <a:rPr lang="en-US" altLang="zh-CN" sz="2400" dirty="0">
                <a:solidFill>
                  <a:srgbClr val="C00000"/>
                </a:solidFill>
              </a:rPr>
              <a:t>n+1</a:t>
            </a:r>
            <a:r>
              <a:rPr lang="zh-CN" altLang="en-US" sz="2400" dirty="0">
                <a:solidFill>
                  <a:srgbClr val="C00000"/>
                </a:solidFill>
              </a:rPr>
              <a:t>层）使用下层</a:t>
            </a:r>
            <a:r>
              <a:rPr lang="en-US" altLang="zh-CN" sz="2400" dirty="0">
                <a:solidFill>
                  <a:srgbClr val="C00000"/>
                </a:solidFill>
              </a:rPr>
              <a:t>(</a:t>
            </a:r>
            <a:r>
              <a:rPr lang="zh-CN" altLang="en-US" sz="2400" dirty="0">
                <a:solidFill>
                  <a:srgbClr val="C00000"/>
                </a:solidFill>
              </a:rPr>
              <a:t>第</a:t>
            </a:r>
            <a:r>
              <a:rPr lang="en-US" altLang="zh-CN" sz="2400" dirty="0">
                <a:solidFill>
                  <a:srgbClr val="C00000"/>
                </a:solidFill>
              </a:rPr>
              <a:t>n</a:t>
            </a:r>
            <a:r>
              <a:rPr lang="zh-CN" altLang="en-US" sz="2400" dirty="0">
                <a:solidFill>
                  <a:srgbClr val="C00000"/>
                </a:solidFill>
              </a:rPr>
              <a:t>层</a:t>
            </a:r>
            <a:r>
              <a:rPr lang="en-US" altLang="zh-CN" sz="2400" dirty="0">
                <a:solidFill>
                  <a:srgbClr val="C00000"/>
                </a:solidFill>
              </a:rPr>
              <a:t>)</a:t>
            </a:r>
            <a:r>
              <a:rPr lang="zh-CN" altLang="en-US" sz="2400" dirty="0">
                <a:solidFill>
                  <a:srgbClr val="C00000"/>
                </a:solidFill>
              </a:rPr>
              <a:t>所提供的服务，是下层</a:t>
            </a:r>
            <a:r>
              <a:rPr lang="en-US" altLang="zh-CN" sz="2400" dirty="0">
                <a:solidFill>
                  <a:srgbClr val="C00000"/>
                </a:solidFill>
              </a:rPr>
              <a:t>(</a:t>
            </a:r>
            <a:r>
              <a:rPr lang="zh-CN" altLang="en-US" sz="2400" dirty="0">
                <a:solidFill>
                  <a:srgbClr val="C00000"/>
                </a:solidFill>
              </a:rPr>
              <a:t>第</a:t>
            </a:r>
            <a:r>
              <a:rPr lang="en-US" altLang="zh-CN" sz="2400" dirty="0">
                <a:solidFill>
                  <a:srgbClr val="C00000"/>
                </a:solidFill>
              </a:rPr>
              <a:t>n</a:t>
            </a:r>
            <a:r>
              <a:rPr lang="zh-CN" altLang="en-US" sz="2400" dirty="0">
                <a:solidFill>
                  <a:srgbClr val="C00000"/>
                </a:solidFill>
              </a:rPr>
              <a:t>层</a:t>
            </a:r>
            <a:r>
              <a:rPr lang="en-US" altLang="zh-CN" sz="2400" dirty="0">
                <a:solidFill>
                  <a:srgbClr val="C00000"/>
                </a:solidFill>
              </a:rPr>
              <a:t>)</a:t>
            </a:r>
            <a:r>
              <a:rPr lang="zh-CN" altLang="en-US" sz="2400" dirty="0">
                <a:solidFill>
                  <a:srgbClr val="C00000"/>
                </a:solidFill>
              </a:rPr>
              <a:t>服务消费者；而模型中的下层</a:t>
            </a:r>
            <a:r>
              <a:rPr lang="en-US" altLang="zh-CN" sz="2400" dirty="0">
                <a:solidFill>
                  <a:srgbClr val="C00000"/>
                </a:solidFill>
              </a:rPr>
              <a:t>(</a:t>
            </a:r>
            <a:r>
              <a:rPr lang="zh-CN" altLang="en-US" sz="2400" dirty="0">
                <a:solidFill>
                  <a:srgbClr val="C00000"/>
                </a:solidFill>
              </a:rPr>
              <a:t>第</a:t>
            </a:r>
            <a:r>
              <a:rPr lang="en-US" altLang="zh-CN" sz="2400" dirty="0">
                <a:solidFill>
                  <a:srgbClr val="C00000"/>
                </a:solidFill>
              </a:rPr>
              <a:t>n</a:t>
            </a:r>
            <a:r>
              <a:rPr lang="zh-CN" altLang="en-US" sz="2400" dirty="0">
                <a:solidFill>
                  <a:srgbClr val="C00000"/>
                </a:solidFill>
              </a:rPr>
              <a:t>层</a:t>
            </a:r>
            <a:r>
              <a:rPr lang="en-US" altLang="zh-CN" sz="2400" dirty="0">
                <a:solidFill>
                  <a:srgbClr val="C00000"/>
                </a:solidFill>
              </a:rPr>
              <a:t>)</a:t>
            </a:r>
            <a:r>
              <a:rPr lang="zh-CN" altLang="en-US" sz="2400" dirty="0">
                <a:solidFill>
                  <a:srgbClr val="C00000"/>
                </a:solidFill>
              </a:rPr>
              <a:t>向上层（第</a:t>
            </a:r>
            <a:r>
              <a:rPr lang="en-US" altLang="zh-CN" sz="2400" dirty="0">
                <a:solidFill>
                  <a:srgbClr val="C00000"/>
                </a:solidFill>
              </a:rPr>
              <a:t>n+1</a:t>
            </a:r>
            <a:r>
              <a:rPr lang="zh-CN" altLang="en-US" sz="2400" dirty="0">
                <a:solidFill>
                  <a:srgbClr val="C00000"/>
                </a:solidFill>
              </a:rPr>
              <a:t>层）提供服务，是上层（第</a:t>
            </a:r>
            <a:r>
              <a:rPr lang="en-US" altLang="zh-CN" sz="2400" dirty="0">
                <a:solidFill>
                  <a:srgbClr val="C00000"/>
                </a:solidFill>
              </a:rPr>
              <a:t>n+1</a:t>
            </a:r>
            <a:r>
              <a:rPr lang="zh-CN" altLang="en-US" sz="2400" dirty="0">
                <a:solidFill>
                  <a:srgbClr val="C00000"/>
                </a:solidFill>
              </a:rPr>
              <a:t>层）的服务生产者（提供者）</a:t>
            </a:r>
            <a:r>
              <a:rPr lang="zh-CN" altLang="en-US" sz="2400" dirty="0"/>
              <a:t>。</a:t>
            </a:r>
          </a:p>
        </p:txBody>
      </p:sp>
      <p:pic>
        <p:nvPicPr>
          <p:cNvPr id="6" name="图片 5" descr="http://static.zybuluo.com/Rico123/3pmbply2dxwc1ecwtfd2sxk8/%E9%82%AE%E4%BB%B6%E7%B3%BB%E7%BB%9F3.png"/>
          <p:cNvPicPr/>
          <p:nvPr/>
        </p:nvPicPr>
        <p:blipFill>
          <a:blip r:embed="rId3">
            <a:extLst>
              <a:ext uri="{28A0092B-C50C-407E-A947-70E740481C1C}">
                <a14:useLocalDpi xmlns:a14="http://schemas.microsoft.com/office/drawing/2010/main" val="0"/>
              </a:ext>
            </a:extLst>
          </a:blip>
          <a:srcRect/>
          <a:stretch>
            <a:fillRect/>
          </a:stretch>
        </p:blipFill>
        <p:spPr bwMode="auto">
          <a:xfrm>
            <a:off x="1712640" y="4221088"/>
            <a:ext cx="6768752" cy="26369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algn="ctr"/>
            <a:r>
              <a:rPr lang="zh-CN" altLang="zh-CN" sz="4000" dirty="0"/>
              <a:t>计算机网络体系结构</a:t>
            </a:r>
            <a:r>
              <a:rPr lang="zh-CN" altLang="en-US" sz="4000" dirty="0"/>
              <a:t>标准</a:t>
            </a:r>
          </a:p>
        </p:txBody>
      </p:sp>
      <p:sp>
        <p:nvSpPr>
          <p:cNvPr id="100355" name="Rectangle 3"/>
          <p:cNvSpPr>
            <a:spLocks noGrp="1" noChangeArrowheads="1"/>
          </p:cNvSpPr>
          <p:nvPr>
            <p:ph idx="1"/>
          </p:nvPr>
        </p:nvSpPr>
        <p:spPr/>
        <p:txBody>
          <a:bodyPr/>
          <a:lstStyle/>
          <a:p>
            <a:pPr latinLnBrk="1"/>
            <a:r>
              <a:rPr lang="zh-CN" altLang="zh-CN" dirty="0"/>
              <a:t>目前，由国际化标准组织</a:t>
            </a:r>
            <a:r>
              <a:rPr lang="en-US" altLang="zh-CN" dirty="0"/>
              <a:t>ISO</a:t>
            </a:r>
            <a:r>
              <a:rPr lang="zh-CN" altLang="zh-CN" dirty="0"/>
              <a:t>制定的网络体系结构国际标准是</a:t>
            </a:r>
            <a:r>
              <a:rPr lang="en-US" altLang="zh-CN" dirty="0"/>
              <a:t> OSI</a:t>
            </a:r>
            <a:r>
              <a:rPr lang="zh-CN" altLang="zh-CN" dirty="0"/>
              <a:t>七层模型，但实际中应用最广泛的是</a:t>
            </a:r>
            <a:r>
              <a:rPr lang="en-US" altLang="zh-CN" dirty="0"/>
              <a:t> TCP/IP</a:t>
            </a:r>
            <a:r>
              <a:rPr lang="zh-CN" altLang="zh-CN" dirty="0"/>
              <a:t>体系结构。</a:t>
            </a:r>
            <a:endParaRPr lang="en-US" altLang="zh-CN" dirty="0"/>
          </a:p>
          <a:p>
            <a:pPr latinLnBrk="1"/>
            <a:r>
              <a:rPr lang="en-US" altLang="zh-CN" dirty="0"/>
              <a:t>OSI</a:t>
            </a:r>
            <a:r>
              <a:rPr lang="zh-CN" altLang="zh-CN" dirty="0"/>
              <a:t>七层模型只是理论上的、官方制定的国际标准，而</a:t>
            </a:r>
            <a:r>
              <a:rPr lang="en-US" altLang="zh-CN" dirty="0"/>
              <a:t>TCP/IP</a:t>
            </a:r>
            <a:r>
              <a:rPr lang="zh-CN" altLang="zh-CN" dirty="0"/>
              <a:t>体系结构才是事实上的国际标准。</a:t>
            </a:r>
            <a:endParaRPr lang="en-US" altLang="zh-CN" dirty="0"/>
          </a:p>
          <a:p>
            <a:r>
              <a:rPr lang="zh-CN" altLang="en-US" dirty="0"/>
              <a:t>法律上的 </a:t>
            </a:r>
            <a:r>
              <a:rPr lang="en-US" altLang="zh-CN" dirty="0"/>
              <a:t>(</a:t>
            </a:r>
            <a:r>
              <a:rPr lang="en-US" altLang="zh-CN" i="1" dirty="0"/>
              <a:t>de jure</a:t>
            </a:r>
            <a:r>
              <a:rPr lang="en-US" altLang="zh-CN" dirty="0"/>
              <a:t>) </a:t>
            </a:r>
            <a:r>
              <a:rPr lang="zh-CN" altLang="en-US" dirty="0"/>
              <a:t>国际标准 </a:t>
            </a:r>
            <a:r>
              <a:rPr lang="en-US" altLang="zh-CN" dirty="0"/>
              <a:t>OSI </a:t>
            </a:r>
            <a:r>
              <a:rPr lang="zh-CN" altLang="en-US" dirty="0"/>
              <a:t>并没有得到市场的认可。</a:t>
            </a:r>
          </a:p>
          <a:p>
            <a:r>
              <a:rPr lang="zh-CN" altLang="en-US" dirty="0"/>
              <a:t>非国际标准 </a:t>
            </a:r>
            <a:r>
              <a:rPr lang="en-US" altLang="zh-CN" dirty="0"/>
              <a:t>TCP/IP </a:t>
            </a:r>
            <a:r>
              <a:rPr lang="zh-CN" altLang="en-US" dirty="0"/>
              <a:t>却获得了最广泛的应用。</a:t>
            </a:r>
            <a:r>
              <a:rPr lang="en-US" altLang="zh-CN" dirty="0">
                <a:latin typeface="Arial" panose="020B0604020202020204" pitchFamily="34" charset="0"/>
              </a:rPr>
              <a:t>TCP/IP </a:t>
            </a:r>
            <a:r>
              <a:rPr lang="zh-CN" altLang="en-US" dirty="0">
                <a:latin typeface="Arial" panose="020B0604020202020204" pitchFamily="34" charset="0"/>
              </a:rPr>
              <a:t>常被称为</a:t>
            </a:r>
            <a:r>
              <a:rPr lang="zh-CN" altLang="en-US" dirty="0">
                <a:solidFill>
                  <a:srgbClr val="FF0000"/>
                </a:solidFill>
                <a:latin typeface="Arial" panose="020B0604020202020204" pitchFamily="34" charset="0"/>
              </a:rPr>
              <a:t>事实上的 </a:t>
            </a:r>
            <a:r>
              <a:rPr lang="en-US" altLang="zh-CN" dirty="0">
                <a:solidFill>
                  <a:srgbClr val="FF0000"/>
                </a:solidFill>
                <a:latin typeface="Arial" panose="020B0604020202020204" pitchFamily="34" charset="0"/>
              </a:rPr>
              <a:t>(</a:t>
            </a:r>
            <a:r>
              <a:rPr lang="en-US" altLang="zh-CN" i="1" dirty="0">
                <a:solidFill>
                  <a:srgbClr val="FF0000"/>
                </a:solidFill>
                <a:latin typeface="Arial" panose="020B0604020202020204" pitchFamily="34" charset="0"/>
              </a:rPr>
              <a:t>de facto</a:t>
            </a:r>
            <a:r>
              <a:rPr lang="en-US" altLang="zh-CN" dirty="0">
                <a:solidFill>
                  <a:srgbClr val="FF0000"/>
                </a:solidFill>
                <a:latin typeface="Arial" panose="020B0604020202020204" pitchFamily="34" charset="0"/>
              </a:rPr>
              <a:t>) </a:t>
            </a:r>
            <a:r>
              <a:rPr lang="zh-CN" altLang="en-US" dirty="0">
                <a:solidFill>
                  <a:srgbClr val="FF0000"/>
                </a:solidFill>
                <a:latin typeface="Arial" panose="020B0604020202020204" pitchFamily="34" charset="0"/>
              </a:rPr>
              <a:t>国际标准</a:t>
            </a:r>
            <a:r>
              <a:rPr lang="zh-CN" altLang="en-US" dirty="0">
                <a:latin typeface="Arial" panose="020B0604020202020204" pitchFamily="34" charset="0"/>
              </a:rPr>
              <a:t>。</a:t>
            </a:r>
          </a:p>
          <a:p>
            <a:pPr latinLnBrk="1"/>
            <a:endParaRPr lang="zh-CN" altLang="zh-CN" dirty="0"/>
          </a:p>
        </p:txBody>
      </p:sp>
    </p:spTree>
    <p:extLst>
      <p:ext uri="{BB962C8B-B14F-4D97-AF65-F5344CB8AC3E}">
        <p14:creationId xmlns:p14="http://schemas.microsoft.com/office/powerpoint/2010/main" val="1732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3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lgn="ctr"/>
            <a:r>
              <a:rPr lang="zh-CN" altLang="en-US" sz="4000" dirty="0"/>
              <a:t>开放系统互连参考模型 </a:t>
            </a:r>
            <a:r>
              <a:rPr lang="en-US" altLang="zh-CN" sz="4000" dirty="0"/>
              <a:t>OSI/RM</a:t>
            </a:r>
          </a:p>
        </p:txBody>
      </p:sp>
      <p:sp>
        <p:nvSpPr>
          <p:cNvPr id="171011" name="Rectangle 3"/>
          <p:cNvSpPr>
            <a:spLocks noGrp="1" noChangeArrowheads="1"/>
          </p:cNvSpPr>
          <p:nvPr>
            <p:ph idx="1"/>
          </p:nvPr>
        </p:nvSpPr>
        <p:spPr/>
        <p:txBody>
          <a:bodyPr/>
          <a:lstStyle/>
          <a:p>
            <a:r>
              <a:rPr lang="zh-CN" altLang="zh-CN" sz="3000" dirty="0"/>
              <a:t>为了使不同体系结构的计算机网络都能互连，国际标准化组织</a:t>
            </a:r>
            <a:r>
              <a:rPr lang="en-US" altLang="zh-CN" sz="3000" dirty="0"/>
              <a:t> ISO </a:t>
            </a:r>
            <a:r>
              <a:rPr lang="zh-CN" altLang="zh-CN" sz="3000" dirty="0"/>
              <a:t>于</a:t>
            </a:r>
            <a:r>
              <a:rPr lang="en-US" altLang="zh-CN" sz="3000" dirty="0"/>
              <a:t> 1977 </a:t>
            </a:r>
            <a:r>
              <a:rPr lang="zh-CN" altLang="zh-CN" sz="3000" dirty="0"/>
              <a:t>年成立了专门机构研究该问题。</a:t>
            </a:r>
            <a:endParaRPr lang="en-US" altLang="zh-CN" sz="3000" dirty="0"/>
          </a:p>
          <a:p>
            <a:r>
              <a:rPr lang="zh-CN" altLang="zh-CN" sz="3000" dirty="0"/>
              <a:t>他们提出了一个试图使各种计算机在世界范围内互连成网的标准框架，即著名的</a:t>
            </a:r>
            <a:r>
              <a:rPr lang="zh-CN" altLang="zh-CN" sz="3000" dirty="0">
                <a:solidFill>
                  <a:srgbClr val="FF0000"/>
                </a:solidFill>
              </a:rPr>
              <a:t>开放系统互连基本参考模型</a:t>
            </a:r>
            <a:r>
              <a:rPr lang="en-US" altLang="zh-CN" sz="3000" dirty="0">
                <a:solidFill>
                  <a:srgbClr val="FF0000"/>
                </a:solidFill>
              </a:rPr>
              <a:t> OSI/RM</a:t>
            </a:r>
            <a:r>
              <a:rPr lang="en-US" altLang="zh-CN" sz="3000" dirty="0"/>
              <a:t> (Open Systems Interconnection Reference Model)</a:t>
            </a:r>
            <a:r>
              <a:rPr lang="zh-CN" altLang="zh-CN" sz="3000" dirty="0"/>
              <a:t>，简称为</a:t>
            </a:r>
            <a:r>
              <a:rPr lang="en-US" altLang="zh-CN" sz="3000" dirty="0"/>
              <a:t> OSI</a:t>
            </a:r>
            <a:r>
              <a:rPr lang="zh-CN" altLang="zh-CN" sz="3000" dirty="0"/>
              <a:t>。</a:t>
            </a:r>
            <a:endParaRPr lang="en-US" altLang="zh-CN" sz="3000" dirty="0"/>
          </a:p>
        </p:txBody>
      </p:sp>
      <p:sp>
        <p:nvSpPr>
          <p:cNvPr id="2" name="矩形 1"/>
          <p:cNvSpPr/>
          <p:nvPr/>
        </p:nvSpPr>
        <p:spPr>
          <a:xfrm>
            <a:off x="1064568" y="4869160"/>
            <a:ext cx="8136904" cy="1384995"/>
          </a:xfrm>
          <a:prstGeom prst="rect">
            <a:avLst/>
          </a:prstGeom>
          <a:solidFill>
            <a:srgbClr val="FFFF66"/>
          </a:solidFill>
          <a:ln>
            <a:solidFill>
              <a:srgbClr val="000099"/>
            </a:solidFill>
          </a:ln>
        </p:spPr>
        <p:txBody>
          <a:bodyPr wrap="square">
            <a:spAutoFit/>
          </a:bodyPr>
          <a:lstStyle/>
          <a:p>
            <a:r>
              <a:rPr lang="zh-CN" altLang="en-US" sz="2800" b="1" dirty="0">
                <a:solidFill>
                  <a:srgbClr val="000066"/>
                </a:solidFill>
                <a:latin typeface="+mn-lt"/>
                <a:ea typeface="黑体" panose="02010609060101010101" pitchFamily="2" charset="-122"/>
              </a:rPr>
              <a:t>只要遵循 </a:t>
            </a:r>
            <a:r>
              <a:rPr lang="en-US" altLang="zh-CN" sz="2800" b="1" dirty="0">
                <a:solidFill>
                  <a:srgbClr val="000066"/>
                </a:solidFill>
                <a:latin typeface="+mn-lt"/>
                <a:ea typeface="黑体" panose="02010609060101010101" pitchFamily="2" charset="-122"/>
              </a:rPr>
              <a:t>OSI </a:t>
            </a:r>
            <a:r>
              <a:rPr lang="zh-CN" altLang="en-US" sz="2800" b="1" dirty="0">
                <a:solidFill>
                  <a:srgbClr val="000066"/>
                </a:solidFill>
                <a:latin typeface="+mn-lt"/>
                <a:ea typeface="黑体" panose="02010609060101010101" pitchFamily="2" charset="-122"/>
              </a:rPr>
              <a:t>标准，一个系统就可以和位于世界上任何地方的、也遵循这同一标准的其他任何系统进行通信。</a:t>
            </a:r>
          </a:p>
        </p:txBody>
      </p:sp>
    </p:spTree>
    <p:extLst>
      <p:ext uri="{BB962C8B-B14F-4D97-AF65-F5344CB8AC3E}">
        <p14:creationId xmlns:p14="http://schemas.microsoft.com/office/powerpoint/2010/main" val="94401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P spid="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lgn="ctr"/>
            <a:r>
              <a:rPr lang="zh-CN" altLang="en-US" sz="4000" dirty="0"/>
              <a:t>开放系统互连参考模型 </a:t>
            </a:r>
            <a:r>
              <a:rPr lang="en-US" altLang="zh-CN" sz="4000" dirty="0"/>
              <a:t>OSI/RM</a:t>
            </a:r>
          </a:p>
        </p:txBody>
      </p:sp>
      <p:sp>
        <p:nvSpPr>
          <p:cNvPr id="171011" name="Rectangle 3"/>
          <p:cNvSpPr>
            <a:spLocks noGrp="1" noChangeArrowheads="1"/>
          </p:cNvSpPr>
          <p:nvPr>
            <p:ph idx="1"/>
          </p:nvPr>
        </p:nvSpPr>
        <p:spPr/>
        <p:txBody>
          <a:bodyPr/>
          <a:lstStyle/>
          <a:p>
            <a:r>
              <a:rPr lang="en-US" altLang="zh-CN" dirty="0"/>
              <a:t>OSI </a:t>
            </a:r>
            <a:r>
              <a:rPr lang="zh-CN" altLang="zh-CN" dirty="0"/>
              <a:t>只获得了一些理论研究的成果</a:t>
            </a:r>
            <a:r>
              <a:rPr lang="zh-CN" altLang="en-US" dirty="0"/>
              <a:t>，在市场化方面却失败了。原因包括：</a:t>
            </a:r>
          </a:p>
          <a:p>
            <a:pPr lvl="1"/>
            <a:r>
              <a:rPr lang="en-US" altLang="zh-CN" dirty="0">
                <a:solidFill>
                  <a:srgbClr val="0000CC"/>
                </a:solidFill>
                <a:latin typeface="Arial" panose="020B0604020202020204" pitchFamily="34" charset="0"/>
              </a:rPr>
              <a:t>OSI </a:t>
            </a:r>
            <a:r>
              <a:rPr lang="zh-CN" altLang="en-US" dirty="0">
                <a:solidFill>
                  <a:srgbClr val="0000CC"/>
                </a:solidFill>
                <a:latin typeface="Arial" panose="020B0604020202020204" pitchFamily="34" charset="0"/>
              </a:rPr>
              <a:t>的专家们在完成 </a:t>
            </a:r>
            <a:r>
              <a:rPr lang="en-US" altLang="zh-CN" dirty="0">
                <a:solidFill>
                  <a:srgbClr val="0000CC"/>
                </a:solidFill>
                <a:latin typeface="Arial" panose="020B0604020202020204" pitchFamily="34" charset="0"/>
              </a:rPr>
              <a:t>OSI </a:t>
            </a:r>
            <a:r>
              <a:rPr lang="zh-CN" altLang="en-US" dirty="0">
                <a:solidFill>
                  <a:srgbClr val="0000CC"/>
                </a:solidFill>
                <a:latin typeface="Arial" panose="020B0604020202020204" pitchFamily="34" charset="0"/>
              </a:rPr>
              <a:t>标准时没有商业驱动力；</a:t>
            </a:r>
          </a:p>
          <a:p>
            <a:pPr lvl="1"/>
            <a:r>
              <a:rPr lang="en-US" altLang="zh-CN" dirty="0">
                <a:solidFill>
                  <a:srgbClr val="0000CC"/>
                </a:solidFill>
                <a:latin typeface="Arial" panose="020B0604020202020204" pitchFamily="34" charset="0"/>
              </a:rPr>
              <a:t>OSI </a:t>
            </a:r>
            <a:r>
              <a:rPr lang="zh-CN" altLang="en-US" dirty="0">
                <a:solidFill>
                  <a:srgbClr val="0000CC"/>
                </a:solidFill>
                <a:latin typeface="Arial" panose="020B0604020202020204" pitchFamily="34" charset="0"/>
              </a:rPr>
              <a:t>的协议实现起来过分复杂，且运行效率很低；</a:t>
            </a:r>
          </a:p>
          <a:p>
            <a:pPr lvl="1"/>
            <a:r>
              <a:rPr lang="en-US" altLang="zh-CN" dirty="0">
                <a:solidFill>
                  <a:srgbClr val="0000CC"/>
                </a:solidFill>
                <a:latin typeface="Arial" panose="020B0604020202020204" pitchFamily="34" charset="0"/>
              </a:rPr>
              <a:t>OSI </a:t>
            </a:r>
            <a:r>
              <a:rPr lang="zh-CN" altLang="en-US" dirty="0">
                <a:solidFill>
                  <a:srgbClr val="0000CC"/>
                </a:solidFill>
                <a:latin typeface="Arial" panose="020B0604020202020204" pitchFamily="34" charset="0"/>
              </a:rPr>
              <a:t>标准的制定周期太长，因而使得按 </a:t>
            </a:r>
            <a:r>
              <a:rPr lang="en-US" altLang="zh-CN" dirty="0">
                <a:solidFill>
                  <a:srgbClr val="0000CC"/>
                </a:solidFill>
                <a:latin typeface="Arial" panose="020B0604020202020204" pitchFamily="34" charset="0"/>
              </a:rPr>
              <a:t>OSI </a:t>
            </a:r>
            <a:r>
              <a:rPr lang="zh-CN" altLang="en-US" dirty="0">
                <a:solidFill>
                  <a:srgbClr val="0000CC"/>
                </a:solidFill>
                <a:latin typeface="Arial" panose="020B0604020202020204" pitchFamily="34" charset="0"/>
              </a:rPr>
              <a:t>标准生产的设备无法及时进入市场；</a:t>
            </a:r>
          </a:p>
          <a:p>
            <a:pPr lvl="1"/>
            <a:r>
              <a:rPr lang="en-US" altLang="zh-CN" dirty="0">
                <a:solidFill>
                  <a:srgbClr val="0000CC"/>
                </a:solidFill>
                <a:latin typeface="Arial" panose="020B0604020202020204" pitchFamily="34" charset="0"/>
              </a:rPr>
              <a:t>OSI </a:t>
            </a:r>
            <a:r>
              <a:rPr lang="zh-CN" altLang="en-US" dirty="0">
                <a:solidFill>
                  <a:srgbClr val="0000CC"/>
                </a:solidFill>
                <a:latin typeface="Arial" panose="020B0604020202020204" pitchFamily="34" charset="0"/>
              </a:rPr>
              <a:t>的层次划分也不太合理，有些功能在多个层次中重复出现。</a:t>
            </a:r>
            <a:r>
              <a:rPr lang="zh-CN" altLang="en-US" dirty="0">
                <a:solidFill>
                  <a:srgbClr val="0000CC"/>
                </a:solidFill>
              </a:rPr>
              <a:t>  </a:t>
            </a:r>
          </a:p>
        </p:txBody>
      </p:sp>
    </p:spTree>
    <p:extLst>
      <p:ext uri="{BB962C8B-B14F-4D97-AF65-F5344CB8AC3E}">
        <p14:creationId xmlns:p14="http://schemas.microsoft.com/office/powerpoint/2010/main" val="87962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zh-CN" dirty="0"/>
              <a:t>具有五层协议的体系结构</a:t>
            </a:r>
            <a:endParaRPr lang="zh-CN" altLang="en-US" dirty="0"/>
          </a:p>
        </p:txBody>
      </p:sp>
      <p:sp>
        <p:nvSpPr>
          <p:cNvPr id="113667" name="Rectangle 3"/>
          <p:cNvSpPr>
            <a:spLocks noGrp="1" noChangeArrowheads="1"/>
          </p:cNvSpPr>
          <p:nvPr>
            <p:ph idx="1"/>
          </p:nvPr>
        </p:nvSpPr>
        <p:spPr/>
        <p:txBody>
          <a:bodyPr/>
          <a:lstStyle/>
          <a:p>
            <a:r>
              <a:rPr lang="en-US" altLang="zh-CN" dirty="0"/>
              <a:t>OSI </a:t>
            </a:r>
            <a:r>
              <a:rPr lang="zh-CN" altLang="zh-CN" dirty="0"/>
              <a:t>的七层协议体系结构的概念清楚，理论也较完整，但它既复杂又不实用</a:t>
            </a:r>
            <a:r>
              <a:rPr lang="zh-CN" altLang="en-US" dirty="0"/>
              <a:t>。</a:t>
            </a:r>
            <a:endParaRPr lang="en-US" altLang="zh-CN" dirty="0"/>
          </a:p>
          <a:p>
            <a:r>
              <a:rPr lang="en-US" altLang="zh-CN" dirty="0"/>
              <a:t>TCP/IP </a:t>
            </a:r>
            <a:r>
              <a:rPr lang="zh-CN" altLang="en-US" dirty="0"/>
              <a:t>是四层体系结构：应用层、运输层、网际层和网络接口层。</a:t>
            </a:r>
          </a:p>
          <a:p>
            <a:r>
              <a:rPr lang="zh-CN" altLang="en-US" dirty="0"/>
              <a:t>但最下面的网络接口层并没有具体内容。</a:t>
            </a:r>
          </a:p>
          <a:p>
            <a:r>
              <a:rPr lang="zh-CN" altLang="en-US" dirty="0">
                <a:solidFill>
                  <a:srgbClr val="FF0000"/>
                </a:solidFill>
              </a:rPr>
              <a:t>因此往往采取折中的办法，即综合 </a:t>
            </a:r>
            <a:r>
              <a:rPr lang="en-US" altLang="zh-CN" dirty="0">
                <a:solidFill>
                  <a:srgbClr val="FF0000"/>
                </a:solidFill>
              </a:rPr>
              <a:t>OSI </a:t>
            </a:r>
            <a:r>
              <a:rPr lang="zh-CN" altLang="en-US" dirty="0">
                <a:solidFill>
                  <a:srgbClr val="FF0000"/>
                </a:solidFill>
              </a:rPr>
              <a:t>和</a:t>
            </a:r>
            <a:r>
              <a:rPr lang="zh-CN" altLang="en-US" sz="2000" dirty="0">
                <a:solidFill>
                  <a:srgbClr val="FF0000"/>
                </a:solidFill>
              </a:rPr>
              <a:t> </a:t>
            </a:r>
            <a:r>
              <a:rPr lang="en-US" altLang="zh-CN" dirty="0">
                <a:solidFill>
                  <a:srgbClr val="FF0000"/>
                </a:solidFill>
              </a:rPr>
              <a:t>TCP/IP</a:t>
            </a:r>
            <a:r>
              <a:rPr lang="en-US" altLang="zh-CN" sz="2000" dirty="0">
                <a:solidFill>
                  <a:srgbClr val="FF0000"/>
                </a:solidFill>
              </a:rPr>
              <a:t> </a:t>
            </a:r>
            <a:r>
              <a:rPr lang="zh-CN" altLang="en-US" dirty="0">
                <a:solidFill>
                  <a:srgbClr val="FF0000"/>
                </a:solidFill>
              </a:rPr>
              <a:t>的优点，采用一种只有五层协议的体系结构 。</a:t>
            </a:r>
            <a:r>
              <a:rPr lang="zh-CN" altLang="en-US" dirty="0">
                <a:solidFill>
                  <a:srgbClr val="0000CC"/>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36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lgn="ctr"/>
            <a:r>
              <a:rPr lang="zh-CN" altLang="en-US"/>
              <a:t>五层协议的体系结构 </a:t>
            </a:r>
          </a:p>
        </p:txBody>
      </p:sp>
      <p:sp>
        <p:nvSpPr>
          <p:cNvPr id="114691" name="Rectangle 3"/>
          <p:cNvSpPr>
            <a:spLocks noGrp="1" noChangeArrowheads="1"/>
          </p:cNvSpPr>
          <p:nvPr>
            <p:ph type="body" idx="4294967295"/>
          </p:nvPr>
        </p:nvSpPr>
        <p:spPr>
          <a:xfrm>
            <a:off x="3728864" y="1773261"/>
            <a:ext cx="5845175" cy="3167063"/>
          </a:xfrm>
        </p:spPr>
        <p:txBody>
          <a:bodyPr/>
          <a:lstStyle/>
          <a:p>
            <a:pPr>
              <a:lnSpc>
                <a:spcPct val="125000"/>
              </a:lnSpc>
            </a:pPr>
            <a:r>
              <a:rPr lang="zh-CN" altLang="en-US" sz="2800" dirty="0"/>
              <a:t>应用层 </a:t>
            </a:r>
            <a:r>
              <a:rPr lang="en-US" altLang="zh-CN" sz="2800" dirty="0"/>
              <a:t>(application layer) </a:t>
            </a:r>
          </a:p>
          <a:p>
            <a:pPr>
              <a:lnSpc>
                <a:spcPct val="125000"/>
              </a:lnSpc>
            </a:pPr>
            <a:r>
              <a:rPr lang="zh-CN" altLang="en-US" sz="2800" dirty="0"/>
              <a:t>运输层 </a:t>
            </a:r>
            <a:r>
              <a:rPr lang="en-US" altLang="zh-CN" sz="2800" dirty="0"/>
              <a:t>(transport layer) </a:t>
            </a:r>
          </a:p>
          <a:p>
            <a:pPr>
              <a:lnSpc>
                <a:spcPct val="125000"/>
              </a:lnSpc>
            </a:pPr>
            <a:r>
              <a:rPr lang="zh-CN" altLang="en-US" sz="2800" dirty="0"/>
              <a:t>网络层 </a:t>
            </a:r>
            <a:r>
              <a:rPr lang="en-US" altLang="zh-CN" sz="2800" dirty="0"/>
              <a:t>(network layer) </a:t>
            </a:r>
          </a:p>
          <a:p>
            <a:pPr>
              <a:lnSpc>
                <a:spcPct val="125000"/>
              </a:lnSpc>
            </a:pPr>
            <a:r>
              <a:rPr lang="zh-CN" altLang="en-US" sz="2800" dirty="0"/>
              <a:t>数据链路层 </a:t>
            </a:r>
            <a:r>
              <a:rPr lang="en-US" altLang="zh-CN" sz="2800" dirty="0"/>
              <a:t>(data link layer) </a:t>
            </a:r>
          </a:p>
          <a:p>
            <a:pPr>
              <a:lnSpc>
                <a:spcPct val="125000"/>
              </a:lnSpc>
            </a:pPr>
            <a:r>
              <a:rPr lang="zh-CN" altLang="en-US" sz="2800" dirty="0"/>
              <a:t>物理层 </a:t>
            </a:r>
            <a:r>
              <a:rPr lang="en-US" altLang="zh-CN" sz="2800" dirty="0"/>
              <a:t>(physical layer) </a:t>
            </a:r>
          </a:p>
        </p:txBody>
      </p:sp>
      <p:sp>
        <p:nvSpPr>
          <p:cNvPr id="114692" name="Text Box 4"/>
          <p:cNvSpPr txBox="1">
            <a:spLocks noChangeArrowheads="1"/>
          </p:cNvSpPr>
          <p:nvPr/>
        </p:nvSpPr>
        <p:spPr bwMode="auto">
          <a:xfrm>
            <a:off x="1429147" y="37417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solidFill>
                  <a:srgbClr val="000099"/>
                </a:solidFill>
                <a:latin typeface="+mn-lt"/>
                <a:ea typeface="黑体" panose="02010609060101010101" pitchFamily="2" charset="-122"/>
              </a:rPr>
              <a:t>数据链路层</a:t>
            </a:r>
          </a:p>
        </p:txBody>
      </p:sp>
      <p:grpSp>
        <p:nvGrpSpPr>
          <p:cNvPr id="114693" name="Group 5"/>
          <p:cNvGrpSpPr/>
          <p:nvPr/>
        </p:nvGrpSpPr>
        <p:grpSpPr bwMode="auto">
          <a:xfrm>
            <a:off x="1157421" y="1628800"/>
            <a:ext cx="2079228" cy="3240087"/>
            <a:chOff x="673" y="1389"/>
            <a:chExt cx="1535" cy="2041"/>
          </a:xfrm>
        </p:grpSpPr>
        <p:sp>
          <p:nvSpPr>
            <p:cNvPr id="114694"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4695" name="Freeform 7"/>
            <p:cNvSpPr/>
            <p:nvPr/>
          </p:nvSpPr>
          <p:spPr bwMode="auto">
            <a:xfrm>
              <a:off x="673" y="292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4696" name="Freeform 8"/>
            <p:cNvSpPr/>
            <p:nvPr/>
          </p:nvSpPr>
          <p:spPr bwMode="auto">
            <a:xfrm>
              <a:off x="673" y="253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4697" name="Freeform 9"/>
            <p:cNvSpPr/>
            <p:nvPr/>
          </p:nvSpPr>
          <p:spPr bwMode="auto">
            <a:xfrm>
              <a:off x="673" y="2147"/>
              <a:ext cx="1535"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114698" name="Freeform 10"/>
            <p:cNvSpPr/>
            <p:nvPr/>
          </p:nvSpPr>
          <p:spPr bwMode="auto">
            <a:xfrm>
              <a:off x="673" y="1765"/>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grpSp>
      <p:sp>
        <p:nvSpPr>
          <p:cNvPr id="114699" name="Text Box 11"/>
          <p:cNvSpPr txBox="1">
            <a:spLocks noChangeArrowheads="1"/>
          </p:cNvSpPr>
          <p:nvPr/>
        </p:nvSpPr>
        <p:spPr bwMode="auto">
          <a:xfrm>
            <a:off x="815181" y="1916137"/>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5        </a:t>
            </a:r>
            <a:r>
              <a:rPr kumimoji="1" lang="zh-CN" altLang="en-US" sz="2000" b="1">
                <a:solidFill>
                  <a:srgbClr val="000099"/>
                </a:solidFill>
                <a:latin typeface="+mn-lt"/>
                <a:ea typeface="黑体" panose="02010609060101010101" pitchFamily="2" charset="-122"/>
              </a:rPr>
              <a:t>应用层</a:t>
            </a:r>
          </a:p>
        </p:txBody>
      </p:sp>
      <p:sp>
        <p:nvSpPr>
          <p:cNvPr id="114700" name="Text Box 12"/>
          <p:cNvSpPr txBox="1">
            <a:spLocks noChangeArrowheads="1"/>
          </p:cNvSpPr>
          <p:nvPr/>
        </p:nvSpPr>
        <p:spPr bwMode="auto">
          <a:xfrm>
            <a:off x="815181" y="2527325"/>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anose="02010609060101010101" pitchFamily="2" charset="-122"/>
              </a:rPr>
              <a:t>4        </a:t>
            </a:r>
            <a:r>
              <a:rPr kumimoji="1" lang="zh-CN" altLang="en-US" sz="2000" b="1">
                <a:solidFill>
                  <a:srgbClr val="000099"/>
                </a:solidFill>
                <a:latin typeface="+mn-lt"/>
                <a:ea typeface="黑体" panose="02010609060101010101" pitchFamily="2" charset="-122"/>
              </a:rPr>
              <a:t>运输层</a:t>
            </a:r>
          </a:p>
        </p:txBody>
      </p:sp>
      <p:sp>
        <p:nvSpPr>
          <p:cNvPr id="114701" name="Text Box 13"/>
          <p:cNvSpPr txBox="1">
            <a:spLocks noChangeArrowheads="1"/>
          </p:cNvSpPr>
          <p:nvPr/>
        </p:nvSpPr>
        <p:spPr bwMode="auto">
          <a:xfrm>
            <a:off x="815181" y="3140099"/>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anose="02010609060101010101" pitchFamily="2" charset="-122"/>
              </a:rPr>
              <a:t>3        </a:t>
            </a:r>
            <a:r>
              <a:rPr kumimoji="1" lang="zh-CN" altLang="en-US" sz="2000" b="1" dirty="0">
                <a:solidFill>
                  <a:srgbClr val="000099"/>
                </a:solidFill>
                <a:latin typeface="+mn-lt"/>
                <a:ea typeface="黑体" panose="02010609060101010101" pitchFamily="2" charset="-122"/>
              </a:rPr>
              <a:t>网络层</a:t>
            </a:r>
          </a:p>
        </p:txBody>
      </p:sp>
      <p:sp>
        <p:nvSpPr>
          <p:cNvPr id="114702" name="Text Box 14"/>
          <p:cNvSpPr txBox="1">
            <a:spLocks noChangeArrowheads="1"/>
          </p:cNvSpPr>
          <p:nvPr/>
        </p:nvSpPr>
        <p:spPr bwMode="auto">
          <a:xfrm>
            <a:off x="815181" y="3752875"/>
            <a:ext cx="189987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anose="02010609060101010101" pitchFamily="2" charset="-122"/>
              </a:rPr>
              <a:t>2    </a:t>
            </a:r>
            <a:r>
              <a:rPr kumimoji="1" lang="zh-CN" altLang="en-US" sz="2000" b="1" dirty="0">
                <a:solidFill>
                  <a:srgbClr val="000099"/>
                </a:solidFill>
                <a:latin typeface="+mn-lt"/>
                <a:ea typeface="黑体" panose="02010609060101010101" pitchFamily="2" charset="-122"/>
              </a:rPr>
              <a:t>数据链路层</a:t>
            </a:r>
          </a:p>
        </p:txBody>
      </p:sp>
      <p:sp>
        <p:nvSpPr>
          <p:cNvPr id="114703" name="Text Box 15"/>
          <p:cNvSpPr txBox="1">
            <a:spLocks noChangeArrowheads="1"/>
          </p:cNvSpPr>
          <p:nvPr/>
        </p:nvSpPr>
        <p:spPr bwMode="auto">
          <a:xfrm>
            <a:off x="815181" y="4365650"/>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anose="02010609060101010101" pitchFamily="2" charset="-122"/>
              </a:rPr>
              <a:t>1        </a:t>
            </a:r>
            <a:r>
              <a:rPr kumimoji="1" lang="zh-CN" altLang="en-US" sz="2000" b="1" dirty="0">
                <a:solidFill>
                  <a:srgbClr val="000099"/>
                </a:solidFill>
                <a:latin typeface="+mn-lt"/>
                <a:ea typeface="黑体" panose="02010609060101010101" pitchFamily="2" charset="-122"/>
              </a:rPr>
              <a:t>物理层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469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4691">
                                            <p:txEl>
                                              <p:pRg st="1" end="1"/>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1470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4691">
                                            <p:txEl>
                                              <p:pRg st="2" end="2"/>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1470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4691">
                                            <p:txEl>
                                              <p:pRg st="3" end="3"/>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147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691">
                                            <p:txEl>
                                              <p:pRg st="4" end="4"/>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P spid="114699" grpId="0"/>
      <p:bldP spid="114700" grpId="0"/>
      <p:bldP spid="114701" grpId="0"/>
      <p:bldP spid="114702" grpId="0"/>
      <p:bldP spid="114703"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15715" name="AutoShape 3"/>
          <p:cNvSpPr>
            <a:spLocks noChangeArrowheads="1"/>
          </p:cNvSpPr>
          <p:nvPr/>
        </p:nvSpPr>
        <p:spPr bwMode="auto">
          <a:xfrm rot="-5400000">
            <a:off x="4756283" y="870050"/>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16" name="AutoShape 4"/>
          <p:cNvSpPr>
            <a:spLocks noChangeArrowheads="1"/>
          </p:cNvSpPr>
          <p:nvPr/>
        </p:nvSpPr>
        <p:spPr bwMode="auto">
          <a:xfrm>
            <a:off x="577850" y="2559943"/>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17" name="Text Box 5"/>
          <p:cNvSpPr txBox="1">
            <a:spLocks noChangeArrowheads="1"/>
          </p:cNvSpPr>
          <p:nvPr/>
        </p:nvSpPr>
        <p:spPr bwMode="auto">
          <a:xfrm>
            <a:off x="1064568" y="273933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5718" name="Text Box 6"/>
          <p:cNvSpPr txBox="1">
            <a:spLocks noChangeArrowheads="1"/>
          </p:cNvSpPr>
          <p:nvPr/>
        </p:nvSpPr>
        <p:spPr bwMode="auto">
          <a:xfrm>
            <a:off x="1064568" y="336639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5719" name="Text Box 7"/>
          <p:cNvSpPr txBox="1">
            <a:spLocks noChangeArrowheads="1"/>
          </p:cNvSpPr>
          <p:nvPr/>
        </p:nvSpPr>
        <p:spPr bwMode="auto">
          <a:xfrm>
            <a:off x="1064568" y="39236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5720" name="Text Box 8"/>
          <p:cNvSpPr txBox="1">
            <a:spLocks noChangeArrowheads="1"/>
          </p:cNvSpPr>
          <p:nvPr/>
        </p:nvSpPr>
        <p:spPr bwMode="auto">
          <a:xfrm>
            <a:off x="1064568" y="44824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5721" name="Text Box 9"/>
          <p:cNvSpPr txBox="1">
            <a:spLocks noChangeArrowheads="1"/>
          </p:cNvSpPr>
          <p:nvPr/>
        </p:nvSpPr>
        <p:spPr bwMode="auto">
          <a:xfrm>
            <a:off x="1064568" y="504914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5722" name="Freeform 10"/>
          <p:cNvSpPr/>
          <p:nvPr/>
        </p:nvSpPr>
        <p:spPr bwMode="auto">
          <a:xfrm>
            <a:off x="577850" y="3161606"/>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23" name="Freeform 11"/>
          <p:cNvSpPr/>
          <p:nvPr/>
        </p:nvSpPr>
        <p:spPr bwMode="auto">
          <a:xfrm>
            <a:off x="588169" y="3736281"/>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24" name="Freeform 12"/>
          <p:cNvSpPr/>
          <p:nvPr/>
        </p:nvSpPr>
        <p:spPr bwMode="auto">
          <a:xfrm>
            <a:off x="564092" y="4312544"/>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25" name="Freeform 13"/>
          <p:cNvSpPr/>
          <p:nvPr/>
        </p:nvSpPr>
        <p:spPr bwMode="auto">
          <a:xfrm>
            <a:off x="564092" y="4904682"/>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26" name="AutoShape 14"/>
          <p:cNvSpPr>
            <a:spLocks noChangeArrowheads="1"/>
          </p:cNvSpPr>
          <p:nvPr/>
        </p:nvSpPr>
        <p:spPr bwMode="auto">
          <a:xfrm>
            <a:off x="8543925" y="2526607"/>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27" name="Text Box 15"/>
          <p:cNvSpPr txBox="1">
            <a:spLocks noChangeArrowheads="1"/>
          </p:cNvSpPr>
          <p:nvPr/>
        </p:nvSpPr>
        <p:spPr bwMode="auto">
          <a:xfrm>
            <a:off x="8585200" y="27044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5728" name="Text Box 16"/>
          <p:cNvSpPr txBox="1">
            <a:spLocks noChangeArrowheads="1"/>
          </p:cNvSpPr>
          <p:nvPr/>
        </p:nvSpPr>
        <p:spPr bwMode="auto">
          <a:xfrm>
            <a:off x="8585200" y="333146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5729" name="Text Box 17"/>
          <p:cNvSpPr txBox="1">
            <a:spLocks noChangeArrowheads="1"/>
          </p:cNvSpPr>
          <p:nvPr/>
        </p:nvSpPr>
        <p:spPr bwMode="auto">
          <a:xfrm>
            <a:off x="8585200" y="388868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5730" name="Text Box 18"/>
          <p:cNvSpPr txBox="1">
            <a:spLocks noChangeArrowheads="1"/>
          </p:cNvSpPr>
          <p:nvPr/>
        </p:nvSpPr>
        <p:spPr bwMode="auto">
          <a:xfrm>
            <a:off x="8585200" y="444906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5731" name="Text Box 19"/>
          <p:cNvSpPr txBox="1">
            <a:spLocks noChangeArrowheads="1"/>
          </p:cNvSpPr>
          <p:nvPr/>
        </p:nvSpPr>
        <p:spPr bwMode="auto">
          <a:xfrm>
            <a:off x="8585200" y="501421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5732" name="Freeform 20"/>
          <p:cNvSpPr/>
          <p:nvPr/>
        </p:nvSpPr>
        <p:spPr bwMode="auto">
          <a:xfrm>
            <a:off x="8543925" y="3126681"/>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33" name="Freeform 21"/>
          <p:cNvSpPr/>
          <p:nvPr/>
        </p:nvSpPr>
        <p:spPr bwMode="auto">
          <a:xfrm>
            <a:off x="8554244" y="3701356"/>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34" name="Freeform 22"/>
          <p:cNvSpPr/>
          <p:nvPr/>
        </p:nvSpPr>
        <p:spPr bwMode="auto">
          <a:xfrm>
            <a:off x="8530167" y="4277619"/>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35" name="Freeform 23"/>
          <p:cNvSpPr/>
          <p:nvPr/>
        </p:nvSpPr>
        <p:spPr bwMode="auto">
          <a:xfrm>
            <a:off x="8530167" y="4869757"/>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36"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C00000"/>
                </a:solidFill>
                <a:ea typeface="黑体" panose="02010609060101010101" pitchFamily="2" charset="-122"/>
              </a:rPr>
              <a:t>主机</a:t>
            </a:r>
            <a:r>
              <a:rPr kumimoji="1" lang="zh-CN" altLang="en-US" sz="1050" b="1" dirty="0">
                <a:solidFill>
                  <a:srgbClr val="C00000"/>
                </a:solidFill>
                <a:ea typeface="黑体" panose="02010609060101010101" pitchFamily="2" charset="-122"/>
              </a:rPr>
              <a:t> </a:t>
            </a:r>
            <a:r>
              <a:rPr kumimoji="1" lang="en-US" altLang="zh-CN" sz="2400" b="1" dirty="0">
                <a:solidFill>
                  <a:srgbClr val="C00000"/>
                </a:solidFill>
                <a:ea typeface="黑体" panose="02010609060101010101" pitchFamily="2" charset="-122"/>
              </a:rPr>
              <a:t>1</a:t>
            </a:r>
          </a:p>
        </p:txBody>
      </p:sp>
      <p:sp>
        <p:nvSpPr>
          <p:cNvPr id="115737" name="AutoShape 25"/>
          <p:cNvSpPr>
            <a:spLocks noChangeArrowheads="1"/>
          </p:cNvSpPr>
          <p:nvPr/>
        </p:nvSpPr>
        <p:spPr bwMode="auto">
          <a:xfrm>
            <a:off x="8703866" y="2029719"/>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38" name="Text Box 26"/>
          <p:cNvSpPr txBox="1">
            <a:spLocks noChangeArrowheads="1"/>
          </p:cNvSpPr>
          <p:nvPr/>
        </p:nvSpPr>
        <p:spPr bwMode="auto">
          <a:xfrm>
            <a:off x="8696987" y="2134494"/>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15739" name="AutoShape 27"/>
          <p:cNvSpPr>
            <a:spLocks noChangeArrowheads="1"/>
          </p:cNvSpPr>
          <p:nvPr/>
        </p:nvSpPr>
        <p:spPr bwMode="auto">
          <a:xfrm>
            <a:off x="583010" y="2072581"/>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5740" name="Text Box 28"/>
          <p:cNvSpPr txBox="1">
            <a:spLocks noChangeArrowheads="1"/>
          </p:cNvSpPr>
          <p:nvPr/>
        </p:nvSpPr>
        <p:spPr bwMode="auto">
          <a:xfrm>
            <a:off x="605367" y="2193232"/>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5741" name="AutoShape 29"/>
          <p:cNvSpPr>
            <a:spLocks noChangeArrowheads="1"/>
          </p:cNvSpPr>
          <p:nvPr/>
        </p:nvSpPr>
        <p:spPr bwMode="auto">
          <a:xfrm flipV="1">
            <a:off x="708554" y="2547243"/>
            <a:ext cx="213254" cy="361950"/>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15742" name="Text Box 30"/>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15743" name="Text Box 31"/>
          <p:cNvSpPr txBox="1">
            <a:spLocks noChangeArrowheads="1"/>
          </p:cNvSpPr>
          <p:nvPr/>
        </p:nvSpPr>
        <p:spPr bwMode="auto">
          <a:xfrm>
            <a:off x="1754187" y="2061468"/>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333399"/>
                </a:solidFill>
                <a:ea typeface="黑体" panose="02010609060101010101" pitchFamily="2" charset="-122"/>
              </a:rPr>
              <a:t>应用进程数据先传送到应用层</a:t>
            </a:r>
          </a:p>
        </p:txBody>
      </p:sp>
      <p:sp>
        <p:nvSpPr>
          <p:cNvPr id="115744" name="Text Box 32"/>
          <p:cNvSpPr txBox="1">
            <a:spLocks noChangeArrowheads="1"/>
          </p:cNvSpPr>
          <p:nvPr/>
        </p:nvSpPr>
        <p:spPr bwMode="auto">
          <a:xfrm>
            <a:off x="1754188" y="2631381"/>
            <a:ext cx="49423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333399"/>
                </a:solidFill>
                <a:ea typeface="黑体" panose="02010609060101010101" pitchFamily="2" charset="-122"/>
              </a:rPr>
              <a:t>加上应用层首部，成为应用层 </a:t>
            </a:r>
            <a:r>
              <a:rPr kumimoji="1" lang="en-US" altLang="zh-CN" sz="2400" b="1" dirty="0">
                <a:solidFill>
                  <a:srgbClr val="333399"/>
                </a:solidFill>
                <a:ea typeface="黑体" panose="02010609060101010101" pitchFamily="2" charset="-122"/>
              </a:rPr>
              <a:t>PDU</a:t>
            </a:r>
          </a:p>
        </p:txBody>
      </p:sp>
      <p:sp>
        <p:nvSpPr>
          <p:cNvPr id="2" name="矩形 1"/>
          <p:cNvSpPr/>
          <p:nvPr/>
        </p:nvSpPr>
        <p:spPr>
          <a:xfrm>
            <a:off x="1784648" y="3125984"/>
            <a:ext cx="6336704" cy="1311128"/>
          </a:xfrm>
          <a:prstGeom prst="rect">
            <a:avLst/>
          </a:prstGeom>
          <a:solidFill>
            <a:srgbClr val="CCFFFF"/>
          </a:solidFill>
          <a:ln>
            <a:solidFill>
              <a:srgbClr val="000099"/>
            </a:solidFill>
          </a:ln>
        </p:spPr>
        <p:txBody>
          <a:bodyPr wrap="square">
            <a:spAutoFit/>
          </a:bodyPr>
          <a:lstStyle/>
          <a:p>
            <a:pPr>
              <a:lnSpc>
                <a:spcPct val="110000"/>
              </a:lnSpc>
            </a:pPr>
            <a:r>
              <a:rPr kumimoji="1" lang="en-US" altLang="zh-CN" sz="2400" b="1" dirty="0">
                <a:solidFill>
                  <a:srgbClr val="000099"/>
                </a:solidFill>
                <a:ea typeface="黑体" panose="02010609060101010101" pitchFamily="2" charset="-122"/>
              </a:rPr>
              <a:t>PDU (Protocol Data Unit)</a:t>
            </a:r>
            <a:r>
              <a:rPr kumimoji="1" lang="zh-CN" altLang="en-US" sz="2400" b="1" dirty="0">
                <a:solidFill>
                  <a:srgbClr val="000099"/>
                </a:solidFill>
                <a:ea typeface="黑体" panose="02010609060101010101" pitchFamily="2" charset="-122"/>
              </a:rPr>
              <a:t>：协议数据单元。</a:t>
            </a:r>
            <a:endParaRPr kumimoji="1" lang="en-US" altLang="zh-CN" sz="2400" b="1" dirty="0">
              <a:solidFill>
                <a:srgbClr val="000099"/>
              </a:solidFill>
              <a:ea typeface="黑体" panose="02010609060101010101" pitchFamily="2" charset="-122"/>
            </a:endParaRPr>
          </a:p>
          <a:p>
            <a:pPr>
              <a:lnSpc>
                <a:spcPct val="110000"/>
              </a:lnSpc>
            </a:pPr>
            <a:r>
              <a:rPr kumimoji="1" lang="en-US" altLang="zh-CN" sz="2400" b="1" dirty="0">
                <a:solidFill>
                  <a:srgbClr val="000099"/>
                </a:solidFill>
                <a:ea typeface="黑体" panose="02010609060101010101" pitchFamily="2" charset="-122"/>
              </a:rPr>
              <a:t>OSI </a:t>
            </a:r>
            <a:r>
              <a:rPr kumimoji="1" lang="zh-CN" altLang="zh-CN" sz="2400" b="1" dirty="0">
                <a:solidFill>
                  <a:srgbClr val="000099"/>
                </a:solidFill>
                <a:ea typeface="黑体" panose="02010609060101010101" pitchFamily="2" charset="-122"/>
              </a:rPr>
              <a:t>参考模型把</a:t>
            </a:r>
            <a:r>
              <a:rPr kumimoji="1" lang="zh-CN" altLang="zh-CN" sz="2400" b="1" dirty="0">
                <a:solidFill>
                  <a:srgbClr val="C00000"/>
                </a:solidFill>
                <a:ea typeface="黑体" panose="02010609060101010101" pitchFamily="2" charset="-122"/>
              </a:rPr>
              <a:t>对等层次</a:t>
            </a:r>
            <a:r>
              <a:rPr kumimoji="1" lang="zh-CN" altLang="zh-CN" sz="2400" b="1" dirty="0">
                <a:solidFill>
                  <a:srgbClr val="000099"/>
                </a:solidFill>
                <a:ea typeface="黑体" panose="02010609060101010101" pitchFamily="2" charset="-122"/>
              </a:rPr>
              <a:t>之间传送的数据单位称为该层的协议数据单元</a:t>
            </a:r>
            <a:r>
              <a:rPr kumimoji="1" lang="en-US" altLang="zh-CN" sz="2400" b="1" dirty="0">
                <a:solidFill>
                  <a:srgbClr val="000099"/>
                </a:solidFill>
                <a:ea typeface="黑体" panose="02010609060101010101" pitchFamily="2" charset="-122"/>
              </a:rPr>
              <a:t> PDU</a:t>
            </a:r>
            <a:r>
              <a:rPr kumimoji="1" lang="zh-CN" altLang="en-US" sz="2400" b="1" dirty="0">
                <a:solidFill>
                  <a:srgbClr val="000099"/>
                </a:solidFill>
                <a:ea typeface="黑体" panose="02010609060101010101" pitchFamily="2" charset="-122"/>
              </a:rPr>
              <a:t>。</a:t>
            </a:r>
            <a:endParaRPr kumimoji="1" lang="en-US" altLang="zh-CN" sz="2400" b="1" dirty="0">
              <a:solidFill>
                <a:srgbClr val="000099"/>
              </a:solidFill>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P spid="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16739" name="AutoShape 3"/>
          <p:cNvSpPr>
            <a:spLocks noChangeArrowheads="1"/>
          </p:cNvSpPr>
          <p:nvPr/>
        </p:nvSpPr>
        <p:spPr bwMode="auto">
          <a:xfrm rot="-5400000">
            <a:off x="4756283" y="870050"/>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40" name="AutoShape 4"/>
          <p:cNvSpPr>
            <a:spLocks noChangeArrowheads="1"/>
          </p:cNvSpPr>
          <p:nvPr/>
        </p:nvSpPr>
        <p:spPr bwMode="auto">
          <a:xfrm>
            <a:off x="577850" y="2559943"/>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41" name="Text Box 5"/>
          <p:cNvSpPr txBox="1">
            <a:spLocks noChangeArrowheads="1"/>
          </p:cNvSpPr>
          <p:nvPr/>
        </p:nvSpPr>
        <p:spPr bwMode="auto">
          <a:xfrm>
            <a:off x="1025266" y="273933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6742" name="Text Box 6"/>
          <p:cNvSpPr txBox="1">
            <a:spLocks noChangeArrowheads="1"/>
          </p:cNvSpPr>
          <p:nvPr/>
        </p:nvSpPr>
        <p:spPr bwMode="auto">
          <a:xfrm>
            <a:off x="1025266" y="336639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6743" name="Text Box 7"/>
          <p:cNvSpPr txBox="1">
            <a:spLocks noChangeArrowheads="1"/>
          </p:cNvSpPr>
          <p:nvPr/>
        </p:nvSpPr>
        <p:spPr bwMode="auto">
          <a:xfrm>
            <a:off x="1025266" y="39236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6744" name="Text Box 8"/>
          <p:cNvSpPr txBox="1">
            <a:spLocks noChangeArrowheads="1"/>
          </p:cNvSpPr>
          <p:nvPr/>
        </p:nvSpPr>
        <p:spPr bwMode="auto">
          <a:xfrm>
            <a:off x="1025266" y="44824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6745" name="Text Box 9"/>
          <p:cNvSpPr txBox="1">
            <a:spLocks noChangeArrowheads="1"/>
          </p:cNvSpPr>
          <p:nvPr/>
        </p:nvSpPr>
        <p:spPr bwMode="auto">
          <a:xfrm>
            <a:off x="1025266" y="504914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6746" name="Freeform 10"/>
          <p:cNvSpPr/>
          <p:nvPr/>
        </p:nvSpPr>
        <p:spPr bwMode="auto">
          <a:xfrm>
            <a:off x="577850" y="3161606"/>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47" name="Freeform 11"/>
          <p:cNvSpPr/>
          <p:nvPr/>
        </p:nvSpPr>
        <p:spPr bwMode="auto">
          <a:xfrm>
            <a:off x="588169" y="3736281"/>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48" name="Freeform 12"/>
          <p:cNvSpPr/>
          <p:nvPr/>
        </p:nvSpPr>
        <p:spPr bwMode="auto">
          <a:xfrm>
            <a:off x="564092" y="4312544"/>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49" name="Freeform 13"/>
          <p:cNvSpPr/>
          <p:nvPr/>
        </p:nvSpPr>
        <p:spPr bwMode="auto">
          <a:xfrm>
            <a:off x="564092" y="4904682"/>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50" name="AutoShape 14"/>
          <p:cNvSpPr>
            <a:spLocks noChangeArrowheads="1"/>
          </p:cNvSpPr>
          <p:nvPr/>
        </p:nvSpPr>
        <p:spPr bwMode="auto">
          <a:xfrm>
            <a:off x="8543925" y="2526607"/>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51" name="Text Box 15"/>
          <p:cNvSpPr txBox="1">
            <a:spLocks noChangeArrowheads="1"/>
          </p:cNvSpPr>
          <p:nvPr/>
        </p:nvSpPr>
        <p:spPr bwMode="auto">
          <a:xfrm>
            <a:off x="8585200" y="27044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6752" name="Text Box 16"/>
          <p:cNvSpPr txBox="1">
            <a:spLocks noChangeArrowheads="1"/>
          </p:cNvSpPr>
          <p:nvPr/>
        </p:nvSpPr>
        <p:spPr bwMode="auto">
          <a:xfrm>
            <a:off x="8585200" y="333146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6753" name="Text Box 17"/>
          <p:cNvSpPr txBox="1">
            <a:spLocks noChangeArrowheads="1"/>
          </p:cNvSpPr>
          <p:nvPr/>
        </p:nvSpPr>
        <p:spPr bwMode="auto">
          <a:xfrm>
            <a:off x="8585200" y="388868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6754" name="Text Box 18"/>
          <p:cNvSpPr txBox="1">
            <a:spLocks noChangeArrowheads="1"/>
          </p:cNvSpPr>
          <p:nvPr/>
        </p:nvSpPr>
        <p:spPr bwMode="auto">
          <a:xfrm>
            <a:off x="8585200" y="444906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6755" name="Text Box 19"/>
          <p:cNvSpPr txBox="1">
            <a:spLocks noChangeArrowheads="1"/>
          </p:cNvSpPr>
          <p:nvPr/>
        </p:nvSpPr>
        <p:spPr bwMode="auto">
          <a:xfrm>
            <a:off x="8585200" y="501421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6756" name="Freeform 20"/>
          <p:cNvSpPr/>
          <p:nvPr/>
        </p:nvSpPr>
        <p:spPr bwMode="auto">
          <a:xfrm>
            <a:off x="8543925" y="3126681"/>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57" name="Freeform 21"/>
          <p:cNvSpPr/>
          <p:nvPr/>
        </p:nvSpPr>
        <p:spPr bwMode="auto">
          <a:xfrm>
            <a:off x="8554244" y="3701356"/>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58" name="Freeform 22"/>
          <p:cNvSpPr/>
          <p:nvPr/>
        </p:nvSpPr>
        <p:spPr bwMode="auto">
          <a:xfrm>
            <a:off x="8530167" y="4277619"/>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59" name="Freeform 23"/>
          <p:cNvSpPr/>
          <p:nvPr/>
        </p:nvSpPr>
        <p:spPr bwMode="auto">
          <a:xfrm>
            <a:off x="8530167" y="4869757"/>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60"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C00000"/>
                </a:solidFill>
                <a:ea typeface="黑体" panose="02010609060101010101" pitchFamily="2" charset="-122"/>
              </a:rPr>
              <a:t>主机</a:t>
            </a:r>
            <a:r>
              <a:rPr kumimoji="1" lang="zh-CN" altLang="en-US" sz="1050" b="1" dirty="0">
                <a:solidFill>
                  <a:srgbClr val="C00000"/>
                </a:solidFill>
                <a:ea typeface="黑体" panose="02010609060101010101" pitchFamily="2" charset="-122"/>
              </a:rPr>
              <a:t> </a:t>
            </a:r>
            <a:r>
              <a:rPr kumimoji="1" lang="en-US" altLang="zh-CN" sz="2400" b="1" dirty="0">
                <a:solidFill>
                  <a:srgbClr val="C00000"/>
                </a:solidFill>
                <a:ea typeface="黑体" panose="02010609060101010101" pitchFamily="2" charset="-122"/>
              </a:rPr>
              <a:t>1</a:t>
            </a:r>
          </a:p>
        </p:txBody>
      </p:sp>
      <p:sp>
        <p:nvSpPr>
          <p:cNvPr id="116761" name="AutoShape 25"/>
          <p:cNvSpPr>
            <a:spLocks noChangeArrowheads="1"/>
          </p:cNvSpPr>
          <p:nvPr/>
        </p:nvSpPr>
        <p:spPr bwMode="auto">
          <a:xfrm>
            <a:off x="8703866" y="2029719"/>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62" name="Text Box 26"/>
          <p:cNvSpPr txBox="1">
            <a:spLocks noChangeArrowheads="1"/>
          </p:cNvSpPr>
          <p:nvPr/>
        </p:nvSpPr>
        <p:spPr bwMode="auto">
          <a:xfrm>
            <a:off x="8696987" y="2134494"/>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16763" name="AutoShape 27"/>
          <p:cNvSpPr>
            <a:spLocks noChangeArrowheads="1"/>
          </p:cNvSpPr>
          <p:nvPr/>
        </p:nvSpPr>
        <p:spPr bwMode="auto">
          <a:xfrm>
            <a:off x="583010" y="2072581"/>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6764" name="Text Box 28"/>
          <p:cNvSpPr txBox="1">
            <a:spLocks noChangeArrowheads="1"/>
          </p:cNvSpPr>
          <p:nvPr/>
        </p:nvSpPr>
        <p:spPr bwMode="auto">
          <a:xfrm>
            <a:off x="605367" y="2193232"/>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6765" name="AutoShape 29"/>
          <p:cNvSpPr>
            <a:spLocks noChangeArrowheads="1"/>
          </p:cNvSpPr>
          <p:nvPr/>
        </p:nvSpPr>
        <p:spPr bwMode="auto">
          <a:xfrm flipV="1">
            <a:off x="708554" y="3066356"/>
            <a:ext cx="213254" cy="361950"/>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16766" name="Text Box 30"/>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16767" name="Text Box 31"/>
          <p:cNvSpPr txBox="1">
            <a:spLocks noChangeArrowheads="1"/>
          </p:cNvSpPr>
          <p:nvPr/>
        </p:nvSpPr>
        <p:spPr bwMode="auto">
          <a:xfrm>
            <a:off x="1754188" y="2780606"/>
            <a:ext cx="40831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333399"/>
                </a:solidFill>
                <a:ea typeface="黑体" panose="02010609060101010101" pitchFamily="2" charset="-122"/>
              </a:rPr>
              <a:t>应用层 </a:t>
            </a:r>
            <a:r>
              <a:rPr kumimoji="1" lang="en-US" altLang="zh-CN" sz="2400" b="1" dirty="0">
                <a:solidFill>
                  <a:srgbClr val="333399"/>
                </a:solidFill>
                <a:ea typeface="黑体" panose="02010609060101010101" pitchFamily="2" charset="-122"/>
              </a:rPr>
              <a:t>PDU </a:t>
            </a:r>
            <a:r>
              <a:rPr kumimoji="1" lang="zh-CN" altLang="en-US" sz="2400" b="1" dirty="0">
                <a:solidFill>
                  <a:srgbClr val="333399"/>
                </a:solidFill>
                <a:ea typeface="黑体" panose="02010609060101010101" pitchFamily="2" charset="-122"/>
              </a:rPr>
              <a:t>再传送到运输层</a:t>
            </a:r>
          </a:p>
        </p:txBody>
      </p:sp>
      <p:sp>
        <p:nvSpPr>
          <p:cNvPr id="116768" name="Text Box 32"/>
          <p:cNvSpPr txBox="1">
            <a:spLocks noChangeArrowheads="1"/>
          </p:cNvSpPr>
          <p:nvPr/>
        </p:nvSpPr>
        <p:spPr bwMode="auto">
          <a:xfrm>
            <a:off x="1754187" y="3312418"/>
            <a:ext cx="48013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加上运输层首部，成为运输层报文</a:t>
            </a:r>
            <a:endParaRPr kumimoji="1" lang="zh-CN" altLang="en-US" sz="3600" b="1">
              <a:solidFill>
                <a:srgbClr val="333399"/>
              </a:solidFill>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17763" name="AutoShape 3"/>
          <p:cNvSpPr>
            <a:spLocks noChangeArrowheads="1"/>
          </p:cNvSpPr>
          <p:nvPr/>
        </p:nvSpPr>
        <p:spPr bwMode="auto">
          <a:xfrm rot="-5400000">
            <a:off x="4756283" y="870050"/>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64" name="AutoShape 4"/>
          <p:cNvSpPr>
            <a:spLocks noChangeArrowheads="1"/>
          </p:cNvSpPr>
          <p:nvPr/>
        </p:nvSpPr>
        <p:spPr bwMode="auto">
          <a:xfrm>
            <a:off x="577850" y="2559943"/>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65" name="Text Box 5"/>
          <p:cNvSpPr txBox="1">
            <a:spLocks noChangeArrowheads="1"/>
          </p:cNvSpPr>
          <p:nvPr/>
        </p:nvSpPr>
        <p:spPr bwMode="auto">
          <a:xfrm>
            <a:off x="1025266" y="273933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dirty="0">
                <a:solidFill>
                  <a:srgbClr val="333399"/>
                </a:solidFill>
              </a:rPr>
              <a:t>5</a:t>
            </a:r>
          </a:p>
        </p:txBody>
      </p:sp>
      <p:sp>
        <p:nvSpPr>
          <p:cNvPr id="117766" name="Text Box 6"/>
          <p:cNvSpPr txBox="1">
            <a:spLocks noChangeArrowheads="1"/>
          </p:cNvSpPr>
          <p:nvPr/>
        </p:nvSpPr>
        <p:spPr bwMode="auto">
          <a:xfrm>
            <a:off x="1025266" y="336639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7767" name="Text Box 7"/>
          <p:cNvSpPr txBox="1">
            <a:spLocks noChangeArrowheads="1"/>
          </p:cNvSpPr>
          <p:nvPr/>
        </p:nvSpPr>
        <p:spPr bwMode="auto">
          <a:xfrm>
            <a:off x="1025266" y="39236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7768" name="Text Box 8"/>
          <p:cNvSpPr txBox="1">
            <a:spLocks noChangeArrowheads="1"/>
          </p:cNvSpPr>
          <p:nvPr/>
        </p:nvSpPr>
        <p:spPr bwMode="auto">
          <a:xfrm>
            <a:off x="1025266" y="44824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7769" name="Text Box 9"/>
          <p:cNvSpPr txBox="1">
            <a:spLocks noChangeArrowheads="1"/>
          </p:cNvSpPr>
          <p:nvPr/>
        </p:nvSpPr>
        <p:spPr bwMode="auto">
          <a:xfrm>
            <a:off x="1025266" y="504914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7770" name="Freeform 10"/>
          <p:cNvSpPr/>
          <p:nvPr/>
        </p:nvSpPr>
        <p:spPr bwMode="auto">
          <a:xfrm>
            <a:off x="577850" y="3161606"/>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71" name="Freeform 11"/>
          <p:cNvSpPr/>
          <p:nvPr/>
        </p:nvSpPr>
        <p:spPr bwMode="auto">
          <a:xfrm>
            <a:off x="588169" y="3736281"/>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72" name="Freeform 12"/>
          <p:cNvSpPr/>
          <p:nvPr/>
        </p:nvSpPr>
        <p:spPr bwMode="auto">
          <a:xfrm>
            <a:off x="564092" y="4312544"/>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73" name="Freeform 13"/>
          <p:cNvSpPr/>
          <p:nvPr/>
        </p:nvSpPr>
        <p:spPr bwMode="auto">
          <a:xfrm>
            <a:off x="564092" y="4904682"/>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74" name="AutoShape 14"/>
          <p:cNvSpPr>
            <a:spLocks noChangeArrowheads="1"/>
          </p:cNvSpPr>
          <p:nvPr/>
        </p:nvSpPr>
        <p:spPr bwMode="auto">
          <a:xfrm>
            <a:off x="8543925" y="2526607"/>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75" name="Text Box 15"/>
          <p:cNvSpPr txBox="1">
            <a:spLocks noChangeArrowheads="1"/>
          </p:cNvSpPr>
          <p:nvPr/>
        </p:nvSpPr>
        <p:spPr bwMode="auto">
          <a:xfrm>
            <a:off x="8585200" y="2704407"/>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7776" name="Text Box 16"/>
          <p:cNvSpPr txBox="1">
            <a:spLocks noChangeArrowheads="1"/>
          </p:cNvSpPr>
          <p:nvPr/>
        </p:nvSpPr>
        <p:spPr bwMode="auto">
          <a:xfrm>
            <a:off x="8585200" y="333146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7777" name="Text Box 17"/>
          <p:cNvSpPr txBox="1">
            <a:spLocks noChangeArrowheads="1"/>
          </p:cNvSpPr>
          <p:nvPr/>
        </p:nvSpPr>
        <p:spPr bwMode="auto">
          <a:xfrm>
            <a:off x="8585200" y="3888682"/>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7778" name="Text Box 18"/>
          <p:cNvSpPr txBox="1">
            <a:spLocks noChangeArrowheads="1"/>
          </p:cNvSpPr>
          <p:nvPr/>
        </p:nvSpPr>
        <p:spPr bwMode="auto">
          <a:xfrm>
            <a:off x="8585200" y="444906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7779" name="Text Box 19"/>
          <p:cNvSpPr txBox="1">
            <a:spLocks noChangeArrowheads="1"/>
          </p:cNvSpPr>
          <p:nvPr/>
        </p:nvSpPr>
        <p:spPr bwMode="auto">
          <a:xfrm>
            <a:off x="8585200" y="501421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7780" name="Freeform 20"/>
          <p:cNvSpPr/>
          <p:nvPr/>
        </p:nvSpPr>
        <p:spPr bwMode="auto">
          <a:xfrm>
            <a:off x="8543925" y="3126681"/>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81" name="Freeform 21"/>
          <p:cNvSpPr/>
          <p:nvPr/>
        </p:nvSpPr>
        <p:spPr bwMode="auto">
          <a:xfrm>
            <a:off x="8554244" y="3701356"/>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82" name="Freeform 22"/>
          <p:cNvSpPr/>
          <p:nvPr/>
        </p:nvSpPr>
        <p:spPr bwMode="auto">
          <a:xfrm>
            <a:off x="8530167" y="4277619"/>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83" name="Freeform 23"/>
          <p:cNvSpPr/>
          <p:nvPr/>
        </p:nvSpPr>
        <p:spPr bwMode="auto">
          <a:xfrm>
            <a:off x="8530167" y="4869757"/>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84"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C00000"/>
                </a:solidFill>
                <a:ea typeface="黑体" panose="02010609060101010101" pitchFamily="2" charset="-122"/>
              </a:rPr>
              <a:t>主机</a:t>
            </a:r>
            <a:r>
              <a:rPr kumimoji="1" lang="zh-CN" altLang="en-US" sz="1050" b="1" dirty="0">
                <a:solidFill>
                  <a:srgbClr val="C00000"/>
                </a:solidFill>
                <a:ea typeface="黑体" panose="02010609060101010101" pitchFamily="2" charset="-122"/>
              </a:rPr>
              <a:t> </a:t>
            </a:r>
            <a:r>
              <a:rPr kumimoji="1" lang="en-US" altLang="zh-CN" sz="2400" b="1" dirty="0">
                <a:solidFill>
                  <a:srgbClr val="C00000"/>
                </a:solidFill>
                <a:ea typeface="黑体" panose="02010609060101010101" pitchFamily="2" charset="-122"/>
              </a:rPr>
              <a:t>1</a:t>
            </a:r>
          </a:p>
        </p:txBody>
      </p:sp>
      <p:sp>
        <p:nvSpPr>
          <p:cNvPr id="117785" name="AutoShape 25"/>
          <p:cNvSpPr>
            <a:spLocks noChangeArrowheads="1"/>
          </p:cNvSpPr>
          <p:nvPr/>
        </p:nvSpPr>
        <p:spPr bwMode="auto">
          <a:xfrm>
            <a:off x="8703866" y="2029719"/>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86" name="Text Box 26"/>
          <p:cNvSpPr txBox="1">
            <a:spLocks noChangeArrowheads="1"/>
          </p:cNvSpPr>
          <p:nvPr/>
        </p:nvSpPr>
        <p:spPr bwMode="auto">
          <a:xfrm>
            <a:off x="8696987" y="2134494"/>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17787" name="AutoShape 27"/>
          <p:cNvSpPr>
            <a:spLocks noChangeArrowheads="1"/>
          </p:cNvSpPr>
          <p:nvPr/>
        </p:nvSpPr>
        <p:spPr bwMode="auto">
          <a:xfrm>
            <a:off x="583010" y="2072581"/>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7788" name="Text Box 28"/>
          <p:cNvSpPr txBox="1">
            <a:spLocks noChangeArrowheads="1"/>
          </p:cNvSpPr>
          <p:nvPr/>
        </p:nvSpPr>
        <p:spPr bwMode="auto">
          <a:xfrm>
            <a:off x="605367" y="2193232"/>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7789" name="AutoShape 29"/>
          <p:cNvSpPr>
            <a:spLocks noChangeArrowheads="1"/>
          </p:cNvSpPr>
          <p:nvPr/>
        </p:nvSpPr>
        <p:spPr bwMode="auto">
          <a:xfrm flipV="1">
            <a:off x="708554" y="3642618"/>
            <a:ext cx="213254" cy="361950"/>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17790" name="Text Box 30"/>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17791" name="Text Box 31"/>
          <p:cNvSpPr txBox="1">
            <a:spLocks noChangeArrowheads="1"/>
          </p:cNvSpPr>
          <p:nvPr/>
        </p:nvSpPr>
        <p:spPr bwMode="auto">
          <a:xfrm>
            <a:off x="1676797" y="3337818"/>
            <a:ext cx="3877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运输层报文再传送到网络层</a:t>
            </a:r>
          </a:p>
        </p:txBody>
      </p:sp>
      <p:sp>
        <p:nvSpPr>
          <p:cNvPr id="117792" name="Text Box 32"/>
          <p:cNvSpPr txBox="1">
            <a:spLocks noChangeArrowheads="1"/>
          </p:cNvSpPr>
          <p:nvPr/>
        </p:nvSpPr>
        <p:spPr bwMode="auto">
          <a:xfrm>
            <a:off x="1676797" y="3933131"/>
            <a:ext cx="61791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加上网络层首部，成为 </a:t>
            </a:r>
            <a:r>
              <a:rPr kumimoji="1" lang="en-US" altLang="zh-CN" sz="2400" b="1">
                <a:solidFill>
                  <a:srgbClr val="333399"/>
                </a:solidFill>
                <a:ea typeface="黑体" panose="02010609060101010101" pitchFamily="2" charset="-122"/>
              </a:rPr>
              <a:t>IP </a:t>
            </a:r>
            <a:r>
              <a:rPr kumimoji="1" lang="zh-CN" altLang="en-US" sz="2400" b="1">
                <a:solidFill>
                  <a:srgbClr val="333399"/>
                </a:solidFill>
                <a:ea typeface="黑体" panose="02010609060101010101" pitchFamily="2" charset="-122"/>
              </a:rPr>
              <a:t>数据报（或分组）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18787"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88"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89"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8790"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8791"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8792"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8793"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8794"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95"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96"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97"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98"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799"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8800"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8801"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8802"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8803"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8804"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805"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806"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807"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808"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18809"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810"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18811"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8812"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8813" name="AutoShape 29"/>
          <p:cNvSpPr>
            <a:spLocks noChangeArrowheads="1"/>
          </p:cNvSpPr>
          <p:nvPr/>
        </p:nvSpPr>
        <p:spPr bwMode="auto">
          <a:xfrm flipV="1">
            <a:off x="708554" y="4234457"/>
            <a:ext cx="213254" cy="361950"/>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18814" name="Text Box 30"/>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18815" name="Text Box 31"/>
          <p:cNvSpPr txBox="1">
            <a:spLocks noChangeArrowheads="1"/>
          </p:cNvSpPr>
          <p:nvPr/>
        </p:nvSpPr>
        <p:spPr bwMode="auto">
          <a:xfrm>
            <a:off x="1754188" y="3923307"/>
            <a:ext cx="42475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400" b="1">
                <a:solidFill>
                  <a:srgbClr val="333399"/>
                </a:solidFill>
                <a:ea typeface="黑体" panose="02010609060101010101" pitchFamily="2" charset="-122"/>
              </a:rPr>
              <a:t>IP </a:t>
            </a:r>
            <a:r>
              <a:rPr kumimoji="1" lang="zh-CN" altLang="en-US" sz="2400" b="1">
                <a:solidFill>
                  <a:srgbClr val="333399"/>
                </a:solidFill>
                <a:ea typeface="黑体" panose="02010609060101010101" pitchFamily="2" charset="-122"/>
              </a:rPr>
              <a:t>数据报再传送到数据链路层</a:t>
            </a:r>
          </a:p>
        </p:txBody>
      </p:sp>
      <p:sp>
        <p:nvSpPr>
          <p:cNvPr id="118816" name="Text Box 32"/>
          <p:cNvSpPr txBox="1">
            <a:spLocks noChangeArrowheads="1"/>
          </p:cNvSpPr>
          <p:nvPr/>
        </p:nvSpPr>
        <p:spPr bwMode="auto">
          <a:xfrm>
            <a:off x="1754187" y="4480519"/>
            <a:ext cx="60324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加上链路层首部和尾部，成为数据链路层帧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algn="ctr"/>
            <a:r>
              <a:rPr lang="zh-CN" altLang="en-US" dirty="0"/>
              <a:t>主机</a:t>
            </a:r>
            <a:r>
              <a:rPr lang="zh-CN" altLang="en-US" sz="2400" dirty="0"/>
              <a:t> </a:t>
            </a:r>
            <a:r>
              <a:rPr lang="en-US" altLang="zh-CN" dirty="0"/>
              <a:t>1</a:t>
            </a:r>
            <a:r>
              <a:rPr lang="en-US" altLang="zh-CN" sz="2400" dirty="0"/>
              <a:t> </a:t>
            </a:r>
            <a:r>
              <a:rPr lang="zh-CN" altLang="en-US" dirty="0"/>
              <a:t>向主机</a:t>
            </a:r>
            <a:r>
              <a:rPr lang="zh-CN" altLang="en-US" sz="2400" dirty="0"/>
              <a:t> </a:t>
            </a:r>
            <a:r>
              <a:rPr lang="en-US" altLang="zh-CN" dirty="0"/>
              <a:t>2</a:t>
            </a:r>
            <a:r>
              <a:rPr lang="en-US" altLang="zh-CN" sz="2400" dirty="0"/>
              <a:t> </a:t>
            </a:r>
            <a:r>
              <a:rPr lang="zh-CN" altLang="en-US" dirty="0"/>
              <a:t>发送数据 </a:t>
            </a:r>
          </a:p>
        </p:txBody>
      </p:sp>
      <p:sp>
        <p:nvSpPr>
          <p:cNvPr id="119811"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12"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13"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9814"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9815"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9816"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9817"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9818"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19"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20"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21"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22"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23"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19824"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19825"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19826"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19827"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19828"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29"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30"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31"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32"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19833"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34"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19835"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19836"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9837" name="AutoShape 29"/>
          <p:cNvSpPr>
            <a:spLocks noChangeArrowheads="1"/>
          </p:cNvSpPr>
          <p:nvPr/>
        </p:nvSpPr>
        <p:spPr bwMode="auto">
          <a:xfrm flipV="1">
            <a:off x="708554" y="4810719"/>
            <a:ext cx="213254" cy="361950"/>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19838" name="Text Box 30"/>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19839" name="Text Box 31"/>
          <p:cNvSpPr txBox="1">
            <a:spLocks noChangeArrowheads="1"/>
          </p:cNvSpPr>
          <p:nvPr/>
        </p:nvSpPr>
        <p:spPr bwMode="auto">
          <a:xfrm>
            <a:off x="1754187" y="4428132"/>
            <a:ext cx="41857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数据链路层帧再传送到物理层</a:t>
            </a:r>
          </a:p>
        </p:txBody>
      </p:sp>
      <p:sp>
        <p:nvSpPr>
          <p:cNvPr id="119840" name="Text Box 32"/>
          <p:cNvSpPr txBox="1">
            <a:spLocks noChangeArrowheads="1"/>
          </p:cNvSpPr>
          <p:nvPr/>
        </p:nvSpPr>
        <p:spPr bwMode="auto">
          <a:xfrm>
            <a:off x="1754187" y="5004394"/>
            <a:ext cx="57246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最下面的物理层把比特流传送到物理媒体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0836" name="AutoShape 4"/>
          <p:cNvSpPr>
            <a:spLocks noChangeArrowheads="1"/>
          </p:cNvSpPr>
          <p:nvPr/>
        </p:nvSpPr>
        <p:spPr bwMode="auto">
          <a:xfrm rot="-5400000">
            <a:off x="4699529"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37" name="AutoShape 5"/>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38" name="Text Box 6"/>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0839" name="Text Box 7"/>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0840" name="Text Box 8"/>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0841" name="Text Box 9"/>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0842" name="Text Box 10"/>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0843" name="Freeform 11"/>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44" name="Freeform 12"/>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45" name="Freeform 13"/>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46" name="Freeform 14"/>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47" name="AutoShape 15"/>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48" name="Text Box 16"/>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0849" name="Text Box 17"/>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0850" name="Text Box 18"/>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0851" name="Text Box 19"/>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0852" name="Text Box 20"/>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0853" name="Freeform 21"/>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54" name="Freeform 22"/>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55" name="Freeform 23"/>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56" name="Freeform 24"/>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57" name="AutoShape 25"/>
          <p:cNvSpPr>
            <a:spLocks noChangeArrowheads="1"/>
          </p:cNvSpPr>
          <p:nvPr/>
        </p:nvSpPr>
        <p:spPr bwMode="auto">
          <a:xfrm flipV="1">
            <a:off x="754989" y="5458419"/>
            <a:ext cx="428228" cy="4191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FF99"/>
          </a:solidFill>
          <a:ln w="12700">
            <a:solidFill>
              <a:schemeClr val="tx1"/>
            </a:solidFill>
            <a:miter lim="800000"/>
          </a:ln>
          <a:effectLst/>
        </p:spPr>
        <p:txBody>
          <a:bodyPr wrap="none" anchor="ctr"/>
          <a:lstStyle/>
          <a:p>
            <a:endParaRPr lang="zh-CN" altLang="en-US" b="1"/>
          </a:p>
        </p:txBody>
      </p:sp>
      <p:sp>
        <p:nvSpPr>
          <p:cNvPr id="120858" name="Text Box 26"/>
          <p:cNvSpPr txBox="1">
            <a:spLocks noChangeArrowheads="1"/>
          </p:cNvSpPr>
          <p:nvPr/>
        </p:nvSpPr>
        <p:spPr bwMode="auto">
          <a:xfrm>
            <a:off x="4172214" y="5555258"/>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000" b="1" dirty="0">
                <a:solidFill>
                  <a:srgbClr val="0000CC"/>
                </a:solidFill>
                <a:latin typeface="黑体" panose="02010609060101010101" pitchFamily="2" charset="-122"/>
                <a:ea typeface="黑体" panose="02010609060101010101" pitchFamily="2" charset="-122"/>
              </a:rPr>
              <a:t>物理传输媒体</a:t>
            </a:r>
          </a:p>
        </p:txBody>
      </p:sp>
      <p:sp>
        <p:nvSpPr>
          <p:cNvPr id="120859" name="AutoShape 27"/>
          <p:cNvSpPr>
            <a:spLocks noChangeArrowheads="1"/>
          </p:cNvSpPr>
          <p:nvPr/>
        </p:nvSpPr>
        <p:spPr bwMode="auto">
          <a:xfrm rot="5400000">
            <a:off x="3594100" y="5542822"/>
            <a:ext cx="179387" cy="426508"/>
          </a:xfrm>
          <a:prstGeom prst="upArrow">
            <a:avLst>
              <a:gd name="adj1" fmla="val 50000"/>
              <a:gd name="adj2" fmla="val 54867"/>
            </a:avLst>
          </a:prstGeom>
          <a:solidFill>
            <a:srgbClr val="00FF99"/>
          </a:solidFill>
          <a:ln w="12700">
            <a:solidFill>
              <a:schemeClr val="tx1"/>
            </a:solidFill>
            <a:miter lim="800000"/>
          </a:ln>
          <a:effectLst/>
        </p:spPr>
        <p:txBody>
          <a:bodyPr vert="eaVert" wrap="none" anchor="ctr"/>
          <a:lstStyle/>
          <a:p>
            <a:endParaRPr lang="zh-CN" altLang="en-US" b="1"/>
          </a:p>
        </p:txBody>
      </p:sp>
      <p:sp>
        <p:nvSpPr>
          <p:cNvPr id="120860" name="AutoShape 28"/>
          <p:cNvSpPr>
            <a:spLocks noChangeArrowheads="1"/>
          </p:cNvSpPr>
          <p:nvPr/>
        </p:nvSpPr>
        <p:spPr bwMode="auto">
          <a:xfrm rot="5400000">
            <a:off x="6559021" y="5542822"/>
            <a:ext cx="179387" cy="426508"/>
          </a:xfrm>
          <a:prstGeom prst="upArrow">
            <a:avLst>
              <a:gd name="adj1" fmla="val 50000"/>
              <a:gd name="adj2" fmla="val 54867"/>
            </a:avLst>
          </a:prstGeom>
          <a:solidFill>
            <a:srgbClr val="00FF99"/>
          </a:solidFill>
          <a:ln w="12700">
            <a:solidFill>
              <a:schemeClr val="tx1"/>
            </a:solidFill>
            <a:miter lim="800000"/>
          </a:ln>
          <a:effectLst/>
        </p:spPr>
        <p:txBody>
          <a:bodyPr vert="eaVert" wrap="none" anchor="ctr"/>
          <a:lstStyle/>
          <a:p>
            <a:endParaRPr lang="zh-CN" altLang="en-US" b="1"/>
          </a:p>
        </p:txBody>
      </p:sp>
      <p:sp>
        <p:nvSpPr>
          <p:cNvPr id="120861" name="Text Box 29"/>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0862" name="AutoShape 30"/>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63" name="Text Box 31"/>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0864" name="AutoShape 32"/>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0865" name="Text Box 33"/>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grpSp>
        <p:nvGrpSpPr>
          <p:cNvPr id="120866" name="Group 34"/>
          <p:cNvGrpSpPr/>
          <p:nvPr/>
        </p:nvGrpSpPr>
        <p:grpSpPr bwMode="auto">
          <a:xfrm>
            <a:off x="1754188" y="5687019"/>
            <a:ext cx="1155700" cy="139700"/>
            <a:chOff x="1344" y="912"/>
            <a:chExt cx="672" cy="96"/>
          </a:xfrm>
          <a:solidFill>
            <a:srgbClr val="00FF99"/>
          </a:solidFill>
        </p:grpSpPr>
        <p:sp>
          <p:nvSpPr>
            <p:cNvPr id="120867"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20868"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grpSp>
        <p:nvGrpSpPr>
          <p:cNvPr id="120869" name="Group 37"/>
          <p:cNvGrpSpPr/>
          <p:nvPr/>
        </p:nvGrpSpPr>
        <p:grpSpPr bwMode="auto">
          <a:xfrm>
            <a:off x="7150894" y="5685433"/>
            <a:ext cx="1155700" cy="142875"/>
            <a:chOff x="4158" y="3753"/>
            <a:chExt cx="672" cy="90"/>
          </a:xfrm>
          <a:solidFill>
            <a:srgbClr val="00FF99"/>
          </a:solidFill>
        </p:grpSpPr>
        <p:sp>
          <p:nvSpPr>
            <p:cNvPr id="120870" name="Line 38"/>
            <p:cNvSpPr>
              <a:spLocks noChangeShapeType="1"/>
            </p:cNvSpPr>
            <p:nvPr/>
          </p:nvSpPr>
          <p:spPr bwMode="auto">
            <a:xfrm>
              <a:off x="4158" y="3798"/>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20871" name="Freeform 39"/>
            <p:cNvSpPr/>
            <p:nvPr/>
          </p:nvSpPr>
          <p:spPr bwMode="auto">
            <a:xfrm>
              <a:off x="4209" y="3753"/>
              <a:ext cx="576" cy="90"/>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120872" name="Text Box 40"/>
          <p:cNvSpPr txBox="1">
            <a:spLocks noChangeArrowheads="1"/>
          </p:cNvSpPr>
          <p:nvPr/>
        </p:nvSpPr>
        <p:spPr bwMode="auto">
          <a:xfrm>
            <a:off x="2265204" y="4524970"/>
            <a:ext cx="54168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latin typeface="Times New Roman" panose="02020603050405020304" pitchFamily="18" charset="0"/>
                <a:ea typeface="黑体" panose="02010609060101010101" pitchFamily="2" charset="-122"/>
              </a:rPr>
              <a:t>电信号（或光信号）在物理媒体中传播</a:t>
            </a:r>
          </a:p>
          <a:p>
            <a:pPr algn="ctr" eaLnBrk="0" hangingPunct="0"/>
            <a:r>
              <a:rPr kumimoji="1" lang="zh-CN" altLang="en-US" sz="2400" b="1">
                <a:solidFill>
                  <a:srgbClr val="333399"/>
                </a:solidFill>
                <a:latin typeface="Times New Roman" panose="02020603050405020304" pitchFamily="18" charset="0"/>
                <a:ea typeface="黑体" panose="02010609060101010101" pitchFamily="2" charset="-122"/>
              </a:rPr>
              <a:t>从发送端物理层传送到接收端物理层</a:t>
            </a:r>
          </a:p>
        </p:txBody>
      </p:sp>
      <p:sp>
        <p:nvSpPr>
          <p:cNvPr id="120873" name="Text Box 41"/>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0874" name="AutoShape 42"/>
          <p:cNvSpPr>
            <a:spLocks noChangeArrowheads="1"/>
          </p:cNvSpPr>
          <p:nvPr/>
        </p:nvSpPr>
        <p:spPr bwMode="auto">
          <a:xfrm rot="5400000" flipH="1">
            <a:off x="8762273" y="5390355"/>
            <a:ext cx="431800" cy="428229"/>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FF99"/>
          </a:solidFill>
          <a:ln w="12700">
            <a:solidFill>
              <a:schemeClr val="tx1"/>
            </a:solidFill>
            <a:miter lim="800000"/>
          </a:ln>
          <a:effectLst/>
        </p:spPr>
        <p:txBody>
          <a:bodyPr wrap="none" anchor="ctr"/>
          <a:lstStyle/>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p:stCondLst>
                              <p:cond delay="2500"/>
                            </p:stCondLst>
                            <p:childTnLst>
                              <p:par>
                                <p:cTn id="23" presetID="22" presetClass="entr" presetSubtype="4" fill="hold" grpId="0"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7" grpId="0" animBg="1"/>
      <p:bldP spid="120859" grpId="0" animBg="1"/>
      <p:bldP spid="120860" grpId="0" animBg="1"/>
      <p:bldP spid="12087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1859"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60"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61"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1862"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1863"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1864"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1865"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1866"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67"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68"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69"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70"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71"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1872"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1873"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1874"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1875"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1876"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77"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78"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79"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80"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1881"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82"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1883"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1884"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1885"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1886" name="Text Box 30"/>
          <p:cNvSpPr txBox="1">
            <a:spLocks noChangeArrowheads="1"/>
          </p:cNvSpPr>
          <p:nvPr/>
        </p:nvSpPr>
        <p:spPr bwMode="auto">
          <a:xfrm>
            <a:off x="2399110" y="5004394"/>
            <a:ext cx="57246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333399"/>
                </a:solidFill>
                <a:ea typeface="黑体" panose="02010609060101010101" pitchFamily="2" charset="-122"/>
              </a:rPr>
              <a:t>物理层接收到比特流，上交给数据链路层</a:t>
            </a:r>
          </a:p>
        </p:txBody>
      </p:sp>
      <p:sp>
        <p:nvSpPr>
          <p:cNvPr id="121887" name="AutoShape 31"/>
          <p:cNvSpPr>
            <a:spLocks noChangeArrowheads="1"/>
          </p:cNvSpPr>
          <p:nvPr/>
        </p:nvSpPr>
        <p:spPr bwMode="auto">
          <a:xfrm rot="10800000" flipV="1">
            <a:off x="8997950" y="4805958"/>
            <a:ext cx="213254" cy="396875"/>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2883"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84"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85"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2886"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2887"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2888"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2889"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2890"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91"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92"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93"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94"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895"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2896"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2897"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2898"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2899"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2900"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901"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902"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903"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904" name="Text Box 24"/>
          <p:cNvSpPr txBox="1">
            <a:spLocks noChangeArrowheads="1"/>
          </p:cNvSpPr>
          <p:nvPr/>
        </p:nvSpPr>
        <p:spPr bwMode="auto">
          <a:xfrm>
            <a:off x="428228" y="1644675"/>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2905"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906"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2907"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2908"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2909"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2910" name="Text Box 30"/>
          <p:cNvSpPr txBox="1">
            <a:spLocks noChangeArrowheads="1"/>
          </p:cNvSpPr>
          <p:nvPr/>
        </p:nvSpPr>
        <p:spPr bwMode="auto">
          <a:xfrm>
            <a:off x="3800019" y="4309070"/>
            <a:ext cx="44935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数据链路层剥去帧首部和帧尾部</a:t>
            </a:r>
          </a:p>
          <a:p>
            <a:pPr algn="ctr" eaLnBrk="0" hangingPunct="0"/>
            <a:r>
              <a:rPr kumimoji="1" lang="zh-CN" altLang="en-US" sz="2400" b="1">
                <a:solidFill>
                  <a:srgbClr val="333399"/>
                </a:solidFill>
                <a:ea typeface="黑体" panose="02010609060101010101" pitchFamily="2" charset="-122"/>
              </a:rPr>
              <a:t>取出数据部分，上交给网络层</a:t>
            </a:r>
          </a:p>
        </p:txBody>
      </p:sp>
      <p:sp>
        <p:nvSpPr>
          <p:cNvPr id="122911" name="AutoShape 31"/>
          <p:cNvSpPr>
            <a:spLocks noChangeArrowheads="1"/>
          </p:cNvSpPr>
          <p:nvPr/>
        </p:nvSpPr>
        <p:spPr bwMode="auto">
          <a:xfrm rot="10800000" flipV="1">
            <a:off x="8997950" y="4164608"/>
            <a:ext cx="213254" cy="396875"/>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3907"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08"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09"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3910"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3911"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3912"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3913"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3914"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15"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16"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17"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18"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19"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3920"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3921"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3922"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3923"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3924"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25"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26"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27"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28"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3929"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30"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3931"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3932"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3933"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3934" name="Text Box 30"/>
          <p:cNvSpPr txBox="1">
            <a:spLocks noChangeArrowheads="1"/>
          </p:cNvSpPr>
          <p:nvPr/>
        </p:nvSpPr>
        <p:spPr bwMode="auto">
          <a:xfrm>
            <a:off x="3892887" y="3732808"/>
            <a:ext cx="44935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网络层剥去首部，取出数据部分</a:t>
            </a:r>
          </a:p>
          <a:p>
            <a:pPr algn="ctr" eaLnBrk="0" hangingPunct="0"/>
            <a:r>
              <a:rPr kumimoji="1" lang="zh-CN" altLang="en-US" sz="2400" b="1">
                <a:solidFill>
                  <a:srgbClr val="333399"/>
                </a:solidFill>
                <a:ea typeface="黑体" panose="02010609060101010101" pitchFamily="2" charset="-122"/>
              </a:rPr>
              <a:t>上交给运输层</a:t>
            </a:r>
          </a:p>
        </p:txBody>
      </p:sp>
      <p:sp>
        <p:nvSpPr>
          <p:cNvPr id="123935" name="AutoShape 31"/>
          <p:cNvSpPr>
            <a:spLocks noChangeArrowheads="1"/>
          </p:cNvSpPr>
          <p:nvPr/>
        </p:nvSpPr>
        <p:spPr bwMode="auto">
          <a:xfrm rot="10800000" flipV="1">
            <a:off x="8997950" y="3551833"/>
            <a:ext cx="213254" cy="396875"/>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4931"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32"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33"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4934"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4935"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4936"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4937"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4938"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39"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40"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41"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42"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43"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4944"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4945"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4946"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4947"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4948"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49"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50"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51"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52"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4953"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54"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4955"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4956"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4957"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4958" name="Text Box 30"/>
          <p:cNvSpPr txBox="1">
            <a:spLocks noChangeArrowheads="1"/>
          </p:cNvSpPr>
          <p:nvPr/>
        </p:nvSpPr>
        <p:spPr bwMode="auto">
          <a:xfrm>
            <a:off x="3892887" y="3085108"/>
            <a:ext cx="44935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运输层剥去首部，取出数据部分</a:t>
            </a:r>
          </a:p>
          <a:p>
            <a:pPr algn="ctr" eaLnBrk="0" hangingPunct="0"/>
            <a:r>
              <a:rPr kumimoji="1" lang="zh-CN" altLang="en-US" sz="2400" b="1">
                <a:solidFill>
                  <a:srgbClr val="333399"/>
                </a:solidFill>
                <a:ea typeface="黑体" panose="02010609060101010101" pitchFamily="2" charset="-122"/>
              </a:rPr>
              <a:t>上交给应用层</a:t>
            </a:r>
          </a:p>
        </p:txBody>
      </p:sp>
      <p:sp>
        <p:nvSpPr>
          <p:cNvPr id="124959" name="AutoShape 31"/>
          <p:cNvSpPr>
            <a:spLocks noChangeArrowheads="1"/>
          </p:cNvSpPr>
          <p:nvPr/>
        </p:nvSpPr>
        <p:spPr bwMode="auto">
          <a:xfrm rot="10800000" flipV="1">
            <a:off x="8997950" y="2975570"/>
            <a:ext cx="213254" cy="396875"/>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5955"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56"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57"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5958"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5959"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5960"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5961"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5962"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63"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64"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65"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66"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67"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5968"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5969"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5970"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5971"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5972"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73"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74"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75"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76"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5977"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78"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5979"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5980"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5981"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5982" name="Text Box 30"/>
          <p:cNvSpPr txBox="1">
            <a:spLocks noChangeArrowheads="1"/>
          </p:cNvSpPr>
          <p:nvPr/>
        </p:nvSpPr>
        <p:spPr bwMode="auto">
          <a:xfrm>
            <a:off x="3266949" y="2580283"/>
            <a:ext cx="510909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应用层剥去首部，取出应用程序数据</a:t>
            </a:r>
          </a:p>
          <a:p>
            <a:pPr algn="ctr" eaLnBrk="0" hangingPunct="0"/>
            <a:r>
              <a:rPr kumimoji="1" lang="zh-CN" altLang="en-US" sz="2400" b="1">
                <a:solidFill>
                  <a:srgbClr val="333399"/>
                </a:solidFill>
                <a:ea typeface="黑体" panose="02010609060101010101" pitchFamily="2" charset="-122"/>
              </a:rPr>
              <a:t>上交给应用进程</a:t>
            </a:r>
          </a:p>
        </p:txBody>
      </p:sp>
      <p:sp>
        <p:nvSpPr>
          <p:cNvPr id="125983" name="AutoShape 31"/>
          <p:cNvSpPr>
            <a:spLocks noChangeArrowheads="1"/>
          </p:cNvSpPr>
          <p:nvPr/>
        </p:nvSpPr>
        <p:spPr bwMode="auto">
          <a:xfrm rot="10800000" flipV="1">
            <a:off x="8997950" y="2472333"/>
            <a:ext cx="213254" cy="396875"/>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1600"/>
              <a:t> </a:t>
            </a:r>
            <a:r>
              <a:rPr lang="en-US" altLang="zh-CN"/>
              <a:t>2</a:t>
            </a:r>
            <a:r>
              <a:rPr lang="en-US" altLang="zh-CN" sz="2400"/>
              <a:t> </a:t>
            </a:r>
            <a:r>
              <a:rPr lang="zh-CN" altLang="en-US"/>
              <a:t>发送数据 </a:t>
            </a:r>
          </a:p>
        </p:txBody>
      </p:sp>
      <p:sp>
        <p:nvSpPr>
          <p:cNvPr id="126979"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80"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81"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6982"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6983"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6984"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6985"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6986"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87"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88"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89"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90"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91"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6992"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6993"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6994"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6995"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6996"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97"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98"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6999"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7000" name="Text Box 24"/>
          <p:cNvSpPr txBox="1">
            <a:spLocks noChangeArrowheads="1"/>
          </p:cNvSpPr>
          <p:nvPr/>
        </p:nvSpPr>
        <p:spPr bwMode="auto">
          <a:xfrm>
            <a:off x="428228" y="1644675"/>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7001"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7002"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7003"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7004"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7005"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7006" name="AutoShape 30"/>
          <p:cNvSpPr>
            <a:spLocks noChangeArrowheads="1"/>
          </p:cNvSpPr>
          <p:nvPr/>
        </p:nvSpPr>
        <p:spPr bwMode="auto">
          <a:xfrm>
            <a:off x="4406106" y="1716683"/>
            <a:ext cx="3198813" cy="935037"/>
          </a:xfrm>
          <a:prstGeom prst="wedgeRoundRectCallout">
            <a:avLst>
              <a:gd name="adj1" fmla="val 87310"/>
              <a:gd name="adj2" fmla="val 18931"/>
              <a:gd name="adj3" fmla="val 16667"/>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b="1">
              <a:latin typeface="Tahoma" panose="020B0604030504040204" pitchFamily="34" charset="0"/>
            </a:endParaRPr>
          </a:p>
        </p:txBody>
      </p:sp>
      <p:sp>
        <p:nvSpPr>
          <p:cNvPr id="127007" name="Text Box 31"/>
          <p:cNvSpPr txBox="1">
            <a:spLocks noChangeArrowheads="1"/>
          </p:cNvSpPr>
          <p:nvPr/>
        </p:nvSpPr>
        <p:spPr bwMode="auto">
          <a:xfrm>
            <a:off x="4594121" y="1788120"/>
            <a:ext cx="297068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latin typeface="Tahoma" panose="020B0604030504040204" pitchFamily="34" charset="0"/>
                <a:ea typeface="黑体" panose="02010609060101010101" pitchFamily="2" charset="-122"/>
              </a:rPr>
              <a:t>我收到了</a:t>
            </a:r>
            <a:r>
              <a:rPr kumimoji="1" lang="zh-CN" altLang="en-US" sz="1400" b="1">
                <a:solidFill>
                  <a:srgbClr val="333399"/>
                </a:solidFill>
                <a:ea typeface="黑体" panose="02010609060101010101" pitchFamily="2" charset="-122"/>
              </a:rPr>
              <a:t> </a:t>
            </a:r>
            <a:r>
              <a:rPr kumimoji="1" lang="en-US" altLang="zh-CN" sz="2400" b="1">
                <a:solidFill>
                  <a:srgbClr val="333399"/>
                </a:solidFill>
                <a:ea typeface="黑体" panose="02010609060101010101" pitchFamily="2" charset="-122"/>
              </a:rPr>
              <a:t>AP</a:t>
            </a:r>
            <a:r>
              <a:rPr kumimoji="1" lang="en-US" altLang="zh-CN" sz="2400" b="1" baseline="-25000">
                <a:solidFill>
                  <a:srgbClr val="333399"/>
                </a:solidFill>
                <a:ea typeface="黑体" panose="02010609060101010101" pitchFamily="2" charset="-122"/>
              </a:rPr>
              <a:t>1</a:t>
            </a:r>
            <a:r>
              <a:rPr kumimoji="1" lang="en-US" altLang="zh-CN" sz="1600" b="1">
                <a:solidFill>
                  <a:srgbClr val="333399"/>
                </a:solidFill>
                <a:ea typeface="黑体" panose="02010609060101010101" pitchFamily="2" charset="-122"/>
              </a:rPr>
              <a:t> </a:t>
            </a:r>
            <a:r>
              <a:rPr kumimoji="1" lang="zh-CN" altLang="en-US" sz="2400" b="1">
                <a:solidFill>
                  <a:srgbClr val="333399"/>
                </a:solidFill>
                <a:latin typeface="Tahoma" panose="020B0604030504040204" pitchFamily="34" charset="0"/>
                <a:ea typeface="黑体" panose="02010609060101010101" pitchFamily="2" charset="-122"/>
              </a:rPr>
              <a:t>发来的</a:t>
            </a:r>
          </a:p>
          <a:p>
            <a:pPr algn="ctr" eaLnBrk="0" hangingPunct="0"/>
            <a:r>
              <a:rPr kumimoji="1" lang="zh-CN" altLang="en-US" sz="2400" b="1">
                <a:solidFill>
                  <a:srgbClr val="333399"/>
                </a:solidFill>
                <a:ea typeface="黑体" panose="02010609060101010101" pitchFamily="2" charset="-122"/>
              </a:rPr>
              <a:t>应用程序数据！</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8003" name="AutoShape 3"/>
          <p:cNvSpPr>
            <a:spLocks noChangeArrowheads="1"/>
          </p:cNvSpPr>
          <p:nvPr/>
        </p:nvSpPr>
        <p:spPr bwMode="auto">
          <a:xfrm rot="-5400000">
            <a:off x="4756283" y="86543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04" name="AutoShape 4"/>
          <p:cNvSpPr>
            <a:spLocks noChangeArrowheads="1"/>
          </p:cNvSpPr>
          <p:nvPr/>
        </p:nvSpPr>
        <p:spPr bwMode="auto">
          <a:xfrm>
            <a:off x="577850" y="255532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05" name="Text Box 5"/>
          <p:cNvSpPr txBox="1">
            <a:spLocks noChangeArrowheads="1"/>
          </p:cNvSpPr>
          <p:nvPr/>
        </p:nvSpPr>
        <p:spPr bwMode="auto">
          <a:xfrm>
            <a:off x="1025266" y="273471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8006" name="Text Box 6"/>
          <p:cNvSpPr txBox="1">
            <a:spLocks noChangeArrowheads="1"/>
          </p:cNvSpPr>
          <p:nvPr/>
        </p:nvSpPr>
        <p:spPr bwMode="auto">
          <a:xfrm>
            <a:off x="1025266" y="336178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8007" name="Text Box 7"/>
          <p:cNvSpPr txBox="1">
            <a:spLocks noChangeArrowheads="1"/>
          </p:cNvSpPr>
          <p:nvPr/>
        </p:nvSpPr>
        <p:spPr bwMode="auto">
          <a:xfrm>
            <a:off x="1025266" y="391899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8008" name="Text Box 8"/>
          <p:cNvSpPr txBox="1">
            <a:spLocks noChangeArrowheads="1"/>
          </p:cNvSpPr>
          <p:nvPr/>
        </p:nvSpPr>
        <p:spPr bwMode="auto">
          <a:xfrm>
            <a:off x="1025266" y="447779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8009" name="Text Box 9"/>
          <p:cNvSpPr txBox="1">
            <a:spLocks noChangeArrowheads="1"/>
          </p:cNvSpPr>
          <p:nvPr/>
        </p:nvSpPr>
        <p:spPr bwMode="auto">
          <a:xfrm>
            <a:off x="1025266" y="504453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8010" name="Freeform 10"/>
          <p:cNvSpPr/>
          <p:nvPr/>
        </p:nvSpPr>
        <p:spPr bwMode="auto">
          <a:xfrm>
            <a:off x="577850" y="315699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1" name="Freeform 11"/>
          <p:cNvSpPr/>
          <p:nvPr/>
        </p:nvSpPr>
        <p:spPr bwMode="auto">
          <a:xfrm>
            <a:off x="588169" y="373166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2" name="Freeform 12"/>
          <p:cNvSpPr/>
          <p:nvPr/>
        </p:nvSpPr>
        <p:spPr bwMode="auto">
          <a:xfrm>
            <a:off x="564092" y="430793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3" name="Freeform 13"/>
          <p:cNvSpPr/>
          <p:nvPr/>
        </p:nvSpPr>
        <p:spPr bwMode="auto">
          <a:xfrm>
            <a:off x="564092" y="490006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4" name="AutoShape 14"/>
          <p:cNvSpPr>
            <a:spLocks noChangeArrowheads="1"/>
          </p:cNvSpPr>
          <p:nvPr/>
        </p:nvSpPr>
        <p:spPr bwMode="auto">
          <a:xfrm>
            <a:off x="8543925" y="252199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5" name="Text Box 15"/>
          <p:cNvSpPr txBox="1">
            <a:spLocks noChangeArrowheads="1"/>
          </p:cNvSpPr>
          <p:nvPr/>
        </p:nvSpPr>
        <p:spPr bwMode="auto">
          <a:xfrm>
            <a:off x="8585200" y="269979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8016" name="Text Box 16"/>
          <p:cNvSpPr txBox="1">
            <a:spLocks noChangeArrowheads="1"/>
          </p:cNvSpPr>
          <p:nvPr/>
        </p:nvSpPr>
        <p:spPr bwMode="auto">
          <a:xfrm>
            <a:off x="8585200" y="332685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8017" name="Text Box 17"/>
          <p:cNvSpPr txBox="1">
            <a:spLocks noChangeArrowheads="1"/>
          </p:cNvSpPr>
          <p:nvPr/>
        </p:nvSpPr>
        <p:spPr bwMode="auto">
          <a:xfrm>
            <a:off x="8585200" y="388406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8018" name="Text Box 18"/>
          <p:cNvSpPr txBox="1">
            <a:spLocks noChangeArrowheads="1"/>
          </p:cNvSpPr>
          <p:nvPr/>
        </p:nvSpPr>
        <p:spPr bwMode="auto">
          <a:xfrm>
            <a:off x="8585200" y="444445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8019" name="Text Box 19"/>
          <p:cNvSpPr txBox="1">
            <a:spLocks noChangeArrowheads="1"/>
          </p:cNvSpPr>
          <p:nvPr/>
        </p:nvSpPr>
        <p:spPr bwMode="auto">
          <a:xfrm>
            <a:off x="8585200" y="500960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8020" name="Freeform 20"/>
          <p:cNvSpPr/>
          <p:nvPr/>
        </p:nvSpPr>
        <p:spPr bwMode="auto">
          <a:xfrm>
            <a:off x="8543925" y="312206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1" name="Freeform 21"/>
          <p:cNvSpPr/>
          <p:nvPr/>
        </p:nvSpPr>
        <p:spPr bwMode="auto">
          <a:xfrm>
            <a:off x="8554244" y="369674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2" name="Freeform 22"/>
          <p:cNvSpPr/>
          <p:nvPr/>
        </p:nvSpPr>
        <p:spPr bwMode="auto">
          <a:xfrm>
            <a:off x="8530167" y="427300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3" name="Freeform 23"/>
          <p:cNvSpPr/>
          <p:nvPr/>
        </p:nvSpPr>
        <p:spPr bwMode="auto">
          <a:xfrm>
            <a:off x="8530167" y="486514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4"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dirty="0">
                <a:solidFill>
                  <a:srgbClr val="C00000"/>
                </a:solidFill>
                <a:ea typeface="黑体" panose="02010609060101010101" pitchFamily="2" charset="-122"/>
              </a:rPr>
              <a:t>主机</a:t>
            </a:r>
            <a:r>
              <a:rPr kumimoji="1" lang="zh-CN" altLang="en-US" sz="1050" b="1" dirty="0">
                <a:solidFill>
                  <a:srgbClr val="C00000"/>
                </a:solidFill>
                <a:ea typeface="黑体" panose="02010609060101010101" pitchFamily="2" charset="-122"/>
              </a:rPr>
              <a:t> </a:t>
            </a:r>
            <a:r>
              <a:rPr kumimoji="1" lang="en-US" altLang="zh-CN" sz="2400" b="1" dirty="0">
                <a:solidFill>
                  <a:srgbClr val="C00000"/>
                </a:solidFill>
                <a:ea typeface="黑体" panose="02010609060101010101" pitchFamily="2" charset="-122"/>
              </a:rPr>
              <a:t>1</a:t>
            </a:r>
          </a:p>
        </p:txBody>
      </p:sp>
      <p:sp>
        <p:nvSpPr>
          <p:cNvPr id="128025" name="AutoShape 25"/>
          <p:cNvSpPr>
            <a:spLocks noChangeArrowheads="1"/>
          </p:cNvSpPr>
          <p:nvPr/>
        </p:nvSpPr>
        <p:spPr bwMode="auto">
          <a:xfrm>
            <a:off x="8703866" y="202510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6" name="Text Box 26"/>
          <p:cNvSpPr txBox="1">
            <a:spLocks noChangeArrowheads="1"/>
          </p:cNvSpPr>
          <p:nvPr/>
        </p:nvSpPr>
        <p:spPr bwMode="auto">
          <a:xfrm>
            <a:off x="8696987" y="212988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8027" name="AutoShape 27"/>
          <p:cNvSpPr>
            <a:spLocks noChangeArrowheads="1"/>
          </p:cNvSpPr>
          <p:nvPr/>
        </p:nvSpPr>
        <p:spPr bwMode="auto">
          <a:xfrm>
            <a:off x="583010" y="206796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8" name="Text Box 28"/>
          <p:cNvSpPr txBox="1">
            <a:spLocks noChangeArrowheads="1"/>
          </p:cNvSpPr>
          <p:nvPr/>
        </p:nvSpPr>
        <p:spPr bwMode="auto">
          <a:xfrm>
            <a:off x="605367" y="218861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8029"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8030" name="Rectangle 30"/>
          <p:cNvSpPr>
            <a:spLocks noChangeArrowheads="1"/>
          </p:cNvSpPr>
          <p:nvPr/>
        </p:nvSpPr>
        <p:spPr bwMode="auto">
          <a:xfrm>
            <a:off x="4406106" y="2201318"/>
            <a:ext cx="2808420" cy="3587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nvGrpSpPr>
          <p:cNvPr id="128031" name="Group 31"/>
          <p:cNvGrpSpPr/>
          <p:nvPr/>
        </p:nvGrpSpPr>
        <p:grpSpPr bwMode="auto">
          <a:xfrm>
            <a:off x="2846257" y="2128292"/>
            <a:ext cx="1561571" cy="1008062"/>
            <a:chOff x="1655" y="1525"/>
            <a:chExt cx="908" cy="635"/>
          </a:xfrm>
        </p:grpSpPr>
        <p:sp>
          <p:nvSpPr>
            <p:cNvPr id="128032" name="Text Box 32"/>
            <p:cNvSpPr txBox="1">
              <a:spLocks noChangeArrowheads="1"/>
            </p:cNvSpPr>
            <p:nvPr/>
          </p:nvSpPr>
          <p:spPr bwMode="auto">
            <a:xfrm>
              <a:off x="1655" y="1525"/>
              <a:ext cx="8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000" b="1">
                  <a:solidFill>
                    <a:srgbClr val="333399"/>
                  </a:solidFill>
                  <a:latin typeface="Arial Rounded MT Bold" panose="020F0704030504030204" pitchFamily="34" charset="0"/>
                  <a:ea typeface="黑体" panose="02010609060101010101" pitchFamily="2" charset="-122"/>
                </a:rPr>
                <a:t>应用层首部</a:t>
              </a:r>
              <a:endParaRPr kumimoji="1" lang="zh-CN" altLang="en-US" sz="2000" b="1">
                <a:solidFill>
                  <a:srgbClr val="333399"/>
                </a:solidFill>
                <a:latin typeface="Times New Roman" panose="02020603050405020304" pitchFamily="18" charset="0"/>
                <a:ea typeface="黑体" panose="02010609060101010101" pitchFamily="2" charset="-122"/>
              </a:endParaRPr>
            </a:p>
          </p:txBody>
        </p:sp>
        <p:sp>
          <p:nvSpPr>
            <p:cNvPr id="128033"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34"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grpSp>
      <p:sp>
        <p:nvSpPr>
          <p:cNvPr id="128035" name="Rectangle 35"/>
          <p:cNvSpPr>
            <a:spLocks noChangeArrowheads="1"/>
          </p:cNvSpPr>
          <p:nvPr/>
        </p:nvSpPr>
        <p:spPr bwMode="auto">
          <a:xfrm>
            <a:off x="2144581" y="5081043"/>
            <a:ext cx="5616840" cy="3587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333399"/>
                </a:solidFill>
                <a:ea typeface="黑体" panose="02010609060101010101" pitchFamily="2" charset="-122"/>
              </a:rPr>
              <a:t>10100110100101  </a:t>
            </a:r>
            <a:r>
              <a:rPr lang="zh-CN" altLang="en-US" sz="2000" b="1">
                <a:solidFill>
                  <a:srgbClr val="333399"/>
                </a:solidFill>
                <a:ea typeface="黑体" panose="02010609060101010101" pitchFamily="2" charset="-122"/>
              </a:rPr>
              <a:t>比  特  流  </a:t>
            </a:r>
            <a:r>
              <a:rPr lang="en-US" altLang="zh-CN" sz="2000" b="1">
                <a:solidFill>
                  <a:srgbClr val="333399"/>
                </a:solidFill>
                <a:ea typeface="黑体" panose="02010609060101010101" pitchFamily="2" charset="-122"/>
              </a:rPr>
              <a:t>110101110101</a:t>
            </a:r>
          </a:p>
        </p:txBody>
      </p:sp>
      <p:sp>
        <p:nvSpPr>
          <p:cNvPr id="128036" name="Text Box 36"/>
          <p:cNvSpPr txBox="1">
            <a:spLocks noChangeArrowheads="1"/>
          </p:cNvSpPr>
          <p:nvPr/>
        </p:nvSpPr>
        <p:spPr bwMode="auto">
          <a:xfrm>
            <a:off x="1712640" y="1196752"/>
            <a:ext cx="6676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800" b="1" dirty="0">
                <a:solidFill>
                  <a:srgbClr val="3333FF"/>
                </a:solidFill>
                <a:ea typeface="黑体" panose="02010609060101010101" pitchFamily="2" charset="-122"/>
              </a:rPr>
              <a:t>注意观察加入或剥去首部（尾部）的层次</a:t>
            </a:r>
          </a:p>
        </p:txBody>
      </p:sp>
      <p:sp>
        <p:nvSpPr>
          <p:cNvPr id="128037" name="Rectangle 37"/>
          <p:cNvSpPr>
            <a:spLocks noChangeArrowheads="1"/>
          </p:cNvSpPr>
          <p:nvPr/>
        </p:nvSpPr>
        <p:spPr bwMode="auto">
          <a:xfrm>
            <a:off x="4406106" y="2777580"/>
            <a:ext cx="2808420" cy="3587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nvGrpSpPr>
          <p:cNvPr id="128038" name="Group 38"/>
          <p:cNvGrpSpPr/>
          <p:nvPr/>
        </p:nvGrpSpPr>
        <p:grpSpPr bwMode="auto">
          <a:xfrm>
            <a:off x="3860933" y="3353843"/>
            <a:ext cx="3353594" cy="358775"/>
            <a:chOff x="2245" y="2297"/>
            <a:chExt cx="1950" cy="226"/>
          </a:xfrm>
        </p:grpSpPr>
        <p:sp>
          <p:nvSpPr>
            <p:cNvPr id="128039"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8040"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grpSp>
        <p:nvGrpSpPr>
          <p:cNvPr id="128041" name="Group 41"/>
          <p:cNvGrpSpPr/>
          <p:nvPr/>
        </p:nvGrpSpPr>
        <p:grpSpPr bwMode="auto">
          <a:xfrm>
            <a:off x="3314039" y="3930105"/>
            <a:ext cx="3900488" cy="358775"/>
            <a:chOff x="1927" y="2660"/>
            <a:chExt cx="2268" cy="226"/>
          </a:xfrm>
        </p:grpSpPr>
        <p:sp>
          <p:nvSpPr>
            <p:cNvPr id="128042"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8043"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8044"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grpSp>
        <p:nvGrpSpPr>
          <p:cNvPr id="128045" name="Group 45"/>
          <p:cNvGrpSpPr/>
          <p:nvPr/>
        </p:nvGrpSpPr>
        <p:grpSpPr bwMode="auto">
          <a:xfrm>
            <a:off x="2768865" y="4506368"/>
            <a:ext cx="4445662" cy="358775"/>
            <a:chOff x="1610" y="3023"/>
            <a:chExt cx="2585" cy="226"/>
          </a:xfrm>
        </p:grpSpPr>
        <p:sp>
          <p:nvSpPr>
            <p:cNvPr id="128046"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28047"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8048"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8049"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grpSp>
        <p:nvGrpSpPr>
          <p:cNvPr id="128050" name="Group 50"/>
          <p:cNvGrpSpPr/>
          <p:nvPr/>
        </p:nvGrpSpPr>
        <p:grpSpPr bwMode="auto">
          <a:xfrm>
            <a:off x="708554" y="2488655"/>
            <a:ext cx="5180013" cy="415925"/>
            <a:chOff x="412" y="1752"/>
            <a:chExt cx="3012" cy="262"/>
          </a:xfrm>
        </p:grpSpPr>
        <p:sp>
          <p:nvSpPr>
            <p:cNvPr id="128051"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52" name="AutoShape 52"/>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53" name="Group 53"/>
          <p:cNvGrpSpPr/>
          <p:nvPr/>
        </p:nvGrpSpPr>
        <p:grpSpPr bwMode="auto">
          <a:xfrm>
            <a:off x="705115" y="3064917"/>
            <a:ext cx="4872170" cy="396875"/>
            <a:chOff x="410" y="2115"/>
            <a:chExt cx="2833" cy="250"/>
          </a:xfrm>
        </p:grpSpPr>
        <p:sp>
          <p:nvSpPr>
            <p:cNvPr id="128054"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55" name="AutoShape 55"/>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56" name="Group 56"/>
          <p:cNvGrpSpPr/>
          <p:nvPr/>
        </p:nvGrpSpPr>
        <p:grpSpPr bwMode="auto">
          <a:xfrm>
            <a:off x="705115" y="3625305"/>
            <a:ext cx="4481777" cy="409575"/>
            <a:chOff x="410" y="2468"/>
            <a:chExt cx="2606" cy="258"/>
          </a:xfrm>
        </p:grpSpPr>
        <p:sp>
          <p:nvSpPr>
            <p:cNvPr id="128057"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58" name="AutoShape 58"/>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59" name="Group 59"/>
          <p:cNvGrpSpPr/>
          <p:nvPr/>
        </p:nvGrpSpPr>
        <p:grpSpPr bwMode="auto">
          <a:xfrm>
            <a:off x="703396" y="4215854"/>
            <a:ext cx="4151577" cy="444500"/>
            <a:chOff x="409" y="2840"/>
            <a:chExt cx="2414" cy="280"/>
          </a:xfrm>
        </p:grpSpPr>
        <p:sp>
          <p:nvSpPr>
            <p:cNvPr id="128060" name="AutoShape 60"/>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61" name="AutoShape 61"/>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62" name="Group 62"/>
          <p:cNvGrpSpPr/>
          <p:nvPr/>
        </p:nvGrpSpPr>
        <p:grpSpPr bwMode="auto">
          <a:xfrm>
            <a:off x="703396" y="4792118"/>
            <a:ext cx="3938323" cy="460375"/>
            <a:chOff x="409" y="3203"/>
            <a:chExt cx="2290" cy="290"/>
          </a:xfrm>
        </p:grpSpPr>
        <p:sp>
          <p:nvSpPr>
            <p:cNvPr id="128063" name="AutoShape 63"/>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64" name="AutoShape 64"/>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65" name="Group 65"/>
          <p:cNvGrpSpPr/>
          <p:nvPr/>
        </p:nvGrpSpPr>
        <p:grpSpPr bwMode="auto">
          <a:xfrm>
            <a:off x="2221971" y="2637879"/>
            <a:ext cx="1638962" cy="1074738"/>
            <a:chOff x="1292" y="1846"/>
            <a:chExt cx="953" cy="677"/>
          </a:xfrm>
        </p:grpSpPr>
        <p:sp>
          <p:nvSpPr>
            <p:cNvPr id="128066"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8067" name="Text Box 67"/>
            <p:cNvSpPr txBox="1">
              <a:spLocks noChangeArrowheads="1"/>
            </p:cNvSpPr>
            <p:nvPr/>
          </p:nvSpPr>
          <p:spPr bwMode="auto">
            <a:xfrm>
              <a:off x="1292" y="1846"/>
              <a:ext cx="8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000" b="1">
                  <a:solidFill>
                    <a:srgbClr val="333399"/>
                  </a:solidFill>
                  <a:latin typeface="Arial Rounded MT Bold" panose="020F0704030504030204" pitchFamily="34" charset="0"/>
                  <a:ea typeface="黑体" panose="02010609060101010101" pitchFamily="2" charset="-122"/>
                </a:rPr>
                <a:t>运输层首部</a:t>
              </a:r>
              <a:endParaRPr kumimoji="1" lang="zh-CN" altLang="en-US" sz="2000" b="1">
                <a:solidFill>
                  <a:srgbClr val="333399"/>
                </a:solidFill>
                <a:latin typeface="Times New Roman" panose="02020603050405020304" pitchFamily="18" charset="0"/>
                <a:ea typeface="黑体" panose="02010609060101010101" pitchFamily="2" charset="-122"/>
              </a:endParaRPr>
            </a:p>
          </p:txBody>
        </p:sp>
        <p:sp>
          <p:nvSpPr>
            <p:cNvPr id="128068"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28069" name="Group 69"/>
          <p:cNvGrpSpPr/>
          <p:nvPr/>
        </p:nvGrpSpPr>
        <p:grpSpPr bwMode="auto">
          <a:xfrm>
            <a:off x="1661319" y="3136355"/>
            <a:ext cx="1652720" cy="1152525"/>
            <a:chOff x="966" y="2160"/>
            <a:chExt cx="961" cy="726"/>
          </a:xfrm>
        </p:grpSpPr>
        <p:sp>
          <p:nvSpPr>
            <p:cNvPr id="128070"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28071" name="Text Box 71"/>
            <p:cNvSpPr txBox="1">
              <a:spLocks noChangeArrowheads="1"/>
            </p:cNvSpPr>
            <p:nvPr/>
          </p:nvSpPr>
          <p:spPr bwMode="auto">
            <a:xfrm>
              <a:off x="966" y="2160"/>
              <a:ext cx="8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000" b="1">
                  <a:solidFill>
                    <a:srgbClr val="333399"/>
                  </a:solidFill>
                  <a:latin typeface="Arial Rounded MT Bold" panose="020F0704030504030204" pitchFamily="34" charset="0"/>
                  <a:ea typeface="黑体" panose="02010609060101010101" pitchFamily="2" charset="-122"/>
                </a:rPr>
                <a:t>网络层首部</a:t>
              </a:r>
              <a:endParaRPr kumimoji="1" lang="zh-CN" altLang="en-US" sz="2000" b="1">
                <a:solidFill>
                  <a:srgbClr val="333399"/>
                </a:solidFill>
                <a:latin typeface="Times New Roman" panose="02020603050405020304" pitchFamily="18" charset="0"/>
                <a:ea typeface="黑体" panose="02010609060101010101" pitchFamily="2" charset="-122"/>
              </a:endParaRPr>
            </a:p>
          </p:txBody>
        </p:sp>
        <p:sp>
          <p:nvSpPr>
            <p:cNvPr id="128072"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28073" name="Group 73"/>
          <p:cNvGrpSpPr/>
          <p:nvPr/>
        </p:nvGrpSpPr>
        <p:grpSpPr bwMode="auto">
          <a:xfrm>
            <a:off x="1546092" y="3568154"/>
            <a:ext cx="1222772" cy="1295400"/>
            <a:chOff x="899" y="2432"/>
            <a:chExt cx="711" cy="816"/>
          </a:xfrm>
        </p:grpSpPr>
        <p:sp>
          <p:nvSpPr>
            <p:cNvPr id="128074"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2</a:t>
              </a:r>
            </a:p>
          </p:txBody>
        </p:sp>
        <p:sp>
          <p:nvSpPr>
            <p:cNvPr id="128075" name="Text Box 75"/>
            <p:cNvSpPr txBox="1">
              <a:spLocks noChangeArrowheads="1"/>
            </p:cNvSpPr>
            <p:nvPr/>
          </p:nvSpPr>
          <p:spPr bwMode="auto">
            <a:xfrm>
              <a:off x="899" y="2432"/>
              <a:ext cx="55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90000"/>
                </a:lnSpc>
              </a:pPr>
              <a:r>
                <a:rPr kumimoji="1" lang="zh-CN" altLang="en-US" sz="2000" b="1">
                  <a:solidFill>
                    <a:srgbClr val="333399"/>
                  </a:solidFill>
                  <a:latin typeface="Arial Rounded MT Bold" panose="020F0704030504030204" pitchFamily="34" charset="0"/>
                  <a:ea typeface="黑体" panose="02010609060101010101" pitchFamily="2" charset="-122"/>
                </a:rPr>
                <a:t>链路层</a:t>
              </a:r>
            </a:p>
            <a:p>
              <a:pPr algn="ctr" eaLnBrk="0" hangingPunct="0">
                <a:lnSpc>
                  <a:spcPct val="90000"/>
                </a:lnSpc>
              </a:pPr>
              <a:r>
                <a:rPr kumimoji="1" lang="zh-CN" altLang="en-US" sz="2000" b="1">
                  <a:solidFill>
                    <a:srgbClr val="333399"/>
                  </a:solidFill>
                  <a:latin typeface="Arial Rounded MT Bold" panose="020F0704030504030204" pitchFamily="34" charset="0"/>
                  <a:ea typeface="黑体" panose="02010609060101010101" pitchFamily="2" charset="-122"/>
                </a:rPr>
                <a:t>首部</a:t>
              </a:r>
              <a:endParaRPr kumimoji="1" lang="zh-CN" altLang="en-US" sz="2000" b="1">
                <a:solidFill>
                  <a:srgbClr val="333399"/>
                </a:solidFill>
                <a:latin typeface="Times New Roman" panose="02020603050405020304" pitchFamily="18" charset="0"/>
                <a:ea typeface="黑体" panose="02010609060101010101" pitchFamily="2" charset="-122"/>
              </a:endParaRPr>
            </a:p>
          </p:txBody>
        </p:sp>
        <p:sp>
          <p:nvSpPr>
            <p:cNvPr id="128076"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28077" name="Group 77"/>
          <p:cNvGrpSpPr/>
          <p:nvPr/>
        </p:nvGrpSpPr>
        <p:grpSpPr bwMode="auto">
          <a:xfrm>
            <a:off x="7214526" y="3574504"/>
            <a:ext cx="1057671" cy="1290638"/>
            <a:chOff x="4195" y="2436"/>
            <a:chExt cx="615" cy="813"/>
          </a:xfrm>
        </p:grpSpPr>
        <p:sp>
          <p:nvSpPr>
            <p:cNvPr id="128078" name="Rectangle 78"/>
            <p:cNvSpPr>
              <a:spLocks noChangeArrowheads="1"/>
            </p:cNvSpPr>
            <p:nvPr/>
          </p:nvSpPr>
          <p:spPr bwMode="auto">
            <a:xfrm>
              <a:off x="4195" y="3023"/>
              <a:ext cx="318" cy="226"/>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T</a:t>
              </a:r>
              <a:r>
                <a:rPr lang="en-US" altLang="zh-CN" b="1" baseline="-25000">
                  <a:solidFill>
                    <a:srgbClr val="333399"/>
                  </a:solidFill>
                </a:rPr>
                <a:t>2</a:t>
              </a:r>
            </a:p>
          </p:txBody>
        </p:sp>
        <p:sp>
          <p:nvSpPr>
            <p:cNvPr id="128079" name="Line 79"/>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80" name="Text Box 80"/>
            <p:cNvSpPr txBox="1">
              <a:spLocks noChangeArrowheads="1"/>
            </p:cNvSpPr>
            <p:nvPr/>
          </p:nvSpPr>
          <p:spPr bwMode="auto">
            <a:xfrm>
              <a:off x="4255" y="2436"/>
              <a:ext cx="55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lnSpc>
                  <a:spcPct val="90000"/>
                </a:lnSpc>
              </a:pPr>
              <a:r>
                <a:rPr kumimoji="1" lang="zh-CN" altLang="en-US" sz="2000" b="1">
                  <a:solidFill>
                    <a:srgbClr val="333399"/>
                  </a:solidFill>
                  <a:latin typeface="Arial Rounded MT Bold" panose="020F0704030504030204" pitchFamily="34" charset="0"/>
                  <a:ea typeface="黑体" panose="02010609060101010101" pitchFamily="2" charset="-122"/>
                </a:rPr>
                <a:t>链路层</a:t>
              </a:r>
            </a:p>
            <a:p>
              <a:pPr algn="ctr" eaLnBrk="0" hangingPunct="0">
                <a:lnSpc>
                  <a:spcPct val="90000"/>
                </a:lnSpc>
              </a:pPr>
              <a:r>
                <a:rPr kumimoji="1" lang="zh-CN" altLang="en-US" sz="2000" b="1">
                  <a:solidFill>
                    <a:srgbClr val="333399"/>
                  </a:solidFill>
                  <a:latin typeface="Arial Rounded MT Bold" panose="020F0704030504030204" pitchFamily="34" charset="0"/>
                  <a:ea typeface="黑体" panose="02010609060101010101" pitchFamily="2" charset="-122"/>
                </a:rPr>
                <a:t>尾部</a:t>
              </a:r>
              <a:endParaRPr kumimoji="1" lang="zh-CN" altLang="en-US" sz="2000" b="1">
                <a:solidFill>
                  <a:srgbClr val="333399"/>
                </a:solidFill>
                <a:latin typeface="Times New Roman" panose="02020603050405020304" pitchFamily="18" charset="0"/>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p:stCondLst>
                              <p:cond delay="5000"/>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p:stCondLst>
                              <p:cond delay="7000"/>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p:stCondLst>
                              <p:cond delay="9500"/>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p:stCondLst>
                              <p:cond delay="9500"/>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p:stCondLst>
                              <p:cond delay="13000"/>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p:stCondLst>
                              <p:cond delay="13000"/>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p:stCondLst>
                              <p:cond delay="14500"/>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p:stCondLst>
                              <p:cond delay="15500"/>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p:stCondLst>
                              <p:cond delay="16500"/>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p:stCondLst>
                              <p:cond delay="17500"/>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p:stCondLst>
                              <p:cond delay="17500"/>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autoUpdateAnimBg="0"/>
      <p:bldP spid="128035" grpId="0" animBg="1"/>
      <p:bldP spid="128037"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9027"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28"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29"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9030"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9031"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9032"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9033"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9034"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35"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36"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37"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38"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39"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29040"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29041"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29042"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29043"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29044"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45"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46"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47"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48"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29049"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50"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9051"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9052"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9053"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29054" name="Rectangle 30"/>
          <p:cNvSpPr>
            <a:spLocks noChangeArrowheads="1"/>
          </p:cNvSpPr>
          <p:nvPr/>
        </p:nvSpPr>
        <p:spPr bwMode="auto">
          <a:xfrm>
            <a:off x="2144581" y="5101233"/>
            <a:ext cx="5616840" cy="3587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333399"/>
                </a:solidFill>
                <a:ea typeface="黑体" panose="02010609060101010101" pitchFamily="2" charset="-122"/>
              </a:rPr>
              <a:t>10100110100101  </a:t>
            </a:r>
            <a:r>
              <a:rPr lang="zh-CN" altLang="en-US" sz="2000" b="1">
                <a:solidFill>
                  <a:srgbClr val="333399"/>
                </a:solidFill>
                <a:ea typeface="黑体" panose="02010609060101010101" pitchFamily="2" charset="-122"/>
              </a:rPr>
              <a:t>比  特  流  </a:t>
            </a:r>
            <a:r>
              <a:rPr lang="en-US" altLang="zh-CN" sz="2000" b="1">
                <a:solidFill>
                  <a:srgbClr val="333399"/>
                </a:solidFill>
                <a:ea typeface="黑体" panose="02010609060101010101" pitchFamily="2" charset="-122"/>
              </a:rPr>
              <a:t>110101110101</a:t>
            </a:r>
          </a:p>
        </p:txBody>
      </p:sp>
      <p:sp>
        <p:nvSpPr>
          <p:cNvPr id="129055" name="Text Box 31"/>
          <p:cNvSpPr txBox="1">
            <a:spLocks noChangeArrowheads="1"/>
          </p:cNvSpPr>
          <p:nvPr/>
        </p:nvSpPr>
        <p:spPr bwMode="auto">
          <a:xfrm>
            <a:off x="2757332" y="3629620"/>
            <a:ext cx="42386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dirty="0">
                <a:solidFill>
                  <a:srgbClr val="333399"/>
                </a:solidFill>
                <a:ea typeface="黑体" panose="02010609060101010101" pitchFamily="2" charset="-122"/>
              </a:rPr>
              <a:t>主机 </a:t>
            </a:r>
            <a:r>
              <a:rPr kumimoji="1" lang="en-US" altLang="zh-CN" sz="2400" b="1" dirty="0">
                <a:solidFill>
                  <a:srgbClr val="333399"/>
                </a:solidFill>
                <a:ea typeface="黑体" panose="02010609060101010101" pitchFamily="2" charset="-122"/>
              </a:rPr>
              <a:t>2 </a:t>
            </a:r>
            <a:r>
              <a:rPr kumimoji="1" lang="zh-CN" altLang="en-US" sz="2400" b="1" dirty="0">
                <a:solidFill>
                  <a:srgbClr val="333399"/>
                </a:solidFill>
                <a:ea typeface="黑体" panose="02010609060101010101" pitchFamily="2" charset="-122"/>
              </a:rPr>
              <a:t>的物理层收到比特流后</a:t>
            </a:r>
          </a:p>
          <a:p>
            <a:pPr algn="ctr" eaLnBrk="0" hangingPunct="0"/>
            <a:r>
              <a:rPr kumimoji="1" lang="zh-CN" altLang="en-US" sz="2400" b="1" dirty="0">
                <a:solidFill>
                  <a:srgbClr val="333399"/>
                </a:solidFill>
                <a:ea typeface="黑体" panose="02010609060101010101" pitchFamily="2" charset="-122"/>
              </a:rPr>
              <a:t>交给数据链路层</a:t>
            </a:r>
          </a:p>
        </p:txBody>
      </p:sp>
      <p:grpSp>
        <p:nvGrpSpPr>
          <p:cNvPr id="129056" name="Group 32"/>
          <p:cNvGrpSpPr/>
          <p:nvPr/>
        </p:nvGrpSpPr>
        <p:grpSpPr bwMode="auto">
          <a:xfrm>
            <a:off x="2144581" y="4526558"/>
            <a:ext cx="5616840" cy="358775"/>
            <a:chOff x="1247" y="3023"/>
            <a:chExt cx="3266" cy="226"/>
          </a:xfrm>
        </p:grpSpPr>
        <p:sp>
          <p:nvSpPr>
            <p:cNvPr id="129057" name="Rectangle 33"/>
            <p:cNvSpPr>
              <a:spLocks noChangeArrowheads="1"/>
            </p:cNvSpPr>
            <p:nvPr/>
          </p:nvSpPr>
          <p:spPr bwMode="auto">
            <a:xfrm>
              <a:off x="1247" y="3023"/>
              <a:ext cx="363" cy="226"/>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2</a:t>
              </a:r>
            </a:p>
          </p:txBody>
        </p:sp>
        <p:sp>
          <p:nvSpPr>
            <p:cNvPr id="129058" name="Rectangle 34"/>
            <p:cNvSpPr>
              <a:spLocks noChangeArrowheads="1"/>
            </p:cNvSpPr>
            <p:nvPr/>
          </p:nvSpPr>
          <p:spPr bwMode="auto">
            <a:xfrm>
              <a:off x="4195" y="3023"/>
              <a:ext cx="318" cy="226"/>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T</a:t>
              </a:r>
              <a:r>
                <a:rPr lang="en-US" altLang="zh-CN" b="1" baseline="-25000">
                  <a:solidFill>
                    <a:srgbClr val="333399"/>
                  </a:solidFill>
                </a:rPr>
                <a:t>2</a:t>
              </a:r>
            </a:p>
          </p:txBody>
        </p:sp>
        <p:grpSp>
          <p:nvGrpSpPr>
            <p:cNvPr id="129059" name="Group 35"/>
            <p:cNvGrpSpPr/>
            <p:nvPr/>
          </p:nvGrpSpPr>
          <p:grpSpPr bwMode="auto">
            <a:xfrm>
              <a:off x="1610" y="3023"/>
              <a:ext cx="2585" cy="226"/>
              <a:chOff x="1610" y="3023"/>
              <a:chExt cx="2585" cy="226"/>
            </a:xfrm>
          </p:grpSpPr>
          <p:sp>
            <p:nvSpPr>
              <p:cNvPr id="129060" name="Rectangle 36"/>
              <p:cNvSpPr>
                <a:spLocks noChangeArrowheads="1"/>
              </p:cNvSpPr>
              <p:nvPr/>
            </p:nvSpPr>
            <p:spPr bwMode="auto">
              <a:xfrm>
                <a:off x="1610" y="3023"/>
                <a:ext cx="31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29061" name="Rectangle 37"/>
              <p:cNvSpPr>
                <a:spLocks noChangeArrowheads="1"/>
              </p:cNvSpPr>
              <p:nvPr/>
            </p:nvSpPr>
            <p:spPr bwMode="auto">
              <a:xfrm>
                <a:off x="1928" y="3023"/>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9062" name="Rectangle 38"/>
              <p:cNvSpPr>
                <a:spLocks noChangeArrowheads="1"/>
              </p:cNvSpPr>
              <p:nvPr/>
            </p:nvSpPr>
            <p:spPr bwMode="auto">
              <a:xfrm>
                <a:off x="2246" y="3023"/>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9063" name="Rectangle 39"/>
              <p:cNvSpPr>
                <a:spLocks noChangeArrowheads="1"/>
              </p:cNvSpPr>
              <p:nvPr/>
            </p:nvSpPr>
            <p:spPr bwMode="auto">
              <a:xfrm>
                <a:off x="2562" y="3023"/>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grpSp>
      <p:grpSp>
        <p:nvGrpSpPr>
          <p:cNvPr id="129064" name="Group 40"/>
          <p:cNvGrpSpPr/>
          <p:nvPr/>
        </p:nvGrpSpPr>
        <p:grpSpPr bwMode="auto">
          <a:xfrm>
            <a:off x="4428465" y="4740870"/>
            <a:ext cx="4715669" cy="396875"/>
            <a:chOff x="2575" y="3158"/>
            <a:chExt cx="2742" cy="250"/>
          </a:xfrm>
        </p:grpSpPr>
        <p:sp>
          <p:nvSpPr>
            <p:cNvPr id="129065" name="AutoShape 41"/>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9066" name="AutoShape 42"/>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p:stCondLst>
                              <p:cond delay="1000"/>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p:stCondLst>
                              <p:cond delay="2000"/>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050" name="Group 2"/>
          <p:cNvGrpSpPr/>
          <p:nvPr/>
        </p:nvGrpSpPr>
        <p:grpSpPr bwMode="auto">
          <a:xfrm>
            <a:off x="2768865" y="3950295"/>
            <a:ext cx="4445662" cy="358775"/>
            <a:chOff x="1610" y="3023"/>
            <a:chExt cx="2585" cy="226"/>
          </a:xfrm>
        </p:grpSpPr>
        <p:sp>
          <p:nvSpPr>
            <p:cNvPr id="130051" name="Rectangle 3"/>
            <p:cNvSpPr>
              <a:spLocks noChangeArrowheads="1"/>
            </p:cNvSpPr>
            <p:nvPr/>
          </p:nvSpPr>
          <p:spPr bwMode="auto">
            <a:xfrm>
              <a:off x="1610" y="3023"/>
              <a:ext cx="31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30052" name="Rectangle 4"/>
            <p:cNvSpPr>
              <a:spLocks noChangeArrowheads="1"/>
            </p:cNvSpPr>
            <p:nvPr/>
          </p:nvSpPr>
          <p:spPr bwMode="auto">
            <a:xfrm>
              <a:off x="1928" y="3023"/>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30053" name="Rectangle 5"/>
            <p:cNvSpPr>
              <a:spLocks noChangeArrowheads="1"/>
            </p:cNvSpPr>
            <p:nvPr/>
          </p:nvSpPr>
          <p:spPr bwMode="auto">
            <a:xfrm>
              <a:off x="2246" y="3023"/>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0054" name="Rectangle 6"/>
            <p:cNvSpPr>
              <a:spLocks noChangeArrowheads="1"/>
            </p:cNvSpPr>
            <p:nvPr/>
          </p:nvSpPr>
          <p:spPr bwMode="auto">
            <a:xfrm>
              <a:off x="2562" y="3023"/>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sp>
        <p:nvSpPr>
          <p:cNvPr id="130055" name="Rectangle 7"/>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30056" name="AutoShape 8"/>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57" name="AutoShape 9"/>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58" name="Text Box 10"/>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0059" name="Text Box 11"/>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0060" name="Text Box 12"/>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0061" name="Text Box 13"/>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0062" name="Text Box 14"/>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0063" name="Freeform 15"/>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64" name="Freeform 16"/>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65" name="Freeform 17"/>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66" name="Freeform 18"/>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67" name="AutoShape 19"/>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68" name="Text Box 20"/>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0069" name="Text Box 21"/>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0070" name="Text Box 22"/>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0071" name="Text Box 23"/>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0072" name="Text Box 24"/>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0073" name="Freeform 25"/>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74" name="Freeform 26"/>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75" name="Freeform 27"/>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76" name="Freeform 28"/>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77" name="Text Box 29"/>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30078" name="AutoShape 30"/>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79" name="Text Box 31"/>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30080" name="AutoShape 32"/>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0081" name="Text Box 33"/>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30082" name="Text Box 34"/>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30083" name="Text Box 35"/>
          <p:cNvSpPr txBox="1">
            <a:spLocks noChangeArrowheads="1"/>
          </p:cNvSpPr>
          <p:nvPr/>
        </p:nvSpPr>
        <p:spPr bwMode="auto">
          <a:xfrm>
            <a:off x="2628014" y="2981920"/>
            <a:ext cx="480131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数据链路层剥去帧首部和帧尾部后</a:t>
            </a:r>
          </a:p>
          <a:p>
            <a:pPr algn="ctr" eaLnBrk="0" hangingPunct="0"/>
            <a:r>
              <a:rPr kumimoji="1" lang="zh-CN" altLang="en-US" sz="2400" b="1">
                <a:solidFill>
                  <a:srgbClr val="333399"/>
                </a:solidFill>
                <a:ea typeface="黑体" panose="02010609060101010101" pitchFamily="2" charset="-122"/>
              </a:rPr>
              <a:t>把帧的数据部分交给网络层</a:t>
            </a:r>
          </a:p>
        </p:txBody>
      </p:sp>
      <p:sp>
        <p:nvSpPr>
          <p:cNvPr id="130084" name="Rectangle 36"/>
          <p:cNvSpPr>
            <a:spLocks noChangeArrowheads="1"/>
          </p:cNvSpPr>
          <p:nvPr/>
        </p:nvSpPr>
        <p:spPr bwMode="auto">
          <a:xfrm>
            <a:off x="2144581" y="4524970"/>
            <a:ext cx="624284" cy="358775"/>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2</a:t>
            </a:r>
          </a:p>
        </p:txBody>
      </p:sp>
      <p:sp>
        <p:nvSpPr>
          <p:cNvPr id="130085" name="Rectangle 37"/>
          <p:cNvSpPr>
            <a:spLocks noChangeArrowheads="1"/>
          </p:cNvSpPr>
          <p:nvPr/>
        </p:nvSpPr>
        <p:spPr bwMode="auto">
          <a:xfrm>
            <a:off x="7214527" y="4526558"/>
            <a:ext cx="546894" cy="358775"/>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T</a:t>
            </a:r>
            <a:r>
              <a:rPr lang="en-US" altLang="zh-CN" b="1" baseline="-25000">
                <a:solidFill>
                  <a:srgbClr val="333399"/>
                </a:solidFill>
              </a:rPr>
              <a:t>2</a:t>
            </a:r>
          </a:p>
        </p:txBody>
      </p:sp>
      <p:grpSp>
        <p:nvGrpSpPr>
          <p:cNvPr id="130086" name="Group 38"/>
          <p:cNvGrpSpPr/>
          <p:nvPr/>
        </p:nvGrpSpPr>
        <p:grpSpPr bwMode="auto">
          <a:xfrm>
            <a:off x="2768865" y="4526558"/>
            <a:ext cx="4445662" cy="358775"/>
            <a:chOff x="1610" y="3023"/>
            <a:chExt cx="2585" cy="226"/>
          </a:xfrm>
        </p:grpSpPr>
        <p:sp>
          <p:nvSpPr>
            <p:cNvPr id="130087" name="Rectangle 39"/>
            <p:cNvSpPr>
              <a:spLocks noChangeArrowheads="1"/>
            </p:cNvSpPr>
            <p:nvPr/>
          </p:nvSpPr>
          <p:spPr bwMode="auto">
            <a:xfrm>
              <a:off x="1610" y="3023"/>
              <a:ext cx="31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30088" name="Rectangle 40"/>
            <p:cNvSpPr>
              <a:spLocks noChangeArrowheads="1"/>
            </p:cNvSpPr>
            <p:nvPr/>
          </p:nvSpPr>
          <p:spPr bwMode="auto">
            <a:xfrm>
              <a:off x="1928" y="3023"/>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30089" name="Rectangle 41"/>
            <p:cNvSpPr>
              <a:spLocks noChangeArrowheads="1"/>
            </p:cNvSpPr>
            <p:nvPr/>
          </p:nvSpPr>
          <p:spPr bwMode="auto">
            <a:xfrm>
              <a:off x="2246" y="3023"/>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0090" name="Rectangle 42"/>
            <p:cNvSpPr>
              <a:spLocks noChangeArrowheads="1"/>
            </p:cNvSpPr>
            <p:nvPr/>
          </p:nvSpPr>
          <p:spPr bwMode="auto">
            <a:xfrm>
              <a:off x="2562" y="3023"/>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grpSp>
        <p:nvGrpSpPr>
          <p:cNvPr id="130091" name="Group 43"/>
          <p:cNvGrpSpPr/>
          <p:nvPr/>
        </p:nvGrpSpPr>
        <p:grpSpPr bwMode="auto">
          <a:xfrm>
            <a:off x="4562608" y="4199533"/>
            <a:ext cx="4581525" cy="396875"/>
            <a:chOff x="2653" y="2817"/>
            <a:chExt cx="2664" cy="250"/>
          </a:xfrm>
        </p:grpSpPr>
        <p:sp>
          <p:nvSpPr>
            <p:cNvPr id="130092" name="AutoShape 44"/>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30093" name="AutoShape 45"/>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p:stCondLst>
                              <p:cond delay="4000"/>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p:stCondLst>
                              <p:cond delay="4000"/>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074" name="Group 2"/>
          <p:cNvGrpSpPr/>
          <p:nvPr/>
        </p:nvGrpSpPr>
        <p:grpSpPr bwMode="auto">
          <a:xfrm>
            <a:off x="3314039" y="3302595"/>
            <a:ext cx="3898767" cy="358775"/>
            <a:chOff x="1928" y="2660"/>
            <a:chExt cx="2267" cy="226"/>
          </a:xfrm>
        </p:grpSpPr>
        <p:sp>
          <p:nvSpPr>
            <p:cNvPr id="131075" name="Rectangle 3"/>
            <p:cNvSpPr>
              <a:spLocks noChangeArrowheads="1"/>
            </p:cNvSpPr>
            <p:nvPr/>
          </p:nvSpPr>
          <p:spPr bwMode="auto">
            <a:xfrm>
              <a:off x="1928" y="2660"/>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31076" name="Rectangle 4"/>
            <p:cNvSpPr>
              <a:spLocks noChangeArrowheads="1"/>
            </p:cNvSpPr>
            <p:nvPr/>
          </p:nvSpPr>
          <p:spPr bwMode="auto">
            <a:xfrm>
              <a:off x="2246" y="2660"/>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1077" name="Rectangle 5"/>
            <p:cNvSpPr>
              <a:spLocks noChangeArrowheads="1"/>
            </p:cNvSpPr>
            <p:nvPr/>
          </p:nvSpPr>
          <p:spPr bwMode="auto">
            <a:xfrm>
              <a:off x="2562" y="2660"/>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sp>
        <p:nvSpPr>
          <p:cNvPr id="131078" name="Rectangle 6"/>
          <p:cNvSpPr>
            <a:spLocks noChangeArrowheads="1"/>
          </p:cNvSpPr>
          <p:nvPr/>
        </p:nvSpPr>
        <p:spPr bwMode="auto">
          <a:xfrm>
            <a:off x="2768865" y="3950295"/>
            <a:ext cx="546894" cy="358775"/>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grpSp>
        <p:nvGrpSpPr>
          <p:cNvPr id="131079" name="Group 7"/>
          <p:cNvGrpSpPr/>
          <p:nvPr/>
        </p:nvGrpSpPr>
        <p:grpSpPr bwMode="auto">
          <a:xfrm>
            <a:off x="3315759" y="3950295"/>
            <a:ext cx="3898768" cy="358775"/>
            <a:chOff x="1928" y="2660"/>
            <a:chExt cx="2267" cy="226"/>
          </a:xfrm>
        </p:grpSpPr>
        <p:sp>
          <p:nvSpPr>
            <p:cNvPr id="131080" name="Rectangle 8"/>
            <p:cNvSpPr>
              <a:spLocks noChangeArrowheads="1"/>
            </p:cNvSpPr>
            <p:nvPr/>
          </p:nvSpPr>
          <p:spPr bwMode="auto">
            <a:xfrm>
              <a:off x="1928" y="2660"/>
              <a:ext cx="31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31081" name="Rectangle 9"/>
            <p:cNvSpPr>
              <a:spLocks noChangeArrowheads="1"/>
            </p:cNvSpPr>
            <p:nvPr/>
          </p:nvSpPr>
          <p:spPr bwMode="auto">
            <a:xfrm>
              <a:off x="2246" y="2660"/>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1082" name="Rectangle 10"/>
            <p:cNvSpPr>
              <a:spLocks noChangeArrowheads="1"/>
            </p:cNvSpPr>
            <p:nvPr/>
          </p:nvSpPr>
          <p:spPr bwMode="auto">
            <a:xfrm>
              <a:off x="2562" y="2660"/>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sp>
        <p:nvSpPr>
          <p:cNvPr id="131083" name="Rectangle 11"/>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31084" name="AutoShape 12"/>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85" name="AutoShape 13"/>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86" name="Text Box 14"/>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1087" name="Text Box 15"/>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1088" name="Text Box 16"/>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1089" name="Text Box 17"/>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1090" name="Text Box 18"/>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1091" name="Freeform 19"/>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92" name="Freeform 20"/>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93" name="Freeform 21"/>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94" name="Freeform 22"/>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95" name="AutoShape 23"/>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096" name="Text Box 24"/>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1097" name="Text Box 25"/>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1098" name="Text Box 26"/>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1099" name="Text Box 27"/>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1100" name="Text Box 28"/>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1101" name="Freeform 29"/>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102" name="Freeform 30"/>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103" name="Freeform 31"/>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104" name="Freeform 32"/>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105" name="Text Box 33"/>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31106" name="AutoShape 34"/>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107" name="Text Box 35"/>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31108" name="AutoShape 36"/>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1109" name="Text Box 37"/>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31110" name="Text Box 38"/>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31111" name="Text Box 39"/>
          <p:cNvSpPr txBox="1">
            <a:spLocks noChangeArrowheads="1"/>
          </p:cNvSpPr>
          <p:nvPr/>
        </p:nvSpPr>
        <p:spPr bwMode="auto">
          <a:xfrm>
            <a:off x="2954708" y="2405658"/>
            <a:ext cx="41857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网络层剥去分组首部后</a:t>
            </a:r>
          </a:p>
          <a:p>
            <a:pPr algn="ctr" eaLnBrk="0" hangingPunct="0"/>
            <a:r>
              <a:rPr kumimoji="1" lang="zh-CN" altLang="en-US" sz="2400" b="1">
                <a:solidFill>
                  <a:srgbClr val="333399"/>
                </a:solidFill>
                <a:ea typeface="黑体" panose="02010609060101010101" pitchFamily="2" charset="-122"/>
              </a:rPr>
              <a:t>把分组的数据部分交给运输层</a:t>
            </a:r>
          </a:p>
        </p:txBody>
      </p:sp>
      <p:grpSp>
        <p:nvGrpSpPr>
          <p:cNvPr id="131112" name="Group 40"/>
          <p:cNvGrpSpPr/>
          <p:nvPr/>
        </p:nvGrpSpPr>
        <p:grpSpPr bwMode="auto">
          <a:xfrm>
            <a:off x="4973638" y="3623270"/>
            <a:ext cx="4170495" cy="396875"/>
            <a:chOff x="2892" y="2454"/>
            <a:chExt cx="2425" cy="250"/>
          </a:xfrm>
        </p:grpSpPr>
        <p:sp>
          <p:nvSpPr>
            <p:cNvPr id="131113" name="AutoShape 41"/>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31114" name="AutoShape 42"/>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p:stCondLst>
                              <p:cond delay="4000"/>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p:stCondLst>
                              <p:cond delay="4000"/>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098" name="Group 2"/>
          <p:cNvGrpSpPr/>
          <p:nvPr/>
        </p:nvGrpSpPr>
        <p:grpSpPr bwMode="auto">
          <a:xfrm>
            <a:off x="3860934" y="2724745"/>
            <a:ext cx="3351873" cy="358775"/>
            <a:chOff x="2245" y="2252"/>
            <a:chExt cx="1949" cy="226"/>
          </a:xfrm>
        </p:grpSpPr>
        <p:sp>
          <p:nvSpPr>
            <p:cNvPr id="132099" name="Rectangle 3"/>
            <p:cNvSpPr>
              <a:spLocks noChangeArrowheads="1"/>
            </p:cNvSpPr>
            <p:nvPr/>
          </p:nvSpPr>
          <p:spPr bwMode="auto">
            <a:xfrm>
              <a:off x="2245" y="2252"/>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2100" name="Rectangle 4"/>
            <p:cNvSpPr>
              <a:spLocks noChangeArrowheads="1"/>
            </p:cNvSpPr>
            <p:nvPr/>
          </p:nvSpPr>
          <p:spPr bwMode="auto">
            <a:xfrm>
              <a:off x="2561" y="2252"/>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sp>
        <p:nvSpPr>
          <p:cNvPr id="132101" name="Rectangle 5"/>
          <p:cNvSpPr>
            <a:spLocks noChangeArrowheads="1"/>
          </p:cNvSpPr>
          <p:nvPr/>
        </p:nvSpPr>
        <p:spPr bwMode="auto">
          <a:xfrm>
            <a:off x="3314040" y="3302595"/>
            <a:ext cx="546894" cy="358775"/>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grpSp>
        <p:nvGrpSpPr>
          <p:cNvPr id="132102" name="Group 6"/>
          <p:cNvGrpSpPr/>
          <p:nvPr/>
        </p:nvGrpSpPr>
        <p:grpSpPr bwMode="auto">
          <a:xfrm>
            <a:off x="3860934" y="3302595"/>
            <a:ext cx="3351873" cy="358775"/>
            <a:chOff x="2245" y="2252"/>
            <a:chExt cx="1949" cy="226"/>
          </a:xfrm>
        </p:grpSpPr>
        <p:sp>
          <p:nvSpPr>
            <p:cNvPr id="132103" name="Rectangle 7"/>
            <p:cNvSpPr>
              <a:spLocks noChangeArrowheads="1"/>
            </p:cNvSpPr>
            <p:nvPr/>
          </p:nvSpPr>
          <p:spPr bwMode="auto">
            <a:xfrm>
              <a:off x="2245" y="2252"/>
              <a:ext cx="318"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2104" name="Rectangle 8"/>
            <p:cNvSpPr>
              <a:spLocks noChangeArrowheads="1"/>
            </p:cNvSpPr>
            <p:nvPr/>
          </p:nvSpPr>
          <p:spPr bwMode="auto">
            <a:xfrm>
              <a:off x="2561" y="2252"/>
              <a:ext cx="1633" cy="226"/>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grpSp>
      <p:sp>
        <p:nvSpPr>
          <p:cNvPr id="132105" name="Rectangle 9"/>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32106" name="AutoShape 10"/>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07" name="AutoShape 11"/>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08" name="Text Box 12"/>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2109" name="Text Box 13"/>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2110" name="Text Box 14"/>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2111" name="Text Box 15"/>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2112" name="Text Box 16"/>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2113" name="Freeform 17"/>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14" name="Freeform 18"/>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15" name="Freeform 19"/>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16" name="Freeform 20"/>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17" name="AutoShape 21"/>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18" name="Text Box 22"/>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2119" name="Text Box 23"/>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2120" name="Text Box 24"/>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2121" name="Text Box 25"/>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2122" name="Text Box 26"/>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2123" name="Freeform 27"/>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24" name="Freeform 28"/>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25" name="Freeform 29"/>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26" name="Freeform 30"/>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27" name="Text Box 31"/>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32128" name="AutoShape 32"/>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29" name="Text Box 33"/>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32130" name="AutoShape 34"/>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2131" name="Text Box 35"/>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32132" name="Text Box 36"/>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32133" name="Text Box 37"/>
          <p:cNvSpPr txBox="1">
            <a:spLocks noChangeArrowheads="1"/>
          </p:cNvSpPr>
          <p:nvPr/>
        </p:nvSpPr>
        <p:spPr bwMode="auto">
          <a:xfrm>
            <a:off x="3265990" y="1829395"/>
            <a:ext cx="41857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a:solidFill>
                  <a:srgbClr val="333399"/>
                </a:solidFill>
                <a:ea typeface="黑体" panose="02010609060101010101" pitchFamily="2" charset="-122"/>
              </a:rPr>
              <a:t>运输层剥去报文首部后</a:t>
            </a:r>
          </a:p>
          <a:p>
            <a:pPr algn="ctr" eaLnBrk="0" hangingPunct="0"/>
            <a:r>
              <a:rPr kumimoji="1" lang="zh-CN" altLang="en-US" sz="2400" b="1">
                <a:solidFill>
                  <a:srgbClr val="333399"/>
                </a:solidFill>
                <a:ea typeface="黑体" panose="02010609060101010101" pitchFamily="2" charset="-122"/>
              </a:rPr>
              <a:t>把报文的数据部分交给应用层</a:t>
            </a:r>
          </a:p>
        </p:txBody>
      </p:sp>
      <p:grpSp>
        <p:nvGrpSpPr>
          <p:cNvPr id="132134" name="Group 38"/>
          <p:cNvGrpSpPr/>
          <p:nvPr/>
        </p:nvGrpSpPr>
        <p:grpSpPr bwMode="auto">
          <a:xfrm>
            <a:off x="5364031" y="2975570"/>
            <a:ext cx="3780102" cy="396875"/>
            <a:chOff x="3119" y="2046"/>
            <a:chExt cx="2198" cy="250"/>
          </a:xfrm>
        </p:grpSpPr>
        <p:sp>
          <p:nvSpPr>
            <p:cNvPr id="132135" name="AutoShape 39"/>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32136" name="AutoShape 40"/>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p:stCondLst>
                              <p:cond delay="3000"/>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p:stCondLst>
                              <p:cond delay="3000"/>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406106" y="2150070"/>
            <a:ext cx="2808420" cy="3587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sp>
        <p:nvSpPr>
          <p:cNvPr id="133123" name="Rectangle 3"/>
          <p:cNvSpPr>
            <a:spLocks noChangeArrowheads="1"/>
          </p:cNvSpPr>
          <p:nvPr/>
        </p:nvSpPr>
        <p:spPr bwMode="auto">
          <a:xfrm>
            <a:off x="3860933" y="2724745"/>
            <a:ext cx="546894" cy="358775"/>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33124" name="Rectangle 4"/>
          <p:cNvSpPr>
            <a:spLocks noChangeArrowheads="1"/>
          </p:cNvSpPr>
          <p:nvPr/>
        </p:nvSpPr>
        <p:spPr bwMode="auto">
          <a:xfrm>
            <a:off x="4404388" y="2724745"/>
            <a:ext cx="2808419" cy="358775"/>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anose="020B0604030504040204" pitchFamily="34" charset="0"/>
                <a:ea typeface="黑体" panose="02010609060101010101" pitchFamily="2" charset="-122"/>
              </a:rPr>
              <a:t>应 用 程 序 数 据</a:t>
            </a:r>
          </a:p>
        </p:txBody>
      </p:sp>
      <p:sp>
        <p:nvSpPr>
          <p:cNvPr id="133125" name="Rectangle 5"/>
          <p:cNvSpPr>
            <a:spLocks noGrp="1" noChangeArrowheads="1"/>
          </p:cNvSpPr>
          <p:nvPr>
            <p:ph type="title"/>
          </p:nvPr>
        </p:nvSpPr>
        <p:spPr/>
        <p:txBody>
          <a:bodyPr/>
          <a:lstStyle/>
          <a:p>
            <a:pPr algn="ctr"/>
            <a:r>
              <a:rPr lang="zh-CN" altLang="en-US" dirty="0"/>
              <a:t>主机</a:t>
            </a:r>
            <a:r>
              <a:rPr lang="zh-CN" altLang="en-US" sz="2400" dirty="0"/>
              <a:t> </a:t>
            </a:r>
            <a:r>
              <a:rPr lang="en-US" altLang="zh-CN" dirty="0"/>
              <a:t>1</a:t>
            </a:r>
            <a:r>
              <a:rPr lang="en-US" altLang="zh-CN" sz="2400" dirty="0"/>
              <a:t> </a:t>
            </a:r>
            <a:r>
              <a:rPr lang="zh-CN" altLang="en-US" dirty="0"/>
              <a:t>向主机</a:t>
            </a:r>
            <a:r>
              <a:rPr lang="zh-CN" altLang="en-US" sz="2400" dirty="0"/>
              <a:t> </a:t>
            </a:r>
            <a:r>
              <a:rPr lang="en-US" altLang="zh-CN" dirty="0"/>
              <a:t>2</a:t>
            </a:r>
            <a:r>
              <a:rPr lang="en-US" altLang="zh-CN" sz="2400" dirty="0"/>
              <a:t> </a:t>
            </a:r>
            <a:r>
              <a:rPr lang="zh-CN" altLang="en-US" dirty="0"/>
              <a:t>发送数据 </a:t>
            </a:r>
          </a:p>
        </p:txBody>
      </p:sp>
      <p:sp>
        <p:nvSpPr>
          <p:cNvPr id="133126" name="AutoShape 6"/>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27" name="AutoShape 7"/>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28" name="Text Box 8"/>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3129" name="Text Box 9"/>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3130" name="Text Box 10"/>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3131" name="Text Box 11"/>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3132" name="Text Box 12"/>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3133" name="Freeform 13"/>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34" name="Freeform 14"/>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35" name="Freeform 15"/>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36" name="Freeform 16"/>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37" name="AutoShape 17"/>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38" name="Text Box 18"/>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3139" name="Text Box 19"/>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3140" name="Text Box 20"/>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3141" name="Text Box 21"/>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3142" name="Text Box 22"/>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3143" name="Freeform 23"/>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44" name="Freeform 24"/>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45" name="Freeform 25"/>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46" name="Freeform 26"/>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47" name="Text Box 27"/>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33148" name="AutoShape 28"/>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49" name="Text Box 29"/>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33150" name="AutoShape 30"/>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3151" name="Text Box 31"/>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33152" name="Text Box 32"/>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33153" name="Text Box 33"/>
          <p:cNvSpPr txBox="1">
            <a:spLocks noChangeArrowheads="1"/>
          </p:cNvSpPr>
          <p:nvPr/>
        </p:nvSpPr>
        <p:spPr bwMode="auto">
          <a:xfrm>
            <a:off x="3397289" y="3301007"/>
            <a:ext cx="43909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dirty="0">
                <a:solidFill>
                  <a:srgbClr val="333399"/>
                </a:solidFill>
                <a:ea typeface="黑体" panose="02010609060101010101" pitchFamily="2" charset="-122"/>
              </a:rPr>
              <a:t>应用层剥去应用层 </a:t>
            </a:r>
            <a:r>
              <a:rPr kumimoji="1" lang="en-US" altLang="zh-CN" sz="2400" b="1" dirty="0">
                <a:solidFill>
                  <a:srgbClr val="333399"/>
                </a:solidFill>
                <a:ea typeface="黑体" panose="02010609060101010101" pitchFamily="2" charset="-122"/>
              </a:rPr>
              <a:t>PDU </a:t>
            </a:r>
            <a:r>
              <a:rPr kumimoji="1" lang="zh-CN" altLang="en-US" sz="2400" b="1" dirty="0">
                <a:solidFill>
                  <a:srgbClr val="333399"/>
                </a:solidFill>
                <a:ea typeface="黑体" panose="02010609060101010101" pitchFamily="2" charset="-122"/>
              </a:rPr>
              <a:t>首部后</a:t>
            </a:r>
          </a:p>
          <a:p>
            <a:pPr algn="ctr" eaLnBrk="0" hangingPunct="0"/>
            <a:r>
              <a:rPr kumimoji="1" lang="zh-CN" altLang="en-US" sz="2400" b="1" dirty="0">
                <a:solidFill>
                  <a:srgbClr val="333399"/>
                </a:solidFill>
                <a:ea typeface="黑体" panose="02010609060101010101" pitchFamily="2" charset="-122"/>
              </a:rPr>
              <a:t>把应用程序数据交给应用进程</a:t>
            </a:r>
          </a:p>
        </p:txBody>
      </p:sp>
      <p:grpSp>
        <p:nvGrpSpPr>
          <p:cNvPr id="133154" name="Group 34"/>
          <p:cNvGrpSpPr/>
          <p:nvPr/>
        </p:nvGrpSpPr>
        <p:grpSpPr bwMode="auto">
          <a:xfrm>
            <a:off x="5675313" y="2435820"/>
            <a:ext cx="3468820" cy="396875"/>
            <a:chOff x="3300" y="1706"/>
            <a:chExt cx="2017" cy="250"/>
          </a:xfrm>
        </p:grpSpPr>
        <p:sp>
          <p:nvSpPr>
            <p:cNvPr id="133155" name="AutoShape 35"/>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33156" name="AutoShape 36"/>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p:stCondLst>
                              <p:cond delay="3000"/>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1600"/>
              <a:t> </a:t>
            </a:r>
            <a:r>
              <a:rPr lang="en-US" altLang="zh-CN"/>
              <a:t>2</a:t>
            </a:r>
            <a:r>
              <a:rPr lang="en-US" altLang="zh-CN" sz="2400"/>
              <a:t> </a:t>
            </a:r>
            <a:r>
              <a:rPr lang="zh-CN" altLang="en-US"/>
              <a:t>发送数据 </a:t>
            </a:r>
          </a:p>
        </p:txBody>
      </p:sp>
      <p:sp>
        <p:nvSpPr>
          <p:cNvPr id="134147" name="AutoShape 3"/>
          <p:cNvSpPr>
            <a:spLocks noChangeArrowheads="1"/>
          </p:cNvSpPr>
          <p:nvPr/>
        </p:nvSpPr>
        <p:spPr bwMode="auto">
          <a:xfrm rot="-5400000">
            <a:off x="4756283" y="88562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48" name="AutoShape 4"/>
          <p:cNvSpPr>
            <a:spLocks noChangeArrowheads="1"/>
          </p:cNvSpPr>
          <p:nvPr/>
        </p:nvSpPr>
        <p:spPr bwMode="auto">
          <a:xfrm>
            <a:off x="577850" y="257551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49" name="Text Box 5"/>
          <p:cNvSpPr txBox="1">
            <a:spLocks noChangeArrowheads="1"/>
          </p:cNvSpPr>
          <p:nvPr/>
        </p:nvSpPr>
        <p:spPr bwMode="auto">
          <a:xfrm>
            <a:off x="1025266" y="275490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4150" name="Text Box 6"/>
          <p:cNvSpPr txBox="1">
            <a:spLocks noChangeArrowheads="1"/>
          </p:cNvSpPr>
          <p:nvPr/>
        </p:nvSpPr>
        <p:spPr bwMode="auto">
          <a:xfrm>
            <a:off x="1025266" y="338197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4151" name="Text Box 7"/>
          <p:cNvSpPr txBox="1">
            <a:spLocks noChangeArrowheads="1"/>
          </p:cNvSpPr>
          <p:nvPr/>
        </p:nvSpPr>
        <p:spPr bwMode="auto">
          <a:xfrm>
            <a:off x="1025266" y="39391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4152" name="Text Box 8"/>
          <p:cNvSpPr txBox="1">
            <a:spLocks noChangeArrowheads="1"/>
          </p:cNvSpPr>
          <p:nvPr/>
        </p:nvSpPr>
        <p:spPr bwMode="auto">
          <a:xfrm>
            <a:off x="1025266" y="4497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4153" name="Text Box 9"/>
          <p:cNvSpPr txBox="1">
            <a:spLocks noChangeArrowheads="1"/>
          </p:cNvSpPr>
          <p:nvPr/>
        </p:nvSpPr>
        <p:spPr bwMode="auto">
          <a:xfrm>
            <a:off x="1025266" y="5064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4154" name="Freeform 10"/>
          <p:cNvSpPr/>
          <p:nvPr/>
        </p:nvSpPr>
        <p:spPr bwMode="auto">
          <a:xfrm>
            <a:off x="577850" y="317718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55" name="Freeform 11"/>
          <p:cNvSpPr/>
          <p:nvPr/>
        </p:nvSpPr>
        <p:spPr bwMode="auto">
          <a:xfrm>
            <a:off x="588169" y="375185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56" name="Freeform 12"/>
          <p:cNvSpPr/>
          <p:nvPr/>
        </p:nvSpPr>
        <p:spPr bwMode="auto">
          <a:xfrm>
            <a:off x="564092" y="432812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57" name="Freeform 13"/>
          <p:cNvSpPr/>
          <p:nvPr/>
        </p:nvSpPr>
        <p:spPr bwMode="auto">
          <a:xfrm>
            <a:off x="564092" y="492025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58" name="AutoShape 14"/>
          <p:cNvSpPr>
            <a:spLocks noChangeArrowheads="1"/>
          </p:cNvSpPr>
          <p:nvPr/>
        </p:nvSpPr>
        <p:spPr bwMode="auto">
          <a:xfrm>
            <a:off x="8543925" y="254218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59" name="Text Box 15"/>
          <p:cNvSpPr txBox="1">
            <a:spLocks noChangeArrowheads="1"/>
          </p:cNvSpPr>
          <p:nvPr/>
        </p:nvSpPr>
        <p:spPr bwMode="auto">
          <a:xfrm>
            <a:off x="8585200" y="271998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5</a:t>
            </a:r>
          </a:p>
        </p:txBody>
      </p:sp>
      <p:sp>
        <p:nvSpPr>
          <p:cNvPr id="134160" name="Text Box 16"/>
          <p:cNvSpPr txBox="1">
            <a:spLocks noChangeArrowheads="1"/>
          </p:cNvSpPr>
          <p:nvPr/>
        </p:nvSpPr>
        <p:spPr bwMode="auto">
          <a:xfrm>
            <a:off x="8585200" y="33470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4</a:t>
            </a:r>
          </a:p>
        </p:txBody>
      </p:sp>
      <p:sp>
        <p:nvSpPr>
          <p:cNvPr id="134161" name="Text Box 17"/>
          <p:cNvSpPr txBox="1">
            <a:spLocks noChangeArrowheads="1"/>
          </p:cNvSpPr>
          <p:nvPr/>
        </p:nvSpPr>
        <p:spPr bwMode="auto">
          <a:xfrm>
            <a:off x="8585200" y="390425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3</a:t>
            </a:r>
          </a:p>
        </p:txBody>
      </p:sp>
      <p:sp>
        <p:nvSpPr>
          <p:cNvPr id="134162" name="Text Box 18"/>
          <p:cNvSpPr txBox="1">
            <a:spLocks noChangeArrowheads="1"/>
          </p:cNvSpPr>
          <p:nvPr/>
        </p:nvSpPr>
        <p:spPr bwMode="auto">
          <a:xfrm>
            <a:off x="8585200" y="446464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2</a:t>
            </a:r>
          </a:p>
        </p:txBody>
      </p:sp>
      <p:sp>
        <p:nvSpPr>
          <p:cNvPr id="134163" name="Text Box 19"/>
          <p:cNvSpPr txBox="1">
            <a:spLocks noChangeArrowheads="1"/>
          </p:cNvSpPr>
          <p:nvPr/>
        </p:nvSpPr>
        <p:spPr bwMode="auto">
          <a:xfrm>
            <a:off x="8585200" y="502979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1</a:t>
            </a:r>
          </a:p>
        </p:txBody>
      </p:sp>
      <p:sp>
        <p:nvSpPr>
          <p:cNvPr id="134164" name="Freeform 20"/>
          <p:cNvSpPr/>
          <p:nvPr/>
        </p:nvSpPr>
        <p:spPr bwMode="auto">
          <a:xfrm>
            <a:off x="8543925" y="314225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65" name="Freeform 21"/>
          <p:cNvSpPr/>
          <p:nvPr/>
        </p:nvSpPr>
        <p:spPr bwMode="auto">
          <a:xfrm>
            <a:off x="8554244" y="371693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66" name="Freeform 22"/>
          <p:cNvSpPr/>
          <p:nvPr/>
        </p:nvSpPr>
        <p:spPr bwMode="auto">
          <a:xfrm>
            <a:off x="8530167" y="429319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67" name="Freeform 23"/>
          <p:cNvSpPr/>
          <p:nvPr/>
        </p:nvSpPr>
        <p:spPr bwMode="auto">
          <a:xfrm>
            <a:off x="8530167" y="488533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68"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1</a:t>
            </a:r>
          </a:p>
        </p:txBody>
      </p:sp>
      <p:sp>
        <p:nvSpPr>
          <p:cNvPr id="134169" name="AutoShape 25"/>
          <p:cNvSpPr>
            <a:spLocks noChangeArrowheads="1"/>
          </p:cNvSpPr>
          <p:nvPr/>
        </p:nvSpPr>
        <p:spPr bwMode="auto">
          <a:xfrm>
            <a:off x="8703866" y="204529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70" name="Text Box 26"/>
          <p:cNvSpPr txBox="1">
            <a:spLocks noChangeArrowheads="1"/>
          </p:cNvSpPr>
          <p:nvPr/>
        </p:nvSpPr>
        <p:spPr bwMode="auto">
          <a:xfrm>
            <a:off x="8696987" y="215007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34171" name="AutoShape 27"/>
          <p:cNvSpPr>
            <a:spLocks noChangeArrowheads="1"/>
          </p:cNvSpPr>
          <p:nvPr/>
        </p:nvSpPr>
        <p:spPr bwMode="auto">
          <a:xfrm>
            <a:off x="583010" y="208815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34172" name="Text Box 28"/>
          <p:cNvSpPr txBox="1">
            <a:spLocks noChangeArrowheads="1"/>
          </p:cNvSpPr>
          <p:nvPr/>
        </p:nvSpPr>
        <p:spPr bwMode="auto">
          <a:xfrm>
            <a:off x="605367" y="220880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34173"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a:solidFill>
                  <a:srgbClr val="C00000"/>
                </a:solidFill>
                <a:ea typeface="黑体" panose="02010609060101010101" pitchFamily="2" charset="-122"/>
              </a:rPr>
              <a:t>主机</a:t>
            </a:r>
            <a:r>
              <a:rPr kumimoji="1" lang="zh-CN" altLang="en-US" sz="1050" b="1">
                <a:solidFill>
                  <a:srgbClr val="C00000"/>
                </a:solidFill>
                <a:ea typeface="黑体" panose="02010609060101010101" pitchFamily="2" charset="-122"/>
              </a:rPr>
              <a:t> </a:t>
            </a:r>
            <a:r>
              <a:rPr kumimoji="1" lang="en-US" altLang="zh-CN" sz="2400" b="1">
                <a:solidFill>
                  <a:srgbClr val="C00000"/>
                </a:solidFill>
                <a:ea typeface="黑体" panose="02010609060101010101" pitchFamily="2" charset="-122"/>
              </a:rPr>
              <a:t>2</a:t>
            </a:r>
          </a:p>
        </p:txBody>
      </p:sp>
      <p:sp>
        <p:nvSpPr>
          <p:cNvPr id="134174" name="AutoShape 30"/>
          <p:cNvSpPr>
            <a:spLocks noChangeArrowheads="1"/>
          </p:cNvSpPr>
          <p:nvPr/>
        </p:nvSpPr>
        <p:spPr bwMode="auto">
          <a:xfrm>
            <a:off x="4406106" y="1716683"/>
            <a:ext cx="3198813" cy="935037"/>
          </a:xfrm>
          <a:prstGeom prst="wedgeRoundRectCallout">
            <a:avLst>
              <a:gd name="adj1" fmla="val 87310"/>
              <a:gd name="adj2" fmla="val 18931"/>
              <a:gd name="adj3" fmla="val 16667"/>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b="1">
              <a:latin typeface="Tahoma" panose="020B0604030504040204" pitchFamily="34" charset="0"/>
            </a:endParaRPr>
          </a:p>
        </p:txBody>
      </p:sp>
      <p:sp>
        <p:nvSpPr>
          <p:cNvPr id="134175" name="Text Box 31"/>
          <p:cNvSpPr txBox="1">
            <a:spLocks noChangeArrowheads="1"/>
          </p:cNvSpPr>
          <p:nvPr/>
        </p:nvSpPr>
        <p:spPr bwMode="auto">
          <a:xfrm>
            <a:off x="4594121" y="1788120"/>
            <a:ext cx="297068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kumimoji="1" lang="zh-CN" altLang="en-US" sz="2400" b="1" dirty="0">
                <a:solidFill>
                  <a:srgbClr val="333399"/>
                </a:solidFill>
                <a:latin typeface="Tahoma" panose="020B0604030504040204" pitchFamily="34" charset="0"/>
                <a:ea typeface="黑体" panose="02010609060101010101" pitchFamily="2" charset="-122"/>
              </a:rPr>
              <a:t>我收到了</a:t>
            </a:r>
            <a:r>
              <a:rPr kumimoji="1" lang="zh-CN" altLang="en-US" sz="1400" b="1" dirty="0">
                <a:solidFill>
                  <a:srgbClr val="333399"/>
                </a:solidFill>
                <a:ea typeface="黑体" panose="02010609060101010101" pitchFamily="2" charset="-122"/>
              </a:rPr>
              <a:t> </a:t>
            </a:r>
            <a:r>
              <a:rPr kumimoji="1" lang="en-US" altLang="zh-CN" sz="2400" b="1" dirty="0">
                <a:solidFill>
                  <a:srgbClr val="333399"/>
                </a:solidFill>
                <a:ea typeface="黑体" panose="02010609060101010101" pitchFamily="2" charset="-122"/>
              </a:rPr>
              <a:t>AP</a:t>
            </a:r>
            <a:r>
              <a:rPr kumimoji="1" lang="en-US" altLang="zh-CN" sz="2400" b="1" baseline="-25000" dirty="0">
                <a:solidFill>
                  <a:srgbClr val="333399"/>
                </a:solidFill>
                <a:ea typeface="黑体" panose="02010609060101010101" pitchFamily="2" charset="-122"/>
              </a:rPr>
              <a:t>1</a:t>
            </a:r>
            <a:r>
              <a:rPr kumimoji="1" lang="en-US" altLang="zh-CN" sz="1600" b="1" dirty="0">
                <a:solidFill>
                  <a:srgbClr val="333399"/>
                </a:solidFill>
                <a:ea typeface="黑体" panose="02010609060101010101" pitchFamily="2" charset="-122"/>
              </a:rPr>
              <a:t> </a:t>
            </a:r>
            <a:r>
              <a:rPr kumimoji="1" lang="zh-CN" altLang="en-US" sz="2400" b="1" dirty="0">
                <a:solidFill>
                  <a:srgbClr val="333399"/>
                </a:solidFill>
                <a:latin typeface="Tahoma" panose="020B0604030504040204" pitchFamily="34" charset="0"/>
                <a:ea typeface="黑体" panose="02010609060101010101" pitchFamily="2" charset="-122"/>
              </a:rPr>
              <a:t>发来的</a:t>
            </a:r>
          </a:p>
          <a:p>
            <a:pPr algn="ctr" eaLnBrk="0" hangingPunct="0"/>
            <a:r>
              <a:rPr kumimoji="1" lang="zh-CN" altLang="en-US" sz="2400" b="1" dirty="0">
                <a:solidFill>
                  <a:srgbClr val="333399"/>
                </a:solidFill>
                <a:ea typeface="黑体" panose="02010609060101010101" pitchFamily="2" charset="-122"/>
              </a:rPr>
              <a:t>应用程序数据！</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主机</a:t>
            </a:r>
            <a:r>
              <a:rPr lang="zh-CN" altLang="en-US" sz="2400" dirty="0"/>
              <a:t> </a:t>
            </a:r>
            <a:r>
              <a:rPr lang="en-US" altLang="zh-CN" dirty="0"/>
              <a:t>1</a:t>
            </a:r>
            <a:r>
              <a:rPr lang="en-US" altLang="zh-CN" sz="2400" dirty="0"/>
              <a:t> </a:t>
            </a:r>
            <a:r>
              <a:rPr lang="zh-CN" altLang="en-US" dirty="0"/>
              <a:t>向主机</a:t>
            </a:r>
            <a:r>
              <a:rPr lang="zh-CN" altLang="en-US" sz="2400" dirty="0"/>
              <a:t> </a:t>
            </a:r>
            <a:r>
              <a:rPr lang="en-US" altLang="zh-CN" dirty="0"/>
              <a:t>2</a:t>
            </a:r>
            <a:r>
              <a:rPr lang="en-US" altLang="zh-CN" sz="2400" dirty="0"/>
              <a:t> </a:t>
            </a:r>
            <a:r>
              <a:rPr lang="zh-CN" altLang="en-US" dirty="0"/>
              <a:t>发送数据 </a:t>
            </a:r>
          </a:p>
        </p:txBody>
      </p:sp>
      <p:sp>
        <p:nvSpPr>
          <p:cNvPr id="3" name="内容占位符 2"/>
          <p:cNvSpPr>
            <a:spLocks noGrp="1"/>
          </p:cNvSpPr>
          <p:nvPr>
            <p:ph idx="1"/>
          </p:nvPr>
        </p:nvSpPr>
        <p:spPr/>
        <p:txBody>
          <a:bodyPr/>
          <a:lstStyle/>
          <a:p>
            <a:r>
              <a:rPr lang="en-US" altLang="zh-CN" dirty="0"/>
              <a:t>OSI </a:t>
            </a:r>
            <a:r>
              <a:rPr lang="zh-CN" altLang="zh-CN" dirty="0"/>
              <a:t>参考模型把对等层次之间传送的数据单位称为该层的</a:t>
            </a:r>
            <a:r>
              <a:rPr lang="zh-CN" altLang="zh-CN" dirty="0">
                <a:solidFill>
                  <a:srgbClr val="FF0000"/>
                </a:solidFill>
              </a:rPr>
              <a:t>协议数据单元</a:t>
            </a:r>
            <a:r>
              <a:rPr lang="en-US" altLang="zh-CN" dirty="0">
                <a:solidFill>
                  <a:srgbClr val="FF0000"/>
                </a:solidFill>
              </a:rPr>
              <a:t> PDU </a:t>
            </a:r>
            <a:r>
              <a:rPr lang="en-US" altLang="zh-CN" dirty="0"/>
              <a:t>(Protocol Data Unit)</a:t>
            </a:r>
            <a:r>
              <a:rPr lang="zh-CN" altLang="zh-CN" dirty="0"/>
              <a:t>。这个名词现已被许多非</a:t>
            </a:r>
            <a:r>
              <a:rPr lang="en-US" altLang="zh-CN" dirty="0"/>
              <a:t> OSI </a:t>
            </a:r>
            <a:r>
              <a:rPr lang="zh-CN" altLang="zh-CN" dirty="0"/>
              <a:t>标准采用。</a:t>
            </a:r>
          </a:p>
          <a:p>
            <a:r>
              <a:rPr lang="zh-CN" altLang="zh-CN" dirty="0"/>
              <a:t>任何两个同样的层次把数据（即数据单元加上控制信息）通过水平虚线直接传递给对方。这就是所谓的“</a:t>
            </a:r>
            <a:r>
              <a:rPr lang="zh-CN" altLang="zh-CN" dirty="0">
                <a:solidFill>
                  <a:srgbClr val="FF0000"/>
                </a:solidFill>
              </a:rPr>
              <a:t>对等层</a:t>
            </a:r>
            <a:r>
              <a:rPr lang="zh-CN" altLang="zh-CN" dirty="0"/>
              <a:t>”</a:t>
            </a:r>
            <a:r>
              <a:rPr lang="en-US" altLang="zh-CN" dirty="0"/>
              <a:t>(peer layers)</a:t>
            </a:r>
            <a:r>
              <a:rPr lang="zh-CN" altLang="zh-CN" dirty="0"/>
              <a:t>之间的通信。</a:t>
            </a:r>
            <a:endParaRPr lang="en-US" altLang="zh-CN" dirty="0"/>
          </a:p>
          <a:p>
            <a:r>
              <a:rPr lang="zh-CN" altLang="zh-CN" dirty="0">
                <a:solidFill>
                  <a:srgbClr val="FF0000"/>
                </a:solidFill>
              </a:rPr>
              <a:t>各层协议</a:t>
            </a:r>
            <a:r>
              <a:rPr lang="zh-CN" altLang="zh-CN" dirty="0"/>
              <a:t>实际上就是在各个对等层之间传递数据时的各项规定。</a:t>
            </a:r>
            <a:endParaRPr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zh-CN" altLang="en-US" dirty="0"/>
              <a:t>协议</a:t>
            </a:r>
          </a:p>
        </p:txBody>
      </p:sp>
      <p:sp>
        <p:nvSpPr>
          <p:cNvPr id="101379" name="Rectangle 3"/>
          <p:cNvSpPr>
            <a:spLocks noGrp="1" noChangeArrowheads="1"/>
          </p:cNvSpPr>
          <p:nvPr>
            <p:ph idx="1"/>
          </p:nvPr>
        </p:nvSpPr>
        <p:spPr/>
        <p:txBody>
          <a:bodyPr/>
          <a:lstStyle/>
          <a:p>
            <a:r>
              <a:rPr lang="zh-CN" altLang="en-US" dirty="0"/>
              <a:t>计算机网络中的数据交换</a:t>
            </a:r>
            <a:r>
              <a:rPr lang="zh-CN" altLang="en-US" dirty="0">
                <a:solidFill>
                  <a:srgbClr val="FF0000"/>
                </a:solidFill>
              </a:rPr>
              <a:t>必须遵守事先约定好的规则。 </a:t>
            </a:r>
          </a:p>
          <a:p>
            <a:r>
              <a:rPr lang="zh-CN" altLang="en-US" dirty="0"/>
              <a:t>这些</a:t>
            </a:r>
            <a:r>
              <a:rPr lang="zh-CN" altLang="en-US" dirty="0">
                <a:solidFill>
                  <a:srgbClr val="FF0000"/>
                </a:solidFill>
              </a:rPr>
              <a:t>规则</a:t>
            </a:r>
            <a:r>
              <a:rPr lang="zh-CN" altLang="en-US" dirty="0"/>
              <a:t>明确规定了所交换的数据的格式以及有关的同步问题（同步含有时序的意思）。</a:t>
            </a:r>
          </a:p>
          <a:p>
            <a:r>
              <a:rPr lang="zh-CN" altLang="en-US" dirty="0">
                <a:solidFill>
                  <a:srgbClr val="FF0000"/>
                </a:solidFill>
              </a:rPr>
              <a:t>网络协议 </a:t>
            </a:r>
            <a:r>
              <a:rPr lang="en-US" altLang="zh-CN" dirty="0"/>
              <a:t>(network protocol)</a:t>
            </a:r>
            <a:r>
              <a:rPr lang="zh-CN" altLang="en-US" dirty="0"/>
              <a:t>，简称为</a:t>
            </a:r>
            <a:r>
              <a:rPr lang="zh-CN" altLang="en-US" dirty="0">
                <a:solidFill>
                  <a:srgbClr val="FF0000"/>
                </a:solidFill>
              </a:rPr>
              <a:t>协议，</a:t>
            </a:r>
            <a:r>
              <a:rPr lang="zh-CN" altLang="en-US" dirty="0">
                <a:solidFill>
                  <a:schemeClr val="tx1"/>
                </a:solidFill>
              </a:rPr>
              <a:t>是</a:t>
            </a:r>
            <a:r>
              <a:rPr lang="zh-CN" altLang="en-US" dirty="0"/>
              <a:t>为进行网络中的数据交换而建立的规则、标准或约定。 </a:t>
            </a:r>
          </a:p>
        </p:txBody>
      </p:sp>
    </p:spTree>
    <p:extLst>
      <p:ext uri="{BB962C8B-B14F-4D97-AF65-F5344CB8AC3E}">
        <p14:creationId xmlns:p14="http://schemas.microsoft.com/office/powerpoint/2010/main" val="287819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algn="ctr"/>
            <a:r>
              <a:rPr lang="zh-CN" altLang="en-US" dirty="0"/>
              <a:t>网络协议的三个组成要素 </a:t>
            </a:r>
          </a:p>
        </p:txBody>
      </p:sp>
      <p:sp>
        <p:nvSpPr>
          <p:cNvPr id="102403" name="Rectangle 3"/>
          <p:cNvSpPr>
            <a:spLocks noGrp="1" noChangeArrowheads="1"/>
          </p:cNvSpPr>
          <p:nvPr>
            <p:ph idx="1"/>
          </p:nvPr>
        </p:nvSpPr>
        <p:spPr/>
        <p:txBody>
          <a:bodyPr/>
          <a:lstStyle/>
          <a:p>
            <a:r>
              <a:rPr lang="zh-CN" altLang="en-US" dirty="0">
                <a:solidFill>
                  <a:srgbClr val="FF0000"/>
                </a:solidFill>
              </a:rPr>
              <a:t>语法：</a:t>
            </a:r>
            <a:r>
              <a:rPr lang="zh-CN" altLang="en-US" dirty="0"/>
              <a:t>数据与控制信息的结构或格式 。 </a:t>
            </a:r>
          </a:p>
          <a:p>
            <a:r>
              <a:rPr lang="zh-CN" altLang="en-US" dirty="0">
                <a:solidFill>
                  <a:srgbClr val="FF0000"/>
                </a:solidFill>
              </a:rPr>
              <a:t>语义：</a:t>
            </a:r>
            <a:r>
              <a:rPr lang="zh-CN" altLang="en-US" dirty="0"/>
              <a:t>需要发出何种控制信息，完成何种动作以及做出何种响应。 </a:t>
            </a:r>
          </a:p>
          <a:p>
            <a:r>
              <a:rPr lang="zh-CN" altLang="en-US" dirty="0">
                <a:solidFill>
                  <a:srgbClr val="FF0000"/>
                </a:solidFill>
              </a:rPr>
              <a:t>同步：</a:t>
            </a:r>
            <a:r>
              <a:rPr lang="zh-CN" altLang="en-US" dirty="0"/>
              <a:t>事件实现顺序的详细说明。 </a:t>
            </a:r>
          </a:p>
        </p:txBody>
      </p:sp>
      <p:sp>
        <p:nvSpPr>
          <p:cNvPr id="2" name="矩形 1"/>
          <p:cNvSpPr/>
          <p:nvPr/>
        </p:nvSpPr>
        <p:spPr>
          <a:xfrm>
            <a:off x="1856656" y="3771781"/>
            <a:ext cx="6408712" cy="1075103"/>
          </a:xfrm>
          <a:prstGeom prst="rect">
            <a:avLst/>
          </a:prstGeom>
          <a:solidFill>
            <a:srgbClr val="FFFF66"/>
          </a:solidFill>
          <a:ln>
            <a:solidFill>
              <a:srgbClr val="000099"/>
            </a:solidFill>
          </a:ln>
        </p:spPr>
        <p:txBody>
          <a:bodyPr wrap="square">
            <a:spAutoFit/>
          </a:bodyPr>
          <a:lstStyle/>
          <a:p>
            <a:pPr>
              <a:lnSpc>
                <a:spcPct val="120000"/>
              </a:lnSpc>
            </a:pPr>
            <a:r>
              <a:rPr lang="zh-CN" altLang="zh-CN" sz="2800" b="1" dirty="0">
                <a:solidFill>
                  <a:srgbClr val="000066"/>
                </a:solidFill>
                <a:latin typeface="+mn-lt"/>
                <a:ea typeface="黑体" panose="02010609060101010101" pitchFamily="2" charset="-122"/>
              </a:rPr>
              <a:t>由此可见，网络协议是计算机网络的不可缺少的组成部分。</a:t>
            </a:r>
            <a:endParaRPr lang="zh-CN" altLang="en-US" sz="2800" b="1" dirty="0">
              <a:solidFill>
                <a:srgbClr val="000066"/>
              </a:solidFill>
              <a:latin typeface="+mn-lt"/>
              <a:ea typeface="黑体" panose="02010609060101010101" pitchFamily="2" charset="-122"/>
            </a:endParaRPr>
          </a:p>
        </p:txBody>
      </p:sp>
    </p:spTree>
    <p:extLst>
      <p:ext uri="{BB962C8B-B14F-4D97-AF65-F5344CB8AC3E}">
        <p14:creationId xmlns:p14="http://schemas.microsoft.com/office/powerpoint/2010/main" val="262069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P spid="2"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协议的两种形式</a:t>
            </a:r>
          </a:p>
        </p:txBody>
      </p:sp>
      <p:sp>
        <p:nvSpPr>
          <p:cNvPr id="3" name="内容占位符 2"/>
          <p:cNvSpPr>
            <a:spLocks noGrp="1"/>
          </p:cNvSpPr>
          <p:nvPr>
            <p:ph idx="1"/>
          </p:nvPr>
        </p:nvSpPr>
        <p:spPr/>
        <p:txBody>
          <a:bodyPr/>
          <a:lstStyle/>
          <a:p>
            <a:r>
              <a:rPr lang="zh-CN" altLang="zh-CN" dirty="0"/>
              <a:t>一种是使用便于人来阅读和理解的</a:t>
            </a:r>
            <a:r>
              <a:rPr lang="zh-CN" altLang="zh-CN" dirty="0">
                <a:solidFill>
                  <a:srgbClr val="FF0000"/>
                </a:solidFill>
              </a:rPr>
              <a:t>文字描述。</a:t>
            </a:r>
            <a:endParaRPr lang="en-US" altLang="zh-CN" dirty="0">
              <a:solidFill>
                <a:srgbClr val="FF0000"/>
              </a:solidFill>
            </a:endParaRPr>
          </a:p>
          <a:p>
            <a:r>
              <a:rPr lang="zh-CN" altLang="zh-CN" dirty="0"/>
              <a:t>另一种是使用让计算机能够理解的</a:t>
            </a:r>
            <a:r>
              <a:rPr lang="zh-CN" altLang="zh-CN" dirty="0">
                <a:solidFill>
                  <a:srgbClr val="FF0000"/>
                </a:solidFill>
              </a:rPr>
              <a:t>程序代码。</a:t>
            </a:r>
            <a:endParaRPr lang="en-US" altLang="zh-CN" dirty="0">
              <a:solidFill>
                <a:srgbClr val="FF0000"/>
              </a:solidFill>
            </a:endParaRPr>
          </a:p>
          <a:p>
            <a:r>
              <a:rPr lang="zh-CN" altLang="zh-CN" dirty="0"/>
              <a:t>这两种不同形式的协议都必须能够对网络上信息交换过程</a:t>
            </a:r>
            <a:r>
              <a:rPr lang="zh-CN" altLang="zh-CN" dirty="0">
                <a:solidFill>
                  <a:srgbClr val="FF0000"/>
                </a:solidFill>
              </a:rPr>
              <a:t>做出精确的解释。</a:t>
            </a:r>
            <a:endParaRPr lang="zh-CN" altLang="en-US" dirty="0">
              <a:solidFill>
                <a:srgbClr val="FF0000"/>
              </a:solidFill>
            </a:endParaRPr>
          </a:p>
        </p:txBody>
      </p:sp>
    </p:spTree>
    <p:extLst>
      <p:ext uri="{BB962C8B-B14F-4D97-AF65-F5344CB8AC3E}">
        <p14:creationId xmlns:p14="http://schemas.microsoft.com/office/powerpoint/2010/main" val="18309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algn="ctr"/>
            <a:r>
              <a:rPr lang="zh-CN" altLang="en-US"/>
              <a:t>协议很复杂 </a:t>
            </a:r>
          </a:p>
        </p:txBody>
      </p:sp>
      <p:sp>
        <p:nvSpPr>
          <p:cNvPr id="140291" name="Rectangle 3"/>
          <p:cNvSpPr>
            <a:spLocks noGrp="1" noChangeArrowheads="1"/>
          </p:cNvSpPr>
          <p:nvPr>
            <p:ph idx="1"/>
          </p:nvPr>
        </p:nvSpPr>
        <p:spPr/>
        <p:txBody>
          <a:bodyPr/>
          <a:lstStyle/>
          <a:p>
            <a:r>
              <a:rPr lang="zh-CN" altLang="en-US" dirty="0"/>
              <a:t>协议必须把所有</a:t>
            </a:r>
            <a:r>
              <a:rPr lang="zh-CN" altLang="en-US" dirty="0">
                <a:solidFill>
                  <a:srgbClr val="FF0000"/>
                </a:solidFill>
              </a:rPr>
              <a:t>不利的条件</a:t>
            </a:r>
            <a:r>
              <a:rPr lang="zh-CN" altLang="en-US" dirty="0"/>
              <a:t>事先都估计到，而</a:t>
            </a:r>
            <a:r>
              <a:rPr lang="zh-CN" altLang="en-US" dirty="0">
                <a:solidFill>
                  <a:srgbClr val="FF0000"/>
                </a:solidFill>
              </a:rPr>
              <a:t>不能假定</a:t>
            </a:r>
            <a:r>
              <a:rPr lang="zh-CN" altLang="en-US" dirty="0"/>
              <a:t>一切都是正常的和非常理想的。 </a:t>
            </a:r>
          </a:p>
          <a:p>
            <a:r>
              <a:rPr lang="zh-CN" altLang="en-US" dirty="0"/>
              <a:t>看一个计算机网络协议是否正确，不能光看在正常情况下是否正确，还必须非常仔细地检查这个协议</a:t>
            </a:r>
            <a:r>
              <a:rPr lang="zh-CN" altLang="en-US" dirty="0">
                <a:solidFill>
                  <a:srgbClr val="FF0000"/>
                </a:solidFill>
              </a:rPr>
              <a:t>能否应付各种异常情况。 </a:t>
            </a:r>
          </a:p>
        </p:txBody>
      </p:sp>
    </p:spTree>
    <p:extLst>
      <p:ext uri="{BB962C8B-B14F-4D97-AF65-F5344CB8AC3E}">
        <p14:creationId xmlns:p14="http://schemas.microsoft.com/office/powerpoint/2010/main" val="105828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ctr"/>
            <a:r>
              <a:rPr lang="en-US" altLang="zh-CN" dirty="0"/>
              <a:t>【</a:t>
            </a:r>
            <a:r>
              <a:rPr lang="zh-CN" altLang="en-US" dirty="0"/>
              <a:t>例</a:t>
            </a:r>
            <a:r>
              <a:rPr lang="en-US" altLang="zh-CN" dirty="0"/>
              <a:t>1-1】</a:t>
            </a:r>
            <a:r>
              <a:rPr lang="zh-CN" altLang="en-US" dirty="0"/>
              <a:t>著名的协议举例</a:t>
            </a:r>
            <a:endParaRPr lang="en-US" altLang="zh-CN" dirty="0"/>
          </a:p>
        </p:txBody>
      </p:sp>
      <p:sp>
        <p:nvSpPr>
          <p:cNvPr id="141315" name="Rectangle 3"/>
          <p:cNvSpPr>
            <a:spLocks noGrp="1" noChangeArrowheads="1"/>
          </p:cNvSpPr>
          <p:nvPr>
            <p:ph idx="1"/>
          </p:nvPr>
        </p:nvSpPr>
        <p:spPr/>
        <p:txBody>
          <a:bodyPr/>
          <a:lstStyle/>
          <a:p>
            <a:r>
              <a:rPr lang="zh-CN" altLang="en-US" sz="2900" dirty="0"/>
              <a:t>占据东、西两个山顶的蓝军 </a:t>
            </a:r>
            <a:r>
              <a:rPr lang="en-US" altLang="zh-CN" sz="2900" dirty="0"/>
              <a:t>1 </a:t>
            </a:r>
            <a:r>
              <a:rPr lang="zh-CN" altLang="en-US" sz="2900" dirty="0"/>
              <a:t>和蓝军 </a:t>
            </a:r>
            <a:r>
              <a:rPr lang="en-US" altLang="zh-CN" sz="2900" dirty="0"/>
              <a:t>2 </a:t>
            </a:r>
            <a:r>
              <a:rPr lang="zh-CN" altLang="en-US" sz="2900" dirty="0"/>
              <a:t>与驻扎在山谷的白军作战。其力量对比是：单独的蓝军</a:t>
            </a:r>
            <a:r>
              <a:rPr lang="en-US" altLang="zh-CN" sz="2900" dirty="0"/>
              <a:t>1</a:t>
            </a:r>
            <a:r>
              <a:rPr lang="zh-CN" altLang="en-US" sz="2900" dirty="0"/>
              <a:t>或蓝军</a:t>
            </a:r>
            <a:r>
              <a:rPr lang="en-US" altLang="zh-CN" sz="2900" dirty="0"/>
              <a:t>2</a:t>
            </a:r>
            <a:r>
              <a:rPr lang="zh-CN" altLang="en-US" sz="2900" dirty="0"/>
              <a:t>打不过白军，但蓝军 </a:t>
            </a:r>
            <a:r>
              <a:rPr lang="en-US" altLang="zh-CN" sz="2900" dirty="0"/>
              <a:t>1 </a:t>
            </a:r>
            <a:r>
              <a:rPr lang="zh-CN" altLang="en-US" sz="2900" dirty="0"/>
              <a:t>和蓝军 </a:t>
            </a:r>
            <a:r>
              <a:rPr lang="en-US" altLang="zh-CN" sz="2900" dirty="0"/>
              <a:t>2 </a:t>
            </a:r>
            <a:r>
              <a:rPr lang="zh-CN" altLang="en-US" sz="2900" dirty="0"/>
              <a:t>协同作战则可战胜白军。现蓝军 </a:t>
            </a:r>
            <a:r>
              <a:rPr lang="en-US" altLang="zh-CN" sz="2900" dirty="0"/>
              <a:t>1 </a:t>
            </a:r>
            <a:r>
              <a:rPr lang="zh-CN" altLang="en-US" sz="2900" dirty="0"/>
              <a:t>拟于次日正午向白军发起攻击。于是用计算机发送电文给蓝军 </a:t>
            </a:r>
            <a:r>
              <a:rPr lang="en-US" altLang="zh-CN" sz="2900" dirty="0"/>
              <a:t>2</a:t>
            </a:r>
            <a:r>
              <a:rPr lang="zh-CN" altLang="en-US" sz="2900" dirty="0"/>
              <a:t>。但通信线路很不好，电文出错或丢失的可能性较大（没有电话可使用）。因此要求收到电文的友军必须送回一个确认电文。但此确认电文也可能出错或丢失。</a:t>
            </a:r>
            <a:r>
              <a:rPr lang="zh-CN" altLang="en-US" sz="2900" dirty="0">
                <a:solidFill>
                  <a:srgbClr val="FF0000"/>
                </a:solidFill>
              </a:rPr>
              <a:t>试问能否设计出一种协议使得蓝军 </a:t>
            </a:r>
            <a:r>
              <a:rPr lang="en-US" altLang="zh-CN" sz="2900" dirty="0">
                <a:solidFill>
                  <a:srgbClr val="FF0000"/>
                </a:solidFill>
              </a:rPr>
              <a:t>1 </a:t>
            </a:r>
            <a:r>
              <a:rPr lang="zh-CN" altLang="en-US" sz="2900" dirty="0">
                <a:solidFill>
                  <a:srgbClr val="FF0000"/>
                </a:solidFill>
              </a:rPr>
              <a:t>和蓝军 </a:t>
            </a:r>
            <a:r>
              <a:rPr lang="en-US" altLang="zh-CN" sz="2900" dirty="0">
                <a:solidFill>
                  <a:srgbClr val="FF0000"/>
                </a:solidFill>
              </a:rPr>
              <a:t>2 </a:t>
            </a:r>
            <a:r>
              <a:rPr lang="zh-CN" altLang="en-US" sz="2900" dirty="0">
                <a:solidFill>
                  <a:srgbClr val="FF0000"/>
                </a:solidFill>
              </a:rPr>
              <a:t>能够实现协同作战，因而一定（即 </a:t>
            </a:r>
            <a:r>
              <a:rPr lang="en-US" altLang="zh-CN" sz="2900" dirty="0">
                <a:solidFill>
                  <a:srgbClr val="FF0000"/>
                </a:solidFill>
              </a:rPr>
              <a:t>100 %</a:t>
            </a:r>
            <a:r>
              <a:rPr lang="zh-CN" altLang="en-US" sz="2900" dirty="0">
                <a:solidFill>
                  <a:srgbClr val="FF0000"/>
                </a:solidFill>
              </a:rPr>
              <a:t>而不是 </a:t>
            </a:r>
            <a:r>
              <a:rPr lang="en-US" altLang="zh-CN" sz="2900" dirty="0">
                <a:solidFill>
                  <a:srgbClr val="FF0000"/>
                </a:solidFill>
              </a:rPr>
              <a:t>99.999…%</a:t>
            </a:r>
            <a:r>
              <a:rPr lang="zh-CN" altLang="en-US" sz="2900" dirty="0">
                <a:solidFill>
                  <a:srgbClr val="FF0000"/>
                </a:solidFill>
              </a:rPr>
              <a:t>）取得胜利？ </a:t>
            </a:r>
          </a:p>
        </p:txBody>
      </p:sp>
    </p:spTree>
    <p:extLst>
      <p:ext uri="{BB962C8B-B14F-4D97-AF65-F5344CB8AC3E}">
        <p14:creationId xmlns:p14="http://schemas.microsoft.com/office/powerpoint/2010/main" val="226022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Freeform 2"/>
          <p:cNvSpPr/>
          <p:nvPr/>
        </p:nvSpPr>
        <p:spPr bwMode="auto">
          <a:xfrm>
            <a:off x="229549" y="5027683"/>
            <a:ext cx="9721983" cy="1889125"/>
          </a:xfrm>
          <a:custGeom>
            <a:avLst/>
            <a:gdLst>
              <a:gd name="T0" fmla="*/ 0 w 5653"/>
              <a:gd name="T1" fmla="*/ 1159 h 1190"/>
              <a:gd name="T2" fmla="*/ 928 w 5653"/>
              <a:gd name="T3" fmla="*/ 90 h 1190"/>
              <a:gd name="T4" fmla="*/ 1744 w 5653"/>
              <a:gd name="T5" fmla="*/ 618 h 1190"/>
              <a:gd name="T6" fmla="*/ 2800 w 5653"/>
              <a:gd name="T7" fmla="*/ 1098 h 1190"/>
              <a:gd name="T8" fmla="*/ 3379 w 5653"/>
              <a:gd name="T9" fmla="*/ 1127 h 1190"/>
              <a:gd name="T10" fmla="*/ 3808 w 5653"/>
              <a:gd name="T11" fmla="*/ 1098 h 1190"/>
              <a:gd name="T12" fmla="*/ 4240 w 5653"/>
              <a:gd name="T13" fmla="*/ 666 h 1190"/>
              <a:gd name="T14" fmla="*/ 4558 w 5653"/>
              <a:gd name="T15" fmla="*/ 201 h 1190"/>
              <a:gd name="T16" fmla="*/ 4958 w 5653"/>
              <a:gd name="T17" fmla="*/ 243 h 1190"/>
              <a:gd name="T18" fmla="*/ 5158 w 5653"/>
              <a:gd name="T19" fmla="*/ 727 h 1190"/>
              <a:gd name="T20" fmla="*/ 5316 w 5653"/>
              <a:gd name="T21" fmla="*/ 927 h 1190"/>
              <a:gd name="T22" fmla="*/ 5410 w 5653"/>
              <a:gd name="T23" fmla="*/ 1033 h 1190"/>
              <a:gd name="T24" fmla="*/ 5653 w 5653"/>
              <a:gd name="T25"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39" name="Line 3"/>
          <p:cNvSpPr>
            <a:spLocks noChangeShapeType="1"/>
          </p:cNvSpPr>
          <p:nvPr/>
        </p:nvSpPr>
        <p:spPr bwMode="auto">
          <a:xfrm>
            <a:off x="1990616" y="44127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0"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00CC"/>
          </a:solidFill>
          <a:ln>
            <a:noFill/>
          </a:ln>
          <a:effectLst/>
        </p:spPr>
        <p:txBody>
          <a:bodyPr wrap="none" anchor="ctr"/>
          <a:lstStyle/>
          <a:p>
            <a:endParaRPr lang="zh-CN" altLang="en-US"/>
          </a:p>
        </p:txBody>
      </p:sp>
      <p:sp>
        <p:nvSpPr>
          <p:cNvPr id="142341" name="Line 5"/>
          <p:cNvSpPr>
            <a:spLocks noChangeShapeType="1"/>
          </p:cNvSpPr>
          <p:nvPr/>
        </p:nvSpPr>
        <p:spPr bwMode="auto">
          <a:xfrm>
            <a:off x="8346966" y="4565149"/>
            <a:ext cx="0" cy="685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2"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00CC"/>
          </a:solidFill>
          <a:ln>
            <a:noFill/>
          </a:ln>
          <a:effectLst/>
        </p:spPr>
        <p:txBody>
          <a:bodyPr wrap="none" anchor="ctr"/>
          <a:lstStyle/>
          <a:p>
            <a:endParaRPr lang="zh-CN" altLang="en-US"/>
          </a:p>
        </p:txBody>
      </p:sp>
      <p:sp>
        <p:nvSpPr>
          <p:cNvPr id="142343"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00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4" name="Line 8"/>
          <p:cNvSpPr>
            <a:spLocks noChangeShapeType="1"/>
          </p:cNvSpPr>
          <p:nvPr/>
        </p:nvSpPr>
        <p:spPr bwMode="auto">
          <a:xfrm>
            <a:off x="5270259" y="5860550"/>
            <a:ext cx="0" cy="862013"/>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45" name="Group 9"/>
          <p:cNvGrpSpPr/>
          <p:nvPr/>
        </p:nvGrpSpPr>
        <p:grpSpPr bwMode="auto">
          <a:xfrm>
            <a:off x="355467" y="421957"/>
            <a:ext cx="3797300" cy="914400"/>
            <a:chOff x="912" y="192"/>
            <a:chExt cx="2208" cy="576"/>
          </a:xfrm>
        </p:grpSpPr>
        <p:sp>
          <p:nvSpPr>
            <p:cNvPr id="142346" name="AutoShape 10"/>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2347" name="Text Box 11"/>
            <p:cNvSpPr txBox="1">
              <a:spLocks noChangeArrowheads="1"/>
            </p:cNvSpPr>
            <p:nvPr/>
          </p:nvSpPr>
          <p:spPr bwMode="auto">
            <a:xfrm>
              <a:off x="912" y="336"/>
              <a:ext cx="18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ea typeface="黑体" panose="02010609060101010101" pitchFamily="2" charset="-122"/>
                </a:rPr>
                <a:t>明日正午进攻，如何？</a:t>
              </a:r>
            </a:p>
          </p:txBody>
        </p:sp>
      </p:grpSp>
      <p:grpSp>
        <p:nvGrpSpPr>
          <p:cNvPr id="142348" name="Group 12"/>
          <p:cNvGrpSpPr/>
          <p:nvPr/>
        </p:nvGrpSpPr>
        <p:grpSpPr bwMode="auto">
          <a:xfrm>
            <a:off x="5764212" y="1183957"/>
            <a:ext cx="3797300" cy="914400"/>
            <a:chOff x="3303" y="672"/>
            <a:chExt cx="2208" cy="576"/>
          </a:xfrm>
        </p:grpSpPr>
        <p:sp>
          <p:nvSpPr>
            <p:cNvPr id="142349" name="AutoShape 13"/>
            <p:cNvSpPr>
              <a:spLocks noChangeArrowheads="1"/>
            </p:cNvSpPr>
            <p:nvPr/>
          </p:nvSpPr>
          <p:spPr bwMode="auto">
            <a:xfrm rot="-10800000">
              <a:off x="3303" y="672"/>
              <a:ext cx="2208" cy="576"/>
            </a:xfrm>
            <a:prstGeom prst="rightArrow">
              <a:avLst>
                <a:gd name="adj1" fmla="val 50000"/>
                <a:gd name="adj2" fmla="val 95833"/>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142350" name="Text Box 14"/>
            <p:cNvSpPr txBox="1">
              <a:spLocks noChangeArrowheads="1"/>
            </p:cNvSpPr>
            <p:nvPr/>
          </p:nvSpPr>
          <p:spPr bwMode="auto">
            <a:xfrm>
              <a:off x="3907" y="816"/>
              <a:ext cx="465" cy="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Times New Roman" panose="02020603050405020304" pitchFamily="18" charset="0"/>
                  <a:ea typeface="黑体" panose="02010609060101010101" pitchFamily="2" charset="-122"/>
                </a:rPr>
                <a:t>同意</a:t>
              </a:r>
            </a:p>
          </p:txBody>
        </p:sp>
      </p:grpSp>
      <p:grpSp>
        <p:nvGrpSpPr>
          <p:cNvPr id="142351" name="Group 15"/>
          <p:cNvGrpSpPr/>
          <p:nvPr/>
        </p:nvGrpSpPr>
        <p:grpSpPr bwMode="auto">
          <a:xfrm>
            <a:off x="355467" y="1869757"/>
            <a:ext cx="3797300" cy="914400"/>
            <a:chOff x="912" y="192"/>
            <a:chExt cx="2208" cy="576"/>
          </a:xfrm>
        </p:grpSpPr>
        <p:sp>
          <p:nvSpPr>
            <p:cNvPr id="142352" name="AutoShape 16"/>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2353" name="Text Box 17"/>
            <p:cNvSpPr txBox="1">
              <a:spLocks noChangeArrowheads="1"/>
            </p:cNvSpPr>
            <p:nvPr/>
          </p:nvSpPr>
          <p:spPr bwMode="auto">
            <a:xfrm>
              <a:off x="912" y="336"/>
              <a:ext cx="11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ea typeface="黑体" panose="02010609060101010101" pitchFamily="2" charset="-122"/>
                </a:rPr>
                <a:t>收到“同意”</a:t>
              </a:r>
            </a:p>
          </p:txBody>
        </p:sp>
      </p:grpSp>
      <p:grpSp>
        <p:nvGrpSpPr>
          <p:cNvPr id="142354" name="Group 18"/>
          <p:cNvGrpSpPr/>
          <p:nvPr/>
        </p:nvGrpSpPr>
        <p:grpSpPr bwMode="auto">
          <a:xfrm>
            <a:off x="5764212" y="2555557"/>
            <a:ext cx="3797300" cy="914400"/>
            <a:chOff x="3303" y="1536"/>
            <a:chExt cx="2208" cy="576"/>
          </a:xfrm>
        </p:grpSpPr>
        <p:sp>
          <p:nvSpPr>
            <p:cNvPr id="142355" name="AutoShape 19"/>
            <p:cNvSpPr>
              <a:spLocks noChangeArrowheads="1"/>
            </p:cNvSpPr>
            <p:nvPr/>
          </p:nvSpPr>
          <p:spPr bwMode="auto">
            <a:xfrm rot="-10800000">
              <a:off x="3303" y="1536"/>
              <a:ext cx="2208" cy="576"/>
            </a:xfrm>
            <a:prstGeom prst="rightArrow">
              <a:avLst>
                <a:gd name="adj1" fmla="val 50000"/>
                <a:gd name="adj2" fmla="val 95833"/>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142356" name="Text Box 20"/>
            <p:cNvSpPr txBox="1">
              <a:spLocks noChangeArrowheads="1"/>
            </p:cNvSpPr>
            <p:nvPr/>
          </p:nvSpPr>
          <p:spPr bwMode="auto">
            <a:xfrm>
              <a:off x="3495" y="1680"/>
              <a:ext cx="1718" cy="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r>
                <a:rPr kumimoji="1" lang="zh-CN" altLang="en-US" sz="2400" b="1">
                  <a:solidFill>
                    <a:srgbClr val="0000CC"/>
                  </a:solidFill>
                  <a:latin typeface="Times New Roman" panose="02020603050405020304" pitchFamily="18" charset="0"/>
                  <a:ea typeface="黑体" panose="02010609060101010101" pitchFamily="2" charset="-122"/>
                </a:rPr>
                <a:t>收到：收到“同意”</a:t>
              </a:r>
            </a:p>
          </p:txBody>
        </p:sp>
      </p:grpSp>
      <p:sp>
        <p:nvSpPr>
          <p:cNvPr id="142357" name="Text Box 21"/>
          <p:cNvSpPr txBox="1">
            <a:spLocks noChangeArrowheads="1"/>
          </p:cNvSpPr>
          <p:nvPr/>
        </p:nvSpPr>
        <p:spPr bwMode="auto">
          <a:xfrm>
            <a:off x="1136252" y="2995295"/>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anose="02020603050405020304" pitchFamily="18" charset="0"/>
                <a:ea typeface="黑体" panose="02010609060101010101" pitchFamily="2" charset="-122"/>
              </a:rPr>
              <a:t>…</a:t>
            </a:r>
          </a:p>
        </p:txBody>
      </p:sp>
      <p:sp>
        <p:nvSpPr>
          <p:cNvPr id="142358" name="Text Box 22"/>
          <p:cNvSpPr txBox="1">
            <a:spLocks noChangeArrowheads="1"/>
          </p:cNvSpPr>
          <p:nvPr/>
        </p:nvSpPr>
        <p:spPr bwMode="auto">
          <a:xfrm>
            <a:off x="7673181" y="3438207"/>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anose="02020603050405020304" pitchFamily="18" charset="0"/>
                <a:ea typeface="黑体" panose="02010609060101010101" pitchFamily="2" charset="-122"/>
              </a:rPr>
              <a:t>…</a:t>
            </a:r>
          </a:p>
        </p:txBody>
      </p:sp>
      <p:sp>
        <p:nvSpPr>
          <p:cNvPr id="142359" name="Text Box 23"/>
          <p:cNvSpPr txBox="1">
            <a:spLocks noChangeArrowheads="1"/>
          </p:cNvSpPr>
          <p:nvPr/>
        </p:nvSpPr>
        <p:spPr bwMode="auto">
          <a:xfrm>
            <a:off x="1136252" y="3012757"/>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anose="02020603050405020304" pitchFamily="18" charset="0"/>
                <a:ea typeface="黑体" panose="02010609060101010101" pitchFamily="2" charset="-122"/>
              </a:rPr>
              <a:t>…</a:t>
            </a:r>
          </a:p>
        </p:txBody>
      </p:sp>
      <p:sp>
        <p:nvSpPr>
          <p:cNvPr id="142360" name="Text Box 24"/>
          <p:cNvSpPr txBox="1">
            <a:spLocks noChangeArrowheads="1"/>
          </p:cNvSpPr>
          <p:nvPr/>
        </p:nvSpPr>
        <p:spPr bwMode="auto">
          <a:xfrm>
            <a:off x="7673181" y="3455670"/>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anose="02020603050405020304" pitchFamily="18" charset="0"/>
                <a:ea typeface="黑体" panose="02010609060101010101" pitchFamily="2" charset="-122"/>
              </a:rPr>
              <a:t>…</a:t>
            </a:r>
          </a:p>
        </p:txBody>
      </p:sp>
      <p:sp>
        <p:nvSpPr>
          <p:cNvPr id="142361" name="Text Box 25"/>
          <p:cNvSpPr txBox="1">
            <a:spLocks noChangeArrowheads="1"/>
          </p:cNvSpPr>
          <p:nvPr/>
        </p:nvSpPr>
        <p:spPr bwMode="auto">
          <a:xfrm>
            <a:off x="1136252" y="3030220"/>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dirty="0">
                <a:solidFill>
                  <a:srgbClr val="FF0000"/>
                </a:solidFill>
                <a:latin typeface="Times New Roman" panose="02020603050405020304" pitchFamily="18" charset="0"/>
                <a:ea typeface="黑体" panose="02010609060101010101" pitchFamily="2" charset="-122"/>
              </a:rPr>
              <a:t>…</a:t>
            </a:r>
          </a:p>
        </p:txBody>
      </p:sp>
      <p:sp>
        <p:nvSpPr>
          <p:cNvPr id="142362" name="Text Box 26"/>
          <p:cNvSpPr txBox="1">
            <a:spLocks noChangeArrowheads="1"/>
          </p:cNvSpPr>
          <p:nvPr/>
        </p:nvSpPr>
        <p:spPr bwMode="auto">
          <a:xfrm>
            <a:off x="7673181" y="3473132"/>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dirty="0">
                <a:solidFill>
                  <a:srgbClr val="FF0000"/>
                </a:solidFill>
                <a:latin typeface="Times New Roman" panose="02020603050405020304" pitchFamily="18" charset="0"/>
                <a:ea typeface="黑体" panose="02010609060101010101" pitchFamily="2" charset="-122"/>
              </a:rPr>
              <a:t>…</a:t>
            </a:r>
          </a:p>
        </p:txBody>
      </p:sp>
      <p:sp>
        <p:nvSpPr>
          <p:cNvPr id="142363" name="Text Box 27"/>
          <p:cNvSpPr txBox="1">
            <a:spLocks noChangeArrowheads="1"/>
          </p:cNvSpPr>
          <p:nvPr/>
        </p:nvSpPr>
        <p:spPr bwMode="auto">
          <a:xfrm>
            <a:off x="1760537" y="1890395"/>
            <a:ext cx="6340197" cy="830997"/>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4800" b="1" dirty="0">
                <a:effectLst>
                  <a:outerShdw blurRad="38100" dist="38100" dir="2700000" algn="tl">
                    <a:srgbClr val="FFFFFF"/>
                  </a:outerShdw>
                </a:effectLst>
                <a:latin typeface="Bookman Old Style" panose="02050604050505020204" pitchFamily="18" charset="0"/>
                <a:ea typeface="黑体" panose="02010609060101010101" pitchFamily="2" charset="-122"/>
              </a:rPr>
              <a:t>这样的协议无法实现！</a:t>
            </a:r>
          </a:p>
        </p:txBody>
      </p:sp>
    </p:spTree>
    <p:extLst>
      <p:ext uri="{BB962C8B-B14F-4D97-AF65-F5344CB8AC3E}">
        <p14:creationId xmlns:p14="http://schemas.microsoft.com/office/powerpoint/2010/main" val="341995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attrName>
                                          <p:attrName>ppt_y</p:attrName>
                                        </p:attrNameLst>
                                      </p:cBhvr>
                                      <p:rCtr x="29010" y="23"/>
                                    </p:animMotion>
                                  </p:childTnLst>
                                </p:cTn>
                              </p:par>
                            </p:childTnLst>
                          </p:cTn>
                        </p:par>
                        <p:par>
                          <p:cTn id="10" fill="hold">
                            <p:stCondLst>
                              <p:cond delay="5000"/>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p:stCondLst>
                              <p:cond delay="5500"/>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attrName>
                                          <p:attrName>ppt_y</p:attrName>
                                        </p:attrNameLst>
                                      </p:cBhvr>
                                      <p:rCtr x="-27830" y="-301"/>
                                    </p:animMotion>
                                  </p:childTnLst>
                                </p:cTn>
                              </p:par>
                            </p:childTnLst>
                          </p:cTn>
                        </p:par>
                        <p:par>
                          <p:cTn id="16" fill="hold">
                            <p:stCondLst>
                              <p:cond delay="7500"/>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p:stCondLst>
                              <p:cond delay="8000"/>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attrName>
                                          <p:attrName>ppt_y</p:attrName>
                                        </p:attrNameLst>
                                      </p:cBhvr>
                                      <p:rCtr x="29010" y="-46"/>
                                    </p:animMotion>
                                  </p:childTnLst>
                                </p:cTn>
                              </p:par>
                            </p:childTnLst>
                          </p:cTn>
                        </p:par>
                        <p:par>
                          <p:cTn id="22" fill="hold">
                            <p:stCondLst>
                              <p:cond delay="13500"/>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p:stCondLst>
                              <p:cond delay="13500"/>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attrName>
                                          <p:attrName>ppt_y</p:attrName>
                                        </p:attrNameLst>
                                      </p:cBhvr>
                                      <p:rCtr x="-27431" y="208"/>
                                    </p:animMotion>
                                  </p:childTnLst>
                                </p:cTn>
                              </p:par>
                            </p:childTnLst>
                          </p:cTn>
                        </p:par>
                        <p:par>
                          <p:cTn id="28" fill="hold">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p:stCondLst>
                              <p:cond delay="16000"/>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attrName>
                                          <p:attrName>ppt_y</p:attrName>
                                        </p:attrNameLst>
                                      </p:cBhvr>
                                      <p:rCtr x="37361" y="0"/>
                                    </p:animMotion>
                                  </p:childTnLst>
                                </p:cTn>
                              </p:par>
                            </p:childTnLst>
                          </p:cTn>
                        </p:par>
                        <p:par>
                          <p:cTn id="34" fill="hold">
                            <p:stCondLst>
                              <p:cond delay="18000"/>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p:stCondLst>
                              <p:cond delay="18000"/>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p:stCondLst>
                              <p:cond delay="18000"/>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attrName>
                                          <p:attrName>ppt_y</p:attrName>
                                        </p:attrNameLst>
                                      </p:cBhvr>
                                      <p:rCtr x="-37361" y="463"/>
                                    </p:animMotion>
                                  </p:childTnLst>
                                </p:cTn>
                              </p:par>
                            </p:childTnLst>
                          </p:cTn>
                        </p:par>
                        <p:par>
                          <p:cTn id="43" fill="hold">
                            <p:stCondLst>
                              <p:cond delay="20000"/>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p:stCondLst>
                              <p:cond delay="20000"/>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p:stCondLst>
                              <p:cond delay="20000"/>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attrName>
                                          <p:attrName>ppt_y</p:attrName>
                                        </p:attrNameLst>
                                      </p:cBhvr>
                                      <p:rCtr x="36962" y="-116"/>
                                    </p:animMotion>
                                  </p:childTnLst>
                                </p:cTn>
                              </p:par>
                            </p:childTnLst>
                          </p:cTn>
                        </p:par>
                        <p:par>
                          <p:cTn id="52" fill="hold">
                            <p:stCondLst>
                              <p:cond delay="22000"/>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p:stCondLst>
                              <p:cond delay="2200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p:stCondLst>
                              <p:cond delay="22000"/>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attrName>
                                          <p:attrName>ppt_y</p:attrName>
                                        </p:attrNameLst>
                                      </p:cBhvr>
                                      <p:rCtr x="-37361" y="324"/>
                                    </p:animMotion>
                                  </p:childTnLst>
                                </p:cTn>
                              </p:par>
                            </p:childTnLst>
                          </p:cTn>
                        </p:par>
                        <p:par>
                          <p:cTn id="61" fill="hold">
                            <p:stCondLst>
                              <p:cond delay="24000"/>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p:stCondLst>
                              <p:cond delay="24000"/>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p:stCondLst>
                              <p:cond delay="24000"/>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attrName>
                                          <p:attrName>ppt_y</p:attrName>
                                        </p:attrNameLst>
                                      </p:cBhvr>
                                      <p:rCtr x="37361" y="-255"/>
                                    </p:animMotion>
                                  </p:childTnLst>
                                </p:cTn>
                              </p:par>
                            </p:childTnLst>
                          </p:cTn>
                        </p:par>
                        <p:par>
                          <p:cTn id="70" fill="hold">
                            <p:stCondLst>
                              <p:cond delay="26000"/>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p:stCondLst>
                              <p:cond delay="26000"/>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p:stCondLst>
                              <p:cond delay="26000"/>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attrName>
                                          <p:attrName>ppt_y</p:attrName>
                                        </p:attrNameLst>
                                      </p:cBhvr>
                                      <p:rCtr x="-37361" y="208"/>
                                    </p:animMotion>
                                  </p:childTnLst>
                                </p:cTn>
                              </p:par>
                            </p:childTnLst>
                          </p:cTn>
                        </p:par>
                        <p:par>
                          <p:cTn id="79" fill="hold">
                            <p:stCondLst>
                              <p:cond delay="28000"/>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p:stCondLst>
                              <p:cond delay="28000"/>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p:stCondLst>
                              <p:cond delay="29000"/>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作业（第七版）</a:t>
            </a:r>
          </a:p>
        </p:txBody>
      </p:sp>
      <p:sp>
        <p:nvSpPr>
          <p:cNvPr id="5" name="Rectangle 4"/>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lstStyle>
            <a:lvl1pPr marL="236855" indent="-236855" defTabSz="814705" eaLnBrk="0" hangingPunct="0">
              <a:lnSpc>
                <a:spcPct val="95000"/>
              </a:lnSpc>
              <a:spcBef>
                <a:spcPct val="50000"/>
              </a:spcBef>
              <a:buClr>
                <a:srgbClr val="BEBA32"/>
              </a:buClr>
              <a:buChar char="•"/>
              <a:defRPr sz="2400" b="1">
                <a:solidFill>
                  <a:schemeClr val="bg1"/>
                </a:solidFill>
                <a:latin typeface="Arial" panose="020B0604020202020204" pitchFamily="34" charset="0"/>
                <a:ea typeface="黑体" panose="02010609060101010101" pitchFamily="2" charset="-122"/>
              </a:defRPr>
            </a:lvl1pPr>
            <a:lvl2pPr marL="574675" indent="-117475"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2pPr>
            <a:lvl3pPr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3pPr>
            <a:lvl4pPr marL="1254125" indent="117475"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4pPr>
            <a:lvl5pPr marL="1605280" indent="224155" defTabSz="814705" eaLnBrk="0" hangingPunct="0">
              <a:lnSpc>
                <a:spcPct val="95000"/>
              </a:lnSpc>
              <a:spcBef>
                <a:spcPct val="50000"/>
              </a:spcBef>
              <a:buClr>
                <a:srgbClr val="BEBA32"/>
              </a:buClr>
              <a:buChar char="»"/>
              <a:defRPr sz="2000" b="1">
                <a:solidFill>
                  <a:schemeClr val="bg1"/>
                </a:solidFill>
                <a:latin typeface="Arial" panose="020B0604020202020204" pitchFamily="34" charset="0"/>
                <a:ea typeface="黑体" panose="02010609060101010101" pitchFamily="2" charset="-122"/>
              </a:defRPr>
            </a:lvl5pPr>
            <a:lvl6pPr marL="20624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6pPr>
            <a:lvl7pPr marL="25196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7pPr>
            <a:lvl8pPr marL="29768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8pPr>
            <a:lvl9pPr marL="3434080" indent="224155" defTabSz="814705" eaLnBrk="0" fontAlgn="base" hangingPunct="0">
              <a:lnSpc>
                <a:spcPct val="95000"/>
              </a:lnSpc>
              <a:spcBef>
                <a:spcPct val="50000"/>
              </a:spcBef>
              <a:spcAft>
                <a:spcPct val="0"/>
              </a:spcAft>
              <a:buClr>
                <a:srgbClr val="BEBA32"/>
              </a:buClr>
              <a:buChar char="»"/>
              <a:defRPr sz="2000" b="1">
                <a:solidFill>
                  <a:schemeClr val="bg1"/>
                </a:solidFill>
                <a:latin typeface="Arial" panose="020B0604020202020204" pitchFamily="34" charset="0"/>
                <a:ea typeface="黑体" panose="02010609060101010101" pitchFamily="2" charset="-122"/>
              </a:defRPr>
            </a:lvl9pPr>
          </a:lstStyle>
          <a:p>
            <a:pPr>
              <a:lnSpc>
                <a:spcPct val="90000"/>
              </a:lnSpc>
            </a:pPr>
            <a:r>
              <a:rPr lang="en-US" altLang="zh-CN" sz="3600" dirty="0">
                <a:solidFill>
                  <a:schemeClr val="tx1"/>
                </a:solidFill>
              </a:rPr>
              <a:t>P38</a:t>
            </a:r>
          </a:p>
          <a:p>
            <a:pPr>
              <a:lnSpc>
                <a:spcPct val="90000"/>
              </a:lnSpc>
              <a:buFontTx/>
              <a:buNone/>
            </a:pPr>
            <a:r>
              <a:rPr lang="en-US" altLang="zh-CN" sz="3600" dirty="0">
                <a:solidFill>
                  <a:schemeClr val="tx1"/>
                </a:solidFill>
              </a:rPr>
              <a:t>  </a:t>
            </a:r>
            <a:r>
              <a:rPr lang="en-US" altLang="zh-CN" sz="2800" dirty="0">
                <a:solidFill>
                  <a:schemeClr val="tx1"/>
                </a:solidFill>
              </a:rPr>
              <a:t>1-02    1-03    1-12     </a:t>
            </a:r>
            <a:r>
              <a:rPr lang="en-US" altLang="zh-CN" sz="2800">
                <a:solidFill>
                  <a:schemeClr val="tx1"/>
                </a:solidFill>
              </a:rPr>
              <a:t>1-14     1-17</a:t>
            </a:r>
            <a:endParaRPr lang="zh-CN" altLang="en-US" dirty="0">
              <a:solidFill>
                <a:schemeClr val="tx1"/>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练习题</a:t>
            </a:r>
          </a:p>
        </p:txBody>
      </p:sp>
      <p:sp>
        <p:nvSpPr>
          <p:cNvPr id="100" name="文本框 99"/>
          <p:cNvSpPr txBox="1"/>
          <p:nvPr/>
        </p:nvSpPr>
        <p:spPr>
          <a:xfrm>
            <a:off x="704850" y="1340485"/>
            <a:ext cx="8413115" cy="5077460"/>
          </a:xfrm>
          <a:prstGeom prst="rect">
            <a:avLst/>
          </a:prstGeom>
          <a:noFill/>
          <a:ln w="9525">
            <a:noFill/>
          </a:ln>
        </p:spPr>
        <p:txBody>
          <a:bodyPr wrap="square">
            <a:spAutoFit/>
          </a:bodyPr>
          <a:lstStyle/>
          <a:p>
            <a:pPr marL="0" indent="0"/>
            <a:r>
              <a:rPr lang="en-US" sz="1800" b="0">
                <a:latin typeface="Times New Roman" panose="02020603050405020304" pitchFamily="18" charset="0"/>
                <a:ea typeface="宋体" panose="02010600030101010101" pitchFamily="2" charset="-122"/>
              </a:rPr>
              <a:t>1</a:t>
            </a:r>
            <a:r>
              <a:rPr lang="zh-CN" sz="1800" b="0">
                <a:latin typeface="Times New Roman" panose="02020603050405020304" pitchFamily="18" charset="0"/>
                <a:ea typeface="宋体" panose="02010600030101010101" pitchFamily="2" charset="-122"/>
              </a:rPr>
              <a:t>、在协议层次模型中，第</a:t>
            </a:r>
            <a:r>
              <a:rPr lang="en-US" sz="1800" b="0">
                <a:latin typeface="Times New Roman" panose="02020603050405020304" pitchFamily="18" charset="0"/>
                <a:ea typeface="宋体" panose="02010600030101010101" pitchFamily="2" charset="-122"/>
                <a:cs typeface="Times New Roman" panose="02020603050405020304" pitchFamily="18" charset="0"/>
              </a:rPr>
              <a:t> </a:t>
            </a:r>
            <a:r>
              <a:rPr lang="en-US" sz="1800" b="0">
                <a:latin typeface="Times New Roman" panose="02020603050405020304" pitchFamily="18" charset="0"/>
                <a:ea typeface="宋体" panose="02010600030101010101" pitchFamily="2" charset="-122"/>
              </a:rPr>
              <a:t>N </a:t>
            </a:r>
            <a:r>
              <a:rPr lang="zh-CN" sz="1800" b="0">
                <a:latin typeface="Times New Roman" panose="02020603050405020304" pitchFamily="18" charset="0"/>
                <a:ea typeface="宋体" panose="02010600030101010101" pitchFamily="2" charset="-122"/>
              </a:rPr>
              <a:t>层和其上的 </a:t>
            </a:r>
            <a:r>
              <a:rPr lang="en-US" sz="1800" b="0">
                <a:latin typeface="Times New Roman" panose="02020603050405020304" pitchFamily="18" charset="0"/>
                <a:ea typeface="宋体" panose="02010600030101010101" pitchFamily="2" charset="-122"/>
              </a:rPr>
              <a:t>N+1 </a:t>
            </a:r>
            <a:r>
              <a:rPr lang="zh-CN" sz="1800" b="0">
                <a:latin typeface="Times New Roman" panose="02020603050405020304" pitchFamily="18" charset="0"/>
                <a:ea typeface="宋体" panose="02010600030101010101" pitchFamily="2" charset="-122"/>
              </a:rPr>
              <a:t>层的关系是：</a:t>
            </a:r>
            <a:r>
              <a:rPr lang="en-US" sz="1800" b="0">
                <a:latin typeface="Times New Roman" panose="02020603050405020304" pitchFamily="18" charset="0"/>
                <a:ea typeface="宋体" panose="02010600030101010101" pitchFamily="2" charset="-122"/>
              </a:rPr>
              <a:t>(  )</a:t>
            </a:r>
            <a:r>
              <a:rPr lang="zh-CN" sz="1800" b="0">
                <a:latin typeface="Times New Roman" panose="02020603050405020304" pitchFamily="18" charset="0"/>
                <a:ea typeface="宋体" panose="02010600030101010101" pitchFamily="2" charset="-122"/>
              </a:rPr>
              <a:t>。</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A</a:t>
            </a:r>
            <a:r>
              <a:rPr lang="zh-CN" sz="1800" b="0">
                <a:latin typeface="Times New Roman" panose="02020603050405020304" pitchFamily="18" charset="0"/>
                <a:ea typeface="宋体" panose="02010600030101010101" pitchFamily="2" charset="-122"/>
              </a:rPr>
              <a:t>、</a:t>
            </a:r>
            <a:r>
              <a:rPr lang="en-US" sz="1800" b="0">
                <a:latin typeface="Times New Roman" panose="02020603050405020304" pitchFamily="18" charset="0"/>
                <a:ea typeface="宋体" panose="02010600030101010101" pitchFamily="2" charset="-122"/>
              </a:rPr>
              <a:t>N </a:t>
            </a:r>
            <a:r>
              <a:rPr lang="zh-CN" sz="1800" b="0">
                <a:latin typeface="Times New Roman" panose="02020603050405020304" pitchFamily="18" charset="0"/>
                <a:ea typeface="宋体" panose="02010600030101010101" pitchFamily="2" charset="-122"/>
              </a:rPr>
              <a:t>层为</a:t>
            </a:r>
            <a:r>
              <a:rPr lang="en-US" sz="1800" b="0">
                <a:latin typeface="Times New Roman" panose="02020603050405020304" pitchFamily="18" charset="0"/>
                <a:ea typeface="宋体" panose="02010600030101010101" pitchFamily="2" charset="-122"/>
              </a:rPr>
              <a:t>N+1</a:t>
            </a:r>
            <a:r>
              <a:rPr lang="zh-CN" sz="1800" b="0">
                <a:latin typeface="Times New Roman" panose="02020603050405020304" pitchFamily="18" charset="0"/>
                <a:ea typeface="宋体" panose="02010600030101010101" pitchFamily="2" charset="-122"/>
              </a:rPr>
              <a:t>层提供服务</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B</a:t>
            </a:r>
            <a:r>
              <a:rPr lang="zh-CN" sz="1800" b="0">
                <a:latin typeface="Times New Roman" panose="02020603050405020304" pitchFamily="18" charset="0"/>
                <a:ea typeface="宋体" panose="02010600030101010101" pitchFamily="2" charset="-122"/>
              </a:rPr>
              <a:t>、</a:t>
            </a:r>
            <a:r>
              <a:rPr lang="en-US" sz="1800" b="0">
                <a:latin typeface="Times New Roman" panose="02020603050405020304" pitchFamily="18" charset="0"/>
                <a:ea typeface="宋体" panose="02010600030101010101" pitchFamily="2" charset="-122"/>
              </a:rPr>
              <a:t>N+1 </a:t>
            </a:r>
            <a:r>
              <a:rPr lang="zh-CN" sz="1800" b="0">
                <a:latin typeface="Times New Roman" panose="02020603050405020304" pitchFamily="18" charset="0"/>
                <a:ea typeface="宋体" panose="02010600030101010101" pitchFamily="2" charset="-122"/>
              </a:rPr>
              <a:t>层为从</a:t>
            </a:r>
            <a:r>
              <a:rPr lang="en-US" sz="1800" b="0">
                <a:latin typeface="Times New Roman" panose="02020603050405020304" pitchFamily="18" charset="0"/>
                <a:ea typeface="宋体" panose="02010600030101010101" pitchFamily="2" charset="-122"/>
              </a:rPr>
              <a:t>N</a:t>
            </a:r>
            <a:r>
              <a:rPr lang="zh-CN" sz="1800" b="0">
                <a:latin typeface="Times New Roman" panose="02020603050405020304" pitchFamily="18" charset="0"/>
                <a:ea typeface="宋体" panose="02010600030101010101" pitchFamily="2" charset="-122"/>
              </a:rPr>
              <a:t>层接收的信息增加了一个报头</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C</a:t>
            </a:r>
            <a:r>
              <a:rPr lang="zh-CN" sz="1800" b="0">
                <a:latin typeface="Times New Roman" panose="02020603050405020304" pitchFamily="18" charset="0"/>
                <a:ea typeface="宋体" panose="02010600030101010101" pitchFamily="2" charset="-122"/>
              </a:rPr>
              <a:t>、</a:t>
            </a:r>
            <a:r>
              <a:rPr lang="en-US" sz="1800" b="0">
                <a:latin typeface="Times New Roman" panose="02020603050405020304" pitchFamily="18" charset="0"/>
                <a:ea typeface="宋体" panose="02010600030101010101" pitchFamily="2" charset="-122"/>
              </a:rPr>
              <a:t>N </a:t>
            </a:r>
            <a:r>
              <a:rPr lang="zh-CN" sz="1800" b="0">
                <a:latin typeface="Times New Roman" panose="02020603050405020304" pitchFamily="18" charset="0"/>
                <a:ea typeface="宋体" panose="02010600030101010101" pitchFamily="2" charset="-122"/>
              </a:rPr>
              <a:t>层利用</a:t>
            </a:r>
            <a:r>
              <a:rPr lang="en-US" sz="1800" b="0">
                <a:latin typeface="Times New Roman" panose="02020603050405020304" pitchFamily="18" charset="0"/>
                <a:ea typeface="宋体" panose="02010600030101010101" pitchFamily="2" charset="-122"/>
              </a:rPr>
              <a:t>N+1</a:t>
            </a:r>
            <a:r>
              <a:rPr lang="zh-CN" sz="1800" b="0">
                <a:latin typeface="Times New Roman" panose="02020603050405020304" pitchFamily="18" charset="0"/>
                <a:ea typeface="宋体" panose="02010600030101010101" pitchFamily="2" charset="-122"/>
              </a:rPr>
              <a:t>层提供的服务</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D</a:t>
            </a:r>
            <a:r>
              <a:rPr lang="zh-CN" sz="1800" b="0">
                <a:latin typeface="Times New Roman" panose="02020603050405020304" pitchFamily="18" charset="0"/>
                <a:ea typeface="宋体" panose="02010600030101010101" pitchFamily="2" charset="-122"/>
              </a:rPr>
              <a:t>、</a:t>
            </a:r>
            <a:r>
              <a:rPr lang="en-US" sz="1800" b="0">
                <a:latin typeface="Times New Roman" panose="02020603050405020304" pitchFamily="18" charset="0"/>
                <a:ea typeface="宋体" panose="02010600030101010101" pitchFamily="2" charset="-122"/>
              </a:rPr>
              <a:t>N </a:t>
            </a:r>
            <a:r>
              <a:rPr lang="zh-CN" sz="1800" b="0">
                <a:latin typeface="Times New Roman" panose="02020603050405020304" pitchFamily="18" charset="0"/>
                <a:ea typeface="宋体" panose="02010600030101010101" pitchFamily="2" charset="-122"/>
              </a:rPr>
              <a:t>层对</a:t>
            </a:r>
            <a:r>
              <a:rPr lang="en-US" sz="1800" b="0">
                <a:latin typeface="Times New Roman" panose="02020603050405020304" pitchFamily="18" charset="0"/>
                <a:ea typeface="宋体" panose="02010600030101010101" pitchFamily="2" charset="-122"/>
              </a:rPr>
              <a:t>N+1</a:t>
            </a:r>
            <a:r>
              <a:rPr lang="zh-CN" sz="1800" b="0">
                <a:latin typeface="Times New Roman" panose="02020603050405020304" pitchFamily="18" charset="0"/>
                <a:ea typeface="宋体" panose="02010600030101010101" pitchFamily="2" charset="-122"/>
              </a:rPr>
              <a:t>层没有任何作用</a:t>
            </a:r>
            <a:endParaRPr lang="en-US" sz="1800" b="0">
              <a:latin typeface="Times New Roman" panose="02020603050405020304" pitchFamily="18" charset="0"/>
              <a:ea typeface="宋体" panose="02010600030101010101" pitchFamily="2" charset="-122"/>
              <a:cs typeface="Times New Roman" panose="02020603050405020304" pitchFamily="18" charset="0"/>
            </a:endParaRPr>
          </a:p>
          <a:p>
            <a:pPr marL="0" indent="0"/>
            <a:r>
              <a:rPr lang="en-US" sz="1800" b="0">
                <a:latin typeface="Times New Roman" panose="02020603050405020304" pitchFamily="18" charset="0"/>
                <a:ea typeface="宋体" panose="02010600030101010101" pitchFamily="2" charset="-122"/>
                <a:cs typeface="Times New Roman" panose="02020603050405020304" pitchFamily="18" charset="0"/>
              </a:rPr>
              <a:t> </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2</a:t>
            </a:r>
            <a:r>
              <a:rPr lang="zh-CN" sz="1800" b="0">
                <a:latin typeface="Times New Roman" panose="02020603050405020304" pitchFamily="18" charset="0"/>
                <a:ea typeface="宋体" panose="02010600030101010101" pitchFamily="2" charset="-122"/>
              </a:rPr>
              <a:t>、</a:t>
            </a:r>
            <a:r>
              <a:rPr lang="en-US" sz="1800" b="0">
                <a:latin typeface="Times New Roman" panose="02020603050405020304" pitchFamily="18" charset="0"/>
                <a:ea typeface="宋体" panose="02010600030101010101" pitchFamily="2" charset="-122"/>
              </a:rPr>
              <a:t>OSI </a:t>
            </a:r>
            <a:r>
              <a:rPr lang="zh-CN" sz="1800" b="0">
                <a:latin typeface="Times New Roman" panose="02020603050405020304" pitchFamily="18" charset="0"/>
                <a:ea typeface="宋体" panose="02010600030101010101" pitchFamily="2" charset="-122"/>
              </a:rPr>
              <a:t>模型各层从最低层到最高层的正确顺序是：</a:t>
            </a:r>
            <a:r>
              <a:rPr lang="en-US" sz="1800" b="0">
                <a:latin typeface="Times New Roman" panose="02020603050405020304" pitchFamily="18" charset="0"/>
                <a:ea typeface="宋体" panose="02010600030101010101" pitchFamily="2" charset="-122"/>
              </a:rPr>
              <a:t>(  )</a:t>
            </a:r>
            <a:r>
              <a:rPr lang="zh-CN" sz="1800" b="0">
                <a:latin typeface="Times New Roman" panose="02020603050405020304" pitchFamily="18" charset="0"/>
                <a:ea typeface="宋体" panose="02010600030101010101" pitchFamily="2" charset="-122"/>
              </a:rPr>
              <a:t>。</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A</a:t>
            </a:r>
            <a:r>
              <a:rPr lang="zh-CN" sz="1800" b="0">
                <a:latin typeface="Times New Roman" panose="02020603050405020304" pitchFamily="18" charset="0"/>
                <a:ea typeface="宋体" panose="02010600030101010101" pitchFamily="2" charset="-122"/>
              </a:rPr>
              <a:t>、物理层、数据链路层、网络层、传输层、会话层、表示层、应用层</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B</a:t>
            </a:r>
            <a:r>
              <a:rPr lang="zh-CN" sz="1800" b="0">
                <a:latin typeface="Times New Roman" panose="02020603050405020304" pitchFamily="18" charset="0"/>
                <a:ea typeface="宋体" panose="02010600030101010101" pitchFamily="2" charset="-122"/>
              </a:rPr>
              <a:t>、应用层、物理层、会话层、传输层、网络层、数据链路层、表示层</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C</a:t>
            </a:r>
            <a:r>
              <a:rPr lang="zh-CN" sz="1800" b="0">
                <a:latin typeface="Times New Roman" panose="02020603050405020304" pitchFamily="18" charset="0"/>
                <a:ea typeface="宋体" panose="02010600030101010101" pitchFamily="2" charset="-122"/>
              </a:rPr>
              <a:t>、应用层、表示层、物理层、会话层、数据链路层、传输层、网络层</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D</a:t>
            </a:r>
            <a:r>
              <a:rPr lang="zh-CN" sz="1800" b="0">
                <a:latin typeface="Times New Roman" panose="02020603050405020304" pitchFamily="18" charset="0"/>
                <a:ea typeface="宋体" panose="02010600030101010101" pitchFamily="2" charset="-122"/>
              </a:rPr>
              <a:t>、应用层、表示层、会话层、传输层、网络层、数据链路层、物理层</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E</a:t>
            </a:r>
            <a:r>
              <a:rPr lang="zh-CN" sz="1800" b="0">
                <a:latin typeface="Times New Roman" panose="02020603050405020304" pitchFamily="18" charset="0"/>
                <a:ea typeface="宋体" panose="02010600030101010101" pitchFamily="2" charset="-122"/>
              </a:rPr>
              <a:t>、物理层、网络层、应用层、数据链路层、表示层、会话层、传输层</a:t>
            </a:r>
            <a:endParaRPr lang="en-US" sz="1800" b="0">
              <a:latin typeface="Times New Roman" panose="02020603050405020304" pitchFamily="18" charset="0"/>
              <a:ea typeface="宋体" panose="02010600030101010101" pitchFamily="2" charset="-122"/>
              <a:cs typeface="Times New Roman" panose="02020603050405020304" pitchFamily="18" charset="0"/>
            </a:endParaRPr>
          </a:p>
          <a:p>
            <a:pPr marL="0" indent="0"/>
            <a:r>
              <a:rPr lang="en-US" sz="1800" b="0">
                <a:latin typeface="Times New Roman" panose="02020603050405020304" pitchFamily="18" charset="0"/>
                <a:ea typeface="宋体" panose="02010600030101010101" pitchFamily="2" charset="-122"/>
                <a:cs typeface="Times New Roman" panose="02020603050405020304" pitchFamily="18" charset="0"/>
              </a:rPr>
              <a:t> </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3</a:t>
            </a:r>
            <a:r>
              <a:rPr lang="zh-CN" sz="1800" b="0">
                <a:latin typeface="Times New Roman" panose="02020603050405020304" pitchFamily="18" charset="0"/>
                <a:ea typeface="宋体" panose="02010600030101010101" pitchFamily="2" charset="-122"/>
              </a:rPr>
              <a:t>、</a:t>
            </a:r>
            <a:r>
              <a:rPr lang="en-US" sz="1800" b="0">
                <a:latin typeface="Times New Roman" panose="02020603050405020304" pitchFamily="18" charset="0"/>
                <a:ea typeface="宋体" panose="02010600030101010101" pitchFamily="2" charset="-122"/>
              </a:rPr>
              <a:t>OSI </a:t>
            </a:r>
            <a:r>
              <a:rPr lang="zh-CN" sz="1800" b="0">
                <a:latin typeface="Times New Roman" panose="02020603050405020304" pitchFamily="18" charset="0"/>
                <a:ea typeface="宋体" panose="02010600030101010101" pitchFamily="2" charset="-122"/>
              </a:rPr>
              <a:t>参考模型中，网络层、数据链路层和物理层传输的数据单元分别是：</a:t>
            </a:r>
            <a:r>
              <a:rPr lang="en-US" sz="1800" b="0">
                <a:latin typeface="Times New Roman" panose="02020603050405020304" pitchFamily="18" charset="0"/>
                <a:ea typeface="宋体" panose="02010600030101010101" pitchFamily="2" charset="-122"/>
              </a:rPr>
              <a:t>(  )</a:t>
            </a:r>
            <a:r>
              <a:rPr lang="zh-CN" sz="1800" b="0">
                <a:latin typeface="Times New Roman" panose="02020603050405020304" pitchFamily="18" charset="0"/>
                <a:ea typeface="宋体" panose="02010600030101010101" pitchFamily="2" charset="-122"/>
              </a:rPr>
              <a:t>。</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A</a:t>
            </a:r>
            <a:r>
              <a:rPr lang="zh-CN" sz="1800" b="0">
                <a:latin typeface="Times New Roman" panose="02020603050405020304" pitchFamily="18" charset="0"/>
                <a:ea typeface="宋体" panose="02010600030101010101" pitchFamily="2" charset="-122"/>
              </a:rPr>
              <a:t>、数据段（</a:t>
            </a:r>
            <a:r>
              <a:rPr lang="en-US" sz="1800" b="0">
                <a:latin typeface="Times New Roman" panose="02020603050405020304" pitchFamily="18" charset="0"/>
                <a:ea typeface="宋体" panose="02010600030101010101" pitchFamily="2" charset="-122"/>
              </a:rPr>
              <a:t>segment</a:t>
            </a:r>
            <a:r>
              <a:rPr lang="zh-CN" sz="1800" b="0">
                <a:latin typeface="Times New Roman" panose="02020603050405020304" pitchFamily="18" charset="0"/>
                <a:ea typeface="宋体" panose="02010600030101010101" pitchFamily="2" charset="-122"/>
              </a:rPr>
              <a:t>）、帧（</a:t>
            </a:r>
            <a:r>
              <a:rPr lang="en-US" sz="1800" b="0">
                <a:latin typeface="Times New Roman" panose="02020603050405020304" pitchFamily="18" charset="0"/>
                <a:ea typeface="宋体" panose="02010600030101010101" pitchFamily="2" charset="-122"/>
              </a:rPr>
              <a:t>frame</a:t>
            </a:r>
            <a:r>
              <a:rPr lang="zh-CN" sz="1800" b="0">
                <a:latin typeface="Times New Roman" panose="02020603050405020304" pitchFamily="18" charset="0"/>
                <a:ea typeface="宋体" panose="02010600030101010101" pitchFamily="2" charset="-122"/>
              </a:rPr>
              <a:t>）、比特（</a:t>
            </a:r>
            <a:r>
              <a:rPr lang="en-US" sz="1800" b="0">
                <a:latin typeface="Times New Roman" panose="02020603050405020304" pitchFamily="18" charset="0"/>
                <a:ea typeface="宋体" panose="02010600030101010101" pitchFamily="2" charset="-122"/>
              </a:rPr>
              <a:t>bit</a:t>
            </a:r>
            <a:r>
              <a:rPr lang="zh-CN" sz="1800" b="0">
                <a:latin typeface="Times New Roman" panose="02020603050405020304" pitchFamily="18" charset="0"/>
                <a:ea typeface="宋体" panose="02010600030101010101" pitchFamily="2" charset="-122"/>
              </a:rPr>
              <a:t>）</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B</a:t>
            </a:r>
            <a:r>
              <a:rPr lang="zh-CN" sz="1800" b="0">
                <a:latin typeface="Times New Roman" panose="02020603050405020304" pitchFamily="18" charset="0"/>
                <a:ea typeface="宋体" panose="02010600030101010101" pitchFamily="2" charset="-122"/>
              </a:rPr>
              <a:t>、分组（</a:t>
            </a:r>
            <a:r>
              <a:rPr lang="en-US" sz="1800" b="0">
                <a:latin typeface="Times New Roman" panose="02020603050405020304" pitchFamily="18" charset="0"/>
                <a:ea typeface="宋体" panose="02010600030101010101" pitchFamily="2" charset="-122"/>
              </a:rPr>
              <a:t>packet</a:t>
            </a:r>
            <a:r>
              <a:rPr lang="zh-CN" sz="1800" b="0">
                <a:latin typeface="Times New Roman" panose="02020603050405020304" pitchFamily="18" charset="0"/>
                <a:ea typeface="宋体" panose="02010600030101010101" pitchFamily="2" charset="-122"/>
              </a:rPr>
              <a:t>）、数据段（</a:t>
            </a:r>
            <a:r>
              <a:rPr lang="en-US" sz="1800" b="0">
                <a:latin typeface="Times New Roman" panose="02020603050405020304" pitchFamily="18" charset="0"/>
                <a:ea typeface="宋体" panose="02010600030101010101" pitchFamily="2" charset="-122"/>
              </a:rPr>
              <a:t>segment</a:t>
            </a:r>
            <a:r>
              <a:rPr lang="zh-CN" sz="1800" b="0">
                <a:latin typeface="Times New Roman" panose="02020603050405020304" pitchFamily="18" charset="0"/>
                <a:ea typeface="宋体" panose="02010600030101010101" pitchFamily="2" charset="-122"/>
              </a:rPr>
              <a:t>）、比特（</a:t>
            </a:r>
            <a:r>
              <a:rPr lang="en-US" sz="1800" b="0">
                <a:latin typeface="Times New Roman" panose="02020603050405020304" pitchFamily="18" charset="0"/>
                <a:ea typeface="宋体" panose="02010600030101010101" pitchFamily="2" charset="-122"/>
              </a:rPr>
              <a:t>bit</a:t>
            </a:r>
            <a:r>
              <a:rPr lang="zh-CN" sz="1800" b="0">
                <a:latin typeface="Times New Roman" panose="02020603050405020304" pitchFamily="18" charset="0"/>
                <a:ea typeface="宋体" panose="02010600030101010101" pitchFamily="2" charset="-122"/>
              </a:rPr>
              <a:t>）</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C</a:t>
            </a:r>
            <a:r>
              <a:rPr lang="zh-CN" sz="1800" b="0">
                <a:latin typeface="Times New Roman" panose="02020603050405020304" pitchFamily="18" charset="0"/>
                <a:ea typeface="宋体" panose="02010600030101010101" pitchFamily="2" charset="-122"/>
              </a:rPr>
              <a:t>、分组（</a:t>
            </a:r>
            <a:r>
              <a:rPr lang="en-US" sz="1800" b="0">
                <a:latin typeface="Times New Roman" panose="02020603050405020304" pitchFamily="18" charset="0"/>
                <a:ea typeface="宋体" panose="02010600030101010101" pitchFamily="2" charset="-122"/>
              </a:rPr>
              <a:t>packet</a:t>
            </a:r>
            <a:r>
              <a:rPr lang="zh-CN" sz="1800" b="0">
                <a:latin typeface="Times New Roman" panose="02020603050405020304" pitchFamily="18" charset="0"/>
                <a:ea typeface="宋体" panose="02010600030101010101" pitchFamily="2" charset="-122"/>
              </a:rPr>
              <a:t>）、帧（</a:t>
            </a:r>
            <a:r>
              <a:rPr lang="en-US" sz="1800" b="0">
                <a:latin typeface="Times New Roman" panose="02020603050405020304" pitchFamily="18" charset="0"/>
                <a:ea typeface="宋体" panose="02010600030101010101" pitchFamily="2" charset="-122"/>
              </a:rPr>
              <a:t>frame</a:t>
            </a:r>
            <a:r>
              <a:rPr lang="zh-CN" sz="1800" b="0">
                <a:latin typeface="Times New Roman" panose="02020603050405020304" pitchFamily="18" charset="0"/>
                <a:ea typeface="宋体" panose="02010600030101010101" pitchFamily="2" charset="-122"/>
              </a:rPr>
              <a:t>）、比特（</a:t>
            </a:r>
            <a:r>
              <a:rPr lang="en-US" sz="1800" b="0">
                <a:latin typeface="Times New Roman" panose="02020603050405020304" pitchFamily="18" charset="0"/>
                <a:ea typeface="宋体" panose="02010600030101010101" pitchFamily="2" charset="-122"/>
              </a:rPr>
              <a:t>bit</a:t>
            </a:r>
            <a:r>
              <a:rPr lang="zh-CN" sz="1800" b="0">
                <a:latin typeface="Times New Roman" panose="02020603050405020304" pitchFamily="18" charset="0"/>
                <a:ea typeface="宋体" panose="02010600030101010101" pitchFamily="2" charset="-122"/>
              </a:rPr>
              <a:t>）</a:t>
            </a:r>
            <a:endParaRPr lang="en-US" sz="1800" b="0">
              <a:latin typeface="Times New Roman" panose="02020603050405020304" pitchFamily="18" charset="0"/>
              <a:ea typeface="宋体" panose="02010600030101010101" pitchFamily="2" charset="-122"/>
            </a:endParaRPr>
          </a:p>
          <a:p>
            <a:pPr marL="0" indent="0"/>
            <a:r>
              <a:rPr lang="en-US" sz="1800" b="0">
                <a:latin typeface="Times New Roman" panose="02020603050405020304" pitchFamily="18" charset="0"/>
                <a:ea typeface="宋体" panose="02010600030101010101" pitchFamily="2" charset="-122"/>
              </a:rPr>
              <a:t>D</a:t>
            </a:r>
            <a:r>
              <a:rPr lang="zh-CN" sz="1800" b="0">
                <a:latin typeface="Times New Roman" panose="02020603050405020304" pitchFamily="18" charset="0"/>
                <a:ea typeface="宋体" panose="02010600030101010101" pitchFamily="2" charset="-122"/>
              </a:rPr>
              <a:t>、数据报（</a:t>
            </a:r>
            <a:r>
              <a:rPr lang="en-US" sz="1800" b="0">
                <a:latin typeface="Times New Roman" panose="02020603050405020304" pitchFamily="18" charset="0"/>
                <a:ea typeface="宋体" panose="02010600030101010101" pitchFamily="2" charset="-122"/>
              </a:rPr>
              <a:t>datagram</a:t>
            </a:r>
            <a:r>
              <a:rPr lang="zh-CN" sz="1800" b="0">
                <a:latin typeface="Times New Roman" panose="02020603050405020304" pitchFamily="18" charset="0"/>
                <a:ea typeface="宋体" panose="02010600030101010101" pitchFamily="2" charset="-122"/>
              </a:rPr>
              <a:t>）、数据段（</a:t>
            </a:r>
            <a:r>
              <a:rPr lang="en-US" sz="1800" b="0">
                <a:latin typeface="Times New Roman" panose="02020603050405020304" pitchFamily="18" charset="0"/>
                <a:ea typeface="宋体" panose="02010600030101010101" pitchFamily="2" charset="-122"/>
              </a:rPr>
              <a:t>frame</a:t>
            </a:r>
            <a:r>
              <a:rPr lang="zh-CN" sz="1800" b="0">
                <a:latin typeface="Times New Roman" panose="02020603050405020304" pitchFamily="18" charset="0"/>
                <a:ea typeface="宋体" panose="02010600030101010101" pitchFamily="2" charset="-122"/>
              </a:rPr>
              <a:t>）、比特（</a:t>
            </a:r>
            <a:r>
              <a:rPr lang="en-US" sz="1800" b="0">
                <a:latin typeface="Times New Roman" panose="02020603050405020304" pitchFamily="18" charset="0"/>
                <a:ea typeface="宋体" panose="02010600030101010101" pitchFamily="2" charset="-122"/>
              </a:rPr>
              <a:t>bit</a:t>
            </a:r>
            <a:r>
              <a:rPr lang="zh-CN" sz="1800" b="0">
                <a:latin typeface="Times New Roman" panose="02020603050405020304" pitchFamily="18" charset="0"/>
                <a:ea typeface="宋体" panose="02010600030101010101" pitchFamily="2" charset="-122"/>
              </a:rPr>
              <a:t>）</a:t>
            </a:r>
            <a:endParaRPr lang="zh-CN" altLang="en-US" sz="1800" b="0">
              <a:latin typeface="Times New Roman" panose="02020603050405020304" pitchFamily="18" charset="0"/>
              <a:ea typeface="宋体" panose="02010600030101010101" pitchFamily="2" charset="-122"/>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练习题</a:t>
            </a:r>
          </a:p>
        </p:txBody>
      </p:sp>
      <p:sp>
        <p:nvSpPr>
          <p:cNvPr id="100" name="文本框 99"/>
          <p:cNvSpPr txBox="1"/>
          <p:nvPr/>
        </p:nvSpPr>
        <p:spPr>
          <a:xfrm>
            <a:off x="560705" y="3355975"/>
            <a:ext cx="8507095" cy="2245360"/>
          </a:xfrm>
          <a:prstGeom prst="rect">
            <a:avLst/>
          </a:prstGeom>
          <a:noFill/>
          <a:ln w="9525">
            <a:noFill/>
          </a:ln>
        </p:spPr>
        <p:txBody>
          <a:bodyPr wrap="square">
            <a:spAutoFit/>
          </a:bodyPr>
          <a:lstStyle/>
          <a:p>
            <a:pPr marL="0" indent="0"/>
            <a:r>
              <a:rPr lang="zh-CN" sz="2000" b="0">
                <a:latin typeface="Times New Roman" panose="02020603050405020304" pitchFamily="18" charset="0"/>
                <a:ea typeface="宋体" panose="02010600030101010101" pitchFamily="2" charset="-122"/>
              </a:rPr>
              <a:t>假设</a:t>
            </a:r>
            <a:r>
              <a:rPr lang="zh-CN" sz="2000" b="0">
                <a:ea typeface="宋体" panose="02010600030101010101" pitchFamily="2" charset="-122"/>
              </a:rPr>
              <a:t>收发两端之间的传输距离为</a:t>
            </a:r>
            <a:r>
              <a:rPr lang="en-US" sz="2000" b="0">
                <a:latin typeface="Times New Roman" panose="02020603050405020304" pitchFamily="18" charset="0"/>
                <a:ea typeface="宋体" panose="02010600030101010101" pitchFamily="2" charset="-122"/>
              </a:rPr>
              <a:t>1000km</a:t>
            </a:r>
            <a:r>
              <a:rPr lang="zh-CN" sz="2000" b="0">
                <a:ea typeface="宋体" panose="02010600030101010101" pitchFamily="2" charset="-122"/>
              </a:rPr>
              <a:t>，信号在媒体上的传播速率为</a:t>
            </a:r>
            <a:r>
              <a:rPr lang="en-US" sz="2000" b="0">
                <a:latin typeface="Times New Roman" panose="02020603050405020304" pitchFamily="18" charset="0"/>
                <a:ea typeface="宋体" panose="02010600030101010101" pitchFamily="2" charset="-122"/>
              </a:rPr>
              <a:t>2×10</a:t>
            </a:r>
            <a:r>
              <a:rPr lang="en-US" sz="2000" b="0" baseline="30000">
                <a:latin typeface="Times New Roman" panose="02020603050405020304" pitchFamily="18" charset="0"/>
                <a:ea typeface="宋体" panose="02010600030101010101" pitchFamily="2" charset="-122"/>
              </a:rPr>
              <a:t>8</a:t>
            </a:r>
            <a:r>
              <a:rPr lang="en-US" sz="2000" b="0">
                <a:latin typeface="Times New Roman" panose="02020603050405020304" pitchFamily="18" charset="0"/>
                <a:ea typeface="宋体" panose="02010600030101010101" pitchFamily="2" charset="-122"/>
              </a:rPr>
              <a:t>m/s </a:t>
            </a:r>
            <a:r>
              <a:rPr lang="zh-CN" sz="2000" b="0">
                <a:ea typeface="宋体" panose="02010600030101010101" pitchFamily="2" charset="-122"/>
              </a:rPr>
              <a:t>。</a:t>
            </a:r>
            <a:r>
              <a:rPr lang="zh-CN" sz="2000" b="0">
                <a:latin typeface="Times New Roman" panose="02020603050405020304" pitchFamily="18" charset="0"/>
                <a:ea typeface="宋体" panose="02010600030101010101" pitchFamily="2" charset="-122"/>
              </a:rPr>
              <a:t>请回答以下问题。</a:t>
            </a:r>
          </a:p>
          <a:p>
            <a:pPr marL="0" indent="0"/>
            <a:endParaRPr lang="zh-CN" sz="2000" b="0">
              <a:latin typeface="Times New Roman" panose="02020603050405020304" pitchFamily="18" charset="0"/>
              <a:ea typeface="宋体" panose="02010600030101010101" pitchFamily="2" charset="-122"/>
            </a:endParaRPr>
          </a:p>
          <a:p>
            <a:pPr marL="0" indent="0"/>
            <a:r>
              <a:rPr lang="zh-CN" sz="2000" b="0">
                <a:latin typeface="Times New Roman" panose="02020603050405020304" pitchFamily="18" charset="0"/>
                <a:ea typeface="宋体" panose="02010600030101010101" pitchFamily="2" charset="-122"/>
              </a:rPr>
              <a:t>（</a:t>
            </a:r>
            <a:r>
              <a:rPr lang="en-US" sz="2000" b="0">
                <a:latin typeface="Times New Roman" panose="02020603050405020304" pitchFamily="18" charset="0"/>
                <a:ea typeface="宋体" panose="02010600030101010101" pitchFamily="2" charset="-122"/>
              </a:rPr>
              <a:t>1</a:t>
            </a:r>
            <a:r>
              <a:rPr lang="zh-CN" sz="2000" b="0">
                <a:latin typeface="Times New Roman" panose="02020603050405020304" pitchFamily="18" charset="0"/>
                <a:ea typeface="宋体" panose="02010600030101010101" pitchFamily="2" charset="-122"/>
              </a:rPr>
              <a:t>）数据长度为</a:t>
            </a:r>
            <a:r>
              <a:rPr lang="en-US" sz="2000" b="0">
                <a:latin typeface="Times New Roman" panose="02020603050405020304" pitchFamily="18" charset="0"/>
                <a:ea typeface="宋体" panose="02010600030101010101" pitchFamily="2" charset="-122"/>
              </a:rPr>
              <a:t>10</a:t>
            </a:r>
            <a:r>
              <a:rPr lang="en-US" sz="2000" b="0" baseline="30000">
                <a:latin typeface="Times New Roman" panose="02020603050405020304" pitchFamily="18" charset="0"/>
                <a:ea typeface="宋体" panose="02010600030101010101" pitchFamily="2" charset="-122"/>
              </a:rPr>
              <a:t>7</a:t>
            </a:r>
            <a:r>
              <a:rPr lang="en-US" sz="2000" b="0">
                <a:latin typeface="Times New Roman" panose="02020603050405020304" pitchFamily="18" charset="0"/>
                <a:ea typeface="宋体" panose="02010600030101010101" pitchFamily="2" charset="-122"/>
              </a:rPr>
              <a:t>bit</a:t>
            </a:r>
            <a:r>
              <a:rPr lang="zh-CN" sz="2000" b="0">
                <a:latin typeface="Times New Roman" panose="02020603050405020304" pitchFamily="18" charset="0"/>
                <a:ea typeface="宋体" panose="02010600030101010101" pitchFamily="2" charset="-122"/>
              </a:rPr>
              <a:t>，数据发送速率为</a:t>
            </a:r>
            <a:r>
              <a:rPr lang="en-US" sz="2000" b="0">
                <a:latin typeface="Times New Roman" panose="02020603050405020304" pitchFamily="18" charset="0"/>
                <a:ea typeface="宋体" panose="02010600030101010101" pitchFamily="2" charset="-122"/>
              </a:rPr>
              <a:t>100kbit/s</a:t>
            </a:r>
            <a:r>
              <a:rPr lang="zh-CN" sz="2000" b="0">
                <a:latin typeface="Times New Roman" panose="02020603050405020304" pitchFamily="18" charset="0"/>
                <a:ea typeface="宋体" panose="02010600030101010101" pitchFamily="2" charset="-122"/>
              </a:rPr>
              <a:t>，</a:t>
            </a:r>
            <a:r>
              <a:rPr lang="zh-CN" sz="2000" b="0">
                <a:ea typeface="宋体" panose="02010600030101010101" pitchFamily="2" charset="-122"/>
              </a:rPr>
              <a:t>计算发送时延和传播时延</a:t>
            </a:r>
            <a:r>
              <a:rPr lang="zh-CN" sz="2000" b="0">
                <a:latin typeface="Times New Roman" panose="02020603050405020304" pitchFamily="18" charset="0"/>
                <a:ea typeface="宋体" panose="02010600030101010101" pitchFamily="2" charset="-122"/>
              </a:rPr>
              <a:t>。</a:t>
            </a:r>
          </a:p>
          <a:p>
            <a:pPr marL="0" indent="0"/>
            <a:r>
              <a:rPr lang="zh-CN" sz="2000" b="0">
                <a:latin typeface="Times New Roman" panose="02020603050405020304" pitchFamily="18" charset="0"/>
                <a:ea typeface="宋体" panose="02010600030101010101" pitchFamily="2" charset="-122"/>
              </a:rPr>
              <a:t>（</a:t>
            </a:r>
            <a:r>
              <a:rPr lang="en-US" sz="2000" b="0">
                <a:latin typeface="Times New Roman" panose="02020603050405020304" pitchFamily="18" charset="0"/>
                <a:ea typeface="宋体" panose="02010600030101010101" pitchFamily="2" charset="-122"/>
              </a:rPr>
              <a:t>2</a:t>
            </a:r>
            <a:r>
              <a:rPr lang="zh-CN" sz="2000" b="0">
                <a:latin typeface="Times New Roman" panose="02020603050405020304" pitchFamily="18" charset="0"/>
                <a:ea typeface="宋体" panose="02010600030101010101" pitchFamily="2" charset="-122"/>
              </a:rPr>
              <a:t>）数据长度为</a:t>
            </a:r>
            <a:r>
              <a:rPr lang="en-US" sz="2000" b="0">
                <a:latin typeface="Times New Roman" panose="02020603050405020304" pitchFamily="18" charset="0"/>
                <a:ea typeface="宋体" panose="02010600030101010101" pitchFamily="2" charset="-122"/>
              </a:rPr>
              <a:t>10</a:t>
            </a:r>
            <a:r>
              <a:rPr lang="en-US" sz="2000" b="0" baseline="30000">
                <a:latin typeface="Times New Roman" panose="02020603050405020304" pitchFamily="18" charset="0"/>
                <a:ea typeface="宋体" panose="02010600030101010101" pitchFamily="2" charset="-122"/>
              </a:rPr>
              <a:t>3</a:t>
            </a:r>
            <a:r>
              <a:rPr lang="en-US" sz="2000" b="0">
                <a:latin typeface="Times New Roman" panose="02020603050405020304" pitchFamily="18" charset="0"/>
                <a:ea typeface="宋体" panose="02010600030101010101" pitchFamily="2" charset="-122"/>
              </a:rPr>
              <a:t>bit</a:t>
            </a:r>
            <a:r>
              <a:rPr lang="zh-CN" sz="2000" b="0">
                <a:latin typeface="Times New Roman" panose="02020603050405020304" pitchFamily="18" charset="0"/>
                <a:ea typeface="宋体" panose="02010600030101010101" pitchFamily="2" charset="-122"/>
              </a:rPr>
              <a:t>，数据发送速率为</a:t>
            </a:r>
            <a:r>
              <a:rPr lang="en-US" sz="2000" b="0">
                <a:latin typeface="Times New Roman" panose="02020603050405020304" pitchFamily="18" charset="0"/>
                <a:ea typeface="宋体" panose="02010600030101010101" pitchFamily="2" charset="-122"/>
              </a:rPr>
              <a:t>1Gbit/s</a:t>
            </a:r>
            <a:r>
              <a:rPr lang="zh-CN" sz="2000" b="0">
                <a:latin typeface="Times New Roman" panose="02020603050405020304" pitchFamily="18" charset="0"/>
                <a:ea typeface="宋体" panose="02010600030101010101" pitchFamily="2" charset="-122"/>
              </a:rPr>
              <a:t>，</a:t>
            </a:r>
            <a:r>
              <a:rPr lang="zh-CN" sz="2000" b="0">
                <a:ea typeface="宋体" panose="02010600030101010101" pitchFamily="2" charset="-122"/>
              </a:rPr>
              <a:t>计算发送时延和传播时延</a:t>
            </a:r>
            <a:r>
              <a:rPr lang="zh-CN" sz="2000" b="0">
                <a:latin typeface="Times New Roman" panose="02020603050405020304" pitchFamily="18" charset="0"/>
                <a:ea typeface="宋体" panose="02010600030101010101" pitchFamily="2" charset="-122"/>
              </a:rPr>
              <a:t>。</a:t>
            </a:r>
            <a:endParaRPr lang="zh-CN" altLang="en-US" sz="2000" b="0">
              <a:latin typeface="Times New Roman" panose="02020603050405020304" pitchFamily="18" charset="0"/>
              <a:ea typeface="宋体" panose="02010600030101010101" pitchFamily="2" charset="-122"/>
            </a:endParaRPr>
          </a:p>
        </p:txBody>
      </p:sp>
      <p:sp>
        <p:nvSpPr>
          <p:cNvPr id="3" name="文本框 2"/>
          <p:cNvSpPr txBox="1"/>
          <p:nvPr/>
        </p:nvSpPr>
        <p:spPr>
          <a:xfrm>
            <a:off x="632460" y="1268730"/>
            <a:ext cx="7973695" cy="1014730"/>
          </a:xfrm>
          <a:prstGeom prst="rect">
            <a:avLst/>
          </a:prstGeom>
          <a:noFill/>
          <a:ln w="9525">
            <a:noFill/>
          </a:ln>
        </p:spPr>
        <p:txBody>
          <a:bodyPr wrap="square">
            <a:spAutoFit/>
          </a:bodyPr>
          <a:lstStyle/>
          <a:p>
            <a:pPr marL="0" indent="0"/>
            <a:r>
              <a:rPr lang="zh-CN" sz="2000" b="0">
                <a:latin typeface="Times New Roman" panose="02020603050405020304" pitchFamily="18" charset="0"/>
                <a:ea typeface="宋体" panose="02010600030101010101" pitchFamily="2" charset="-122"/>
              </a:rPr>
              <a:t>在计算机网络中，协议就是为实现网络中的数据交换而建立的</a:t>
            </a:r>
            <a:r>
              <a:rPr lang="en-US" sz="2000" b="0" u="sng">
                <a:latin typeface="Times New Roman" panose="02020603050405020304" pitchFamily="18" charset="0"/>
                <a:ea typeface="宋体" panose="02010600030101010101" pitchFamily="2" charset="-122"/>
                <a:cs typeface="Times New Roman" panose="02020603050405020304" pitchFamily="18" charset="0"/>
              </a:rPr>
              <a:t>  </a:t>
            </a:r>
            <a:r>
              <a:rPr lang="en-US" sz="2000" b="0" u="sng">
                <a:latin typeface="Times New Roman" panose="02020603050405020304" pitchFamily="18" charset="0"/>
                <a:ea typeface="宋体" panose="02010600030101010101" pitchFamily="2" charset="-122"/>
              </a:rPr>
              <a:t>(2)  </a:t>
            </a:r>
            <a:r>
              <a:rPr lang="zh-CN" sz="2000" b="0">
                <a:latin typeface="Times New Roman" panose="02020603050405020304" pitchFamily="18" charset="0"/>
                <a:ea typeface="宋体" panose="02010600030101010101" pitchFamily="2" charset="-122"/>
              </a:rPr>
              <a:t>。</a:t>
            </a:r>
          </a:p>
          <a:p>
            <a:pPr marL="0" indent="0"/>
            <a:endParaRPr lang="en-US" sz="2000" b="0">
              <a:latin typeface="Times New Roman" panose="02020603050405020304" pitchFamily="18" charset="0"/>
              <a:ea typeface="宋体" panose="02010600030101010101" pitchFamily="2" charset="-122"/>
            </a:endParaRPr>
          </a:p>
          <a:p>
            <a:pPr marL="0" indent="0"/>
            <a:r>
              <a:rPr lang="zh-CN" sz="2000" b="0">
                <a:latin typeface="Times New Roman" panose="02020603050405020304" pitchFamily="18" charset="0"/>
                <a:ea typeface="宋体" panose="02010600030101010101" pitchFamily="2" charset="-122"/>
              </a:rPr>
              <a:t>计算机网络中最主要的两个性能指标是</a:t>
            </a:r>
            <a:r>
              <a:rPr lang="en-US" sz="2000" b="0" u="sng">
                <a:latin typeface="Times New Roman" panose="02020603050405020304" pitchFamily="18" charset="0"/>
                <a:ea typeface="宋体" panose="02010600030101010101" pitchFamily="2" charset="-122"/>
                <a:cs typeface="Times New Roman" panose="02020603050405020304" pitchFamily="18" charset="0"/>
              </a:rPr>
              <a:t>  </a:t>
            </a:r>
            <a:r>
              <a:rPr lang="en-US" sz="2000" b="0" u="sng">
                <a:latin typeface="Times New Roman" panose="02020603050405020304" pitchFamily="18" charset="0"/>
                <a:ea typeface="宋体" panose="02010600030101010101" pitchFamily="2" charset="-122"/>
              </a:rPr>
              <a:t>(3)</a:t>
            </a:r>
            <a:r>
              <a:rPr lang="en-US" sz="2000" b="0" u="sng">
                <a:latin typeface="Times New Roman" panose="02020603050405020304" pitchFamily="18" charset="0"/>
                <a:ea typeface="宋体" panose="02010600030101010101" pitchFamily="2" charset="-122"/>
                <a:cs typeface="Times New Roman" panose="02020603050405020304" pitchFamily="18" charset="0"/>
              </a:rPr>
              <a:t> </a:t>
            </a:r>
            <a:r>
              <a:rPr lang="zh-CN" sz="2000" b="0">
                <a:latin typeface="Times New Roman" panose="02020603050405020304" pitchFamily="18" charset="0"/>
                <a:ea typeface="宋体" panose="02010600030101010101" pitchFamily="2" charset="-122"/>
              </a:rPr>
              <a:t>和</a:t>
            </a:r>
            <a:r>
              <a:rPr lang="en-US" sz="2000" b="0" u="sng">
                <a:latin typeface="Times New Roman" panose="02020603050405020304" pitchFamily="18" charset="0"/>
                <a:ea typeface="宋体" panose="02010600030101010101" pitchFamily="2" charset="-122"/>
                <a:cs typeface="Times New Roman" panose="02020603050405020304" pitchFamily="18" charset="0"/>
              </a:rPr>
              <a:t>  </a:t>
            </a:r>
            <a:r>
              <a:rPr lang="en-US" sz="2000" b="0" u="sng">
                <a:latin typeface="Times New Roman" panose="02020603050405020304" pitchFamily="18" charset="0"/>
                <a:ea typeface="宋体" panose="02010600030101010101" pitchFamily="2" charset="-122"/>
              </a:rPr>
              <a:t>(4)</a:t>
            </a:r>
            <a:r>
              <a:rPr lang="en-US" sz="2000" b="0" u="sng">
                <a:latin typeface="Times New Roman" panose="02020603050405020304" pitchFamily="18" charset="0"/>
                <a:ea typeface="宋体" panose="02010600030101010101" pitchFamily="2" charset="-122"/>
                <a:cs typeface="Times New Roman" panose="02020603050405020304" pitchFamily="18" charset="0"/>
              </a:rPr>
              <a:t> </a:t>
            </a:r>
            <a:r>
              <a:rPr lang="zh-CN" sz="2000" b="0">
                <a:latin typeface="Times New Roman" panose="02020603050405020304" pitchFamily="18" charset="0"/>
                <a:ea typeface="宋体" panose="02010600030101010101" pitchFamily="2" charset="-122"/>
              </a:rPr>
              <a:t>。</a:t>
            </a:r>
            <a:endParaRPr lang="zh-CN" altLang="en-US" sz="2000" b="0">
              <a:latin typeface="Times New Roman" panose="02020603050405020304" pitchFamily="18" charset="0"/>
              <a:ea typeface="宋体" panose="0201060003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630,&quot;width&quot;:2680}"/>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90,&quot;width&quot;:2680}"/>
</p:tagLst>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236</TotalTime>
  <Words>10550</Words>
  <Application>Microsoft Office PowerPoint</Application>
  <PresentationFormat>A4 纸张(210x297 毫米)</PresentationFormat>
  <Paragraphs>1491</Paragraphs>
  <Slides>151</Slides>
  <Notes>104</Notes>
  <HiddenSlides>0</HiddenSlides>
  <MMClips>1</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151</vt:i4>
      </vt:variant>
    </vt:vector>
  </HeadingPairs>
  <TitlesOfParts>
    <vt:vector size="163" baseType="lpstr">
      <vt:lpstr>黑体</vt:lpstr>
      <vt:lpstr>宋体</vt:lpstr>
      <vt:lpstr>Arial</vt:lpstr>
      <vt:lpstr>Arial Rounded MT Bold</vt:lpstr>
      <vt:lpstr>Bookman Old Style</vt:lpstr>
      <vt:lpstr>Symbol</vt:lpstr>
      <vt:lpstr>Tahoma</vt:lpstr>
      <vt:lpstr>Times New Roman</vt:lpstr>
      <vt:lpstr>Wingdings</vt:lpstr>
      <vt:lpstr>Presentation</vt:lpstr>
      <vt:lpstr>Visio</vt:lpstr>
      <vt:lpstr>Microsoft ClipArt Gallery</vt:lpstr>
      <vt:lpstr>第 1 章   概述</vt:lpstr>
      <vt:lpstr>第 1 章   概述</vt:lpstr>
      <vt:lpstr>1.1  计算机网络在信息时代中的作用</vt:lpstr>
      <vt:lpstr>1.1  计算机网络在信息时代中的作用</vt:lpstr>
      <vt:lpstr>Internet 发展</vt:lpstr>
      <vt:lpstr>信息科学发展的历程</vt:lpstr>
      <vt:lpstr>图灵论文</vt:lpstr>
      <vt:lpstr>冯.诺伊曼</vt:lpstr>
      <vt:lpstr>计算机网络发展历程</vt:lpstr>
      <vt:lpstr>万维网（WWW）</vt:lpstr>
      <vt:lpstr>“网”与互联网</vt:lpstr>
      <vt:lpstr>什么是互联网？</vt:lpstr>
      <vt:lpstr>互联网应用</vt:lpstr>
      <vt:lpstr>互联网的两个重要特点</vt:lpstr>
      <vt:lpstr>互联网+</vt:lpstr>
      <vt:lpstr>互联网+</vt:lpstr>
      <vt:lpstr>1.2  互联网概述</vt:lpstr>
      <vt:lpstr>1.2.1  网络的网络</vt:lpstr>
      <vt:lpstr>1.2.1  网络的网络</vt:lpstr>
      <vt:lpstr>关于“云”</vt:lpstr>
      <vt:lpstr>基本概念</vt:lpstr>
      <vt:lpstr>1.2.2  互联网基础结构发展的三个阶段</vt:lpstr>
      <vt:lpstr>1.2.2  互联网基础结构发展的三个阶段</vt:lpstr>
      <vt:lpstr>1.2.2  互联网基础结构发展的三个阶段</vt:lpstr>
      <vt:lpstr>PowerPoint 演示文稿</vt:lpstr>
      <vt:lpstr>PowerPoint 演示文稿</vt:lpstr>
      <vt:lpstr>万维网 WWW 的问世</vt:lpstr>
      <vt:lpstr>互联网的发展情况概况</vt:lpstr>
      <vt:lpstr>         移动互联网发展情况</vt:lpstr>
      <vt:lpstr>计算机网络发展历程</vt:lpstr>
      <vt:lpstr>1.3  互联网的组成</vt:lpstr>
      <vt:lpstr>1.3  互联网的组成</vt:lpstr>
      <vt:lpstr>互联网的边缘部分与核心部分</vt:lpstr>
      <vt:lpstr>1.3.1  互联网的边缘部分</vt:lpstr>
      <vt:lpstr>端系统之间通信的含义</vt:lpstr>
      <vt:lpstr>端系统之间的两种通信方式</vt:lpstr>
      <vt:lpstr>1.  客户服务器方式</vt:lpstr>
      <vt:lpstr>PowerPoint 演示文稿</vt:lpstr>
      <vt:lpstr>客户软件的特点 </vt:lpstr>
      <vt:lpstr>服务器软件的特点 </vt:lpstr>
      <vt:lpstr>2. 对等连接方式 </vt:lpstr>
      <vt:lpstr>对等连接方式的特点</vt:lpstr>
      <vt:lpstr>PowerPoint 演示文稿</vt:lpstr>
      <vt:lpstr>1.3.2  互联网的核心部分</vt:lpstr>
      <vt:lpstr>1.3.2  互联网的核心部分</vt:lpstr>
      <vt:lpstr>1. 电路交换的主要特点</vt:lpstr>
      <vt:lpstr>1. 电路交换的主要特点</vt:lpstr>
      <vt:lpstr>1. 电路交换的主要特点</vt:lpstr>
      <vt:lpstr>使用交换机</vt:lpstr>
      <vt:lpstr>“交换”的含义</vt:lpstr>
      <vt:lpstr>电路交换特点</vt:lpstr>
      <vt:lpstr>电路交换举例</vt:lpstr>
      <vt:lpstr>2. 分组交换的主要特点 </vt:lpstr>
      <vt:lpstr>添加首部构成分组</vt:lpstr>
      <vt:lpstr>分组交换的传输单元</vt:lpstr>
      <vt:lpstr>分组首部的重要性</vt:lpstr>
      <vt:lpstr>收到分组后剥去首部</vt:lpstr>
      <vt:lpstr>最后还原成原来的报文</vt:lpstr>
      <vt:lpstr>1.3.2  互联网的核心部分</vt:lpstr>
      <vt:lpstr>PowerPoint 演示文稿</vt:lpstr>
      <vt:lpstr>PowerPoint 演示文稿</vt:lpstr>
      <vt:lpstr>分组交换网的示意图</vt:lpstr>
      <vt:lpstr>注意分组的存储转发过程</vt:lpstr>
      <vt:lpstr>路由器</vt:lpstr>
      <vt:lpstr>分组交换的优点</vt:lpstr>
      <vt:lpstr>分组交换带来的问题</vt:lpstr>
      <vt:lpstr>存储转发原理并非完全新的概念 </vt:lpstr>
      <vt:lpstr>三种交换的比较 </vt:lpstr>
      <vt:lpstr>三种交换的比较</vt:lpstr>
      <vt:lpstr>1.4  计算机网络在我国的发展</vt:lpstr>
      <vt:lpstr>1.4  计算机网络在我国的发展</vt:lpstr>
      <vt:lpstr>1.4  计算机网络在我国的发展</vt:lpstr>
      <vt:lpstr>1.4  计算机网络在我国的发展</vt:lpstr>
      <vt:lpstr>中国电信互联网</vt:lpstr>
      <vt:lpstr>1.4  计算机网络在我国的发展</vt:lpstr>
      <vt:lpstr>1.4  计算机网络在我国的发展</vt:lpstr>
      <vt:lpstr>1.5  计算机网络的类别</vt:lpstr>
      <vt:lpstr>1.5.1  计算机网络的定义</vt:lpstr>
      <vt:lpstr>1.5.1  计算机网络的定义</vt:lpstr>
      <vt:lpstr>1.5.2  几种不同类别的网络</vt:lpstr>
      <vt:lpstr>1. 按照网络的作用范围进行分类</vt:lpstr>
      <vt:lpstr>2. 按照网络的使用者进行分类</vt:lpstr>
      <vt:lpstr>3. 用来把用户接入到互联网的网络</vt:lpstr>
      <vt:lpstr>1.6  计算机网络的性能</vt:lpstr>
      <vt:lpstr>1.6.1  计算机网络的性能指标</vt:lpstr>
      <vt:lpstr>1. 速率</vt:lpstr>
      <vt:lpstr>2. 带宽 </vt:lpstr>
      <vt:lpstr>数字信号流随时间的变化</vt:lpstr>
      <vt:lpstr>3. 吞吐量</vt:lpstr>
      <vt:lpstr>4. 时延 (delay 或 latency)</vt:lpstr>
      <vt:lpstr>4. 时延 (delay 或 latency)</vt:lpstr>
      <vt:lpstr>4. 时延 (delay 或 latency)</vt:lpstr>
      <vt:lpstr>发送时延与传播时延对比</vt:lpstr>
      <vt:lpstr>4. 时延 (delay 或 latency)</vt:lpstr>
      <vt:lpstr>4. 时延 (delay 或 latency)</vt:lpstr>
      <vt:lpstr>四种时延所产生的地方 </vt:lpstr>
      <vt:lpstr>容易产生的错误概念 </vt:lpstr>
      <vt:lpstr>时延计算举例</vt:lpstr>
      <vt:lpstr>时延计算举例</vt:lpstr>
      <vt:lpstr>4. 信道利用率</vt:lpstr>
      <vt:lpstr>4. 信道利用率</vt:lpstr>
      <vt:lpstr>1.6.2  计算机网络的非性能指标</vt:lpstr>
      <vt:lpstr>1.7  计算机网络的体系结构</vt:lpstr>
      <vt:lpstr>1.7.1  计算机网络体系结构的形成</vt:lpstr>
      <vt:lpstr>一. 为什么需要计算机网络体系结构？</vt:lpstr>
      <vt:lpstr>一. 为什么需要计算机网络体系结构？</vt:lpstr>
      <vt:lpstr>二. 计算机网络体系结构设计的基本思想</vt:lpstr>
      <vt:lpstr>划分层次的应用举例 </vt:lpstr>
      <vt:lpstr>邮政系统的分层思想</vt:lpstr>
      <vt:lpstr>分层的优缺点 </vt:lpstr>
      <vt:lpstr>计算机网络体系结构概念与标准 </vt:lpstr>
      <vt:lpstr>   计算机网络体系结构概念</vt:lpstr>
      <vt:lpstr>具有五层协议的体系结构</vt:lpstr>
      <vt:lpstr>网络体系结构的分层原理</vt:lpstr>
      <vt:lpstr>几个概念</vt:lpstr>
      <vt:lpstr>网络体系结构模型</vt:lpstr>
      <vt:lpstr>对等层通信的实质</vt:lpstr>
      <vt:lpstr>计算机网络体系结构标准</vt:lpstr>
      <vt:lpstr>开放系统互连参考模型 OSI/RM</vt:lpstr>
      <vt:lpstr>开放系统互连参考模型 OSI/RM</vt:lpstr>
      <vt:lpstr>具有五层协议的体系结构</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协议</vt:lpstr>
      <vt:lpstr>网络协议的三个组成要素 </vt:lpstr>
      <vt:lpstr>协议的两种形式</vt:lpstr>
      <vt:lpstr>协议很复杂 </vt:lpstr>
      <vt:lpstr>【例1-1】著名的协议举例</vt:lpstr>
      <vt:lpstr>PowerPoint 演示文稿</vt:lpstr>
      <vt:lpstr>作业（第七版）</vt:lpstr>
      <vt:lpstr>练习题</vt:lpstr>
      <vt:lpstr>练习题</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Administrator</cp:lastModifiedBy>
  <cp:revision>134</cp:revision>
  <dcterms:created xsi:type="dcterms:W3CDTF">2016-10-01T05:27:00Z</dcterms:created>
  <dcterms:modified xsi:type="dcterms:W3CDTF">2024-09-04T07:20:28Z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2052-11.1.0.11405</vt:lpwstr>
  </property>
  <property fmtid="{D5CDD505-2E9C-101B-9397-08002B2CF9AE}" pid="4" name="ICV">
    <vt:lpwstr>DE9F49F43DAC468D8230B902DC95441A</vt:lpwstr>
  </property>
</Properties>
</file>