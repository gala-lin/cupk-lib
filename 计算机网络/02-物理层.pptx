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handoutMasterIdLst>
    <p:handoutMasterId r:id="rId108"/>
  </p:handoutMasterIdLst>
  <p:sldIdLst>
    <p:sldId id="256" r:id="rId2"/>
    <p:sldId id="257" r:id="rId3"/>
    <p:sldId id="387" r:id="rId4"/>
    <p:sldId id="258" r:id="rId5"/>
    <p:sldId id="259" r:id="rId6"/>
    <p:sldId id="260" r:id="rId7"/>
    <p:sldId id="261" r:id="rId8"/>
    <p:sldId id="449" r:id="rId9"/>
    <p:sldId id="262" r:id="rId10"/>
    <p:sldId id="509" r:id="rId11"/>
    <p:sldId id="263" r:id="rId12"/>
    <p:sldId id="508" r:id="rId13"/>
    <p:sldId id="264" r:id="rId14"/>
    <p:sldId id="265" r:id="rId15"/>
    <p:sldId id="266" r:id="rId16"/>
    <p:sldId id="510" r:id="rId17"/>
    <p:sldId id="512" r:id="rId18"/>
    <p:sldId id="513" r:id="rId19"/>
    <p:sldId id="514" r:id="rId20"/>
    <p:sldId id="515" r:id="rId21"/>
    <p:sldId id="516" r:id="rId22"/>
    <p:sldId id="517" r:id="rId23"/>
    <p:sldId id="518" r:id="rId24"/>
    <p:sldId id="898" r:id="rId25"/>
    <p:sldId id="272" r:id="rId26"/>
    <p:sldId id="273" r:id="rId27"/>
    <p:sldId id="274" r:id="rId28"/>
    <p:sldId id="275" r:id="rId29"/>
    <p:sldId id="574" r:id="rId30"/>
    <p:sldId id="575" r:id="rId31"/>
    <p:sldId id="276" r:id="rId32"/>
    <p:sldId id="277" r:id="rId33"/>
    <p:sldId id="278" r:id="rId34"/>
    <p:sldId id="578" r:id="rId35"/>
    <p:sldId id="279" r:id="rId36"/>
    <p:sldId id="280" r:id="rId37"/>
    <p:sldId id="281" r:id="rId38"/>
    <p:sldId id="282" r:id="rId39"/>
    <p:sldId id="579" r:id="rId40"/>
    <p:sldId id="580" r:id="rId41"/>
    <p:sldId id="581" r:id="rId42"/>
    <p:sldId id="284" r:id="rId43"/>
    <p:sldId id="285" r:id="rId44"/>
    <p:sldId id="286" r:id="rId45"/>
    <p:sldId id="582" r:id="rId46"/>
    <p:sldId id="288" r:id="rId47"/>
    <p:sldId id="343" r:id="rId48"/>
    <p:sldId id="583" r:id="rId49"/>
    <p:sldId id="289" r:id="rId50"/>
    <p:sldId id="290" r:id="rId51"/>
    <p:sldId id="291" r:id="rId52"/>
    <p:sldId id="584" r:id="rId53"/>
    <p:sldId id="585" r:id="rId54"/>
    <p:sldId id="295" r:id="rId55"/>
    <p:sldId id="586" r:id="rId56"/>
    <p:sldId id="296" r:id="rId57"/>
    <p:sldId id="687" r:id="rId58"/>
    <p:sldId id="688" r:id="rId59"/>
    <p:sldId id="689" r:id="rId60"/>
    <p:sldId id="690" r:id="rId61"/>
    <p:sldId id="851" r:id="rId62"/>
    <p:sldId id="349" r:id="rId63"/>
    <p:sldId id="350" r:id="rId64"/>
    <p:sldId id="351" r:id="rId65"/>
    <p:sldId id="352" r:id="rId66"/>
    <p:sldId id="633" r:id="rId67"/>
    <p:sldId id="634" r:id="rId68"/>
    <p:sldId id="635" r:id="rId69"/>
    <p:sldId id="636" r:id="rId70"/>
    <p:sldId id="638" r:id="rId71"/>
    <p:sldId id="639" r:id="rId72"/>
    <p:sldId id="640" r:id="rId73"/>
    <p:sldId id="641" r:id="rId74"/>
    <p:sldId id="642" r:id="rId75"/>
    <p:sldId id="643" r:id="rId76"/>
    <p:sldId id="644" r:id="rId77"/>
    <p:sldId id="666" r:id="rId78"/>
    <p:sldId id="667" r:id="rId79"/>
    <p:sldId id="645" r:id="rId80"/>
    <p:sldId id="649" r:id="rId81"/>
    <p:sldId id="650" r:id="rId82"/>
    <p:sldId id="651" r:id="rId83"/>
    <p:sldId id="648" r:id="rId84"/>
    <p:sldId id="647" r:id="rId85"/>
    <p:sldId id="646" r:id="rId86"/>
    <p:sldId id="668" r:id="rId87"/>
    <p:sldId id="320" r:id="rId88"/>
    <p:sldId id="321" r:id="rId89"/>
    <p:sldId id="322" r:id="rId90"/>
    <p:sldId id="323" r:id="rId91"/>
    <p:sldId id="326" r:id="rId92"/>
    <p:sldId id="327" r:id="rId93"/>
    <p:sldId id="328" r:id="rId94"/>
    <p:sldId id="854" r:id="rId95"/>
    <p:sldId id="329" r:id="rId96"/>
    <p:sldId id="330" r:id="rId97"/>
    <p:sldId id="853" r:id="rId98"/>
    <p:sldId id="855" r:id="rId99"/>
    <p:sldId id="856" r:id="rId100"/>
    <p:sldId id="857" r:id="rId101"/>
    <p:sldId id="858" r:id="rId102"/>
    <p:sldId id="859" r:id="rId103"/>
    <p:sldId id="337" r:id="rId104"/>
    <p:sldId id="860" r:id="rId105"/>
    <p:sldId id="861" r:id="rId106"/>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13">
          <p15:clr>
            <a:srgbClr val="A4A3A4"/>
          </p15:clr>
        </p15:guide>
        <p15:guide id="2" pos="3120">
          <p15:clr>
            <a:srgbClr val="A4A3A4"/>
          </p15:clr>
        </p15:guide>
      </p15:sldGuideLst>
    </p:ext>
    <p:ext uri="{2D200454-40CA-4A62-9FC3-DE9A4176ACB9}">
      <p15:notesGuideLst xmlns:p15="http://schemas.microsoft.com/office/powerpoint/2012/main">
        <p15:guide id="1" orient="horz" pos="2864">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99CCFF"/>
    <a:srgbClr val="6699FF"/>
    <a:srgbClr val="FFFF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44" autoAdjust="0"/>
    <p:restoredTop sz="94690" autoAdjust="0"/>
  </p:normalViewPr>
  <p:slideViewPr>
    <p:cSldViewPr>
      <p:cViewPr varScale="1">
        <p:scale>
          <a:sx n="77" d="100"/>
          <a:sy n="77" d="100"/>
        </p:scale>
        <p:origin x="470" y="62"/>
      </p:cViewPr>
      <p:guideLst>
        <p:guide orient="horz" pos="2113"/>
        <p:guide pos="312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100" d="100"/>
        <a:sy n="100" d="100"/>
      </p:scale>
      <p:origin x="0" y="-34976"/>
    </p:cViewPr>
  </p:sorterViewPr>
  <p:notesViewPr>
    <p:cSldViewPr>
      <p:cViewPr>
        <p:scale>
          <a:sx n="56" d="100"/>
          <a:sy n="56" d="100"/>
        </p:scale>
        <p:origin x="-1830" y="-96"/>
      </p:cViewPr>
      <p:guideLst>
        <p:guide orient="horz" pos="2864"/>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_rels/viewProps.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slide" Target="slides/slide62.xml"/><Relationship Id="rId1" Type="http://schemas.openxmlformats.org/officeDocument/2006/relationships/slide" Target="slides/slide47.xml"/><Relationship Id="rId5" Type="http://schemas.openxmlformats.org/officeDocument/2006/relationships/slide" Target="slides/slide65.xml"/><Relationship Id="rId4"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E4C64EE1-592A-45A9-9E8D-8A110C604C90}"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宋体" panose="02010600030101010101"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宋体" panose="02010600030101010101" pitchFamily="2" charset="-122"/>
              </a:defRPr>
            </a:lvl1pPr>
          </a:lstStyle>
          <a:p>
            <a:fld id="{8DA2099C-E03D-4BEA-80BD-EC59252D8E32}"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396C443-04BC-4639-B5F7-E14A7E3E0041}" type="slidenum">
              <a:rPr lang="zh-CN" altLang="en-US"/>
              <a:t>1</a:t>
            </a:fld>
            <a:endParaRPr lang="en-US" altLang="zh-CN"/>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4</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5</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6</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7</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69359E1-CD3A-4561-AA5E-43EB198A1B85}" type="slidenum">
              <a:rPr lang="en-US" altLang="zh-CN"/>
              <a:t>8</a:t>
            </a:fld>
            <a:endParaRPr lang="en-US" altLang="zh-CN"/>
          </a:p>
        </p:txBody>
      </p:sp>
      <p:sp>
        <p:nvSpPr>
          <p:cNvPr id="183298" name="Rectangle 2"/>
          <p:cNvSpPr>
            <a:spLocks noGrp="1" noRot="1" noChangeAspect="1" noChangeArrowheads="1" noTextEdit="1"/>
          </p:cNvSpPr>
          <p:nvPr>
            <p:ph type="sldImg"/>
          </p:nvPr>
        </p:nvSpPr>
        <p:spPr/>
      </p:sp>
      <p:sp>
        <p:nvSpPr>
          <p:cNvPr id="183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69359E1-CD3A-4561-AA5E-43EB198A1B85}" type="slidenum">
              <a:rPr lang="en-US" altLang="zh-CN"/>
              <a:t>9</a:t>
            </a:fld>
            <a:endParaRPr lang="en-US" altLang="zh-CN"/>
          </a:p>
        </p:txBody>
      </p:sp>
      <p:sp>
        <p:nvSpPr>
          <p:cNvPr id="183298" name="Rectangle 2"/>
          <p:cNvSpPr>
            <a:spLocks noGrp="1" noRot="1" noChangeAspect="1" noChangeArrowheads="1" noTextEdit="1"/>
          </p:cNvSpPr>
          <p:nvPr>
            <p:ph type="sldImg"/>
          </p:nvPr>
        </p:nvSpPr>
        <p:spPr/>
      </p:sp>
      <p:sp>
        <p:nvSpPr>
          <p:cNvPr id="183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9B74550-4683-484B-BE4E-306FB7D97BE9}" type="slidenum">
              <a:rPr lang="en-US" altLang="zh-CN"/>
              <a:t>13</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9B74550-4683-484B-BE4E-306FB7D97BE9}" type="slidenum">
              <a:rPr lang="en-US" altLang="zh-CN"/>
              <a:t>14</a:t>
            </a:fld>
            <a:endParaRPr lang="en-US" altLang="zh-CN"/>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C3F2F3-A793-4415-B5FB-9E7E96A95D00}" type="slidenum">
              <a:rPr lang="en-US" altLang="zh-CN"/>
              <a:t>25</a:t>
            </a:fld>
            <a:endParaRPr lang="en-US" altLang="zh-CN"/>
          </a:p>
        </p:txBody>
      </p:sp>
      <p:sp>
        <p:nvSpPr>
          <p:cNvPr id="187394" name="Rectangle 2"/>
          <p:cNvSpPr>
            <a:spLocks noGrp="1" noRot="1" noChangeAspect="1" noChangeArrowheads="1" noTextEdit="1"/>
          </p:cNvSpPr>
          <p:nvPr>
            <p:ph type="sldImg"/>
          </p:nvPr>
        </p:nvSpPr>
        <p:spPr/>
      </p:sp>
      <p:sp>
        <p:nvSpPr>
          <p:cNvPr id="1873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F1B48E5-69EC-4DE3-B72B-B71383ED4DCD}" type="slidenum">
              <a:rPr lang="en-US" altLang="zh-CN"/>
              <a:t>26</a:t>
            </a:fld>
            <a:endParaRPr lang="en-US" altLang="zh-CN"/>
          </a:p>
        </p:txBody>
      </p:sp>
      <p:sp>
        <p:nvSpPr>
          <p:cNvPr id="188418" name="Rectangle 2"/>
          <p:cNvSpPr>
            <a:spLocks noGrp="1" noRot="1" noChangeAspect="1" noChangeArrowheads="1" noTextEdit="1"/>
          </p:cNvSpPr>
          <p:nvPr>
            <p:ph type="sldImg"/>
          </p:nvPr>
        </p:nvSpPr>
        <p:spPr/>
      </p:sp>
      <p:sp>
        <p:nvSpPr>
          <p:cNvPr id="1884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A1F829-EC13-481E-B305-6ECDEBE6D2E4}" type="slidenum">
              <a:rPr lang="en-US" altLang="zh-CN"/>
              <a:t>28</a:t>
            </a:fld>
            <a:endParaRPr lang="en-US" altLang="zh-CN"/>
          </a:p>
        </p:txBody>
      </p:sp>
      <p:sp>
        <p:nvSpPr>
          <p:cNvPr id="189442" name="Rectangle 2"/>
          <p:cNvSpPr>
            <a:spLocks noGrp="1" noRot="1" noChangeAspect="1" noChangeArrowheads="1" noTextEdit="1"/>
          </p:cNvSpPr>
          <p:nvPr>
            <p:ph type="sldImg"/>
          </p:nvPr>
        </p:nvSpPr>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A1F829-EC13-481E-B305-6ECDEBE6D2E4}" type="slidenum">
              <a:rPr lang="en-US" altLang="zh-CN"/>
              <a:t>29</a:t>
            </a:fld>
            <a:endParaRPr lang="en-US" altLang="zh-CN"/>
          </a:p>
        </p:txBody>
      </p:sp>
      <p:sp>
        <p:nvSpPr>
          <p:cNvPr id="189442" name="Rectangle 2"/>
          <p:cNvSpPr>
            <a:spLocks noGrp="1" noRot="1" noChangeAspect="1" noChangeArrowheads="1" noTextEdit="1"/>
          </p:cNvSpPr>
          <p:nvPr>
            <p:ph type="sldImg"/>
          </p:nvPr>
        </p:nvSpPr>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A1F829-EC13-481E-B305-6ECDEBE6D2E4}" type="slidenum">
              <a:rPr lang="en-US" altLang="zh-CN"/>
              <a:t>30</a:t>
            </a:fld>
            <a:endParaRPr lang="en-US" altLang="zh-CN"/>
          </a:p>
        </p:txBody>
      </p:sp>
      <p:sp>
        <p:nvSpPr>
          <p:cNvPr id="189442" name="Rectangle 2"/>
          <p:cNvSpPr>
            <a:spLocks noGrp="1" noRot="1" noChangeAspect="1" noChangeArrowheads="1" noTextEdit="1"/>
          </p:cNvSpPr>
          <p:nvPr>
            <p:ph type="sldImg"/>
          </p:nvPr>
        </p:nvSpPr>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A1F829-EC13-481E-B305-6ECDEBE6D2E4}" type="slidenum">
              <a:rPr lang="en-US" altLang="zh-CN"/>
              <a:t>31</a:t>
            </a:fld>
            <a:endParaRPr lang="en-US" altLang="zh-CN"/>
          </a:p>
        </p:txBody>
      </p:sp>
      <p:sp>
        <p:nvSpPr>
          <p:cNvPr id="189442" name="Rectangle 2"/>
          <p:cNvSpPr>
            <a:spLocks noGrp="1" noRot="1" noChangeAspect="1" noChangeArrowheads="1" noTextEdit="1"/>
          </p:cNvSpPr>
          <p:nvPr>
            <p:ph type="sldImg"/>
          </p:nvPr>
        </p:nvSpPr>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B73DE2-5A96-4F7E-96C0-C2FAEF076C80}" type="slidenum">
              <a:rPr lang="en-US" altLang="zh-CN"/>
              <a:t>32</a:t>
            </a:fld>
            <a:endParaRPr lang="en-US" altLang="zh-CN"/>
          </a:p>
        </p:txBody>
      </p:sp>
      <p:sp>
        <p:nvSpPr>
          <p:cNvPr id="193538" name="Rectangle 2"/>
          <p:cNvSpPr>
            <a:spLocks noGrp="1" noRot="1" noChangeAspect="1" noChangeArrowheads="1" noTextEdit="1"/>
          </p:cNvSpPr>
          <p:nvPr>
            <p:ph type="sldImg"/>
          </p:nvPr>
        </p:nvSpPr>
        <p:spPr/>
      </p:sp>
      <p:sp>
        <p:nvSpPr>
          <p:cNvPr id="193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B73DE2-5A96-4F7E-96C0-C2FAEF076C80}" type="slidenum">
              <a:rPr lang="en-US" altLang="zh-CN"/>
              <a:t>33</a:t>
            </a:fld>
            <a:endParaRPr lang="en-US" altLang="zh-CN"/>
          </a:p>
        </p:txBody>
      </p:sp>
      <p:sp>
        <p:nvSpPr>
          <p:cNvPr id="193538" name="Rectangle 2"/>
          <p:cNvSpPr>
            <a:spLocks noGrp="1" noRot="1" noChangeAspect="1" noChangeArrowheads="1" noTextEdit="1"/>
          </p:cNvSpPr>
          <p:nvPr>
            <p:ph type="sldImg"/>
          </p:nvPr>
        </p:nvSpPr>
        <p:spPr/>
      </p:sp>
      <p:sp>
        <p:nvSpPr>
          <p:cNvPr id="193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1B73DE2-5A96-4F7E-96C0-C2FAEF076C80}" type="slidenum">
              <a:rPr lang="en-US" altLang="zh-CN"/>
              <a:t>34</a:t>
            </a:fld>
            <a:endParaRPr lang="en-US" altLang="zh-CN"/>
          </a:p>
        </p:txBody>
      </p:sp>
      <p:sp>
        <p:nvSpPr>
          <p:cNvPr id="193538" name="Rectangle 2"/>
          <p:cNvSpPr>
            <a:spLocks noGrp="1" noRot="1" noChangeAspect="1" noChangeArrowheads="1" noTextEdit="1"/>
          </p:cNvSpPr>
          <p:nvPr>
            <p:ph type="sldImg"/>
          </p:nvPr>
        </p:nvSpPr>
        <p:spPr/>
      </p:sp>
      <p:sp>
        <p:nvSpPr>
          <p:cNvPr id="193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F8C9CD0-8358-42F7-BFD5-08BF4B4E0313}" type="slidenum">
              <a:rPr lang="en-US" altLang="zh-CN"/>
              <a:t>35</a:t>
            </a:fld>
            <a:endParaRPr lang="en-US" altLang="zh-CN"/>
          </a:p>
        </p:txBody>
      </p:sp>
      <p:sp>
        <p:nvSpPr>
          <p:cNvPr id="194562" name="Rectangle 2"/>
          <p:cNvSpPr>
            <a:spLocks noGrp="1" noRot="1" noChangeAspect="1" noChangeArrowheads="1" noTextEdit="1"/>
          </p:cNvSpPr>
          <p:nvPr>
            <p:ph type="sldImg"/>
          </p:nvPr>
        </p:nvSpPr>
        <p:spPr/>
      </p:sp>
      <p:sp>
        <p:nvSpPr>
          <p:cNvPr id="1945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3C274DB-4E11-4AA3-A831-99140BBE3CAC}" type="slidenum">
              <a:rPr lang="en-US" altLang="zh-CN"/>
              <a:t>36</a:t>
            </a:fld>
            <a:endParaRPr lang="en-US" altLang="zh-CN"/>
          </a:p>
        </p:txBody>
      </p:sp>
      <p:sp>
        <p:nvSpPr>
          <p:cNvPr id="192514" name="Rectangle 2"/>
          <p:cNvSpPr>
            <a:spLocks noGrp="1" noRot="1" noChangeAspect="1" noChangeArrowheads="1" noTextEdit="1"/>
          </p:cNvSpPr>
          <p:nvPr>
            <p:ph type="sldImg"/>
          </p:nvPr>
        </p:nvSpPr>
        <p:spPr/>
      </p:sp>
      <p:sp>
        <p:nvSpPr>
          <p:cNvPr id="1925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37</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8BB64D-82BF-4402-B1B4-2B119A77DE61}" type="slidenum">
              <a:rPr lang="en-US" altLang="zh-CN"/>
              <a:t>38</a:t>
            </a:fld>
            <a:endParaRPr lang="en-US" altLang="zh-CN"/>
          </a:p>
        </p:txBody>
      </p:sp>
      <p:sp>
        <p:nvSpPr>
          <p:cNvPr id="181250" name="Rectangle 2"/>
          <p:cNvSpPr>
            <a:spLocks noGrp="1" noRot="1" noChangeAspect="1" noChangeArrowheads="1" noTextEdit="1"/>
          </p:cNvSpPr>
          <p:nvPr>
            <p:ph type="sldImg"/>
          </p:nvPr>
        </p:nvSpPr>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5D0689-4D20-4673-B094-01C9BCA9987B}" type="slidenum">
              <a:rPr lang="en-US" altLang="zh-CN"/>
              <a:t>42</a:t>
            </a:fld>
            <a:endParaRPr lang="en-US" altLang="zh-CN"/>
          </a:p>
        </p:txBody>
      </p:sp>
      <p:sp>
        <p:nvSpPr>
          <p:cNvPr id="197634" name="Rectangle 2"/>
          <p:cNvSpPr>
            <a:spLocks noGrp="1" noRot="1" noChangeAspect="1" noChangeArrowheads="1" noTextEdit="1"/>
          </p:cNvSpPr>
          <p:nvPr>
            <p:ph type="sldImg"/>
          </p:nvPr>
        </p:nvSpPr>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5D0689-4D20-4673-B094-01C9BCA9987B}" type="slidenum">
              <a:rPr lang="en-US" altLang="zh-CN"/>
              <a:t>43</a:t>
            </a:fld>
            <a:endParaRPr lang="en-US" altLang="zh-CN"/>
          </a:p>
        </p:txBody>
      </p:sp>
      <p:sp>
        <p:nvSpPr>
          <p:cNvPr id="197634" name="Rectangle 2"/>
          <p:cNvSpPr>
            <a:spLocks noGrp="1" noRot="1" noChangeAspect="1" noChangeArrowheads="1" noTextEdit="1"/>
          </p:cNvSpPr>
          <p:nvPr>
            <p:ph type="sldImg"/>
          </p:nvPr>
        </p:nvSpPr>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5D0689-4D20-4673-B094-01C9BCA9987B}" type="slidenum">
              <a:rPr lang="en-US" altLang="zh-CN"/>
              <a:t>44</a:t>
            </a:fld>
            <a:endParaRPr lang="en-US" altLang="zh-CN"/>
          </a:p>
        </p:txBody>
      </p:sp>
      <p:sp>
        <p:nvSpPr>
          <p:cNvPr id="197634" name="Rectangle 2"/>
          <p:cNvSpPr>
            <a:spLocks noGrp="1" noRot="1" noChangeAspect="1" noChangeArrowheads="1" noTextEdit="1"/>
          </p:cNvSpPr>
          <p:nvPr>
            <p:ph type="sldImg"/>
          </p:nvPr>
        </p:nvSpPr>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5D0689-4D20-4673-B094-01C9BCA9987B}" type="slidenum">
              <a:rPr lang="en-US" altLang="zh-CN"/>
              <a:t>46</a:t>
            </a:fld>
            <a:endParaRPr lang="en-US" altLang="zh-CN"/>
          </a:p>
        </p:txBody>
      </p:sp>
      <p:sp>
        <p:nvSpPr>
          <p:cNvPr id="197634" name="Rectangle 2"/>
          <p:cNvSpPr>
            <a:spLocks noGrp="1" noRot="1" noChangeAspect="1" noChangeArrowheads="1" noTextEdit="1"/>
          </p:cNvSpPr>
          <p:nvPr>
            <p:ph type="sldImg"/>
          </p:nvPr>
        </p:nvSpPr>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defTabSz="903605">
              <a:defRPr sz="2400">
                <a:solidFill>
                  <a:schemeClr val="tx1"/>
                </a:solidFill>
                <a:latin typeface="Arial" panose="020B0604020202020204" pitchFamily="34" charset="0"/>
                <a:ea typeface="MS PGothic" panose="020B0600070205080204" charset="-128"/>
              </a:defRPr>
            </a:lvl2pPr>
            <a:lvl3pPr marL="1143000" indent="-228600" defTabSz="903605">
              <a:defRPr sz="2400">
                <a:solidFill>
                  <a:schemeClr val="tx1"/>
                </a:solidFill>
                <a:latin typeface="Arial" panose="020B0604020202020204" pitchFamily="34" charset="0"/>
                <a:ea typeface="MS PGothic" panose="020B0600070205080204" charset="-128"/>
              </a:defRPr>
            </a:lvl3pPr>
            <a:lvl4pPr marL="1600200" indent="-228600" defTabSz="903605">
              <a:defRPr sz="2400">
                <a:solidFill>
                  <a:schemeClr val="tx1"/>
                </a:solidFill>
                <a:latin typeface="Arial" panose="020B0604020202020204" pitchFamily="34" charset="0"/>
                <a:ea typeface="MS PGothic" panose="020B0600070205080204" charset="-128"/>
              </a:defRPr>
            </a:lvl4pPr>
            <a:lvl5pPr marL="2057400" indent="-228600" defTabSz="903605">
              <a:defRPr sz="2400">
                <a:solidFill>
                  <a:schemeClr val="tx1"/>
                </a:solidFill>
                <a:latin typeface="Arial" panose="020B0604020202020204" pitchFamily="34" charset="0"/>
                <a:ea typeface="MS PGothic" panose="020B060007020508020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3AF6C828-841A-4C47-96F3-CFA23585409C}" type="slidenum">
              <a:rPr lang="en-US" sz="800"/>
              <a:t>47</a:t>
            </a:fld>
            <a:endParaRPr lang="en-US" sz="800"/>
          </a:p>
        </p:txBody>
      </p:sp>
      <p:sp>
        <p:nvSpPr>
          <p:cNvPr id="104450" name="Rectangle 2"/>
          <p:cNvSpPr>
            <a:spLocks noGrp="1" noRot="1" noChangeAspect="1" noChangeArrowheads="1" noTextEdit="1"/>
          </p:cNvSpPr>
          <p:nvPr>
            <p:ph type="sldImg"/>
          </p:nvPr>
        </p:nvSpPr>
        <p:spPr>
          <a:xfrm>
            <a:off x="650875" y="244475"/>
            <a:ext cx="5765800" cy="3990975"/>
          </a:xfrm>
        </p:spPr>
      </p:sp>
      <p:sp>
        <p:nvSpPr>
          <p:cNvPr id="1044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t>Section 9.4.1.5</a:t>
            </a:r>
          </a:p>
          <a:p>
            <a:pPr>
              <a:lnSpc>
                <a:spcPct val="80000"/>
              </a:lnSpc>
              <a:buFontTx/>
              <a:buNone/>
            </a:pPr>
            <a:r>
              <a:rPr lang="zh-CN" altLang="en-US" dirty="0"/>
              <a:t>外皮</a:t>
            </a:r>
            <a:endParaRPr lang="en-US" altLang="zh-CN" dirty="0"/>
          </a:p>
          <a:p>
            <a:pPr>
              <a:lnSpc>
                <a:spcPct val="80000"/>
              </a:lnSpc>
              <a:buFontTx/>
              <a:buNone/>
            </a:pPr>
            <a:r>
              <a:rPr lang="zh-CN" altLang="en-US" dirty="0"/>
              <a:t>铜网屏蔽</a:t>
            </a:r>
            <a:endParaRPr lang="en-US" altLang="zh-CN" dirty="0"/>
          </a:p>
          <a:p>
            <a:pPr>
              <a:lnSpc>
                <a:spcPct val="80000"/>
              </a:lnSpc>
              <a:buFontTx/>
              <a:buNone/>
            </a:pPr>
            <a:r>
              <a:rPr lang="zh-CN" altLang="en-US" dirty="0"/>
              <a:t>塑料绝缘层</a:t>
            </a:r>
            <a:endParaRPr lang="en-US" altLang="zh-CN" dirty="0"/>
          </a:p>
          <a:p>
            <a:pPr>
              <a:lnSpc>
                <a:spcPct val="80000"/>
              </a:lnSpc>
              <a:buFontTx/>
              <a:buNone/>
            </a:pPr>
            <a:r>
              <a:rPr lang="zh-CN" altLang="en-US" dirty="0"/>
              <a:t>铜质导线</a:t>
            </a:r>
            <a:endParaRPr lang="en-US" altLang="zh-CN" dirty="0"/>
          </a:p>
          <a:p>
            <a:pPr>
              <a:lnSpc>
                <a:spcPct val="80000"/>
              </a:lnSpc>
              <a:buFontTx/>
              <a:buNone/>
            </a:pPr>
            <a:r>
              <a:rPr lang="en-US" altLang="zh-CN" dirty="0"/>
              <a:t>HFC</a:t>
            </a:r>
            <a:endParaRPr lang="en-US" dirty="0"/>
          </a:p>
          <a:p>
            <a:pPr>
              <a:lnSpc>
                <a:spcPct val="80000"/>
              </a:lnSpc>
              <a:buFontTx/>
              <a:buNone/>
            </a:pPr>
            <a:r>
              <a:rPr lang="zh-CN" altLang="en-US" dirty="0"/>
              <a:t>混合光纤同轴电缆</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407C07B-52BD-4CBF-BAF8-2F9DF6A3434E}" type="slidenum">
              <a:rPr lang="en-US" altLang="zh-CN"/>
              <a:t>50</a:t>
            </a:fld>
            <a:endParaRPr lang="en-US" altLang="zh-CN"/>
          </a:p>
        </p:txBody>
      </p:sp>
      <p:sp>
        <p:nvSpPr>
          <p:cNvPr id="199682" name="Rectangle 2"/>
          <p:cNvSpPr>
            <a:spLocks noGrp="1" noRot="1" noChangeAspect="1" noChangeArrowheads="1" noTextEdit="1"/>
          </p:cNvSpPr>
          <p:nvPr>
            <p:ph type="sldImg"/>
          </p:nvPr>
        </p:nvSpPr>
        <p:spPr/>
      </p:sp>
      <p:sp>
        <p:nvSpPr>
          <p:cNvPr id="199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5593874-9CE7-45C5-AB8C-AD293A9A26C1}" type="slidenum">
              <a:rPr lang="en-US" altLang="zh-CN"/>
              <a:t>51</a:t>
            </a:fld>
            <a:endParaRPr lang="en-US" altLang="zh-CN"/>
          </a:p>
        </p:txBody>
      </p:sp>
      <p:sp>
        <p:nvSpPr>
          <p:cNvPr id="200706" name="Rectangle 2"/>
          <p:cNvSpPr>
            <a:spLocks noGrp="1" noRot="1" noChangeAspect="1" noChangeArrowheads="1" noTextEdit="1"/>
          </p:cNvSpPr>
          <p:nvPr>
            <p:ph type="sldImg"/>
          </p:nvPr>
        </p:nvSpPr>
        <p:spPr/>
      </p:sp>
      <p:sp>
        <p:nvSpPr>
          <p:cNvPr id="200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55C6154-6CEF-4A0A-9BD2-9B6455D53E4A}" type="slidenum">
              <a:rPr lang="en-US" altLang="zh-CN"/>
              <a:t>56</a:t>
            </a:fld>
            <a:endParaRPr lang="en-US" altLang="zh-CN"/>
          </a:p>
        </p:txBody>
      </p:sp>
      <p:sp>
        <p:nvSpPr>
          <p:cNvPr id="202754" name="Rectangle 2"/>
          <p:cNvSpPr>
            <a:spLocks noGrp="1" noRot="1" noChangeAspect="1" noChangeArrowheads="1" noTextEdit="1"/>
          </p:cNvSpPr>
          <p:nvPr>
            <p:ph type="sldImg"/>
          </p:nvPr>
        </p:nvSpPr>
        <p:spPr/>
      </p:sp>
      <p:sp>
        <p:nvSpPr>
          <p:cNvPr id="202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defTabSz="903605">
              <a:defRPr sz="2400">
                <a:solidFill>
                  <a:schemeClr val="tx1"/>
                </a:solidFill>
                <a:latin typeface="Arial" panose="020B0604020202020204" pitchFamily="34" charset="0"/>
                <a:ea typeface="MS PGothic" panose="020B0600070205080204" charset="-128"/>
              </a:defRPr>
            </a:lvl2pPr>
            <a:lvl3pPr marL="1143000" indent="-228600" defTabSz="903605">
              <a:defRPr sz="2400">
                <a:solidFill>
                  <a:schemeClr val="tx1"/>
                </a:solidFill>
                <a:latin typeface="Arial" panose="020B0604020202020204" pitchFamily="34" charset="0"/>
                <a:ea typeface="MS PGothic" panose="020B0600070205080204" charset="-128"/>
              </a:defRPr>
            </a:lvl3pPr>
            <a:lvl4pPr marL="1600200" indent="-228600" defTabSz="903605">
              <a:defRPr sz="2400">
                <a:solidFill>
                  <a:schemeClr val="tx1"/>
                </a:solidFill>
                <a:latin typeface="Arial" panose="020B0604020202020204" pitchFamily="34" charset="0"/>
                <a:ea typeface="MS PGothic" panose="020B0600070205080204" charset="-128"/>
              </a:defRPr>
            </a:lvl4pPr>
            <a:lvl5pPr marL="2057400" indent="-228600" defTabSz="903605">
              <a:defRPr sz="2400">
                <a:solidFill>
                  <a:schemeClr val="tx1"/>
                </a:solidFill>
                <a:latin typeface="Arial" panose="020B0604020202020204" pitchFamily="34" charset="0"/>
                <a:ea typeface="MS PGothic" panose="020B060007020508020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4BE7F635-8C42-974B-A538-36F690E994BB}" type="slidenum">
              <a:rPr lang="en-US" sz="800"/>
              <a:t>62</a:t>
            </a:fld>
            <a:endParaRPr lang="en-US" sz="800"/>
          </a:p>
        </p:txBody>
      </p:sp>
      <p:sp>
        <p:nvSpPr>
          <p:cNvPr id="133122" name="Rectangle 2"/>
          <p:cNvSpPr>
            <a:spLocks noGrp="1" noRot="1" noChangeAspect="1" noChangeArrowheads="1" noTextEdit="1"/>
          </p:cNvSpPr>
          <p:nvPr>
            <p:ph type="sldImg"/>
          </p:nvPr>
        </p:nvSpPr>
        <p:spPr>
          <a:xfrm>
            <a:off x="650875" y="244475"/>
            <a:ext cx="5765800" cy="3990975"/>
          </a:xfrm>
        </p:spPr>
      </p:sp>
      <p:sp>
        <p:nvSpPr>
          <p:cNvPr id="1331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defTabSz="903605">
              <a:defRPr sz="2400">
                <a:solidFill>
                  <a:schemeClr val="tx1"/>
                </a:solidFill>
                <a:latin typeface="Arial" panose="020B0604020202020204" pitchFamily="34" charset="0"/>
                <a:ea typeface="MS PGothic" panose="020B0600070205080204" charset="-128"/>
              </a:defRPr>
            </a:lvl2pPr>
            <a:lvl3pPr marL="1143000" indent="-228600" defTabSz="903605">
              <a:defRPr sz="2400">
                <a:solidFill>
                  <a:schemeClr val="tx1"/>
                </a:solidFill>
                <a:latin typeface="Arial" panose="020B0604020202020204" pitchFamily="34" charset="0"/>
                <a:ea typeface="MS PGothic" panose="020B0600070205080204" charset="-128"/>
              </a:defRPr>
            </a:lvl3pPr>
            <a:lvl4pPr marL="1600200" indent="-228600" defTabSz="903605">
              <a:defRPr sz="2400">
                <a:solidFill>
                  <a:schemeClr val="tx1"/>
                </a:solidFill>
                <a:latin typeface="Arial" panose="020B0604020202020204" pitchFamily="34" charset="0"/>
                <a:ea typeface="MS PGothic" panose="020B0600070205080204" charset="-128"/>
              </a:defRPr>
            </a:lvl4pPr>
            <a:lvl5pPr marL="2057400" indent="-228600" defTabSz="903605">
              <a:defRPr sz="2400">
                <a:solidFill>
                  <a:schemeClr val="tx1"/>
                </a:solidFill>
                <a:latin typeface="Arial" panose="020B0604020202020204" pitchFamily="34" charset="0"/>
                <a:ea typeface="MS PGothic" panose="020B060007020508020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5A797AC4-0661-974A-9677-C72055ADC341}" type="slidenum">
              <a:rPr lang="en-US" sz="800"/>
              <a:t>63</a:t>
            </a:fld>
            <a:endParaRPr lang="en-US" sz="800"/>
          </a:p>
        </p:txBody>
      </p:sp>
      <p:sp>
        <p:nvSpPr>
          <p:cNvPr id="137218" name="Rectangle 2"/>
          <p:cNvSpPr>
            <a:spLocks noGrp="1" noRot="1" noChangeAspect="1" noChangeArrowheads="1" noTextEdit="1"/>
          </p:cNvSpPr>
          <p:nvPr>
            <p:ph type="sldImg"/>
          </p:nvPr>
        </p:nvSpPr>
        <p:spPr>
          <a:xfrm>
            <a:off x="650875" y="244475"/>
            <a:ext cx="5765800" cy="3990975"/>
          </a:xfrm>
        </p:spPr>
      </p:sp>
      <p:sp>
        <p:nvSpPr>
          <p:cNvPr id="1372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a:t>Section 9.4.4.2</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defTabSz="903605">
              <a:defRPr sz="2400">
                <a:solidFill>
                  <a:schemeClr val="tx1"/>
                </a:solidFill>
                <a:latin typeface="Arial" panose="020B0604020202020204" pitchFamily="34" charset="0"/>
                <a:ea typeface="MS PGothic" panose="020B0600070205080204" charset="-128"/>
              </a:defRPr>
            </a:lvl2pPr>
            <a:lvl3pPr marL="1143000" indent="-228600" defTabSz="903605">
              <a:defRPr sz="2400">
                <a:solidFill>
                  <a:schemeClr val="tx1"/>
                </a:solidFill>
                <a:latin typeface="Arial" panose="020B0604020202020204" pitchFamily="34" charset="0"/>
                <a:ea typeface="MS PGothic" panose="020B0600070205080204" charset="-128"/>
              </a:defRPr>
            </a:lvl3pPr>
            <a:lvl4pPr marL="1600200" indent="-228600" defTabSz="903605">
              <a:defRPr sz="2400">
                <a:solidFill>
                  <a:schemeClr val="tx1"/>
                </a:solidFill>
                <a:latin typeface="Arial" panose="020B0604020202020204" pitchFamily="34" charset="0"/>
                <a:ea typeface="MS PGothic" panose="020B0600070205080204" charset="-128"/>
              </a:defRPr>
            </a:lvl4pPr>
            <a:lvl5pPr marL="2057400" indent="-228600" defTabSz="903605">
              <a:defRPr sz="2400">
                <a:solidFill>
                  <a:schemeClr val="tx1"/>
                </a:solidFill>
                <a:latin typeface="Arial" panose="020B0604020202020204" pitchFamily="34" charset="0"/>
                <a:ea typeface="MS PGothic" panose="020B060007020508020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91AE37E2-C9C4-5F4B-9C23-661DA6743E04}" type="slidenum">
              <a:rPr lang="en-US" sz="800"/>
              <a:t>64</a:t>
            </a:fld>
            <a:endParaRPr lang="en-US" sz="800"/>
          </a:p>
        </p:txBody>
      </p:sp>
      <p:sp>
        <p:nvSpPr>
          <p:cNvPr id="139266" name="Rectangle 2"/>
          <p:cNvSpPr>
            <a:spLocks noGrp="1" noRot="1" noChangeAspect="1" noChangeArrowheads="1" noTextEdit="1"/>
          </p:cNvSpPr>
          <p:nvPr>
            <p:ph type="sldImg"/>
          </p:nvPr>
        </p:nvSpPr>
        <p:spPr>
          <a:xfrm>
            <a:off x="650875" y="244475"/>
            <a:ext cx="5765800" cy="3990975"/>
          </a:xfrm>
        </p:spPr>
      </p:sp>
      <p:sp>
        <p:nvSpPr>
          <p:cNvPr id="1392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t>Section 4.2.4.3</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605">
              <a:defRPr sz="2400">
                <a:solidFill>
                  <a:schemeClr val="tx1"/>
                </a:solidFill>
                <a:latin typeface="Arial" panose="020B0604020202020204" pitchFamily="34" charset="0"/>
                <a:ea typeface="MS PGothic" panose="020B0600070205080204" charset="-128"/>
                <a:cs typeface="MS PGothic" panose="020B0600070205080204" charset="-128"/>
              </a:defRPr>
            </a:lvl1pPr>
            <a:lvl2pPr marL="742950" indent="-285750" defTabSz="903605">
              <a:defRPr sz="2400">
                <a:solidFill>
                  <a:schemeClr val="tx1"/>
                </a:solidFill>
                <a:latin typeface="Arial" panose="020B0604020202020204" pitchFamily="34" charset="0"/>
                <a:ea typeface="MS PGothic" panose="020B0600070205080204" charset="-128"/>
              </a:defRPr>
            </a:lvl2pPr>
            <a:lvl3pPr marL="1143000" indent="-228600" defTabSz="903605">
              <a:defRPr sz="2400">
                <a:solidFill>
                  <a:schemeClr val="tx1"/>
                </a:solidFill>
                <a:latin typeface="Arial" panose="020B0604020202020204" pitchFamily="34" charset="0"/>
                <a:ea typeface="MS PGothic" panose="020B0600070205080204" charset="-128"/>
              </a:defRPr>
            </a:lvl3pPr>
            <a:lvl4pPr marL="1600200" indent="-228600" defTabSz="903605">
              <a:defRPr sz="2400">
                <a:solidFill>
                  <a:schemeClr val="tx1"/>
                </a:solidFill>
                <a:latin typeface="Arial" panose="020B0604020202020204" pitchFamily="34" charset="0"/>
                <a:ea typeface="MS PGothic" panose="020B0600070205080204" charset="-128"/>
              </a:defRPr>
            </a:lvl4pPr>
            <a:lvl5pPr marL="2057400" indent="-228600" defTabSz="903605">
              <a:defRPr sz="2400">
                <a:solidFill>
                  <a:schemeClr val="tx1"/>
                </a:solidFill>
                <a:latin typeface="Arial" panose="020B0604020202020204" pitchFamily="34" charset="0"/>
                <a:ea typeface="MS PGothic" panose="020B0600070205080204" charset="-128"/>
              </a:defRPr>
            </a:lvl5pPr>
            <a:lvl6pPr marL="25146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6pPr>
            <a:lvl7pPr marL="29718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7pPr>
            <a:lvl8pPr marL="34290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8pPr>
            <a:lvl9pPr marL="3886200" indent="-228600" algn="ctr" defTabSz="903605" eaLnBrk="0" fontAlgn="base" hangingPunct="0">
              <a:lnSpc>
                <a:spcPct val="90000"/>
              </a:lnSpc>
              <a:spcBef>
                <a:spcPct val="0"/>
              </a:spcBef>
              <a:spcAft>
                <a:spcPct val="0"/>
              </a:spcAft>
              <a:defRPr sz="2400">
                <a:solidFill>
                  <a:schemeClr val="tx1"/>
                </a:solidFill>
                <a:latin typeface="Arial" panose="020B0604020202020204" pitchFamily="34" charset="0"/>
                <a:ea typeface="MS PGothic" panose="020B0600070205080204" charset="-128"/>
              </a:defRPr>
            </a:lvl9pPr>
          </a:lstStyle>
          <a:p>
            <a:fld id="{9F477A98-2B1A-7242-A260-10F21BE3D2DC}" type="slidenum">
              <a:rPr lang="en-US" sz="800"/>
              <a:t>65</a:t>
            </a:fld>
            <a:endParaRPr lang="en-US" sz="800"/>
          </a:p>
        </p:txBody>
      </p:sp>
      <p:sp>
        <p:nvSpPr>
          <p:cNvPr id="141314" name="Rectangle 2"/>
          <p:cNvSpPr>
            <a:spLocks noGrp="1" noRot="1" noChangeAspect="1" noChangeArrowheads="1" noTextEdit="1"/>
          </p:cNvSpPr>
          <p:nvPr>
            <p:ph type="sldImg"/>
          </p:nvPr>
        </p:nvSpPr>
        <p:spPr>
          <a:xfrm>
            <a:off x="650875" y="244475"/>
            <a:ext cx="5765800" cy="3990975"/>
          </a:xfrm>
        </p:spPr>
      </p:sp>
      <p:sp>
        <p:nvSpPr>
          <p:cNvPr id="1413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a:t>Section 9.4.4.4</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6E0FC0-8F07-4FF0-AEA6-ABFA6A246775}" type="slidenum">
              <a:rPr lang="en-US" altLang="zh-CN"/>
              <a:t>66</a:t>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6E0FC0-8F07-4FF0-AEA6-ABFA6A246775}" type="slidenum">
              <a:rPr lang="en-US" altLang="zh-CN"/>
              <a:t>87</a:t>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6E0FC0-8F07-4FF0-AEA6-ABFA6A246775}" type="slidenum">
              <a:rPr lang="en-US" altLang="zh-CN"/>
              <a:t>88</a:t>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6E0FC0-8F07-4FF0-AEA6-ABFA6A246775}" type="slidenum">
              <a:rPr lang="en-US" altLang="zh-CN"/>
              <a:t>89</a:t>
            </a:fld>
            <a:endParaRPr lang="en-US" altLang="zh-CN"/>
          </a:p>
        </p:txBody>
      </p:sp>
      <p:sp>
        <p:nvSpPr>
          <p:cNvPr id="270338" name="Rectangle 2"/>
          <p:cNvSpPr>
            <a:spLocks noGrp="1" noRot="1" noChangeAspect="1" noChangeArrowheads="1" noTextEdit="1"/>
          </p:cNvSpPr>
          <p:nvPr>
            <p:ph type="sldImg"/>
          </p:nvPr>
        </p:nvSpPr>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8C579CF-0C03-4EA8-8DB5-7CDE822D595A}" type="slidenum">
              <a:rPr lang="en-US" altLang="zh-CN"/>
              <a:t>90</a:t>
            </a:fld>
            <a:endParaRPr lang="en-US" altLang="zh-CN"/>
          </a:p>
        </p:txBody>
      </p:sp>
      <p:sp>
        <p:nvSpPr>
          <p:cNvPr id="272386" name="Rectangle 2"/>
          <p:cNvSpPr>
            <a:spLocks noGrp="1" noRot="1" noChangeAspect="1" noChangeArrowheads="1" noTextEdit="1"/>
          </p:cNvSpPr>
          <p:nvPr>
            <p:ph type="sldImg"/>
          </p:nvPr>
        </p:nvSpPr>
        <p:spPr/>
      </p:sp>
      <p:sp>
        <p:nvSpPr>
          <p:cNvPr id="2723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7C0C99B-1815-4FE3-9495-DAE1B69CAE1A}" type="slidenum">
              <a:rPr lang="en-US" altLang="zh-CN"/>
              <a:t>91</a:t>
            </a:fld>
            <a:endParaRPr lang="en-US" altLang="zh-CN"/>
          </a:p>
        </p:txBody>
      </p:sp>
      <p:sp>
        <p:nvSpPr>
          <p:cNvPr id="309250" name="Rectangle 2"/>
          <p:cNvSpPr>
            <a:spLocks noGrp="1" noRot="1" noChangeAspect="1" noChangeArrowheads="1" noTextEdit="1"/>
          </p:cNvSpPr>
          <p:nvPr>
            <p:ph type="sldImg"/>
          </p:nvPr>
        </p:nvSpPr>
        <p:spPr/>
      </p:sp>
      <p:sp>
        <p:nvSpPr>
          <p:cNvPr id="309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0EF08C4-C0DF-42C1-87A5-53C59A9B9A1C}" type="slidenum">
              <a:rPr lang="en-US" altLang="zh-CN"/>
              <a:t>92</a:t>
            </a:fld>
            <a:endParaRPr lang="en-US" altLang="zh-CN"/>
          </a:p>
        </p:txBody>
      </p:sp>
      <p:sp>
        <p:nvSpPr>
          <p:cNvPr id="310274" name="Rectangle 2"/>
          <p:cNvSpPr>
            <a:spLocks noGrp="1" noRot="1" noChangeAspect="1" noChangeArrowheads="1" noTextEdit="1"/>
          </p:cNvSpPr>
          <p:nvPr>
            <p:ph type="sldImg"/>
          </p:nvPr>
        </p:nvSpPr>
        <p:spPr/>
      </p:sp>
      <p:sp>
        <p:nvSpPr>
          <p:cNvPr id="310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D92098D-4AC7-4E49-8190-DF432EC31144}" type="slidenum">
              <a:rPr lang="en-US" altLang="zh-CN"/>
              <a:t>93</a:t>
            </a:fld>
            <a:endParaRPr lang="en-US" altLang="zh-CN"/>
          </a:p>
        </p:txBody>
      </p:sp>
      <p:sp>
        <p:nvSpPr>
          <p:cNvPr id="280578" name="Rectangle 2"/>
          <p:cNvSpPr>
            <a:spLocks noGrp="1" noRot="1" noChangeAspect="1" noChangeArrowheads="1" noTextEdit="1"/>
          </p:cNvSpPr>
          <p:nvPr>
            <p:ph type="sldImg"/>
          </p:nvPr>
        </p:nvSpPr>
        <p:spPr/>
      </p:sp>
      <p:sp>
        <p:nvSpPr>
          <p:cNvPr id="2805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AC42E9C-E7C7-4808-803A-3C6E5144D51A}" type="slidenum">
              <a:rPr lang="en-US" altLang="zh-CN"/>
              <a:t>95</a:t>
            </a:fld>
            <a:endParaRPr lang="en-US" altLang="zh-CN"/>
          </a:p>
        </p:txBody>
      </p:sp>
      <p:sp>
        <p:nvSpPr>
          <p:cNvPr id="311298" name="Rectangle 2"/>
          <p:cNvSpPr>
            <a:spLocks noGrp="1" noRot="1" noChangeAspect="1" noChangeArrowheads="1" noTextEdit="1"/>
          </p:cNvSpPr>
          <p:nvPr>
            <p:ph type="sldImg"/>
          </p:nvPr>
        </p:nvSpPr>
        <p:spPr/>
      </p:sp>
      <p:sp>
        <p:nvSpPr>
          <p:cNvPr id="311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A29E849-7A3B-4EC2-9D2A-2D1FED2CAF17}" type="slidenum">
              <a:rPr lang="en-US" altLang="zh-CN"/>
              <a:t>96</a:t>
            </a:fld>
            <a:endParaRPr lang="en-US" altLang="zh-CN"/>
          </a:p>
        </p:txBody>
      </p:sp>
      <p:sp>
        <p:nvSpPr>
          <p:cNvPr id="286722" name="Rectangle 2"/>
          <p:cNvSpPr>
            <a:spLocks noGrp="1" noRot="1" noChangeAspect="1" noChangeArrowheads="1" noTextEdit="1"/>
          </p:cNvSpPr>
          <p:nvPr>
            <p:ph type="sldImg"/>
          </p:nvPr>
        </p:nvSpPr>
        <p:spPr/>
      </p:sp>
      <p:sp>
        <p:nvSpPr>
          <p:cNvPr id="2867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DB322E-BB0E-4506-B909-BC46EC978D1D}" type="slidenum">
              <a:rPr lang="en-US" altLang="zh-CN"/>
              <a:t>103</a:t>
            </a:fld>
            <a:endParaRPr lang="en-US" altLang="zh-CN"/>
          </a:p>
        </p:txBody>
      </p:sp>
      <p:sp>
        <p:nvSpPr>
          <p:cNvPr id="299010" name="Rectangle 2"/>
          <p:cNvSpPr>
            <a:spLocks noGrp="1" noRot="1" noChangeAspect="1" noChangeArrowheads="1" noTextEdit="1"/>
          </p:cNvSpPr>
          <p:nvPr>
            <p:ph type="sldImg"/>
          </p:nvPr>
        </p:nvSpPr>
        <p:spPr/>
      </p:sp>
      <p:sp>
        <p:nvSpPr>
          <p:cNvPr id="299011"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anose="02010609060101010101" pitchFamily="2" charset="-122"/>
              </a:defRPr>
            </a:lvl1pPr>
            <a:lvl2pPr>
              <a:buClr>
                <a:schemeClr val="accent2"/>
              </a:buCl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buClr>
                <a:srgbClr val="333399"/>
              </a:buClr>
              <a:defRPr sz="20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anose="02010609060101010101" pitchFamily="2" charset="-122"/>
              </a:defRPr>
            </a:lvl1pPr>
            <a:lvl2pPr>
              <a:defRPr sz="2800" b="1">
                <a:solidFill>
                  <a:schemeClr val="tx1"/>
                </a:solidFill>
                <a:latin typeface="+mn-lt"/>
                <a:ea typeface="黑体" panose="02010609060101010101" pitchFamily="2" charset="-122"/>
              </a:defRPr>
            </a:lvl2pPr>
            <a:lvl3pPr>
              <a:defRPr sz="2400" b="1">
                <a:solidFill>
                  <a:schemeClr val="tx1"/>
                </a:solidFill>
                <a:latin typeface="+mn-lt"/>
                <a:ea typeface="黑体" panose="02010609060101010101" pitchFamily="2" charset="-122"/>
              </a:defRPr>
            </a:lvl3pPr>
            <a:lvl4pPr>
              <a:defRPr sz="2000" b="1">
                <a:solidFill>
                  <a:schemeClr val="tx1"/>
                </a:solidFill>
                <a:latin typeface="+mn-lt"/>
                <a:ea typeface="黑体" panose="02010609060101010101" pitchFamily="2" charset="-122"/>
              </a:defRPr>
            </a:lvl4pPr>
            <a:lvl5pPr>
              <a:defRPr sz="20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a typeface="宋体" panose="02010600030101010101"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a typeface="宋体" panose="02010600030101010101"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a typeface="宋体" panose="02010600030101010101" pitchFamily="2" charset="-122"/>
              </a:defRPr>
            </a:lvl1pPr>
          </a:lstStyle>
          <a:p>
            <a:fld id="{67B052E9-C54A-4603-AE2F-EB72B006DB6C}" type="slidenum">
              <a:rPr lang="zh-CN" altLang="en-US"/>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anose="02020603050405020304" pitchFamily="18" charset="0"/>
              <a:ea typeface="宋体" panose="02010600030101010101" pitchFamily="2" charset="-122"/>
            </a:endParaRPr>
          </a:p>
        </p:txBody>
      </p:sp>
      <p:pic>
        <p:nvPicPr>
          <p:cNvPr id="11" name="Picture 2" descr="computer networking 的图像结果"/>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769424" y="188640"/>
            <a:ext cx="1124935" cy="81245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1" fontAlgn="base" hangingPunct="1">
        <a:spcBef>
          <a:spcPct val="0"/>
        </a:spcBef>
        <a:spcAft>
          <a:spcPct val="0"/>
        </a:spcAft>
        <a:defRPr sz="4400" b="1">
          <a:solidFill>
            <a:srgbClr val="333399"/>
          </a:solidFill>
          <a:latin typeface="+mn-lt"/>
          <a:ea typeface="黑体" panose="02010609060101010101" pitchFamily="2" charset="-122"/>
          <a:cs typeface="+mj-cs"/>
        </a:defRPr>
      </a:lvl1pPr>
      <a:lvl2pPr algn="l" rtl="0" eaLnBrk="1" fontAlgn="base" hangingPunct="1">
        <a:spcBef>
          <a:spcPct val="0"/>
        </a:spcBef>
        <a:spcAft>
          <a:spcPct val="0"/>
        </a:spcAft>
        <a:defRPr sz="4400">
          <a:solidFill>
            <a:schemeClr val="tx2"/>
          </a:solidFill>
          <a:latin typeface="Times New Roman" panose="02020603050405020304" pitchFamily="18" charset="0"/>
        </a:defRPr>
      </a:lvl2pPr>
      <a:lvl3pPr algn="l" rtl="0" eaLnBrk="1" fontAlgn="base" hangingPunct="1">
        <a:spcBef>
          <a:spcPct val="0"/>
        </a:spcBef>
        <a:spcAft>
          <a:spcPct val="0"/>
        </a:spcAft>
        <a:defRPr sz="4400">
          <a:solidFill>
            <a:schemeClr val="tx2"/>
          </a:solidFill>
          <a:latin typeface="Times New Roman" panose="02020603050405020304" pitchFamily="18" charset="0"/>
        </a:defRPr>
      </a:lvl3pPr>
      <a:lvl4pPr algn="l" rtl="0" eaLnBrk="1" fontAlgn="base" hangingPunct="1">
        <a:spcBef>
          <a:spcPct val="0"/>
        </a:spcBef>
        <a:spcAft>
          <a:spcPct val="0"/>
        </a:spcAft>
        <a:defRPr sz="4400">
          <a:solidFill>
            <a:schemeClr val="tx2"/>
          </a:solidFill>
          <a:latin typeface="Times New Roman" panose="02020603050405020304" pitchFamily="18" charset="0"/>
        </a:defRPr>
      </a:lvl4pPr>
      <a:lvl5pPr algn="l" rtl="0" eaLnBrk="1" fontAlgn="base" hangingPunct="1">
        <a:spcBef>
          <a:spcPct val="0"/>
        </a:spcBef>
        <a:spcAft>
          <a:spcPct val="0"/>
        </a:spcAft>
        <a:defRPr sz="4400">
          <a:solidFill>
            <a:schemeClr val="tx2"/>
          </a:solidFill>
          <a:latin typeface="Times New Roman" panose="02020603050405020304" pitchFamily="18" charset="0"/>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hemeOverride" Target="../theme/themeOverride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hemeOverride" Target="../theme/themeOverride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8.jpe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21355;&#26143;&#36890;&#20449;&#31995;&#32479;.mp4" TargetMode="External"/><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slides/_rels/slide9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第 </a:t>
            </a:r>
            <a:r>
              <a:rPr lang="en-US" altLang="zh-CN" dirty="0">
                <a:latin typeface="+mn-lt"/>
              </a:rPr>
              <a:t>2 </a:t>
            </a:r>
            <a:r>
              <a:rPr lang="zh-CN" altLang="en-US" dirty="0">
                <a:latin typeface="+mn-lt"/>
              </a:rPr>
              <a:t>章  物理层</a:t>
            </a:r>
          </a:p>
        </p:txBody>
      </p:sp>
      <p:sp>
        <p:nvSpPr>
          <p:cNvPr id="2051" name="Rectangle 3"/>
          <p:cNvSpPr>
            <a:spLocks noGrp="1" noChangeArrowheads="1"/>
          </p:cNvSpPr>
          <p:nvPr>
            <p:ph type="subTitle" idx="1"/>
          </p:nvPr>
        </p:nvSpPr>
        <p:spPr/>
        <p:txBody>
          <a:bodyPr/>
          <a:lstStyle/>
          <a:p>
            <a:endParaRPr lang="zh-CN" altLang="en-US">
              <a:ea typeface="宋体" panose="02010600030101010101"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第</a:t>
            </a:r>
            <a:r>
              <a:rPr lang="en-US" altLang="zh-CN" dirty="0"/>
              <a:t> 2 </a:t>
            </a:r>
            <a:r>
              <a:rPr lang="zh-CN" altLang="zh-CN" dirty="0"/>
              <a:t>章</a:t>
            </a:r>
            <a:r>
              <a:rPr lang="en-US" altLang="zh-CN" dirty="0"/>
              <a:t>  </a:t>
            </a:r>
            <a:r>
              <a:rPr lang="zh-CN" altLang="zh-CN" dirty="0"/>
              <a:t>物理层</a:t>
            </a:r>
            <a:endParaRPr lang="zh-CN" altLang="en-US" dirty="0"/>
          </a:p>
        </p:txBody>
      </p:sp>
      <p:sp>
        <p:nvSpPr>
          <p:cNvPr id="3" name="内容占位符 2"/>
          <p:cNvSpPr>
            <a:spLocks noGrp="1"/>
          </p:cNvSpPr>
          <p:nvPr>
            <p:ph idx="1"/>
          </p:nvPr>
        </p:nvSpPr>
        <p:spPr/>
        <p:txBody>
          <a:bodyPr/>
          <a:lstStyle/>
          <a:p>
            <a:r>
              <a:rPr lang="en-US" altLang="zh-CN" dirty="0"/>
              <a:t>2.1  </a:t>
            </a:r>
            <a:r>
              <a:rPr lang="zh-CN" altLang="zh-CN" dirty="0"/>
              <a:t>物理层的基本概念</a:t>
            </a:r>
          </a:p>
          <a:p>
            <a:r>
              <a:rPr lang="en-US" altLang="zh-CN" dirty="0"/>
              <a:t>2.2  </a:t>
            </a:r>
            <a:r>
              <a:rPr lang="zh-CN" altLang="zh-CN" dirty="0"/>
              <a:t>数据通信的基础知识</a:t>
            </a:r>
          </a:p>
          <a:p>
            <a:r>
              <a:rPr lang="en-US" altLang="zh-CN" dirty="0"/>
              <a:t>2.3  </a:t>
            </a:r>
            <a:r>
              <a:rPr lang="zh-CN" altLang="zh-CN" dirty="0"/>
              <a:t>物理层下面的传输媒体</a:t>
            </a:r>
          </a:p>
          <a:p>
            <a:r>
              <a:rPr lang="en-US" altLang="zh-CN" dirty="0"/>
              <a:t>2.4	  </a:t>
            </a:r>
            <a:r>
              <a:rPr lang="zh-CN" altLang="en-US" dirty="0"/>
              <a:t>信道复用技术</a:t>
            </a:r>
            <a:endParaRPr lang="zh-CN" altLang="zh-CN" dirty="0"/>
          </a:p>
          <a:p>
            <a:r>
              <a:rPr lang="en-US" altLang="zh-CN" dirty="0"/>
              <a:t>2.5  </a:t>
            </a:r>
            <a:r>
              <a:rPr lang="zh-CN" altLang="zh-CN" dirty="0"/>
              <a:t>宽带接入技术</a:t>
            </a:r>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8"/>
          <p:cNvSpPr>
            <a:spLocks noChangeArrowheads="1"/>
          </p:cNvSpPr>
          <p:nvPr/>
        </p:nvSpPr>
        <p:spPr bwMode="auto">
          <a:xfrm>
            <a:off x="900757" y="2299747"/>
            <a:ext cx="2054225" cy="353060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7" name="Freeform 50"/>
          <p:cNvSpPr/>
          <p:nvPr/>
        </p:nvSpPr>
        <p:spPr bwMode="auto">
          <a:xfrm>
            <a:off x="902345" y="2682335"/>
            <a:ext cx="2039937" cy="260350"/>
          </a:xfrm>
          <a:custGeom>
            <a:avLst/>
            <a:gdLst>
              <a:gd name="T0" fmla="*/ 2030913617 w 2049"/>
              <a:gd name="T1" fmla="*/ 0 h 182"/>
              <a:gd name="T2" fmla="*/ 1853492943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8" name="Freeform 59"/>
          <p:cNvSpPr/>
          <p:nvPr/>
        </p:nvSpPr>
        <p:spPr bwMode="auto">
          <a:xfrm>
            <a:off x="900757" y="3161760"/>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9" name="Freeform 60"/>
          <p:cNvSpPr/>
          <p:nvPr/>
        </p:nvSpPr>
        <p:spPr bwMode="auto">
          <a:xfrm>
            <a:off x="900757" y="3641185"/>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0" name="Freeform 61"/>
          <p:cNvSpPr/>
          <p:nvPr/>
        </p:nvSpPr>
        <p:spPr bwMode="auto">
          <a:xfrm>
            <a:off x="900757" y="4120610"/>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1" name="Freeform 62"/>
          <p:cNvSpPr/>
          <p:nvPr/>
        </p:nvSpPr>
        <p:spPr bwMode="auto">
          <a:xfrm>
            <a:off x="899170" y="4600035"/>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2" name="Freeform 63"/>
          <p:cNvSpPr/>
          <p:nvPr/>
        </p:nvSpPr>
        <p:spPr bwMode="auto">
          <a:xfrm>
            <a:off x="897582" y="5079460"/>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13" name="Text Box 22"/>
          <p:cNvSpPr txBox="1">
            <a:spLocks noChangeArrowheads="1"/>
          </p:cNvSpPr>
          <p:nvPr/>
        </p:nvSpPr>
        <p:spPr bwMode="auto">
          <a:xfrm>
            <a:off x="1618307" y="258232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14" name="Text Box 23"/>
          <p:cNvSpPr txBox="1">
            <a:spLocks noChangeArrowheads="1"/>
          </p:cNvSpPr>
          <p:nvPr/>
        </p:nvSpPr>
        <p:spPr bwMode="auto">
          <a:xfrm>
            <a:off x="1584970" y="399678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运输层</a:t>
            </a:r>
          </a:p>
        </p:txBody>
      </p:sp>
      <p:sp>
        <p:nvSpPr>
          <p:cNvPr id="15" name="Text Box 24"/>
          <p:cNvSpPr txBox="1">
            <a:spLocks noChangeArrowheads="1"/>
          </p:cNvSpPr>
          <p:nvPr/>
        </p:nvSpPr>
        <p:spPr bwMode="auto">
          <a:xfrm>
            <a:off x="1597670" y="447621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网络层</a:t>
            </a:r>
          </a:p>
        </p:txBody>
      </p:sp>
      <p:sp>
        <p:nvSpPr>
          <p:cNvPr id="16" name="Text Box 54"/>
          <p:cNvSpPr txBox="1">
            <a:spLocks noChangeArrowheads="1"/>
          </p:cNvSpPr>
          <p:nvPr/>
        </p:nvSpPr>
        <p:spPr bwMode="auto">
          <a:xfrm>
            <a:off x="1597670" y="303476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表示层</a:t>
            </a:r>
          </a:p>
        </p:txBody>
      </p:sp>
      <p:sp>
        <p:nvSpPr>
          <p:cNvPr id="17" name="Text Box 55"/>
          <p:cNvSpPr txBox="1">
            <a:spLocks noChangeArrowheads="1"/>
          </p:cNvSpPr>
          <p:nvPr/>
        </p:nvSpPr>
        <p:spPr bwMode="auto">
          <a:xfrm>
            <a:off x="1597670" y="351577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会话层</a:t>
            </a:r>
          </a:p>
        </p:txBody>
      </p:sp>
      <p:sp>
        <p:nvSpPr>
          <p:cNvPr id="18" name="Text Box 56"/>
          <p:cNvSpPr txBox="1">
            <a:spLocks noChangeArrowheads="1"/>
          </p:cNvSpPr>
          <p:nvPr/>
        </p:nvSpPr>
        <p:spPr bwMode="auto">
          <a:xfrm>
            <a:off x="1438920" y="4930235"/>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数据链路层</a:t>
            </a:r>
          </a:p>
        </p:txBody>
      </p:sp>
      <p:sp>
        <p:nvSpPr>
          <p:cNvPr id="19" name="Text Box 57"/>
          <p:cNvSpPr txBox="1">
            <a:spLocks noChangeArrowheads="1"/>
          </p:cNvSpPr>
          <p:nvPr/>
        </p:nvSpPr>
        <p:spPr bwMode="auto">
          <a:xfrm>
            <a:off x="1597670" y="538267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C00000"/>
                </a:solidFill>
                <a:latin typeface="+mn-lt"/>
                <a:ea typeface="黑体" panose="02010609060101010101" pitchFamily="2" charset="-122"/>
              </a:rPr>
              <a:t>物理层</a:t>
            </a:r>
          </a:p>
        </p:txBody>
      </p:sp>
      <p:sp>
        <p:nvSpPr>
          <p:cNvPr id="20" name="Text Box 43"/>
          <p:cNvSpPr txBox="1">
            <a:spLocks noChangeArrowheads="1"/>
          </p:cNvSpPr>
          <p:nvPr/>
        </p:nvSpPr>
        <p:spPr bwMode="auto">
          <a:xfrm>
            <a:off x="996007" y="2431510"/>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pPr>
            <a:r>
              <a:rPr lang="en-US" altLang="zh-CN" sz="1600" b="1" dirty="0">
                <a:solidFill>
                  <a:srgbClr val="000099"/>
                </a:solidFill>
                <a:latin typeface="+mn-lt"/>
                <a:ea typeface="黑体" panose="02010609060101010101" pitchFamily="2" charset="-122"/>
              </a:rPr>
              <a:t>7</a:t>
            </a:r>
          </a:p>
          <a:p>
            <a:pPr eaLnBrk="1" hangingPunct="1">
              <a:lnSpc>
                <a:spcPct val="190000"/>
              </a:lnSpc>
            </a:pPr>
            <a:r>
              <a:rPr lang="en-US" altLang="zh-CN" sz="1600" b="1" dirty="0">
                <a:solidFill>
                  <a:srgbClr val="000099"/>
                </a:solidFill>
                <a:latin typeface="+mn-lt"/>
                <a:ea typeface="黑体" panose="02010609060101010101" pitchFamily="2" charset="-122"/>
              </a:rPr>
              <a:t>6</a:t>
            </a:r>
          </a:p>
          <a:p>
            <a:pPr eaLnBrk="1" hangingPunct="1">
              <a:lnSpc>
                <a:spcPct val="190000"/>
              </a:lnSpc>
            </a:pPr>
            <a:r>
              <a:rPr lang="en-US" altLang="zh-CN" sz="1600" b="1" dirty="0">
                <a:solidFill>
                  <a:srgbClr val="000099"/>
                </a:solidFill>
                <a:latin typeface="+mn-lt"/>
                <a:ea typeface="黑体" panose="02010609060101010101" pitchFamily="2" charset="-122"/>
              </a:rPr>
              <a:t>5</a:t>
            </a:r>
          </a:p>
          <a:p>
            <a:pPr eaLnBrk="1" hangingPunct="1">
              <a:lnSpc>
                <a:spcPct val="190000"/>
              </a:lnSpc>
            </a:pPr>
            <a:r>
              <a:rPr lang="en-US" altLang="zh-CN" sz="1600" b="1" dirty="0">
                <a:solidFill>
                  <a:srgbClr val="000099"/>
                </a:solidFill>
                <a:latin typeface="+mn-lt"/>
                <a:ea typeface="黑体" panose="02010609060101010101" pitchFamily="2" charset="-122"/>
              </a:rPr>
              <a:t>4</a:t>
            </a:r>
          </a:p>
          <a:p>
            <a:pPr eaLnBrk="1" hangingPunct="1">
              <a:lnSpc>
                <a:spcPct val="190000"/>
              </a:lnSpc>
            </a:pPr>
            <a:r>
              <a:rPr lang="en-US" altLang="zh-CN" sz="1600" b="1" dirty="0">
                <a:solidFill>
                  <a:srgbClr val="000099"/>
                </a:solidFill>
                <a:latin typeface="+mn-lt"/>
                <a:ea typeface="黑体" panose="02010609060101010101" pitchFamily="2" charset="-122"/>
              </a:rPr>
              <a:t>3</a:t>
            </a:r>
          </a:p>
          <a:p>
            <a:pPr eaLnBrk="1" hangingPunct="1">
              <a:lnSpc>
                <a:spcPct val="190000"/>
              </a:lnSpc>
            </a:pPr>
            <a:r>
              <a:rPr lang="en-US" altLang="zh-CN" sz="1600" b="1" dirty="0">
                <a:solidFill>
                  <a:srgbClr val="000099"/>
                </a:solidFill>
                <a:latin typeface="+mn-lt"/>
                <a:ea typeface="黑体" panose="02010609060101010101" pitchFamily="2" charset="-122"/>
              </a:rPr>
              <a:t>2</a:t>
            </a:r>
          </a:p>
          <a:p>
            <a:pPr eaLnBrk="1" hangingPunct="1">
              <a:lnSpc>
                <a:spcPct val="190000"/>
              </a:lnSpc>
            </a:pPr>
            <a:r>
              <a:rPr lang="en-US" altLang="zh-CN" sz="1600" b="1" dirty="0">
                <a:solidFill>
                  <a:srgbClr val="000099"/>
                </a:solidFill>
                <a:latin typeface="+mn-lt"/>
                <a:ea typeface="黑体" panose="02010609060101010101" pitchFamily="2" charset="-122"/>
              </a:rPr>
              <a:t>1</a:t>
            </a:r>
          </a:p>
        </p:txBody>
      </p:sp>
      <p:sp>
        <p:nvSpPr>
          <p:cNvPr id="21" name="Text Box 13"/>
          <p:cNvSpPr txBox="1">
            <a:spLocks noChangeArrowheads="1"/>
          </p:cNvSpPr>
          <p:nvPr/>
        </p:nvSpPr>
        <p:spPr bwMode="auto">
          <a:xfrm>
            <a:off x="704781" y="1724437"/>
            <a:ext cx="2345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C00000"/>
                </a:solidFill>
                <a:latin typeface="+mn-lt"/>
                <a:ea typeface="黑体" panose="02010609060101010101" pitchFamily="2" charset="-122"/>
              </a:rPr>
              <a:t>OSI </a:t>
            </a:r>
            <a:r>
              <a:rPr lang="zh-CN" altLang="en-US" b="1" dirty="0">
                <a:solidFill>
                  <a:srgbClr val="C00000"/>
                </a:solidFill>
                <a:latin typeface="+mn-lt"/>
                <a:ea typeface="黑体" panose="02010609060101010101" pitchFamily="2" charset="-122"/>
              </a:rPr>
              <a:t>的体系结构</a:t>
            </a:r>
          </a:p>
        </p:txBody>
      </p:sp>
      <p:sp>
        <p:nvSpPr>
          <p:cNvPr id="22" name="AutoShape 66"/>
          <p:cNvSpPr>
            <a:spLocks noChangeArrowheads="1"/>
          </p:cNvSpPr>
          <p:nvPr/>
        </p:nvSpPr>
        <p:spPr bwMode="auto">
          <a:xfrm>
            <a:off x="3512195" y="2252122"/>
            <a:ext cx="2668587" cy="358775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23" name="Freeform 69"/>
          <p:cNvSpPr/>
          <p:nvPr/>
        </p:nvSpPr>
        <p:spPr bwMode="auto">
          <a:xfrm>
            <a:off x="3504257" y="3626897"/>
            <a:ext cx="2673350" cy="279400"/>
          </a:xfrm>
          <a:custGeom>
            <a:avLst/>
            <a:gdLst>
              <a:gd name="T0" fmla="*/ 2147483647 w 1684"/>
              <a:gd name="T1" fmla="*/ 0 h 176"/>
              <a:gd name="T2" fmla="*/ 2147483647 w 1684"/>
              <a:gd name="T3" fmla="*/ 433466923 h 176"/>
              <a:gd name="T4" fmla="*/ 0 w 1684"/>
              <a:gd name="T5" fmla="*/ 443547545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4" name="Freeform 70"/>
          <p:cNvSpPr/>
          <p:nvPr/>
        </p:nvSpPr>
        <p:spPr bwMode="auto">
          <a:xfrm>
            <a:off x="3505845" y="4103147"/>
            <a:ext cx="2665412" cy="295275"/>
          </a:xfrm>
          <a:custGeom>
            <a:avLst/>
            <a:gdLst>
              <a:gd name="T0" fmla="*/ 2147483647 w 1679"/>
              <a:gd name="T1" fmla="*/ 0 h 186"/>
              <a:gd name="T2" fmla="*/ 2147483647 w 1679"/>
              <a:gd name="T3" fmla="*/ 468749107 h 186"/>
              <a:gd name="T4" fmla="*/ 0 w 1679"/>
              <a:gd name="T5" fmla="*/ 461189435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5" name="Freeform 71"/>
          <p:cNvSpPr/>
          <p:nvPr/>
        </p:nvSpPr>
        <p:spPr bwMode="auto">
          <a:xfrm>
            <a:off x="3504257" y="4611147"/>
            <a:ext cx="2647950" cy="257175"/>
          </a:xfrm>
          <a:custGeom>
            <a:avLst/>
            <a:gdLst>
              <a:gd name="T0" fmla="*/ 2147483647 w 1668"/>
              <a:gd name="T1" fmla="*/ 0 h 162"/>
              <a:gd name="T2" fmla="*/ 2147483647 w 1668"/>
              <a:gd name="T3" fmla="*/ 403224947 h 162"/>
              <a:gd name="T4" fmla="*/ 0 w 1668"/>
              <a:gd name="T5" fmla="*/ 408265258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26" name="Text Box 73"/>
          <p:cNvSpPr txBox="1">
            <a:spLocks noChangeArrowheads="1"/>
          </p:cNvSpPr>
          <p:nvPr/>
        </p:nvSpPr>
        <p:spPr bwMode="auto">
          <a:xfrm>
            <a:off x="4290070" y="261089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27" name="Text Box 15"/>
          <p:cNvSpPr txBox="1">
            <a:spLocks noChangeArrowheads="1"/>
          </p:cNvSpPr>
          <p:nvPr/>
        </p:nvSpPr>
        <p:spPr bwMode="auto">
          <a:xfrm>
            <a:off x="4088457" y="4987385"/>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网络接口层</a:t>
            </a:r>
          </a:p>
        </p:txBody>
      </p:sp>
      <p:sp>
        <p:nvSpPr>
          <p:cNvPr id="28" name="Text Box 9"/>
          <p:cNvSpPr txBox="1">
            <a:spLocks noChangeArrowheads="1"/>
          </p:cNvSpPr>
          <p:nvPr/>
        </p:nvSpPr>
        <p:spPr bwMode="auto">
          <a:xfrm>
            <a:off x="4196407" y="4523835"/>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网际层 </a:t>
            </a:r>
            <a:r>
              <a:rPr lang="en-US" altLang="zh-CN" sz="1800" b="1">
                <a:solidFill>
                  <a:srgbClr val="000099"/>
                </a:solidFill>
                <a:latin typeface="+mn-lt"/>
                <a:ea typeface="黑体" panose="02010609060101010101" pitchFamily="2" charset="-122"/>
              </a:rPr>
              <a:t>IP</a:t>
            </a:r>
          </a:p>
        </p:txBody>
      </p:sp>
      <p:sp>
        <p:nvSpPr>
          <p:cNvPr id="29" name="Text Box 16"/>
          <p:cNvSpPr txBox="1">
            <a:spLocks noChangeArrowheads="1"/>
          </p:cNvSpPr>
          <p:nvPr/>
        </p:nvSpPr>
        <p:spPr bwMode="auto">
          <a:xfrm>
            <a:off x="3640716" y="3010947"/>
            <a:ext cx="22527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rgbClr val="000099"/>
                </a:solidFill>
                <a:latin typeface="+mn-lt"/>
                <a:ea typeface="黑体" panose="02010609060101010101" pitchFamily="2" charset="-122"/>
              </a:rPr>
              <a:t>(</a:t>
            </a:r>
            <a:r>
              <a:rPr lang="zh-CN" altLang="en-US" sz="1600" b="1" dirty="0">
                <a:solidFill>
                  <a:srgbClr val="000099"/>
                </a:solidFill>
                <a:latin typeface="+mn-lt"/>
                <a:ea typeface="黑体" panose="02010609060101010101" pitchFamily="2" charset="-122"/>
              </a:rPr>
              <a:t>各种应用层协议，如</a:t>
            </a:r>
          </a:p>
          <a:p>
            <a:pPr algn="ctr" eaLnBrk="1" hangingPunct="1"/>
            <a:r>
              <a:rPr lang="en-US" altLang="zh-CN" sz="1600" b="1" dirty="0">
                <a:solidFill>
                  <a:srgbClr val="000099"/>
                </a:solidFill>
                <a:latin typeface="+mn-lt"/>
                <a:ea typeface="黑体" panose="02010609060101010101" pitchFamily="2" charset="-122"/>
              </a:rPr>
              <a:t>DNS, HTTP, SMTP </a:t>
            </a:r>
            <a:r>
              <a:rPr lang="zh-CN" altLang="zh-CN" sz="1600" b="1" dirty="0">
                <a:solidFill>
                  <a:srgbClr val="000099"/>
                </a:solidFill>
                <a:latin typeface="+mn-lt"/>
                <a:ea typeface="黑体" panose="02010609060101010101" pitchFamily="2" charset="-122"/>
              </a:rPr>
              <a:t>等</a:t>
            </a:r>
            <a:r>
              <a:rPr lang="en-US" altLang="zh-CN" sz="1600" b="1" dirty="0">
                <a:solidFill>
                  <a:srgbClr val="000099"/>
                </a:solidFill>
                <a:latin typeface="+mn-lt"/>
                <a:ea typeface="黑体" panose="02010609060101010101" pitchFamily="2" charset="-122"/>
              </a:rPr>
              <a:t>)</a:t>
            </a:r>
          </a:p>
        </p:txBody>
      </p:sp>
      <p:sp>
        <p:nvSpPr>
          <p:cNvPr id="30" name="Text Box 41"/>
          <p:cNvSpPr txBox="1">
            <a:spLocks noChangeArrowheads="1"/>
          </p:cNvSpPr>
          <p:nvPr/>
        </p:nvSpPr>
        <p:spPr bwMode="auto">
          <a:xfrm>
            <a:off x="3505643" y="3979322"/>
            <a:ext cx="240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solidFill>
                  <a:srgbClr val="000099"/>
                </a:solidFill>
                <a:latin typeface="+mn-lt"/>
                <a:ea typeface="黑体" panose="02010609060101010101" pitchFamily="2" charset="-122"/>
              </a:rPr>
              <a:t>运输层 </a:t>
            </a:r>
            <a:r>
              <a:rPr lang="en-US" altLang="zh-CN" sz="1800" b="1">
                <a:solidFill>
                  <a:srgbClr val="000099"/>
                </a:solidFill>
                <a:latin typeface="+mn-lt"/>
                <a:ea typeface="黑体" panose="02010609060101010101" pitchFamily="2" charset="-122"/>
              </a:rPr>
              <a:t>(TCP </a:t>
            </a:r>
            <a:r>
              <a:rPr lang="zh-CN" altLang="en-US" sz="1800" b="1">
                <a:solidFill>
                  <a:srgbClr val="000099"/>
                </a:solidFill>
                <a:latin typeface="+mn-lt"/>
                <a:ea typeface="黑体" panose="02010609060101010101" pitchFamily="2" charset="-122"/>
              </a:rPr>
              <a:t>或 </a:t>
            </a:r>
            <a:r>
              <a:rPr lang="en-US" altLang="zh-CN" sz="1800" b="1">
                <a:solidFill>
                  <a:srgbClr val="000099"/>
                </a:solidFill>
                <a:latin typeface="+mn-lt"/>
                <a:ea typeface="黑体" panose="02010609060101010101" pitchFamily="2" charset="-122"/>
              </a:rPr>
              <a:t>UDP)</a:t>
            </a:r>
          </a:p>
        </p:txBody>
      </p:sp>
      <p:sp>
        <p:nvSpPr>
          <p:cNvPr id="31" name="Text Box 12"/>
          <p:cNvSpPr txBox="1">
            <a:spLocks noChangeArrowheads="1"/>
          </p:cNvSpPr>
          <p:nvPr/>
        </p:nvSpPr>
        <p:spPr bwMode="auto">
          <a:xfrm>
            <a:off x="3524499" y="1724437"/>
            <a:ext cx="2801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C00000"/>
                </a:solidFill>
                <a:latin typeface="+mn-lt"/>
                <a:ea typeface="黑体" panose="02010609060101010101" pitchFamily="2" charset="-122"/>
              </a:rPr>
              <a:t>TCP/IP </a:t>
            </a:r>
            <a:r>
              <a:rPr lang="zh-CN" altLang="en-US" b="1">
                <a:solidFill>
                  <a:srgbClr val="C00000"/>
                </a:solidFill>
                <a:latin typeface="+mn-lt"/>
                <a:ea typeface="黑体" panose="02010609060101010101" pitchFamily="2" charset="-122"/>
              </a:rPr>
              <a:t>的体系结构</a:t>
            </a:r>
          </a:p>
        </p:txBody>
      </p:sp>
      <p:sp>
        <p:nvSpPr>
          <p:cNvPr id="32" name="Text Box 95"/>
          <p:cNvSpPr txBox="1">
            <a:spLocks noChangeArrowheads="1"/>
          </p:cNvSpPr>
          <p:nvPr/>
        </p:nvSpPr>
        <p:spPr bwMode="auto">
          <a:xfrm>
            <a:off x="1608782" y="5887497"/>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(a)</a:t>
            </a:r>
          </a:p>
        </p:txBody>
      </p:sp>
      <p:sp>
        <p:nvSpPr>
          <p:cNvPr id="33" name="Text Box 96"/>
          <p:cNvSpPr txBox="1">
            <a:spLocks noChangeArrowheads="1"/>
          </p:cNvSpPr>
          <p:nvPr/>
        </p:nvSpPr>
        <p:spPr bwMode="auto">
          <a:xfrm>
            <a:off x="4464695" y="5887497"/>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(b)</a:t>
            </a:r>
          </a:p>
        </p:txBody>
      </p:sp>
      <p:sp>
        <p:nvSpPr>
          <p:cNvPr id="34" name="Text Box 97"/>
          <p:cNvSpPr txBox="1">
            <a:spLocks noChangeArrowheads="1"/>
          </p:cNvSpPr>
          <p:nvPr/>
        </p:nvSpPr>
        <p:spPr bwMode="auto">
          <a:xfrm>
            <a:off x="7609532" y="5887497"/>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a:solidFill>
                  <a:srgbClr val="000099"/>
                </a:solidFill>
                <a:latin typeface="+mn-lt"/>
                <a:ea typeface="黑体" panose="02010609060101010101" pitchFamily="2" charset="-122"/>
              </a:rPr>
              <a:t>(c)</a:t>
            </a:r>
          </a:p>
        </p:txBody>
      </p:sp>
      <p:sp>
        <p:nvSpPr>
          <p:cNvPr id="35" name="AutoShape 98"/>
          <p:cNvSpPr>
            <a:spLocks noChangeArrowheads="1"/>
          </p:cNvSpPr>
          <p:nvPr/>
        </p:nvSpPr>
        <p:spPr bwMode="auto">
          <a:xfrm>
            <a:off x="6787207" y="2287047"/>
            <a:ext cx="2054225" cy="3530600"/>
          </a:xfrm>
          <a:prstGeom prst="cube">
            <a:avLst>
              <a:gd name="adj" fmla="val 9144"/>
            </a:avLst>
          </a:prstGeom>
          <a:solidFill>
            <a:schemeClr val="bg1"/>
          </a:solidFill>
          <a:ln w="19050">
            <a:solidFill>
              <a:schemeClr val="tx1"/>
            </a:solidFill>
            <a:miter lim="800000"/>
          </a:ln>
        </p:spPr>
        <p:txBody>
          <a:bodyPr wrap="none" anchor="ctr"/>
          <a:lstStyle/>
          <a:p>
            <a:endParaRPr lang="zh-CN" altLang="en-US" sz="2000" b="1">
              <a:solidFill>
                <a:srgbClr val="000099"/>
              </a:solidFill>
              <a:latin typeface="+mn-lt"/>
              <a:ea typeface="黑体" panose="02010609060101010101" pitchFamily="2" charset="-122"/>
            </a:endParaRPr>
          </a:p>
        </p:txBody>
      </p:sp>
      <p:sp>
        <p:nvSpPr>
          <p:cNvPr id="36" name="Freeform 101"/>
          <p:cNvSpPr/>
          <p:nvPr/>
        </p:nvSpPr>
        <p:spPr bwMode="auto">
          <a:xfrm>
            <a:off x="6787207" y="3628485"/>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7" name="Freeform 102"/>
          <p:cNvSpPr/>
          <p:nvPr/>
        </p:nvSpPr>
        <p:spPr bwMode="auto">
          <a:xfrm>
            <a:off x="6787207" y="4107910"/>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8" name="Freeform 103"/>
          <p:cNvSpPr/>
          <p:nvPr/>
        </p:nvSpPr>
        <p:spPr bwMode="auto">
          <a:xfrm>
            <a:off x="6785620" y="4587335"/>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39" name="Freeform 104"/>
          <p:cNvSpPr/>
          <p:nvPr/>
        </p:nvSpPr>
        <p:spPr bwMode="auto">
          <a:xfrm>
            <a:off x="6784032" y="5066760"/>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0" name="Text Box 106"/>
          <p:cNvSpPr txBox="1">
            <a:spLocks noChangeArrowheads="1"/>
          </p:cNvSpPr>
          <p:nvPr/>
        </p:nvSpPr>
        <p:spPr bwMode="auto">
          <a:xfrm>
            <a:off x="7471420" y="398408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运输层</a:t>
            </a:r>
          </a:p>
        </p:txBody>
      </p:sp>
      <p:sp>
        <p:nvSpPr>
          <p:cNvPr id="41" name="Text Box 107"/>
          <p:cNvSpPr txBox="1">
            <a:spLocks noChangeArrowheads="1"/>
          </p:cNvSpPr>
          <p:nvPr/>
        </p:nvSpPr>
        <p:spPr bwMode="auto">
          <a:xfrm>
            <a:off x="7484120" y="446351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网络层</a:t>
            </a:r>
          </a:p>
        </p:txBody>
      </p:sp>
      <p:sp>
        <p:nvSpPr>
          <p:cNvPr id="42" name="Text Box 108"/>
          <p:cNvSpPr txBox="1">
            <a:spLocks noChangeArrowheads="1"/>
          </p:cNvSpPr>
          <p:nvPr/>
        </p:nvSpPr>
        <p:spPr bwMode="auto">
          <a:xfrm>
            <a:off x="7484120" y="302206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应用层</a:t>
            </a:r>
          </a:p>
        </p:txBody>
      </p:sp>
      <p:sp>
        <p:nvSpPr>
          <p:cNvPr id="43" name="Text Box 110"/>
          <p:cNvSpPr txBox="1">
            <a:spLocks noChangeArrowheads="1"/>
          </p:cNvSpPr>
          <p:nvPr/>
        </p:nvSpPr>
        <p:spPr bwMode="auto">
          <a:xfrm>
            <a:off x="7325370" y="4917535"/>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a:solidFill>
                  <a:srgbClr val="000099"/>
                </a:solidFill>
                <a:latin typeface="+mn-lt"/>
                <a:ea typeface="黑体" panose="02010609060101010101" pitchFamily="2" charset="-122"/>
              </a:rPr>
              <a:t>数据链路层</a:t>
            </a:r>
          </a:p>
        </p:txBody>
      </p:sp>
      <p:sp>
        <p:nvSpPr>
          <p:cNvPr id="44" name="Text Box 111"/>
          <p:cNvSpPr txBox="1">
            <a:spLocks noChangeArrowheads="1"/>
          </p:cNvSpPr>
          <p:nvPr/>
        </p:nvSpPr>
        <p:spPr bwMode="auto">
          <a:xfrm>
            <a:off x="7484120" y="5369972"/>
            <a:ext cx="872490" cy="368300"/>
          </a:xfrm>
          <a:prstGeom prst="rect">
            <a:avLst/>
          </a:prstGeom>
          <a:noFill/>
          <a:ln>
            <a:noFill/>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0" algn="l" eaLnBrk="1" hangingPunct="1">
              <a:buClrTx/>
              <a:buSzTx/>
              <a:buFontTx/>
            </a:pPr>
            <a:r>
              <a:rPr lang="zh-CN" altLang="en-US" sz="1800" b="1" dirty="0">
                <a:solidFill>
                  <a:srgbClr val="C00000"/>
                </a:solidFill>
                <a:latin typeface="+mn-lt"/>
                <a:ea typeface="黑体" panose="02010609060101010101" pitchFamily="2" charset="-122"/>
                <a:sym typeface="+mn-ea"/>
              </a:rPr>
              <a:t>物理层</a:t>
            </a:r>
          </a:p>
        </p:txBody>
      </p:sp>
      <p:sp>
        <p:nvSpPr>
          <p:cNvPr id="45" name="Text Box 112"/>
          <p:cNvSpPr txBox="1">
            <a:spLocks noChangeArrowheads="1"/>
          </p:cNvSpPr>
          <p:nvPr/>
        </p:nvSpPr>
        <p:spPr bwMode="auto">
          <a:xfrm>
            <a:off x="6882457" y="2394997"/>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pPr>
            <a:endParaRPr lang="en-US" altLang="zh-CN" sz="1600" b="1" dirty="0">
              <a:solidFill>
                <a:srgbClr val="000099"/>
              </a:solidFill>
              <a:latin typeface="+mn-lt"/>
              <a:ea typeface="黑体" panose="02010609060101010101" pitchFamily="2" charset="-122"/>
            </a:endParaRPr>
          </a:p>
          <a:p>
            <a:pPr eaLnBrk="1" hangingPunct="1">
              <a:lnSpc>
                <a:spcPct val="190000"/>
              </a:lnSpc>
            </a:pPr>
            <a:r>
              <a:rPr lang="en-US" altLang="zh-CN" sz="1600" b="1" dirty="0">
                <a:solidFill>
                  <a:srgbClr val="000099"/>
                </a:solidFill>
                <a:latin typeface="+mn-lt"/>
                <a:ea typeface="黑体" panose="02010609060101010101" pitchFamily="2" charset="-122"/>
              </a:rPr>
              <a:t>5</a:t>
            </a:r>
          </a:p>
          <a:p>
            <a:pPr eaLnBrk="1" hangingPunct="1">
              <a:lnSpc>
                <a:spcPct val="190000"/>
              </a:lnSpc>
            </a:pPr>
            <a:endParaRPr lang="en-US" altLang="zh-CN" sz="1600" b="1" dirty="0">
              <a:solidFill>
                <a:srgbClr val="000099"/>
              </a:solidFill>
              <a:latin typeface="+mn-lt"/>
              <a:ea typeface="黑体" panose="02010609060101010101" pitchFamily="2" charset="-122"/>
            </a:endParaRPr>
          </a:p>
          <a:p>
            <a:pPr eaLnBrk="1" hangingPunct="1">
              <a:lnSpc>
                <a:spcPct val="190000"/>
              </a:lnSpc>
            </a:pPr>
            <a:r>
              <a:rPr lang="en-US" altLang="zh-CN" sz="1600" b="1" dirty="0">
                <a:solidFill>
                  <a:srgbClr val="000099"/>
                </a:solidFill>
                <a:latin typeface="+mn-lt"/>
                <a:ea typeface="黑体" panose="02010609060101010101" pitchFamily="2" charset="-122"/>
              </a:rPr>
              <a:t>4</a:t>
            </a:r>
          </a:p>
          <a:p>
            <a:pPr eaLnBrk="1" hangingPunct="1">
              <a:lnSpc>
                <a:spcPct val="190000"/>
              </a:lnSpc>
            </a:pPr>
            <a:r>
              <a:rPr lang="en-US" altLang="zh-CN" sz="1600" b="1" dirty="0">
                <a:solidFill>
                  <a:srgbClr val="000099"/>
                </a:solidFill>
                <a:latin typeface="+mn-lt"/>
                <a:ea typeface="黑体" panose="02010609060101010101" pitchFamily="2" charset="-122"/>
              </a:rPr>
              <a:t>3</a:t>
            </a:r>
          </a:p>
          <a:p>
            <a:pPr eaLnBrk="1" hangingPunct="1">
              <a:lnSpc>
                <a:spcPct val="190000"/>
              </a:lnSpc>
            </a:pPr>
            <a:r>
              <a:rPr lang="en-US" altLang="zh-CN" sz="1600" b="1" dirty="0">
                <a:solidFill>
                  <a:srgbClr val="000099"/>
                </a:solidFill>
                <a:latin typeface="+mn-lt"/>
                <a:ea typeface="黑体" panose="02010609060101010101" pitchFamily="2" charset="-122"/>
              </a:rPr>
              <a:t>2</a:t>
            </a:r>
          </a:p>
          <a:p>
            <a:pPr eaLnBrk="1" hangingPunct="1">
              <a:lnSpc>
                <a:spcPct val="190000"/>
              </a:lnSpc>
            </a:pPr>
            <a:r>
              <a:rPr lang="en-US" altLang="zh-CN" sz="1600" b="1" dirty="0">
                <a:solidFill>
                  <a:srgbClr val="000099"/>
                </a:solidFill>
                <a:latin typeface="+mn-lt"/>
                <a:ea typeface="黑体" panose="02010609060101010101" pitchFamily="2" charset="-122"/>
              </a:rPr>
              <a:t>1</a:t>
            </a:r>
          </a:p>
        </p:txBody>
      </p:sp>
      <p:sp>
        <p:nvSpPr>
          <p:cNvPr id="46" name="Text Box 113"/>
          <p:cNvSpPr txBox="1">
            <a:spLocks noChangeArrowheads="1"/>
          </p:cNvSpPr>
          <p:nvPr/>
        </p:nvSpPr>
        <p:spPr bwMode="auto">
          <a:xfrm>
            <a:off x="6531030" y="1699037"/>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C00000"/>
                </a:solidFill>
                <a:latin typeface="+mn-lt"/>
                <a:ea typeface="黑体" panose="02010609060101010101" pitchFamily="2" charset="-122"/>
              </a:rPr>
              <a:t>五层协议的体系结构</a:t>
            </a:r>
          </a:p>
        </p:txBody>
      </p:sp>
      <p:sp>
        <p:nvSpPr>
          <p:cNvPr id="47" name="Text Box 15"/>
          <p:cNvSpPr txBox="1">
            <a:spLocks noChangeArrowheads="1"/>
          </p:cNvSpPr>
          <p:nvPr/>
        </p:nvSpPr>
        <p:spPr bwMode="auto">
          <a:xfrm>
            <a:off x="3386782" y="5347747"/>
            <a:ext cx="26661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99"/>
                </a:solidFill>
                <a:latin typeface="+mn-lt"/>
                <a:ea typeface="黑体" panose="02010609060101010101" pitchFamily="2" charset="-122"/>
              </a:rPr>
              <a:t>（这一层并没有具体内容）</a:t>
            </a:r>
          </a:p>
        </p:txBody>
      </p:sp>
      <p:sp>
        <p:nvSpPr>
          <p:cNvPr id="4" name="Rectangle 2"/>
          <p:cNvSpPr>
            <a:spLocks noGrp="1" noChangeArrowheads="1"/>
          </p:cNvSpPr>
          <p:nvPr>
            <p:ph type="title"/>
          </p:nvPr>
        </p:nvSpPr>
        <p:spPr/>
        <p:txBody>
          <a:bodyPr/>
          <a:lstStyle/>
          <a:p>
            <a:r>
              <a:rPr lang="en-US" altLang="zh-CN" dirty="0">
                <a:ea typeface="Arial Unicode MS" panose="020B0604020202020204" pitchFamily="34" charset="-122"/>
                <a:cs typeface="Arial Unicode MS" panose="020B0604020202020204" pitchFamily="34" charset="-122"/>
              </a:rPr>
              <a:t>2.1  </a:t>
            </a:r>
            <a:r>
              <a:rPr lang="zh-CN" altLang="en-US" dirty="0"/>
              <a:t>物理层的基本概念</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ea typeface="Arial Unicode MS" panose="020B0604020202020204" pitchFamily="34" charset="-122"/>
                <a:cs typeface="Arial Unicode MS" panose="020B0604020202020204" pitchFamily="34" charset="-122"/>
              </a:rPr>
              <a:t>2.1  </a:t>
            </a:r>
            <a:r>
              <a:rPr lang="zh-CN" altLang="en-US" dirty="0"/>
              <a:t>物理层的基本概念</a:t>
            </a:r>
          </a:p>
        </p:txBody>
      </p:sp>
      <p:sp>
        <p:nvSpPr>
          <p:cNvPr id="26627" name="Rectangle 3"/>
          <p:cNvSpPr>
            <a:spLocks noGrp="1" noChangeArrowheads="1"/>
          </p:cNvSpPr>
          <p:nvPr>
            <p:ph idx="1"/>
          </p:nvPr>
        </p:nvSpPr>
        <p:spPr/>
        <p:txBody>
          <a:bodyPr/>
          <a:lstStyle/>
          <a:p>
            <a:r>
              <a:rPr lang="zh-CN" altLang="zh-CN" dirty="0"/>
              <a:t>物理层考虑的是怎样才能在连接各种计算机的传输媒体上</a:t>
            </a:r>
            <a:r>
              <a:rPr lang="zh-CN" altLang="zh-CN" dirty="0">
                <a:solidFill>
                  <a:srgbClr val="FF0000"/>
                </a:solidFill>
              </a:rPr>
              <a:t>传输数据比特流，</a:t>
            </a:r>
            <a:r>
              <a:rPr lang="zh-CN" altLang="zh-CN" dirty="0"/>
              <a:t>而</a:t>
            </a:r>
            <a:r>
              <a:rPr lang="zh-CN" altLang="zh-CN" dirty="0">
                <a:solidFill>
                  <a:srgbClr val="FF0000"/>
                </a:solidFill>
              </a:rPr>
              <a:t>不是指具体的传输媒体。</a:t>
            </a:r>
            <a:endParaRPr lang="en-US" altLang="zh-CN" dirty="0">
              <a:solidFill>
                <a:srgbClr val="FF0000"/>
              </a:solidFill>
            </a:endParaRPr>
          </a:p>
          <a:p>
            <a:r>
              <a:rPr lang="zh-CN" altLang="zh-CN" dirty="0"/>
              <a:t>物理层的作用是要尽可能地</a:t>
            </a:r>
            <a:r>
              <a:rPr lang="zh-CN" altLang="zh-CN" dirty="0">
                <a:solidFill>
                  <a:srgbClr val="FF0000"/>
                </a:solidFill>
              </a:rPr>
              <a:t>屏蔽</a:t>
            </a:r>
            <a:r>
              <a:rPr lang="zh-CN" altLang="zh-CN" dirty="0"/>
              <a:t>掉</a:t>
            </a:r>
            <a:r>
              <a:rPr lang="zh-CN" altLang="en-US" dirty="0"/>
              <a:t>不同</a:t>
            </a:r>
            <a:r>
              <a:rPr lang="zh-CN" altLang="zh-CN" dirty="0"/>
              <a:t>传输媒体和通信手段的差异</a:t>
            </a:r>
            <a:r>
              <a:rPr lang="zh-CN" altLang="en-US" dirty="0"/>
              <a:t>。</a:t>
            </a:r>
            <a:endParaRPr lang="en-US" altLang="zh-CN" dirty="0"/>
          </a:p>
          <a:p>
            <a:r>
              <a:rPr lang="zh-CN" altLang="zh-CN" dirty="0"/>
              <a:t>用于物理层的协议也常称为物理层</a:t>
            </a:r>
            <a:r>
              <a:rPr lang="zh-CN" altLang="zh-CN" dirty="0">
                <a:solidFill>
                  <a:srgbClr val="FF0000"/>
                </a:solidFill>
              </a:rPr>
              <a:t>规程</a:t>
            </a:r>
            <a:r>
              <a:rPr lang="en-US" altLang="zh-CN" dirty="0">
                <a:solidFill>
                  <a:srgbClr val="FF0000"/>
                </a:solidFill>
              </a:rPr>
              <a:t> </a:t>
            </a:r>
            <a:r>
              <a:rPr lang="en-US" altLang="zh-CN" dirty="0"/>
              <a:t>(procedure)</a:t>
            </a:r>
            <a:r>
              <a:rPr lang="zh-CN" alt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a:r>
              <a:rPr lang="zh-CN" altLang="en-US" dirty="0"/>
              <a:t>物理层的主要任务</a:t>
            </a:r>
          </a:p>
        </p:txBody>
      </p:sp>
      <p:sp>
        <p:nvSpPr>
          <p:cNvPr id="26627" name="Rectangle 3"/>
          <p:cNvSpPr>
            <a:spLocks noGrp="1" noChangeArrowheads="1"/>
          </p:cNvSpPr>
          <p:nvPr>
            <p:ph idx="1"/>
          </p:nvPr>
        </p:nvSpPr>
        <p:spPr>
          <a:xfrm>
            <a:off x="416496" y="1790005"/>
            <a:ext cx="8562156" cy="4142085"/>
          </a:xfrm>
        </p:spPr>
        <p:txBody>
          <a:bodyPr/>
          <a:lstStyle/>
          <a:p>
            <a:r>
              <a:rPr lang="zh-CN" altLang="en-US" sz="2200" dirty="0">
                <a:solidFill>
                  <a:srgbClr val="FF0000"/>
                </a:solidFill>
              </a:rPr>
              <a:t>机械特性 ：</a:t>
            </a:r>
            <a:r>
              <a:rPr lang="zh-CN" altLang="en-US" sz="2200" dirty="0"/>
              <a:t>指明接口所用接线器的形状和尺寸、引线数目和排列、固定和锁定装置等。</a:t>
            </a:r>
          </a:p>
          <a:p>
            <a:r>
              <a:rPr lang="zh-CN" altLang="en-US" sz="2200" dirty="0">
                <a:solidFill>
                  <a:srgbClr val="FF0000"/>
                </a:solidFill>
              </a:rPr>
              <a:t>电气特性：</a:t>
            </a:r>
            <a:r>
              <a:rPr lang="zh-CN" altLang="en-US" sz="2200" dirty="0"/>
              <a:t>指明在接口电缆的各条线上出现的电压的范围。</a:t>
            </a:r>
          </a:p>
          <a:p>
            <a:r>
              <a:rPr lang="zh-CN" altLang="en-US" sz="2200" dirty="0">
                <a:solidFill>
                  <a:srgbClr val="FF0000"/>
                </a:solidFill>
              </a:rPr>
              <a:t>功能特性：</a:t>
            </a:r>
            <a:r>
              <a:rPr lang="zh-CN" altLang="en-US" sz="2200" dirty="0"/>
              <a:t>指明某条线上出现的某一电平的电压表示何种意义。</a:t>
            </a:r>
          </a:p>
          <a:p>
            <a:r>
              <a:rPr lang="zh-CN" altLang="en-US" sz="2200" dirty="0">
                <a:solidFill>
                  <a:srgbClr val="FF0000"/>
                </a:solidFill>
              </a:rPr>
              <a:t>过程特性 ：</a:t>
            </a:r>
            <a:r>
              <a:rPr lang="zh-CN" altLang="en-US" sz="2200" dirty="0"/>
              <a:t>指明对于不同功能的各种可能事件的出现顺序。 </a:t>
            </a:r>
          </a:p>
        </p:txBody>
      </p:sp>
      <p:sp>
        <p:nvSpPr>
          <p:cNvPr id="3" name="矩形 2"/>
          <p:cNvSpPr/>
          <p:nvPr/>
        </p:nvSpPr>
        <p:spPr bwMode="auto">
          <a:xfrm>
            <a:off x="409700" y="1124744"/>
            <a:ext cx="9073008" cy="648072"/>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algn="ctr"/>
            <a:r>
              <a:rPr lang="zh-CN" altLang="en-US" sz="3200" b="1" dirty="0">
                <a:latin typeface="+mn-lt"/>
                <a:ea typeface="黑体" panose="02010609060101010101" pitchFamily="2" charset="-122"/>
              </a:rPr>
              <a:t>主要任务：确定与传输媒体的接口的一些特性。</a:t>
            </a:r>
            <a:endParaRPr kumimoji="0" lang="zh-CN" altLang="en-US" sz="3200" b="1" i="0" u="none" strike="noStrike" cap="none" normalizeH="0" baseline="0" dirty="0">
              <a:ln>
                <a:noFill/>
              </a:ln>
              <a:solidFill>
                <a:schemeClr val="tx1"/>
              </a:solidFill>
              <a:effectLst/>
              <a:latin typeface="+mn-lt"/>
              <a:ea typeface="黑体" panose="02010609060101010101" pitchFamily="2" charset="-122"/>
            </a:endParaRPr>
          </a:p>
        </p:txBody>
      </p:sp>
      <p:pic>
        <p:nvPicPr>
          <p:cNvPr id="4" name="图片 3"/>
          <p:cNvPicPr>
            <a:picLocks noChangeAspect="1"/>
          </p:cNvPicPr>
          <p:nvPr/>
        </p:nvPicPr>
        <p:blipFill>
          <a:blip r:embed="rId3"/>
          <a:stretch>
            <a:fillRect/>
          </a:stretch>
        </p:blipFill>
        <p:spPr>
          <a:xfrm>
            <a:off x="2144688" y="3906846"/>
            <a:ext cx="5184576" cy="29511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2.2  </a:t>
            </a:r>
            <a:r>
              <a:rPr lang="zh-CN" altLang="zh-CN" dirty="0"/>
              <a:t>数据通信的基础知识</a:t>
            </a:r>
            <a:endParaRPr lang="zh-CN" altLang="en-US" dirty="0"/>
          </a:p>
        </p:txBody>
      </p:sp>
      <p:sp>
        <p:nvSpPr>
          <p:cNvPr id="26627" name="Rectangle 3"/>
          <p:cNvSpPr>
            <a:spLocks noGrp="1" noChangeArrowheads="1"/>
          </p:cNvSpPr>
          <p:nvPr>
            <p:ph idx="1"/>
          </p:nvPr>
        </p:nvSpPr>
        <p:spPr/>
        <p:txBody>
          <a:bodyPr/>
          <a:lstStyle/>
          <a:p>
            <a:r>
              <a:rPr lang="en-US" altLang="zh-CN" dirty="0"/>
              <a:t>2.2.1  </a:t>
            </a:r>
            <a:r>
              <a:rPr lang="zh-CN" altLang="zh-CN" dirty="0"/>
              <a:t>数据通信系统的模型</a:t>
            </a:r>
          </a:p>
          <a:p>
            <a:r>
              <a:rPr lang="en-US" altLang="zh-CN" dirty="0"/>
              <a:t>2.2.2  </a:t>
            </a:r>
            <a:r>
              <a:rPr lang="zh-CN" altLang="zh-CN" dirty="0"/>
              <a:t>有关信道的几个基本概念</a:t>
            </a:r>
          </a:p>
          <a:p>
            <a:r>
              <a:rPr lang="en-US" altLang="zh-CN" dirty="0"/>
              <a:t>2.2.3  </a:t>
            </a:r>
            <a:r>
              <a:rPr lang="zh-CN" altLang="zh-CN" dirty="0"/>
              <a:t>信道的极限容量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2.2.1  </a:t>
            </a:r>
            <a:r>
              <a:rPr lang="zh-CN" altLang="zh-CN" dirty="0"/>
              <a:t>数据通信系统的模型</a:t>
            </a:r>
            <a:endParaRPr lang="zh-CN" altLang="en-US" dirty="0"/>
          </a:p>
        </p:txBody>
      </p:sp>
      <p:sp>
        <p:nvSpPr>
          <p:cNvPr id="3" name="矩形 2"/>
          <p:cNvSpPr/>
          <p:nvPr/>
        </p:nvSpPr>
        <p:spPr>
          <a:xfrm>
            <a:off x="416496" y="1105220"/>
            <a:ext cx="9289032" cy="870046"/>
          </a:xfrm>
          <a:prstGeom prst="rect">
            <a:avLst/>
          </a:prstGeom>
          <a:solidFill>
            <a:srgbClr val="FFFF00"/>
          </a:solidFill>
        </p:spPr>
        <p:txBody>
          <a:bodyPr wrap="square" anchor="ctr">
            <a:spAutoFit/>
          </a:bodyPr>
          <a:lstStyle/>
          <a:p>
            <a:pPr>
              <a:lnSpc>
                <a:spcPct val="110000"/>
              </a:lnSpc>
            </a:pPr>
            <a:r>
              <a:rPr lang="zh-CN" altLang="zh-CN" sz="2400" b="1" dirty="0">
                <a:latin typeface="+mn-lt"/>
                <a:ea typeface="黑体" panose="02010609060101010101" pitchFamily="2" charset="-122"/>
              </a:rPr>
              <a:t>一个数据通信系统</a:t>
            </a:r>
            <a:r>
              <a:rPr lang="zh-CN" altLang="en-US" sz="2400" b="1" dirty="0">
                <a:latin typeface="+mn-lt"/>
                <a:ea typeface="黑体" panose="02010609060101010101" pitchFamily="2" charset="-122"/>
              </a:rPr>
              <a:t>包括</a:t>
            </a:r>
            <a:r>
              <a:rPr lang="zh-CN" altLang="zh-CN" sz="2400" b="1" dirty="0">
                <a:solidFill>
                  <a:srgbClr val="FF0000"/>
                </a:solidFill>
                <a:latin typeface="+mn-lt"/>
                <a:ea typeface="黑体" panose="02010609060101010101" pitchFamily="2" charset="-122"/>
              </a:rPr>
              <a:t>三大部分</a:t>
            </a:r>
            <a:r>
              <a:rPr lang="zh-CN" altLang="en-US" sz="2400" b="1" dirty="0">
                <a:solidFill>
                  <a:srgbClr val="FF0000"/>
                </a:solidFill>
                <a:latin typeface="+mn-lt"/>
                <a:ea typeface="黑体" panose="02010609060101010101" pitchFamily="2" charset="-122"/>
              </a:rPr>
              <a:t>：</a:t>
            </a:r>
            <a:r>
              <a:rPr lang="zh-CN" altLang="zh-CN" sz="2400" b="1" dirty="0">
                <a:latin typeface="+mn-lt"/>
                <a:ea typeface="黑体" panose="02010609060101010101" pitchFamily="2" charset="-122"/>
              </a:rPr>
              <a:t>源系统（或发送端、发送方）、传输系统（或传输网络）和目的系统（或接收端、接收方）</a:t>
            </a:r>
            <a:r>
              <a:rPr lang="zh-CN" altLang="en-US" sz="2400" b="1" dirty="0">
                <a:latin typeface="+mn-lt"/>
                <a:ea typeface="黑体" panose="02010609060101010101" pitchFamily="2" charset="-122"/>
              </a:rPr>
              <a:t>。</a:t>
            </a:r>
          </a:p>
        </p:txBody>
      </p:sp>
      <p:grpSp>
        <p:nvGrpSpPr>
          <p:cNvPr id="6" name="Group 107"/>
          <p:cNvGrpSpPr/>
          <p:nvPr/>
        </p:nvGrpSpPr>
        <p:grpSpPr bwMode="auto">
          <a:xfrm>
            <a:off x="4458222" y="4641555"/>
            <a:ext cx="1110985" cy="727075"/>
            <a:chOff x="2463" y="2931"/>
            <a:chExt cx="646" cy="458"/>
          </a:xfrm>
        </p:grpSpPr>
        <p:sp>
          <p:nvSpPr>
            <p:cNvPr id="7" name="AutoShape 13"/>
            <p:cNvSpPr>
              <a:spLocks noChangeArrowheads="1"/>
            </p:cNvSpPr>
            <p:nvPr/>
          </p:nvSpPr>
          <p:spPr bwMode="auto">
            <a:xfrm>
              <a:off x="2463" y="2931"/>
              <a:ext cx="646" cy="458"/>
            </a:xfrm>
            <a:prstGeom prst="cube">
              <a:avLst>
                <a:gd name="adj" fmla="val 13069"/>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8" name="Rectangle 16"/>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anose="02010609060101010101" pitchFamily="2" charset="-122"/>
                </a:rPr>
                <a:t>传输</a:t>
              </a:r>
            </a:p>
            <a:p>
              <a:pPr algn="l" defTabSz="762000" eaLnBrk="0" hangingPunct="0"/>
              <a:r>
                <a:rPr kumimoji="1" lang="zh-CN" altLang="en-US" sz="1800" b="1" dirty="0">
                  <a:solidFill>
                    <a:srgbClr val="0000CC"/>
                  </a:solidFill>
                  <a:latin typeface="+mn-lt"/>
                  <a:ea typeface="黑体" panose="02010609060101010101" pitchFamily="2" charset="-122"/>
                </a:rPr>
                <a:t>系统</a:t>
              </a:r>
            </a:p>
          </p:txBody>
        </p:sp>
      </p:grpSp>
      <p:grpSp>
        <p:nvGrpSpPr>
          <p:cNvPr id="9" name="Group 102"/>
          <p:cNvGrpSpPr/>
          <p:nvPr/>
        </p:nvGrpSpPr>
        <p:grpSpPr bwMode="auto">
          <a:xfrm>
            <a:off x="341041" y="5005091"/>
            <a:ext cx="613965" cy="1233488"/>
            <a:chOff x="69" y="3160"/>
            <a:chExt cx="357" cy="777"/>
          </a:xfrm>
        </p:grpSpPr>
        <p:sp>
          <p:nvSpPr>
            <p:cNvPr id="10" name="Rectangle 5"/>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输入信息</a:t>
              </a:r>
            </a:p>
          </p:txBody>
        </p:sp>
        <p:sp>
          <p:nvSpPr>
            <p:cNvPr id="11" name="Line 17"/>
            <p:cNvSpPr>
              <a:spLocks noChangeShapeType="1"/>
            </p:cNvSpPr>
            <p:nvPr/>
          </p:nvSpPr>
          <p:spPr bwMode="auto">
            <a:xfrm>
              <a:off x="94" y="3160"/>
              <a:ext cx="313"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12" name="Group 104"/>
          <p:cNvGrpSpPr/>
          <p:nvPr/>
        </p:nvGrpSpPr>
        <p:grpSpPr bwMode="auto">
          <a:xfrm>
            <a:off x="1787385" y="5005091"/>
            <a:ext cx="679318" cy="1189038"/>
            <a:chOff x="910" y="3160"/>
            <a:chExt cx="395" cy="749"/>
          </a:xfrm>
        </p:grpSpPr>
        <p:sp>
          <p:nvSpPr>
            <p:cNvPr id="13" name="Rectangle 7"/>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输入数据</a:t>
              </a:r>
            </a:p>
          </p:txBody>
        </p:sp>
        <p:sp>
          <p:nvSpPr>
            <p:cNvPr id="14" name="Line 18"/>
            <p:cNvSpPr>
              <a:spLocks noChangeShapeType="1"/>
            </p:cNvSpPr>
            <p:nvPr/>
          </p:nvSpPr>
          <p:spPr bwMode="auto">
            <a:xfrm>
              <a:off x="910" y="3160"/>
              <a:ext cx="346"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15" name="Group 106"/>
          <p:cNvGrpSpPr/>
          <p:nvPr/>
        </p:nvGrpSpPr>
        <p:grpSpPr bwMode="auto">
          <a:xfrm>
            <a:off x="3281885" y="4998739"/>
            <a:ext cx="1319080" cy="1271588"/>
            <a:chOff x="1779" y="3156"/>
            <a:chExt cx="742" cy="801"/>
          </a:xfrm>
        </p:grpSpPr>
        <p:sp>
          <p:nvSpPr>
            <p:cNvPr id="16" name="Rectangle 9"/>
            <p:cNvSpPr>
              <a:spLocks noChangeArrowheads="1"/>
            </p:cNvSpPr>
            <p:nvPr/>
          </p:nvSpPr>
          <p:spPr bwMode="auto">
            <a:xfrm>
              <a:off x="1791" y="3203"/>
              <a:ext cx="730"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b="1" dirty="0">
                  <a:solidFill>
                    <a:srgbClr val="0000CC"/>
                  </a:solidFill>
                  <a:latin typeface="+mn-lt"/>
                  <a:ea typeface="黑体" panose="02010609060101010101" pitchFamily="2" charset="-122"/>
                </a:rPr>
                <a:t>发送</a:t>
              </a:r>
              <a:endParaRPr kumimoji="1" lang="en-US" altLang="zh-CN" sz="1800" b="1" dirty="0">
                <a:solidFill>
                  <a:srgbClr val="0000CC"/>
                </a:solidFill>
                <a:latin typeface="+mn-lt"/>
                <a:ea typeface="黑体" panose="02010609060101010101" pitchFamily="2" charset="-122"/>
              </a:endParaRPr>
            </a:p>
            <a:p>
              <a:pPr defTabSz="762000" eaLnBrk="0" hangingPunct="0"/>
              <a:r>
                <a:rPr kumimoji="1" lang="zh-CN" altLang="en-US" sz="1800" b="1" dirty="0">
                  <a:solidFill>
                    <a:srgbClr val="0000CC"/>
                  </a:solidFill>
                  <a:latin typeface="+mn-lt"/>
                  <a:ea typeface="黑体" panose="02010609060101010101" pitchFamily="2" charset="-122"/>
                </a:rPr>
                <a:t>的信号</a:t>
              </a:r>
              <a:endParaRPr kumimoji="1" lang="en-US" altLang="zh-CN" sz="1800" b="1" dirty="0">
                <a:solidFill>
                  <a:srgbClr val="0000CC"/>
                </a:solidFill>
                <a:latin typeface="+mn-lt"/>
                <a:ea typeface="黑体" panose="02010609060101010101" pitchFamily="2" charset="-122"/>
              </a:endParaRPr>
            </a:p>
            <a:p>
              <a:pPr defTabSz="762000" eaLnBrk="0" hangingPunct="0"/>
              <a:r>
                <a:rPr kumimoji="1" lang="en-US" altLang="zh-CN" b="1" dirty="0">
                  <a:solidFill>
                    <a:srgbClr val="0000CC"/>
                  </a:solidFill>
                  <a:latin typeface="+mn-lt"/>
                  <a:ea typeface="黑体" panose="02010609060101010101" pitchFamily="2" charset="-122"/>
                </a:rPr>
                <a:t>(</a:t>
              </a:r>
              <a:r>
                <a:rPr kumimoji="1" lang="zh-CN" altLang="en-US" b="1" dirty="0">
                  <a:solidFill>
                    <a:srgbClr val="0000CC"/>
                  </a:solidFill>
                  <a:latin typeface="+mn-lt"/>
                  <a:ea typeface="黑体" panose="02010609060101010101" pitchFamily="2" charset="-122"/>
                </a:rPr>
                <a:t>数字的或模拟的</a:t>
              </a:r>
              <a:r>
                <a:rPr kumimoji="1" lang="en-US" altLang="zh-CN" b="1" dirty="0">
                  <a:solidFill>
                    <a:srgbClr val="0000CC"/>
                  </a:solidFill>
                  <a:latin typeface="+mn-lt"/>
                  <a:ea typeface="黑体" panose="02010609060101010101" pitchFamily="2" charset="-122"/>
                </a:rPr>
                <a:t>)</a:t>
              </a:r>
              <a:endParaRPr kumimoji="1" lang="zh-CN" altLang="en-US" sz="1800" b="1" dirty="0">
                <a:solidFill>
                  <a:srgbClr val="0000CC"/>
                </a:solidFill>
                <a:latin typeface="+mn-lt"/>
                <a:ea typeface="黑体" panose="02010609060101010101" pitchFamily="2" charset="-122"/>
              </a:endParaRPr>
            </a:p>
          </p:txBody>
        </p:sp>
        <p:sp>
          <p:nvSpPr>
            <p:cNvPr id="17" name="Line 19"/>
            <p:cNvSpPr>
              <a:spLocks noChangeShapeType="1"/>
            </p:cNvSpPr>
            <p:nvPr/>
          </p:nvSpPr>
          <p:spPr bwMode="auto">
            <a:xfrm>
              <a:off x="1779" y="3156"/>
              <a:ext cx="684" cy="4"/>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18" name="Group 108"/>
          <p:cNvGrpSpPr/>
          <p:nvPr/>
        </p:nvGrpSpPr>
        <p:grpSpPr bwMode="auto">
          <a:xfrm>
            <a:off x="5538252" y="5005091"/>
            <a:ext cx="1227930" cy="1231900"/>
            <a:chOff x="3091" y="3160"/>
            <a:chExt cx="729" cy="776"/>
          </a:xfrm>
        </p:grpSpPr>
        <p:sp>
          <p:nvSpPr>
            <p:cNvPr id="19" name="Rectangle 10"/>
            <p:cNvSpPr>
              <a:spLocks noChangeArrowheads="1"/>
            </p:cNvSpPr>
            <p:nvPr/>
          </p:nvSpPr>
          <p:spPr bwMode="auto">
            <a:xfrm>
              <a:off x="3111" y="3182"/>
              <a:ext cx="709"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b="1" dirty="0">
                  <a:solidFill>
                    <a:srgbClr val="0000CC"/>
                  </a:solidFill>
                  <a:latin typeface="+mn-lt"/>
                  <a:ea typeface="黑体" panose="02010609060101010101" pitchFamily="2" charset="-122"/>
                </a:rPr>
                <a:t>接收</a:t>
              </a:r>
            </a:p>
            <a:p>
              <a:pPr defTabSz="762000" eaLnBrk="0" hangingPunct="0"/>
              <a:r>
                <a:rPr kumimoji="1" lang="zh-CN" altLang="en-US" sz="1800" b="1" dirty="0">
                  <a:solidFill>
                    <a:srgbClr val="0000CC"/>
                  </a:solidFill>
                  <a:latin typeface="+mn-lt"/>
                  <a:ea typeface="黑体" panose="02010609060101010101" pitchFamily="2" charset="-122"/>
                </a:rPr>
                <a:t>的信号</a:t>
              </a:r>
              <a:endParaRPr kumimoji="1" lang="en-US" altLang="zh-CN" b="1" dirty="0">
                <a:solidFill>
                  <a:srgbClr val="0000CC"/>
                </a:solidFill>
                <a:latin typeface="+mn-lt"/>
                <a:ea typeface="黑体" panose="02010609060101010101" pitchFamily="2" charset="-122"/>
              </a:endParaRPr>
            </a:p>
            <a:p>
              <a:pPr defTabSz="762000"/>
              <a:r>
                <a:rPr kumimoji="1" lang="en-US" altLang="zh-CN" b="1" dirty="0">
                  <a:solidFill>
                    <a:srgbClr val="0000CC"/>
                  </a:solidFill>
                  <a:ea typeface="黑体" panose="02010609060101010101" pitchFamily="2" charset="-122"/>
                </a:rPr>
                <a:t>(</a:t>
              </a:r>
              <a:r>
                <a:rPr kumimoji="1" lang="zh-CN" altLang="en-US" b="1" dirty="0">
                  <a:solidFill>
                    <a:srgbClr val="0000CC"/>
                  </a:solidFill>
                  <a:ea typeface="黑体" panose="02010609060101010101" pitchFamily="2" charset="-122"/>
                </a:rPr>
                <a:t>数字的或模拟的</a:t>
              </a:r>
              <a:r>
                <a:rPr kumimoji="1" lang="en-US" altLang="zh-CN" b="1" dirty="0">
                  <a:solidFill>
                    <a:srgbClr val="0000CC"/>
                  </a:solidFill>
                  <a:ea typeface="黑体" panose="02010609060101010101" pitchFamily="2" charset="-122"/>
                </a:rPr>
                <a:t>)</a:t>
              </a:r>
              <a:endParaRPr kumimoji="1" lang="zh-CN" altLang="en-US" b="1" dirty="0">
                <a:solidFill>
                  <a:srgbClr val="0000CC"/>
                </a:solidFill>
                <a:ea typeface="黑体" panose="02010609060101010101" pitchFamily="2" charset="-122"/>
              </a:endParaRPr>
            </a:p>
          </p:txBody>
        </p:sp>
        <p:sp>
          <p:nvSpPr>
            <p:cNvPr id="20" name="Line 20"/>
            <p:cNvSpPr>
              <a:spLocks noChangeShapeType="1"/>
            </p:cNvSpPr>
            <p:nvPr/>
          </p:nvSpPr>
          <p:spPr bwMode="auto">
            <a:xfrm>
              <a:off x="3091" y="3160"/>
              <a:ext cx="714"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21" name="Group 110"/>
          <p:cNvGrpSpPr/>
          <p:nvPr/>
        </p:nvGrpSpPr>
        <p:grpSpPr bwMode="auto">
          <a:xfrm>
            <a:off x="7648434" y="5005092"/>
            <a:ext cx="641483" cy="1262063"/>
            <a:chOff x="4318" y="3160"/>
            <a:chExt cx="373" cy="795"/>
          </a:xfrm>
        </p:grpSpPr>
        <p:sp>
          <p:nvSpPr>
            <p:cNvPr id="22" name="Rectangle 8"/>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输出数据</a:t>
              </a:r>
            </a:p>
          </p:txBody>
        </p:sp>
        <p:sp>
          <p:nvSpPr>
            <p:cNvPr id="23" name="Line 21"/>
            <p:cNvSpPr>
              <a:spLocks noChangeShapeType="1"/>
            </p:cNvSpPr>
            <p:nvPr/>
          </p:nvSpPr>
          <p:spPr bwMode="auto">
            <a:xfrm>
              <a:off x="4318" y="3160"/>
              <a:ext cx="336"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grpSp>
        <p:nvGrpSpPr>
          <p:cNvPr id="24" name="Group 103"/>
          <p:cNvGrpSpPr/>
          <p:nvPr/>
        </p:nvGrpSpPr>
        <p:grpSpPr bwMode="auto">
          <a:xfrm>
            <a:off x="922330" y="4641555"/>
            <a:ext cx="921808" cy="727075"/>
            <a:chOff x="407" y="2931"/>
            <a:chExt cx="536" cy="458"/>
          </a:xfrm>
        </p:grpSpPr>
        <p:sp>
          <p:nvSpPr>
            <p:cNvPr id="25" name="AutoShape 11"/>
            <p:cNvSpPr>
              <a:spLocks noChangeArrowheads="1"/>
            </p:cNvSpPr>
            <p:nvPr/>
          </p:nvSpPr>
          <p:spPr bwMode="auto">
            <a:xfrm>
              <a:off x="407" y="2931"/>
              <a:ext cx="536" cy="458"/>
            </a:xfrm>
            <a:prstGeom prst="cube">
              <a:avLst>
                <a:gd name="adj" fmla="val 13069"/>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26" name="Rectangle 22"/>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源点</a:t>
              </a:r>
            </a:p>
          </p:txBody>
        </p:sp>
      </p:grpSp>
      <p:grpSp>
        <p:nvGrpSpPr>
          <p:cNvPr id="27" name="Group 111"/>
          <p:cNvGrpSpPr/>
          <p:nvPr/>
        </p:nvGrpSpPr>
        <p:grpSpPr bwMode="auto">
          <a:xfrm>
            <a:off x="8226285" y="4641555"/>
            <a:ext cx="921808" cy="727075"/>
            <a:chOff x="4654" y="2931"/>
            <a:chExt cx="536" cy="458"/>
          </a:xfrm>
        </p:grpSpPr>
        <p:sp>
          <p:nvSpPr>
            <p:cNvPr id="28" name="AutoShape 15"/>
            <p:cNvSpPr>
              <a:spLocks noChangeArrowheads="1"/>
            </p:cNvSpPr>
            <p:nvPr/>
          </p:nvSpPr>
          <p:spPr bwMode="auto">
            <a:xfrm>
              <a:off x="4654" y="2931"/>
              <a:ext cx="536" cy="458"/>
            </a:xfrm>
            <a:prstGeom prst="cube">
              <a:avLst>
                <a:gd name="adj" fmla="val 13069"/>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29" name="Rectangle 23"/>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终点</a:t>
              </a:r>
            </a:p>
          </p:txBody>
        </p:sp>
      </p:grpSp>
      <p:grpSp>
        <p:nvGrpSpPr>
          <p:cNvPr id="30" name="Group 105"/>
          <p:cNvGrpSpPr/>
          <p:nvPr/>
        </p:nvGrpSpPr>
        <p:grpSpPr bwMode="auto">
          <a:xfrm>
            <a:off x="2334278" y="4641555"/>
            <a:ext cx="999200" cy="727075"/>
            <a:chOff x="1228" y="2931"/>
            <a:chExt cx="581" cy="458"/>
          </a:xfrm>
        </p:grpSpPr>
        <p:sp>
          <p:nvSpPr>
            <p:cNvPr id="31" name="AutoShape 12"/>
            <p:cNvSpPr>
              <a:spLocks noChangeArrowheads="1"/>
            </p:cNvSpPr>
            <p:nvPr/>
          </p:nvSpPr>
          <p:spPr bwMode="auto">
            <a:xfrm>
              <a:off x="1256" y="2931"/>
              <a:ext cx="537" cy="458"/>
            </a:xfrm>
            <a:prstGeom prst="cube">
              <a:avLst>
                <a:gd name="adj" fmla="val 13069"/>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2" name="Rectangle 24"/>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发送器</a:t>
              </a:r>
            </a:p>
          </p:txBody>
        </p:sp>
      </p:grpSp>
      <p:grpSp>
        <p:nvGrpSpPr>
          <p:cNvPr id="33" name="Group 109"/>
          <p:cNvGrpSpPr/>
          <p:nvPr/>
        </p:nvGrpSpPr>
        <p:grpSpPr bwMode="auto">
          <a:xfrm>
            <a:off x="6719747" y="4641555"/>
            <a:ext cx="999200" cy="727075"/>
            <a:chOff x="3778" y="2931"/>
            <a:chExt cx="581" cy="458"/>
          </a:xfrm>
        </p:grpSpPr>
        <p:sp>
          <p:nvSpPr>
            <p:cNvPr id="34" name="AutoShape 14"/>
            <p:cNvSpPr>
              <a:spLocks noChangeArrowheads="1"/>
            </p:cNvSpPr>
            <p:nvPr/>
          </p:nvSpPr>
          <p:spPr bwMode="auto">
            <a:xfrm>
              <a:off x="3805" y="2931"/>
              <a:ext cx="535" cy="458"/>
            </a:xfrm>
            <a:prstGeom prst="cube">
              <a:avLst>
                <a:gd name="adj" fmla="val 13069"/>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5" name="Rectangle 2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接收器</a:t>
              </a:r>
            </a:p>
          </p:txBody>
        </p:sp>
      </p:grpSp>
      <p:sp>
        <p:nvSpPr>
          <p:cNvPr id="36" name="Line 26"/>
          <p:cNvSpPr>
            <a:spLocks noChangeShapeType="1"/>
          </p:cNvSpPr>
          <p:nvPr/>
        </p:nvSpPr>
        <p:spPr bwMode="auto">
          <a:xfrm>
            <a:off x="2996399" y="3228679"/>
            <a:ext cx="3769783"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7" name="Line 27"/>
          <p:cNvSpPr>
            <a:spLocks noChangeShapeType="1"/>
          </p:cNvSpPr>
          <p:nvPr/>
        </p:nvSpPr>
        <p:spPr bwMode="auto">
          <a:xfrm>
            <a:off x="1691077" y="3228680"/>
            <a:ext cx="918369" cy="3175"/>
          </a:xfrm>
          <a:prstGeom prst="line">
            <a:avLst/>
          </a:prstGeom>
          <a:noFill/>
          <a:ln w="76200" cmpd="tri">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sp>
        <p:nvSpPr>
          <p:cNvPr id="38" name="Rectangle 28"/>
          <p:cNvSpPr>
            <a:spLocks noChangeArrowheads="1"/>
          </p:cNvSpPr>
          <p:nvPr/>
        </p:nvSpPr>
        <p:spPr bwMode="auto">
          <a:xfrm>
            <a:off x="2055672" y="3446166"/>
            <a:ext cx="146698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调制解调器</a:t>
            </a:r>
          </a:p>
        </p:txBody>
      </p:sp>
      <p:sp>
        <p:nvSpPr>
          <p:cNvPr id="39" name="Line 29"/>
          <p:cNvSpPr>
            <a:spLocks noChangeShapeType="1"/>
          </p:cNvSpPr>
          <p:nvPr/>
        </p:nvSpPr>
        <p:spPr bwMode="auto">
          <a:xfrm>
            <a:off x="7380147" y="3228679"/>
            <a:ext cx="999200" cy="0"/>
          </a:xfrm>
          <a:prstGeom prst="line">
            <a:avLst/>
          </a:prstGeom>
          <a:noFill/>
          <a:ln w="76200" cmpd="tri">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anose="02010609060101010101" pitchFamily="2" charset="-122"/>
            </a:endParaRPr>
          </a:p>
        </p:txBody>
      </p:sp>
      <p:grpSp>
        <p:nvGrpSpPr>
          <p:cNvPr id="40" name="Group 80"/>
          <p:cNvGrpSpPr/>
          <p:nvPr/>
        </p:nvGrpSpPr>
        <p:grpSpPr bwMode="auto">
          <a:xfrm>
            <a:off x="4160697" y="2696866"/>
            <a:ext cx="1714633" cy="1009650"/>
            <a:chOff x="385" y="2795"/>
            <a:chExt cx="1769" cy="816"/>
          </a:xfrm>
        </p:grpSpPr>
        <p:sp>
          <p:nvSpPr>
            <p:cNvPr id="41"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2"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3"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4"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5"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6"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7"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8"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49"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0"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1"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2"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3"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4"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5"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6"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b="1">
                <a:solidFill>
                  <a:srgbClr val="0000CC"/>
                </a:solidFill>
                <a:latin typeface="+mn-lt"/>
                <a:ea typeface="黑体" panose="02010609060101010101" pitchFamily="2" charset="-122"/>
              </a:endParaRPr>
            </a:p>
          </p:txBody>
        </p:sp>
        <p:sp>
          <p:nvSpPr>
            <p:cNvPr id="57" name="Freeform 97"/>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sp>
        <p:nvSpPr>
          <p:cNvPr id="58" name="Rectangle 42"/>
          <p:cNvSpPr>
            <a:spLocks noChangeArrowheads="1"/>
          </p:cNvSpPr>
          <p:nvPr/>
        </p:nvSpPr>
        <p:spPr bwMode="auto">
          <a:xfrm>
            <a:off x="1113226" y="3519191"/>
            <a:ext cx="942446"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b="1">
                <a:solidFill>
                  <a:srgbClr val="0000CC"/>
                </a:solidFill>
                <a:latin typeface="+mn-lt"/>
                <a:ea typeface="黑体" panose="02010609060101010101" pitchFamily="2" charset="-122"/>
              </a:rPr>
              <a:t>PC </a:t>
            </a:r>
          </a:p>
        </p:txBody>
      </p:sp>
      <p:sp>
        <p:nvSpPr>
          <p:cNvPr id="59" name="Rectangle 43"/>
          <p:cNvSpPr>
            <a:spLocks noChangeArrowheads="1"/>
          </p:cNvSpPr>
          <p:nvPr/>
        </p:nvSpPr>
        <p:spPr bwMode="auto">
          <a:xfrm>
            <a:off x="4351595" y="3054055"/>
            <a:ext cx="13369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公用电话网</a:t>
            </a:r>
          </a:p>
        </p:txBody>
      </p:sp>
      <p:pic>
        <p:nvPicPr>
          <p:cNvPr id="60" name="Picture 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432" y="2990555"/>
            <a:ext cx="923529"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7112" y="2844505"/>
            <a:ext cx="76702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 name="Rectangle 46"/>
          <p:cNvSpPr>
            <a:spLocks noChangeArrowheads="1"/>
          </p:cNvSpPr>
          <p:nvPr/>
        </p:nvSpPr>
        <p:spPr bwMode="auto">
          <a:xfrm>
            <a:off x="6380949" y="3474741"/>
            <a:ext cx="146010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调制解调器</a:t>
            </a:r>
          </a:p>
        </p:txBody>
      </p:sp>
      <p:grpSp>
        <p:nvGrpSpPr>
          <p:cNvPr id="63" name="Group 47"/>
          <p:cNvGrpSpPr/>
          <p:nvPr/>
        </p:nvGrpSpPr>
        <p:grpSpPr bwMode="auto">
          <a:xfrm>
            <a:off x="3228570" y="2795292"/>
            <a:ext cx="706835" cy="339725"/>
            <a:chOff x="2315" y="3965"/>
            <a:chExt cx="496" cy="254"/>
          </a:xfrm>
        </p:grpSpPr>
        <p:sp>
          <p:nvSpPr>
            <p:cNvPr id="64" name="Freeform 48"/>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65" name="Freeform 49"/>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66" name="Freeform 50"/>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67" name="Freeform 51"/>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grpSp>
      <p:sp>
        <p:nvSpPr>
          <p:cNvPr id="68" name="Freeform 52"/>
          <p:cNvSpPr/>
          <p:nvPr/>
        </p:nvSpPr>
        <p:spPr bwMode="auto">
          <a:xfrm>
            <a:off x="1809742" y="2896891"/>
            <a:ext cx="803142"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69" name="Rectangle 53"/>
          <p:cNvSpPr>
            <a:spLocks noChangeArrowheads="1"/>
          </p:cNvSpPr>
          <p:nvPr/>
        </p:nvSpPr>
        <p:spPr bwMode="auto">
          <a:xfrm>
            <a:off x="1508779" y="2409530"/>
            <a:ext cx="157189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数字比特流</a:t>
            </a:r>
          </a:p>
        </p:txBody>
      </p:sp>
      <p:sp>
        <p:nvSpPr>
          <p:cNvPr id="70" name="Rectangle 54"/>
          <p:cNvSpPr>
            <a:spLocks noChangeArrowheads="1"/>
          </p:cNvSpPr>
          <p:nvPr/>
        </p:nvSpPr>
        <p:spPr bwMode="auto">
          <a:xfrm>
            <a:off x="7225366" y="2409530"/>
            <a:ext cx="1539214"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数字比特流</a:t>
            </a:r>
          </a:p>
        </p:txBody>
      </p:sp>
      <p:sp>
        <p:nvSpPr>
          <p:cNvPr id="71" name="Rectangle 55"/>
          <p:cNvSpPr>
            <a:spLocks noChangeArrowheads="1"/>
          </p:cNvSpPr>
          <p:nvPr/>
        </p:nvSpPr>
        <p:spPr bwMode="auto">
          <a:xfrm>
            <a:off x="3068630" y="2409530"/>
            <a:ext cx="1305321"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模拟信号</a:t>
            </a:r>
          </a:p>
        </p:txBody>
      </p:sp>
      <p:sp>
        <p:nvSpPr>
          <p:cNvPr id="72" name="Rectangle 56"/>
          <p:cNvSpPr>
            <a:spLocks noChangeArrowheads="1"/>
          </p:cNvSpPr>
          <p:nvPr/>
        </p:nvSpPr>
        <p:spPr bwMode="auto">
          <a:xfrm>
            <a:off x="5882209" y="2409530"/>
            <a:ext cx="13208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模拟信号 </a:t>
            </a:r>
          </a:p>
        </p:txBody>
      </p:sp>
      <p:sp>
        <p:nvSpPr>
          <p:cNvPr id="73" name="Rectangle 57"/>
          <p:cNvSpPr>
            <a:spLocks noChangeArrowheads="1"/>
          </p:cNvSpPr>
          <p:nvPr/>
        </p:nvSpPr>
        <p:spPr bwMode="auto">
          <a:xfrm>
            <a:off x="538816" y="2409530"/>
            <a:ext cx="76874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输入</a:t>
            </a:r>
          </a:p>
          <a:p>
            <a:pPr algn="l" defTabSz="762000" eaLnBrk="0" hangingPunct="0"/>
            <a:r>
              <a:rPr kumimoji="1" lang="zh-CN" altLang="en-US" sz="1800" b="1">
                <a:solidFill>
                  <a:srgbClr val="0000CC"/>
                </a:solidFill>
                <a:latin typeface="+mn-lt"/>
                <a:ea typeface="黑体" panose="02010609060101010101" pitchFamily="2" charset="-122"/>
              </a:rPr>
              <a:t>汉字</a:t>
            </a:r>
          </a:p>
        </p:txBody>
      </p:sp>
      <p:sp>
        <p:nvSpPr>
          <p:cNvPr id="74" name="Rectangle 58"/>
          <p:cNvSpPr>
            <a:spLocks noChangeArrowheads="1"/>
          </p:cNvSpPr>
          <p:nvPr/>
        </p:nvSpPr>
        <p:spPr bwMode="auto">
          <a:xfrm>
            <a:off x="8917641" y="2409530"/>
            <a:ext cx="76874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显示</a:t>
            </a:r>
          </a:p>
          <a:p>
            <a:pPr algn="l" defTabSz="762000" eaLnBrk="0" hangingPunct="0"/>
            <a:r>
              <a:rPr kumimoji="1" lang="zh-CN" altLang="en-US" sz="1800" b="1">
                <a:solidFill>
                  <a:srgbClr val="0000CC"/>
                </a:solidFill>
                <a:latin typeface="+mn-lt"/>
                <a:ea typeface="黑体" panose="02010609060101010101" pitchFamily="2" charset="-122"/>
              </a:rPr>
              <a:t>汉字</a:t>
            </a:r>
          </a:p>
        </p:txBody>
      </p:sp>
      <p:sp>
        <p:nvSpPr>
          <p:cNvPr id="75" name="Freeform 59"/>
          <p:cNvSpPr/>
          <p:nvPr/>
        </p:nvSpPr>
        <p:spPr bwMode="auto">
          <a:xfrm>
            <a:off x="7421422" y="2917529"/>
            <a:ext cx="804863"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nvGrpSpPr>
          <p:cNvPr id="76" name="Group 60"/>
          <p:cNvGrpSpPr/>
          <p:nvPr/>
        </p:nvGrpSpPr>
        <p:grpSpPr bwMode="auto">
          <a:xfrm>
            <a:off x="6057628" y="2795292"/>
            <a:ext cx="708554" cy="339725"/>
            <a:chOff x="2315" y="3965"/>
            <a:chExt cx="496" cy="254"/>
          </a:xfrm>
        </p:grpSpPr>
        <p:sp>
          <p:nvSpPr>
            <p:cNvPr id="77" name="Freeform 61"/>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78" name="Freeform 62"/>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79" name="Freeform 63"/>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sp>
          <p:nvSpPr>
            <p:cNvPr id="80" name="Freeform 64"/>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anose="02010609060101010101" pitchFamily="2" charset="-122"/>
              </a:endParaRPr>
            </a:p>
          </p:txBody>
        </p:sp>
      </p:grpSp>
      <p:grpSp>
        <p:nvGrpSpPr>
          <p:cNvPr id="81" name="Group 113"/>
          <p:cNvGrpSpPr/>
          <p:nvPr/>
        </p:nvGrpSpPr>
        <p:grpSpPr bwMode="auto">
          <a:xfrm>
            <a:off x="632520" y="1988840"/>
            <a:ext cx="8918838" cy="420689"/>
            <a:chOff x="317" y="1260"/>
            <a:chExt cx="4873" cy="229"/>
          </a:xfrm>
        </p:grpSpPr>
        <p:sp>
          <p:nvSpPr>
            <p:cNvPr id="82" name="Line 65"/>
            <p:cNvSpPr>
              <a:spLocks noChangeShapeType="1"/>
            </p:cNvSpPr>
            <p:nvPr/>
          </p:nvSpPr>
          <p:spPr bwMode="auto">
            <a:xfrm>
              <a:off x="317" y="1373"/>
              <a:ext cx="4873"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83" name="Rectangle 66"/>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数据通信系统</a:t>
              </a:r>
            </a:p>
          </p:txBody>
        </p:sp>
      </p:grpSp>
      <p:grpSp>
        <p:nvGrpSpPr>
          <p:cNvPr id="84" name="Group 99"/>
          <p:cNvGrpSpPr/>
          <p:nvPr/>
        </p:nvGrpSpPr>
        <p:grpSpPr bwMode="auto">
          <a:xfrm>
            <a:off x="691877" y="3308055"/>
            <a:ext cx="3074988" cy="1660525"/>
            <a:chOff x="273" y="2091"/>
            <a:chExt cx="1788" cy="1046"/>
          </a:xfrm>
        </p:grpSpPr>
        <p:sp>
          <p:nvSpPr>
            <p:cNvPr id="85" name="Line 68"/>
            <p:cNvSpPr>
              <a:spLocks noChangeShapeType="1"/>
            </p:cNvSpPr>
            <p:nvPr/>
          </p:nvSpPr>
          <p:spPr bwMode="auto">
            <a:xfrm>
              <a:off x="2061" y="2091"/>
              <a:ext cx="0" cy="1046"/>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nvGrpSpPr>
            <p:cNvPr id="86" name="Group 98"/>
            <p:cNvGrpSpPr/>
            <p:nvPr/>
          </p:nvGrpSpPr>
          <p:grpSpPr bwMode="auto">
            <a:xfrm>
              <a:off x="273" y="2523"/>
              <a:ext cx="1788" cy="237"/>
              <a:chOff x="273" y="2523"/>
              <a:chExt cx="1788" cy="237"/>
            </a:xfrm>
          </p:grpSpPr>
          <p:sp>
            <p:nvSpPr>
              <p:cNvPr id="87"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88" name="Rectangle 71"/>
              <p:cNvSpPr>
                <a:spLocks noChangeArrowheads="1"/>
              </p:cNvSpPr>
              <p:nvPr/>
            </p:nvSpPr>
            <p:spPr bwMode="auto">
              <a:xfrm>
                <a:off x="854" y="2523"/>
                <a:ext cx="620" cy="237"/>
              </a:xfrm>
              <a:prstGeom prst="rect">
                <a:avLst/>
              </a:prstGeom>
              <a:solidFill>
                <a:srgbClr val="FFFF00"/>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800" b="1">
                    <a:solidFill>
                      <a:srgbClr val="0000CC"/>
                    </a:solidFill>
                    <a:latin typeface="+mn-lt"/>
                    <a:ea typeface="黑体" panose="02010609060101010101" pitchFamily="2" charset="-122"/>
                  </a:rPr>
                  <a:t>源系统</a:t>
                </a:r>
              </a:p>
            </p:txBody>
          </p:sp>
        </p:grpSp>
      </p:grpSp>
      <p:grpSp>
        <p:nvGrpSpPr>
          <p:cNvPr id="89" name="Group 101"/>
          <p:cNvGrpSpPr/>
          <p:nvPr/>
        </p:nvGrpSpPr>
        <p:grpSpPr bwMode="auto">
          <a:xfrm>
            <a:off x="6226168" y="4009730"/>
            <a:ext cx="3076707" cy="376237"/>
            <a:chOff x="3491" y="2533"/>
            <a:chExt cx="1789" cy="237"/>
          </a:xfrm>
        </p:grpSpPr>
        <p:sp>
          <p:nvSpPr>
            <p:cNvPr id="90"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91" name="Rectangle 73"/>
            <p:cNvSpPr>
              <a:spLocks noChangeArrowheads="1"/>
            </p:cNvSpPr>
            <p:nvPr/>
          </p:nvSpPr>
          <p:spPr bwMode="auto">
            <a:xfrm>
              <a:off x="4028" y="2533"/>
              <a:ext cx="712" cy="237"/>
            </a:xfrm>
            <a:prstGeom prst="rect">
              <a:avLst/>
            </a:prstGeom>
            <a:solidFill>
              <a:srgbClr val="FF99FF"/>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anose="02010609060101010101" pitchFamily="2" charset="-122"/>
                </a:rPr>
                <a:t>目的系统</a:t>
              </a:r>
            </a:p>
          </p:txBody>
        </p:sp>
      </p:grpSp>
      <p:grpSp>
        <p:nvGrpSpPr>
          <p:cNvPr id="92" name="Group 100"/>
          <p:cNvGrpSpPr/>
          <p:nvPr/>
        </p:nvGrpSpPr>
        <p:grpSpPr bwMode="auto">
          <a:xfrm>
            <a:off x="3766866" y="3279479"/>
            <a:ext cx="2459302" cy="1725612"/>
            <a:chOff x="2061" y="2073"/>
            <a:chExt cx="1430" cy="1087"/>
          </a:xfrm>
        </p:grpSpPr>
        <p:sp>
          <p:nvSpPr>
            <p:cNvPr id="93"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sp>
          <p:nvSpPr>
            <p:cNvPr id="94" name="Rectangle 72"/>
            <p:cNvSpPr>
              <a:spLocks noChangeArrowheads="1"/>
            </p:cNvSpPr>
            <p:nvPr/>
          </p:nvSpPr>
          <p:spPr bwMode="auto">
            <a:xfrm>
              <a:off x="2418" y="2533"/>
              <a:ext cx="734" cy="237"/>
            </a:xfrm>
            <a:prstGeom prst="rect">
              <a:avLst/>
            </a:prstGeom>
            <a:solidFill>
              <a:srgbClr val="66FFFF"/>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传输系统</a:t>
              </a:r>
            </a:p>
          </p:txBody>
        </p:sp>
        <p:sp>
          <p:nvSpPr>
            <p:cNvPr id="95" name="Line 74"/>
            <p:cNvSpPr>
              <a:spLocks noChangeShapeType="1"/>
            </p:cNvSpPr>
            <p:nvPr/>
          </p:nvSpPr>
          <p:spPr bwMode="auto">
            <a:xfrm flipH="1">
              <a:off x="3486" y="2073"/>
              <a:ext cx="5" cy="1087"/>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pic>
        <p:nvPicPr>
          <p:cNvPr id="96"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1401" y="3041355"/>
            <a:ext cx="92352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6285" y="2844505"/>
            <a:ext cx="76874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98" name="Group 112"/>
          <p:cNvGrpSpPr/>
          <p:nvPr/>
        </p:nvGrpSpPr>
        <p:grpSpPr bwMode="auto">
          <a:xfrm>
            <a:off x="9110257" y="5005092"/>
            <a:ext cx="667279" cy="1262063"/>
            <a:chOff x="5168" y="3160"/>
            <a:chExt cx="388" cy="795"/>
          </a:xfrm>
        </p:grpSpPr>
        <p:sp>
          <p:nvSpPr>
            <p:cNvPr id="99" name="Rectangle 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anose="02010609060101010101" pitchFamily="2" charset="-122"/>
                </a:rPr>
                <a:t>输出信息</a:t>
              </a:r>
            </a:p>
          </p:txBody>
        </p:sp>
        <p:sp>
          <p:nvSpPr>
            <p:cNvPr id="100" name="Line 77"/>
            <p:cNvSpPr>
              <a:spLocks noChangeShapeType="1"/>
            </p:cNvSpPr>
            <p:nvPr/>
          </p:nvSpPr>
          <p:spPr bwMode="auto">
            <a:xfrm>
              <a:off x="5168" y="3160"/>
              <a:ext cx="335"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anose="02010609060101010101" pitchFamily="2" charset="-122"/>
              </a:endParaRPr>
            </a:p>
          </p:txBody>
        </p:sp>
      </p:grpSp>
      <p:sp>
        <p:nvSpPr>
          <p:cNvPr id="101" name="Rectangle 79"/>
          <p:cNvSpPr>
            <a:spLocks noChangeArrowheads="1"/>
          </p:cNvSpPr>
          <p:nvPr/>
        </p:nvSpPr>
        <p:spPr bwMode="auto">
          <a:xfrm>
            <a:off x="8348391" y="3516016"/>
            <a:ext cx="88397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b="1">
                <a:solidFill>
                  <a:srgbClr val="0000CC"/>
                </a:solidFill>
                <a:latin typeface="+mn-lt"/>
                <a:ea typeface="黑体" panose="02010609060101010101" pitchFamily="2" charset="-122"/>
              </a:rPr>
              <a:t>PC</a:t>
            </a:r>
          </a:p>
        </p:txBody>
      </p:sp>
      <p:sp>
        <p:nvSpPr>
          <p:cNvPr id="4" name="矩形 3"/>
          <p:cNvSpPr/>
          <p:nvPr/>
        </p:nvSpPr>
        <p:spPr>
          <a:xfrm>
            <a:off x="3080792" y="6238579"/>
            <a:ext cx="3685390" cy="461665"/>
          </a:xfrm>
          <a:prstGeom prst="rect">
            <a:avLst/>
          </a:prstGeom>
        </p:spPr>
        <p:txBody>
          <a:bodyPr wrap="square">
            <a:spAutoFit/>
          </a:bodyPr>
          <a:lstStyle/>
          <a:p>
            <a:pPr algn="ctr"/>
            <a:r>
              <a:rPr lang="zh-CN" altLang="zh-CN" sz="2400" b="1" dirty="0">
                <a:latin typeface="+mn-lt"/>
                <a:ea typeface="黑体" panose="02010609060101010101" pitchFamily="2" charset="-122"/>
              </a:rPr>
              <a:t>数据通信系统的模型</a:t>
            </a:r>
            <a:endParaRPr lang="zh-CN" altLang="en-US" sz="2400" b="1" dirty="0">
              <a:latin typeface="+mn-lt"/>
              <a:ea typeface="黑体" panose="0201060906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zh-CN" altLang="en-US" dirty="0"/>
              <a:t>常用术语</a:t>
            </a:r>
          </a:p>
        </p:txBody>
      </p:sp>
      <p:sp>
        <p:nvSpPr>
          <p:cNvPr id="28675" name="Rectangle 3"/>
          <p:cNvSpPr>
            <a:spLocks noGrp="1" noChangeArrowheads="1"/>
          </p:cNvSpPr>
          <p:nvPr>
            <p:ph idx="1"/>
          </p:nvPr>
        </p:nvSpPr>
        <p:spPr/>
        <p:txBody>
          <a:bodyPr/>
          <a:lstStyle/>
          <a:p>
            <a:pPr>
              <a:lnSpc>
                <a:spcPct val="120000"/>
              </a:lnSpc>
            </a:pPr>
            <a:r>
              <a:rPr lang="zh-CN" altLang="en-US" sz="2800" dirty="0">
                <a:solidFill>
                  <a:srgbClr val="0000CC"/>
                </a:solidFill>
              </a:rPr>
              <a:t>消息 </a:t>
            </a:r>
            <a:r>
              <a:rPr lang="en-US" altLang="zh-CN" sz="2800" dirty="0">
                <a:solidFill>
                  <a:srgbClr val="0000CC"/>
                </a:solidFill>
              </a:rPr>
              <a:t>(message)</a:t>
            </a:r>
            <a:r>
              <a:rPr lang="en-US" altLang="zh-CN" sz="2800" dirty="0"/>
              <a:t> ——</a:t>
            </a:r>
            <a:r>
              <a:rPr lang="zh-CN" altLang="en-US" sz="2800" dirty="0"/>
              <a:t>文字、图片等有意义的内容。</a:t>
            </a:r>
            <a:endParaRPr lang="en-US" altLang="zh-CN" sz="2800" dirty="0">
              <a:solidFill>
                <a:srgbClr val="0000CC"/>
              </a:solidFill>
            </a:endParaRPr>
          </a:p>
          <a:p>
            <a:pPr>
              <a:lnSpc>
                <a:spcPct val="120000"/>
              </a:lnSpc>
            </a:pPr>
            <a:r>
              <a:rPr lang="zh-CN" altLang="en-US" sz="2800" dirty="0">
                <a:solidFill>
                  <a:srgbClr val="0000CC"/>
                </a:solidFill>
              </a:rPr>
              <a:t>数据 </a:t>
            </a:r>
            <a:r>
              <a:rPr lang="en-US" altLang="zh-CN" sz="2800" dirty="0">
                <a:solidFill>
                  <a:srgbClr val="0000CC"/>
                </a:solidFill>
              </a:rPr>
              <a:t>(data) </a:t>
            </a:r>
            <a:r>
              <a:rPr lang="en-US" altLang="zh-CN" sz="2800" dirty="0"/>
              <a:t>—— </a:t>
            </a:r>
            <a:r>
              <a:rPr lang="zh-CN" altLang="en-US" sz="2800" dirty="0"/>
              <a:t>运送消息的实体。</a:t>
            </a:r>
          </a:p>
          <a:p>
            <a:pPr lvl="1">
              <a:lnSpc>
                <a:spcPct val="120000"/>
              </a:lnSpc>
            </a:pPr>
            <a:r>
              <a:rPr lang="zh-CN" altLang="en-US" dirty="0">
                <a:solidFill>
                  <a:srgbClr val="C00000"/>
                </a:solidFill>
              </a:rPr>
              <a:t>模拟数据</a:t>
            </a:r>
            <a:r>
              <a:rPr lang="en-US" altLang="zh-CN" dirty="0">
                <a:solidFill>
                  <a:srgbClr val="C00000"/>
                </a:solidFill>
                <a:sym typeface="+mn-ea"/>
              </a:rPr>
              <a:t>——</a:t>
            </a:r>
            <a:r>
              <a:rPr lang="zh-CN" altLang="en-US" dirty="0">
                <a:solidFill>
                  <a:srgbClr val="C00000"/>
                </a:solidFill>
                <a:sym typeface="+mn-ea"/>
              </a:rPr>
              <a:t>数据的取值连续变化</a:t>
            </a:r>
          </a:p>
          <a:p>
            <a:pPr lvl="1">
              <a:lnSpc>
                <a:spcPct val="120000"/>
              </a:lnSpc>
            </a:pPr>
            <a:r>
              <a:rPr lang="zh-CN" altLang="en-US" dirty="0">
                <a:solidFill>
                  <a:srgbClr val="C00000"/>
                </a:solidFill>
                <a:sym typeface="+mn-ea"/>
              </a:rPr>
              <a:t>数字数据</a:t>
            </a:r>
            <a:r>
              <a:rPr lang="en-US" altLang="zh-CN" dirty="0">
                <a:solidFill>
                  <a:srgbClr val="C00000"/>
                </a:solidFill>
                <a:sym typeface="+mn-ea"/>
              </a:rPr>
              <a:t>——</a:t>
            </a:r>
            <a:r>
              <a:rPr lang="zh-CN" altLang="en-US" dirty="0">
                <a:solidFill>
                  <a:srgbClr val="C00000"/>
                </a:solidFill>
                <a:sym typeface="+mn-ea"/>
              </a:rPr>
              <a:t>数据的取值为不连续数值</a:t>
            </a:r>
            <a:endParaRPr lang="zh-CN" altLang="en-US" dirty="0">
              <a:solidFill>
                <a:srgbClr val="C00000"/>
              </a:solidFill>
            </a:endParaRPr>
          </a:p>
          <a:p>
            <a:pPr>
              <a:lnSpc>
                <a:spcPct val="120000"/>
              </a:lnSpc>
            </a:pPr>
            <a:r>
              <a:rPr lang="zh-CN" altLang="en-US" sz="2800" dirty="0">
                <a:solidFill>
                  <a:srgbClr val="0000CC"/>
                </a:solidFill>
              </a:rPr>
              <a:t>信号 </a:t>
            </a:r>
            <a:r>
              <a:rPr lang="en-US" altLang="zh-CN" sz="2800" dirty="0">
                <a:solidFill>
                  <a:srgbClr val="0000CC"/>
                </a:solidFill>
              </a:rPr>
              <a:t>(signal) </a:t>
            </a:r>
            <a:r>
              <a:rPr lang="en-US" altLang="zh-CN" sz="2800" dirty="0"/>
              <a:t>—— </a:t>
            </a:r>
            <a:r>
              <a:rPr lang="zh-CN" altLang="en-US" sz="2800" dirty="0"/>
              <a:t>数据的电气的或电磁的表现，是数据的载体，是数据在传输介质上传输过程中的表示形式。 </a:t>
            </a:r>
          </a:p>
          <a:p>
            <a:pPr>
              <a:lnSpc>
                <a:spcPct val="120000"/>
              </a:lnSpc>
            </a:pPr>
            <a:r>
              <a:rPr lang="zh-CN" altLang="en-US" sz="2800" dirty="0">
                <a:solidFill>
                  <a:srgbClr val="0000CC"/>
                </a:solidFill>
                <a:sym typeface="+mn-ea"/>
              </a:rPr>
              <a:t>数据通信</a:t>
            </a:r>
            <a:r>
              <a:rPr lang="en-US" altLang="zh-CN" sz="2800" dirty="0">
                <a:solidFill>
                  <a:srgbClr val="0000CC"/>
                </a:solidFill>
                <a:sym typeface="+mn-ea"/>
              </a:rPr>
              <a:t> </a:t>
            </a:r>
            <a:r>
              <a:rPr lang="en-US" altLang="zh-CN" sz="2800" dirty="0">
                <a:sym typeface="+mn-ea"/>
              </a:rPr>
              <a:t>——</a:t>
            </a:r>
            <a:r>
              <a:rPr lang="zh-CN" altLang="en-US" sz="2800" dirty="0">
                <a:sym typeface="+mn-ea"/>
              </a:rPr>
              <a:t>指在不同计算机之间传送表示字母、数字、符号的二进制代码</a:t>
            </a:r>
            <a:r>
              <a:rPr lang="en-US" altLang="zh-CN" sz="2800" dirty="0">
                <a:sym typeface="+mn-ea"/>
              </a:rPr>
              <a:t>0</a:t>
            </a:r>
            <a:r>
              <a:rPr lang="zh-CN" altLang="en-US" sz="2800" dirty="0">
                <a:sym typeface="+mn-ea"/>
              </a:rPr>
              <a:t>，</a:t>
            </a:r>
            <a:r>
              <a:rPr lang="en-US" altLang="zh-CN" sz="2800" dirty="0">
                <a:sym typeface="+mn-ea"/>
              </a:rPr>
              <a:t>1</a:t>
            </a:r>
            <a:r>
              <a:rPr lang="zh-CN" altLang="en-US" sz="2800" dirty="0">
                <a:sym typeface="+mn-ea"/>
              </a:rPr>
              <a:t>比特序列的</a:t>
            </a:r>
            <a:r>
              <a:rPr lang="zh-CN" altLang="en-US" sz="2800" dirty="0">
                <a:solidFill>
                  <a:srgbClr val="C00000"/>
                </a:solidFill>
                <a:sym typeface="+mn-ea"/>
              </a:rPr>
              <a:t>模拟或数字信号</a:t>
            </a:r>
            <a:r>
              <a:rPr lang="zh-CN" altLang="en-US" sz="2800" dirty="0">
                <a:sym typeface="+mn-ea"/>
              </a:rPr>
              <a:t>的过程。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zh-CN" altLang="en-US" dirty="0"/>
              <a:t>常用术语</a:t>
            </a:r>
          </a:p>
        </p:txBody>
      </p:sp>
      <p:sp>
        <p:nvSpPr>
          <p:cNvPr id="28675" name="Rectangle 3"/>
          <p:cNvSpPr>
            <a:spLocks noGrp="1" noChangeArrowheads="1"/>
          </p:cNvSpPr>
          <p:nvPr>
            <p:ph idx="1"/>
          </p:nvPr>
        </p:nvSpPr>
        <p:spPr>
          <a:xfrm>
            <a:off x="495300" y="1196975"/>
            <a:ext cx="9065895" cy="5530850"/>
          </a:xfrm>
        </p:spPr>
        <p:txBody>
          <a:bodyPr/>
          <a:lstStyle/>
          <a:p>
            <a:pPr>
              <a:lnSpc>
                <a:spcPct val="120000"/>
              </a:lnSpc>
            </a:pPr>
            <a:r>
              <a:rPr lang="zh-CN" altLang="en-US" sz="2800" dirty="0">
                <a:solidFill>
                  <a:srgbClr val="0000CC"/>
                </a:solidFill>
                <a:sym typeface="+mn-ea"/>
              </a:rPr>
              <a:t>模拟信号 </a:t>
            </a:r>
            <a:r>
              <a:rPr lang="en-US" altLang="zh-CN" sz="2800" dirty="0">
                <a:solidFill>
                  <a:srgbClr val="0000CC"/>
                </a:solidFill>
                <a:sym typeface="+mn-ea"/>
              </a:rPr>
              <a:t>(analogous signal) </a:t>
            </a:r>
            <a:r>
              <a:rPr lang="en-US" altLang="zh-CN" sz="2800" dirty="0">
                <a:sym typeface="+mn-ea"/>
              </a:rPr>
              <a:t>—— </a:t>
            </a:r>
            <a:r>
              <a:rPr lang="zh-CN" altLang="en-US" sz="2800" dirty="0">
                <a:sym typeface="+mn-ea"/>
              </a:rPr>
              <a:t>代表消息的参数的取值是连续的，信号的电平是连续变化的。</a:t>
            </a:r>
            <a:endParaRPr lang="zh-CN" altLang="en-US" sz="2800" dirty="0"/>
          </a:p>
          <a:p>
            <a:pPr>
              <a:lnSpc>
                <a:spcPct val="120000"/>
              </a:lnSpc>
            </a:pPr>
            <a:r>
              <a:rPr lang="zh-CN" altLang="en-US" sz="2800" dirty="0">
                <a:solidFill>
                  <a:srgbClr val="0000CC"/>
                </a:solidFill>
                <a:sym typeface="+mn-ea"/>
              </a:rPr>
              <a:t>数字信号 </a:t>
            </a:r>
            <a:r>
              <a:rPr lang="en-US" altLang="zh-CN" sz="2800" dirty="0">
                <a:solidFill>
                  <a:srgbClr val="0000CC"/>
                </a:solidFill>
                <a:sym typeface="+mn-ea"/>
              </a:rPr>
              <a:t>(digital signal) </a:t>
            </a:r>
            <a:r>
              <a:rPr lang="en-US" altLang="zh-CN" sz="2800" dirty="0">
                <a:sym typeface="+mn-ea"/>
              </a:rPr>
              <a:t>—— </a:t>
            </a:r>
            <a:r>
              <a:rPr lang="zh-CN" altLang="en-US" sz="2800" dirty="0">
                <a:sym typeface="+mn-ea"/>
              </a:rPr>
              <a:t>代表消息的参数的取值是离散的。 </a:t>
            </a:r>
            <a:endParaRPr lang="zh-CN" altLang="en-US" sz="2800" dirty="0"/>
          </a:p>
          <a:p>
            <a:pPr>
              <a:lnSpc>
                <a:spcPct val="120000"/>
              </a:lnSpc>
            </a:pPr>
            <a:r>
              <a:rPr lang="zh-CN" altLang="en-US" sz="2800" dirty="0">
                <a:solidFill>
                  <a:srgbClr val="0000CC"/>
                </a:solidFill>
                <a:sym typeface="+mn-ea"/>
              </a:rPr>
              <a:t>码元 </a:t>
            </a:r>
            <a:r>
              <a:rPr lang="en-US" altLang="zh-CN" sz="2800" dirty="0">
                <a:solidFill>
                  <a:srgbClr val="0000CC"/>
                </a:solidFill>
                <a:sym typeface="+mn-ea"/>
              </a:rPr>
              <a:t>(code) </a:t>
            </a:r>
            <a:r>
              <a:rPr lang="en-US" altLang="zh-CN" sz="2800" dirty="0">
                <a:sym typeface="+mn-ea"/>
              </a:rPr>
              <a:t>—— </a:t>
            </a:r>
            <a:r>
              <a:rPr lang="zh-CN" altLang="en-US" sz="2800" dirty="0">
                <a:sym typeface="+mn-ea"/>
              </a:rPr>
              <a:t>在使用时间域（或简称为时域）的波形表示数字信号时，代表不同离散数值的基本波形。</a:t>
            </a:r>
            <a:endParaRPr lang="zh-CN" altLang="en-US" sz="2800" dirty="0"/>
          </a:p>
          <a:p>
            <a:pPr marL="0" indent="0">
              <a:lnSpc>
                <a:spcPct val="120000"/>
              </a:lnSpc>
              <a:buNone/>
            </a:pPr>
            <a:endParaRPr lang="zh-CN" altLang="en-US" sz="2800" dirty="0"/>
          </a:p>
        </p:txBody>
      </p:sp>
      <p:pic>
        <p:nvPicPr>
          <p:cNvPr id="11" name="图片 10"/>
          <p:cNvPicPr>
            <a:picLocks noChangeAspect="1"/>
          </p:cNvPicPr>
          <p:nvPr/>
        </p:nvPicPr>
        <p:blipFill>
          <a:blip r:embed="rId3"/>
          <a:stretch>
            <a:fillRect/>
          </a:stretch>
        </p:blipFill>
        <p:spPr>
          <a:xfrm>
            <a:off x="537210" y="4587240"/>
            <a:ext cx="8951595" cy="21412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信号和数据之间的相互转换</a:t>
            </a:r>
          </a:p>
        </p:txBody>
      </p:sp>
      <p:pic>
        <p:nvPicPr>
          <p:cNvPr id="4" name="图片 3"/>
          <p:cNvPicPr>
            <a:picLocks noChangeAspect="1"/>
          </p:cNvPicPr>
          <p:nvPr/>
        </p:nvPicPr>
        <p:blipFill>
          <a:blip r:embed="rId2"/>
          <a:stretch>
            <a:fillRect/>
          </a:stretch>
        </p:blipFill>
        <p:spPr>
          <a:xfrm>
            <a:off x="1402715" y="1577340"/>
            <a:ext cx="7160260" cy="48240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2.2.2  </a:t>
            </a:r>
            <a:r>
              <a:rPr lang="zh-CN" altLang="zh-CN" dirty="0"/>
              <a:t>有关信道的几个基本概念</a:t>
            </a:r>
            <a:endParaRPr lang="zh-CN" altLang="en-US" dirty="0"/>
          </a:p>
        </p:txBody>
      </p:sp>
      <p:sp>
        <p:nvSpPr>
          <p:cNvPr id="3" name="内容占位符 2"/>
          <p:cNvSpPr>
            <a:spLocks noGrp="1"/>
          </p:cNvSpPr>
          <p:nvPr>
            <p:ph idx="1"/>
          </p:nvPr>
        </p:nvSpPr>
        <p:spPr/>
        <p:txBody>
          <a:bodyPr/>
          <a:lstStyle/>
          <a:p>
            <a:pPr>
              <a:lnSpc>
                <a:spcPct val="100000"/>
              </a:lnSpc>
            </a:pPr>
            <a:r>
              <a:rPr lang="zh-CN" altLang="en-US" dirty="0">
                <a:solidFill>
                  <a:srgbClr val="0000CC"/>
                </a:solidFill>
              </a:rPr>
              <a:t>信道</a:t>
            </a:r>
            <a:r>
              <a:rPr lang="zh-CN" altLang="en-US" dirty="0"/>
              <a:t> </a:t>
            </a:r>
            <a:r>
              <a:rPr lang="en-US" altLang="zh-CN" dirty="0"/>
              <a:t>—— </a:t>
            </a:r>
            <a:r>
              <a:rPr lang="zh-CN" altLang="zh-CN" dirty="0"/>
              <a:t>一般用来表示向某一个方向传送信息的媒体。</a:t>
            </a:r>
            <a:endParaRPr lang="en-US" altLang="zh-CN" dirty="0"/>
          </a:p>
          <a:p>
            <a:pPr>
              <a:lnSpc>
                <a:spcPct val="100000"/>
              </a:lnSpc>
              <a:spcAft>
                <a:spcPct val="15000"/>
              </a:spcAft>
            </a:pPr>
            <a:r>
              <a:rPr lang="zh-CN" altLang="en-US" dirty="0">
                <a:solidFill>
                  <a:srgbClr val="0000CC"/>
                </a:solidFill>
              </a:rPr>
              <a:t>单向通信</a:t>
            </a:r>
            <a:r>
              <a:rPr lang="zh-CN" altLang="en-US" dirty="0"/>
              <a:t>（单工通信）</a:t>
            </a:r>
            <a:r>
              <a:rPr lang="en-US" altLang="zh-CN" dirty="0"/>
              <a:t>——</a:t>
            </a:r>
            <a:r>
              <a:rPr lang="zh-CN" altLang="en-US" dirty="0"/>
              <a:t>只能有一个方向的通信而没有反方向的交互。</a:t>
            </a:r>
          </a:p>
          <a:p>
            <a:pPr>
              <a:lnSpc>
                <a:spcPct val="100000"/>
              </a:lnSpc>
              <a:spcAft>
                <a:spcPct val="15000"/>
              </a:spcAft>
            </a:pPr>
            <a:r>
              <a:rPr lang="zh-CN" altLang="en-US" dirty="0">
                <a:solidFill>
                  <a:srgbClr val="0000CC"/>
                </a:solidFill>
              </a:rPr>
              <a:t>双向交替通信</a:t>
            </a:r>
            <a:r>
              <a:rPr lang="zh-CN" altLang="en-US" dirty="0"/>
              <a:t>（半双工通信）</a:t>
            </a:r>
            <a:r>
              <a:rPr lang="en-US" altLang="zh-CN" dirty="0"/>
              <a:t>——</a:t>
            </a:r>
            <a:r>
              <a:rPr lang="zh-CN" altLang="en-US" dirty="0"/>
              <a:t>通信的双方都可以发送信息，但不能双方同时发送</a:t>
            </a:r>
            <a:r>
              <a:rPr lang="en-US" altLang="zh-CN" dirty="0"/>
              <a:t>(</a:t>
            </a:r>
            <a:r>
              <a:rPr lang="zh-CN" altLang="en-US" dirty="0"/>
              <a:t>当然也就不能同时接收</a:t>
            </a:r>
            <a:r>
              <a:rPr lang="en-US" altLang="zh-CN" dirty="0"/>
              <a:t>)</a:t>
            </a:r>
            <a:r>
              <a:rPr lang="zh-CN" altLang="en-US" dirty="0"/>
              <a:t>。</a:t>
            </a:r>
          </a:p>
          <a:p>
            <a:pPr>
              <a:lnSpc>
                <a:spcPct val="100000"/>
              </a:lnSpc>
              <a:spcAft>
                <a:spcPct val="15000"/>
              </a:spcAft>
            </a:pPr>
            <a:r>
              <a:rPr lang="zh-CN" altLang="en-US" dirty="0">
                <a:solidFill>
                  <a:srgbClr val="0000CC"/>
                </a:solidFill>
              </a:rPr>
              <a:t>双向同时通信</a:t>
            </a:r>
            <a:r>
              <a:rPr lang="zh-CN" altLang="en-US" dirty="0"/>
              <a:t>（全双工通信）</a:t>
            </a:r>
            <a:r>
              <a:rPr lang="en-US" altLang="zh-CN" dirty="0"/>
              <a:t>——</a:t>
            </a:r>
            <a:r>
              <a:rPr lang="zh-CN" altLang="en-US" dirty="0"/>
              <a:t>通信的双方可以同时发送和接收信息。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2.2.2  </a:t>
            </a:r>
            <a:r>
              <a:rPr lang="zh-CN" altLang="zh-CN" dirty="0"/>
              <a:t>有关信道的几个基本概念</a:t>
            </a:r>
            <a:endParaRPr lang="zh-CN" altLang="en-US" dirty="0"/>
          </a:p>
        </p:txBody>
      </p:sp>
      <p:pic>
        <p:nvPicPr>
          <p:cNvPr id="6" name="图片 5"/>
          <p:cNvPicPr>
            <a:picLocks noChangeAspect="1"/>
          </p:cNvPicPr>
          <p:nvPr>
            <p:custDataLst>
              <p:tags r:id="rId1"/>
            </p:custDataLst>
          </p:nvPr>
        </p:nvPicPr>
        <p:blipFill>
          <a:blip r:embed="rId3"/>
          <a:stretch>
            <a:fillRect/>
          </a:stretch>
        </p:blipFill>
        <p:spPr>
          <a:xfrm>
            <a:off x="1447165" y="2171700"/>
            <a:ext cx="7238365" cy="4575810"/>
          </a:xfrm>
          <a:prstGeom prst="rect">
            <a:avLst/>
          </a:prstGeom>
        </p:spPr>
      </p:pic>
      <p:sp>
        <p:nvSpPr>
          <p:cNvPr id="31747" name="Rectangle 3"/>
          <p:cNvSpPr>
            <a:spLocks noGrp="1" noChangeArrowheads="1"/>
          </p:cNvSpPr>
          <p:nvPr>
            <p:ph idx="1"/>
          </p:nvPr>
        </p:nvSpPr>
        <p:spPr>
          <a:xfrm>
            <a:off x="1283335" y="1196975"/>
            <a:ext cx="7603490" cy="833755"/>
          </a:xfrm>
        </p:spPr>
        <p:txBody>
          <a:bodyPr/>
          <a:lstStyle/>
          <a:p>
            <a:pPr marL="0" indent="0" algn="ctr">
              <a:buNone/>
            </a:pPr>
            <a:r>
              <a:rPr lang="zh-CN" altLang="en-US" sz="4000" dirty="0"/>
              <a:t>单工，半双工与全双工通信</a:t>
            </a:r>
            <a:r>
              <a:rPr lang="zh-CN" alt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zh-CN" dirty="0"/>
              <a:t>2.2.2  </a:t>
            </a:r>
            <a:r>
              <a:rPr lang="zh-CN" altLang="zh-CN" dirty="0"/>
              <a:t>有关信道的几个基本概念</a:t>
            </a:r>
            <a:endParaRPr lang="zh-CN" altLang="en-US" dirty="0"/>
          </a:p>
        </p:txBody>
      </p:sp>
      <p:sp>
        <p:nvSpPr>
          <p:cNvPr id="120835" name="Rectangle 3"/>
          <p:cNvSpPr>
            <a:spLocks noGrp="1" noChangeArrowheads="1"/>
          </p:cNvSpPr>
          <p:nvPr>
            <p:ph idx="1"/>
          </p:nvPr>
        </p:nvSpPr>
        <p:spPr/>
        <p:txBody>
          <a:bodyPr/>
          <a:lstStyle/>
          <a:p>
            <a:pPr>
              <a:spcAft>
                <a:spcPct val="15000"/>
              </a:spcAft>
            </a:pPr>
            <a:r>
              <a:rPr lang="zh-CN" altLang="en-US" dirty="0">
                <a:solidFill>
                  <a:srgbClr val="FF0000"/>
                </a:solidFill>
              </a:rPr>
              <a:t>基带信号</a:t>
            </a:r>
            <a:r>
              <a:rPr lang="zh-CN" altLang="en-US" dirty="0"/>
              <a:t>（即基本频带信号）</a:t>
            </a:r>
            <a:r>
              <a:rPr lang="en-US" altLang="zh-CN" dirty="0"/>
              <a:t>—— </a:t>
            </a:r>
            <a:r>
              <a:rPr lang="zh-CN" altLang="en-US" dirty="0"/>
              <a:t>来自信源的信号。像计算机输出的代表各种文字或图像文件的数据信号都属于基带信号。</a:t>
            </a:r>
          </a:p>
          <a:p>
            <a:pPr>
              <a:spcAft>
                <a:spcPct val="15000"/>
              </a:spcAft>
            </a:pPr>
            <a:r>
              <a:rPr lang="zh-CN" altLang="en-US" dirty="0"/>
              <a:t>基带信号往往包含有较多的低频成分，甚至有直流成分，而许多信道并不能传输这种低频分量或直流分量。因此必须对基带信号进行</a:t>
            </a:r>
            <a:r>
              <a:rPr lang="zh-CN" altLang="en-US" dirty="0">
                <a:solidFill>
                  <a:srgbClr val="FF0000"/>
                </a:solidFill>
              </a:rPr>
              <a:t>调制 </a:t>
            </a:r>
            <a:r>
              <a:rPr lang="en-US" altLang="zh-CN" dirty="0"/>
              <a:t>(modulation)</a:t>
            </a:r>
            <a:r>
              <a:rPr lang="zh-CN" altLang="en-US" dirty="0"/>
              <a:t>。   </a:t>
            </a:r>
            <a:endParaRPr lang="en-US" altLang="zh-CN" dirty="0"/>
          </a:p>
          <a:p>
            <a:pPr>
              <a:spcAft>
                <a:spcPct val="15000"/>
              </a:spcAft>
            </a:pPr>
            <a:r>
              <a:rPr lang="zh-CN" altLang="en-US" sz="3200" dirty="0">
                <a:solidFill>
                  <a:srgbClr val="FF0000"/>
                </a:solidFill>
              </a:rPr>
              <a:t>带通信号 ：</a:t>
            </a:r>
            <a:r>
              <a:rPr lang="zh-CN" altLang="zh-CN" sz="3200" dirty="0"/>
              <a:t>经过载波调制后的信号</a:t>
            </a:r>
            <a:r>
              <a:rPr lang="zh-CN" altLang="en-US" sz="3200" dirty="0"/>
              <a:t>。</a:t>
            </a:r>
            <a:endParaRPr lang="en-US" altLang="zh-CN" dirty="0">
              <a:solidFill>
                <a:srgbClr val="0000CC"/>
              </a:solidFill>
            </a:endParaRPr>
          </a:p>
          <a:p>
            <a:pPr>
              <a:spcAft>
                <a:spcPct val="15000"/>
              </a:spcAft>
            </a:pP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zh-CN" dirty="0"/>
              <a:t>2.2.2  </a:t>
            </a:r>
            <a:r>
              <a:rPr lang="zh-CN" altLang="zh-CN" dirty="0"/>
              <a:t>有关信道的几个基本概念</a:t>
            </a:r>
            <a:endParaRPr lang="zh-CN" altLang="en-US" dirty="0"/>
          </a:p>
        </p:txBody>
      </p:sp>
      <p:sp>
        <p:nvSpPr>
          <p:cNvPr id="120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indent="0">
              <a:spcAft>
                <a:spcPct val="15000"/>
              </a:spcAft>
              <a:buNone/>
            </a:pPr>
            <a:r>
              <a:rPr lang="zh-CN" altLang="en-US" dirty="0"/>
              <a:t>调制</a:t>
            </a:r>
            <a:r>
              <a:rPr lang="zh-CN" altLang="zh-CN" dirty="0"/>
              <a:t>分为两大类</a:t>
            </a:r>
            <a:r>
              <a:rPr lang="zh-CN" altLang="en-US" dirty="0"/>
              <a:t>：</a:t>
            </a:r>
            <a:endParaRPr lang="en-US" altLang="zh-CN" dirty="0"/>
          </a:p>
          <a:p>
            <a:pPr>
              <a:spcAft>
                <a:spcPct val="15000"/>
              </a:spcAft>
            </a:pPr>
            <a:r>
              <a:rPr lang="zh-CN" altLang="zh-CN" sz="2800" dirty="0">
                <a:solidFill>
                  <a:srgbClr val="FF0000"/>
                </a:solidFill>
              </a:rPr>
              <a:t>基带调制</a:t>
            </a:r>
            <a:r>
              <a:rPr lang="zh-CN" altLang="en-US" sz="2800" dirty="0">
                <a:solidFill>
                  <a:srgbClr val="FF0000"/>
                </a:solidFill>
              </a:rPr>
              <a:t>：</a:t>
            </a:r>
            <a:r>
              <a:rPr lang="zh-CN" altLang="zh-CN" sz="2800" dirty="0"/>
              <a:t>仅对基带信号的波形进行变换，使它能够与信道特性相适应。</a:t>
            </a:r>
            <a:r>
              <a:rPr lang="zh-CN" altLang="zh-CN" sz="2800" dirty="0">
                <a:solidFill>
                  <a:srgbClr val="FF0000"/>
                </a:solidFill>
              </a:rPr>
              <a:t>变换后的信号仍然是基带信号</a:t>
            </a:r>
            <a:r>
              <a:rPr lang="zh-CN" altLang="en-US" sz="2800" dirty="0">
                <a:solidFill>
                  <a:srgbClr val="FF0000"/>
                </a:solidFill>
              </a:rPr>
              <a:t>。</a:t>
            </a:r>
            <a:r>
              <a:rPr lang="zh-CN" altLang="zh-CN" sz="2800" dirty="0"/>
              <a:t>把这种过程称为</a:t>
            </a:r>
            <a:r>
              <a:rPr lang="zh-CN" altLang="zh-CN" sz="2800" dirty="0">
                <a:solidFill>
                  <a:srgbClr val="FF0000"/>
                </a:solidFill>
              </a:rPr>
              <a:t>编码</a:t>
            </a:r>
            <a:r>
              <a:rPr lang="en-US" altLang="zh-CN" sz="2800" dirty="0">
                <a:solidFill>
                  <a:srgbClr val="FF0000"/>
                </a:solidFill>
              </a:rPr>
              <a:t> </a:t>
            </a:r>
            <a:r>
              <a:rPr lang="en-US" altLang="zh-CN" sz="2800" dirty="0"/>
              <a:t>(coding)</a:t>
            </a:r>
            <a:r>
              <a:rPr lang="zh-CN" altLang="en-US" sz="2800" dirty="0"/>
              <a:t>。</a:t>
            </a:r>
            <a:endParaRPr lang="en-US" altLang="zh-CN" sz="2800" dirty="0">
              <a:solidFill>
                <a:srgbClr val="0000CC"/>
              </a:solidFill>
            </a:endParaRPr>
          </a:p>
          <a:p>
            <a:pPr>
              <a:spcAft>
                <a:spcPct val="15000"/>
              </a:spcAft>
            </a:pPr>
            <a:r>
              <a:rPr lang="zh-CN" altLang="zh-CN" sz="2800" dirty="0">
                <a:solidFill>
                  <a:srgbClr val="FF0000"/>
                </a:solidFill>
              </a:rPr>
              <a:t>带通调制</a:t>
            </a:r>
            <a:r>
              <a:rPr lang="zh-CN" altLang="en-US" sz="2800" dirty="0">
                <a:solidFill>
                  <a:srgbClr val="FF0000"/>
                </a:solidFill>
              </a:rPr>
              <a:t>：</a:t>
            </a:r>
            <a:r>
              <a:rPr lang="zh-CN" altLang="zh-CN" sz="2800" dirty="0"/>
              <a:t>使用</a:t>
            </a:r>
            <a:r>
              <a:rPr lang="zh-CN" altLang="zh-CN" sz="2800" dirty="0">
                <a:solidFill>
                  <a:srgbClr val="FF0000"/>
                </a:solidFill>
              </a:rPr>
              <a:t>载波</a:t>
            </a:r>
            <a:r>
              <a:rPr lang="en-US" altLang="zh-CN" sz="2800" dirty="0">
                <a:solidFill>
                  <a:srgbClr val="FF0000"/>
                </a:solidFill>
              </a:rPr>
              <a:t> </a:t>
            </a:r>
            <a:r>
              <a:rPr lang="en-US" altLang="zh-CN" sz="2800" dirty="0"/>
              <a:t>(carrier)</a:t>
            </a:r>
            <a:r>
              <a:rPr lang="zh-CN" altLang="zh-CN" sz="2800" dirty="0"/>
              <a:t>进行调制，把基带信号的频率范围搬移到较高的频段，并</a:t>
            </a:r>
            <a:r>
              <a:rPr lang="zh-CN" altLang="zh-CN" sz="2800" dirty="0">
                <a:solidFill>
                  <a:srgbClr val="FF0000"/>
                </a:solidFill>
              </a:rPr>
              <a:t>转换为模拟信号，</a:t>
            </a:r>
            <a:r>
              <a:rPr lang="zh-CN" altLang="zh-CN" sz="2800" dirty="0"/>
              <a:t>这样就能够更好地在模拟信道中传输</a:t>
            </a:r>
            <a:r>
              <a:rPr lang="zh-CN" altLang="en-US" sz="2800" dirty="0"/>
              <a:t>（即仅在一段频率范围内能够通过信道）。</a:t>
            </a:r>
            <a:endParaRPr lang="en-US" altLang="zh-C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基带调制</a:t>
            </a:r>
          </a:p>
        </p:txBody>
      </p:sp>
      <p:sp>
        <p:nvSpPr>
          <p:cNvPr id="3" name="内容占位符 2"/>
          <p:cNvSpPr>
            <a:spLocks noGrp="1"/>
          </p:cNvSpPr>
          <p:nvPr>
            <p:ph idx="1"/>
          </p:nvPr>
        </p:nvSpPr>
        <p:spPr>
          <a:xfrm>
            <a:off x="495300" y="1050290"/>
            <a:ext cx="9065895" cy="5735320"/>
          </a:xfrm>
        </p:spPr>
        <p:txBody>
          <a:bodyPr/>
          <a:lstStyle/>
          <a:p>
            <a:r>
              <a:rPr lang="zh-CN" altLang="zh-CN" sz="2800" b="0" dirty="0">
                <a:solidFill>
                  <a:srgbClr val="0070C0"/>
                </a:solidFill>
              </a:rPr>
              <a:t>基带调制（编码）：</a:t>
            </a:r>
            <a:r>
              <a:rPr lang="zh-CN" altLang="zh-CN" sz="2800" dirty="0">
                <a:solidFill>
                  <a:schemeClr val="tx1"/>
                </a:solidFill>
              </a:rPr>
              <a:t>仅对</a:t>
            </a:r>
            <a:r>
              <a:rPr lang="zh-CN" altLang="zh-CN" sz="2800" dirty="0">
                <a:solidFill>
                  <a:srgbClr val="FF0000"/>
                </a:solidFill>
              </a:rPr>
              <a:t>基带信号的波形进行变换</a:t>
            </a:r>
            <a:r>
              <a:rPr lang="zh-CN" altLang="zh-CN" sz="2800" dirty="0">
                <a:solidFill>
                  <a:schemeClr val="tx1"/>
                </a:solidFill>
              </a:rPr>
              <a:t>，使它能够与信道特性相适应，变换后的信号仍是基带信号</a:t>
            </a:r>
            <a:endParaRPr lang="zh-CN" altLang="zh-CN" sz="2800" dirty="0">
              <a:solidFill>
                <a:srgbClr val="FF0000"/>
              </a:solidFill>
            </a:endParaRPr>
          </a:p>
          <a:p>
            <a:endParaRPr lang="zh-CN" altLang="zh-CN" dirty="0">
              <a:solidFill>
                <a:srgbClr val="FF0000"/>
              </a:solidFill>
            </a:endParaRPr>
          </a:p>
          <a:p>
            <a:endParaRPr lang="zh-CN" altLang="zh-CN" sz="2400" dirty="0">
              <a:solidFill>
                <a:srgbClr val="FF0000"/>
              </a:solidFill>
            </a:endParaRPr>
          </a:p>
          <a:p>
            <a:r>
              <a:rPr lang="zh-CN" altLang="zh-CN" sz="2800" dirty="0">
                <a:solidFill>
                  <a:srgbClr val="FF0000"/>
                </a:solidFill>
              </a:rPr>
              <a:t>基带调制常用的编码方式：</a:t>
            </a:r>
          </a:p>
          <a:p>
            <a:pPr marL="0" indent="0">
              <a:buNone/>
            </a:pPr>
            <a:r>
              <a:rPr lang="zh-CN" altLang="zh-CN" sz="2400" dirty="0">
                <a:solidFill>
                  <a:srgbClr val="0070C0"/>
                </a:solidFill>
              </a:rPr>
              <a:t>（</a:t>
            </a:r>
            <a:r>
              <a:rPr lang="en-US" altLang="zh-CN" sz="2400" dirty="0">
                <a:solidFill>
                  <a:srgbClr val="0070C0"/>
                </a:solidFill>
              </a:rPr>
              <a:t>1</a:t>
            </a:r>
            <a:r>
              <a:rPr lang="zh-CN" altLang="zh-CN" sz="2400" dirty="0">
                <a:solidFill>
                  <a:srgbClr val="0070C0"/>
                </a:solidFill>
              </a:rPr>
              <a:t>）（不）归零制：</a:t>
            </a:r>
            <a:r>
              <a:rPr lang="zh-CN" altLang="zh-CN" sz="2400" dirty="0"/>
              <a:t>正电平代表</a:t>
            </a:r>
            <a:r>
              <a:rPr lang="en-US" altLang="zh-CN" sz="2400" dirty="0"/>
              <a:t> 1</a:t>
            </a:r>
            <a:r>
              <a:rPr lang="zh-CN" altLang="zh-CN" sz="2400" dirty="0"/>
              <a:t>，负电平代表</a:t>
            </a:r>
            <a:r>
              <a:rPr lang="en-US" altLang="zh-CN" sz="2400" dirty="0"/>
              <a:t> 0</a:t>
            </a:r>
            <a:r>
              <a:rPr lang="zh-CN" altLang="zh-CN" sz="2400" dirty="0"/>
              <a:t>。</a:t>
            </a:r>
          </a:p>
          <a:p>
            <a:pPr marL="0" indent="0">
              <a:buNone/>
            </a:pPr>
            <a:r>
              <a:rPr lang="zh-CN" altLang="zh-CN" sz="2400" dirty="0">
                <a:solidFill>
                  <a:srgbClr val="0070C0"/>
                </a:solidFill>
              </a:rPr>
              <a:t>（</a:t>
            </a:r>
            <a:r>
              <a:rPr lang="en-US" altLang="zh-CN" sz="2400" dirty="0">
                <a:solidFill>
                  <a:srgbClr val="0070C0"/>
                </a:solidFill>
              </a:rPr>
              <a:t>2</a:t>
            </a:r>
            <a:r>
              <a:rPr lang="zh-CN" altLang="zh-CN" sz="2400" dirty="0">
                <a:solidFill>
                  <a:srgbClr val="0070C0"/>
                </a:solidFill>
              </a:rPr>
              <a:t>）曼彻斯特编码：</a:t>
            </a:r>
            <a:r>
              <a:rPr lang="zh-CN" altLang="zh-CN" sz="2400" dirty="0"/>
              <a:t>位周期中心的向上跳变代表</a:t>
            </a:r>
            <a:r>
              <a:rPr lang="en-US" altLang="zh-CN" sz="2400" dirty="0"/>
              <a:t> 0</a:t>
            </a:r>
            <a:r>
              <a:rPr lang="zh-CN" altLang="zh-CN" sz="2400" dirty="0"/>
              <a:t>，位周期中心的向下跳变代表</a:t>
            </a:r>
            <a:r>
              <a:rPr lang="en-US" altLang="zh-CN" sz="2400" dirty="0"/>
              <a:t> 1</a:t>
            </a:r>
            <a:r>
              <a:rPr lang="zh-CN" altLang="zh-CN" sz="2400" dirty="0"/>
              <a:t>。但也可反过来定义。</a:t>
            </a:r>
          </a:p>
          <a:p>
            <a:pPr marL="0" indent="0">
              <a:buNone/>
            </a:pPr>
            <a:r>
              <a:rPr lang="zh-CN" altLang="zh-CN" sz="2400" dirty="0">
                <a:solidFill>
                  <a:srgbClr val="0070C0"/>
                </a:solidFill>
              </a:rPr>
              <a:t>（</a:t>
            </a:r>
            <a:r>
              <a:rPr lang="en-US" altLang="zh-CN" sz="2400" dirty="0">
                <a:solidFill>
                  <a:srgbClr val="0070C0"/>
                </a:solidFill>
              </a:rPr>
              <a:t>3</a:t>
            </a:r>
            <a:r>
              <a:rPr lang="zh-CN" altLang="zh-CN" sz="2400" dirty="0">
                <a:solidFill>
                  <a:srgbClr val="0070C0"/>
                </a:solidFill>
              </a:rPr>
              <a:t>）差分曼彻斯特编码：</a:t>
            </a:r>
            <a:r>
              <a:rPr lang="zh-CN" altLang="zh-CN" sz="2400" dirty="0"/>
              <a:t>在每一位的中心处始终都有跳变。位开始边界有跳变代表</a:t>
            </a:r>
            <a:r>
              <a:rPr lang="en-US" altLang="zh-CN" sz="2400" dirty="0"/>
              <a:t> 0</a:t>
            </a:r>
            <a:r>
              <a:rPr lang="zh-CN" altLang="zh-CN" sz="2400" dirty="0"/>
              <a:t>，而位开始边界没有跳变代表</a:t>
            </a:r>
            <a:r>
              <a:rPr lang="en-US" altLang="zh-CN" sz="2400" dirty="0"/>
              <a:t> 1</a:t>
            </a:r>
            <a:r>
              <a:rPr lang="zh-CN" altLang="zh-CN" sz="2400" dirty="0"/>
              <a:t>。</a:t>
            </a:r>
          </a:p>
          <a:p>
            <a:endParaRPr lang="zh-CN" altLang="zh-CN" sz="2400" dirty="0"/>
          </a:p>
        </p:txBody>
      </p:sp>
      <p:pic>
        <p:nvPicPr>
          <p:cNvPr id="4" name="图片 3"/>
          <p:cNvPicPr>
            <a:picLocks noChangeAspect="1"/>
          </p:cNvPicPr>
          <p:nvPr/>
        </p:nvPicPr>
        <p:blipFill>
          <a:blip r:embed="rId2"/>
          <a:stretch>
            <a:fillRect/>
          </a:stretch>
        </p:blipFill>
        <p:spPr>
          <a:xfrm>
            <a:off x="1435735" y="2492375"/>
            <a:ext cx="7034530" cy="9131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常用编码方式</a:t>
            </a:r>
          </a:p>
        </p:txBody>
      </p:sp>
      <p:sp>
        <p:nvSpPr>
          <p:cNvPr id="31747" name="Rectangle 3"/>
          <p:cNvSpPr>
            <a:spLocks noGrp="1" noChangeArrowheads="1"/>
          </p:cNvSpPr>
          <p:nvPr>
            <p:ph idx="1"/>
          </p:nvPr>
        </p:nvSpPr>
        <p:spPr>
          <a:xfrm>
            <a:off x="495300" y="1196975"/>
            <a:ext cx="9065895" cy="1610360"/>
          </a:xfrm>
        </p:spPr>
        <p:txBody>
          <a:bodyPr/>
          <a:lstStyle/>
          <a:p>
            <a:pPr marL="0" indent="0">
              <a:buNone/>
            </a:pPr>
            <a:r>
              <a:rPr lang="zh-CN" altLang="en-US" dirty="0"/>
              <a:t>（</a:t>
            </a:r>
            <a:r>
              <a:rPr lang="en-US" altLang="zh-CN" dirty="0"/>
              <a:t>1</a:t>
            </a:r>
            <a:r>
              <a:rPr lang="zh-CN" altLang="en-US" dirty="0"/>
              <a:t>）</a:t>
            </a:r>
            <a:r>
              <a:rPr lang="zh-CN" altLang="en-US" sz="2800" dirty="0"/>
              <a:t>不归零码（</a:t>
            </a:r>
            <a:r>
              <a:rPr lang="en-US" altLang="zh-CN" sz="2400" dirty="0"/>
              <a:t>NRZ No Return to Zero</a:t>
            </a:r>
            <a:r>
              <a:rPr lang="zh-CN" altLang="en-US" sz="2800" dirty="0"/>
              <a:t>）</a:t>
            </a:r>
          </a:p>
          <a:p>
            <a:pPr marL="0" indent="0">
              <a:buNone/>
            </a:pPr>
            <a:r>
              <a:rPr lang="en-US" altLang="zh-CN" sz="2800" dirty="0"/>
              <a:t>         </a:t>
            </a:r>
            <a:r>
              <a:rPr lang="zh-CN" altLang="en-US" sz="2400" dirty="0"/>
              <a:t>原理：用两种不同的电压分别表示二进制</a:t>
            </a:r>
            <a:r>
              <a:rPr lang="en-US" altLang="zh-CN" sz="2400" dirty="0"/>
              <a:t>“0”</a:t>
            </a:r>
            <a:r>
              <a:rPr lang="zh-CN" altLang="en-US" sz="2400" dirty="0"/>
              <a:t>和</a:t>
            </a:r>
            <a:r>
              <a:rPr lang="en-US" altLang="zh-CN" sz="2400" dirty="0"/>
              <a:t>“1”</a:t>
            </a:r>
            <a:r>
              <a:rPr lang="zh-CN" altLang="en-US" sz="2400" dirty="0"/>
              <a:t>，</a:t>
            </a:r>
            <a:r>
              <a:rPr lang="zh-CN" altLang="en-US" sz="2400" dirty="0">
                <a:solidFill>
                  <a:srgbClr val="C00000"/>
                </a:solidFill>
              </a:rPr>
              <a:t>高电平   </a:t>
            </a:r>
            <a:r>
              <a:rPr lang="en-US" altLang="zh-CN" sz="2400" dirty="0">
                <a:solidFill>
                  <a:srgbClr val="C00000"/>
                </a:solidFill>
              </a:rPr>
              <a:t>	</a:t>
            </a:r>
            <a:r>
              <a:rPr lang="zh-CN" altLang="en-US" sz="2400" dirty="0">
                <a:solidFill>
                  <a:srgbClr val="C00000"/>
                </a:solidFill>
              </a:rPr>
              <a:t>表示</a:t>
            </a:r>
            <a:r>
              <a:rPr lang="en-US" altLang="zh-CN" sz="2400" dirty="0">
                <a:solidFill>
                  <a:srgbClr val="C00000"/>
                </a:solidFill>
              </a:rPr>
              <a:t>“0”</a:t>
            </a:r>
            <a:r>
              <a:rPr lang="zh-CN" altLang="en-US" sz="2400" dirty="0">
                <a:solidFill>
                  <a:srgbClr val="C00000"/>
                </a:solidFill>
              </a:rPr>
              <a:t>，低电平表示</a:t>
            </a:r>
            <a:r>
              <a:rPr lang="en-US" altLang="zh-CN" sz="2400" dirty="0">
                <a:solidFill>
                  <a:srgbClr val="C00000"/>
                </a:solidFill>
              </a:rPr>
              <a:t>“1”</a:t>
            </a:r>
            <a:r>
              <a:rPr lang="zh-CN" altLang="en-US" sz="2400" dirty="0"/>
              <a:t>。</a:t>
            </a:r>
            <a:endParaRPr lang="zh-CN" altLang="en-US" sz="2800" dirty="0"/>
          </a:p>
          <a:p>
            <a:pPr marL="0" indent="0">
              <a:buNone/>
            </a:pPr>
            <a:r>
              <a:rPr lang="zh-CN" altLang="en-US" dirty="0"/>
              <a:t> </a:t>
            </a:r>
          </a:p>
        </p:txBody>
      </p:sp>
      <p:pic>
        <p:nvPicPr>
          <p:cNvPr id="4" name="图片 3"/>
          <p:cNvPicPr>
            <a:picLocks noChangeAspect="1"/>
          </p:cNvPicPr>
          <p:nvPr/>
        </p:nvPicPr>
        <p:blipFill>
          <a:blip r:embed="rId4"/>
          <a:stretch>
            <a:fillRect/>
          </a:stretch>
        </p:blipFill>
        <p:spPr>
          <a:xfrm>
            <a:off x="2942590" y="3006090"/>
            <a:ext cx="6427470" cy="1318260"/>
          </a:xfrm>
          <a:prstGeom prst="rect">
            <a:avLst/>
          </a:prstGeom>
        </p:spPr>
      </p:pic>
      <p:sp>
        <p:nvSpPr>
          <p:cNvPr id="57" name="Rectangle 3"/>
          <p:cNvSpPr>
            <a:spLocks noGrp="1" noChangeArrowheads="1"/>
          </p:cNvSpPr>
          <p:nvPr/>
        </p:nvSpPr>
        <p:spPr>
          <a:xfrm>
            <a:off x="1419225" y="4498340"/>
            <a:ext cx="8215630" cy="2154555"/>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marL="0" indent="0">
              <a:buNone/>
            </a:pPr>
            <a:r>
              <a:rPr lang="zh-CN" altLang="en-US" sz="2400" dirty="0"/>
              <a:t>优点：容易实现。</a:t>
            </a:r>
          </a:p>
          <a:p>
            <a:pPr marL="0" indent="0">
              <a:buNone/>
            </a:pPr>
            <a:r>
              <a:rPr lang="zh-CN" altLang="en-US" sz="2400" dirty="0"/>
              <a:t>缺点：缺乏同步功能，难以分辨一位的结束和另一位的开始；</a:t>
            </a:r>
          </a:p>
          <a:p>
            <a:pPr marL="0" indent="0">
              <a:buNone/>
            </a:pPr>
            <a:r>
              <a:rPr lang="en-US" altLang="zh-CN" sz="2400" dirty="0"/>
              <a:t>	</a:t>
            </a:r>
            <a:r>
              <a:rPr lang="zh-CN" altLang="en-US" sz="2400" dirty="0"/>
              <a:t>发送方和接收方必须有时钟同步；</a:t>
            </a:r>
          </a:p>
          <a:p>
            <a:pPr marL="0" indent="0">
              <a:buNone/>
            </a:pPr>
            <a:r>
              <a:rPr lang="zh-CN" altLang="en-US" sz="2400" dirty="0"/>
              <a:t>           若信号中</a:t>
            </a:r>
            <a:r>
              <a:rPr lang="en-US" altLang="zh-CN" sz="2400" dirty="0"/>
              <a:t>“0”</a:t>
            </a:r>
            <a:r>
              <a:rPr lang="zh-CN" altLang="en-US" sz="2400" dirty="0"/>
              <a:t>或</a:t>
            </a:r>
            <a:r>
              <a:rPr lang="en-US" altLang="zh-CN" sz="2400" dirty="0"/>
              <a:t>“1”</a:t>
            </a:r>
            <a:r>
              <a:rPr lang="zh-CN" altLang="en-US" sz="2400" dirty="0"/>
              <a:t>连续出现，信号直流分量将累加。</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常用编码方式</a:t>
            </a:r>
          </a:p>
        </p:txBody>
      </p:sp>
      <p:sp>
        <p:nvSpPr>
          <p:cNvPr id="31747" name="Rectangle 3"/>
          <p:cNvSpPr>
            <a:spLocks noGrp="1" noChangeArrowheads="1"/>
          </p:cNvSpPr>
          <p:nvPr>
            <p:ph idx="1"/>
          </p:nvPr>
        </p:nvSpPr>
        <p:spPr>
          <a:xfrm>
            <a:off x="495300" y="1196975"/>
            <a:ext cx="9065895" cy="1610360"/>
          </a:xfrm>
        </p:spPr>
        <p:txBody>
          <a:bodyPr/>
          <a:lstStyle/>
          <a:p>
            <a:pPr marL="0" indent="0">
              <a:buNone/>
            </a:pPr>
            <a:r>
              <a:rPr lang="zh-CN" altLang="en-US" dirty="0"/>
              <a:t>（</a:t>
            </a:r>
            <a:r>
              <a:rPr lang="en-US" altLang="zh-CN" dirty="0"/>
              <a:t>2</a:t>
            </a:r>
            <a:r>
              <a:rPr lang="zh-CN" altLang="en-US" dirty="0"/>
              <a:t>）</a:t>
            </a:r>
            <a:r>
              <a:rPr lang="zh-CN" altLang="en-US" sz="2800" dirty="0"/>
              <a:t>曼彻斯特编码（</a:t>
            </a:r>
            <a:r>
              <a:rPr lang="en-US" altLang="zh-CN" sz="2400" dirty="0"/>
              <a:t>Manchester</a:t>
            </a:r>
            <a:r>
              <a:rPr lang="zh-CN" altLang="en-US" sz="2800" dirty="0"/>
              <a:t>），也称为相位编码。</a:t>
            </a:r>
          </a:p>
          <a:p>
            <a:pPr marL="0" indent="0">
              <a:buNone/>
            </a:pPr>
            <a:r>
              <a:rPr lang="en-US" altLang="zh-CN" sz="2800" dirty="0"/>
              <a:t>         </a:t>
            </a:r>
            <a:r>
              <a:rPr lang="zh-CN" altLang="en-US" sz="2400" dirty="0"/>
              <a:t>原理：</a:t>
            </a:r>
            <a:r>
              <a:rPr lang="zh-CN" altLang="en-US" sz="2400" dirty="0">
                <a:solidFill>
                  <a:srgbClr val="C00000"/>
                </a:solidFill>
              </a:rPr>
              <a:t>每一位中间都有一个跳变，从低跳到高表示</a:t>
            </a:r>
            <a:r>
              <a:rPr lang="en-US" altLang="zh-CN" sz="2400" dirty="0">
                <a:solidFill>
                  <a:srgbClr val="C00000"/>
                </a:solidFill>
              </a:rPr>
              <a:t>“1”</a:t>
            </a:r>
            <a:r>
              <a:rPr lang="zh-CN" altLang="en-US" sz="2400" dirty="0">
                <a:solidFill>
                  <a:srgbClr val="C00000"/>
                </a:solidFill>
              </a:rPr>
              <a:t>，从  </a:t>
            </a:r>
            <a:r>
              <a:rPr lang="en-US" altLang="zh-CN" sz="2400" dirty="0">
                <a:solidFill>
                  <a:srgbClr val="C00000"/>
                </a:solidFill>
              </a:rPr>
              <a:t>	</a:t>
            </a:r>
            <a:r>
              <a:rPr lang="zh-CN" altLang="en-US" sz="2400" dirty="0">
                <a:solidFill>
                  <a:srgbClr val="C00000"/>
                </a:solidFill>
              </a:rPr>
              <a:t>高跳到低，表示</a:t>
            </a:r>
            <a:r>
              <a:rPr lang="en-US" altLang="zh-CN" sz="2400" dirty="0">
                <a:solidFill>
                  <a:srgbClr val="C00000"/>
                </a:solidFill>
              </a:rPr>
              <a:t>“0”</a:t>
            </a:r>
            <a:r>
              <a:rPr lang="en-US" altLang="zh-CN" sz="2400" dirty="0"/>
              <a:t>.</a:t>
            </a:r>
            <a:r>
              <a:rPr lang="zh-CN" altLang="en-US" sz="2400" dirty="0"/>
              <a:t>也可以反过来进行定义。</a:t>
            </a:r>
            <a:endParaRPr lang="zh-CN" altLang="en-US" sz="2800" dirty="0"/>
          </a:p>
          <a:p>
            <a:pPr marL="0" indent="0">
              <a:buNone/>
            </a:pPr>
            <a:r>
              <a:rPr lang="zh-CN" altLang="en-US" dirty="0"/>
              <a:t> </a:t>
            </a:r>
          </a:p>
        </p:txBody>
      </p:sp>
      <p:sp>
        <p:nvSpPr>
          <p:cNvPr id="57" name="Rectangle 3"/>
          <p:cNvSpPr>
            <a:spLocks noGrp="1" noChangeArrowheads="1"/>
          </p:cNvSpPr>
          <p:nvPr/>
        </p:nvSpPr>
        <p:spPr>
          <a:xfrm>
            <a:off x="1419225" y="5718175"/>
            <a:ext cx="8215630" cy="1145540"/>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marL="0" indent="0">
              <a:buNone/>
            </a:pPr>
            <a:r>
              <a:rPr lang="zh-CN" altLang="en-US" sz="2400" dirty="0"/>
              <a:t>优点：克服了</a:t>
            </a:r>
            <a:r>
              <a:rPr lang="en-US" altLang="zh-CN" sz="2400" dirty="0"/>
              <a:t>NRZ</a:t>
            </a:r>
            <a:r>
              <a:rPr lang="zh-CN" altLang="en-US" sz="2400" dirty="0"/>
              <a:t>编码的不足。每位中间的跳变既可作为数</a:t>
            </a:r>
            <a:r>
              <a:rPr lang="en-US" altLang="zh-CN" sz="2400" dirty="0"/>
              <a:t>	</a:t>
            </a:r>
            <a:r>
              <a:rPr lang="zh-CN" altLang="en-US" sz="2400" dirty="0"/>
              <a:t>据，又可作为时钟，能够自同步。</a:t>
            </a:r>
          </a:p>
        </p:txBody>
      </p:sp>
      <p:pic>
        <p:nvPicPr>
          <p:cNvPr id="3" name="图片 2"/>
          <p:cNvPicPr>
            <a:picLocks noChangeAspect="1"/>
          </p:cNvPicPr>
          <p:nvPr/>
        </p:nvPicPr>
        <p:blipFill>
          <a:blip r:embed="rId3"/>
          <a:stretch>
            <a:fillRect/>
          </a:stretch>
        </p:blipFill>
        <p:spPr>
          <a:xfrm>
            <a:off x="1720850" y="3080385"/>
            <a:ext cx="7583170" cy="236410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常用编码方式</a:t>
            </a:r>
            <a:endParaRPr lang="zh-CN" altLang="en-US"/>
          </a:p>
        </p:txBody>
      </p:sp>
      <p:pic>
        <p:nvPicPr>
          <p:cNvPr id="3" name="图片 2"/>
          <p:cNvPicPr>
            <a:picLocks noChangeAspect="1"/>
          </p:cNvPicPr>
          <p:nvPr/>
        </p:nvPicPr>
        <p:blipFill>
          <a:blip r:embed="rId3"/>
          <a:stretch>
            <a:fillRect/>
          </a:stretch>
        </p:blipFill>
        <p:spPr>
          <a:xfrm>
            <a:off x="1545590" y="3745230"/>
            <a:ext cx="7112635" cy="1548765"/>
          </a:xfrm>
          <a:prstGeom prst="rect">
            <a:avLst/>
          </a:prstGeom>
        </p:spPr>
      </p:pic>
      <p:sp>
        <p:nvSpPr>
          <p:cNvPr id="31747" name="Rectangle 3"/>
          <p:cNvSpPr>
            <a:spLocks noGrp="1" noChangeArrowheads="1"/>
          </p:cNvSpPr>
          <p:nvPr>
            <p:ph idx="1"/>
          </p:nvPr>
        </p:nvSpPr>
        <p:spPr>
          <a:xfrm>
            <a:off x="1530350" y="2122170"/>
            <a:ext cx="7652385" cy="784225"/>
          </a:xfrm>
        </p:spPr>
        <p:txBody>
          <a:bodyPr/>
          <a:lstStyle/>
          <a:p>
            <a:pPr marL="0" indent="0">
              <a:buNone/>
            </a:pPr>
            <a:r>
              <a:rPr lang="zh-CN" altLang="en-US" sz="4000" dirty="0"/>
              <a:t>写出曼彻斯特编码的二进制数值</a:t>
            </a:r>
            <a:r>
              <a:rPr lang="en-US" altLang="zh-CN" sz="2800" dirty="0"/>
              <a:t>         </a:t>
            </a:r>
            <a:endParaRPr lang="zh-CN" altLang="en-US" sz="2800" dirty="0"/>
          </a:p>
          <a:p>
            <a:pPr marL="0" indent="0">
              <a:buNone/>
            </a:pPr>
            <a:r>
              <a:rPr lang="zh-CN" altLang="en-US" dirty="0"/>
              <a:t> </a:t>
            </a:r>
          </a:p>
        </p:txBody>
      </p:sp>
      <p:sp>
        <p:nvSpPr>
          <p:cNvPr id="6" name="文本框 5"/>
          <p:cNvSpPr txBox="1"/>
          <p:nvPr/>
        </p:nvSpPr>
        <p:spPr>
          <a:xfrm>
            <a:off x="2131695" y="3342005"/>
            <a:ext cx="372745" cy="521970"/>
          </a:xfrm>
          <a:prstGeom prst="rect">
            <a:avLst/>
          </a:prstGeom>
          <a:noFill/>
        </p:spPr>
        <p:txBody>
          <a:bodyPr wrap="square" rtlCol="0">
            <a:spAutoFit/>
          </a:bodyPr>
          <a:lstStyle/>
          <a:p>
            <a:r>
              <a:rPr lang="en-US" altLang="zh-CN" sz="2800">
                <a:solidFill>
                  <a:srgbClr val="C00000"/>
                </a:solidFill>
              </a:rPr>
              <a:t>0</a:t>
            </a:r>
          </a:p>
        </p:txBody>
      </p:sp>
      <p:sp>
        <p:nvSpPr>
          <p:cNvPr id="7" name="文本框 6"/>
          <p:cNvSpPr txBox="1"/>
          <p:nvPr/>
        </p:nvSpPr>
        <p:spPr>
          <a:xfrm>
            <a:off x="2976245" y="3325495"/>
            <a:ext cx="372745" cy="521970"/>
          </a:xfrm>
          <a:prstGeom prst="rect">
            <a:avLst/>
          </a:prstGeom>
          <a:noFill/>
        </p:spPr>
        <p:txBody>
          <a:bodyPr wrap="square" rtlCol="0">
            <a:spAutoFit/>
          </a:bodyPr>
          <a:lstStyle/>
          <a:p>
            <a:r>
              <a:rPr lang="en-US" altLang="zh-CN" sz="2800">
                <a:solidFill>
                  <a:srgbClr val="C00000"/>
                </a:solidFill>
              </a:rPr>
              <a:t>1</a:t>
            </a:r>
          </a:p>
        </p:txBody>
      </p:sp>
      <p:sp>
        <p:nvSpPr>
          <p:cNvPr id="8" name="文本框 7"/>
          <p:cNvSpPr txBox="1"/>
          <p:nvPr/>
        </p:nvSpPr>
        <p:spPr>
          <a:xfrm>
            <a:off x="3837305" y="3325495"/>
            <a:ext cx="372745" cy="521970"/>
          </a:xfrm>
          <a:prstGeom prst="rect">
            <a:avLst/>
          </a:prstGeom>
          <a:noFill/>
        </p:spPr>
        <p:txBody>
          <a:bodyPr wrap="square" rtlCol="0">
            <a:spAutoFit/>
          </a:bodyPr>
          <a:lstStyle/>
          <a:p>
            <a:r>
              <a:rPr lang="en-US" altLang="zh-CN" sz="2800">
                <a:solidFill>
                  <a:srgbClr val="C00000"/>
                </a:solidFill>
              </a:rPr>
              <a:t>0</a:t>
            </a:r>
          </a:p>
        </p:txBody>
      </p:sp>
      <p:sp>
        <p:nvSpPr>
          <p:cNvPr id="9" name="文本框 8"/>
          <p:cNvSpPr txBox="1"/>
          <p:nvPr/>
        </p:nvSpPr>
        <p:spPr>
          <a:xfrm>
            <a:off x="4626610" y="3325495"/>
            <a:ext cx="372745" cy="521970"/>
          </a:xfrm>
          <a:prstGeom prst="rect">
            <a:avLst/>
          </a:prstGeom>
          <a:noFill/>
        </p:spPr>
        <p:txBody>
          <a:bodyPr wrap="square" rtlCol="0">
            <a:spAutoFit/>
          </a:bodyPr>
          <a:lstStyle/>
          <a:p>
            <a:r>
              <a:rPr lang="en-US" altLang="zh-CN" sz="2800">
                <a:solidFill>
                  <a:srgbClr val="C00000"/>
                </a:solidFill>
              </a:rPr>
              <a:t>0</a:t>
            </a:r>
          </a:p>
        </p:txBody>
      </p:sp>
      <p:sp>
        <p:nvSpPr>
          <p:cNvPr id="10" name="文本框 9"/>
          <p:cNvSpPr txBox="1"/>
          <p:nvPr/>
        </p:nvSpPr>
        <p:spPr>
          <a:xfrm>
            <a:off x="5471160" y="3308985"/>
            <a:ext cx="372745" cy="521970"/>
          </a:xfrm>
          <a:prstGeom prst="rect">
            <a:avLst/>
          </a:prstGeom>
          <a:noFill/>
        </p:spPr>
        <p:txBody>
          <a:bodyPr wrap="square" rtlCol="0">
            <a:spAutoFit/>
          </a:bodyPr>
          <a:lstStyle/>
          <a:p>
            <a:r>
              <a:rPr lang="en-US" altLang="zh-CN" sz="2800">
                <a:solidFill>
                  <a:srgbClr val="C00000"/>
                </a:solidFill>
              </a:rPr>
              <a:t>1</a:t>
            </a:r>
          </a:p>
        </p:txBody>
      </p:sp>
      <p:sp>
        <p:nvSpPr>
          <p:cNvPr id="11" name="文本框 10"/>
          <p:cNvSpPr txBox="1"/>
          <p:nvPr/>
        </p:nvSpPr>
        <p:spPr>
          <a:xfrm>
            <a:off x="6260465" y="3308985"/>
            <a:ext cx="372745" cy="521970"/>
          </a:xfrm>
          <a:prstGeom prst="rect">
            <a:avLst/>
          </a:prstGeom>
          <a:noFill/>
        </p:spPr>
        <p:txBody>
          <a:bodyPr wrap="square" rtlCol="0">
            <a:spAutoFit/>
          </a:bodyPr>
          <a:lstStyle/>
          <a:p>
            <a:r>
              <a:rPr lang="en-US" altLang="zh-CN" sz="2800">
                <a:solidFill>
                  <a:srgbClr val="C00000"/>
                </a:solidFill>
              </a:rPr>
              <a:t>1</a:t>
            </a:r>
          </a:p>
        </p:txBody>
      </p:sp>
      <p:sp>
        <p:nvSpPr>
          <p:cNvPr id="12" name="文本框 11"/>
          <p:cNvSpPr txBox="1"/>
          <p:nvPr/>
        </p:nvSpPr>
        <p:spPr>
          <a:xfrm>
            <a:off x="7049770" y="3308985"/>
            <a:ext cx="372745" cy="521970"/>
          </a:xfrm>
          <a:prstGeom prst="rect">
            <a:avLst/>
          </a:prstGeom>
          <a:noFill/>
        </p:spPr>
        <p:txBody>
          <a:bodyPr wrap="square" rtlCol="0">
            <a:spAutoFit/>
          </a:bodyPr>
          <a:lstStyle/>
          <a:p>
            <a:r>
              <a:rPr lang="en-US" altLang="zh-CN" sz="2800">
                <a:solidFill>
                  <a:srgbClr val="C00000"/>
                </a:solidFill>
              </a:rPr>
              <a:t>1</a:t>
            </a:r>
          </a:p>
        </p:txBody>
      </p:sp>
      <p:sp>
        <p:nvSpPr>
          <p:cNvPr id="14" name="文本框 13"/>
          <p:cNvSpPr txBox="1"/>
          <p:nvPr/>
        </p:nvSpPr>
        <p:spPr>
          <a:xfrm>
            <a:off x="7855585" y="3325495"/>
            <a:ext cx="372745" cy="521970"/>
          </a:xfrm>
          <a:prstGeom prst="rect">
            <a:avLst/>
          </a:prstGeom>
          <a:noFill/>
        </p:spPr>
        <p:txBody>
          <a:bodyPr wrap="square" rtlCol="0">
            <a:spAutoFit/>
          </a:bodyPr>
          <a:lstStyle/>
          <a:p>
            <a:r>
              <a:rPr lang="en-US" altLang="zh-CN" sz="2800">
                <a:solidFill>
                  <a:srgbClr val="C00000"/>
                </a:solidFill>
              </a:rPr>
              <a:t>0</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P spid="9" grpId="0"/>
      <p:bldP spid="9" grpId="1"/>
      <p:bldP spid="10" grpId="0"/>
      <p:bldP spid="10" grpId="1"/>
      <p:bldP spid="11" grpId="0"/>
      <p:bldP spid="11" grpId="1"/>
      <p:bldP spid="12" grpId="0"/>
      <p:bldP spid="12" grpId="1"/>
      <p:bldP spid="14" grpId="0"/>
      <p:bldP spid="1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常用编码方式</a:t>
            </a:r>
          </a:p>
        </p:txBody>
      </p:sp>
      <p:sp>
        <p:nvSpPr>
          <p:cNvPr id="31747" name="Rectangle 3"/>
          <p:cNvSpPr>
            <a:spLocks noGrp="1" noChangeArrowheads="1"/>
          </p:cNvSpPr>
          <p:nvPr>
            <p:ph idx="1"/>
          </p:nvPr>
        </p:nvSpPr>
        <p:spPr>
          <a:xfrm>
            <a:off x="495300" y="1196975"/>
            <a:ext cx="9065895" cy="1968500"/>
          </a:xfrm>
        </p:spPr>
        <p:txBody>
          <a:bodyPr/>
          <a:lstStyle/>
          <a:p>
            <a:pPr marL="0" indent="0">
              <a:buNone/>
            </a:pPr>
            <a:r>
              <a:rPr lang="zh-CN" altLang="en-US" dirty="0"/>
              <a:t>（</a:t>
            </a:r>
            <a:r>
              <a:rPr lang="en-US" altLang="zh-CN" dirty="0"/>
              <a:t>2</a:t>
            </a:r>
            <a:r>
              <a:rPr lang="zh-CN" altLang="en-US" dirty="0"/>
              <a:t>）</a:t>
            </a:r>
            <a:r>
              <a:rPr lang="zh-CN" altLang="en-US" sz="2800" dirty="0"/>
              <a:t>差分曼彻斯特编码（</a:t>
            </a:r>
            <a:r>
              <a:rPr lang="en-US" altLang="zh-CN" sz="2400" dirty="0"/>
              <a:t>Differential</a:t>
            </a:r>
            <a:r>
              <a:rPr lang="en-US" altLang="zh-CN" sz="2800" dirty="0"/>
              <a:t> </a:t>
            </a:r>
            <a:r>
              <a:rPr lang="en-US" altLang="zh-CN" sz="2400" dirty="0"/>
              <a:t>Manchester</a:t>
            </a:r>
            <a:r>
              <a:rPr lang="zh-CN" altLang="en-US" sz="2800" dirty="0"/>
              <a:t>）</a:t>
            </a:r>
          </a:p>
          <a:p>
            <a:pPr marL="0" indent="0">
              <a:buNone/>
            </a:pPr>
            <a:r>
              <a:rPr lang="en-US" altLang="zh-CN" sz="2800" dirty="0"/>
              <a:t>         </a:t>
            </a:r>
            <a:r>
              <a:rPr lang="zh-CN" altLang="en-US" sz="2400" dirty="0"/>
              <a:t>原理：</a:t>
            </a:r>
            <a:r>
              <a:rPr lang="zh-CN" altLang="en-US" sz="2400" dirty="0">
                <a:solidFill>
                  <a:srgbClr val="C00000"/>
                </a:solidFill>
              </a:rPr>
              <a:t>每一位中间都有一个跳变，每位开始时有跳变表示</a:t>
            </a:r>
            <a:r>
              <a:rPr lang="en-US" altLang="zh-CN" sz="2400" dirty="0">
                <a:solidFill>
                  <a:srgbClr val="C00000"/>
                </a:solidFill>
              </a:rPr>
              <a:t>	“0”</a:t>
            </a:r>
            <a:r>
              <a:rPr lang="zh-CN" altLang="en-US" sz="2400" dirty="0">
                <a:solidFill>
                  <a:srgbClr val="C00000"/>
                </a:solidFill>
              </a:rPr>
              <a:t>，无跳变表示</a:t>
            </a:r>
            <a:r>
              <a:rPr lang="en-US" altLang="zh-CN" sz="2400" dirty="0">
                <a:solidFill>
                  <a:srgbClr val="C00000"/>
                </a:solidFill>
              </a:rPr>
              <a:t>“1”</a:t>
            </a:r>
            <a:r>
              <a:rPr lang="zh-CN" altLang="en-US" sz="2400" dirty="0">
                <a:solidFill>
                  <a:srgbClr val="C00000"/>
                </a:solidFill>
              </a:rPr>
              <a:t>。</a:t>
            </a:r>
            <a:r>
              <a:rPr lang="zh-CN" altLang="en-US" sz="2400" dirty="0">
                <a:solidFill>
                  <a:schemeClr val="tx1"/>
                </a:solidFill>
              </a:rPr>
              <a:t>位中间跳变表示时钟，位前跳变表</a:t>
            </a:r>
            <a:r>
              <a:rPr lang="en-US" altLang="zh-CN" sz="2400" dirty="0">
                <a:solidFill>
                  <a:schemeClr val="tx1"/>
                </a:solidFill>
              </a:rPr>
              <a:t>	</a:t>
            </a:r>
            <a:r>
              <a:rPr lang="zh-CN" altLang="en-US" sz="2400" dirty="0">
                <a:solidFill>
                  <a:schemeClr val="tx1"/>
                </a:solidFill>
              </a:rPr>
              <a:t>示数据</a:t>
            </a:r>
            <a:r>
              <a:rPr lang="zh-CN" altLang="en-US" sz="2400" dirty="0"/>
              <a:t>。</a:t>
            </a:r>
            <a:endParaRPr lang="zh-CN" altLang="en-US" sz="2800" dirty="0"/>
          </a:p>
          <a:p>
            <a:pPr marL="0" indent="0">
              <a:buNone/>
            </a:pPr>
            <a:r>
              <a:rPr lang="zh-CN" altLang="en-US" dirty="0"/>
              <a:t> </a:t>
            </a:r>
          </a:p>
        </p:txBody>
      </p:sp>
      <p:sp>
        <p:nvSpPr>
          <p:cNvPr id="57" name="Rectangle 3"/>
          <p:cNvSpPr>
            <a:spLocks noGrp="1" noChangeArrowheads="1"/>
          </p:cNvSpPr>
          <p:nvPr/>
        </p:nvSpPr>
        <p:spPr>
          <a:xfrm>
            <a:off x="1419225" y="6005195"/>
            <a:ext cx="8215630" cy="618490"/>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marL="0" indent="0">
              <a:buNone/>
            </a:pPr>
            <a:r>
              <a:rPr lang="zh-CN" altLang="en-US" sz="2400" dirty="0"/>
              <a:t>优点：时钟、数据分离，便于提取。</a:t>
            </a:r>
          </a:p>
        </p:txBody>
      </p:sp>
      <p:pic>
        <p:nvPicPr>
          <p:cNvPr id="4" name="图片 3"/>
          <p:cNvPicPr>
            <a:picLocks noChangeAspect="1"/>
          </p:cNvPicPr>
          <p:nvPr/>
        </p:nvPicPr>
        <p:blipFill>
          <a:blip r:embed="rId3"/>
          <a:stretch>
            <a:fillRect/>
          </a:stretch>
        </p:blipFill>
        <p:spPr>
          <a:xfrm>
            <a:off x="1731645" y="3306445"/>
            <a:ext cx="7515225" cy="23101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常用编码方式</a:t>
            </a:r>
            <a:endParaRPr lang="zh-CN" altLang="en-US"/>
          </a:p>
        </p:txBody>
      </p:sp>
      <p:sp>
        <p:nvSpPr>
          <p:cNvPr id="31747" name="Rectangle 3"/>
          <p:cNvSpPr>
            <a:spLocks noGrp="1" noChangeArrowheads="1"/>
          </p:cNvSpPr>
          <p:nvPr>
            <p:ph idx="1"/>
          </p:nvPr>
        </p:nvSpPr>
        <p:spPr>
          <a:xfrm>
            <a:off x="873760" y="2122170"/>
            <a:ext cx="8688070" cy="784225"/>
          </a:xfrm>
        </p:spPr>
        <p:txBody>
          <a:bodyPr/>
          <a:lstStyle/>
          <a:p>
            <a:pPr marL="0" indent="0">
              <a:buNone/>
            </a:pPr>
            <a:r>
              <a:rPr lang="zh-CN" altLang="en-US" sz="4000" dirty="0"/>
              <a:t>写出差分曼彻斯特编码的二进制数值</a:t>
            </a:r>
            <a:r>
              <a:rPr lang="en-US" altLang="zh-CN" sz="2800" dirty="0"/>
              <a:t>         </a:t>
            </a:r>
            <a:endParaRPr lang="zh-CN" altLang="en-US" dirty="0"/>
          </a:p>
        </p:txBody>
      </p:sp>
      <p:pic>
        <p:nvPicPr>
          <p:cNvPr id="5" name="图片 4"/>
          <p:cNvPicPr>
            <a:picLocks noChangeAspect="1"/>
          </p:cNvPicPr>
          <p:nvPr/>
        </p:nvPicPr>
        <p:blipFill>
          <a:blip r:embed="rId2"/>
          <a:stretch>
            <a:fillRect/>
          </a:stretch>
        </p:blipFill>
        <p:spPr>
          <a:xfrm>
            <a:off x="1637665" y="3754755"/>
            <a:ext cx="6781800" cy="1647825"/>
          </a:xfrm>
          <a:prstGeom prst="rect">
            <a:avLst/>
          </a:prstGeom>
        </p:spPr>
      </p:pic>
      <p:sp>
        <p:nvSpPr>
          <p:cNvPr id="6" name="文本框 5"/>
          <p:cNvSpPr txBox="1"/>
          <p:nvPr/>
        </p:nvSpPr>
        <p:spPr>
          <a:xfrm>
            <a:off x="1988185" y="3342005"/>
            <a:ext cx="372745" cy="521970"/>
          </a:xfrm>
          <a:prstGeom prst="rect">
            <a:avLst/>
          </a:prstGeom>
          <a:noFill/>
        </p:spPr>
        <p:txBody>
          <a:bodyPr wrap="square" rtlCol="0">
            <a:spAutoFit/>
          </a:bodyPr>
          <a:lstStyle/>
          <a:p>
            <a:r>
              <a:rPr lang="en-US" altLang="zh-CN" sz="2800">
                <a:solidFill>
                  <a:srgbClr val="C00000"/>
                </a:solidFill>
              </a:rPr>
              <a:t>0</a:t>
            </a:r>
          </a:p>
        </p:txBody>
      </p:sp>
      <p:sp>
        <p:nvSpPr>
          <p:cNvPr id="7" name="文本框 6"/>
          <p:cNvSpPr txBox="1"/>
          <p:nvPr/>
        </p:nvSpPr>
        <p:spPr>
          <a:xfrm>
            <a:off x="2832735" y="3325495"/>
            <a:ext cx="372745" cy="521970"/>
          </a:xfrm>
          <a:prstGeom prst="rect">
            <a:avLst/>
          </a:prstGeom>
          <a:noFill/>
        </p:spPr>
        <p:txBody>
          <a:bodyPr wrap="square" rtlCol="0">
            <a:spAutoFit/>
          </a:bodyPr>
          <a:lstStyle/>
          <a:p>
            <a:r>
              <a:rPr lang="en-US" altLang="zh-CN" sz="2800">
                <a:solidFill>
                  <a:srgbClr val="C00000"/>
                </a:solidFill>
              </a:rPr>
              <a:t>1</a:t>
            </a:r>
          </a:p>
        </p:txBody>
      </p:sp>
      <p:sp>
        <p:nvSpPr>
          <p:cNvPr id="8" name="文本框 7"/>
          <p:cNvSpPr txBox="1"/>
          <p:nvPr/>
        </p:nvSpPr>
        <p:spPr>
          <a:xfrm>
            <a:off x="3693795" y="3325495"/>
            <a:ext cx="372745" cy="521970"/>
          </a:xfrm>
          <a:prstGeom prst="rect">
            <a:avLst/>
          </a:prstGeom>
          <a:noFill/>
        </p:spPr>
        <p:txBody>
          <a:bodyPr wrap="square" rtlCol="0">
            <a:spAutoFit/>
          </a:bodyPr>
          <a:lstStyle/>
          <a:p>
            <a:r>
              <a:rPr lang="en-US" altLang="zh-CN" sz="2800">
                <a:solidFill>
                  <a:srgbClr val="C00000"/>
                </a:solidFill>
              </a:rPr>
              <a:t>0</a:t>
            </a:r>
          </a:p>
        </p:txBody>
      </p:sp>
      <p:sp>
        <p:nvSpPr>
          <p:cNvPr id="9" name="文本框 8"/>
          <p:cNvSpPr txBox="1"/>
          <p:nvPr/>
        </p:nvSpPr>
        <p:spPr>
          <a:xfrm>
            <a:off x="4483100" y="3325495"/>
            <a:ext cx="372745" cy="521970"/>
          </a:xfrm>
          <a:prstGeom prst="rect">
            <a:avLst/>
          </a:prstGeom>
          <a:noFill/>
        </p:spPr>
        <p:txBody>
          <a:bodyPr wrap="square" rtlCol="0">
            <a:spAutoFit/>
          </a:bodyPr>
          <a:lstStyle/>
          <a:p>
            <a:r>
              <a:rPr lang="en-US" altLang="zh-CN" sz="2800">
                <a:solidFill>
                  <a:srgbClr val="C00000"/>
                </a:solidFill>
              </a:rPr>
              <a:t>0</a:t>
            </a:r>
          </a:p>
        </p:txBody>
      </p:sp>
      <p:sp>
        <p:nvSpPr>
          <p:cNvPr id="10" name="文本框 9"/>
          <p:cNvSpPr txBox="1"/>
          <p:nvPr/>
        </p:nvSpPr>
        <p:spPr>
          <a:xfrm>
            <a:off x="5327650" y="3308985"/>
            <a:ext cx="372745" cy="521970"/>
          </a:xfrm>
          <a:prstGeom prst="rect">
            <a:avLst/>
          </a:prstGeom>
          <a:noFill/>
        </p:spPr>
        <p:txBody>
          <a:bodyPr wrap="square" rtlCol="0">
            <a:spAutoFit/>
          </a:bodyPr>
          <a:lstStyle/>
          <a:p>
            <a:r>
              <a:rPr lang="en-US" altLang="zh-CN" sz="2800">
                <a:solidFill>
                  <a:srgbClr val="C00000"/>
                </a:solidFill>
              </a:rPr>
              <a:t>1</a:t>
            </a:r>
          </a:p>
        </p:txBody>
      </p:sp>
      <p:sp>
        <p:nvSpPr>
          <p:cNvPr id="11" name="文本框 10"/>
          <p:cNvSpPr txBox="1"/>
          <p:nvPr/>
        </p:nvSpPr>
        <p:spPr>
          <a:xfrm>
            <a:off x="6116955" y="3308985"/>
            <a:ext cx="372745" cy="521970"/>
          </a:xfrm>
          <a:prstGeom prst="rect">
            <a:avLst/>
          </a:prstGeom>
          <a:noFill/>
        </p:spPr>
        <p:txBody>
          <a:bodyPr wrap="square" rtlCol="0">
            <a:spAutoFit/>
          </a:bodyPr>
          <a:lstStyle/>
          <a:p>
            <a:r>
              <a:rPr lang="en-US" altLang="zh-CN" sz="2800">
                <a:solidFill>
                  <a:srgbClr val="C00000"/>
                </a:solidFill>
              </a:rPr>
              <a:t>1</a:t>
            </a:r>
          </a:p>
        </p:txBody>
      </p:sp>
      <p:sp>
        <p:nvSpPr>
          <p:cNvPr id="12" name="文本框 11"/>
          <p:cNvSpPr txBox="1"/>
          <p:nvPr/>
        </p:nvSpPr>
        <p:spPr>
          <a:xfrm>
            <a:off x="6906260" y="3308985"/>
            <a:ext cx="372745" cy="521970"/>
          </a:xfrm>
          <a:prstGeom prst="rect">
            <a:avLst/>
          </a:prstGeom>
          <a:noFill/>
        </p:spPr>
        <p:txBody>
          <a:bodyPr wrap="square" rtlCol="0">
            <a:spAutoFit/>
          </a:bodyPr>
          <a:lstStyle/>
          <a:p>
            <a:r>
              <a:rPr lang="en-US" altLang="zh-CN" sz="2800">
                <a:solidFill>
                  <a:srgbClr val="C00000"/>
                </a:solidFill>
              </a:rPr>
              <a:t>1</a:t>
            </a:r>
          </a:p>
        </p:txBody>
      </p:sp>
      <p:sp>
        <p:nvSpPr>
          <p:cNvPr id="14" name="文本框 13"/>
          <p:cNvSpPr txBox="1"/>
          <p:nvPr/>
        </p:nvSpPr>
        <p:spPr>
          <a:xfrm>
            <a:off x="7712075" y="3325495"/>
            <a:ext cx="372745" cy="521970"/>
          </a:xfrm>
          <a:prstGeom prst="rect">
            <a:avLst/>
          </a:prstGeom>
          <a:noFill/>
        </p:spPr>
        <p:txBody>
          <a:bodyPr wrap="square" rtlCol="0">
            <a:spAutoFit/>
          </a:bodyPr>
          <a:lstStyle/>
          <a:p>
            <a:r>
              <a:rPr lang="en-US" altLang="zh-CN" sz="2800">
                <a:solidFill>
                  <a:srgbClr val="C00000"/>
                </a:solidFill>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P spid="9" grpId="0"/>
      <p:bldP spid="9" grpId="1"/>
      <p:bldP spid="10" grpId="0"/>
      <p:bldP spid="10" grpId="1"/>
      <p:bldP spid="11" grpId="0"/>
      <p:bldP spid="11" grpId="1"/>
      <p:bldP spid="12" grpId="0"/>
      <p:bldP spid="12" grpId="1"/>
      <p:bldP spid="14" grpId="0"/>
      <p:bldP spid="1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带通调制</a:t>
            </a:r>
          </a:p>
        </p:txBody>
      </p:sp>
      <p:sp>
        <p:nvSpPr>
          <p:cNvPr id="3" name="内容占位符 2"/>
          <p:cNvSpPr>
            <a:spLocks noGrp="1"/>
          </p:cNvSpPr>
          <p:nvPr>
            <p:ph idx="1"/>
          </p:nvPr>
        </p:nvSpPr>
        <p:spPr>
          <a:xfrm>
            <a:off x="495300" y="1050290"/>
            <a:ext cx="9065895" cy="5735320"/>
          </a:xfrm>
        </p:spPr>
        <p:txBody>
          <a:bodyPr/>
          <a:lstStyle/>
          <a:p>
            <a:r>
              <a:rPr lang="zh-CN" altLang="zh-CN" sz="2800" b="0" dirty="0">
                <a:solidFill>
                  <a:srgbClr val="0070C0"/>
                </a:solidFill>
              </a:rPr>
              <a:t>带通调制：</a:t>
            </a:r>
            <a:r>
              <a:rPr lang="zh-CN" altLang="zh-CN" sz="2800" b="0" dirty="0">
                <a:solidFill>
                  <a:schemeClr val="tx1"/>
                </a:solidFill>
              </a:rPr>
              <a:t>使用</a:t>
            </a:r>
            <a:r>
              <a:rPr lang="zh-CN" altLang="zh-CN" sz="2800" b="0" dirty="0">
                <a:solidFill>
                  <a:srgbClr val="FF0000"/>
                </a:solidFill>
              </a:rPr>
              <a:t>载波调制，</a:t>
            </a:r>
            <a:r>
              <a:rPr lang="zh-CN" altLang="zh-CN" sz="2800" b="0" dirty="0">
                <a:solidFill>
                  <a:schemeClr val="tx1"/>
                </a:solidFill>
              </a:rPr>
              <a:t>将</a:t>
            </a:r>
            <a:r>
              <a:rPr lang="zh-CN" altLang="zh-CN" sz="2800" b="0" dirty="0">
                <a:solidFill>
                  <a:srgbClr val="FF0000"/>
                </a:solidFill>
              </a:rPr>
              <a:t>基带信号</a:t>
            </a:r>
            <a:r>
              <a:rPr lang="zh-CN" altLang="zh-CN" sz="2800" b="0" dirty="0">
                <a:solidFill>
                  <a:schemeClr val="tx1"/>
                </a:solidFill>
              </a:rPr>
              <a:t>的频率范围搬移到较高的频段，并转换为</a:t>
            </a:r>
            <a:r>
              <a:rPr lang="zh-CN" altLang="zh-CN" sz="2800" b="0" dirty="0">
                <a:solidFill>
                  <a:srgbClr val="FF0000"/>
                </a:solidFill>
              </a:rPr>
              <a:t>模拟信号。</a:t>
            </a:r>
            <a:endParaRPr lang="zh-CN" altLang="zh-CN" sz="2800" dirty="0">
              <a:solidFill>
                <a:srgbClr val="FF0000"/>
              </a:solidFill>
            </a:endParaRPr>
          </a:p>
          <a:p>
            <a:endParaRPr lang="zh-CN" altLang="zh-CN" dirty="0">
              <a:solidFill>
                <a:srgbClr val="FF0000"/>
              </a:solidFill>
            </a:endParaRPr>
          </a:p>
          <a:p>
            <a:endParaRPr lang="zh-CN" altLang="zh-CN" sz="2400" dirty="0">
              <a:solidFill>
                <a:srgbClr val="FF0000"/>
              </a:solidFill>
            </a:endParaRPr>
          </a:p>
          <a:p>
            <a:endParaRPr lang="zh-CN" altLang="zh-CN" sz="2400" dirty="0">
              <a:solidFill>
                <a:srgbClr val="FF0000"/>
              </a:solidFill>
            </a:endParaRPr>
          </a:p>
          <a:p>
            <a:r>
              <a:rPr lang="zh-CN" altLang="zh-CN" sz="2800" dirty="0">
                <a:solidFill>
                  <a:srgbClr val="FF0000"/>
                </a:solidFill>
              </a:rPr>
              <a:t>最基本的带通调制方法有以下几种：</a:t>
            </a:r>
          </a:p>
          <a:p>
            <a:pPr marL="0" indent="0">
              <a:buNone/>
            </a:pPr>
            <a:r>
              <a:rPr lang="zh-CN" altLang="zh-CN" sz="2400" dirty="0">
                <a:solidFill>
                  <a:srgbClr val="0070C0"/>
                </a:solidFill>
              </a:rPr>
              <a:t>（</a:t>
            </a:r>
            <a:r>
              <a:rPr lang="en-US" altLang="zh-CN" sz="2400" dirty="0">
                <a:solidFill>
                  <a:srgbClr val="0070C0"/>
                </a:solidFill>
              </a:rPr>
              <a:t>1</a:t>
            </a:r>
            <a:r>
              <a:rPr lang="zh-CN" altLang="zh-CN" sz="2400" dirty="0">
                <a:solidFill>
                  <a:srgbClr val="0070C0"/>
                </a:solidFill>
              </a:rPr>
              <a:t>）调幅（</a:t>
            </a:r>
            <a:r>
              <a:rPr lang="en-US" altLang="zh-CN" sz="2400" dirty="0">
                <a:solidFill>
                  <a:srgbClr val="0070C0"/>
                </a:solidFill>
              </a:rPr>
              <a:t>AM</a:t>
            </a:r>
            <a:r>
              <a:rPr lang="zh-CN" altLang="zh-CN" sz="2400" dirty="0">
                <a:solidFill>
                  <a:srgbClr val="0070C0"/>
                </a:solidFill>
              </a:rPr>
              <a:t>）：</a:t>
            </a:r>
            <a:r>
              <a:rPr lang="zh-CN" altLang="zh-CN" sz="2400" dirty="0"/>
              <a:t>载波的幅度随基带数字信号而变化。</a:t>
            </a:r>
          </a:p>
          <a:p>
            <a:pPr marL="0" indent="0">
              <a:buNone/>
            </a:pPr>
            <a:r>
              <a:rPr lang="zh-CN" altLang="zh-CN" sz="2400" dirty="0">
                <a:solidFill>
                  <a:srgbClr val="0070C0"/>
                </a:solidFill>
              </a:rPr>
              <a:t>（</a:t>
            </a:r>
            <a:r>
              <a:rPr lang="en-US" altLang="zh-CN" sz="2400" dirty="0">
                <a:solidFill>
                  <a:srgbClr val="0070C0"/>
                </a:solidFill>
              </a:rPr>
              <a:t>2</a:t>
            </a:r>
            <a:r>
              <a:rPr lang="zh-CN" altLang="zh-CN" sz="2400" dirty="0">
                <a:solidFill>
                  <a:srgbClr val="0070C0"/>
                </a:solidFill>
              </a:rPr>
              <a:t>）调频（</a:t>
            </a:r>
            <a:r>
              <a:rPr lang="en-US" altLang="zh-CN" sz="2400" dirty="0">
                <a:solidFill>
                  <a:srgbClr val="0070C0"/>
                </a:solidFill>
              </a:rPr>
              <a:t>FM</a:t>
            </a:r>
            <a:r>
              <a:rPr lang="zh-CN" altLang="zh-CN" sz="2400" dirty="0">
                <a:solidFill>
                  <a:srgbClr val="0070C0"/>
                </a:solidFill>
              </a:rPr>
              <a:t>）：</a:t>
            </a:r>
            <a:r>
              <a:rPr lang="zh-CN" altLang="zh-CN" sz="2400" dirty="0"/>
              <a:t>载波的频率随基带数字信号而变化。</a:t>
            </a:r>
          </a:p>
          <a:p>
            <a:pPr marL="0" indent="0">
              <a:buNone/>
            </a:pPr>
            <a:r>
              <a:rPr lang="zh-CN" altLang="zh-CN" sz="2400" dirty="0">
                <a:solidFill>
                  <a:srgbClr val="0070C0"/>
                </a:solidFill>
              </a:rPr>
              <a:t>（</a:t>
            </a:r>
            <a:r>
              <a:rPr lang="en-US" altLang="zh-CN" sz="2400" dirty="0">
                <a:solidFill>
                  <a:srgbClr val="0070C0"/>
                </a:solidFill>
              </a:rPr>
              <a:t>3</a:t>
            </a:r>
            <a:r>
              <a:rPr lang="zh-CN" altLang="zh-CN" sz="2400" dirty="0">
                <a:solidFill>
                  <a:srgbClr val="0070C0"/>
                </a:solidFill>
              </a:rPr>
              <a:t>）调相（</a:t>
            </a:r>
            <a:r>
              <a:rPr lang="en-US" altLang="zh-CN" sz="2400" dirty="0">
                <a:solidFill>
                  <a:srgbClr val="0070C0"/>
                </a:solidFill>
              </a:rPr>
              <a:t>PM</a:t>
            </a:r>
            <a:r>
              <a:rPr lang="zh-CN" altLang="zh-CN" sz="2400" dirty="0">
                <a:solidFill>
                  <a:srgbClr val="0070C0"/>
                </a:solidFill>
              </a:rPr>
              <a:t>）：</a:t>
            </a:r>
            <a:r>
              <a:rPr lang="zh-CN" altLang="zh-CN" sz="2400" dirty="0"/>
              <a:t>载波的初始相位随基带数字信号而变化。</a:t>
            </a:r>
          </a:p>
          <a:p>
            <a:endParaRPr lang="zh-CN" altLang="zh-CN" sz="2400" dirty="0"/>
          </a:p>
        </p:txBody>
      </p:sp>
      <p:pic>
        <p:nvPicPr>
          <p:cNvPr id="5" name="图片 4"/>
          <p:cNvPicPr>
            <a:picLocks noChangeAspect="1"/>
          </p:cNvPicPr>
          <p:nvPr/>
        </p:nvPicPr>
        <p:blipFill>
          <a:blip r:embed="rId2"/>
          <a:stretch>
            <a:fillRect/>
          </a:stretch>
        </p:blipFill>
        <p:spPr>
          <a:xfrm>
            <a:off x="1987550" y="2440940"/>
            <a:ext cx="6845935" cy="8204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带通调制的几种方法</a:t>
            </a:r>
          </a:p>
        </p:txBody>
      </p:sp>
      <p:pic>
        <p:nvPicPr>
          <p:cNvPr id="4" name="图片 3"/>
          <p:cNvPicPr>
            <a:picLocks noChangeAspect="1"/>
          </p:cNvPicPr>
          <p:nvPr/>
        </p:nvPicPr>
        <p:blipFill>
          <a:blip r:embed="rId2"/>
          <a:stretch>
            <a:fillRect/>
          </a:stretch>
        </p:blipFill>
        <p:spPr>
          <a:xfrm>
            <a:off x="1026795" y="1918970"/>
            <a:ext cx="7853045" cy="4127500"/>
          </a:xfrm>
          <a:prstGeom prst="rect">
            <a:avLst/>
          </a:prstGeom>
        </p:spPr>
      </p:pic>
      <p:sp>
        <p:nvSpPr>
          <p:cNvPr id="5" name="矩形 4"/>
          <p:cNvSpPr/>
          <p:nvPr/>
        </p:nvSpPr>
        <p:spPr>
          <a:xfrm>
            <a:off x="848995" y="5161915"/>
            <a:ext cx="360045" cy="93091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正交振幅调制</a:t>
            </a:r>
          </a:p>
        </p:txBody>
      </p:sp>
      <p:pic>
        <p:nvPicPr>
          <p:cNvPr id="4" name="图片 3"/>
          <p:cNvPicPr>
            <a:picLocks noChangeAspect="1"/>
          </p:cNvPicPr>
          <p:nvPr/>
        </p:nvPicPr>
        <p:blipFill>
          <a:blip r:embed="rId3"/>
          <a:stretch>
            <a:fillRect/>
          </a:stretch>
        </p:blipFill>
        <p:spPr>
          <a:xfrm>
            <a:off x="1103630" y="2807335"/>
            <a:ext cx="3750310" cy="2853690"/>
          </a:xfrm>
          <a:prstGeom prst="rect">
            <a:avLst/>
          </a:prstGeom>
        </p:spPr>
      </p:pic>
      <p:sp>
        <p:nvSpPr>
          <p:cNvPr id="31747" name="Rectangle 3"/>
          <p:cNvSpPr>
            <a:spLocks noGrp="1" noChangeArrowheads="1"/>
          </p:cNvSpPr>
          <p:nvPr>
            <p:ph idx="1"/>
          </p:nvPr>
        </p:nvSpPr>
        <p:spPr>
          <a:xfrm>
            <a:off x="495300" y="1196975"/>
            <a:ext cx="9065895" cy="1968500"/>
          </a:xfrm>
        </p:spPr>
        <p:txBody>
          <a:bodyPr/>
          <a:lstStyle/>
          <a:p>
            <a:pPr marL="0" indent="0" algn="just">
              <a:buNone/>
            </a:pPr>
            <a:r>
              <a:rPr lang="zh-CN" altLang="en-US" sz="2400" dirty="0"/>
              <a:t>原理：</a:t>
            </a:r>
            <a:r>
              <a:rPr lang="zh-CN" altLang="en-US" sz="2400" dirty="0">
                <a:solidFill>
                  <a:schemeClr val="tx1"/>
                </a:solidFill>
              </a:rPr>
              <a:t>为了达到更高的信息传输速率，可采用</a:t>
            </a:r>
            <a:r>
              <a:rPr lang="zh-CN" altLang="en-US" sz="2400" dirty="0">
                <a:solidFill>
                  <a:srgbClr val="FF0000"/>
                </a:solidFill>
              </a:rPr>
              <a:t>多元制的振幅相位调制方法</a:t>
            </a:r>
            <a:r>
              <a:rPr lang="zh-CN" altLang="en-US" sz="2400" dirty="0">
                <a:solidFill>
                  <a:schemeClr val="tx1"/>
                </a:solidFill>
              </a:rPr>
              <a:t>。如图为</a:t>
            </a:r>
            <a:r>
              <a:rPr lang="zh-CN" altLang="en-US" sz="2400" dirty="0">
                <a:solidFill>
                  <a:srgbClr val="FF0000"/>
                </a:solidFill>
              </a:rPr>
              <a:t>正交振幅调制</a:t>
            </a:r>
            <a:r>
              <a:rPr lang="en-US" altLang="zh-CN" sz="2400" dirty="0">
                <a:solidFill>
                  <a:srgbClr val="FF0000"/>
                </a:solidFill>
              </a:rPr>
              <a:t>QAM</a:t>
            </a:r>
            <a:r>
              <a:rPr lang="en-US" altLang="zh-CN" sz="2400" dirty="0">
                <a:solidFill>
                  <a:schemeClr val="tx1"/>
                </a:solidFill>
              </a:rPr>
              <a:t>(Quadrature Amplitude Modulation)</a:t>
            </a:r>
            <a:r>
              <a:rPr lang="zh-CN" altLang="en-US" sz="2400" dirty="0">
                <a:solidFill>
                  <a:schemeClr val="tx1"/>
                </a:solidFill>
              </a:rPr>
              <a:t>的星座图。</a:t>
            </a:r>
            <a:endParaRPr lang="zh-CN" altLang="en-US" sz="2800" dirty="0"/>
          </a:p>
          <a:p>
            <a:pPr marL="0" indent="0">
              <a:buNone/>
            </a:pPr>
            <a:r>
              <a:rPr lang="zh-CN" altLang="en-US" dirty="0"/>
              <a:t> </a:t>
            </a:r>
          </a:p>
        </p:txBody>
      </p:sp>
      <p:sp>
        <p:nvSpPr>
          <p:cNvPr id="3" name="文本框 2"/>
          <p:cNvSpPr txBox="1"/>
          <p:nvPr/>
        </p:nvSpPr>
        <p:spPr>
          <a:xfrm>
            <a:off x="5569585" y="2647315"/>
            <a:ext cx="3992245" cy="1198880"/>
          </a:xfrm>
          <a:prstGeom prst="rect">
            <a:avLst/>
          </a:prstGeom>
          <a:noFill/>
        </p:spPr>
        <p:txBody>
          <a:bodyPr wrap="square" rtlCol="0">
            <a:spAutoFit/>
          </a:bodyPr>
          <a:lstStyle/>
          <a:p>
            <a:pPr algn="just"/>
            <a:r>
              <a:rPr lang="zh-CN" altLang="en-US" sz="2400" b="1" kern="0" dirty="0">
                <a:solidFill>
                  <a:srgbClr val="0070C0"/>
                </a:solidFill>
                <a:latin typeface="+mn-lt"/>
                <a:ea typeface="黑体" panose="02010609060101010101" pitchFamily="2" charset="-122"/>
              </a:rPr>
              <a:t>可供选择的相位有12种，而对于每一种相位有1或2种振幅可供选择。</a:t>
            </a:r>
          </a:p>
        </p:txBody>
      </p:sp>
      <p:sp>
        <p:nvSpPr>
          <p:cNvPr id="5" name="文本框 4"/>
          <p:cNvSpPr txBox="1"/>
          <p:nvPr/>
        </p:nvSpPr>
        <p:spPr>
          <a:xfrm>
            <a:off x="5569585" y="4163695"/>
            <a:ext cx="3992245" cy="1568450"/>
          </a:xfrm>
          <a:prstGeom prst="rect">
            <a:avLst/>
          </a:prstGeom>
          <a:noFill/>
        </p:spPr>
        <p:txBody>
          <a:bodyPr wrap="square" rtlCol="0">
            <a:spAutoFit/>
          </a:bodyPr>
          <a:lstStyle/>
          <a:p>
            <a:pPr algn="just"/>
            <a:r>
              <a:rPr lang="zh-CN" altLang="en-US" sz="2400" b="1" kern="0" dirty="0">
                <a:solidFill>
                  <a:srgbClr val="0070C0"/>
                </a:solidFill>
                <a:latin typeface="+mn-lt"/>
                <a:ea typeface="黑体" panose="02010609060101010101" pitchFamily="2" charset="-122"/>
              </a:rPr>
              <a:t>由于</a:t>
            </a:r>
            <a:r>
              <a:rPr lang="en-US" altLang="zh-CN" sz="2400" b="1" kern="0" dirty="0">
                <a:solidFill>
                  <a:srgbClr val="0070C0"/>
                </a:solidFill>
                <a:latin typeface="+mn-lt"/>
                <a:ea typeface="黑体" panose="02010609060101010101" pitchFamily="2" charset="-122"/>
              </a:rPr>
              <a:t>4 bit</a:t>
            </a:r>
            <a:r>
              <a:rPr lang="zh-CN" altLang="en-US" sz="2400" b="1" kern="0" dirty="0">
                <a:solidFill>
                  <a:srgbClr val="0070C0"/>
                </a:solidFill>
                <a:latin typeface="+mn-lt"/>
                <a:ea typeface="黑体" panose="02010609060101010101" pitchFamily="2" charset="-122"/>
              </a:rPr>
              <a:t>编码共有</a:t>
            </a:r>
            <a:r>
              <a:rPr lang="en-US" altLang="zh-CN" sz="2400" b="1" kern="0" dirty="0">
                <a:solidFill>
                  <a:srgbClr val="0070C0"/>
                </a:solidFill>
                <a:latin typeface="+mn-lt"/>
                <a:ea typeface="黑体" panose="02010609060101010101" pitchFamily="2" charset="-122"/>
              </a:rPr>
              <a:t>16</a:t>
            </a:r>
            <a:r>
              <a:rPr lang="zh-CN" altLang="en-US" sz="2400" b="1" kern="0" dirty="0">
                <a:solidFill>
                  <a:srgbClr val="0070C0"/>
                </a:solidFill>
                <a:latin typeface="+mn-lt"/>
                <a:ea typeface="黑体" panose="02010609060101010101" pitchFamily="2" charset="-122"/>
              </a:rPr>
              <a:t>种不同的组合，因此这</a:t>
            </a:r>
            <a:r>
              <a:rPr lang="en-US" altLang="zh-CN" sz="2400" b="1" kern="0" dirty="0">
                <a:solidFill>
                  <a:srgbClr val="0070C0"/>
                </a:solidFill>
                <a:latin typeface="+mn-lt"/>
                <a:ea typeface="黑体" panose="02010609060101010101" pitchFamily="2" charset="-122"/>
              </a:rPr>
              <a:t>16</a:t>
            </a:r>
            <a:r>
              <a:rPr lang="zh-CN" altLang="en-US" sz="2400" b="1" kern="0" dirty="0">
                <a:solidFill>
                  <a:srgbClr val="0070C0"/>
                </a:solidFill>
                <a:latin typeface="+mn-lt"/>
                <a:ea typeface="黑体" panose="02010609060101010101" pitchFamily="2" charset="-122"/>
              </a:rPr>
              <a:t>个点中的每个点可对应于一种</a:t>
            </a:r>
            <a:r>
              <a:rPr lang="en-US" altLang="zh-CN" sz="2400" b="1" kern="0" dirty="0">
                <a:solidFill>
                  <a:srgbClr val="0070C0"/>
                </a:solidFill>
                <a:latin typeface="+mn-lt"/>
                <a:ea typeface="黑体" panose="02010609060101010101" pitchFamily="2" charset="-122"/>
              </a:rPr>
              <a:t>4bit</a:t>
            </a:r>
            <a:r>
              <a:rPr lang="zh-CN" altLang="en-US" sz="2400" b="1" kern="0" dirty="0">
                <a:solidFill>
                  <a:srgbClr val="0070C0"/>
                </a:solidFill>
                <a:latin typeface="+mn-lt"/>
                <a:ea typeface="黑体" panose="02010609060101010101" pitchFamily="2" charset="-122"/>
              </a:rPr>
              <a:t>的编码</a:t>
            </a:r>
          </a:p>
        </p:txBody>
      </p:sp>
      <p:sp>
        <p:nvSpPr>
          <p:cNvPr id="6" name="文本框 5"/>
          <p:cNvSpPr txBox="1"/>
          <p:nvPr/>
        </p:nvSpPr>
        <p:spPr>
          <a:xfrm>
            <a:off x="1036320" y="5922645"/>
            <a:ext cx="8023225" cy="829945"/>
          </a:xfrm>
          <a:prstGeom prst="rect">
            <a:avLst/>
          </a:prstGeom>
          <a:noFill/>
        </p:spPr>
        <p:txBody>
          <a:bodyPr wrap="square" rtlCol="0">
            <a:spAutoFit/>
          </a:bodyPr>
          <a:lstStyle/>
          <a:p>
            <a:pPr algn="just"/>
            <a:r>
              <a:rPr lang="zh-CN" altLang="en-US" sz="2400" b="1" kern="0" dirty="0">
                <a:solidFill>
                  <a:srgbClr val="0070C0"/>
                </a:solidFill>
                <a:latin typeface="+mn-lt"/>
                <a:ea typeface="黑体" panose="02010609060101010101" pitchFamily="2" charset="-122"/>
              </a:rPr>
              <a:t>若每个码元表示的</a:t>
            </a:r>
            <a:r>
              <a:rPr lang="en-US" altLang="zh-CN" sz="2400" b="1" kern="0" dirty="0">
                <a:solidFill>
                  <a:srgbClr val="0070C0"/>
                </a:solidFill>
                <a:latin typeface="+mn-lt"/>
                <a:ea typeface="黑体" panose="02010609060101010101" pitchFamily="2" charset="-122"/>
              </a:rPr>
              <a:t>bit</a:t>
            </a:r>
            <a:r>
              <a:rPr lang="zh-CN" altLang="en-US" sz="2400" b="1" kern="0" dirty="0">
                <a:solidFill>
                  <a:srgbClr val="0070C0"/>
                </a:solidFill>
                <a:latin typeface="+mn-lt"/>
                <a:ea typeface="黑体" panose="02010609060101010101" pitchFamily="2" charset="-122"/>
              </a:rPr>
              <a:t>数越多，则在接收端进行解调时要正确识别每一种状态就越困难。</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sinx"/>
          <p:cNvPicPr>
            <a:picLocks noChangeAspect="1"/>
          </p:cNvPicPr>
          <p:nvPr/>
        </p:nvPicPr>
        <p:blipFill>
          <a:blip r:embed="rId2"/>
          <a:stretch>
            <a:fillRect/>
          </a:stretch>
        </p:blipFill>
        <p:spPr>
          <a:xfrm>
            <a:off x="354330" y="1060450"/>
            <a:ext cx="3888740" cy="2916555"/>
          </a:xfrm>
          <a:prstGeom prst="rect">
            <a:avLst/>
          </a:prstGeom>
        </p:spPr>
      </p:pic>
      <p:pic>
        <p:nvPicPr>
          <p:cNvPr id="5" name="图片 4" descr="sin2x"/>
          <p:cNvPicPr>
            <a:picLocks noChangeAspect="1"/>
          </p:cNvPicPr>
          <p:nvPr/>
        </p:nvPicPr>
        <p:blipFill>
          <a:blip r:embed="rId3"/>
          <a:stretch>
            <a:fillRect/>
          </a:stretch>
        </p:blipFill>
        <p:spPr>
          <a:xfrm>
            <a:off x="5410835" y="1061085"/>
            <a:ext cx="3887527" cy="2916000"/>
          </a:xfrm>
          <a:prstGeom prst="rect">
            <a:avLst/>
          </a:prstGeom>
        </p:spPr>
      </p:pic>
      <p:pic>
        <p:nvPicPr>
          <p:cNvPr id="6" name="图片 5" descr="sin(x+pi)"/>
          <p:cNvPicPr>
            <a:picLocks noChangeAspect="1"/>
          </p:cNvPicPr>
          <p:nvPr/>
        </p:nvPicPr>
        <p:blipFill>
          <a:blip r:embed="rId4"/>
          <a:stretch>
            <a:fillRect/>
          </a:stretch>
        </p:blipFill>
        <p:spPr>
          <a:xfrm>
            <a:off x="380365" y="3902075"/>
            <a:ext cx="3888000" cy="2916000"/>
          </a:xfrm>
          <a:prstGeom prst="rect">
            <a:avLst/>
          </a:prstGeom>
        </p:spPr>
      </p:pic>
      <p:pic>
        <p:nvPicPr>
          <p:cNvPr id="7" name="图片 6" descr="sin(2x+pi)"/>
          <p:cNvPicPr>
            <a:picLocks noChangeAspect="1"/>
          </p:cNvPicPr>
          <p:nvPr/>
        </p:nvPicPr>
        <p:blipFill>
          <a:blip r:embed="rId5"/>
          <a:stretch>
            <a:fillRect/>
          </a:stretch>
        </p:blipFill>
        <p:spPr>
          <a:xfrm>
            <a:off x="5410835" y="3902075"/>
            <a:ext cx="3887615" cy="291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dirty="0"/>
              <a:t>2.2.3  </a:t>
            </a:r>
            <a:r>
              <a:rPr lang="zh-CN" altLang="en-US" dirty="0"/>
              <a:t>信道的极限容量 </a:t>
            </a:r>
          </a:p>
        </p:txBody>
      </p:sp>
      <p:sp>
        <p:nvSpPr>
          <p:cNvPr id="31747" name="Rectangle 3"/>
          <p:cNvSpPr>
            <a:spLocks noGrp="1" noChangeArrowheads="1"/>
          </p:cNvSpPr>
          <p:nvPr>
            <p:ph idx="1"/>
          </p:nvPr>
        </p:nvSpPr>
        <p:spPr/>
        <p:txBody>
          <a:bodyPr/>
          <a:lstStyle/>
          <a:p>
            <a:r>
              <a:rPr lang="zh-CN" altLang="en-US" dirty="0"/>
              <a:t>任何实际的信道都不是理想的，在传输信号时会产生各种失真以及带来多种干扰。</a:t>
            </a:r>
            <a:r>
              <a:rPr lang="zh-CN" altLang="en-US" sz="3600" dirty="0"/>
              <a:t> </a:t>
            </a:r>
          </a:p>
          <a:p>
            <a:r>
              <a:rPr lang="zh-CN" altLang="en-US" dirty="0">
                <a:solidFill>
                  <a:srgbClr val="FF0000"/>
                </a:solidFill>
              </a:rPr>
              <a:t>码元</a:t>
            </a:r>
            <a:r>
              <a:rPr lang="zh-CN" altLang="en-US" dirty="0"/>
              <a:t>传输的速率越高，或信号传输的距离越远，</a:t>
            </a:r>
            <a:r>
              <a:rPr lang="zh-CN" altLang="zh-CN" dirty="0"/>
              <a:t>或传输媒体质量越差</a:t>
            </a:r>
            <a:r>
              <a:rPr lang="zh-CN" altLang="en-US" dirty="0"/>
              <a:t>，在信道的输出端的波形的失真就越严重。 </a:t>
            </a:r>
          </a:p>
          <a:p>
            <a:r>
              <a:rPr lang="zh-CN" altLang="en-US" dirty="0"/>
              <a:t>数字通信的优点：在接收端只要我们能从失真的波形中识别出原来的信号，这种失真对通信质量就没有影响。</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a:r>
              <a:rPr lang="zh-CN" altLang="en-US" dirty="0"/>
              <a:t>数字信号通过实际的信道 </a:t>
            </a:r>
          </a:p>
        </p:txBody>
      </p:sp>
      <p:grpSp>
        <p:nvGrpSpPr>
          <p:cNvPr id="4" name="组合 3"/>
          <p:cNvGrpSpPr/>
          <p:nvPr/>
        </p:nvGrpSpPr>
        <p:grpSpPr>
          <a:xfrm>
            <a:off x="626814" y="1268760"/>
            <a:ext cx="8502650" cy="2011970"/>
            <a:chOff x="626814" y="1426828"/>
            <a:chExt cx="8502650" cy="2011970"/>
          </a:xfrm>
        </p:grpSpPr>
        <p:sp>
          <p:nvSpPr>
            <p:cNvPr id="32772" name="AutoShape 4"/>
            <p:cNvSpPr>
              <a:spLocks noChangeArrowheads="1"/>
            </p:cNvSpPr>
            <p:nvPr/>
          </p:nvSpPr>
          <p:spPr bwMode="auto">
            <a:xfrm rot="-5400000">
              <a:off x="4592787" y="806591"/>
              <a:ext cx="395287" cy="4399227"/>
            </a:xfrm>
            <a:prstGeom prst="can">
              <a:avLst>
                <a:gd name="adj" fmla="val 66775"/>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32773" name="Freeform 5"/>
            <p:cNvSpPr/>
            <p:nvPr/>
          </p:nvSpPr>
          <p:spPr bwMode="auto">
            <a:xfrm>
              <a:off x="693887" y="2214835"/>
              <a:ext cx="166819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4" name="Line 6"/>
            <p:cNvSpPr>
              <a:spLocks noChangeShapeType="1"/>
            </p:cNvSpPr>
            <p:nvPr/>
          </p:nvSpPr>
          <p:spPr bwMode="auto">
            <a:xfrm>
              <a:off x="693887" y="3005410"/>
              <a:ext cx="2123942"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5" name="Freeform 7"/>
            <p:cNvSpPr/>
            <p:nvPr/>
          </p:nvSpPr>
          <p:spPr bwMode="auto">
            <a:xfrm>
              <a:off x="7292727" y="2214835"/>
              <a:ext cx="166991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6" name="Line 8"/>
            <p:cNvSpPr>
              <a:spLocks noChangeShapeType="1"/>
            </p:cNvSpPr>
            <p:nvPr/>
          </p:nvSpPr>
          <p:spPr bwMode="auto">
            <a:xfrm>
              <a:off x="6990044" y="3005410"/>
              <a:ext cx="2123943"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7" name="Freeform 9"/>
            <p:cNvSpPr/>
            <p:nvPr/>
          </p:nvSpPr>
          <p:spPr bwMode="auto">
            <a:xfrm>
              <a:off x="7308206" y="2251348"/>
              <a:ext cx="1620044" cy="63341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8" name="Text Box 10"/>
            <p:cNvSpPr txBox="1">
              <a:spLocks noChangeArrowheads="1"/>
            </p:cNvSpPr>
            <p:nvPr/>
          </p:nvSpPr>
          <p:spPr bwMode="auto">
            <a:xfrm>
              <a:off x="2420557" y="2060848"/>
              <a:ext cx="428835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Times New Roman" panose="02020603050405020304" pitchFamily="18" charset="0"/>
                  <a:ea typeface="黑体" panose="02010609060101010101" pitchFamily="2" charset="-122"/>
                </a:rPr>
                <a:t>实际的信道</a:t>
              </a:r>
            </a:p>
            <a:p>
              <a:r>
                <a:rPr kumimoji="1" lang="zh-CN" altLang="en-US" sz="2000" b="1">
                  <a:solidFill>
                    <a:srgbClr val="0000CC"/>
                  </a:solidFill>
                  <a:latin typeface="Times New Roman" panose="02020603050405020304" pitchFamily="18" charset="0"/>
                  <a:ea typeface="黑体" panose="02010609060101010101" pitchFamily="2" charset="-122"/>
                </a:rPr>
                <a:t>（带宽受限、有噪声、干扰和失真）</a:t>
              </a:r>
            </a:p>
          </p:txBody>
        </p:sp>
        <p:sp>
          <p:nvSpPr>
            <p:cNvPr id="32779" name="Text Box 11"/>
            <p:cNvSpPr txBox="1">
              <a:spLocks noChangeArrowheads="1"/>
            </p:cNvSpPr>
            <p:nvPr/>
          </p:nvSpPr>
          <p:spPr bwMode="auto">
            <a:xfrm>
              <a:off x="626814" y="3027636"/>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CC"/>
                  </a:solidFill>
                  <a:latin typeface="黑体" panose="02010609060101010101" pitchFamily="2" charset="-122"/>
                  <a:ea typeface="黑体" panose="02010609060101010101" pitchFamily="2" charset="-122"/>
                </a:rPr>
                <a:t>发送信号波形</a:t>
              </a:r>
            </a:p>
          </p:txBody>
        </p:sp>
        <p:sp>
          <p:nvSpPr>
            <p:cNvPr id="32780" name="Text Box 12"/>
            <p:cNvSpPr txBox="1">
              <a:spLocks noChangeArrowheads="1"/>
            </p:cNvSpPr>
            <p:nvPr/>
          </p:nvSpPr>
          <p:spPr bwMode="auto">
            <a:xfrm>
              <a:off x="7045076" y="3041923"/>
              <a:ext cx="2084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a:solidFill>
                    <a:srgbClr val="0000CC"/>
                  </a:solidFill>
                  <a:latin typeface="黑体" panose="02010609060101010101" pitchFamily="2" charset="-122"/>
                  <a:ea typeface="黑体" panose="02010609060101010101" pitchFamily="2" charset="-122"/>
                </a:rPr>
                <a:t>接收信号波形</a:t>
              </a:r>
            </a:p>
          </p:txBody>
        </p:sp>
        <p:sp>
          <p:nvSpPr>
            <p:cNvPr id="2" name="矩形 1"/>
            <p:cNvSpPr/>
            <p:nvPr/>
          </p:nvSpPr>
          <p:spPr>
            <a:xfrm>
              <a:off x="776536" y="1426828"/>
              <a:ext cx="3480440" cy="634020"/>
            </a:xfrm>
            <a:prstGeom prst="rect">
              <a:avLst/>
            </a:prstGeom>
          </p:spPr>
          <p:txBody>
            <a:bodyPr wrap="none">
              <a:spAutoFit/>
            </a:bodyPr>
            <a:lstStyle/>
            <a:p>
              <a:pPr>
                <a:lnSpc>
                  <a:spcPct val="110000"/>
                </a:lnSpc>
              </a:pPr>
              <a:r>
                <a:rPr lang="zh-CN" altLang="en-US" sz="3200" b="1" dirty="0">
                  <a:latin typeface="+mn-lt"/>
                  <a:ea typeface="黑体" panose="02010609060101010101" pitchFamily="2" charset="-122"/>
                </a:rPr>
                <a:t>有失真，但</a:t>
              </a:r>
              <a:r>
                <a:rPr lang="zh-CN" altLang="en-US" sz="3200" b="1" dirty="0">
                  <a:solidFill>
                    <a:srgbClr val="FF0000"/>
                  </a:solidFill>
                  <a:latin typeface="+mn-lt"/>
                  <a:ea typeface="黑体" panose="02010609060101010101" pitchFamily="2" charset="-122"/>
                </a:rPr>
                <a:t>可识别</a:t>
              </a:r>
            </a:p>
          </p:txBody>
        </p:sp>
      </p:grpSp>
      <p:grpSp>
        <p:nvGrpSpPr>
          <p:cNvPr id="5" name="组合 4"/>
          <p:cNvGrpSpPr/>
          <p:nvPr/>
        </p:nvGrpSpPr>
        <p:grpSpPr>
          <a:xfrm>
            <a:off x="560512" y="3622261"/>
            <a:ext cx="8487172" cy="2024935"/>
            <a:chOff x="560512" y="3780329"/>
            <a:chExt cx="8487172" cy="2024935"/>
          </a:xfrm>
        </p:grpSpPr>
        <p:grpSp>
          <p:nvGrpSpPr>
            <p:cNvPr id="32792" name="Group 24"/>
            <p:cNvGrpSpPr/>
            <p:nvPr/>
          </p:nvGrpSpPr>
          <p:grpSpPr bwMode="auto">
            <a:xfrm>
              <a:off x="560512" y="4381276"/>
              <a:ext cx="8487172" cy="1423988"/>
              <a:chOff x="304" y="2886"/>
              <a:chExt cx="4935" cy="897"/>
            </a:xfrm>
          </p:grpSpPr>
          <p:sp>
            <p:nvSpPr>
              <p:cNvPr id="32781" name="AutoShape 13"/>
              <p:cNvSpPr>
                <a:spLocks noChangeArrowheads="1"/>
              </p:cNvSpPr>
              <p:nvPr/>
            </p:nvSpPr>
            <p:spPr bwMode="auto">
              <a:xfrm rot="-5400000">
                <a:off x="2600" y="2210"/>
                <a:ext cx="250" cy="2558"/>
              </a:xfrm>
              <a:prstGeom prst="can">
                <a:avLst>
                  <a:gd name="adj" fmla="val 66508"/>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32782" name="Freeform 14"/>
              <p:cNvSpPr/>
              <p:nvPr/>
            </p:nvSpPr>
            <p:spPr bwMode="auto">
              <a:xfrm>
                <a:off x="343" y="2991"/>
                <a:ext cx="970"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3" name="Line 15"/>
              <p:cNvSpPr>
                <a:spLocks noChangeShapeType="1"/>
              </p:cNvSpPr>
              <p:nvPr/>
            </p:nvSpPr>
            <p:spPr bwMode="auto">
              <a:xfrm>
                <a:off x="343" y="3489"/>
                <a:ext cx="1235"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4" name="Freeform 16"/>
              <p:cNvSpPr/>
              <p:nvPr/>
            </p:nvSpPr>
            <p:spPr bwMode="auto">
              <a:xfrm>
                <a:off x="4180" y="2991"/>
                <a:ext cx="971"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5" name="Line 17"/>
              <p:cNvSpPr>
                <a:spLocks noChangeShapeType="1"/>
              </p:cNvSpPr>
              <p:nvPr/>
            </p:nvSpPr>
            <p:spPr bwMode="auto">
              <a:xfrm>
                <a:off x="4004" y="3489"/>
                <a:ext cx="1235"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6" name="Freeform 18"/>
              <p:cNvSpPr/>
              <p:nvPr/>
            </p:nvSpPr>
            <p:spPr bwMode="auto">
              <a:xfrm>
                <a:off x="4186" y="3270"/>
                <a:ext cx="934" cy="124"/>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7" name="Text Box 19"/>
              <p:cNvSpPr txBox="1">
                <a:spLocks noChangeArrowheads="1"/>
              </p:cNvSpPr>
              <p:nvPr/>
            </p:nvSpPr>
            <p:spPr bwMode="auto">
              <a:xfrm>
                <a:off x="304" y="3503"/>
                <a:ext cx="10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CC"/>
                    </a:solidFill>
                    <a:latin typeface="黑体" panose="02010609060101010101" pitchFamily="2" charset="-122"/>
                    <a:ea typeface="黑体" panose="02010609060101010101" pitchFamily="2" charset="-122"/>
                  </a:rPr>
                  <a:t>发送信号波形</a:t>
                </a:r>
              </a:p>
            </p:txBody>
          </p:sp>
          <p:sp>
            <p:nvSpPr>
              <p:cNvPr id="32790" name="Text Box 22"/>
              <p:cNvSpPr txBox="1">
                <a:spLocks noChangeArrowheads="1"/>
              </p:cNvSpPr>
              <p:nvPr/>
            </p:nvSpPr>
            <p:spPr bwMode="auto">
              <a:xfrm>
                <a:off x="1361" y="2886"/>
                <a:ext cx="2494"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Times New Roman" panose="02020603050405020304" pitchFamily="18" charset="0"/>
                    <a:ea typeface="黑体" panose="02010609060101010101" pitchFamily="2" charset="-122"/>
                  </a:rPr>
                  <a:t>实际的信道</a:t>
                </a:r>
              </a:p>
              <a:p>
                <a:r>
                  <a:rPr kumimoji="1" lang="zh-CN" altLang="en-US" sz="2000" b="1">
                    <a:solidFill>
                      <a:srgbClr val="0000CC"/>
                    </a:solidFill>
                    <a:latin typeface="Times New Roman" panose="02020603050405020304" pitchFamily="18" charset="0"/>
                    <a:ea typeface="黑体" panose="02010609060101010101" pitchFamily="2" charset="-122"/>
                  </a:rPr>
                  <a:t>（带宽受限、有噪声、干扰和失真）</a:t>
                </a:r>
              </a:p>
            </p:txBody>
          </p:sp>
          <p:sp>
            <p:nvSpPr>
              <p:cNvPr id="32791" name="Text Box 23"/>
              <p:cNvSpPr txBox="1">
                <a:spLocks noChangeArrowheads="1"/>
              </p:cNvSpPr>
              <p:nvPr/>
            </p:nvSpPr>
            <p:spPr bwMode="auto">
              <a:xfrm>
                <a:off x="3991" y="3533"/>
                <a:ext cx="11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a:solidFill>
                      <a:srgbClr val="0000CC"/>
                    </a:solidFill>
                    <a:latin typeface="黑体" panose="02010609060101010101" pitchFamily="2" charset="-122"/>
                    <a:ea typeface="黑体" panose="02010609060101010101" pitchFamily="2" charset="-122"/>
                  </a:rPr>
                  <a:t>接收信号波形</a:t>
                </a:r>
              </a:p>
            </p:txBody>
          </p:sp>
        </p:grpSp>
        <p:sp>
          <p:nvSpPr>
            <p:cNvPr id="3" name="矩形 2"/>
            <p:cNvSpPr/>
            <p:nvPr/>
          </p:nvSpPr>
          <p:spPr>
            <a:xfrm>
              <a:off x="704528" y="3780329"/>
              <a:ext cx="3594254" cy="584775"/>
            </a:xfrm>
            <a:prstGeom prst="rect">
              <a:avLst/>
            </a:prstGeom>
          </p:spPr>
          <p:txBody>
            <a:bodyPr wrap="none">
              <a:spAutoFit/>
            </a:bodyPr>
            <a:lstStyle/>
            <a:p>
              <a:r>
                <a:rPr lang="zh-CN" altLang="en-US" sz="3200" b="1" dirty="0">
                  <a:latin typeface="+mn-lt"/>
                  <a:ea typeface="黑体" panose="02010609060101010101" pitchFamily="2" charset="-122"/>
                </a:rPr>
                <a:t>失真大，</a:t>
              </a:r>
              <a:r>
                <a:rPr lang="zh-CN" altLang="en-US" sz="3200" b="1" dirty="0">
                  <a:solidFill>
                    <a:srgbClr val="FF0000"/>
                  </a:solidFill>
                  <a:latin typeface="+mn-lt"/>
                  <a:ea typeface="黑体" panose="02010609060101010101" pitchFamily="2" charset="-122"/>
                </a:rPr>
                <a:t>无法识别 </a:t>
              </a:r>
              <a:endParaRPr lang="zh-CN" altLang="en-US" sz="3200" b="1" dirty="0">
                <a:latin typeface="+mn-lt"/>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2.2.3  </a:t>
            </a:r>
            <a:r>
              <a:rPr lang="zh-CN" altLang="zh-CN" dirty="0"/>
              <a:t>信道的极限容量</a:t>
            </a:r>
            <a:endParaRPr lang="zh-CN" altLang="en-US" dirty="0"/>
          </a:p>
        </p:txBody>
      </p:sp>
      <p:sp>
        <p:nvSpPr>
          <p:cNvPr id="3" name="内容占位符 2"/>
          <p:cNvSpPr>
            <a:spLocks noGrp="1"/>
          </p:cNvSpPr>
          <p:nvPr>
            <p:ph idx="1"/>
          </p:nvPr>
        </p:nvSpPr>
        <p:spPr/>
        <p:txBody>
          <a:bodyPr/>
          <a:lstStyle/>
          <a:p>
            <a:pPr marL="0" indent="0">
              <a:buNone/>
            </a:pPr>
            <a:r>
              <a:rPr lang="en-US" altLang="zh-CN" dirty="0"/>
              <a:t>	</a:t>
            </a:r>
            <a:r>
              <a:rPr lang="zh-CN" altLang="zh-CN" dirty="0"/>
              <a:t>从概念上讲，限制码元在信道上的传输速率的因素有以下两个</a:t>
            </a:r>
            <a:r>
              <a:rPr lang="zh-CN" altLang="en-US" dirty="0"/>
              <a:t>：</a:t>
            </a:r>
            <a:endParaRPr lang="en-US" altLang="zh-CN" dirty="0"/>
          </a:p>
          <a:p>
            <a:r>
              <a:rPr lang="zh-CN" altLang="zh-CN" dirty="0">
                <a:solidFill>
                  <a:srgbClr val="FF0000"/>
                </a:solidFill>
              </a:rPr>
              <a:t>信道能够通过的频率范围</a:t>
            </a:r>
            <a:endParaRPr lang="en-US" altLang="zh-CN" dirty="0">
              <a:solidFill>
                <a:srgbClr val="FF0000"/>
              </a:solidFill>
            </a:endParaRPr>
          </a:p>
          <a:p>
            <a:r>
              <a:rPr lang="zh-CN" altLang="zh-CN" dirty="0">
                <a:solidFill>
                  <a:srgbClr val="FF0000"/>
                </a:solidFill>
              </a:rPr>
              <a:t>信噪比</a:t>
            </a:r>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marL="838200" indent="-838200" algn="ctr">
              <a:buFontTx/>
              <a:buAutoNum type="arabicParenBoth"/>
            </a:pPr>
            <a:r>
              <a:rPr lang="zh-CN" altLang="en-US"/>
              <a:t>信道能够通过的频率范围</a:t>
            </a:r>
          </a:p>
        </p:txBody>
      </p:sp>
      <p:sp>
        <p:nvSpPr>
          <p:cNvPr id="33795" name="Rectangle 3"/>
          <p:cNvSpPr>
            <a:spLocks noGrp="1" noChangeArrowheads="1"/>
          </p:cNvSpPr>
          <p:nvPr>
            <p:ph idx="1"/>
          </p:nvPr>
        </p:nvSpPr>
        <p:spPr/>
        <p:txBody>
          <a:bodyPr/>
          <a:lstStyle/>
          <a:p>
            <a:r>
              <a:rPr lang="zh-CN" altLang="zh-CN" dirty="0"/>
              <a:t>具体的信道所能通过的频率范围总是有限的。信号中的许多高频分量往往不能通过信道</a:t>
            </a:r>
            <a:r>
              <a:rPr lang="zh-CN" altLang="en-US" dirty="0"/>
              <a:t>。</a:t>
            </a:r>
            <a:endParaRPr lang="en-US" altLang="zh-CN" dirty="0"/>
          </a:p>
          <a:p>
            <a:r>
              <a:rPr lang="en-US" altLang="zh-CN" dirty="0"/>
              <a:t>1924</a:t>
            </a:r>
            <a:r>
              <a:rPr lang="zh-CN" altLang="en-US" dirty="0"/>
              <a:t>年，奈奎斯特 </a:t>
            </a:r>
            <a:r>
              <a:rPr lang="en-US" altLang="zh-CN" dirty="0"/>
              <a:t>(</a:t>
            </a:r>
            <a:r>
              <a:rPr lang="en-US" altLang="zh-CN" dirty="0" err="1"/>
              <a:t>Nyquist</a:t>
            </a:r>
            <a:r>
              <a:rPr lang="en-US" altLang="zh-CN" dirty="0"/>
              <a:t>) </a:t>
            </a:r>
            <a:r>
              <a:rPr lang="zh-CN" altLang="en-US" dirty="0"/>
              <a:t>就推导出了著名的</a:t>
            </a:r>
            <a:r>
              <a:rPr lang="zh-CN" altLang="en-US" dirty="0">
                <a:solidFill>
                  <a:srgbClr val="FF0000"/>
                </a:solidFill>
              </a:rPr>
              <a:t>奈氏准则。</a:t>
            </a:r>
            <a:r>
              <a:rPr lang="zh-CN" altLang="en-US" dirty="0"/>
              <a:t>他给出了在假定的理想条件下，为了避免</a:t>
            </a:r>
            <a:r>
              <a:rPr lang="zh-CN" altLang="en-US" dirty="0">
                <a:solidFill>
                  <a:srgbClr val="FF0000"/>
                </a:solidFill>
              </a:rPr>
              <a:t>码间串扰，</a:t>
            </a:r>
            <a:r>
              <a:rPr lang="zh-CN" altLang="en-US" dirty="0"/>
              <a:t>码元的传输速率的上限值。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marL="838200" indent="-838200" algn="ctr">
              <a:buFontTx/>
              <a:buAutoNum type="arabicParenBoth"/>
            </a:pPr>
            <a:r>
              <a:rPr lang="zh-CN" altLang="en-US"/>
              <a:t>信道能够通过的频率范围</a:t>
            </a:r>
          </a:p>
        </p:txBody>
      </p:sp>
      <p:sp>
        <p:nvSpPr>
          <p:cNvPr id="33795" name="Rectangle 3"/>
          <p:cNvSpPr>
            <a:spLocks noGrp="1" noChangeArrowheads="1"/>
          </p:cNvSpPr>
          <p:nvPr>
            <p:ph idx="1"/>
          </p:nvPr>
        </p:nvSpPr>
        <p:spPr>
          <a:xfrm>
            <a:off x="495300" y="1196975"/>
            <a:ext cx="9343390" cy="1901190"/>
          </a:xfrm>
        </p:spPr>
        <p:txBody>
          <a:bodyPr/>
          <a:lstStyle/>
          <a:p>
            <a:r>
              <a:rPr lang="zh-CN" altLang="en-US" dirty="0"/>
              <a:t>奈氏（</a:t>
            </a:r>
            <a:r>
              <a:rPr lang="en-US" altLang="zh-CN" dirty="0"/>
              <a:t>Nyquist</a:t>
            </a:r>
            <a:r>
              <a:rPr lang="zh-CN" altLang="en-US" dirty="0"/>
              <a:t>）准则</a:t>
            </a:r>
          </a:p>
          <a:p>
            <a:r>
              <a:rPr lang="zh-CN" altLang="en-US" dirty="0">
                <a:solidFill>
                  <a:srgbClr val="FF0000"/>
                </a:solidFill>
              </a:rPr>
              <a:t>理想低通信道</a:t>
            </a:r>
            <a:r>
              <a:rPr lang="zh-CN" altLang="en-US" dirty="0"/>
              <a:t>的最高码元传输速率</a:t>
            </a:r>
            <a:r>
              <a:rPr lang="en-US" altLang="zh-CN" dirty="0"/>
              <a:t>=</a:t>
            </a:r>
            <a:r>
              <a:rPr lang="en-US" altLang="zh-CN" dirty="0">
                <a:solidFill>
                  <a:srgbClr val="FF0000"/>
                </a:solidFill>
              </a:rPr>
              <a:t>2W Baud</a:t>
            </a:r>
          </a:p>
          <a:p>
            <a:pPr marL="0" indent="0">
              <a:buNone/>
            </a:pPr>
            <a:r>
              <a:rPr lang="en-US" altLang="zh-CN" dirty="0">
                <a:solidFill>
                  <a:srgbClr val="FF0000"/>
                </a:solidFill>
              </a:rPr>
              <a:t>	W</a:t>
            </a:r>
            <a:r>
              <a:rPr lang="zh-CN" altLang="en-US" dirty="0">
                <a:solidFill>
                  <a:srgbClr val="0070C0"/>
                </a:solidFill>
              </a:rPr>
              <a:t>是理想低通信道的带宽，单位为赫兹（</a:t>
            </a:r>
            <a:r>
              <a:rPr lang="en-US" altLang="zh-CN" dirty="0">
                <a:solidFill>
                  <a:srgbClr val="0070C0"/>
                </a:solidFill>
              </a:rPr>
              <a:t>HZ</a:t>
            </a:r>
            <a:r>
              <a:rPr lang="zh-CN" altLang="en-US" dirty="0">
                <a:solidFill>
                  <a:srgbClr val="0070C0"/>
                </a:solidFill>
              </a:rPr>
              <a:t>）</a:t>
            </a:r>
          </a:p>
          <a:p>
            <a:pPr marL="0" indent="0">
              <a:buNone/>
            </a:pPr>
            <a:endParaRPr lang="zh-CN" altLang="en-US" dirty="0">
              <a:solidFill>
                <a:srgbClr val="FF0000"/>
              </a:solidFill>
            </a:endParaRPr>
          </a:p>
          <a:p>
            <a:pPr marL="0" indent="0">
              <a:buNone/>
            </a:pPr>
            <a:endParaRPr lang="zh-CN" altLang="en-US" dirty="0">
              <a:solidFill>
                <a:srgbClr val="FF0000"/>
              </a:solidFill>
            </a:endParaRPr>
          </a:p>
        </p:txBody>
      </p:sp>
      <p:pic>
        <p:nvPicPr>
          <p:cNvPr id="2" name="图片 1"/>
          <p:cNvPicPr>
            <a:picLocks noChangeAspect="1"/>
          </p:cNvPicPr>
          <p:nvPr/>
        </p:nvPicPr>
        <p:blipFill>
          <a:blip r:embed="rId3"/>
          <a:stretch>
            <a:fillRect/>
          </a:stretch>
        </p:blipFill>
        <p:spPr>
          <a:xfrm>
            <a:off x="764540" y="3294380"/>
            <a:ext cx="8527415" cy="1019175"/>
          </a:xfrm>
          <a:prstGeom prst="rect">
            <a:avLst/>
          </a:prstGeom>
        </p:spPr>
      </p:pic>
      <p:sp>
        <p:nvSpPr>
          <p:cNvPr id="3" name="Rectangle 3"/>
          <p:cNvSpPr>
            <a:spLocks noGrp="1" noChangeArrowheads="1"/>
          </p:cNvSpPr>
          <p:nvPr/>
        </p:nvSpPr>
        <p:spPr>
          <a:xfrm>
            <a:off x="428625" y="4509135"/>
            <a:ext cx="9343390" cy="2348230"/>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r>
              <a:rPr lang="zh-CN" altLang="en-US" dirty="0">
                <a:solidFill>
                  <a:schemeClr val="tx1"/>
                </a:solidFill>
              </a:rPr>
              <a:t>每赫带宽的理想低通信道的最高码元传输速率是每秒</a:t>
            </a:r>
            <a:r>
              <a:rPr lang="en-US" altLang="zh-CN" dirty="0">
                <a:solidFill>
                  <a:schemeClr val="tx1"/>
                </a:solidFill>
              </a:rPr>
              <a:t>2</a:t>
            </a:r>
            <a:r>
              <a:rPr lang="zh-CN" altLang="en-US" dirty="0">
                <a:solidFill>
                  <a:schemeClr val="tx1"/>
                </a:solidFill>
              </a:rPr>
              <a:t>个码元。</a:t>
            </a:r>
          </a:p>
          <a:p>
            <a:r>
              <a:rPr lang="en-US" altLang="zh-CN" dirty="0">
                <a:solidFill>
                  <a:srgbClr val="0070C0"/>
                </a:solidFill>
              </a:rPr>
              <a:t>Baud</a:t>
            </a:r>
            <a:r>
              <a:rPr lang="zh-CN" altLang="en-US" dirty="0">
                <a:solidFill>
                  <a:srgbClr val="0070C0"/>
                </a:solidFill>
              </a:rPr>
              <a:t>是</a:t>
            </a:r>
            <a:r>
              <a:rPr lang="zh-CN" altLang="en-US" dirty="0">
                <a:solidFill>
                  <a:srgbClr val="FF0000"/>
                </a:solidFill>
              </a:rPr>
              <a:t>波特</a:t>
            </a:r>
            <a:r>
              <a:rPr lang="zh-CN" altLang="en-US" dirty="0">
                <a:solidFill>
                  <a:srgbClr val="0070C0"/>
                </a:solidFill>
              </a:rPr>
              <a:t>，是</a:t>
            </a:r>
            <a:r>
              <a:rPr lang="zh-CN" altLang="en-US" dirty="0">
                <a:solidFill>
                  <a:srgbClr val="FF0000"/>
                </a:solidFill>
              </a:rPr>
              <a:t>码元</a:t>
            </a:r>
            <a:r>
              <a:rPr lang="zh-CN" altLang="en-US" dirty="0">
                <a:solidFill>
                  <a:srgbClr val="0070C0"/>
                </a:solidFill>
              </a:rPr>
              <a:t>传输速率的单位，</a:t>
            </a:r>
            <a:r>
              <a:rPr lang="en-US" altLang="zh-CN" dirty="0">
                <a:solidFill>
                  <a:srgbClr val="FF0000"/>
                </a:solidFill>
              </a:rPr>
              <a:t>1</a:t>
            </a:r>
            <a:r>
              <a:rPr lang="zh-CN" altLang="en-US" dirty="0">
                <a:solidFill>
                  <a:srgbClr val="FF0000"/>
                </a:solidFill>
              </a:rPr>
              <a:t>波特</a:t>
            </a:r>
            <a:r>
              <a:rPr lang="zh-CN" altLang="en-US" dirty="0">
                <a:solidFill>
                  <a:srgbClr val="0070C0"/>
                </a:solidFill>
              </a:rPr>
              <a:t>为每秒传送</a:t>
            </a:r>
            <a:r>
              <a:rPr lang="en-US" altLang="zh-CN" dirty="0">
                <a:solidFill>
                  <a:srgbClr val="FF0000"/>
                </a:solidFill>
              </a:rPr>
              <a:t>1</a:t>
            </a:r>
            <a:r>
              <a:rPr lang="zh-CN" altLang="en-US" dirty="0">
                <a:solidFill>
                  <a:srgbClr val="FF0000"/>
                </a:solidFill>
              </a:rPr>
              <a:t>个码元</a:t>
            </a:r>
            <a:r>
              <a:rPr lang="zh-CN" altLang="en-US" dirty="0">
                <a:solidFill>
                  <a:srgbClr val="0070C0"/>
                </a:solidFill>
              </a:rPr>
              <a:t>。</a:t>
            </a:r>
          </a:p>
          <a:p>
            <a:pPr marL="0" indent="0">
              <a:buNone/>
            </a:pPr>
            <a:endParaRPr lang="zh-CN" altLang="en-US" dirty="0">
              <a:solidFill>
                <a:srgbClr val="0070C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marL="0" indent="0" algn="ctr">
              <a:buFontTx/>
              <a:buNone/>
            </a:pPr>
            <a:r>
              <a:rPr lang="zh-CN" altLang="en-US"/>
              <a:t>要强调以下两点</a:t>
            </a:r>
          </a:p>
        </p:txBody>
      </p:sp>
      <p:sp>
        <p:nvSpPr>
          <p:cNvPr id="33795" name="Rectangle 3"/>
          <p:cNvSpPr>
            <a:spLocks noGrp="1" noChangeArrowheads="1"/>
          </p:cNvSpPr>
          <p:nvPr>
            <p:ph idx="1"/>
          </p:nvPr>
        </p:nvSpPr>
        <p:spPr>
          <a:xfrm>
            <a:off x="495300" y="1196975"/>
            <a:ext cx="9343390" cy="4259580"/>
          </a:xfrm>
        </p:spPr>
        <p:txBody>
          <a:bodyPr/>
          <a:lstStyle/>
          <a:p>
            <a:r>
              <a:rPr lang="zh-CN" altLang="en-US" dirty="0"/>
              <a:t>实际信道所能传输的最高码元速率，要明显低于奈氏准则给出上限数值。</a:t>
            </a:r>
          </a:p>
          <a:p>
            <a:pPr algn="l"/>
            <a:r>
              <a:rPr lang="zh-CN" altLang="en-US" dirty="0">
                <a:solidFill>
                  <a:srgbClr val="FF0000"/>
                </a:solidFill>
              </a:rPr>
              <a:t>波特（</a:t>
            </a:r>
            <a:r>
              <a:rPr lang="en-US" altLang="zh-CN" dirty="0">
                <a:solidFill>
                  <a:srgbClr val="FF0000"/>
                </a:solidFill>
              </a:rPr>
              <a:t>Baud</a:t>
            </a:r>
            <a:r>
              <a:rPr lang="zh-CN" altLang="en-US" dirty="0">
                <a:solidFill>
                  <a:srgbClr val="FF0000"/>
                </a:solidFill>
              </a:rPr>
              <a:t>）</a:t>
            </a:r>
            <a:r>
              <a:rPr lang="zh-CN" altLang="en-US" dirty="0">
                <a:solidFill>
                  <a:schemeClr val="tx1"/>
                </a:solidFill>
              </a:rPr>
              <a:t>和</a:t>
            </a:r>
            <a:r>
              <a:rPr lang="zh-CN" altLang="en-US" dirty="0">
                <a:solidFill>
                  <a:srgbClr val="FF0000"/>
                </a:solidFill>
              </a:rPr>
              <a:t>比特（</a:t>
            </a:r>
            <a:r>
              <a:rPr lang="en-US" altLang="zh-CN" dirty="0">
                <a:solidFill>
                  <a:srgbClr val="FF0000"/>
                </a:solidFill>
              </a:rPr>
              <a:t>bit</a:t>
            </a:r>
            <a:r>
              <a:rPr lang="zh-CN" altLang="en-US" dirty="0">
                <a:solidFill>
                  <a:srgbClr val="FF0000"/>
                </a:solidFill>
              </a:rPr>
              <a:t>）</a:t>
            </a:r>
            <a:r>
              <a:rPr lang="zh-CN" altLang="en-US" dirty="0">
                <a:solidFill>
                  <a:schemeClr val="tx1"/>
                </a:solidFill>
              </a:rPr>
              <a:t>是两个不同的概念</a:t>
            </a:r>
            <a:r>
              <a:rPr lang="zh-CN" altLang="en-US" dirty="0">
                <a:solidFill>
                  <a:srgbClr val="0070C0"/>
                </a:solidFill>
              </a:rPr>
              <a:t>。  </a:t>
            </a:r>
            <a:r>
              <a:rPr lang="en-US" altLang="zh-CN" dirty="0">
                <a:solidFill>
                  <a:srgbClr val="0070C0"/>
                </a:solidFill>
              </a:rPr>
              <a:t>	</a:t>
            </a:r>
            <a:r>
              <a:rPr lang="zh-CN" altLang="en-US" dirty="0">
                <a:solidFill>
                  <a:srgbClr val="FF0000"/>
                </a:solidFill>
              </a:rPr>
              <a:t>波特</a:t>
            </a:r>
            <a:r>
              <a:rPr lang="zh-CN" altLang="en-US" dirty="0">
                <a:solidFill>
                  <a:srgbClr val="0070C0"/>
                </a:solidFill>
              </a:rPr>
              <a:t>是码元传输的速率单位（每秒传多少个码元）。码元传输速率也称为调制速率、波形速率或符号速率。</a:t>
            </a:r>
          </a:p>
          <a:p>
            <a:pPr marL="0" indent="0" algn="l">
              <a:buNone/>
            </a:pPr>
            <a:r>
              <a:rPr lang="zh-CN" altLang="en-US" dirty="0">
                <a:solidFill>
                  <a:srgbClr val="FF0000"/>
                </a:solidFill>
              </a:rPr>
              <a:t>        比特</a:t>
            </a:r>
            <a:r>
              <a:rPr lang="zh-CN" altLang="en-US" dirty="0">
                <a:solidFill>
                  <a:srgbClr val="0070C0"/>
                </a:solidFill>
              </a:rPr>
              <a:t>是信息量的单位。</a:t>
            </a:r>
          </a:p>
          <a:p>
            <a:pPr marL="0" indent="0" algn="l">
              <a:buNone/>
            </a:pPr>
            <a:endParaRPr lang="zh-CN" altLang="en-US" dirty="0">
              <a:solidFill>
                <a:srgbClr val="0070C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marL="838200" indent="-838200" algn="ctr">
              <a:buFontTx/>
              <a:buAutoNum type="arabicParenBoth"/>
            </a:pPr>
            <a:r>
              <a:rPr lang="zh-CN" altLang="en-US"/>
              <a:t>信道能够通过的频率范围</a:t>
            </a:r>
          </a:p>
        </p:txBody>
      </p:sp>
      <p:sp>
        <p:nvSpPr>
          <p:cNvPr id="2" name="矩形 1"/>
          <p:cNvSpPr/>
          <p:nvPr/>
        </p:nvSpPr>
        <p:spPr>
          <a:xfrm>
            <a:off x="848544" y="1412776"/>
            <a:ext cx="8424936" cy="1569660"/>
          </a:xfrm>
          <a:prstGeom prst="rect">
            <a:avLst/>
          </a:prstGeom>
          <a:solidFill>
            <a:srgbClr val="66FF66"/>
          </a:solidFill>
          <a:ln w="28575" cmpd="thinThick">
            <a:solidFill>
              <a:schemeClr val="tx1"/>
            </a:solidFill>
            <a:prstDash val="solid"/>
          </a:ln>
          <a:effectLst>
            <a:glow rad="63500">
              <a:schemeClr val="accent1">
                <a:satMod val="175000"/>
                <a:alpha val="40000"/>
              </a:schemeClr>
            </a:glow>
          </a:effectLst>
        </p:spPr>
        <p:txBody>
          <a:bodyPr wrap="square">
            <a:spAutoFit/>
          </a:bodyPr>
          <a:lstStyle/>
          <a:p>
            <a:r>
              <a:rPr lang="zh-CN" altLang="en-US" sz="3200" b="1" dirty="0">
                <a:latin typeface="+mn-lt"/>
                <a:ea typeface="黑体" panose="02010609060101010101" pitchFamily="2" charset="-122"/>
              </a:rPr>
              <a:t>在任何信道中，</a:t>
            </a:r>
            <a:r>
              <a:rPr lang="zh-CN" altLang="en-US" sz="3200" b="1" dirty="0">
                <a:solidFill>
                  <a:srgbClr val="FF0000"/>
                </a:solidFill>
                <a:latin typeface="+mn-lt"/>
                <a:ea typeface="黑体" panose="02010609060101010101" pitchFamily="2" charset="-122"/>
              </a:rPr>
              <a:t>码元传输的速率是有上限的，</a:t>
            </a:r>
            <a:r>
              <a:rPr lang="zh-CN" altLang="en-US" sz="3200" b="1" dirty="0">
                <a:latin typeface="+mn-lt"/>
                <a:ea typeface="黑体" panose="02010609060101010101" pitchFamily="2" charset="-122"/>
              </a:rPr>
              <a:t>否则就会出现</a:t>
            </a:r>
            <a:r>
              <a:rPr lang="zh-CN" altLang="en-US" sz="3200" b="1" dirty="0">
                <a:solidFill>
                  <a:srgbClr val="FF0000"/>
                </a:solidFill>
                <a:latin typeface="+mn-lt"/>
                <a:ea typeface="黑体" panose="02010609060101010101" pitchFamily="2" charset="-122"/>
              </a:rPr>
              <a:t>码间串扰</a:t>
            </a:r>
            <a:r>
              <a:rPr lang="zh-CN" altLang="en-US" sz="3200" b="1" dirty="0">
                <a:latin typeface="+mn-lt"/>
                <a:ea typeface="黑体" panose="02010609060101010101" pitchFamily="2" charset="-122"/>
              </a:rPr>
              <a:t>的问题，使接收端对码元的判决（即识别）成为不可能。</a:t>
            </a:r>
          </a:p>
        </p:txBody>
      </p:sp>
      <p:sp>
        <p:nvSpPr>
          <p:cNvPr id="3" name="矩形 2"/>
          <p:cNvSpPr/>
          <p:nvPr/>
        </p:nvSpPr>
        <p:spPr>
          <a:xfrm>
            <a:off x="848544" y="3371508"/>
            <a:ext cx="8424936" cy="1569660"/>
          </a:xfrm>
          <a:prstGeom prst="rect">
            <a:avLst/>
          </a:prstGeom>
          <a:solidFill>
            <a:srgbClr val="FFFF66"/>
          </a:solidFill>
          <a:ln w="28575" cmpd="thinThick">
            <a:solidFill>
              <a:schemeClr val="tx1"/>
            </a:solidFill>
            <a:prstDash val="solid"/>
          </a:ln>
          <a:effectLst>
            <a:glow rad="101600">
              <a:schemeClr val="accent1">
                <a:satMod val="175000"/>
                <a:alpha val="40000"/>
              </a:schemeClr>
            </a:glow>
          </a:effectLst>
        </p:spPr>
        <p:txBody>
          <a:bodyPr wrap="square">
            <a:spAutoFit/>
          </a:bodyPr>
          <a:lstStyle/>
          <a:p>
            <a:r>
              <a:rPr lang="zh-CN" altLang="en-US" sz="3200" b="1" dirty="0">
                <a:latin typeface="+mn-lt"/>
                <a:ea typeface="黑体" panose="02010609060101010101" pitchFamily="2" charset="-122"/>
              </a:rPr>
              <a:t>如果信道的频带越宽，也就是能够通过的信号高频分量越多，那么就可以用更高的速率传送码元而不出现码间串扰。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ctr"/>
            <a:r>
              <a:rPr lang="en-US" altLang="zh-CN"/>
              <a:t>(2) </a:t>
            </a:r>
            <a:r>
              <a:rPr lang="zh-CN" altLang="en-US"/>
              <a:t>信噪比 </a:t>
            </a:r>
          </a:p>
        </p:txBody>
      </p:sp>
      <p:sp>
        <p:nvSpPr>
          <p:cNvPr id="113667" name="Rectangle 3"/>
          <p:cNvSpPr>
            <a:spLocks noGrp="1" noChangeArrowheads="1"/>
          </p:cNvSpPr>
          <p:nvPr>
            <p:ph idx="1"/>
          </p:nvPr>
        </p:nvSpPr>
        <p:spPr>
          <a:xfrm>
            <a:off x="495300" y="1196975"/>
            <a:ext cx="9065895" cy="5252085"/>
          </a:xfrm>
        </p:spPr>
        <p:txBody>
          <a:bodyPr/>
          <a:lstStyle/>
          <a:p>
            <a:r>
              <a:rPr lang="zh-CN" altLang="zh-CN" sz="2800" dirty="0"/>
              <a:t>噪声存在于所有的电子设备和通信信道中。</a:t>
            </a:r>
            <a:endParaRPr lang="en-US" altLang="zh-CN" sz="2800" dirty="0"/>
          </a:p>
          <a:p>
            <a:r>
              <a:rPr lang="zh-CN" altLang="zh-CN" sz="2800" dirty="0"/>
              <a:t>噪声是随机产生的，它的瞬时值有时会很大。因此噪声会使接收端对码元的判决产生错误</a:t>
            </a:r>
            <a:r>
              <a:rPr lang="zh-CN" altLang="en-US" sz="2800" dirty="0"/>
              <a:t>。</a:t>
            </a:r>
            <a:endParaRPr lang="en-US" altLang="zh-CN" sz="2800" dirty="0"/>
          </a:p>
          <a:p>
            <a:r>
              <a:rPr lang="zh-CN" altLang="zh-CN" sz="2800" dirty="0"/>
              <a:t>但噪声的影响是相对的</a:t>
            </a:r>
            <a:r>
              <a:rPr lang="zh-CN" altLang="en-US" sz="2800" dirty="0"/>
              <a:t>。</a:t>
            </a:r>
            <a:r>
              <a:rPr lang="zh-CN" altLang="zh-CN" sz="2800" dirty="0"/>
              <a:t>如果信号相对较强，那么噪声的影响就相对较小。</a:t>
            </a:r>
            <a:endParaRPr lang="en-US" altLang="zh-CN" sz="2800" dirty="0"/>
          </a:p>
          <a:p>
            <a:r>
              <a:rPr lang="zh-CN" altLang="zh-CN" sz="2800" dirty="0">
                <a:solidFill>
                  <a:srgbClr val="FF0000"/>
                </a:solidFill>
              </a:rPr>
              <a:t>信噪比</a:t>
            </a:r>
            <a:r>
              <a:rPr lang="zh-CN" altLang="zh-CN" sz="2800" dirty="0"/>
              <a:t>就是信号的平均功率和噪声的平均功率之比</a:t>
            </a:r>
            <a:r>
              <a:rPr lang="zh-CN" altLang="en-US" sz="2800" dirty="0"/>
              <a:t>。</a:t>
            </a:r>
            <a:r>
              <a:rPr lang="zh-CN" altLang="zh-CN" sz="2800" dirty="0"/>
              <a:t>常记为</a:t>
            </a:r>
            <a:r>
              <a:rPr lang="en-US" altLang="zh-CN" sz="2800" dirty="0"/>
              <a:t> </a:t>
            </a:r>
            <a:r>
              <a:rPr lang="en-US" altLang="zh-CN" sz="2800" i="1" dirty="0"/>
              <a:t>S</a:t>
            </a:r>
            <a:r>
              <a:rPr lang="en-US" altLang="zh-CN" sz="2800" dirty="0"/>
              <a:t>/</a:t>
            </a:r>
            <a:r>
              <a:rPr lang="en-US" altLang="zh-CN" sz="2800" i="1" dirty="0"/>
              <a:t>N</a:t>
            </a:r>
            <a:r>
              <a:rPr lang="zh-CN" altLang="zh-CN" sz="2800" dirty="0"/>
              <a:t>，并用分贝</a:t>
            </a:r>
            <a:r>
              <a:rPr lang="en-US" altLang="zh-CN" sz="2800" dirty="0"/>
              <a:t> (dB) </a:t>
            </a:r>
            <a:r>
              <a:rPr lang="zh-CN" altLang="zh-CN" sz="2800" dirty="0"/>
              <a:t>作为度量单位。即：</a:t>
            </a:r>
          </a:p>
          <a:p>
            <a:pPr marL="0" indent="0" latinLnBrk="1">
              <a:buNone/>
            </a:pPr>
            <a:r>
              <a:rPr lang="en-US" altLang="zh-CN" sz="2800" dirty="0"/>
              <a:t>		</a:t>
            </a:r>
            <a:r>
              <a:rPr lang="zh-CN" altLang="zh-CN" dirty="0">
                <a:solidFill>
                  <a:srgbClr val="0000CC"/>
                </a:solidFill>
              </a:rPr>
              <a:t>信噪比</a:t>
            </a:r>
            <a:r>
              <a:rPr lang="en-US" altLang="zh-CN" dirty="0">
                <a:solidFill>
                  <a:srgbClr val="0000CC"/>
                </a:solidFill>
              </a:rPr>
              <a:t>(dB) = 10 log</a:t>
            </a:r>
            <a:r>
              <a:rPr lang="en-US" altLang="zh-CN" baseline="-25000" dirty="0">
                <a:solidFill>
                  <a:srgbClr val="0000CC"/>
                </a:solidFill>
              </a:rPr>
              <a:t>10</a:t>
            </a:r>
            <a:r>
              <a:rPr lang="en-US" altLang="zh-CN" dirty="0">
                <a:solidFill>
                  <a:srgbClr val="0000CC"/>
                </a:solidFill>
              </a:rPr>
              <a:t>(</a:t>
            </a:r>
            <a:r>
              <a:rPr lang="en-US" altLang="zh-CN" i="1" dirty="0">
                <a:solidFill>
                  <a:srgbClr val="0000CC"/>
                </a:solidFill>
              </a:rPr>
              <a:t>S</a:t>
            </a:r>
            <a:r>
              <a:rPr lang="en-US" altLang="zh-CN" dirty="0">
                <a:solidFill>
                  <a:srgbClr val="0000CC"/>
                </a:solidFill>
              </a:rPr>
              <a:t>/</a:t>
            </a:r>
            <a:r>
              <a:rPr lang="en-US" altLang="zh-CN" i="1" dirty="0">
                <a:solidFill>
                  <a:srgbClr val="0000CC"/>
                </a:solidFill>
              </a:rPr>
              <a:t>N</a:t>
            </a:r>
            <a:r>
              <a:rPr lang="en-US" altLang="zh-CN" dirty="0">
                <a:solidFill>
                  <a:srgbClr val="0000CC"/>
                </a:solidFill>
              </a:rPr>
              <a:t>)    (dB) </a:t>
            </a:r>
            <a:endParaRPr lang="zh-CN" altLang="zh-CN" sz="2800" dirty="0">
              <a:solidFill>
                <a:srgbClr val="0000CC"/>
              </a:solidFill>
            </a:endParaRPr>
          </a:p>
          <a:p>
            <a:r>
              <a:rPr lang="zh-CN" altLang="zh-CN" sz="2800" dirty="0"/>
              <a:t>例如，当</a:t>
            </a:r>
            <a:r>
              <a:rPr lang="en-US" altLang="zh-CN" sz="2800" dirty="0"/>
              <a:t> </a:t>
            </a:r>
            <a:r>
              <a:rPr lang="en-US" altLang="zh-CN" sz="2800" i="1" dirty="0"/>
              <a:t>S</a:t>
            </a:r>
            <a:r>
              <a:rPr lang="en-US" altLang="zh-CN" sz="2800" dirty="0"/>
              <a:t>/</a:t>
            </a:r>
            <a:r>
              <a:rPr lang="en-US" altLang="zh-CN" sz="2800" i="1" dirty="0"/>
              <a:t>N</a:t>
            </a:r>
            <a:r>
              <a:rPr lang="en-US" altLang="zh-CN" sz="2800" dirty="0"/>
              <a:t> = 10 </a:t>
            </a:r>
            <a:r>
              <a:rPr lang="zh-CN" altLang="zh-CN" sz="2800" dirty="0"/>
              <a:t>时，信噪比为</a:t>
            </a:r>
            <a:r>
              <a:rPr lang="en-US" altLang="zh-CN" sz="2800" dirty="0"/>
              <a:t> 10 dB</a:t>
            </a:r>
            <a:r>
              <a:rPr lang="zh-CN" altLang="zh-CN" sz="2800" dirty="0"/>
              <a:t>，而当</a:t>
            </a:r>
            <a:r>
              <a:rPr lang="zh-CN" altLang="zh-CN" sz="2800" dirty="0">
                <a:sym typeface="+mn-ea"/>
              </a:rPr>
              <a:t>信噪比为</a:t>
            </a:r>
            <a:r>
              <a:rPr lang="en-US" altLang="zh-CN" sz="2800" dirty="0">
                <a:sym typeface="+mn-ea"/>
              </a:rPr>
              <a:t> 30 dB</a:t>
            </a:r>
            <a:r>
              <a:rPr lang="zh-CN" altLang="en-US" sz="2800" dirty="0">
                <a:sym typeface="+mn-ea"/>
              </a:rPr>
              <a:t>时</a:t>
            </a:r>
            <a:r>
              <a:rPr lang="zh-CN" altLang="zh-CN" sz="2800" dirty="0"/>
              <a:t>，</a:t>
            </a:r>
            <a:r>
              <a:rPr lang="en-US" altLang="zh-CN" sz="2800" i="1" dirty="0">
                <a:sym typeface="+mn-ea"/>
              </a:rPr>
              <a:t>S</a:t>
            </a:r>
            <a:r>
              <a:rPr lang="en-US" altLang="zh-CN" sz="2800" dirty="0">
                <a:sym typeface="+mn-ea"/>
              </a:rPr>
              <a:t>/</a:t>
            </a:r>
            <a:r>
              <a:rPr lang="en-US" altLang="zh-CN" sz="2800" i="1" dirty="0">
                <a:sym typeface="+mn-ea"/>
              </a:rPr>
              <a:t>N</a:t>
            </a:r>
            <a:r>
              <a:rPr lang="en-US" altLang="zh-CN" sz="2800" dirty="0">
                <a:sym typeface="+mn-ea"/>
              </a:rPr>
              <a:t> = 1000</a:t>
            </a:r>
            <a:r>
              <a:rPr lang="zh-CN" altLang="zh-CN" sz="2800" dirty="0"/>
              <a:t>。</a:t>
            </a:r>
            <a:r>
              <a:rPr lang="zh-CN" altLang="en-US" sz="28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66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66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ctr"/>
            <a:r>
              <a:rPr lang="en-US" altLang="zh-CN"/>
              <a:t>(2) </a:t>
            </a:r>
            <a:r>
              <a:rPr lang="zh-CN" altLang="en-US"/>
              <a:t>信噪比 </a:t>
            </a:r>
          </a:p>
        </p:txBody>
      </p:sp>
      <p:sp>
        <p:nvSpPr>
          <p:cNvPr id="113667" name="Rectangle 3"/>
          <p:cNvSpPr>
            <a:spLocks noGrp="1" noChangeArrowheads="1"/>
          </p:cNvSpPr>
          <p:nvPr>
            <p:ph idx="1"/>
          </p:nvPr>
        </p:nvSpPr>
        <p:spPr/>
        <p:txBody>
          <a:bodyPr/>
          <a:lstStyle/>
          <a:p>
            <a:r>
              <a:rPr lang="en-US" altLang="zh-CN" dirty="0"/>
              <a:t>1984</a:t>
            </a:r>
            <a:r>
              <a:rPr lang="zh-CN" altLang="en-US" dirty="0"/>
              <a:t>年，香农 </a:t>
            </a:r>
            <a:r>
              <a:rPr lang="en-US" altLang="zh-CN" dirty="0"/>
              <a:t>(Shannon) </a:t>
            </a:r>
            <a:r>
              <a:rPr lang="zh-CN" altLang="en-US" dirty="0"/>
              <a:t>用信息论的理论推导出了带宽受限且有高斯白噪声干扰的信道的</a:t>
            </a:r>
            <a:r>
              <a:rPr lang="zh-CN" altLang="en-US" dirty="0">
                <a:solidFill>
                  <a:srgbClr val="FF0000"/>
                </a:solidFill>
              </a:rPr>
              <a:t>极限</a:t>
            </a:r>
            <a:r>
              <a:rPr lang="zh-CN" altLang="en-US" dirty="0"/>
              <a:t>、</a:t>
            </a:r>
            <a:r>
              <a:rPr lang="zh-CN" altLang="en-US" dirty="0">
                <a:solidFill>
                  <a:srgbClr val="FF0000"/>
                </a:solidFill>
              </a:rPr>
              <a:t>无差错的</a:t>
            </a:r>
            <a:r>
              <a:rPr lang="zh-CN" altLang="en-US" dirty="0"/>
              <a:t>信息传输速率（香农公式）。</a:t>
            </a:r>
          </a:p>
          <a:p>
            <a:r>
              <a:rPr lang="zh-CN" altLang="en-US" dirty="0"/>
              <a:t>信道的极限信息传输速率 </a:t>
            </a:r>
            <a:r>
              <a:rPr lang="en-US" altLang="zh-CN" i="1" dirty="0"/>
              <a:t>C </a:t>
            </a:r>
            <a:r>
              <a:rPr lang="zh-CN" altLang="en-US" dirty="0"/>
              <a:t>可表达为：</a:t>
            </a:r>
          </a:p>
          <a:p>
            <a:pPr marL="0" indent="0">
              <a:spcBef>
                <a:spcPct val="25000"/>
              </a:spcBef>
              <a:spcAft>
                <a:spcPct val="25000"/>
              </a:spcAft>
              <a:buNone/>
            </a:pPr>
            <a:r>
              <a:rPr lang="en-US" altLang="zh-CN" i="1" dirty="0"/>
              <a:t>		</a:t>
            </a:r>
            <a:r>
              <a:rPr lang="en-US" altLang="zh-CN" i="1" dirty="0">
                <a:solidFill>
                  <a:srgbClr val="0000CC"/>
                </a:solidFill>
              </a:rPr>
              <a:t>C</a:t>
            </a:r>
            <a:r>
              <a:rPr lang="en-US" altLang="zh-CN" dirty="0">
                <a:solidFill>
                  <a:srgbClr val="0000CC"/>
                </a:solidFill>
              </a:rPr>
              <a:t> = </a:t>
            </a:r>
            <a:r>
              <a:rPr lang="en-US" altLang="zh-CN" i="1" dirty="0">
                <a:solidFill>
                  <a:srgbClr val="0000CC"/>
                </a:solidFill>
              </a:rPr>
              <a:t>W</a:t>
            </a:r>
            <a:r>
              <a:rPr lang="en-US" altLang="zh-CN" dirty="0">
                <a:solidFill>
                  <a:srgbClr val="0000CC"/>
                </a:solidFill>
              </a:rPr>
              <a:t> log</a:t>
            </a:r>
            <a:r>
              <a:rPr lang="en-US" altLang="zh-CN" baseline="-25000" dirty="0">
                <a:solidFill>
                  <a:srgbClr val="0000CC"/>
                </a:solidFill>
              </a:rPr>
              <a:t>2</a:t>
            </a:r>
            <a:r>
              <a:rPr lang="en-US" altLang="zh-CN" dirty="0">
                <a:solidFill>
                  <a:srgbClr val="0000CC"/>
                </a:solidFill>
              </a:rPr>
              <a:t>(1+</a:t>
            </a:r>
            <a:r>
              <a:rPr lang="en-US" altLang="zh-CN" i="1" dirty="0">
                <a:solidFill>
                  <a:srgbClr val="0000CC"/>
                </a:solidFill>
              </a:rPr>
              <a:t>S</a:t>
            </a:r>
            <a:r>
              <a:rPr lang="en-US" altLang="zh-CN" dirty="0">
                <a:solidFill>
                  <a:srgbClr val="0000CC"/>
                </a:solidFill>
              </a:rPr>
              <a:t>/</a:t>
            </a:r>
            <a:r>
              <a:rPr lang="en-US" altLang="zh-CN" i="1" dirty="0">
                <a:solidFill>
                  <a:srgbClr val="0000CC"/>
                </a:solidFill>
              </a:rPr>
              <a:t>N</a:t>
            </a:r>
            <a:r>
              <a:rPr lang="en-US" altLang="zh-CN" dirty="0">
                <a:solidFill>
                  <a:srgbClr val="0000CC"/>
                </a:solidFill>
              </a:rPr>
              <a:t>)    (bit/s) </a:t>
            </a:r>
          </a:p>
          <a:p>
            <a:pPr marL="457200" lvl="1" indent="0">
              <a:buNone/>
            </a:pPr>
            <a:r>
              <a:rPr lang="zh-CN" altLang="en-US" dirty="0">
                <a:solidFill>
                  <a:srgbClr val="000099"/>
                </a:solidFill>
                <a:latin typeface="Arial" panose="020B0604020202020204" pitchFamily="34" charset="0"/>
                <a:ea typeface="黑体" panose="02010609060101010101" pitchFamily="2" charset="-122"/>
              </a:rPr>
              <a:t>其中：</a:t>
            </a:r>
            <a:r>
              <a:rPr lang="en-US" altLang="zh-CN" dirty="0">
                <a:solidFill>
                  <a:srgbClr val="000099"/>
                </a:solidFill>
                <a:latin typeface="Arial" panose="020B0604020202020204" pitchFamily="34" charset="0"/>
                <a:ea typeface="黑体" panose="02010609060101010101" pitchFamily="2" charset="-122"/>
              </a:rPr>
              <a:t>	</a:t>
            </a:r>
            <a:r>
              <a:rPr lang="en-US" altLang="zh-CN" i="1" dirty="0">
                <a:solidFill>
                  <a:srgbClr val="000099"/>
                </a:solidFill>
                <a:latin typeface="Arial" panose="020B0604020202020204" pitchFamily="34" charset="0"/>
                <a:ea typeface="黑体" panose="02010609060101010101" pitchFamily="2" charset="-122"/>
              </a:rPr>
              <a:t>W </a:t>
            </a:r>
            <a:r>
              <a:rPr lang="zh-CN" altLang="en-US" dirty="0">
                <a:solidFill>
                  <a:srgbClr val="000099"/>
                </a:solidFill>
                <a:latin typeface="Arial" panose="020B0604020202020204" pitchFamily="34" charset="0"/>
                <a:ea typeface="黑体" panose="02010609060101010101" pitchFamily="2" charset="-122"/>
              </a:rPr>
              <a:t>为信道的带宽（以 </a:t>
            </a:r>
            <a:r>
              <a:rPr lang="en-US" altLang="zh-CN" dirty="0">
                <a:solidFill>
                  <a:srgbClr val="000099"/>
                </a:solidFill>
                <a:latin typeface="Arial" panose="020B0604020202020204" pitchFamily="34" charset="0"/>
                <a:ea typeface="黑体" panose="02010609060101010101" pitchFamily="2" charset="-122"/>
              </a:rPr>
              <a:t>Hz </a:t>
            </a:r>
            <a:r>
              <a:rPr lang="zh-CN" altLang="en-US" dirty="0">
                <a:solidFill>
                  <a:srgbClr val="000099"/>
                </a:solidFill>
                <a:latin typeface="Arial" panose="020B0604020202020204" pitchFamily="34" charset="0"/>
                <a:ea typeface="黑体" panose="02010609060101010101" pitchFamily="2" charset="-122"/>
              </a:rPr>
              <a:t>为单位）；</a:t>
            </a:r>
          </a:p>
          <a:p>
            <a:pPr marL="457200" lvl="1" indent="0">
              <a:buNone/>
            </a:pPr>
            <a:r>
              <a:rPr lang="en-US" altLang="zh-CN" i="1" dirty="0">
                <a:solidFill>
                  <a:srgbClr val="000099"/>
                </a:solidFill>
                <a:latin typeface="Arial" panose="020B0604020202020204" pitchFamily="34" charset="0"/>
                <a:ea typeface="黑体" panose="02010609060101010101" pitchFamily="2" charset="-122"/>
              </a:rPr>
              <a:t>		S </a:t>
            </a:r>
            <a:r>
              <a:rPr lang="zh-CN" altLang="en-US" dirty="0">
                <a:solidFill>
                  <a:srgbClr val="000099"/>
                </a:solidFill>
                <a:latin typeface="Arial" panose="020B0604020202020204" pitchFamily="34" charset="0"/>
                <a:ea typeface="黑体" panose="02010609060101010101" pitchFamily="2" charset="-122"/>
              </a:rPr>
              <a:t>为信道内所传信号的平均功率；</a:t>
            </a:r>
          </a:p>
          <a:p>
            <a:pPr marL="457200" lvl="1" indent="0">
              <a:buNone/>
            </a:pPr>
            <a:r>
              <a:rPr lang="en-US" altLang="zh-CN" i="1" dirty="0">
                <a:solidFill>
                  <a:srgbClr val="000099"/>
                </a:solidFill>
                <a:latin typeface="Arial" panose="020B0604020202020204" pitchFamily="34" charset="0"/>
                <a:ea typeface="黑体" panose="02010609060101010101" pitchFamily="2" charset="-122"/>
              </a:rPr>
              <a:t>		N </a:t>
            </a:r>
            <a:r>
              <a:rPr lang="zh-CN" altLang="en-US" dirty="0">
                <a:solidFill>
                  <a:srgbClr val="000099"/>
                </a:solidFill>
                <a:latin typeface="Arial" panose="020B0604020202020204" pitchFamily="34" charset="0"/>
                <a:ea typeface="黑体" panose="02010609060101010101" pitchFamily="2" charset="-122"/>
              </a:rPr>
              <a:t>为信道内部的高斯噪声功率。</a:t>
            </a:r>
            <a:r>
              <a:rPr lang="zh-CN" altLang="en-US" dirty="0">
                <a:solidFill>
                  <a:srgbClr val="000099"/>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ctr"/>
            <a:r>
              <a:rPr lang="zh-CN" altLang="en-US"/>
              <a:t>香农公式练习 </a:t>
            </a:r>
          </a:p>
        </p:txBody>
      </p:sp>
      <p:sp>
        <p:nvSpPr>
          <p:cNvPr id="113667" name="Rectangle 3"/>
          <p:cNvSpPr>
            <a:spLocks noGrp="1" noChangeArrowheads="1"/>
          </p:cNvSpPr>
          <p:nvPr>
            <p:ph idx="1"/>
          </p:nvPr>
        </p:nvSpPr>
        <p:spPr/>
        <p:txBody>
          <a:bodyPr/>
          <a:lstStyle/>
          <a:p>
            <a:pPr marL="0" indent="0">
              <a:buNone/>
            </a:pPr>
            <a:r>
              <a:rPr lang="zh-CN" altLang="en-US" dirty="0">
                <a:solidFill>
                  <a:schemeClr val="tx1"/>
                </a:solidFill>
              </a:rPr>
              <a:t>【例】已知信噪比为</a:t>
            </a:r>
            <a:r>
              <a:rPr lang="en-US" altLang="zh-CN" dirty="0">
                <a:solidFill>
                  <a:schemeClr val="tx1"/>
                </a:solidFill>
              </a:rPr>
              <a:t>30dB</a:t>
            </a:r>
            <a:r>
              <a:rPr lang="zh-CN" altLang="en-US" dirty="0">
                <a:solidFill>
                  <a:schemeClr val="tx1"/>
                </a:solidFill>
              </a:rPr>
              <a:t>，带宽为</a:t>
            </a:r>
            <a:r>
              <a:rPr lang="en-US" altLang="zh-CN" dirty="0">
                <a:solidFill>
                  <a:schemeClr val="tx1"/>
                </a:solidFill>
              </a:rPr>
              <a:t>3kHz</a:t>
            </a:r>
            <a:r>
              <a:rPr lang="zh-CN" altLang="en-US" dirty="0">
                <a:solidFill>
                  <a:schemeClr val="tx1"/>
                </a:solidFill>
              </a:rPr>
              <a:t>，求信道的最大数据传输速率。</a:t>
            </a:r>
          </a:p>
          <a:p>
            <a:pPr marL="0" indent="0">
              <a:buNone/>
            </a:pPr>
            <a:r>
              <a:rPr lang="zh-CN" altLang="en-US" dirty="0">
                <a:solidFill>
                  <a:srgbClr val="000099"/>
                </a:solidFill>
              </a:rPr>
              <a:t> </a:t>
            </a:r>
          </a:p>
          <a:p>
            <a:pPr marL="0" indent="0">
              <a:buNone/>
            </a:pPr>
            <a:r>
              <a:rPr lang="zh-CN" altLang="en-US" dirty="0">
                <a:solidFill>
                  <a:srgbClr val="000099"/>
                </a:solidFill>
              </a:rPr>
              <a:t>因为  </a:t>
            </a:r>
            <a:r>
              <a:rPr lang="en-US" altLang="zh-CN" dirty="0">
                <a:solidFill>
                  <a:srgbClr val="000099"/>
                </a:solidFill>
              </a:rPr>
              <a:t>10lg(S/N)=30   </a:t>
            </a:r>
            <a:r>
              <a:rPr lang="zh-CN" altLang="en-US" dirty="0">
                <a:solidFill>
                  <a:srgbClr val="000099"/>
                </a:solidFill>
              </a:rPr>
              <a:t>所以 </a:t>
            </a:r>
            <a:r>
              <a:rPr lang="en-US" altLang="zh-CN" dirty="0">
                <a:solidFill>
                  <a:srgbClr val="000099"/>
                </a:solidFill>
              </a:rPr>
              <a:t>S/N=10</a:t>
            </a:r>
            <a:r>
              <a:rPr lang="en-US" altLang="zh-CN" baseline="30000" dirty="0">
                <a:solidFill>
                  <a:srgbClr val="000099"/>
                </a:solidFill>
              </a:rPr>
              <a:t>3</a:t>
            </a:r>
            <a:r>
              <a:rPr lang="en-US" altLang="zh-CN" dirty="0">
                <a:solidFill>
                  <a:srgbClr val="000099"/>
                </a:solidFill>
              </a:rPr>
              <a:t>=1000</a:t>
            </a:r>
          </a:p>
          <a:p>
            <a:pPr marL="0" indent="0">
              <a:buNone/>
            </a:pPr>
            <a:r>
              <a:rPr lang="zh-CN" altLang="en-US" dirty="0">
                <a:solidFill>
                  <a:srgbClr val="000099"/>
                </a:solidFill>
              </a:rPr>
              <a:t>则  </a:t>
            </a:r>
            <a:r>
              <a:rPr lang="en-US" altLang="zh-CN" dirty="0">
                <a:solidFill>
                  <a:srgbClr val="000099"/>
                </a:solidFill>
              </a:rPr>
              <a:t>C=3klog</a:t>
            </a:r>
            <a:r>
              <a:rPr lang="en-US" altLang="zh-CN" baseline="-25000" dirty="0">
                <a:solidFill>
                  <a:srgbClr val="000099"/>
                </a:solidFill>
              </a:rPr>
              <a:t>2</a:t>
            </a:r>
            <a:r>
              <a:rPr lang="zh-CN" altLang="en-US" dirty="0">
                <a:solidFill>
                  <a:srgbClr val="000099"/>
                </a:solidFill>
              </a:rPr>
              <a:t>（</a:t>
            </a:r>
            <a:r>
              <a:rPr lang="en-US" altLang="zh-CN" dirty="0">
                <a:solidFill>
                  <a:srgbClr val="000099"/>
                </a:solidFill>
              </a:rPr>
              <a:t>1+1000</a:t>
            </a:r>
            <a:r>
              <a:rPr lang="zh-CN" altLang="en-US" dirty="0">
                <a:solidFill>
                  <a:srgbClr val="000099"/>
                </a:solidFill>
              </a:rPr>
              <a:t>）</a:t>
            </a:r>
            <a:r>
              <a:rPr lang="en-US" altLang="zh-CN" dirty="0">
                <a:solidFill>
                  <a:srgbClr val="000099"/>
                </a:solidFill>
              </a:rPr>
              <a:t>=30k bps   </a:t>
            </a:r>
            <a:endParaRPr lang="zh-CN" altLang="en-US" dirty="0">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36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13667">
                                            <p:txEl>
                                              <p:pRg st="2" end="2"/>
                                            </p:txEl>
                                          </p:spTgt>
                                        </p:tgtEl>
                                        <p:attrNameLst>
                                          <p:attrName>style.visibility</p:attrName>
                                        </p:attrNameLst>
                                      </p:cBhvr>
                                      <p:to>
                                        <p:strVal val="visible"/>
                                      </p:to>
                                    </p:set>
                                    <p:animEffect transition="in" filter="wipe(down)">
                                      <p:cBhvr>
                                        <p:cTn id="23" dur="500"/>
                                        <p:tgtEl>
                                          <p:spTgt spid="113667">
                                            <p:txEl>
                                              <p:pRg st="2" end="2"/>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113667">
                                            <p:txEl>
                                              <p:pRg st="3" end="3"/>
                                            </p:txEl>
                                          </p:spTgt>
                                        </p:tgtEl>
                                        <p:attrNameLst>
                                          <p:attrName>style.visibility</p:attrName>
                                        </p:attrNameLst>
                                      </p:cBhvr>
                                      <p:to>
                                        <p:strVal val="visible"/>
                                      </p:to>
                                    </p:set>
                                    <p:animEffect transition="in" filter="wipe(down)">
                                      <p:cBhvr>
                                        <p:cTn id="26" dur="500"/>
                                        <p:tgtEl>
                                          <p:spTgt spid="113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lgn="ctr"/>
            <a:r>
              <a:rPr lang="zh-CN" altLang="en-US"/>
              <a:t>香农公式表明 </a:t>
            </a:r>
          </a:p>
        </p:txBody>
      </p:sp>
      <p:sp>
        <p:nvSpPr>
          <p:cNvPr id="114691" name="Rectangle 3"/>
          <p:cNvSpPr>
            <a:spLocks noGrp="1" noChangeArrowheads="1"/>
          </p:cNvSpPr>
          <p:nvPr>
            <p:ph idx="1"/>
          </p:nvPr>
        </p:nvSpPr>
        <p:spPr/>
        <p:txBody>
          <a:bodyPr/>
          <a:lstStyle/>
          <a:p>
            <a:r>
              <a:rPr lang="zh-CN" altLang="en-US" sz="2800" dirty="0"/>
              <a:t>信道的带宽或信道中的信噪比越大，则信息的极限传输速率就越高。 </a:t>
            </a:r>
          </a:p>
          <a:p>
            <a:r>
              <a:rPr lang="zh-CN" altLang="en-US" sz="2800" dirty="0">
                <a:solidFill>
                  <a:srgbClr val="0000CC"/>
                </a:solidFill>
              </a:rPr>
              <a:t>只要信息传输速率低于信道的极限信息传输速率，就一定可以找到某种办法来实现无差错的传输。 </a:t>
            </a:r>
          </a:p>
          <a:p>
            <a:r>
              <a:rPr lang="zh-CN" altLang="en-US" sz="2800" dirty="0">
                <a:solidFill>
                  <a:srgbClr val="0000CC"/>
                </a:solidFill>
              </a:rPr>
              <a:t>若信道带宽 </a:t>
            </a:r>
            <a:r>
              <a:rPr lang="en-US" altLang="zh-CN" sz="2800" i="1" dirty="0">
                <a:solidFill>
                  <a:srgbClr val="0000CC"/>
                </a:solidFill>
              </a:rPr>
              <a:t>W</a:t>
            </a:r>
            <a:r>
              <a:rPr lang="en-US" altLang="zh-CN" sz="2800" dirty="0">
                <a:solidFill>
                  <a:srgbClr val="0000CC"/>
                </a:solidFill>
              </a:rPr>
              <a:t> </a:t>
            </a:r>
            <a:r>
              <a:rPr lang="zh-CN" altLang="en-US" sz="2800" dirty="0">
                <a:solidFill>
                  <a:srgbClr val="0000CC"/>
                </a:solidFill>
              </a:rPr>
              <a:t>或信噪比 </a:t>
            </a:r>
            <a:r>
              <a:rPr lang="en-US" altLang="zh-CN" sz="2800" i="1" dirty="0">
                <a:solidFill>
                  <a:srgbClr val="0000CC"/>
                </a:solidFill>
              </a:rPr>
              <a:t>S/N</a:t>
            </a:r>
            <a:r>
              <a:rPr lang="en-US" altLang="zh-CN" sz="2800" dirty="0">
                <a:solidFill>
                  <a:srgbClr val="0000CC"/>
                </a:solidFill>
              </a:rPr>
              <a:t> </a:t>
            </a:r>
            <a:r>
              <a:rPr lang="zh-CN" altLang="en-US" sz="2800" dirty="0">
                <a:solidFill>
                  <a:srgbClr val="0000CC"/>
                </a:solidFill>
              </a:rPr>
              <a:t>没有上限（当然实际信道不可能是这样的），则信道的极限信息传输速率 </a:t>
            </a:r>
            <a:r>
              <a:rPr lang="en-US" altLang="zh-CN" sz="2800" i="1" dirty="0">
                <a:solidFill>
                  <a:srgbClr val="0000CC"/>
                </a:solidFill>
              </a:rPr>
              <a:t>C</a:t>
            </a:r>
            <a:r>
              <a:rPr lang="en-US" altLang="zh-CN" sz="2800" dirty="0">
                <a:solidFill>
                  <a:srgbClr val="0000CC"/>
                </a:solidFill>
              </a:rPr>
              <a:t> </a:t>
            </a:r>
            <a:r>
              <a:rPr lang="zh-CN" altLang="en-US" sz="2800" dirty="0">
                <a:solidFill>
                  <a:srgbClr val="0000CC"/>
                </a:solidFill>
              </a:rPr>
              <a:t>也就没有上限。</a:t>
            </a:r>
          </a:p>
          <a:p>
            <a:r>
              <a:rPr lang="zh-CN" altLang="en-US" sz="2800" dirty="0"/>
              <a:t>实际信道上能够达到的信息传输速率要比香农的极限传输速率低不少。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algn="ctr"/>
            <a:r>
              <a:rPr lang="zh-CN" altLang="en-US"/>
              <a:t>请注意 </a:t>
            </a:r>
          </a:p>
        </p:txBody>
      </p:sp>
      <p:sp>
        <p:nvSpPr>
          <p:cNvPr id="112643" name="Rectangle 3"/>
          <p:cNvSpPr>
            <a:spLocks noGrp="1" noChangeArrowheads="1"/>
          </p:cNvSpPr>
          <p:nvPr>
            <p:ph idx="1"/>
          </p:nvPr>
        </p:nvSpPr>
        <p:spPr/>
        <p:txBody>
          <a:bodyPr/>
          <a:lstStyle/>
          <a:p>
            <a:r>
              <a:rPr lang="zh-CN" altLang="en-US" dirty="0"/>
              <a:t>对于频带宽度已确定的信道，如果信噪比不能再提高了，并且码元传输速率也达到了上限值，那么还有办法提高信息的传输速率。</a:t>
            </a:r>
            <a:endParaRPr lang="en-US" altLang="zh-CN" dirty="0"/>
          </a:p>
          <a:p>
            <a:r>
              <a:rPr lang="zh-CN" altLang="en-US" dirty="0">
                <a:solidFill>
                  <a:srgbClr val="FF0000"/>
                </a:solidFill>
              </a:rPr>
              <a:t>这就是：</a:t>
            </a:r>
            <a:r>
              <a:rPr lang="zh-CN" altLang="en-US" dirty="0">
                <a:solidFill>
                  <a:srgbClr val="0000CC"/>
                </a:solidFill>
              </a:rPr>
              <a:t>用编码的方法让每一个码元携带更多比特的信息量。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2.3  </a:t>
            </a:r>
            <a:r>
              <a:rPr lang="zh-CN" altLang="zh-CN" dirty="0"/>
              <a:t>物理层下面的传输媒体</a:t>
            </a:r>
            <a:endParaRPr lang="zh-CN" altLang="en-US" dirty="0"/>
          </a:p>
        </p:txBody>
      </p:sp>
      <p:sp>
        <p:nvSpPr>
          <p:cNvPr id="26627" name="Rectangle 3"/>
          <p:cNvSpPr>
            <a:spLocks noGrp="1" noChangeArrowheads="1"/>
          </p:cNvSpPr>
          <p:nvPr>
            <p:ph idx="1"/>
          </p:nvPr>
        </p:nvSpPr>
        <p:spPr/>
        <p:txBody>
          <a:bodyPr/>
          <a:lstStyle/>
          <a:p>
            <a:r>
              <a:rPr lang="en-US" altLang="zh-CN" dirty="0"/>
              <a:t>2.3.1  </a:t>
            </a:r>
            <a:r>
              <a:rPr lang="zh-CN" altLang="zh-CN" dirty="0"/>
              <a:t>导引型传输媒体</a:t>
            </a:r>
          </a:p>
          <a:p>
            <a:r>
              <a:rPr lang="en-US" altLang="zh-CN" dirty="0"/>
              <a:t>2.3.2  </a:t>
            </a:r>
            <a:r>
              <a:rPr lang="zh-CN" altLang="zh-CN" dirty="0"/>
              <a:t>非导引型传输媒体</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dirty="0"/>
              <a:t>2.3  </a:t>
            </a:r>
            <a:r>
              <a:rPr lang="zh-CN" altLang="zh-CN" dirty="0"/>
              <a:t>物理层下面的传输媒体</a:t>
            </a:r>
            <a:endParaRPr lang="zh-CN" altLang="en-US" dirty="0"/>
          </a:p>
        </p:txBody>
      </p:sp>
      <p:sp>
        <p:nvSpPr>
          <p:cNvPr id="26627" name="Rectangle 3"/>
          <p:cNvSpPr>
            <a:spLocks noGrp="1" noChangeArrowheads="1"/>
          </p:cNvSpPr>
          <p:nvPr>
            <p:ph idx="1"/>
          </p:nvPr>
        </p:nvSpPr>
        <p:spPr/>
        <p:txBody>
          <a:bodyPr/>
          <a:lstStyle/>
          <a:p>
            <a:pPr>
              <a:lnSpc>
                <a:spcPct val="100000"/>
              </a:lnSpc>
            </a:pPr>
            <a:r>
              <a:rPr lang="zh-CN" altLang="zh-CN" dirty="0">
                <a:solidFill>
                  <a:srgbClr val="FF0000"/>
                </a:solidFill>
              </a:rPr>
              <a:t>传输媒体也称为传输介质或传输媒介，</a:t>
            </a:r>
            <a:r>
              <a:rPr lang="zh-CN" altLang="zh-CN" dirty="0"/>
              <a:t>它就是数据传输系统中在发送器和接收器之间的物理通路</a:t>
            </a:r>
            <a:r>
              <a:rPr lang="zh-CN" altLang="en-US" dirty="0"/>
              <a:t>。</a:t>
            </a:r>
            <a:endParaRPr lang="en-US" altLang="zh-CN" dirty="0"/>
          </a:p>
          <a:p>
            <a:pPr>
              <a:lnSpc>
                <a:spcPct val="100000"/>
              </a:lnSpc>
            </a:pPr>
            <a:r>
              <a:rPr lang="zh-CN" altLang="zh-CN" dirty="0"/>
              <a:t>传输媒体可分为两大类，即导引型传输媒体和非导引型传输媒体</a:t>
            </a:r>
            <a:r>
              <a:rPr lang="zh-CN" altLang="en-US" dirty="0"/>
              <a:t>。</a:t>
            </a:r>
            <a:endParaRPr lang="en-US" altLang="zh-CN" dirty="0"/>
          </a:p>
          <a:p>
            <a:pPr>
              <a:lnSpc>
                <a:spcPct val="100000"/>
              </a:lnSpc>
            </a:pPr>
            <a:r>
              <a:rPr lang="zh-CN" altLang="zh-CN" dirty="0">
                <a:solidFill>
                  <a:srgbClr val="FF0000"/>
                </a:solidFill>
              </a:rPr>
              <a:t>在导引型传输媒体中，</a:t>
            </a:r>
            <a:r>
              <a:rPr lang="zh-CN" altLang="zh-CN" dirty="0"/>
              <a:t>电磁波被导引沿着固体媒体（铜线或光纤）传播</a:t>
            </a:r>
            <a:r>
              <a:rPr lang="zh-CN" altLang="en-US" dirty="0"/>
              <a:t>。</a:t>
            </a:r>
            <a:endParaRPr lang="en-US" altLang="zh-CN" dirty="0"/>
          </a:p>
          <a:p>
            <a:pPr>
              <a:lnSpc>
                <a:spcPct val="100000"/>
              </a:lnSpc>
            </a:pPr>
            <a:r>
              <a:rPr lang="zh-CN" altLang="zh-CN" dirty="0">
                <a:solidFill>
                  <a:srgbClr val="FF0000"/>
                </a:solidFill>
              </a:rPr>
              <a:t>非导引型传输媒体就是指自由空间</a:t>
            </a:r>
            <a:r>
              <a:rPr lang="zh-CN" altLang="en-US" dirty="0">
                <a:solidFill>
                  <a:srgbClr val="FF0000"/>
                </a:solidFill>
              </a:rPr>
              <a:t>。</a:t>
            </a:r>
            <a:r>
              <a:rPr lang="zh-CN" altLang="zh-CN" dirty="0"/>
              <a:t>在非导引型传输媒体中</a:t>
            </a:r>
            <a:r>
              <a:rPr lang="zh-CN" altLang="en-US" dirty="0"/>
              <a:t>，</a:t>
            </a:r>
            <a:r>
              <a:rPr lang="zh-CN" altLang="zh-CN" dirty="0"/>
              <a:t>电磁波的传输常称为无线传输。</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有线传输介质</a:t>
            </a:r>
          </a:p>
        </p:txBody>
      </p:sp>
      <p:sp>
        <p:nvSpPr>
          <p:cNvPr id="3" name="内容占位符 2"/>
          <p:cNvSpPr>
            <a:spLocks noGrp="1"/>
          </p:cNvSpPr>
          <p:nvPr>
            <p:ph idx="1"/>
          </p:nvPr>
        </p:nvSpPr>
        <p:spPr>
          <a:xfrm>
            <a:off x="495300" y="1196975"/>
            <a:ext cx="9065895" cy="5600065"/>
          </a:xfrm>
        </p:spPr>
        <p:txBody>
          <a:bodyPr/>
          <a:lstStyle/>
          <a:p>
            <a:r>
              <a:rPr lang="zh-CN" altLang="en-US"/>
              <a:t>双绞线</a:t>
            </a:r>
          </a:p>
          <a:p>
            <a:pPr marL="0" indent="0">
              <a:buNone/>
            </a:pPr>
            <a:r>
              <a:rPr lang="zh-CN" altLang="en-US"/>
              <a:t>    无屏蔽双绞线</a:t>
            </a:r>
            <a:r>
              <a:rPr lang="en-US" altLang="zh-CN"/>
              <a:t>UTP(Unshielded Twisted Pair)</a:t>
            </a:r>
          </a:p>
          <a:p>
            <a:pPr marL="0" indent="0">
              <a:buNone/>
            </a:pPr>
            <a:r>
              <a:rPr lang="en-US" altLang="zh-CN"/>
              <a:t>    </a:t>
            </a:r>
            <a:r>
              <a:rPr lang="zh-CN" altLang="en-US"/>
              <a:t>屏蔽双绞线</a:t>
            </a:r>
            <a:r>
              <a:rPr lang="en-US" altLang="zh-CN"/>
              <a:t>STP(Shielded Twisted Pair)</a:t>
            </a:r>
          </a:p>
          <a:p>
            <a:pPr marL="0" indent="0">
              <a:buNone/>
            </a:pPr>
            <a:endParaRPr lang="en-US" altLang="zh-CN"/>
          </a:p>
          <a:p>
            <a:pPr algn="l"/>
            <a:r>
              <a:rPr lang="zh-CN" altLang="en-US"/>
              <a:t>同轴电缆</a:t>
            </a:r>
          </a:p>
          <a:p>
            <a:pPr marL="0" indent="0" algn="l">
              <a:buNone/>
            </a:pPr>
            <a:r>
              <a:rPr lang="zh-CN" altLang="en-US"/>
              <a:t>    50 Ω同轴电缆</a:t>
            </a:r>
            <a:endParaRPr lang="zh-CN" altLang="en-US">
              <a:latin typeface="微软雅黑" panose="020B0503020204020204" charset="-122"/>
              <a:ea typeface="微软雅黑" panose="020B0503020204020204" charset="-122"/>
            </a:endParaRPr>
          </a:p>
          <a:p>
            <a:pPr marL="0" indent="0" algn="l">
              <a:buNone/>
            </a:pPr>
            <a:r>
              <a:rPr lang="zh-CN" altLang="en-US">
                <a:sym typeface="+mn-ea"/>
              </a:rPr>
              <a:t>    </a:t>
            </a:r>
            <a:r>
              <a:rPr lang="en-US" altLang="zh-CN">
                <a:sym typeface="+mn-ea"/>
              </a:rPr>
              <a:t>75</a:t>
            </a:r>
            <a:r>
              <a:rPr lang="zh-CN" altLang="en-US">
                <a:sym typeface="+mn-ea"/>
              </a:rPr>
              <a:t> Ω同轴电缆</a:t>
            </a:r>
          </a:p>
          <a:p>
            <a:pPr marL="0" indent="0" algn="l">
              <a:buNone/>
            </a:pPr>
            <a:endParaRPr lang="zh-CN" altLang="en-US"/>
          </a:p>
          <a:p>
            <a:pPr algn="l"/>
            <a:r>
              <a:rPr lang="zh-CN" altLang="en-US"/>
              <a:t>光缆</a:t>
            </a:r>
          </a:p>
          <a:p>
            <a:pPr marL="0" indent="0">
              <a:buNone/>
            </a:pP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无线传输介质</a:t>
            </a:r>
            <a:endParaRPr lang="zh-CN" altLang="en-US"/>
          </a:p>
        </p:txBody>
      </p:sp>
      <p:sp>
        <p:nvSpPr>
          <p:cNvPr id="3" name="内容占位符 2"/>
          <p:cNvSpPr>
            <a:spLocks noGrp="1"/>
          </p:cNvSpPr>
          <p:nvPr>
            <p:ph idx="1"/>
          </p:nvPr>
        </p:nvSpPr>
        <p:spPr>
          <a:xfrm>
            <a:off x="5488305" y="1861185"/>
            <a:ext cx="4417695" cy="3729990"/>
          </a:xfrm>
        </p:spPr>
        <p:txBody>
          <a:bodyPr/>
          <a:lstStyle/>
          <a:p>
            <a:r>
              <a:rPr lang="zh-CN" altLang="en-US"/>
              <a:t>微波通信</a:t>
            </a:r>
          </a:p>
          <a:p>
            <a:pPr marL="457200" lvl="1" algn="l">
              <a:buNone/>
            </a:pPr>
            <a:r>
              <a:rPr lang="zh-CN" altLang="en-US"/>
              <a:t>      </a:t>
            </a:r>
            <a:r>
              <a:rPr lang="en-US" altLang="zh-CN">
                <a:cs typeface="+mn-ea"/>
              </a:rPr>
              <a:t>地面微波接力通信</a:t>
            </a:r>
          </a:p>
          <a:p>
            <a:pPr marL="457200" lvl="1" algn="l">
              <a:buNone/>
            </a:pPr>
            <a:r>
              <a:rPr lang="en-US" altLang="zh-CN">
                <a:cs typeface="+mn-ea"/>
              </a:rPr>
              <a:t>      卫星通信</a:t>
            </a:r>
          </a:p>
          <a:p>
            <a:pPr marL="0" indent="0">
              <a:buNone/>
            </a:pPr>
            <a:endParaRPr lang="zh-CN" altLang="en-US"/>
          </a:p>
          <a:p>
            <a:pPr algn="l"/>
            <a:r>
              <a:rPr lang="zh-CN" altLang="en-US"/>
              <a:t>短波通信</a:t>
            </a:r>
          </a:p>
          <a:p>
            <a:pPr marL="457200" lvl="1" indent="0" algn="l">
              <a:buNone/>
            </a:pPr>
            <a:r>
              <a:rPr lang="zh-CN" altLang="en-US"/>
              <a:t>   高频</a:t>
            </a:r>
            <a:r>
              <a:rPr lang="en-US" altLang="zh-CN"/>
              <a:t>HF</a:t>
            </a:r>
            <a:r>
              <a:rPr lang="zh-CN" altLang="en-US"/>
              <a:t>无线电通信</a:t>
            </a:r>
          </a:p>
        </p:txBody>
      </p:sp>
      <p:pic>
        <p:nvPicPr>
          <p:cNvPr id="4" name="图片 3"/>
          <p:cNvPicPr>
            <a:picLocks noChangeAspect="1"/>
          </p:cNvPicPr>
          <p:nvPr/>
        </p:nvPicPr>
        <p:blipFill>
          <a:blip r:embed="rId2"/>
          <a:stretch>
            <a:fillRect/>
          </a:stretch>
        </p:blipFill>
        <p:spPr>
          <a:xfrm>
            <a:off x="589915" y="1982470"/>
            <a:ext cx="4832350" cy="33496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无线传输介质</a:t>
            </a:r>
            <a:endParaRPr lang="zh-CN" altLang="en-US"/>
          </a:p>
        </p:txBody>
      </p:sp>
      <p:pic>
        <p:nvPicPr>
          <p:cNvPr id="5" name="图片 4"/>
          <p:cNvPicPr>
            <a:picLocks noChangeAspect="1"/>
          </p:cNvPicPr>
          <p:nvPr/>
        </p:nvPicPr>
        <p:blipFill>
          <a:blip r:embed="rId2"/>
          <a:stretch>
            <a:fillRect/>
          </a:stretch>
        </p:blipFill>
        <p:spPr>
          <a:xfrm>
            <a:off x="344805" y="4514215"/>
            <a:ext cx="4322445" cy="2187575"/>
          </a:xfrm>
          <a:prstGeom prst="rect">
            <a:avLst/>
          </a:prstGeom>
        </p:spPr>
      </p:pic>
      <p:pic>
        <p:nvPicPr>
          <p:cNvPr id="7" name="图片 6"/>
          <p:cNvPicPr>
            <a:picLocks noChangeAspect="1"/>
          </p:cNvPicPr>
          <p:nvPr/>
        </p:nvPicPr>
        <p:blipFill>
          <a:blip r:embed="rId3"/>
          <a:stretch>
            <a:fillRect/>
          </a:stretch>
        </p:blipFill>
        <p:spPr>
          <a:xfrm>
            <a:off x="3953510" y="1588770"/>
            <a:ext cx="5952490" cy="2379345"/>
          </a:xfrm>
          <a:prstGeom prst="rect">
            <a:avLst/>
          </a:prstGeom>
        </p:spPr>
      </p:pic>
      <p:sp>
        <p:nvSpPr>
          <p:cNvPr id="8" name="内容占位符 7"/>
          <p:cNvSpPr>
            <a:spLocks noGrp="1"/>
          </p:cNvSpPr>
          <p:nvPr>
            <p:ph idx="1"/>
          </p:nvPr>
        </p:nvSpPr>
        <p:spPr>
          <a:xfrm>
            <a:off x="323215" y="1943735"/>
            <a:ext cx="3710940" cy="2376170"/>
          </a:xfrm>
        </p:spPr>
        <p:txBody>
          <a:bodyPr/>
          <a:lstStyle/>
          <a:p>
            <a:pPr marL="457200" lvl="1" algn="l">
              <a:buNone/>
            </a:pPr>
            <a:r>
              <a:rPr lang="zh-CN" altLang="en-US" sz="3200">
                <a:cs typeface="+mn-ea"/>
              </a:rPr>
              <a:t>地面微波接力通信</a:t>
            </a:r>
            <a:endParaRPr lang="en-US" altLang="zh-CN" sz="3200">
              <a:cs typeface="+mn-ea"/>
            </a:endParaRPr>
          </a:p>
          <a:p>
            <a:pPr marL="0" indent="0">
              <a:buNone/>
            </a:pPr>
            <a:endParaRPr lang="zh-CN" altLang="en-US"/>
          </a:p>
          <a:p>
            <a:pPr marL="0" indent="0">
              <a:buNone/>
            </a:pPr>
            <a:r>
              <a:rPr lang="zh-CN" altLang="en-US"/>
              <a:t>        </a:t>
            </a:r>
          </a:p>
          <a:p>
            <a:pPr marL="0" indent="0">
              <a:buNone/>
            </a:pPr>
            <a:r>
              <a:rPr lang="zh-CN" altLang="en-US"/>
              <a:t>         卫星通信</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ltLang="zh-CN" dirty="0"/>
              <a:t>2.3.1  </a:t>
            </a:r>
            <a:r>
              <a:rPr lang="zh-CN" altLang="en-US" dirty="0"/>
              <a:t>导引型传输媒体</a:t>
            </a:r>
          </a:p>
        </p:txBody>
      </p:sp>
      <p:sp>
        <p:nvSpPr>
          <p:cNvPr id="121859" name="Rectangle 3"/>
          <p:cNvSpPr>
            <a:spLocks noGrp="1" noChangeArrowheads="1"/>
          </p:cNvSpPr>
          <p:nvPr>
            <p:ph idx="1"/>
          </p:nvPr>
        </p:nvSpPr>
        <p:spPr/>
        <p:txBody>
          <a:bodyPr/>
          <a:lstStyle/>
          <a:p>
            <a:r>
              <a:rPr lang="zh-CN" altLang="en-US" dirty="0">
                <a:solidFill>
                  <a:srgbClr val="FF0000"/>
                </a:solidFill>
              </a:rPr>
              <a:t>双绞线</a:t>
            </a:r>
            <a:endParaRPr lang="zh-CN" altLang="zh-CN" dirty="0"/>
          </a:p>
          <a:p>
            <a:pPr lvl="1"/>
            <a:r>
              <a:rPr lang="zh-CN" altLang="zh-CN" dirty="0"/>
              <a:t>最常用的传输媒体</a:t>
            </a:r>
            <a:r>
              <a:rPr lang="zh-CN" altLang="en-US" dirty="0"/>
              <a:t>。</a:t>
            </a:r>
            <a:endParaRPr lang="en-US" altLang="zh-CN" dirty="0"/>
          </a:p>
          <a:p>
            <a:pPr lvl="1"/>
            <a:r>
              <a:rPr lang="zh-CN" altLang="zh-CN" dirty="0"/>
              <a:t>模拟传输和数字传输都可以使用双绞线，其通信距离一般为几到十几公里。</a:t>
            </a:r>
            <a:endParaRPr lang="zh-CN" altLang="en-US" dirty="0"/>
          </a:p>
          <a:p>
            <a:pPr lvl="1"/>
            <a:r>
              <a:rPr lang="zh-CN" altLang="en-US" dirty="0">
                <a:solidFill>
                  <a:srgbClr val="FF0000"/>
                </a:solidFill>
                <a:latin typeface="Arial" panose="020B0604020202020204" pitchFamily="34" charset="0"/>
                <a:ea typeface="黑体" panose="02010609060101010101" pitchFamily="2" charset="-122"/>
              </a:rPr>
              <a:t>屏蔽双绞线 </a:t>
            </a:r>
            <a:r>
              <a:rPr lang="en-US" altLang="zh-CN" dirty="0">
                <a:solidFill>
                  <a:srgbClr val="FF0000"/>
                </a:solidFill>
                <a:latin typeface="Arial" panose="020B0604020202020204" pitchFamily="34" charset="0"/>
                <a:ea typeface="黑体" panose="02010609060101010101" pitchFamily="2" charset="-122"/>
              </a:rPr>
              <a:t>STP </a:t>
            </a:r>
            <a:r>
              <a:rPr lang="en-US" altLang="zh-CN" dirty="0">
                <a:solidFill>
                  <a:srgbClr val="0000CC"/>
                </a:solidFill>
                <a:latin typeface="Arial" panose="020B0604020202020204" pitchFamily="34" charset="0"/>
                <a:ea typeface="黑体" panose="02010609060101010101" pitchFamily="2" charset="-122"/>
              </a:rPr>
              <a:t>(Shielded Twisted Pair)</a:t>
            </a:r>
          </a:p>
          <a:p>
            <a:pPr lvl="2"/>
            <a:r>
              <a:rPr lang="zh-CN" altLang="en-US" dirty="0"/>
              <a:t>带金属</a:t>
            </a:r>
            <a:r>
              <a:rPr lang="zh-CN" altLang="zh-CN" dirty="0"/>
              <a:t>屏蔽层</a:t>
            </a:r>
            <a:endParaRPr lang="en-US" altLang="zh-CN" dirty="0">
              <a:solidFill>
                <a:srgbClr val="0000CC"/>
              </a:solidFill>
              <a:latin typeface="Arial" panose="020B0604020202020204" pitchFamily="34" charset="0"/>
              <a:ea typeface="黑体" panose="02010609060101010101" pitchFamily="2" charset="-122"/>
            </a:endParaRPr>
          </a:p>
          <a:p>
            <a:pPr lvl="1"/>
            <a:r>
              <a:rPr lang="zh-CN" altLang="en-US" dirty="0">
                <a:solidFill>
                  <a:srgbClr val="0000CC"/>
                </a:solidFill>
                <a:latin typeface="Arial" panose="020B0604020202020204" pitchFamily="34" charset="0"/>
                <a:ea typeface="黑体" panose="02010609060101010101" pitchFamily="2" charset="-122"/>
              </a:rPr>
              <a:t>无屏蔽双绞线 </a:t>
            </a:r>
            <a:r>
              <a:rPr lang="en-US" altLang="zh-CN" dirty="0">
                <a:solidFill>
                  <a:srgbClr val="0000CC"/>
                </a:solidFill>
                <a:latin typeface="Arial" panose="020B0604020202020204" pitchFamily="34" charset="0"/>
                <a:ea typeface="黑体" panose="02010609060101010101" pitchFamily="2" charset="-122"/>
              </a:rPr>
              <a:t>UTP (Unshielded Twisted Pair)</a:t>
            </a:r>
            <a:r>
              <a:rPr lang="en-US" altLang="zh-CN" dirty="0">
                <a:solidFill>
                  <a:srgbClr val="0000CC"/>
                </a:solidFill>
              </a:rPr>
              <a:t> </a:t>
            </a:r>
          </a:p>
        </p:txBody>
      </p:sp>
      <p:pic>
        <p:nvPicPr>
          <p:cNvPr id="2" name="图片 1"/>
          <p:cNvPicPr>
            <a:picLocks noChangeAspect="1"/>
          </p:cNvPicPr>
          <p:nvPr/>
        </p:nvPicPr>
        <p:blipFill>
          <a:blip r:embed="rId3"/>
          <a:stretch>
            <a:fillRect/>
          </a:stretch>
        </p:blipFill>
        <p:spPr>
          <a:xfrm>
            <a:off x="6460490" y="1196975"/>
            <a:ext cx="2838450" cy="177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ltLang="zh-CN" dirty="0"/>
              <a:t>2.3.1  </a:t>
            </a:r>
            <a:r>
              <a:rPr lang="zh-CN" altLang="en-US" dirty="0"/>
              <a:t>导引型传输媒体</a:t>
            </a:r>
          </a:p>
        </p:txBody>
      </p:sp>
      <p:grpSp>
        <p:nvGrpSpPr>
          <p:cNvPr id="3" name="组合 2"/>
          <p:cNvGrpSpPr/>
          <p:nvPr/>
        </p:nvGrpSpPr>
        <p:grpSpPr>
          <a:xfrm>
            <a:off x="704528" y="1484784"/>
            <a:ext cx="3855839" cy="2015564"/>
            <a:chOff x="1280592" y="1686499"/>
            <a:chExt cx="3279775" cy="1643970"/>
          </a:xfrm>
        </p:grpSpPr>
        <p:pic>
          <p:nvPicPr>
            <p:cNvPr id="6" name="Picture 4" descr="223b"/>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1280592" y="1686499"/>
              <a:ext cx="32797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7"/>
            <p:cNvSpPr txBox="1">
              <a:spLocks noChangeArrowheads="1"/>
            </p:cNvSpPr>
            <p:nvPr/>
          </p:nvSpPr>
          <p:spPr bwMode="auto">
            <a:xfrm>
              <a:off x="3926955" y="2546924"/>
              <a:ext cx="596128"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99"/>
                  </a:solidFill>
                  <a:latin typeface="+mn-lt"/>
                  <a:ea typeface="黑体" panose="02010609060101010101" pitchFamily="2" charset="-122"/>
                </a:rPr>
                <a:t>铜线</a:t>
              </a:r>
            </a:p>
          </p:txBody>
        </p:sp>
        <p:sp>
          <p:nvSpPr>
            <p:cNvPr id="10" name="Text Box 9"/>
            <p:cNvSpPr txBox="1">
              <a:spLocks noChangeArrowheads="1"/>
            </p:cNvSpPr>
            <p:nvPr/>
          </p:nvSpPr>
          <p:spPr bwMode="auto">
            <a:xfrm>
              <a:off x="1432992" y="2554861"/>
              <a:ext cx="957263" cy="52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zh-CN" altLang="en-US" sz="2000" b="1" dirty="0">
                  <a:solidFill>
                    <a:srgbClr val="000099"/>
                  </a:solidFill>
                  <a:latin typeface="+mn-lt"/>
                  <a:ea typeface="黑体" panose="02010609060101010101" pitchFamily="2" charset="-122"/>
                </a:rPr>
                <a:t>聚氯乙烯套层</a:t>
              </a:r>
            </a:p>
          </p:txBody>
        </p:sp>
        <p:sp>
          <p:nvSpPr>
            <p:cNvPr id="13" name="Text Box 13"/>
            <p:cNvSpPr txBox="1">
              <a:spLocks noChangeArrowheads="1"/>
            </p:cNvSpPr>
            <p:nvPr/>
          </p:nvSpPr>
          <p:spPr bwMode="auto">
            <a:xfrm>
              <a:off x="2776017" y="2543749"/>
              <a:ext cx="815654"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99"/>
                  </a:solidFill>
                  <a:latin typeface="+mn-lt"/>
                  <a:ea typeface="黑体" panose="02010609060101010101" pitchFamily="2" charset="-122"/>
                </a:rPr>
                <a:t>绝缘层</a:t>
              </a:r>
            </a:p>
          </p:txBody>
        </p:sp>
        <p:sp>
          <p:nvSpPr>
            <p:cNvPr id="15" name="Text Box 15"/>
            <p:cNvSpPr txBox="1">
              <a:spLocks noChangeArrowheads="1"/>
            </p:cNvSpPr>
            <p:nvPr/>
          </p:nvSpPr>
          <p:spPr bwMode="auto">
            <a:xfrm>
              <a:off x="2199755" y="3004124"/>
              <a:ext cx="1800111"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黑体" panose="02010609060101010101" pitchFamily="2" charset="-122"/>
                </a:rPr>
                <a:t>(a) </a:t>
              </a:r>
              <a:r>
                <a:rPr lang="zh-CN" altLang="zh-CN" sz="2000" b="1" dirty="0">
                  <a:latin typeface="+mn-lt"/>
                  <a:ea typeface="黑体" panose="02010609060101010101" pitchFamily="2" charset="-122"/>
                </a:rPr>
                <a:t>无屏蔽双绞线</a:t>
              </a:r>
              <a:endParaRPr lang="en-US" altLang="zh-CN" sz="2000" b="1" dirty="0">
                <a:latin typeface="+mn-lt"/>
                <a:ea typeface="黑体" panose="02010609060101010101" pitchFamily="2" charset="-122"/>
              </a:endParaRPr>
            </a:p>
          </p:txBody>
        </p:sp>
      </p:grpSp>
      <p:grpSp>
        <p:nvGrpSpPr>
          <p:cNvPr id="4" name="组合 3"/>
          <p:cNvGrpSpPr/>
          <p:nvPr/>
        </p:nvGrpSpPr>
        <p:grpSpPr>
          <a:xfrm>
            <a:off x="5484192" y="1508596"/>
            <a:ext cx="3573264" cy="1978772"/>
            <a:chOff x="5484192" y="1710311"/>
            <a:chExt cx="2997200" cy="1621729"/>
          </a:xfrm>
        </p:grpSpPr>
        <p:pic>
          <p:nvPicPr>
            <p:cNvPr id="7" name="Picture 5" descr="223"/>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84192" y="1710311"/>
              <a:ext cx="29972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8"/>
            <p:cNvSpPr txBox="1">
              <a:spLocks noChangeArrowheads="1"/>
            </p:cNvSpPr>
            <p:nvPr/>
          </p:nvSpPr>
          <p:spPr bwMode="auto">
            <a:xfrm>
              <a:off x="7860680" y="2534224"/>
              <a:ext cx="587848"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99"/>
                  </a:solidFill>
                  <a:latin typeface="+mn-lt"/>
                  <a:ea typeface="黑体" panose="02010609060101010101" pitchFamily="2" charset="-122"/>
                </a:rPr>
                <a:t>铜线</a:t>
              </a:r>
            </a:p>
          </p:txBody>
        </p:sp>
        <p:sp>
          <p:nvSpPr>
            <p:cNvPr id="11" name="Text Box 10"/>
            <p:cNvSpPr txBox="1">
              <a:spLocks noChangeArrowheads="1"/>
            </p:cNvSpPr>
            <p:nvPr/>
          </p:nvSpPr>
          <p:spPr bwMode="auto">
            <a:xfrm>
              <a:off x="5484192" y="2510411"/>
              <a:ext cx="1020801" cy="580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99"/>
                  </a:solidFill>
                  <a:latin typeface="+mn-lt"/>
                  <a:ea typeface="黑体" panose="02010609060101010101" pitchFamily="2" charset="-122"/>
                </a:rPr>
                <a:t>聚氯乙烯</a:t>
              </a:r>
            </a:p>
            <a:p>
              <a:pPr eaLnBrk="1" hangingPunct="1"/>
              <a:r>
                <a:rPr lang="zh-CN" altLang="en-US" sz="2000" b="1">
                  <a:solidFill>
                    <a:srgbClr val="000099"/>
                  </a:solidFill>
                  <a:latin typeface="+mn-lt"/>
                  <a:ea typeface="黑体" panose="02010609060101010101" pitchFamily="2" charset="-122"/>
                </a:rPr>
                <a:t>    套层</a:t>
              </a:r>
            </a:p>
          </p:txBody>
        </p:sp>
        <p:sp>
          <p:nvSpPr>
            <p:cNvPr id="12" name="Text Box 11"/>
            <p:cNvSpPr txBox="1">
              <a:spLocks noChangeArrowheads="1"/>
            </p:cNvSpPr>
            <p:nvPr/>
          </p:nvSpPr>
          <p:spPr bwMode="auto">
            <a:xfrm>
              <a:off x="6563692" y="2513586"/>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99"/>
                  </a:solidFill>
                  <a:latin typeface="+mn-lt"/>
                  <a:ea typeface="黑体" panose="02010609060101010101" pitchFamily="2" charset="-122"/>
                </a:rPr>
                <a:t>屏蔽层</a:t>
              </a:r>
            </a:p>
          </p:txBody>
        </p:sp>
        <p:sp>
          <p:nvSpPr>
            <p:cNvPr id="14" name="Text Box 14"/>
            <p:cNvSpPr txBox="1">
              <a:spLocks noChangeArrowheads="1"/>
            </p:cNvSpPr>
            <p:nvPr/>
          </p:nvSpPr>
          <p:spPr bwMode="auto">
            <a:xfrm>
              <a:off x="7212980" y="2534224"/>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0099"/>
                  </a:solidFill>
                  <a:latin typeface="+mn-lt"/>
                  <a:ea typeface="黑体" panose="02010609060101010101" pitchFamily="2" charset="-122"/>
                </a:rPr>
                <a:t>绝缘层</a:t>
              </a:r>
            </a:p>
          </p:txBody>
        </p:sp>
        <p:sp>
          <p:nvSpPr>
            <p:cNvPr id="16" name="Text Box 16"/>
            <p:cNvSpPr txBox="1">
              <a:spLocks noChangeArrowheads="1"/>
            </p:cNvSpPr>
            <p:nvPr/>
          </p:nvSpPr>
          <p:spPr bwMode="auto">
            <a:xfrm>
              <a:off x="6274767" y="3004124"/>
              <a:ext cx="1570733"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黑体" panose="02010609060101010101" pitchFamily="2" charset="-122"/>
                </a:rPr>
                <a:t>(b) </a:t>
              </a:r>
              <a:r>
                <a:rPr lang="zh-CN" altLang="zh-CN" sz="2000" b="1" dirty="0">
                  <a:latin typeface="+mn-lt"/>
                  <a:ea typeface="黑体" panose="02010609060101010101" pitchFamily="2" charset="-122"/>
                </a:rPr>
                <a:t>屏蔽双绞线</a:t>
              </a:r>
              <a:endParaRPr lang="en-US" altLang="zh-CN" sz="2000" b="1" dirty="0">
                <a:latin typeface="+mn-lt"/>
                <a:ea typeface="黑体" panose="02010609060101010101" pitchFamily="2" charset="-122"/>
              </a:endParaRPr>
            </a:p>
          </p:txBody>
        </p:sp>
      </p:grpSp>
      <p:grpSp>
        <p:nvGrpSpPr>
          <p:cNvPr id="17" name="组合 16"/>
          <p:cNvGrpSpPr/>
          <p:nvPr/>
        </p:nvGrpSpPr>
        <p:grpSpPr>
          <a:xfrm>
            <a:off x="2936776" y="3573016"/>
            <a:ext cx="3672408" cy="2083887"/>
            <a:chOff x="3252146" y="4016920"/>
            <a:chExt cx="2981475" cy="1528422"/>
          </a:xfrm>
        </p:grpSpPr>
        <p:pic>
          <p:nvPicPr>
            <p:cNvPr id="19" name="Picture 19" descr="3UTP"/>
            <p:cNvPicPr>
              <a:picLocks noChangeAspect="1" noChangeArrowheads="1"/>
            </p:cNvPicPr>
            <p:nvPr/>
          </p:nvPicPr>
          <p:blipFill>
            <a:blip r:embed="rId5">
              <a:extLst>
                <a:ext uri="{28A0092B-C50C-407E-A947-70E740481C1C}">
                  <a14:useLocalDpi xmlns:a14="http://schemas.microsoft.com/office/drawing/2010/main" val="0"/>
                </a:ext>
              </a:extLst>
            </a:blip>
            <a:srcRect l="2864" t="5208" r="50562"/>
            <a:stretch>
              <a:fillRect/>
            </a:stretch>
          </p:blipFill>
          <p:spPr bwMode="auto">
            <a:xfrm>
              <a:off x="3446330" y="4175362"/>
              <a:ext cx="258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0" descr="3UTP"/>
            <p:cNvPicPr>
              <a:picLocks noChangeAspect="1" noChangeArrowheads="1"/>
            </p:cNvPicPr>
            <p:nvPr/>
          </p:nvPicPr>
          <p:blipFill>
            <a:blip r:embed="rId5">
              <a:extLst>
                <a:ext uri="{28A0092B-C50C-407E-A947-70E740481C1C}">
                  <a14:useLocalDpi xmlns:a14="http://schemas.microsoft.com/office/drawing/2010/main" val="0"/>
                </a:ext>
              </a:extLst>
            </a:blip>
            <a:srcRect l="50095" r="3209"/>
            <a:stretch>
              <a:fillRect/>
            </a:stretch>
          </p:blipFill>
          <p:spPr bwMode="auto">
            <a:xfrm>
              <a:off x="3438392" y="4771387"/>
              <a:ext cx="258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22"/>
            <p:cNvSpPr txBox="1">
              <a:spLocks noChangeArrowheads="1"/>
            </p:cNvSpPr>
            <p:nvPr/>
          </p:nvSpPr>
          <p:spPr bwMode="auto">
            <a:xfrm>
              <a:off x="4295642" y="4016920"/>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99"/>
                  </a:solidFill>
                  <a:latin typeface="+mn-lt"/>
                  <a:ea typeface="黑体" panose="02010609060101010101" pitchFamily="2" charset="-122"/>
                </a:rPr>
                <a:t>3 </a:t>
              </a:r>
              <a:r>
                <a:rPr lang="zh-CN" altLang="en-US" sz="2000" b="1">
                  <a:solidFill>
                    <a:srgbClr val="000099"/>
                  </a:solidFill>
                  <a:latin typeface="+mn-lt"/>
                  <a:ea typeface="黑体" panose="02010609060101010101" pitchFamily="2" charset="-122"/>
                </a:rPr>
                <a:t>类线</a:t>
              </a:r>
            </a:p>
          </p:txBody>
        </p:sp>
        <p:sp>
          <p:nvSpPr>
            <p:cNvPr id="22" name="Text Box 23"/>
            <p:cNvSpPr txBox="1">
              <a:spLocks noChangeArrowheads="1"/>
            </p:cNvSpPr>
            <p:nvPr/>
          </p:nvSpPr>
          <p:spPr bwMode="auto">
            <a:xfrm>
              <a:off x="4295642" y="4650689"/>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99"/>
                  </a:solidFill>
                  <a:latin typeface="+mn-lt"/>
                  <a:ea typeface="黑体" panose="02010609060101010101" pitchFamily="2" charset="-122"/>
                </a:rPr>
                <a:t>5 </a:t>
              </a:r>
              <a:r>
                <a:rPr lang="zh-CN" altLang="en-US" sz="2000" b="1" dirty="0">
                  <a:solidFill>
                    <a:srgbClr val="000099"/>
                  </a:solidFill>
                  <a:latin typeface="+mn-lt"/>
                  <a:ea typeface="黑体" panose="02010609060101010101" pitchFamily="2" charset="-122"/>
                </a:rPr>
                <a:t>类线</a:t>
              </a:r>
            </a:p>
          </p:txBody>
        </p:sp>
        <p:sp>
          <p:nvSpPr>
            <p:cNvPr id="23" name="Text Box 24"/>
            <p:cNvSpPr txBox="1">
              <a:spLocks noChangeArrowheads="1"/>
            </p:cNvSpPr>
            <p:nvPr/>
          </p:nvSpPr>
          <p:spPr bwMode="auto">
            <a:xfrm>
              <a:off x="3252146" y="5231644"/>
              <a:ext cx="2981475" cy="313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dirty="0">
                  <a:latin typeface="+mn-lt"/>
                  <a:ea typeface="黑体" panose="02010609060101010101" pitchFamily="2" charset="-122"/>
                </a:rPr>
                <a:t>(c) </a:t>
              </a:r>
              <a:r>
                <a:rPr lang="zh-CN" altLang="zh-CN" sz="2000" b="1" dirty="0">
                  <a:latin typeface="+mn-lt"/>
                  <a:ea typeface="黑体" panose="02010609060101010101" pitchFamily="2" charset="-122"/>
                </a:rPr>
                <a:t>不同的绞合度的双绞线</a:t>
              </a:r>
              <a:endParaRPr lang="en-US" altLang="zh-CN" sz="2000" b="1" dirty="0">
                <a:latin typeface="+mn-lt"/>
                <a:ea typeface="黑体" panose="02010609060101010101" pitchFamily="2" charset="-122"/>
              </a:endParaRPr>
            </a:p>
          </p:txBody>
        </p:sp>
      </p:grpSp>
      <p:sp>
        <p:nvSpPr>
          <p:cNvPr id="18" name="矩形 17"/>
          <p:cNvSpPr/>
          <p:nvPr/>
        </p:nvSpPr>
        <p:spPr>
          <a:xfrm>
            <a:off x="1928664" y="5847655"/>
            <a:ext cx="5976664" cy="461665"/>
          </a:xfrm>
          <a:prstGeom prst="rect">
            <a:avLst/>
          </a:prstGeom>
        </p:spPr>
        <p:txBody>
          <a:bodyPr wrap="square">
            <a:spAutoFit/>
          </a:bodyPr>
          <a:lstStyle/>
          <a:p>
            <a:pPr algn="ctr"/>
            <a:r>
              <a:rPr lang="zh-CN" altLang="zh-CN" sz="2400" b="1" dirty="0">
                <a:latin typeface="+mn-lt"/>
                <a:ea typeface="黑体" panose="02010609060101010101" pitchFamily="2" charset="-122"/>
              </a:rPr>
              <a:t>双绞线的示意图</a:t>
            </a:r>
            <a:endParaRPr lang="zh-CN" altLang="en-US" sz="2400" b="1" dirty="0">
              <a:latin typeface="+mn-lt"/>
              <a:ea typeface="黑体" panose="0201060906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algn="ctr"/>
            <a:r>
              <a:rPr lang="zh-CN" altLang="en-US" dirty="0"/>
              <a:t>双绞线标准</a:t>
            </a:r>
          </a:p>
        </p:txBody>
      </p:sp>
      <p:sp>
        <p:nvSpPr>
          <p:cNvPr id="121859" name="Rectangle 3"/>
          <p:cNvSpPr>
            <a:spLocks noGrp="1" noChangeArrowheads="1"/>
          </p:cNvSpPr>
          <p:nvPr>
            <p:ph idx="1"/>
          </p:nvPr>
        </p:nvSpPr>
        <p:spPr/>
        <p:txBody>
          <a:bodyPr/>
          <a:lstStyle/>
          <a:p>
            <a:r>
              <a:rPr lang="en-US" altLang="zh-CN" dirty="0"/>
              <a:t>1991</a:t>
            </a:r>
            <a:r>
              <a:rPr lang="zh-CN" altLang="zh-CN" dirty="0"/>
              <a:t>年，美国电子工业协会</a:t>
            </a:r>
            <a:r>
              <a:rPr lang="en-US" altLang="zh-CN" dirty="0"/>
              <a:t> EIA </a:t>
            </a:r>
            <a:r>
              <a:rPr lang="zh-CN" altLang="zh-CN" dirty="0"/>
              <a:t>和电信行业协会联合发布了一个用于室内传送数据的无屏蔽双绞线和屏蔽双绞线的标准</a:t>
            </a:r>
            <a:r>
              <a:rPr lang="en-US" altLang="zh-CN" dirty="0"/>
              <a:t> </a:t>
            </a:r>
            <a:r>
              <a:rPr lang="en-US" altLang="zh-CN" dirty="0">
                <a:solidFill>
                  <a:srgbClr val="FF0000"/>
                </a:solidFill>
              </a:rPr>
              <a:t>EIA/TIA-568</a:t>
            </a:r>
            <a:r>
              <a:rPr lang="zh-CN" altLang="zh-CN" dirty="0">
                <a:solidFill>
                  <a:srgbClr val="FF0000"/>
                </a:solidFill>
              </a:rPr>
              <a:t>。</a:t>
            </a:r>
            <a:endParaRPr lang="en-US" altLang="zh-CN" dirty="0">
              <a:solidFill>
                <a:srgbClr val="FF0000"/>
              </a:solidFill>
            </a:endParaRPr>
          </a:p>
          <a:p>
            <a:r>
              <a:rPr lang="en-US" altLang="zh-CN" dirty="0"/>
              <a:t>1995</a:t>
            </a:r>
            <a:r>
              <a:rPr lang="zh-CN" altLang="zh-CN" dirty="0"/>
              <a:t>年将布线标准更新为</a:t>
            </a:r>
            <a:r>
              <a:rPr lang="en-US" altLang="zh-CN" dirty="0"/>
              <a:t> </a:t>
            </a:r>
            <a:r>
              <a:rPr lang="en-US" altLang="zh-CN" dirty="0">
                <a:solidFill>
                  <a:srgbClr val="FF0000"/>
                </a:solidFill>
              </a:rPr>
              <a:t>EIA/TIA-568-A</a:t>
            </a:r>
            <a:r>
              <a:rPr lang="zh-CN" altLang="en-US" dirty="0">
                <a:solidFill>
                  <a:srgbClr val="FF0000"/>
                </a:solidFill>
              </a:rPr>
              <a:t>。</a:t>
            </a:r>
            <a:endParaRPr lang="en-US" altLang="zh-CN" dirty="0">
              <a:solidFill>
                <a:srgbClr val="FF0000"/>
              </a:solidFill>
            </a:endParaRPr>
          </a:p>
          <a:p>
            <a:r>
              <a:rPr lang="zh-CN" altLang="zh-CN" dirty="0"/>
              <a:t>此标准规定了</a:t>
            </a:r>
            <a:r>
              <a:rPr lang="en-US" altLang="zh-CN" dirty="0"/>
              <a:t> </a:t>
            </a:r>
            <a:r>
              <a:rPr lang="en-US" altLang="zh-CN" dirty="0">
                <a:solidFill>
                  <a:srgbClr val="FF0000"/>
                </a:solidFill>
              </a:rPr>
              <a:t>5 </a:t>
            </a:r>
            <a:r>
              <a:rPr lang="zh-CN" altLang="zh-CN" dirty="0">
                <a:solidFill>
                  <a:srgbClr val="FF0000"/>
                </a:solidFill>
              </a:rPr>
              <a:t>个种类的</a:t>
            </a:r>
            <a:r>
              <a:rPr lang="en-US" altLang="zh-CN" dirty="0">
                <a:solidFill>
                  <a:srgbClr val="FF0000"/>
                </a:solidFill>
              </a:rPr>
              <a:t> UTP </a:t>
            </a:r>
            <a:r>
              <a:rPr lang="zh-CN" altLang="zh-CN" dirty="0">
                <a:solidFill>
                  <a:srgbClr val="FF0000"/>
                </a:solidFill>
              </a:rPr>
              <a:t>标准</a:t>
            </a:r>
            <a:r>
              <a:rPr lang="zh-CN" altLang="zh-CN" dirty="0"/>
              <a:t>（从</a:t>
            </a:r>
            <a:r>
              <a:rPr lang="en-US" altLang="zh-CN" dirty="0"/>
              <a:t> 1 </a:t>
            </a:r>
            <a:r>
              <a:rPr lang="zh-CN" altLang="zh-CN" dirty="0"/>
              <a:t>类线到</a:t>
            </a:r>
            <a:r>
              <a:rPr lang="en-US" altLang="zh-CN" dirty="0"/>
              <a:t> 5 </a:t>
            </a:r>
            <a:r>
              <a:rPr lang="zh-CN" altLang="zh-CN" dirty="0"/>
              <a:t>类线）。</a:t>
            </a:r>
            <a:endParaRPr lang="en-US" altLang="zh-CN" dirty="0"/>
          </a:p>
          <a:p>
            <a:r>
              <a:rPr lang="zh-CN" altLang="zh-CN" dirty="0">
                <a:solidFill>
                  <a:srgbClr val="0000CC"/>
                </a:solidFill>
              </a:rPr>
              <a:t>对传送数据来说，现在最常用的</a:t>
            </a:r>
            <a:r>
              <a:rPr lang="en-US" altLang="zh-CN" dirty="0">
                <a:solidFill>
                  <a:srgbClr val="0000CC"/>
                </a:solidFill>
              </a:rPr>
              <a:t> UTP </a:t>
            </a:r>
            <a:r>
              <a:rPr lang="zh-CN" altLang="zh-CN" dirty="0">
                <a:solidFill>
                  <a:srgbClr val="0000CC"/>
                </a:solidFill>
              </a:rPr>
              <a:t>是</a:t>
            </a:r>
            <a:r>
              <a:rPr lang="en-US" altLang="zh-CN" dirty="0">
                <a:solidFill>
                  <a:srgbClr val="0000CC"/>
                </a:solidFill>
              </a:rPr>
              <a:t>5</a:t>
            </a:r>
            <a:r>
              <a:rPr lang="zh-CN" altLang="zh-CN" dirty="0">
                <a:solidFill>
                  <a:srgbClr val="0000CC"/>
                </a:solidFill>
              </a:rPr>
              <a:t>类线（</a:t>
            </a:r>
            <a:r>
              <a:rPr lang="en-US" altLang="zh-CN" dirty="0">
                <a:solidFill>
                  <a:srgbClr val="0000CC"/>
                </a:solidFill>
              </a:rPr>
              <a:t>Category 5 </a:t>
            </a:r>
            <a:r>
              <a:rPr lang="zh-CN" altLang="zh-CN" dirty="0">
                <a:solidFill>
                  <a:srgbClr val="0000CC"/>
                </a:solidFill>
              </a:rPr>
              <a:t>或</a:t>
            </a:r>
            <a:r>
              <a:rPr lang="en-US" altLang="zh-CN" dirty="0">
                <a:solidFill>
                  <a:srgbClr val="0000CC"/>
                </a:solidFill>
              </a:rPr>
              <a:t> CAT5</a:t>
            </a:r>
            <a:r>
              <a:rPr lang="zh-CN" altLang="zh-CN" dirty="0">
                <a:solidFill>
                  <a:srgbClr val="0000CC"/>
                </a:solidFill>
              </a:rPr>
              <a:t>）</a:t>
            </a:r>
            <a:r>
              <a:rPr lang="zh-CN" altLang="en-US" dirty="0">
                <a:solidFill>
                  <a:srgbClr val="0000CC"/>
                </a:solidFill>
              </a:rPr>
              <a:t>。</a:t>
            </a:r>
            <a:endParaRPr lang="en-US" altLang="zh-CN" dirty="0">
              <a:solidFill>
                <a:srgbClr val="0000CC"/>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EIA/TIA-568-A</a:t>
            </a:r>
            <a:endParaRPr lang="zh-CN" altLang="en-US" dirty="0"/>
          </a:p>
        </p:txBody>
      </p:sp>
      <p:pic>
        <p:nvPicPr>
          <p:cNvPr id="4" name="图片 3"/>
          <p:cNvPicPr>
            <a:picLocks noChangeAspect="1"/>
          </p:cNvPicPr>
          <p:nvPr/>
        </p:nvPicPr>
        <p:blipFill>
          <a:blip r:embed="rId2"/>
          <a:stretch>
            <a:fillRect/>
          </a:stretch>
        </p:blipFill>
        <p:spPr>
          <a:xfrm>
            <a:off x="452755" y="2002155"/>
            <a:ext cx="9255760" cy="365950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ltLang="zh-CN" dirty="0"/>
              <a:t>2.3.1  </a:t>
            </a:r>
            <a:r>
              <a:rPr lang="zh-CN" altLang="en-US" dirty="0"/>
              <a:t>导引型传输媒体</a:t>
            </a:r>
          </a:p>
        </p:txBody>
      </p:sp>
      <p:sp>
        <p:nvSpPr>
          <p:cNvPr id="121859" name="Rectangle 3"/>
          <p:cNvSpPr>
            <a:spLocks noGrp="1" noChangeArrowheads="1"/>
          </p:cNvSpPr>
          <p:nvPr>
            <p:ph idx="1"/>
          </p:nvPr>
        </p:nvSpPr>
        <p:spPr/>
        <p:txBody>
          <a:bodyPr/>
          <a:lstStyle/>
          <a:p>
            <a:pPr>
              <a:lnSpc>
                <a:spcPct val="100000"/>
              </a:lnSpc>
            </a:pPr>
            <a:r>
              <a:rPr lang="zh-CN" altLang="en-US" dirty="0">
                <a:solidFill>
                  <a:srgbClr val="FF0000"/>
                </a:solidFill>
              </a:rPr>
              <a:t>同轴电缆</a:t>
            </a:r>
          </a:p>
          <a:p>
            <a:pPr lvl="1">
              <a:lnSpc>
                <a:spcPct val="100000"/>
              </a:lnSpc>
            </a:pPr>
            <a:r>
              <a:rPr lang="zh-CN" altLang="zh-CN" dirty="0"/>
              <a:t>同轴电缆具有很好的抗干扰特性，被广泛用于传输较高速率的数据</a:t>
            </a:r>
            <a:r>
              <a:rPr lang="zh-CN" altLang="en-US" dirty="0"/>
              <a:t>。</a:t>
            </a:r>
            <a:endParaRPr lang="en-US" altLang="zh-CN" dirty="0"/>
          </a:p>
          <a:p>
            <a:pPr lvl="1">
              <a:lnSpc>
                <a:spcPct val="100000"/>
              </a:lnSpc>
            </a:pPr>
            <a:r>
              <a:rPr lang="zh-CN" altLang="zh-CN" dirty="0"/>
              <a:t>同轴电缆的带宽取决于电缆的质量</a:t>
            </a:r>
            <a:r>
              <a:rPr lang="zh-CN" altLang="en-US" dirty="0"/>
              <a:t>。</a:t>
            </a:r>
            <a:endParaRPr lang="en-US" altLang="zh-CN" dirty="0">
              <a:solidFill>
                <a:srgbClr val="0000CC"/>
              </a:solidFill>
              <a:latin typeface="Arial" panose="020B0604020202020204" pitchFamily="34" charset="0"/>
            </a:endParaRPr>
          </a:p>
          <a:p>
            <a:pPr lvl="1">
              <a:lnSpc>
                <a:spcPct val="100000"/>
              </a:lnSpc>
            </a:pPr>
            <a:r>
              <a:rPr lang="en-US" altLang="zh-CN" dirty="0">
                <a:solidFill>
                  <a:srgbClr val="FF0000"/>
                </a:solidFill>
              </a:rPr>
              <a:t>50</a:t>
            </a:r>
            <a:r>
              <a:rPr lang="en-US" altLang="zh-CN" sz="1600" dirty="0">
                <a:solidFill>
                  <a:srgbClr val="FF0000"/>
                </a:solidFill>
              </a:rPr>
              <a:t> </a:t>
            </a:r>
            <a:r>
              <a:rPr lang="en-US" altLang="zh-CN" dirty="0">
                <a:solidFill>
                  <a:srgbClr val="FF0000"/>
                </a:solidFill>
                <a:sym typeface="Symbol" panose="05050102010706020507" pitchFamily="18" charset="2"/>
              </a:rPr>
              <a:t></a:t>
            </a:r>
            <a:r>
              <a:rPr lang="en-US" altLang="zh-CN" sz="1400" dirty="0">
                <a:solidFill>
                  <a:srgbClr val="FF0000"/>
                </a:solidFill>
              </a:rPr>
              <a:t> </a:t>
            </a:r>
            <a:r>
              <a:rPr lang="zh-CN" altLang="en-US" dirty="0">
                <a:solidFill>
                  <a:srgbClr val="FF0000"/>
                </a:solidFill>
              </a:rPr>
              <a:t>同轴电缆 </a:t>
            </a:r>
            <a:r>
              <a:rPr lang="en-US" altLang="zh-CN" dirty="0">
                <a:solidFill>
                  <a:srgbClr val="0000CC"/>
                </a:solidFill>
              </a:rPr>
              <a:t>—— LAN / </a:t>
            </a:r>
            <a:r>
              <a:rPr lang="zh-CN" altLang="en-US" dirty="0">
                <a:solidFill>
                  <a:srgbClr val="0000CC"/>
                </a:solidFill>
              </a:rPr>
              <a:t>数字传输常用</a:t>
            </a:r>
          </a:p>
          <a:p>
            <a:pPr lvl="1">
              <a:lnSpc>
                <a:spcPct val="100000"/>
              </a:lnSpc>
            </a:pPr>
            <a:r>
              <a:rPr lang="en-US" altLang="zh-CN" dirty="0">
                <a:solidFill>
                  <a:srgbClr val="FF0000"/>
                </a:solidFill>
              </a:rPr>
              <a:t>75</a:t>
            </a:r>
            <a:r>
              <a:rPr lang="en-US" altLang="zh-CN" sz="1600" dirty="0">
                <a:solidFill>
                  <a:srgbClr val="FF0000"/>
                </a:solidFill>
              </a:rPr>
              <a:t> </a:t>
            </a:r>
            <a:r>
              <a:rPr lang="en-US" altLang="zh-CN" dirty="0">
                <a:solidFill>
                  <a:srgbClr val="FF0000"/>
                </a:solidFill>
                <a:sym typeface="Symbol" panose="05050102010706020507" pitchFamily="18" charset="2"/>
              </a:rPr>
              <a:t></a:t>
            </a:r>
            <a:r>
              <a:rPr lang="en-US" altLang="zh-CN" sz="1400" dirty="0">
                <a:solidFill>
                  <a:srgbClr val="FF0000"/>
                </a:solidFill>
              </a:rPr>
              <a:t> </a:t>
            </a:r>
            <a:r>
              <a:rPr lang="zh-CN" altLang="en-US" dirty="0">
                <a:solidFill>
                  <a:srgbClr val="FF0000"/>
                </a:solidFill>
              </a:rPr>
              <a:t>同轴电缆 </a:t>
            </a:r>
            <a:r>
              <a:rPr lang="en-US" altLang="zh-CN" dirty="0">
                <a:solidFill>
                  <a:srgbClr val="0000CC"/>
                </a:solidFill>
              </a:rPr>
              <a:t>—— </a:t>
            </a:r>
            <a:r>
              <a:rPr lang="zh-CN" altLang="en-US" dirty="0">
                <a:solidFill>
                  <a:srgbClr val="0000CC"/>
                </a:solidFill>
              </a:rPr>
              <a:t>有线电视 </a:t>
            </a:r>
            <a:r>
              <a:rPr lang="en-US" altLang="zh-CN" dirty="0">
                <a:solidFill>
                  <a:srgbClr val="0000CC"/>
                </a:solidFill>
              </a:rPr>
              <a:t>/ </a:t>
            </a:r>
            <a:r>
              <a:rPr lang="zh-CN" altLang="en-US" dirty="0">
                <a:solidFill>
                  <a:srgbClr val="0000CC"/>
                </a:solidFill>
              </a:rPr>
              <a:t>模拟传输常用</a:t>
            </a:r>
          </a:p>
        </p:txBody>
      </p:sp>
      <p:grpSp>
        <p:nvGrpSpPr>
          <p:cNvPr id="2" name="组合 1"/>
          <p:cNvGrpSpPr/>
          <p:nvPr/>
        </p:nvGrpSpPr>
        <p:grpSpPr>
          <a:xfrm>
            <a:off x="365244" y="4339529"/>
            <a:ext cx="6264696" cy="1390123"/>
            <a:chOff x="2505075" y="4067175"/>
            <a:chExt cx="4972050" cy="1280769"/>
          </a:xfrm>
        </p:grpSpPr>
        <p:pic>
          <p:nvPicPr>
            <p:cNvPr id="6" name="Picture 3" descr="D:\1xxr\1paper\Cable\222.gif"/>
            <p:cNvPicPr>
              <a:picLocks noChangeAspect="1" noChangeArrowheads="1"/>
            </p:cNvPicPr>
            <p:nvPr/>
          </p:nvPicPr>
          <p:blipFill>
            <a:blip r:embed="rId3">
              <a:extLst>
                <a:ext uri="{28A0092B-C50C-407E-A947-70E740481C1C}">
                  <a14:useLocalDpi xmlns:a14="http://schemas.microsoft.com/office/drawing/2010/main" val="0"/>
                </a:ext>
              </a:extLst>
            </a:blip>
            <a:srcRect t="37741" r="21053" b="25261"/>
            <a:stretch>
              <a:fillRect/>
            </a:stretch>
          </p:blipFill>
          <p:spPr bwMode="auto">
            <a:xfrm>
              <a:off x="2505075" y="4408015"/>
              <a:ext cx="4114800" cy="939929"/>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p:cNvSpPr txBox="1">
              <a:spLocks noChangeArrowheads="1"/>
            </p:cNvSpPr>
            <p:nvPr/>
          </p:nvSpPr>
          <p:spPr bwMode="auto">
            <a:xfrm>
              <a:off x="6645275" y="4699000"/>
              <a:ext cx="831850" cy="368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99"/>
                  </a:solidFill>
                  <a:latin typeface="+mn-lt"/>
                  <a:ea typeface="黑体" panose="02010609060101010101" pitchFamily="2" charset="-122"/>
                </a:rPr>
                <a:t>内导体</a:t>
              </a:r>
            </a:p>
          </p:txBody>
        </p:sp>
        <p:sp>
          <p:nvSpPr>
            <p:cNvPr id="8" name="Text Box 5"/>
            <p:cNvSpPr txBox="1">
              <a:spLocks noChangeArrowheads="1"/>
            </p:cNvSpPr>
            <p:nvPr/>
          </p:nvSpPr>
          <p:spPr bwMode="auto">
            <a:xfrm>
              <a:off x="4481513" y="4090988"/>
              <a:ext cx="1730376" cy="3686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99"/>
                  </a:solidFill>
                  <a:latin typeface="+mn-lt"/>
                  <a:ea typeface="黑体" panose="02010609060101010101" pitchFamily="2" charset="-122"/>
                </a:rPr>
                <a:t>外导体屏蔽层</a:t>
              </a:r>
            </a:p>
          </p:txBody>
        </p:sp>
        <p:sp>
          <p:nvSpPr>
            <p:cNvPr id="9" name="Text Box 6"/>
            <p:cNvSpPr txBox="1">
              <a:spLocks noChangeArrowheads="1"/>
            </p:cNvSpPr>
            <p:nvPr/>
          </p:nvSpPr>
          <p:spPr bwMode="auto">
            <a:xfrm>
              <a:off x="6284913" y="4067175"/>
              <a:ext cx="963612"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dirty="0">
                  <a:solidFill>
                    <a:srgbClr val="000099"/>
                  </a:solidFill>
                  <a:latin typeface="+mn-lt"/>
                  <a:ea typeface="黑体" panose="02010609060101010101" pitchFamily="2" charset="-122"/>
                </a:rPr>
                <a:t>绝缘层</a:t>
              </a:r>
            </a:p>
          </p:txBody>
        </p:sp>
        <p:sp>
          <p:nvSpPr>
            <p:cNvPr id="10" name="Text Box 7"/>
            <p:cNvSpPr txBox="1">
              <a:spLocks noChangeArrowheads="1"/>
            </p:cNvSpPr>
            <p:nvPr/>
          </p:nvSpPr>
          <p:spPr bwMode="auto">
            <a:xfrm>
              <a:off x="2825751" y="4111625"/>
              <a:ext cx="1655762" cy="3686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99"/>
                  </a:solidFill>
                  <a:latin typeface="+mn-lt"/>
                  <a:ea typeface="黑体" panose="02010609060101010101" pitchFamily="2" charset="-122"/>
                </a:rPr>
                <a:t>绝缘保护套层</a:t>
              </a:r>
            </a:p>
          </p:txBody>
        </p:sp>
        <p:sp>
          <p:nvSpPr>
            <p:cNvPr id="11" name="Rectangle 9"/>
            <p:cNvSpPr>
              <a:spLocks noChangeArrowheads="1"/>
            </p:cNvSpPr>
            <p:nvPr/>
          </p:nvSpPr>
          <p:spPr bwMode="auto">
            <a:xfrm>
              <a:off x="6276975" y="5005105"/>
              <a:ext cx="517525" cy="2762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anose="02010609060101010101" pitchFamily="2" charset="-122"/>
              </a:endParaRPr>
            </a:p>
          </p:txBody>
        </p:sp>
      </p:grpSp>
      <p:sp>
        <p:nvSpPr>
          <p:cNvPr id="3" name="矩形 2"/>
          <p:cNvSpPr/>
          <p:nvPr/>
        </p:nvSpPr>
        <p:spPr>
          <a:xfrm>
            <a:off x="170571" y="5786244"/>
            <a:ext cx="4674518" cy="461665"/>
          </a:xfrm>
          <a:prstGeom prst="rect">
            <a:avLst/>
          </a:prstGeom>
        </p:spPr>
        <p:txBody>
          <a:bodyPr wrap="square">
            <a:spAutoFit/>
          </a:bodyPr>
          <a:lstStyle/>
          <a:p>
            <a:pPr algn="ctr"/>
            <a:r>
              <a:rPr lang="zh-CN" altLang="zh-CN" sz="2400" b="1" dirty="0">
                <a:latin typeface="+mn-lt"/>
                <a:ea typeface="黑体" panose="02010609060101010101" pitchFamily="2" charset="-122"/>
              </a:rPr>
              <a:t>同轴电缆的结构</a:t>
            </a:r>
            <a:endParaRPr lang="zh-CN" altLang="en-US" sz="2400" b="1" dirty="0">
              <a:latin typeface="+mn-lt"/>
              <a:ea typeface="黑体" panose="02010609060101010101" pitchFamily="2" charset="-122"/>
            </a:endParaRPr>
          </a:p>
        </p:txBody>
      </p:sp>
      <p:pic>
        <p:nvPicPr>
          <p:cNvPr id="12" name="图片 11"/>
          <p:cNvPicPr>
            <a:picLocks noChangeAspect="1"/>
          </p:cNvPicPr>
          <p:nvPr/>
        </p:nvPicPr>
        <p:blipFill>
          <a:blip r:embed="rId4"/>
          <a:stretch>
            <a:fillRect/>
          </a:stretch>
        </p:blipFill>
        <p:spPr>
          <a:xfrm>
            <a:off x="6578718" y="4223475"/>
            <a:ext cx="3288435" cy="2567941"/>
          </a:xfrm>
          <a:prstGeom prst="rect">
            <a:avLst/>
          </a:prstGeom>
          <a:ln w="12700" cap="sq">
            <a:solidFill>
              <a:srgbClr val="0070C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402829" y="499780"/>
            <a:ext cx="9503171" cy="576685"/>
          </a:xfrm>
        </p:spPr>
        <p:txBody>
          <a:bodyPr/>
          <a:lstStyle/>
          <a:p>
            <a:pPr algn="l">
              <a:lnSpc>
                <a:spcPct val="100000"/>
              </a:lnSpc>
              <a:buClrTx/>
              <a:buSzTx/>
              <a:buFontTx/>
            </a:pPr>
            <a:br>
              <a:rPr lang="en-US" sz="1545" dirty="0">
                <a:latin typeface="Arial" panose="020B0604020202020204" pitchFamily="34" charset="0"/>
              </a:rPr>
            </a:br>
            <a:r>
              <a:rPr lang="zh-CN" altLang="en-US" sz="4400" dirty="0"/>
              <a:t>同轴电缆</a:t>
            </a:r>
          </a:p>
        </p:txBody>
      </p:sp>
      <p:sp>
        <p:nvSpPr>
          <p:cNvPr id="5" name="内容占位符 4"/>
          <p:cNvSpPr>
            <a:spLocks noGrp="1"/>
          </p:cNvSpPr>
          <p:nvPr>
            <p:ph idx="1"/>
          </p:nvPr>
        </p:nvSpPr>
        <p:spPr>
          <a:xfrm>
            <a:off x="318770" y="1076325"/>
            <a:ext cx="9394825" cy="2332990"/>
          </a:xfrm>
        </p:spPr>
        <p:txBody>
          <a:bodyPr/>
          <a:lstStyle/>
          <a:p>
            <a:pPr>
              <a:buNone/>
            </a:pPr>
            <a:r>
              <a:rPr lang="zh-CN" altLang="en-US" dirty="0"/>
              <a:t>同轴电缆，或简称同轴，由于它的</a:t>
            </a:r>
            <a:r>
              <a:rPr lang="zh-CN" altLang="en-US" dirty="0">
                <a:solidFill>
                  <a:srgbClr val="FF0000"/>
                </a:solidFill>
              </a:rPr>
              <a:t>两根</a:t>
            </a:r>
            <a:r>
              <a:rPr lang="zh-CN" altLang="en-US" dirty="0"/>
              <a:t>导线分享</a:t>
            </a:r>
            <a:r>
              <a:rPr lang="zh-CN" altLang="en-US" dirty="0">
                <a:solidFill>
                  <a:srgbClr val="FF0000"/>
                </a:solidFill>
              </a:rPr>
              <a:t>同一个轴</a:t>
            </a:r>
            <a:r>
              <a:rPr lang="zh-CN" altLang="en-US" dirty="0"/>
              <a:t>而得名。</a:t>
            </a:r>
            <a:endParaRPr lang="en-US" altLang="zh-CN" b="1" dirty="0"/>
          </a:p>
          <a:p>
            <a:pPr>
              <a:buNone/>
            </a:pPr>
            <a:r>
              <a:rPr lang="zh-CN" altLang="en-US" dirty="0"/>
              <a:t>现在用于：</a:t>
            </a:r>
            <a:endParaRPr lang="en-US" dirty="0"/>
          </a:p>
          <a:p>
            <a:r>
              <a:rPr lang="zh-CN" altLang="en-US" sz="3000" dirty="0">
                <a:solidFill>
                  <a:srgbClr val="0000CC"/>
                </a:solidFill>
                <a:sym typeface="+mn-ea"/>
              </a:rPr>
              <a:t>无线安装</a:t>
            </a:r>
            <a:r>
              <a:rPr lang="zh-CN" altLang="en-US" sz="3000" dirty="0">
                <a:solidFill>
                  <a:srgbClr val="0000CC"/>
                </a:solidFill>
              </a:rPr>
              <a:t>：</a:t>
            </a:r>
            <a:r>
              <a:rPr lang="zh-CN" altLang="en-US" dirty="0"/>
              <a:t>同轴电缆将天线连接到无线电设备。</a:t>
            </a:r>
            <a:r>
              <a:rPr lang="en-US" dirty="0"/>
              <a:t> </a:t>
            </a:r>
          </a:p>
          <a:p>
            <a:r>
              <a:rPr lang="zh-CN" altLang="en-US" sz="2800" dirty="0">
                <a:solidFill>
                  <a:srgbClr val="0000CC"/>
                </a:solidFill>
              </a:rPr>
              <a:t>有线电视</a:t>
            </a:r>
            <a:r>
              <a:rPr lang="en-US" altLang="zh-CN" sz="2800" dirty="0">
                <a:solidFill>
                  <a:srgbClr val="0000CC"/>
                </a:solidFill>
              </a:rPr>
              <a:t>Internet</a:t>
            </a:r>
            <a:r>
              <a:rPr lang="zh-CN" altLang="en-US" sz="2800" dirty="0">
                <a:solidFill>
                  <a:srgbClr val="0000CC"/>
                </a:solidFill>
              </a:rPr>
              <a:t>安装：</a:t>
            </a:r>
            <a:r>
              <a:rPr lang="en-US" sz="2800" dirty="0">
                <a:solidFill>
                  <a:srgbClr val="0000CC"/>
                </a:solidFill>
              </a:rPr>
              <a:t> </a:t>
            </a:r>
            <a:r>
              <a:rPr lang="zh-CN" altLang="en-US" dirty="0"/>
              <a:t>到客户所在地的最终连接和客户驻地的布线仍采用同轴电缆。 光纤和同轴电缆的结合应用称为光纤同轴电缆混合网 </a:t>
            </a:r>
            <a:r>
              <a:rPr lang="en-US" altLang="zh-CN" dirty="0"/>
              <a:t>(HFC)</a:t>
            </a:r>
            <a:r>
              <a:rPr lang="zh-CN" altLang="en-US" dirty="0"/>
              <a:t>。</a:t>
            </a:r>
            <a:endParaRPr lang="en-US" dirty="0"/>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405" y="5226685"/>
            <a:ext cx="4680585" cy="1631315"/>
          </a:xfrm>
          <a:prstGeom prst="rect">
            <a:avLst/>
          </a:prstGeom>
        </p:spPr>
      </p:pic>
      <p:pic>
        <p:nvPicPr>
          <p:cNvPr id="7" name="图片 6"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6395" y="5262245"/>
            <a:ext cx="4095115" cy="1562735"/>
          </a:xfrm>
          <a:prstGeom prst="rect">
            <a:avLst/>
          </a:prstGeom>
        </p:spPr>
      </p:pic>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同轴电缆的特点</a:t>
            </a:r>
          </a:p>
        </p:txBody>
      </p:sp>
      <p:sp>
        <p:nvSpPr>
          <p:cNvPr id="3" name="内容占位符 2"/>
          <p:cNvSpPr>
            <a:spLocks noGrp="1"/>
          </p:cNvSpPr>
          <p:nvPr>
            <p:ph idx="1"/>
          </p:nvPr>
        </p:nvSpPr>
        <p:spPr>
          <a:xfrm>
            <a:off x="495300" y="1196975"/>
            <a:ext cx="9065895" cy="5392420"/>
          </a:xfrm>
        </p:spPr>
        <p:txBody>
          <a:bodyPr/>
          <a:lstStyle/>
          <a:p>
            <a:r>
              <a:rPr lang="zh-CN" altLang="en-US" sz="2800"/>
              <a:t>频带宽，传输速率高。</a:t>
            </a:r>
          </a:p>
          <a:p>
            <a:r>
              <a:rPr lang="zh-CN" altLang="en-US" sz="2800"/>
              <a:t>损耗较低，传输距离远（</a:t>
            </a:r>
            <a:r>
              <a:rPr lang="en-US" altLang="zh-CN" sz="2800"/>
              <a:t>200m</a:t>
            </a:r>
            <a:r>
              <a:rPr lang="zh-CN" altLang="en-US" sz="2800"/>
              <a:t>，</a:t>
            </a:r>
            <a:r>
              <a:rPr lang="en-US" altLang="zh-CN" sz="2800"/>
              <a:t>500m</a:t>
            </a:r>
            <a:r>
              <a:rPr lang="zh-CN" altLang="en-US" sz="2800"/>
              <a:t>）。</a:t>
            </a:r>
          </a:p>
          <a:p>
            <a:r>
              <a:rPr lang="zh-CN" altLang="en-US" sz="2800"/>
              <a:t>辐射低，保密性好，抗干扰能力强。</a:t>
            </a:r>
          </a:p>
          <a:p>
            <a:r>
              <a:rPr lang="zh-CN" altLang="en-US" sz="2800"/>
              <a:t>架设安装方便，容易分支。</a:t>
            </a:r>
          </a:p>
          <a:p>
            <a:r>
              <a:rPr lang="zh-CN" altLang="en-US" sz="2800"/>
              <a:t>宽带电缆可实现多路复用传输。</a:t>
            </a:r>
          </a:p>
          <a:p>
            <a:r>
              <a:rPr lang="zh-CN" altLang="en-US" sz="2800"/>
              <a:t>同轴电缆与双绞线比较，价格贵，但带宽，数据速率高，传输距离长，抗干扰能力强。</a:t>
            </a:r>
          </a:p>
          <a:p>
            <a:pPr marL="0" indent="0">
              <a:buNone/>
            </a:pPr>
            <a:r>
              <a:rPr lang="zh-CN" altLang="en-US" sz="2800"/>
              <a:t>      </a:t>
            </a:r>
          </a:p>
          <a:p>
            <a:pPr marL="0" indent="0">
              <a:buNone/>
            </a:pPr>
            <a:r>
              <a:rPr lang="zh-CN" altLang="en-US" sz="2800"/>
              <a:t>      目前高质量的同轴电缆的带宽接近</a:t>
            </a:r>
            <a:r>
              <a:rPr lang="en-US" altLang="zh-CN" sz="2800"/>
              <a:t>1GHz</a:t>
            </a:r>
            <a:r>
              <a:rPr lang="zh-CN" altLang="en-US" sz="2800"/>
              <a:t>，主要用在有线电视网的居民小区。</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2.3.1  </a:t>
            </a:r>
            <a:r>
              <a:rPr lang="zh-CN" altLang="en-US" dirty="0"/>
              <a:t>导引型传输媒体</a:t>
            </a:r>
          </a:p>
        </p:txBody>
      </p:sp>
      <p:sp>
        <p:nvSpPr>
          <p:cNvPr id="3" name="内容占位符 2"/>
          <p:cNvSpPr>
            <a:spLocks noGrp="1"/>
          </p:cNvSpPr>
          <p:nvPr>
            <p:ph idx="1"/>
          </p:nvPr>
        </p:nvSpPr>
        <p:spPr/>
        <p:txBody>
          <a:bodyPr/>
          <a:lstStyle/>
          <a:p>
            <a:r>
              <a:rPr lang="zh-CN" altLang="en-US" dirty="0">
                <a:solidFill>
                  <a:srgbClr val="FF0000"/>
                </a:solidFill>
              </a:rPr>
              <a:t>光缆</a:t>
            </a:r>
            <a:endParaRPr lang="en-US" altLang="zh-CN" dirty="0">
              <a:solidFill>
                <a:srgbClr val="FF0000"/>
              </a:solidFill>
            </a:endParaRPr>
          </a:p>
          <a:p>
            <a:pPr lvl="1"/>
            <a:r>
              <a:rPr lang="zh-CN" altLang="zh-CN" dirty="0"/>
              <a:t>光纤是光纤通信的传输媒体</a:t>
            </a:r>
            <a:r>
              <a:rPr lang="zh-CN" altLang="en-US" dirty="0"/>
              <a:t>。</a:t>
            </a:r>
            <a:endParaRPr lang="en-US" altLang="zh-CN" dirty="0"/>
          </a:p>
          <a:p>
            <a:pPr lvl="1"/>
            <a:r>
              <a:rPr lang="zh-CN" altLang="zh-CN" dirty="0"/>
              <a:t>由于可见光的频率非常高，约为</a:t>
            </a:r>
            <a:r>
              <a:rPr lang="en-US" altLang="zh-CN" dirty="0"/>
              <a:t> 10</a:t>
            </a:r>
            <a:r>
              <a:rPr lang="en-US" altLang="zh-CN" baseline="30000" dirty="0"/>
              <a:t>8</a:t>
            </a:r>
            <a:r>
              <a:rPr lang="en-US" altLang="zh-CN" dirty="0"/>
              <a:t> MHz </a:t>
            </a:r>
            <a:r>
              <a:rPr lang="zh-CN" altLang="zh-CN" dirty="0"/>
              <a:t>的量级，因此一个光纤通信系统的传输带宽远远大于目前其他各种传输媒体的带宽</a:t>
            </a:r>
            <a:r>
              <a:rPr lang="zh-CN" altLang="en-US" dirty="0"/>
              <a:t>。</a:t>
            </a:r>
            <a:endParaRPr lang="en-US" altLang="zh-CN" dirty="0"/>
          </a:p>
          <a:p>
            <a:pPr lvl="1"/>
            <a:endParaRPr lang="zh-CN" altLang="en-US" dirty="0"/>
          </a:p>
        </p:txBody>
      </p:sp>
      <p:sp>
        <p:nvSpPr>
          <p:cNvPr id="7" name="AutoShape 8" descr="http://img3.imgtn.bdimg.com/it/u=2687704668,3138418309&amp;fm=2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 name="AutoShape 10" descr="http://img3.imgtn.bdimg.com/it/u=2687704668,3138418309&amp;fm=21&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4" name="图片 3"/>
          <p:cNvPicPr>
            <a:picLocks noChangeAspect="1"/>
          </p:cNvPicPr>
          <p:nvPr/>
        </p:nvPicPr>
        <p:blipFill>
          <a:blip r:embed="rId2"/>
          <a:stretch>
            <a:fillRect/>
          </a:stretch>
        </p:blipFill>
        <p:spPr>
          <a:xfrm>
            <a:off x="1200150" y="4398645"/>
            <a:ext cx="3175000" cy="2120900"/>
          </a:xfrm>
          <a:prstGeom prst="rect">
            <a:avLst/>
          </a:prstGeom>
        </p:spPr>
      </p:pic>
      <p:pic>
        <p:nvPicPr>
          <p:cNvPr id="5" name="图片 4"/>
          <p:cNvPicPr>
            <a:picLocks noChangeAspect="1"/>
          </p:cNvPicPr>
          <p:nvPr/>
        </p:nvPicPr>
        <p:blipFill>
          <a:blip r:embed="rId3"/>
          <a:stretch>
            <a:fillRect/>
          </a:stretch>
        </p:blipFill>
        <p:spPr>
          <a:xfrm>
            <a:off x="5875655" y="4398645"/>
            <a:ext cx="3175000" cy="21209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a:r>
              <a:rPr lang="zh-CN" altLang="en-US"/>
              <a:t>光线在光纤中的折射 </a:t>
            </a:r>
          </a:p>
        </p:txBody>
      </p:sp>
      <p:grpSp>
        <p:nvGrpSpPr>
          <p:cNvPr id="3" name="组合 2"/>
          <p:cNvGrpSpPr/>
          <p:nvPr/>
        </p:nvGrpSpPr>
        <p:grpSpPr>
          <a:xfrm>
            <a:off x="776536" y="1268760"/>
            <a:ext cx="8712968" cy="2974836"/>
            <a:chOff x="776536" y="1484784"/>
            <a:chExt cx="8712968" cy="2974836"/>
          </a:xfrm>
        </p:grpSpPr>
        <p:sp>
          <p:nvSpPr>
            <p:cNvPr id="42068" name="Arc 84"/>
            <p:cNvSpPr/>
            <p:nvPr/>
          </p:nvSpPr>
          <p:spPr bwMode="auto">
            <a:xfrm rot="9720000">
              <a:off x="3682984" y="3278659"/>
              <a:ext cx="104908" cy="793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grpSp>
          <p:nvGrpSpPr>
            <p:cNvPr id="42069" name="Group 85"/>
            <p:cNvGrpSpPr/>
            <p:nvPr/>
          </p:nvGrpSpPr>
          <p:grpSpPr bwMode="auto">
            <a:xfrm>
              <a:off x="3167047" y="2459508"/>
              <a:ext cx="3190214" cy="488950"/>
              <a:chOff x="292" y="1032"/>
              <a:chExt cx="1732" cy="216"/>
            </a:xfrm>
          </p:grpSpPr>
          <p:grpSp>
            <p:nvGrpSpPr>
              <p:cNvPr id="42070" name="Group 86"/>
              <p:cNvGrpSpPr/>
              <p:nvPr/>
            </p:nvGrpSpPr>
            <p:grpSpPr bwMode="auto">
              <a:xfrm>
                <a:off x="292" y="1032"/>
                <a:ext cx="1732" cy="216"/>
                <a:chOff x="292" y="1032"/>
                <a:chExt cx="1732" cy="216"/>
              </a:xfrm>
            </p:grpSpPr>
            <p:sp>
              <p:nvSpPr>
                <p:cNvPr id="42071" name="Line 87"/>
                <p:cNvSpPr>
                  <a:spLocks noChangeShapeType="1"/>
                </p:cNvSpPr>
                <p:nvPr/>
              </p:nvSpPr>
              <p:spPr bwMode="auto">
                <a:xfrm>
                  <a:off x="292" y="1032"/>
                  <a:ext cx="1732" cy="0"/>
                </a:xfrm>
                <a:prstGeom prst="line">
                  <a:avLst/>
                </a:prstGeom>
                <a:no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72" name="Line 88"/>
                <p:cNvSpPr>
                  <a:spLocks noChangeShapeType="1"/>
                </p:cNvSpPr>
                <p:nvPr/>
              </p:nvSpPr>
              <p:spPr bwMode="auto">
                <a:xfrm>
                  <a:off x="292" y="1248"/>
                  <a:ext cx="1732" cy="0"/>
                </a:xfrm>
                <a:prstGeom prst="line">
                  <a:avLst/>
                </a:prstGeom>
                <a:no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grpSp>
          <p:sp>
            <p:nvSpPr>
              <p:cNvPr id="42073" name="Rectangle 89"/>
              <p:cNvSpPr>
                <a:spLocks noChangeArrowheads="1"/>
              </p:cNvSpPr>
              <p:nvPr/>
            </p:nvSpPr>
            <p:spPr bwMode="auto">
              <a:xfrm>
                <a:off x="296" y="1041"/>
                <a:ext cx="1716" cy="198"/>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grpSp>
        <p:grpSp>
          <p:nvGrpSpPr>
            <p:cNvPr id="42074" name="Group 90"/>
            <p:cNvGrpSpPr/>
            <p:nvPr/>
          </p:nvGrpSpPr>
          <p:grpSpPr bwMode="auto">
            <a:xfrm>
              <a:off x="3153289" y="3881908"/>
              <a:ext cx="3167856" cy="436562"/>
              <a:chOff x="284" y="1656"/>
              <a:chExt cx="1720" cy="192"/>
            </a:xfrm>
          </p:grpSpPr>
          <p:grpSp>
            <p:nvGrpSpPr>
              <p:cNvPr id="42075" name="Group 91"/>
              <p:cNvGrpSpPr/>
              <p:nvPr/>
            </p:nvGrpSpPr>
            <p:grpSpPr bwMode="auto">
              <a:xfrm>
                <a:off x="284" y="1656"/>
                <a:ext cx="1720" cy="192"/>
                <a:chOff x="284" y="1656"/>
                <a:chExt cx="1720" cy="192"/>
              </a:xfrm>
            </p:grpSpPr>
            <p:sp>
              <p:nvSpPr>
                <p:cNvPr id="42076" name="Line 92"/>
                <p:cNvSpPr>
                  <a:spLocks noChangeShapeType="1"/>
                </p:cNvSpPr>
                <p:nvPr/>
              </p:nvSpPr>
              <p:spPr bwMode="auto">
                <a:xfrm>
                  <a:off x="284" y="1656"/>
                  <a:ext cx="1720" cy="0"/>
                </a:xfrm>
                <a:prstGeom prst="line">
                  <a:avLst/>
                </a:prstGeom>
                <a:no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77" name="Line 93"/>
                <p:cNvSpPr>
                  <a:spLocks noChangeShapeType="1"/>
                </p:cNvSpPr>
                <p:nvPr/>
              </p:nvSpPr>
              <p:spPr bwMode="auto">
                <a:xfrm>
                  <a:off x="284" y="1848"/>
                  <a:ext cx="1720" cy="0"/>
                </a:xfrm>
                <a:prstGeom prst="line">
                  <a:avLst/>
                </a:prstGeom>
                <a:noFill/>
                <a:ln w="190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grpSp>
          <p:sp>
            <p:nvSpPr>
              <p:cNvPr id="42078" name="Rectangle 94"/>
              <p:cNvSpPr>
                <a:spLocks noChangeArrowheads="1"/>
              </p:cNvSpPr>
              <p:nvPr/>
            </p:nvSpPr>
            <p:spPr bwMode="auto">
              <a:xfrm>
                <a:off x="288" y="1664"/>
                <a:ext cx="1704" cy="176"/>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grpSp>
        <p:sp>
          <p:nvSpPr>
            <p:cNvPr id="42079" name="Line 95"/>
            <p:cNvSpPr>
              <a:spLocks noChangeShapeType="1"/>
            </p:cNvSpPr>
            <p:nvPr/>
          </p:nvSpPr>
          <p:spPr bwMode="auto">
            <a:xfrm>
              <a:off x="3808529" y="1930870"/>
              <a:ext cx="0" cy="1931988"/>
            </a:xfrm>
            <a:prstGeom prst="line">
              <a:avLst/>
            </a:prstGeom>
            <a:noFill/>
            <a:ln w="19050">
              <a:solidFill>
                <a:srgbClr val="3333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0" name="Line 96"/>
            <p:cNvSpPr>
              <a:spLocks noChangeShapeType="1"/>
            </p:cNvSpPr>
            <p:nvPr/>
          </p:nvSpPr>
          <p:spPr bwMode="auto">
            <a:xfrm flipV="1">
              <a:off x="3815409" y="2596034"/>
              <a:ext cx="428228" cy="365125"/>
            </a:xfrm>
            <a:prstGeom prst="line">
              <a:avLst/>
            </a:prstGeom>
            <a:noFill/>
            <a:ln w="57150">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1" name="Line 97"/>
            <p:cNvSpPr>
              <a:spLocks noChangeShapeType="1"/>
            </p:cNvSpPr>
            <p:nvPr/>
          </p:nvSpPr>
          <p:spPr bwMode="auto">
            <a:xfrm flipV="1">
              <a:off x="3492087" y="2951633"/>
              <a:ext cx="316442" cy="749300"/>
            </a:xfrm>
            <a:prstGeom prst="line">
              <a:avLst/>
            </a:prstGeom>
            <a:noFill/>
            <a:ln w="57150">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2" name="Arc 98"/>
            <p:cNvSpPr/>
            <p:nvPr/>
          </p:nvSpPr>
          <p:spPr bwMode="auto">
            <a:xfrm>
              <a:off x="3811970" y="2700809"/>
              <a:ext cx="154781" cy="1238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0000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3" name="Line 99"/>
            <p:cNvSpPr>
              <a:spLocks noChangeShapeType="1"/>
            </p:cNvSpPr>
            <p:nvPr/>
          </p:nvSpPr>
          <p:spPr bwMode="auto">
            <a:xfrm>
              <a:off x="5237676" y="1949920"/>
              <a:ext cx="0" cy="1931988"/>
            </a:xfrm>
            <a:prstGeom prst="line">
              <a:avLst/>
            </a:prstGeom>
            <a:noFill/>
            <a:ln w="19050">
              <a:solidFill>
                <a:srgbClr val="3333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4" name="Line 100"/>
            <p:cNvSpPr>
              <a:spLocks noChangeShapeType="1"/>
            </p:cNvSpPr>
            <p:nvPr/>
          </p:nvSpPr>
          <p:spPr bwMode="auto">
            <a:xfrm flipV="1">
              <a:off x="4405297" y="2951634"/>
              <a:ext cx="844418" cy="346075"/>
            </a:xfrm>
            <a:prstGeom prst="line">
              <a:avLst/>
            </a:prstGeom>
            <a:noFill/>
            <a:ln w="57150">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5" name="Line 101"/>
            <p:cNvSpPr>
              <a:spLocks noChangeShapeType="1"/>
            </p:cNvSpPr>
            <p:nvPr/>
          </p:nvSpPr>
          <p:spPr bwMode="auto">
            <a:xfrm>
              <a:off x="5244555" y="2951633"/>
              <a:ext cx="966523" cy="355600"/>
            </a:xfrm>
            <a:prstGeom prst="line">
              <a:avLst/>
            </a:prstGeom>
            <a:noFill/>
            <a:ln w="57150">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6" name="Arc 102"/>
            <p:cNvSpPr/>
            <p:nvPr/>
          </p:nvSpPr>
          <p:spPr bwMode="auto">
            <a:xfrm rot="9840000">
              <a:off x="4936713" y="3054821"/>
              <a:ext cx="256248" cy="328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87" name="Freeform 103"/>
            <p:cNvSpPr/>
            <p:nvPr/>
          </p:nvSpPr>
          <p:spPr bwMode="auto">
            <a:xfrm>
              <a:off x="3027745" y="2500783"/>
              <a:ext cx="166819" cy="1820862"/>
            </a:xfrm>
            <a:custGeom>
              <a:avLst/>
              <a:gdLst>
                <a:gd name="T0" fmla="*/ 78 w 91"/>
                <a:gd name="T1" fmla="*/ 0 h 799"/>
                <a:gd name="T2" fmla="*/ 78 w 91"/>
                <a:gd name="T3" fmla="*/ 18 h 799"/>
                <a:gd name="T4" fmla="*/ 78 w 91"/>
                <a:gd name="T5" fmla="*/ 36 h 799"/>
                <a:gd name="T6" fmla="*/ 60 w 91"/>
                <a:gd name="T7" fmla="*/ 54 h 799"/>
                <a:gd name="T8" fmla="*/ 60 w 91"/>
                <a:gd name="T9" fmla="*/ 72 h 799"/>
                <a:gd name="T10" fmla="*/ 54 w 91"/>
                <a:gd name="T11" fmla="*/ 90 h 799"/>
                <a:gd name="T12" fmla="*/ 54 w 91"/>
                <a:gd name="T13" fmla="*/ 108 h 799"/>
                <a:gd name="T14" fmla="*/ 72 w 91"/>
                <a:gd name="T15" fmla="*/ 126 h 799"/>
                <a:gd name="T16" fmla="*/ 90 w 91"/>
                <a:gd name="T17" fmla="*/ 144 h 799"/>
                <a:gd name="T18" fmla="*/ 90 w 91"/>
                <a:gd name="T19" fmla="*/ 162 h 799"/>
                <a:gd name="T20" fmla="*/ 90 w 91"/>
                <a:gd name="T21" fmla="*/ 180 h 799"/>
                <a:gd name="T22" fmla="*/ 90 w 91"/>
                <a:gd name="T23" fmla="*/ 198 h 799"/>
                <a:gd name="T24" fmla="*/ 84 w 91"/>
                <a:gd name="T25" fmla="*/ 198 h 799"/>
                <a:gd name="T26" fmla="*/ 66 w 91"/>
                <a:gd name="T27" fmla="*/ 210 h 799"/>
                <a:gd name="T28" fmla="*/ 48 w 91"/>
                <a:gd name="T29" fmla="*/ 228 h 799"/>
                <a:gd name="T30" fmla="*/ 36 w 91"/>
                <a:gd name="T31" fmla="*/ 246 h 799"/>
                <a:gd name="T32" fmla="*/ 18 w 91"/>
                <a:gd name="T33" fmla="*/ 258 h 799"/>
                <a:gd name="T34" fmla="*/ 12 w 91"/>
                <a:gd name="T35" fmla="*/ 276 h 799"/>
                <a:gd name="T36" fmla="*/ 12 w 91"/>
                <a:gd name="T37" fmla="*/ 294 h 799"/>
                <a:gd name="T38" fmla="*/ 12 w 91"/>
                <a:gd name="T39" fmla="*/ 312 h 799"/>
                <a:gd name="T40" fmla="*/ 12 w 91"/>
                <a:gd name="T41" fmla="*/ 330 h 799"/>
                <a:gd name="T42" fmla="*/ 0 w 91"/>
                <a:gd name="T43" fmla="*/ 348 h 799"/>
                <a:gd name="T44" fmla="*/ 0 w 91"/>
                <a:gd name="T45" fmla="*/ 366 h 799"/>
                <a:gd name="T46" fmla="*/ 0 w 91"/>
                <a:gd name="T47" fmla="*/ 384 h 799"/>
                <a:gd name="T48" fmla="*/ 0 w 91"/>
                <a:gd name="T49" fmla="*/ 402 h 799"/>
                <a:gd name="T50" fmla="*/ 0 w 91"/>
                <a:gd name="T51" fmla="*/ 420 h 799"/>
                <a:gd name="T52" fmla="*/ 0 w 91"/>
                <a:gd name="T53" fmla="*/ 438 h 799"/>
                <a:gd name="T54" fmla="*/ 18 w 91"/>
                <a:gd name="T55" fmla="*/ 450 h 799"/>
                <a:gd name="T56" fmla="*/ 36 w 91"/>
                <a:gd name="T57" fmla="*/ 462 h 799"/>
                <a:gd name="T58" fmla="*/ 54 w 91"/>
                <a:gd name="T59" fmla="*/ 474 h 799"/>
                <a:gd name="T60" fmla="*/ 60 w 91"/>
                <a:gd name="T61" fmla="*/ 492 h 799"/>
                <a:gd name="T62" fmla="*/ 78 w 91"/>
                <a:gd name="T63" fmla="*/ 510 h 799"/>
                <a:gd name="T64" fmla="*/ 84 w 91"/>
                <a:gd name="T65" fmla="*/ 528 h 799"/>
                <a:gd name="T66" fmla="*/ 90 w 91"/>
                <a:gd name="T67" fmla="*/ 546 h 799"/>
                <a:gd name="T68" fmla="*/ 90 w 91"/>
                <a:gd name="T69" fmla="*/ 564 h 799"/>
                <a:gd name="T70" fmla="*/ 90 w 91"/>
                <a:gd name="T71" fmla="*/ 582 h 799"/>
                <a:gd name="T72" fmla="*/ 90 w 91"/>
                <a:gd name="T73" fmla="*/ 600 h 799"/>
                <a:gd name="T74" fmla="*/ 72 w 91"/>
                <a:gd name="T75" fmla="*/ 600 h 799"/>
                <a:gd name="T76" fmla="*/ 66 w 91"/>
                <a:gd name="T77" fmla="*/ 618 h 799"/>
                <a:gd name="T78" fmla="*/ 60 w 91"/>
                <a:gd name="T79" fmla="*/ 636 h 799"/>
                <a:gd name="T80" fmla="*/ 54 w 91"/>
                <a:gd name="T81" fmla="*/ 654 h 799"/>
                <a:gd name="T82" fmla="*/ 48 w 91"/>
                <a:gd name="T83" fmla="*/ 672 h 799"/>
                <a:gd name="T84" fmla="*/ 48 w 91"/>
                <a:gd name="T85" fmla="*/ 690 h 799"/>
                <a:gd name="T86" fmla="*/ 48 w 91"/>
                <a:gd name="T87" fmla="*/ 708 h 799"/>
                <a:gd name="T88" fmla="*/ 48 w 91"/>
                <a:gd name="T89" fmla="*/ 726 h 799"/>
                <a:gd name="T90" fmla="*/ 48 w 91"/>
                <a:gd name="T91" fmla="*/ 744 h 799"/>
                <a:gd name="T92" fmla="*/ 54 w 91"/>
                <a:gd name="T93" fmla="*/ 762 h 799"/>
                <a:gd name="T94" fmla="*/ 60 w 91"/>
                <a:gd name="T95" fmla="*/ 780 h 799"/>
                <a:gd name="T96" fmla="*/ 72 w 91"/>
                <a:gd name="T97" fmla="*/ 798 h 799"/>
                <a:gd name="T98" fmla="*/ 72 w 91"/>
                <a:gd name="T99" fmla="*/ 792 h 799"/>
                <a:gd name="T100" fmla="*/ 72 w 91"/>
                <a:gd name="T101" fmla="*/ 786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2088" name="Rectangle 104"/>
            <p:cNvSpPr>
              <a:spLocks noChangeArrowheads="1"/>
            </p:cNvSpPr>
            <p:nvPr/>
          </p:nvSpPr>
          <p:spPr bwMode="auto">
            <a:xfrm>
              <a:off x="4835245" y="1484784"/>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2000" b="1">
                  <a:solidFill>
                    <a:srgbClr val="000099"/>
                  </a:solidFill>
                  <a:latin typeface="+mn-lt"/>
                  <a:ea typeface="黑体" panose="02010609060101010101" pitchFamily="2" charset="-122"/>
                </a:rPr>
                <a:t>折射角</a:t>
              </a:r>
            </a:p>
          </p:txBody>
        </p:sp>
        <p:sp>
          <p:nvSpPr>
            <p:cNvPr id="42089" name="Rectangle 105"/>
            <p:cNvSpPr>
              <a:spLocks noChangeArrowheads="1"/>
            </p:cNvSpPr>
            <p:nvPr/>
          </p:nvSpPr>
          <p:spPr bwMode="auto">
            <a:xfrm>
              <a:off x="3944888" y="3463503"/>
              <a:ext cx="118837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2000" b="1" dirty="0">
                  <a:solidFill>
                    <a:srgbClr val="000099"/>
                  </a:solidFill>
                  <a:latin typeface="+mn-lt"/>
                  <a:ea typeface="黑体" panose="02010609060101010101" pitchFamily="2" charset="-122"/>
                </a:rPr>
                <a:t>入射角</a:t>
              </a:r>
            </a:p>
          </p:txBody>
        </p:sp>
        <p:sp>
          <p:nvSpPr>
            <p:cNvPr id="42090" name="Line 106"/>
            <p:cNvSpPr>
              <a:spLocks noChangeShapeType="1"/>
            </p:cNvSpPr>
            <p:nvPr/>
          </p:nvSpPr>
          <p:spPr bwMode="auto">
            <a:xfrm>
              <a:off x="5333984" y="2003896"/>
              <a:ext cx="128985" cy="720725"/>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91" name="Line 107"/>
            <p:cNvSpPr>
              <a:spLocks noChangeShapeType="1"/>
            </p:cNvSpPr>
            <p:nvPr/>
          </p:nvSpPr>
          <p:spPr bwMode="auto">
            <a:xfrm flipV="1">
              <a:off x="3896238" y="1959445"/>
              <a:ext cx="1135063" cy="76835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92" name="Line 108"/>
            <p:cNvSpPr>
              <a:spLocks noChangeShapeType="1"/>
            </p:cNvSpPr>
            <p:nvPr/>
          </p:nvSpPr>
          <p:spPr bwMode="auto">
            <a:xfrm>
              <a:off x="3728864" y="3356992"/>
              <a:ext cx="323321" cy="25558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93" name="Line 109"/>
            <p:cNvSpPr>
              <a:spLocks noChangeShapeType="1"/>
            </p:cNvSpPr>
            <p:nvPr/>
          </p:nvSpPr>
          <p:spPr bwMode="auto">
            <a:xfrm flipV="1">
              <a:off x="4773332" y="3297709"/>
              <a:ext cx="270008" cy="319087"/>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94" name="Line 110"/>
            <p:cNvSpPr>
              <a:spLocks noChangeShapeType="1"/>
            </p:cNvSpPr>
            <p:nvPr/>
          </p:nvSpPr>
          <p:spPr bwMode="auto">
            <a:xfrm flipV="1">
              <a:off x="6259232" y="3061171"/>
              <a:ext cx="658681" cy="328613"/>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95" name="Line 111"/>
            <p:cNvSpPr>
              <a:spLocks noChangeShapeType="1"/>
            </p:cNvSpPr>
            <p:nvPr/>
          </p:nvSpPr>
          <p:spPr bwMode="auto">
            <a:xfrm flipH="1">
              <a:off x="6104451" y="2029296"/>
              <a:ext cx="543454" cy="708025"/>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096" name="Freeform 112"/>
            <p:cNvSpPr/>
            <p:nvPr/>
          </p:nvSpPr>
          <p:spPr bwMode="auto">
            <a:xfrm>
              <a:off x="6343503" y="2473796"/>
              <a:ext cx="24077" cy="493713"/>
            </a:xfrm>
            <a:custGeom>
              <a:avLst/>
              <a:gdLst>
                <a:gd name="T0" fmla="*/ 0 w 13"/>
                <a:gd name="T1" fmla="*/ 0 h 217"/>
                <a:gd name="T2" fmla="*/ 6 w 13"/>
                <a:gd name="T3" fmla="*/ 18 h 217"/>
                <a:gd name="T4" fmla="*/ 6 w 13"/>
                <a:gd name="T5" fmla="*/ 36 h 217"/>
                <a:gd name="T6" fmla="*/ 6 w 13"/>
                <a:gd name="T7" fmla="*/ 54 h 217"/>
                <a:gd name="T8" fmla="*/ 6 w 13"/>
                <a:gd name="T9" fmla="*/ 72 h 217"/>
                <a:gd name="T10" fmla="*/ 6 w 13"/>
                <a:gd name="T11" fmla="*/ 90 h 217"/>
                <a:gd name="T12" fmla="*/ 0 w 13"/>
                <a:gd name="T13" fmla="*/ 108 h 217"/>
                <a:gd name="T14" fmla="*/ 0 w 13"/>
                <a:gd name="T15" fmla="*/ 126 h 217"/>
                <a:gd name="T16" fmla="*/ 0 w 13"/>
                <a:gd name="T17" fmla="*/ 144 h 217"/>
                <a:gd name="T18" fmla="*/ 0 w 13"/>
                <a:gd name="T19" fmla="*/ 162 h 217"/>
                <a:gd name="T20" fmla="*/ 0 w 13"/>
                <a:gd name="T21" fmla="*/ 180 h 217"/>
                <a:gd name="T22" fmla="*/ 6 w 13"/>
                <a:gd name="T23" fmla="*/ 198 h 217"/>
                <a:gd name="T24" fmla="*/ 12 w 13"/>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2097" name="Freeform 113"/>
            <p:cNvSpPr/>
            <p:nvPr/>
          </p:nvSpPr>
          <p:spPr bwMode="auto">
            <a:xfrm>
              <a:off x="6310826" y="2951633"/>
              <a:ext cx="89429" cy="919162"/>
            </a:xfrm>
            <a:custGeom>
              <a:avLst/>
              <a:gdLst>
                <a:gd name="T0" fmla="*/ 18 w 49"/>
                <a:gd name="T1" fmla="*/ 0 h 403"/>
                <a:gd name="T2" fmla="*/ 12 w 49"/>
                <a:gd name="T3" fmla="*/ 18 h 403"/>
                <a:gd name="T4" fmla="*/ 12 w 49"/>
                <a:gd name="T5" fmla="*/ 36 h 403"/>
                <a:gd name="T6" fmla="*/ 12 w 49"/>
                <a:gd name="T7" fmla="*/ 54 h 403"/>
                <a:gd name="T8" fmla="*/ 12 w 49"/>
                <a:gd name="T9" fmla="*/ 72 h 403"/>
                <a:gd name="T10" fmla="*/ 24 w 49"/>
                <a:gd name="T11" fmla="*/ 90 h 403"/>
                <a:gd name="T12" fmla="*/ 24 w 49"/>
                <a:gd name="T13" fmla="*/ 108 h 403"/>
                <a:gd name="T14" fmla="*/ 30 w 49"/>
                <a:gd name="T15" fmla="*/ 126 h 403"/>
                <a:gd name="T16" fmla="*/ 36 w 49"/>
                <a:gd name="T17" fmla="*/ 144 h 403"/>
                <a:gd name="T18" fmla="*/ 36 w 49"/>
                <a:gd name="T19" fmla="*/ 162 h 403"/>
                <a:gd name="T20" fmla="*/ 48 w 49"/>
                <a:gd name="T21" fmla="*/ 180 h 403"/>
                <a:gd name="T22" fmla="*/ 48 w 49"/>
                <a:gd name="T23" fmla="*/ 198 h 403"/>
                <a:gd name="T24" fmla="*/ 48 w 49"/>
                <a:gd name="T25" fmla="*/ 216 h 403"/>
                <a:gd name="T26" fmla="*/ 48 w 49"/>
                <a:gd name="T27" fmla="*/ 234 h 403"/>
                <a:gd name="T28" fmla="*/ 48 w 49"/>
                <a:gd name="T29" fmla="*/ 252 h 403"/>
                <a:gd name="T30" fmla="*/ 48 w 49"/>
                <a:gd name="T31" fmla="*/ 270 h 403"/>
                <a:gd name="T32" fmla="*/ 42 w 49"/>
                <a:gd name="T33" fmla="*/ 288 h 403"/>
                <a:gd name="T34" fmla="*/ 36 w 49"/>
                <a:gd name="T35" fmla="*/ 306 h 403"/>
                <a:gd name="T36" fmla="*/ 30 w 49"/>
                <a:gd name="T37" fmla="*/ 324 h 403"/>
                <a:gd name="T38" fmla="*/ 18 w 49"/>
                <a:gd name="T39" fmla="*/ 342 h 403"/>
                <a:gd name="T40" fmla="*/ 12 w 49"/>
                <a:gd name="T41" fmla="*/ 366 h 403"/>
                <a:gd name="T42" fmla="*/ 12 w 49"/>
                <a:gd name="T43" fmla="*/ 384 h 403"/>
                <a:gd name="T44" fmla="*/ 0 w 49"/>
                <a:gd name="T45" fmla="*/ 402 h 403"/>
                <a:gd name="T46" fmla="*/ 0 w 49"/>
                <a:gd name="T47" fmla="*/ 40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lnTo>
                    <a:pt x="0" y="402"/>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2098" name="Freeform 114"/>
            <p:cNvSpPr/>
            <p:nvPr/>
          </p:nvSpPr>
          <p:spPr bwMode="auto">
            <a:xfrm>
              <a:off x="6288469" y="3867621"/>
              <a:ext cx="24077" cy="454025"/>
            </a:xfrm>
            <a:custGeom>
              <a:avLst/>
              <a:gdLst>
                <a:gd name="T0" fmla="*/ 12 w 13"/>
                <a:gd name="T1" fmla="*/ 0 h 199"/>
                <a:gd name="T2" fmla="*/ 12 w 13"/>
                <a:gd name="T3" fmla="*/ 18 h 199"/>
                <a:gd name="T4" fmla="*/ 12 w 13"/>
                <a:gd name="T5" fmla="*/ 36 h 199"/>
                <a:gd name="T6" fmla="*/ 12 w 13"/>
                <a:gd name="T7" fmla="*/ 54 h 199"/>
                <a:gd name="T8" fmla="*/ 12 w 13"/>
                <a:gd name="T9" fmla="*/ 72 h 199"/>
                <a:gd name="T10" fmla="*/ 12 w 13"/>
                <a:gd name="T11" fmla="*/ 90 h 199"/>
                <a:gd name="T12" fmla="*/ 12 w 13"/>
                <a:gd name="T13" fmla="*/ 108 h 199"/>
                <a:gd name="T14" fmla="*/ 12 w 13"/>
                <a:gd name="T15" fmla="*/ 126 h 199"/>
                <a:gd name="T16" fmla="*/ 12 w 13"/>
                <a:gd name="T17" fmla="*/ 144 h 199"/>
                <a:gd name="T18" fmla="*/ 12 w 13"/>
                <a:gd name="T19" fmla="*/ 162 h 199"/>
                <a:gd name="T20" fmla="*/ 6 w 13"/>
                <a:gd name="T21" fmla="*/ 180 h 199"/>
                <a:gd name="T22" fmla="*/ 0 w 13"/>
                <a:gd name="T23" fmla="*/ 1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anose="02010609060101010101" pitchFamily="2" charset="-122"/>
              </a:endParaRPr>
            </a:p>
          </p:txBody>
        </p:sp>
        <p:sp>
          <p:nvSpPr>
            <p:cNvPr id="42099" name="Arc 115"/>
            <p:cNvSpPr/>
            <p:nvPr/>
          </p:nvSpPr>
          <p:spPr bwMode="auto">
            <a:xfrm rot="540000">
              <a:off x="5230797" y="2689696"/>
              <a:ext cx="383514" cy="3460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100" name="Text Box 116"/>
            <p:cNvSpPr txBox="1">
              <a:spLocks noChangeArrowheads="1"/>
            </p:cNvSpPr>
            <p:nvPr/>
          </p:nvSpPr>
          <p:spPr bwMode="auto">
            <a:xfrm>
              <a:off x="6334903" y="1592734"/>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anose="02010609060101010101" pitchFamily="2" charset="-122"/>
                </a:rPr>
                <a:t>  </a:t>
              </a:r>
              <a:r>
                <a:rPr kumimoji="1" lang="zh-CN" altLang="en-US" sz="2000" b="1">
                  <a:solidFill>
                    <a:srgbClr val="000099"/>
                  </a:solidFill>
                  <a:latin typeface="+mn-lt"/>
                  <a:ea typeface="黑体" panose="02010609060101010101" pitchFamily="2" charset="-122"/>
                </a:rPr>
                <a:t>包层</a:t>
              </a:r>
            </a:p>
            <a:p>
              <a:pPr algn="l"/>
              <a:r>
                <a:rPr kumimoji="1" lang="zh-CN" altLang="en-US" sz="2000" b="1">
                  <a:solidFill>
                    <a:srgbClr val="000099"/>
                  </a:solidFill>
                  <a:latin typeface="+mn-lt"/>
                  <a:ea typeface="黑体" panose="02010609060101010101" pitchFamily="2" charset="-122"/>
                </a:rPr>
                <a:t>（低折射率的媒体）</a:t>
              </a:r>
            </a:p>
          </p:txBody>
        </p:sp>
        <p:sp>
          <p:nvSpPr>
            <p:cNvPr id="42101" name="Line 117"/>
            <p:cNvSpPr>
              <a:spLocks noChangeShapeType="1"/>
            </p:cNvSpPr>
            <p:nvPr/>
          </p:nvSpPr>
          <p:spPr bwMode="auto">
            <a:xfrm flipH="1">
              <a:off x="6082094" y="4045420"/>
              <a:ext cx="706834" cy="10953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102" name="Text Box 118"/>
            <p:cNvSpPr txBox="1">
              <a:spLocks noChangeArrowheads="1"/>
            </p:cNvSpPr>
            <p:nvPr/>
          </p:nvSpPr>
          <p:spPr bwMode="auto">
            <a:xfrm>
              <a:off x="6647905" y="3751734"/>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dirty="0">
                  <a:solidFill>
                    <a:srgbClr val="000099"/>
                  </a:solidFill>
                  <a:latin typeface="+mn-lt"/>
                  <a:ea typeface="黑体" panose="02010609060101010101" pitchFamily="2" charset="-122"/>
                </a:rPr>
                <a:t>  </a:t>
              </a:r>
              <a:r>
                <a:rPr kumimoji="1" lang="zh-CN" altLang="en-US" sz="2000" b="1" dirty="0">
                  <a:solidFill>
                    <a:srgbClr val="000099"/>
                  </a:solidFill>
                  <a:latin typeface="+mn-lt"/>
                  <a:ea typeface="黑体" panose="02010609060101010101" pitchFamily="2" charset="-122"/>
                </a:rPr>
                <a:t>包层</a:t>
              </a:r>
            </a:p>
            <a:p>
              <a:pPr algn="l"/>
              <a:r>
                <a:rPr kumimoji="1" lang="zh-CN" altLang="en-US" sz="2000" b="1" dirty="0">
                  <a:solidFill>
                    <a:srgbClr val="000099"/>
                  </a:solidFill>
                  <a:latin typeface="+mn-lt"/>
                  <a:ea typeface="黑体" panose="02010609060101010101" pitchFamily="2" charset="-122"/>
                </a:rPr>
                <a:t>（低折射率的媒体）</a:t>
              </a:r>
            </a:p>
          </p:txBody>
        </p:sp>
        <p:sp>
          <p:nvSpPr>
            <p:cNvPr id="42103" name="Text Box 119"/>
            <p:cNvSpPr txBox="1">
              <a:spLocks noChangeArrowheads="1"/>
            </p:cNvSpPr>
            <p:nvPr/>
          </p:nvSpPr>
          <p:spPr bwMode="auto">
            <a:xfrm>
              <a:off x="6725296" y="2676996"/>
              <a:ext cx="276420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en-US" altLang="zh-CN" sz="2000" b="1" dirty="0">
                  <a:solidFill>
                    <a:srgbClr val="000099"/>
                  </a:solidFill>
                  <a:latin typeface="+mn-lt"/>
                  <a:ea typeface="黑体" panose="02010609060101010101" pitchFamily="2" charset="-122"/>
                </a:rPr>
                <a:t>   </a:t>
              </a:r>
              <a:r>
                <a:rPr kumimoji="1" lang="zh-CN" altLang="en-US" sz="2000" b="1" dirty="0">
                  <a:solidFill>
                    <a:srgbClr val="000099"/>
                  </a:solidFill>
                  <a:latin typeface="+mn-lt"/>
                  <a:ea typeface="黑体" panose="02010609060101010101" pitchFamily="2" charset="-122"/>
                </a:rPr>
                <a:t>纤芯</a:t>
              </a:r>
            </a:p>
            <a:p>
              <a:pPr algn="l"/>
              <a:r>
                <a:rPr kumimoji="1" lang="zh-CN" altLang="en-US" sz="2000" b="1" dirty="0">
                  <a:solidFill>
                    <a:srgbClr val="000099"/>
                  </a:solidFill>
                  <a:latin typeface="+mn-lt"/>
                  <a:ea typeface="黑体" panose="02010609060101010101" pitchFamily="2" charset="-122"/>
                </a:rPr>
                <a:t>（高折射率的媒体）            </a:t>
              </a:r>
            </a:p>
          </p:txBody>
        </p:sp>
        <p:sp>
          <p:nvSpPr>
            <p:cNvPr id="42104" name="AutoShape 120"/>
            <p:cNvSpPr>
              <a:spLocks noChangeArrowheads="1"/>
            </p:cNvSpPr>
            <p:nvPr/>
          </p:nvSpPr>
          <p:spPr bwMode="auto">
            <a:xfrm rot="5400000">
              <a:off x="541256" y="2682089"/>
              <a:ext cx="1885950" cy="1415389"/>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1270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105" name="AutoShape 121"/>
            <p:cNvSpPr>
              <a:spLocks noChangeArrowheads="1"/>
            </p:cNvSpPr>
            <p:nvPr/>
          </p:nvSpPr>
          <p:spPr bwMode="auto">
            <a:xfrm rot="5400000">
              <a:off x="1828784" y="3062493"/>
              <a:ext cx="901700" cy="708554"/>
            </a:xfrm>
            <a:prstGeom prst="can">
              <a:avLst>
                <a:gd name="adj" fmla="val 27343"/>
              </a:avLst>
            </a:prstGeom>
            <a:solidFill>
              <a:srgbClr val="FFFFFF"/>
            </a:solidFill>
            <a:ln w="1270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106" name="Text Box 122"/>
            <p:cNvSpPr txBox="1">
              <a:spLocks noChangeArrowheads="1"/>
            </p:cNvSpPr>
            <p:nvPr/>
          </p:nvSpPr>
          <p:spPr bwMode="auto">
            <a:xfrm>
              <a:off x="1218523" y="1489545"/>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99"/>
                  </a:solidFill>
                  <a:latin typeface="+mn-lt"/>
                  <a:ea typeface="黑体" panose="02010609060101010101" pitchFamily="2" charset="-122"/>
                </a:rPr>
                <a:t>包层</a:t>
              </a:r>
            </a:p>
          </p:txBody>
        </p:sp>
        <p:sp>
          <p:nvSpPr>
            <p:cNvPr id="42107" name="Line 123"/>
            <p:cNvSpPr>
              <a:spLocks noChangeShapeType="1"/>
            </p:cNvSpPr>
            <p:nvPr/>
          </p:nvSpPr>
          <p:spPr bwMode="auto">
            <a:xfrm flipH="1">
              <a:off x="1572800" y="2076920"/>
              <a:ext cx="3440" cy="65563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sp>
          <p:nvSpPr>
            <p:cNvPr id="42108" name="Text Box 124"/>
            <p:cNvSpPr txBox="1">
              <a:spLocks noChangeArrowheads="1"/>
            </p:cNvSpPr>
            <p:nvPr/>
          </p:nvSpPr>
          <p:spPr bwMode="auto">
            <a:xfrm>
              <a:off x="2191925" y="1857846"/>
              <a:ext cx="7549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000" b="1">
                  <a:solidFill>
                    <a:srgbClr val="000099"/>
                  </a:solidFill>
                  <a:latin typeface="+mn-lt"/>
                  <a:ea typeface="黑体" panose="02010609060101010101" pitchFamily="2" charset="-122"/>
                </a:rPr>
                <a:t>纤芯</a:t>
              </a:r>
            </a:p>
          </p:txBody>
        </p:sp>
        <p:sp>
          <p:nvSpPr>
            <p:cNvPr id="42109" name="Line 125"/>
            <p:cNvSpPr>
              <a:spLocks noChangeShapeType="1"/>
            </p:cNvSpPr>
            <p:nvPr/>
          </p:nvSpPr>
          <p:spPr bwMode="auto">
            <a:xfrm flipH="1">
              <a:off x="2186765" y="2295996"/>
              <a:ext cx="270008" cy="874713"/>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anose="02010609060101010101" pitchFamily="2" charset="-122"/>
              </a:endParaRPr>
            </a:p>
          </p:txBody>
        </p:sp>
      </p:grpSp>
      <p:sp>
        <p:nvSpPr>
          <p:cNvPr id="4" name="矩形 3"/>
          <p:cNvSpPr/>
          <p:nvPr/>
        </p:nvSpPr>
        <p:spPr>
          <a:xfrm>
            <a:off x="2288704" y="4365104"/>
            <a:ext cx="4863478" cy="461665"/>
          </a:xfrm>
          <a:prstGeom prst="rect">
            <a:avLst/>
          </a:prstGeom>
        </p:spPr>
        <p:txBody>
          <a:bodyPr wrap="square">
            <a:spAutoFit/>
          </a:bodyPr>
          <a:lstStyle/>
          <a:p>
            <a:pPr algn="ctr"/>
            <a:r>
              <a:rPr lang="zh-CN" altLang="zh-CN" sz="2400" b="1" dirty="0">
                <a:latin typeface="+mn-lt"/>
                <a:ea typeface="黑体" panose="02010609060101010101" pitchFamily="2" charset="-122"/>
              </a:rPr>
              <a:t>光线在光纤中的折射</a:t>
            </a:r>
            <a:endParaRPr lang="zh-CN" altLang="en-US" sz="2400" b="1" dirty="0">
              <a:latin typeface="+mn-lt"/>
              <a:ea typeface="黑体" panose="02010609060101010101" pitchFamily="2" charset="-122"/>
            </a:endParaRPr>
          </a:p>
        </p:txBody>
      </p:sp>
      <p:sp>
        <p:nvSpPr>
          <p:cNvPr id="5" name="矩形 4"/>
          <p:cNvSpPr/>
          <p:nvPr/>
        </p:nvSpPr>
        <p:spPr>
          <a:xfrm>
            <a:off x="776536" y="4941168"/>
            <a:ext cx="8712968" cy="1384995"/>
          </a:xfrm>
          <a:prstGeom prst="rect">
            <a:avLst/>
          </a:prstGeom>
          <a:solidFill>
            <a:srgbClr val="FFFF66"/>
          </a:solidFill>
          <a:ln>
            <a:solidFill>
              <a:srgbClr val="000066"/>
            </a:solidFill>
          </a:ln>
        </p:spPr>
        <p:txBody>
          <a:bodyPr wrap="square">
            <a:spAutoFit/>
          </a:bodyPr>
          <a:lstStyle/>
          <a:p>
            <a:r>
              <a:rPr lang="zh-CN" altLang="zh-CN" sz="2800" b="1" dirty="0">
                <a:solidFill>
                  <a:srgbClr val="000099"/>
                </a:solidFill>
                <a:latin typeface="+mn-lt"/>
                <a:ea typeface="黑体" panose="02010609060101010101" pitchFamily="2" charset="-122"/>
              </a:rPr>
              <a:t>当光线从高折射率的媒体射向低折射率的媒体时，其折射角将大于入射角。因此，如果入射角足够大，就会出现全反射</a:t>
            </a:r>
            <a:r>
              <a:rPr lang="zh-CN" altLang="en-US" sz="2800" b="1" dirty="0">
                <a:solidFill>
                  <a:srgbClr val="000099"/>
                </a:solidFill>
                <a:latin typeface="+mn-lt"/>
                <a:ea typeface="黑体" panose="02010609060101010101" pitchFamily="2" charset="-122"/>
              </a:rPr>
              <a:t>，</a:t>
            </a:r>
            <a:r>
              <a:rPr lang="zh-CN" altLang="zh-CN" sz="2800" b="1" dirty="0">
                <a:solidFill>
                  <a:srgbClr val="000099"/>
                </a:solidFill>
                <a:latin typeface="+mn-lt"/>
                <a:ea typeface="黑体" panose="02010609060101010101" pitchFamily="2" charset="-122"/>
              </a:rPr>
              <a:t>光也就沿着光纤传输下去</a:t>
            </a:r>
            <a:r>
              <a:rPr lang="zh-CN" altLang="en-US" sz="2800" b="1" dirty="0">
                <a:solidFill>
                  <a:srgbClr val="000099"/>
                </a:solidFill>
                <a:latin typeface="+mn-lt"/>
                <a:ea typeface="黑体" panose="02010609060101010101" pitchFamily="2"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lgn="ctr"/>
            <a:r>
              <a:rPr lang="zh-CN" altLang="en-US"/>
              <a:t>光纤的工作原理</a:t>
            </a:r>
          </a:p>
        </p:txBody>
      </p:sp>
      <p:grpSp>
        <p:nvGrpSpPr>
          <p:cNvPr id="2" name="组合 1"/>
          <p:cNvGrpSpPr/>
          <p:nvPr/>
        </p:nvGrpSpPr>
        <p:grpSpPr>
          <a:xfrm>
            <a:off x="980934" y="1268760"/>
            <a:ext cx="7644474" cy="2016125"/>
            <a:chOff x="741231" y="1989139"/>
            <a:chExt cx="7644474" cy="2016125"/>
          </a:xfrm>
        </p:grpSpPr>
        <p:sp>
          <p:nvSpPr>
            <p:cNvPr id="122883" name="Rectangle 3"/>
            <p:cNvSpPr>
              <a:spLocks noChangeArrowheads="1"/>
            </p:cNvSpPr>
            <p:nvPr/>
          </p:nvSpPr>
          <p:spPr bwMode="auto">
            <a:xfrm>
              <a:off x="2884091" y="3170239"/>
              <a:ext cx="5298678" cy="2444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4" name="Rectangle 4"/>
            <p:cNvSpPr>
              <a:spLocks noChangeArrowheads="1"/>
            </p:cNvSpPr>
            <p:nvPr/>
          </p:nvSpPr>
          <p:spPr bwMode="auto">
            <a:xfrm>
              <a:off x="2884091" y="3414713"/>
              <a:ext cx="5298678"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5" name="Rectangle 5"/>
            <p:cNvSpPr>
              <a:spLocks noChangeArrowheads="1"/>
            </p:cNvSpPr>
            <p:nvPr/>
          </p:nvSpPr>
          <p:spPr bwMode="auto">
            <a:xfrm>
              <a:off x="2884091" y="3759201"/>
              <a:ext cx="5298678" cy="246063"/>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6" name="AutoShape 6"/>
            <p:cNvSpPr>
              <a:spLocks noChangeArrowheads="1"/>
            </p:cNvSpPr>
            <p:nvPr/>
          </p:nvSpPr>
          <p:spPr bwMode="auto">
            <a:xfrm rot="5400000">
              <a:off x="1524133" y="3116528"/>
              <a:ext cx="835025" cy="942446"/>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7" name="AutoShape 7"/>
            <p:cNvSpPr>
              <a:spLocks noChangeArrowheads="1"/>
            </p:cNvSpPr>
            <p:nvPr/>
          </p:nvSpPr>
          <p:spPr bwMode="auto">
            <a:xfrm rot="5400000">
              <a:off x="2299098" y="3351345"/>
              <a:ext cx="344487" cy="471223"/>
            </a:xfrm>
            <a:prstGeom prst="can">
              <a:avLst>
                <a:gd name="adj" fmla="val 20711"/>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nvGrpSpPr>
            <p:cNvPr id="122888" name="Group 8"/>
            <p:cNvGrpSpPr/>
            <p:nvPr/>
          </p:nvGrpSpPr>
          <p:grpSpPr bwMode="auto">
            <a:xfrm>
              <a:off x="2884091" y="3170239"/>
              <a:ext cx="5298678" cy="835025"/>
              <a:chOff x="912" y="912"/>
              <a:chExt cx="4608" cy="816"/>
            </a:xfrm>
          </p:grpSpPr>
          <p:sp>
            <p:nvSpPr>
              <p:cNvPr id="122889" name="Line 9"/>
              <p:cNvSpPr>
                <a:spLocks noChangeShapeType="1"/>
              </p:cNvSpPr>
              <p:nvPr/>
            </p:nvSpPr>
            <p:spPr bwMode="auto">
              <a:xfrm>
                <a:off x="912" y="912"/>
                <a:ext cx="46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0" name="Line 10"/>
              <p:cNvSpPr>
                <a:spLocks noChangeShapeType="1"/>
              </p:cNvSpPr>
              <p:nvPr/>
            </p:nvSpPr>
            <p:spPr bwMode="auto">
              <a:xfrm>
                <a:off x="912" y="1152"/>
                <a:ext cx="46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1" name="Line 11"/>
              <p:cNvSpPr>
                <a:spLocks noChangeShapeType="1"/>
              </p:cNvSpPr>
              <p:nvPr/>
            </p:nvSpPr>
            <p:spPr bwMode="auto">
              <a:xfrm>
                <a:off x="912" y="1488"/>
                <a:ext cx="46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2" name="Line 12"/>
              <p:cNvSpPr>
                <a:spLocks noChangeShapeType="1"/>
              </p:cNvSpPr>
              <p:nvPr/>
            </p:nvSpPr>
            <p:spPr bwMode="auto">
              <a:xfrm>
                <a:off x="912" y="1728"/>
                <a:ext cx="46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grpSp>
        <p:sp>
          <p:nvSpPr>
            <p:cNvPr id="122893" name="Line 13"/>
            <p:cNvSpPr>
              <a:spLocks noChangeShapeType="1"/>
            </p:cNvSpPr>
            <p:nvPr/>
          </p:nvSpPr>
          <p:spPr bwMode="auto">
            <a:xfrm>
              <a:off x="2777465" y="3584576"/>
              <a:ext cx="5608240" cy="3175"/>
            </a:xfrm>
            <a:prstGeom prst="line">
              <a:avLst/>
            </a:prstGeom>
            <a:noFill/>
            <a:ln w="19050">
              <a:solidFill>
                <a:srgbClr val="333399"/>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4" name="Text Box 14"/>
            <p:cNvSpPr txBox="1">
              <a:spLocks noChangeArrowheads="1"/>
            </p:cNvSpPr>
            <p:nvPr/>
          </p:nvSpPr>
          <p:spPr bwMode="auto">
            <a:xfrm>
              <a:off x="2144581" y="1989139"/>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黑体" panose="02010609060101010101" pitchFamily="2" charset="-122"/>
                  <a:ea typeface="黑体" panose="02010609060101010101" pitchFamily="2" charset="-122"/>
                </a:rPr>
                <a:t>高折射率</a:t>
              </a:r>
            </a:p>
            <a:p>
              <a:r>
                <a:rPr kumimoji="1" lang="en-US" altLang="zh-CN" sz="2000" b="1" dirty="0">
                  <a:solidFill>
                    <a:srgbClr val="000099"/>
                  </a:solidFill>
                  <a:latin typeface="黑体" panose="02010609060101010101" pitchFamily="2" charset="-122"/>
                  <a:ea typeface="黑体" panose="02010609060101010101" pitchFamily="2" charset="-122"/>
                </a:rPr>
                <a:t>(</a:t>
              </a:r>
              <a:r>
                <a:rPr kumimoji="1" lang="zh-CN" altLang="en-US" sz="2000" b="1" dirty="0">
                  <a:solidFill>
                    <a:srgbClr val="000099"/>
                  </a:solidFill>
                  <a:latin typeface="黑体" panose="02010609060101010101" pitchFamily="2" charset="-122"/>
                  <a:ea typeface="黑体" panose="02010609060101010101" pitchFamily="2" charset="-122"/>
                </a:rPr>
                <a:t>纤芯</a:t>
              </a:r>
              <a:r>
                <a:rPr kumimoji="1" lang="en-US" altLang="zh-CN" sz="2000" b="1" dirty="0">
                  <a:solidFill>
                    <a:srgbClr val="000099"/>
                  </a:solidFill>
                  <a:latin typeface="黑体" panose="02010609060101010101" pitchFamily="2" charset="-122"/>
                  <a:ea typeface="黑体" panose="02010609060101010101" pitchFamily="2" charset="-122"/>
                </a:rPr>
                <a:t>)</a:t>
              </a:r>
            </a:p>
          </p:txBody>
        </p:sp>
        <p:sp>
          <p:nvSpPr>
            <p:cNvPr id="122895" name="Text Box 15"/>
            <p:cNvSpPr txBox="1">
              <a:spLocks noChangeArrowheads="1"/>
            </p:cNvSpPr>
            <p:nvPr/>
          </p:nvSpPr>
          <p:spPr bwMode="auto">
            <a:xfrm>
              <a:off x="741231" y="1989139"/>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黑体" panose="02010609060101010101" pitchFamily="2" charset="-122"/>
                  <a:ea typeface="黑体" panose="02010609060101010101" pitchFamily="2" charset="-122"/>
                </a:rPr>
                <a:t>低折射率</a:t>
              </a:r>
            </a:p>
            <a:p>
              <a:r>
                <a:rPr kumimoji="1" lang="en-US" altLang="zh-CN" sz="2000" b="1" dirty="0">
                  <a:solidFill>
                    <a:srgbClr val="000099"/>
                  </a:solidFill>
                  <a:latin typeface="黑体" panose="02010609060101010101" pitchFamily="2" charset="-122"/>
                  <a:ea typeface="黑体" panose="02010609060101010101" pitchFamily="2" charset="-122"/>
                </a:rPr>
                <a:t>(</a:t>
              </a:r>
              <a:r>
                <a:rPr kumimoji="1" lang="zh-CN" altLang="en-US" sz="2000" b="1" dirty="0">
                  <a:solidFill>
                    <a:srgbClr val="000099"/>
                  </a:solidFill>
                  <a:latin typeface="黑体" panose="02010609060101010101" pitchFamily="2" charset="-122"/>
                  <a:ea typeface="黑体" panose="02010609060101010101" pitchFamily="2" charset="-122"/>
                </a:rPr>
                <a:t>包层</a:t>
              </a:r>
              <a:r>
                <a:rPr kumimoji="1" lang="en-US" altLang="zh-CN" sz="2000" b="1" dirty="0">
                  <a:solidFill>
                    <a:srgbClr val="000099"/>
                  </a:solidFill>
                  <a:latin typeface="黑体" panose="02010609060101010101" pitchFamily="2" charset="-122"/>
                  <a:ea typeface="黑体" panose="02010609060101010101" pitchFamily="2" charset="-122"/>
                </a:rPr>
                <a:t>)</a:t>
              </a:r>
            </a:p>
          </p:txBody>
        </p:sp>
        <p:sp>
          <p:nvSpPr>
            <p:cNvPr id="122896" name="Line 16"/>
            <p:cNvSpPr>
              <a:spLocks noChangeShapeType="1"/>
            </p:cNvSpPr>
            <p:nvPr/>
          </p:nvSpPr>
          <p:spPr bwMode="auto">
            <a:xfrm flipH="1">
              <a:off x="2529814" y="2708275"/>
              <a:ext cx="239051" cy="70643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7" name="Line 17"/>
            <p:cNvSpPr>
              <a:spLocks noChangeShapeType="1"/>
            </p:cNvSpPr>
            <p:nvPr/>
          </p:nvSpPr>
          <p:spPr bwMode="auto">
            <a:xfrm>
              <a:off x="1520296" y="2636838"/>
              <a:ext cx="421350" cy="53340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8" name="Text Box 18"/>
            <p:cNvSpPr txBox="1">
              <a:spLocks noChangeArrowheads="1"/>
            </p:cNvSpPr>
            <p:nvPr/>
          </p:nvSpPr>
          <p:spPr bwMode="auto">
            <a:xfrm>
              <a:off x="3002756" y="2733676"/>
              <a:ext cx="4830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99"/>
                  </a:solidFill>
                  <a:latin typeface="黑体" panose="02010609060101010101" pitchFamily="2" charset="-122"/>
                  <a:ea typeface="黑体" panose="02010609060101010101" pitchFamily="2" charset="-122"/>
                </a:rPr>
                <a:t>光线在纤芯中传输的方式是不断地全反射</a:t>
              </a:r>
            </a:p>
          </p:txBody>
        </p:sp>
      </p:grpSp>
      <p:sp>
        <p:nvSpPr>
          <p:cNvPr id="122899" name="Freeform 19"/>
          <p:cNvSpPr/>
          <p:nvPr/>
        </p:nvSpPr>
        <p:spPr bwMode="auto">
          <a:xfrm>
            <a:off x="3153030" y="2695456"/>
            <a:ext cx="5276321" cy="343365"/>
          </a:xfrm>
          <a:custGeom>
            <a:avLst/>
            <a:gdLst>
              <a:gd name="T0" fmla="*/ 0 w 4302"/>
              <a:gd name="T1" fmla="*/ 108 h 336"/>
              <a:gd name="T2" fmla="*/ 384 w 4302"/>
              <a:gd name="T3" fmla="*/ 0 h 336"/>
              <a:gd name="T4" fmla="*/ 1560 w 4302"/>
              <a:gd name="T5" fmla="*/ 336 h 336"/>
              <a:gd name="T6" fmla="*/ 2742 w 4302"/>
              <a:gd name="T7" fmla="*/ 0 h 336"/>
              <a:gd name="T8" fmla="*/ 3918 w 4302"/>
              <a:gd name="T9" fmla="*/ 330 h 336"/>
              <a:gd name="T10" fmla="*/ 4302 w 4302"/>
              <a:gd name="T11" fmla="*/ 204 h 336"/>
            </a:gdLst>
            <a:ahLst/>
            <a:cxnLst>
              <a:cxn ang="0">
                <a:pos x="T0" y="T1"/>
              </a:cxn>
              <a:cxn ang="0">
                <a:pos x="T2" y="T3"/>
              </a:cxn>
              <a:cxn ang="0">
                <a:pos x="T4" y="T5"/>
              </a:cxn>
              <a:cxn ang="0">
                <a:pos x="T6" y="T7"/>
              </a:cxn>
              <a:cxn ang="0">
                <a:pos x="T8" y="T9"/>
              </a:cxn>
              <a:cxn ang="0">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rgbClr val="0000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2" name="矩形 21"/>
          <p:cNvSpPr/>
          <p:nvPr/>
        </p:nvSpPr>
        <p:spPr>
          <a:xfrm>
            <a:off x="2144688" y="3573016"/>
            <a:ext cx="5502539" cy="461665"/>
          </a:xfrm>
          <a:prstGeom prst="rect">
            <a:avLst/>
          </a:prstGeom>
        </p:spPr>
        <p:txBody>
          <a:bodyPr wrap="square">
            <a:spAutoFit/>
          </a:bodyPr>
          <a:lstStyle/>
          <a:p>
            <a:pPr algn="ctr"/>
            <a:r>
              <a:rPr lang="zh-CN" altLang="zh-CN" sz="2400" b="1" dirty="0">
                <a:latin typeface="+mn-lt"/>
                <a:ea typeface="黑体" panose="02010609060101010101" pitchFamily="2" charset="-122"/>
              </a:rPr>
              <a:t>光波在纤芯中的传播</a:t>
            </a:r>
            <a:endParaRPr lang="zh-CN" altLang="en-US" sz="2400" b="1" dirty="0">
              <a:latin typeface="+mn-lt"/>
              <a:ea typeface="黑体" panose="02010609060101010101" pitchFamily="2" charset="-122"/>
            </a:endParaRPr>
          </a:p>
        </p:txBody>
      </p:sp>
      <p:sp>
        <p:nvSpPr>
          <p:cNvPr id="3" name="矩形 2"/>
          <p:cNvSpPr/>
          <p:nvPr/>
        </p:nvSpPr>
        <p:spPr>
          <a:xfrm>
            <a:off x="848544" y="4275093"/>
            <a:ext cx="8640960" cy="954107"/>
          </a:xfrm>
          <a:prstGeom prst="rect">
            <a:avLst/>
          </a:prstGeom>
          <a:solidFill>
            <a:srgbClr val="FFFF66"/>
          </a:solidFill>
          <a:ln>
            <a:solidFill>
              <a:srgbClr val="000066"/>
            </a:solidFill>
          </a:ln>
        </p:spPr>
        <p:txBody>
          <a:bodyPr wrap="square">
            <a:spAutoFit/>
          </a:bodyPr>
          <a:lstStyle/>
          <a:p>
            <a:r>
              <a:rPr lang="zh-CN" altLang="zh-CN" sz="2800" b="1" dirty="0">
                <a:solidFill>
                  <a:srgbClr val="000099"/>
                </a:solidFill>
                <a:latin typeface="+mn-lt"/>
                <a:ea typeface="黑体" panose="02010609060101010101" pitchFamily="2" charset="-122"/>
              </a:rPr>
              <a:t>只要从纤芯中射到纤芯表面的光线的入射角大于某个临界角度，就可产生全反射</a:t>
            </a:r>
            <a:r>
              <a:rPr lang="zh-CN" altLang="en-US" sz="2800" b="1" dirty="0">
                <a:solidFill>
                  <a:srgbClr val="000099"/>
                </a:solidFill>
                <a:latin typeface="+mn-lt"/>
                <a:ea typeface="黑体" panose="0201060906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多模光纤与单模光纤</a:t>
            </a:r>
          </a:p>
        </p:txBody>
      </p:sp>
      <p:pic>
        <p:nvPicPr>
          <p:cNvPr id="3" name="图片 2"/>
          <p:cNvPicPr>
            <a:picLocks noChangeAspect="1"/>
          </p:cNvPicPr>
          <p:nvPr/>
        </p:nvPicPr>
        <p:blipFill>
          <a:blip r:embed="rId2"/>
          <a:stretch>
            <a:fillRect/>
          </a:stretch>
        </p:blipFill>
        <p:spPr>
          <a:xfrm>
            <a:off x="495300" y="2472690"/>
            <a:ext cx="9361805" cy="311531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sym typeface="+mn-ea"/>
              </a:rPr>
              <a:t>多模光纤与单模光纤</a:t>
            </a:r>
            <a:endParaRPr lang="zh-CN" altLang="en-US"/>
          </a:p>
        </p:txBody>
      </p:sp>
      <p:pic>
        <p:nvPicPr>
          <p:cNvPr id="3" name="图片 2"/>
          <p:cNvPicPr>
            <a:picLocks noChangeAspect="1"/>
          </p:cNvPicPr>
          <p:nvPr/>
        </p:nvPicPr>
        <p:blipFill>
          <a:blip r:embed="rId3"/>
          <a:stretch>
            <a:fillRect/>
          </a:stretch>
        </p:blipFill>
        <p:spPr>
          <a:xfrm>
            <a:off x="381635" y="2509520"/>
            <a:ext cx="4293235" cy="1694180"/>
          </a:xfrm>
          <a:prstGeom prst="rect">
            <a:avLst/>
          </a:prstGeom>
        </p:spPr>
      </p:pic>
      <p:pic>
        <p:nvPicPr>
          <p:cNvPr id="4" name="图片 3"/>
          <p:cNvPicPr>
            <a:picLocks noChangeAspect="1"/>
          </p:cNvPicPr>
          <p:nvPr/>
        </p:nvPicPr>
        <p:blipFill>
          <a:blip r:embed="rId4"/>
          <a:stretch>
            <a:fillRect/>
          </a:stretch>
        </p:blipFill>
        <p:spPr>
          <a:xfrm>
            <a:off x="5337175" y="2437765"/>
            <a:ext cx="4260215" cy="1694180"/>
          </a:xfrm>
          <a:prstGeom prst="rect">
            <a:avLst/>
          </a:prstGeom>
        </p:spPr>
      </p:pic>
      <p:sp>
        <p:nvSpPr>
          <p:cNvPr id="5" name="矩形 4"/>
          <p:cNvSpPr/>
          <p:nvPr/>
        </p:nvSpPr>
        <p:spPr>
          <a:xfrm>
            <a:off x="525145" y="4845685"/>
            <a:ext cx="4064000" cy="1568450"/>
          </a:xfrm>
          <a:prstGeom prst="rect">
            <a:avLst/>
          </a:prstGeom>
          <a:solidFill>
            <a:srgbClr val="FFFF66"/>
          </a:solidFill>
          <a:ln>
            <a:solidFill>
              <a:srgbClr val="000066"/>
            </a:solidFill>
          </a:ln>
        </p:spPr>
        <p:txBody>
          <a:bodyPr wrap="square">
            <a:spAutoFit/>
          </a:bodyPr>
          <a:lstStyle/>
          <a:p>
            <a:r>
              <a:rPr lang="zh-CN" altLang="zh-CN" sz="2400" b="1" dirty="0">
                <a:solidFill>
                  <a:srgbClr val="000099"/>
                </a:solidFill>
                <a:latin typeface="+mn-lt"/>
                <a:ea typeface="黑体" panose="02010609060101010101" pitchFamily="2" charset="-122"/>
              </a:rPr>
              <a:t>制造成本高</a:t>
            </a:r>
          </a:p>
          <a:p>
            <a:r>
              <a:rPr lang="zh-CN" altLang="zh-CN" sz="2400" b="1" dirty="0">
                <a:solidFill>
                  <a:srgbClr val="000099"/>
                </a:solidFill>
                <a:latin typeface="+mn-lt"/>
                <a:ea typeface="黑体" panose="02010609060101010101" pitchFamily="2" charset="-122"/>
              </a:rPr>
              <a:t>使用半导体激光器作为光源</a:t>
            </a:r>
          </a:p>
          <a:p>
            <a:r>
              <a:rPr lang="zh-CN" altLang="zh-CN" sz="2400" b="1" dirty="0">
                <a:solidFill>
                  <a:srgbClr val="000099"/>
                </a:solidFill>
                <a:latin typeface="+mn-lt"/>
                <a:ea typeface="黑体" panose="02010609060101010101" pitchFamily="2" charset="-122"/>
              </a:rPr>
              <a:t>通常用于几千米距离的园区骨干网</a:t>
            </a:r>
          </a:p>
        </p:txBody>
      </p:sp>
      <p:sp>
        <p:nvSpPr>
          <p:cNvPr id="6" name="矩形 5"/>
          <p:cNvSpPr/>
          <p:nvPr/>
        </p:nvSpPr>
        <p:spPr>
          <a:xfrm>
            <a:off x="5337810" y="4845685"/>
            <a:ext cx="4218940" cy="1568450"/>
          </a:xfrm>
          <a:prstGeom prst="rect">
            <a:avLst/>
          </a:prstGeom>
          <a:solidFill>
            <a:srgbClr val="FFFF66"/>
          </a:solidFill>
          <a:ln>
            <a:solidFill>
              <a:srgbClr val="000066"/>
            </a:solidFill>
          </a:ln>
        </p:spPr>
        <p:txBody>
          <a:bodyPr wrap="square">
            <a:spAutoFit/>
          </a:bodyPr>
          <a:lstStyle/>
          <a:p>
            <a:r>
              <a:rPr lang="zh-CN" altLang="zh-CN" sz="2400" b="1" dirty="0">
                <a:solidFill>
                  <a:srgbClr val="000099"/>
                </a:solidFill>
                <a:latin typeface="+mn-lt"/>
                <a:ea typeface="黑体" panose="02010609060101010101" pitchFamily="2" charset="-122"/>
              </a:rPr>
              <a:t>允许更大的散射，会导致信号丢失</a:t>
            </a:r>
          </a:p>
          <a:p>
            <a:r>
              <a:rPr lang="zh-CN" altLang="zh-CN" sz="2400" b="1" dirty="0">
                <a:solidFill>
                  <a:srgbClr val="000099"/>
                </a:solidFill>
                <a:latin typeface="+mn-lt"/>
                <a:ea typeface="黑体" panose="02010609060101010101" pitchFamily="2" charset="-122"/>
              </a:rPr>
              <a:t>使用</a:t>
            </a:r>
            <a:r>
              <a:rPr lang="en-US" altLang="zh-CN" sz="2400" b="1" dirty="0">
                <a:solidFill>
                  <a:srgbClr val="000099"/>
                </a:solidFill>
                <a:latin typeface="+mn-lt"/>
                <a:ea typeface="黑体" panose="02010609060101010101" pitchFamily="2" charset="-122"/>
              </a:rPr>
              <a:t>LED</a:t>
            </a:r>
            <a:r>
              <a:rPr lang="zh-CN" altLang="en-US" sz="2400" b="1" dirty="0">
                <a:solidFill>
                  <a:srgbClr val="000099"/>
                </a:solidFill>
                <a:latin typeface="+mn-lt"/>
                <a:ea typeface="黑体" panose="02010609060101010101" pitchFamily="2" charset="-122"/>
              </a:rPr>
              <a:t>作为光源</a:t>
            </a:r>
          </a:p>
          <a:p>
            <a:r>
              <a:rPr lang="zh-CN" altLang="en-US" sz="2400" b="1" dirty="0">
                <a:solidFill>
                  <a:srgbClr val="000099"/>
                </a:solidFill>
                <a:latin typeface="+mn-lt"/>
                <a:ea typeface="黑体" panose="02010609060101010101" pitchFamily="2" charset="-122"/>
              </a:rPr>
              <a:t>通常</a:t>
            </a:r>
            <a:r>
              <a:rPr lang="en-US" altLang="zh-CN" sz="2400" b="1" dirty="0">
                <a:solidFill>
                  <a:srgbClr val="000099"/>
                </a:solidFill>
                <a:latin typeface="+mn-lt"/>
                <a:ea typeface="黑体" panose="02010609060101010101" pitchFamily="2" charset="-122"/>
              </a:rPr>
              <a:t>LAN</a:t>
            </a:r>
            <a:r>
              <a:rPr lang="zh-CN" altLang="en-US" sz="2400" b="1" dirty="0">
                <a:solidFill>
                  <a:srgbClr val="000099"/>
                </a:solidFill>
                <a:latin typeface="+mn-lt"/>
                <a:ea typeface="黑体" panose="02010609060101010101" pitchFamily="2" charset="-122"/>
              </a:rPr>
              <a:t>或几百米距离校园网</a:t>
            </a:r>
          </a:p>
        </p:txBody>
      </p:sp>
      <p:sp>
        <p:nvSpPr>
          <p:cNvPr id="42106" name="Text Box 122"/>
          <p:cNvSpPr txBox="1">
            <a:spLocks noChangeArrowheads="1"/>
          </p:cNvSpPr>
          <p:nvPr/>
        </p:nvSpPr>
        <p:spPr bwMode="auto">
          <a:xfrm>
            <a:off x="650833" y="1482436"/>
            <a:ext cx="110109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3600" b="1" dirty="0">
                <a:solidFill>
                  <a:srgbClr val="000099"/>
                </a:solidFill>
                <a:latin typeface="+mn-lt"/>
                <a:ea typeface="黑体" panose="02010609060101010101" pitchFamily="2" charset="-122"/>
              </a:rPr>
              <a:t>单模</a:t>
            </a:r>
          </a:p>
        </p:txBody>
      </p:sp>
      <p:sp>
        <p:nvSpPr>
          <p:cNvPr id="7" name="Text Box 122"/>
          <p:cNvSpPr txBox="1">
            <a:spLocks noChangeArrowheads="1"/>
          </p:cNvSpPr>
          <p:nvPr/>
        </p:nvSpPr>
        <p:spPr bwMode="auto">
          <a:xfrm>
            <a:off x="5337768" y="1482436"/>
            <a:ext cx="110109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3600" b="1" dirty="0">
                <a:solidFill>
                  <a:srgbClr val="000099"/>
                </a:solidFill>
                <a:latin typeface="+mn-lt"/>
                <a:ea typeface="黑体" panose="02010609060101010101" pitchFamily="2" charset="-122"/>
              </a:rPr>
              <a:t>多模</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光纤优点</a:t>
            </a:r>
          </a:p>
        </p:txBody>
      </p:sp>
      <p:sp>
        <p:nvSpPr>
          <p:cNvPr id="3" name="内容占位符 2"/>
          <p:cNvSpPr>
            <a:spLocks noGrp="1"/>
          </p:cNvSpPr>
          <p:nvPr>
            <p:ph idx="1"/>
          </p:nvPr>
        </p:nvSpPr>
        <p:spPr/>
        <p:txBody>
          <a:bodyPr/>
          <a:lstStyle/>
          <a:p>
            <a:r>
              <a:rPr lang="en-US" altLang="zh-CN" dirty="0"/>
              <a:t>(1) </a:t>
            </a:r>
            <a:r>
              <a:rPr lang="zh-CN" altLang="zh-CN" dirty="0"/>
              <a:t>通信容量非常大</a:t>
            </a:r>
            <a:r>
              <a:rPr lang="zh-CN" altLang="en-US" dirty="0"/>
              <a:t>。</a:t>
            </a:r>
            <a:endParaRPr lang="en-US" altLang="zh-CN" dirty="0"/>
          </a:p>
          <a:p>
            <a:r>
              <a:rPr lang="en-US" altLang="zh-CN" dirty="0"/>
              <a:t>(2) </a:t>
            </a:r>
            <a:r>
              <a:rPr lang="zh-CN" altLang="zh-CN" dirty="0"/>
              <a:t>传输损耗小，中继距离长。</a:t>
            </a:r>
          </a:p>
          <a:p>
            <a:r>
              <a:rPr lang="en-US" altLang="zh-CN" dirty="0"/>
              <a:t>(2) </a:t>
            </a:r>
            <a:r>
              <a:rPr lang="zh-CN" altLang="zh-CN" dirty="0"/>
              <a:t>抗雷电和电磁干扰性能好。</a:t>
            </a:r>
          </a:p>
          <a:p>
            <a:r>
              <a:rPr lang="en-US" altLang="zh-CN" dirty="0"/>
              <a:t>(3) </a:t>
            </a:r>
            <a:r>
              <a:rPr lang="zh-CN" altLang="zh-CN" dirty="0"/>
              <a:t>无串音干扰，保密性好。</a:t>
            </a:r>
          </a:p>
          <a:p>
            <a:r>
              <a:rPr lang="en-US" altLang="zh-CN" dirty="0"/>
              <a:t>(4) </a:t>
            </a:r>
            <a:r>
              <a:rPr lang="zh-CN" altLang="zh-CN" dirty="0"/>
              <a:t>体积小，重量轻。</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常用有线传输介质的比较</a:t>
            </a:r>
          </a:p>
        </p:txBody>
      </p:sp>
      <p:pic>
        <p:nvPicPr>
          <p:cNvPr id="4" name="图片 3"/>
          <p:cNvPicPr>
            <a:picLocks noChangeAspect="1"/>
          </p:cNvPicPr>
          <p:nvPr/>
        </p:nvPicPr>
        <p:blipFill>
          <a:blip r:embed="rId2"/>
          <a:stretch>
            <a:fillRect/>
          </a:stretch>
        </p:blipFill>
        <p:spPr>
          <a:xfrm>
            <a:off x="409575" y="2244725"/>
            <a:ext cx="9341485" cy="317373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zh-CN" dirty="0"/>
              <a:t>2.3.2  </a:t>
            </a:r>
            <a:r>
              <a:rPr lang="zh-CN" altLang="en-US" dirty="0"/>
              <a:t>非导引型传输媒体 </a:t>
            </a:r>
          </a:p>
        </p:txBody>
      </p:sp>
      <p:sp>
        <p:nvSpPr>
          <p:cNvPr id="46083" name="Rectangle 3"/>
          <p:cNvSpPr>
            <a:spLocks noGrp="1" noChangeArrowheads="1"/>
          </p:cNvSpPr>
          <p:nvPr>
            <p:ph idx="1"/>
          </p:nvPr>
        </p:nvSpPr>
        <p:spPr/>
        <p:txBody>
          <a:bodyPr/>
          <a:lstStyle/>
          <a:p>
            <a:r>
              <a:rPr lang="zh-CN" altLang="zh-CN" dirty="0"/>
              <a:t>将自由空间称为“非导引型传输媒体”。</a:t>
            </a:r>
            <a:endParaRPr lang="en-US" altLang="zh-CN" dirty="0"/>
          </a:p>
          <a:p>
            <a:r>
              <a:rPr lang="zh-CN" altLang="en-US" dirty="0"/>
              <a:t>无线传输所使用的频段很广。</a:t>
            </a:r>
          </a:p>
          <a:p>
            <a:r>
              <a:rPr lang="zh-CN" altLang="en-US" dirty="0">
                <a:solidFill>
                  <a:srgbClr val="FF0000"/>
                </a:solidFill>
              </a:rPr>
              <a:t>短波通信</a:t>
            </a:r>
            <a:r>
              <a:rPr lang="zh-CN" altLang="zh-CN" dirty="0"/>
              <a:t>（即高频通信）</a:t>
            </a:r>
            <a:r>
              <a:rPr lang="zh-CN" altLang="en-US" dirty="0"/>
              <a:t>主要是靠电离层的反射，但短波信道的通信质量较差，传输速率低。</a:t>
            </a:r>
          </a:p>
          <a:p>
            <a:r>
              <a:rPr lang="zh-CN" altLang="en-US" dirty="0">
                <a:solidFill>
                  <a:srgbClr val="FF0000"/>
                </a:solidFill>
              </a:rPr>
              <a:t>微波</a:t>
            </a:r>
            <a:r>
              <a:rPr lang="zh-CN" altLang="en-US" dirty="0"/>
              <a:t>在空间主要是直线传播。</a:t>
            </a:r>
            <a:endParaRPr lang="en-US" altLang="zh-CN" dirty="0"/>
          </a:p>
          <a:p>
            <a:r>
              <a:rPr lang="zh-CN" altLang="en-US" dirty="0"/>
              <a:t>传统微波通信有两种方式： </a:t>
            </a:r>
          </a:p>
          <a:p>
            <a:pPr lvl="1"/>
            <a:r>
              <a:rPr lang="zh-CN" altLang="en-US" dirty="0">
                <a:solidFill>
                  <a:srgbClr val="0000CC"/>
                </a:solidFill>
                <a:ea typeface="黑体" panose="02010609060101010101" pitchFamily="2" charset="-122"/>
              </a:rPr>
              <a:t>地面微波接力通信</a:t>
            </a:r>
          </a:p>
          <a:p>
            <a:pPr lvl="1"/>
            <a:r>
              <a:rPr lang="zh-CN" altLang="en-US" dirty="0">
                <a:solidFill>
                  <a:srgbClr val="0000CC"/>
                </a:solidFill>
                <a:ea typeface="黑体" panose="02010609060101010101" pitchFamily="2" charset="-122"/>
              </a:rPr>
              <a:t>卫星通信</a:t>
            </a:r>
            <a:r>
              <a:rPr lang="zh-CN" altLang="en-US" dirty="0">
                <a:solidFill>
                  <a:srgbClr val="0000CC"/>
                </a:solidFill>
              </a:rPr>
              <a:t>  </a:t>
            </a:r>
          </a:p>
        </p:txBody>
      </p:sp>
      <p:pic>
        <p:nvPicPr>
          <p:cNvPr id="4" name="Picture 4" descr="http://www.cas.ac.cn/Images/2004/5/31/173644.53342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380" y="999626"/>
            <a:ext cx="8712968" cy="480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p:nvPr/>
        </p:nvSpPr>
        <p:spPr>
          <a:xfrm>
            <a:off x="848544" y="5844265"/>
            <a:ext cx="7715250" cy="646112"/>
          </a:xfrm>
          <a:prstGeom prst="rect">
            <a:avLst/>
          </a:prstGeom>
          <a:noFill/>
        </p:spPr>
        <p:txBody>
          <a:bodyPr>
            <a:spAutoFit/>
          </a:bodyPr>
          <a:lstStyle/>
          <a:p>
            <a:pPr fontAlgn="auto">
              <a:spcBef>
                <a:spcPts val="0"/>
              </a:spcBef>
              <a:spcAft>
                <a:spcPts val="0"/>
              </a:spcAft>
              <a:defRPr/>
            </a:pPr>
            <a:r>
              <a:rPr lang="zh-CN" altLang="en-US" b="1" dirty="0">
                <a:solidFill>
                  <a:srgbClr val="FF0000"/>
                </a:solidFill>
                <a:effectLst>
                  <a:outerShdw blurRad="38100" dist="38100" dir="2700000" algn="tl">
                    <a:srgbClr val="000000">
                      <a:alpha val="43137"/>
                    </a:srgbClr>
                  </a:outerShdw>
                </a:effectLst>
                <a:latin typeface="+mn-lt"/>
                <a:ea typeface="+mn-ea"/>
              </a:rPr>
              <a:t>频率资源是属于全人类的宝贵资源！当发射功率</a:t>
            </a:r>
            <a:r>
              <a:rPr lang="en-US" altLang="zh-CN" b="1" dirty="0">
                <a:solidFill>
                  <a:srgbClr val="FF0000"/>
                </a:solidFill>
                <a:effectLst>
                  <a:outerShdw blurRad="38100" dist="38100" dir="2700000" algn="tl">
                    <a:srgbClr val="000000">
                      <a:alpha val="43137"/>
                    </a:srgbClr>
                  </a:outerShdw>
                </a:effectLst>
                <a:latin typeface="+mn-lt"/>
                <a:ea typeface="+mn-ea"/>
              </a:rPr>
              <a:t>/</a:t>
            </a:r>
            <a:r>
              <a:rPr lang="zh-CN" altLang="en-US" b="1" dirty="0">
                <a:solidFill>
                  <a:srgbClr val="FF0000"/>
                </a:solidFill>
                <a:effectLst>
                  <a:outerShdw blurRad="38100" dist="38100" dir="2700000" algn="tl">
                    <a:srgbClr val="000000">
                      <a:alpha val="43137"/>
                    </a:srgbClr>
                  </a:outerShdw>
                </a:effectLst>
                <a:latin typeface="+mn-lt"/>
                <a:ea typeface="+mn-ea"/>
              </a:rPr>
              <a:t>传输距离达到规定范围时必须申请才能使用相应的信号频率。大部分频率资源掌握在美国人手里！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08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ox(i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长波通信</a:t>
            </a:r>
          </a:p>
        </p:txBody>
      </p:sp>
      <p:sp>
        <p:nvSpPr>
          <p:cNvPr id="3" name="内容占位符 2"/>
          <p:cNvSpPr>
            <a:spLocks noGrp="1"/>
          </p:cNvSpPr>
          <p:nvPr>
            <p:ph idx="1"/>
          </p:nvPr>
        </p:nvSpPr>
        <p:spPr>
          <a:xfrm>
            <a:off x="495300" y="1196975"/>
            <a:ext cx="4965065" cy="4933950"/>
          </a:xfrm>
        </p:spPr>
        <p:txBody>
          <a:bodyPr/>
          <a:lstStyle/>
          <a:p>
            <a:pPr algn="just"/>
            <a:r>
              <a:rPr lang="zh-CN" altLang="en-US" dirty="0">
                <a:solidFill>
                  <a:srgbClr val="C00000"/>
                </a:solidFill>
              </a:rPr>
              <a:t>长波指波长为1000</a:t>
            </a:r>
            <a:r>
              <a:rPr lang="en-US" altLang="zh-CN" dirty="0">
                <a:solidFill>
                  <a:srgbClr val="C00000"/>
                </a:solidFill>
              </a:rPr>
              <a:t>0</a:t>
            </a:r>
            <a:r>
              <a:rPr lang="zh-CN" altLang="en-US" dirty="0">
                <a:solidFill>
                  <a:srgbClr val="C00000"/>
                </a:solidFill>
              </a:rPr>
              <a:t>米～1000米，频率为300kHz以下的无线电波。</a:t>
            </a:r>
            <a:endParaRPr lang="zh-CN" altLang="en-US" dirty="0"/>
          </a:p>
          <a:p>
            <a:pPr algn="just"/>
            <a:r>
              <a:rPr lang="zh-CN" altLang="en-US" dirty="0"/>
              <a:t>长波波段的发射能力最强，在所有波段中，它最适于以围绕地球曲面的地波的形式而传播，但地波传播的最大距离也不超过(3～4)千公里。</a:t>
            </a:r>
          </a:p>
        </p:txBody>
      </p:sp>
      <p:pic>
        <p:nvPicPr>
          <p:cNvPr id="5" name="图片 4"/>
          <p:cNvPicPr>
            <a:picLocks noChangeAspect="1"/>
          </p:cNvPicPr>
          <p:nvPr/>
        </p:nvPicPr>
        <p:blipFill>
          <a:blip r:embed="rId2"/>
          <a:stretch>
            <a:fillRect/>
          </a:stretch>
        </p:blipFill>
        <p:spPr>
          <a:xfrm>
            <a:off x="5688965" y="1265555"/>
            <a:ext cx="4050030" cy="3005455"/>
          </a:xfrm>
          <a:prstGeom prst="rect">
            <a:avLst/>
          </a:prstGeom>
        </p:spPr>
      </p:pic>
      <p:sp>
        <p:nvSpPr>
          <p:cNvPr id="6" name="矩形 5"/>
          <p:cNvSpPr/>
          <p:nvPr/>
        </p:nvSpPr>
        <p:spPr>
          <a:xfrm>
            <a:off x="5688965" y="4560570"/>
            <a:ext cx="3982720" cy="1570355"/>
          </a:xfrm>
          <a:prstGeom prst="rect">
            <a:avLst/>
          </a:prstGeom>
          <a:noFill/>
          <a:ln>
            <a:noFill/>
          </a:ln>
          <a:effectLst/>
        </p:spPr>
        <p:txBody>
          <a:bodyPr vert="horz" wrap="square" lIns="91440" tIns="45720" rIns="91440" bIns="45720" numCol="1" rtlCol="0" anchor="t" anchorCtr="0" compatLnSpc="1">
            <a:normAutofit fontScale="90000"/>
          </a:bodyPr>
          <a:lstStyle/>
          <a:p>
            <a:pPr marL="342900" lvl="0" indent="-342900" algn="just" eaLnBrk="1" hangingPunct="1">
              <a:lnSpc>
                <a:spcPct val="110000"/>
              </a:lnSpc>
              <a:spcBef>
                <a:spcPts val="600"/>
              </a:spcBef>
              <a:buClr>
                <a:srgbClr val="333399"/>
              </a:buClr>
              <a:buSzPct val="75000"/>
              <a:buFont typeface="Wingdings" panose="05000000000000000000" pitchFamily="2" charset="2"/>
              <a:buChar char="n"/>
            </a:pPr>
            <a:r>
              <a:rPr lang="zh-CN" altLang="en-US" sz="3200" b="1" kern="0" dirty="0">
                <a:solidFill>
                  <a:srgbClr val="C00000"/>
                </a:solidFill>
                <a:latin typeface="+mn-lt"/>
                <a:ea typeface="黑体" panose="02010609060101010101" pitchFamily="2" charset="-122"/>
                <a:sym typeface="+mn-ea"/>
              </a:rPr>
              <a:t>长波矿井通信、地下通信、标准频率和时闻广播及无线电导航。</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短波通信</a:t>
            </a:r>
          </a:p>
        </p:txBody>
      </p:sp>
      <p:sp>
        <p:nvSpPr>
          <p:cNvPr id="3" name="内容占位符 2"/>
          <p:cNvSpPr>
            <a:spLocks noGrp="1"/>
          </p:cNvSpPr>
          <p:nvPr>
            <p:ph idx="1"/>
          </p:nvPr>
        </p:nvSpPr>
        <p:spPr>
          <a:xfrm>
            <a:off x="495300" y="1196975"/>
            <a:ext cx="4965065" cy="4933950"/>
          </a:xfrm>
        </p:spPr>
        <p:txBody>
          <a:bodyPr/>
          <a:lstStyle/>
          <a:p>
            <a:pPr algn="just"/>
            <a:r>
              <a:rPr lang="zh-CN" altLang="en-US" dirty="0">
                <a:solidFill>
                  <a:srgbClr val="C00000"/>
                </a:solidFill>
              </a:rPr>
              <a:t>短波通信是波长在100米～10米之间，频率范围3</a:t>
            </a:r>
            <a:r>
              <a:rPr lang="en-US" altLang="zh-CN" dirty="0">
                <a:solidFill>
                  <a:srgbClr val="C00000"/>
                </a:solidFill>
              </a:rPr>
              <a:t>MHz</a:t>
            </a:r>
            <a:r>
              <a:rPr lang="zh-CN" altLang="en-US" dirty="0">
                <a:solidFill>
                  <a:srgbClr val="C00000"/>
                </a:solidFill>
              </a:rPr>
              <a:t>～30</a:t>
            </a:r>
            <a:r>
              <a:rPr lang="en-US" altLang="zh-CN" dirty="0" err="1">
                <a:solidFill>
                  <a:srgbClr val="C00000"/>
                </a:solidFill>
              </a:rPr>
              <a:t>Mhz</a:t>
            </a:r>
            <a:r>
              <a:rPr lang="zh-CN" altLang="en-US" dirty="0">
                <a:solidFill>
                  <a:srgbClr val="C00000"/>
                </a:solidFill>
              </a:rPr>
              <a:t>的一种无线电通信技术。</a:t>
            </a:r>
          </a:p>
          <a:p>
            <a:pPr algn="just"/>
            <a:r>
              <a:rPr lang="zh-CN" altLang="en-US" dirty="0"/>
              <a:t>短波通信发射电波要经电离层的反射才能到达接收设备，通信距离较远，是远程通信的主要手段。</a:t>
            </a:r>
          </a:p>
        </p:txBody>
      </p:sp>
      <p:sp>
        <p:nvSpPr>
          <p:cNvPr id="6" name="矩形 5"/>
          <p:cNvSpPr/>
          <p:nvPr/>
        </p:nvSpPr>
        <p:spPr>
          <a:xfrm>
            <a:off x="5688965" y="4560570"/>
            <a:ext cx="3982720" cy="1570355"/>
          </a:xfrm>
          <a:prstGeom prst="rect">
            <a:avLst/>
          </a:prstGeom>
          <a:noFill/>
          <a:ln>
            <a:noFill/>
          </a:ln>
          <a:effectLst/>
        </p:spPr>
        <p:txBody>
          <a:bodyPr vert="horz" wrap="square" lIns="91440" tIns="45720" rIns="91440" bIns="45720" numCol="1" rtlCol="0" anchor="t" anchorCtr="0" compatLnSpc="1">
            <a:normAutofit fontScale="90000"/>
          </a:bodyPr>
          <a:lstStyle/>
          <a:p>
            <a:pPr marL="342900" lvl="0" indent="-342900" algn="just" eaLnBrk="1" hangingPunct="1">
              <a:lnSpc>
                <a:spcPct val="110000"/>
              </a:lnSpc>
              <a:spcBef>
                <a:spcPts val="600"/>
              </a:spcBef>
              <a:buClr>
                <a:srgbClr val="333399"/>
              </a:buClr>
              <a:buSzPct val="75000"/>
              <a:buFont typeface="Wingdings" panose="05000000000000000000" pitchFamily="2" charset="2"/>
              <a:buChar char="n"/>
            </a:pPr>
            <a:r>
              <a:rPr lang="zh-CN" altLang="en-US" sz="3200" b="1" kern="0">
                <a:solidFill>
                  <a:srgbClr val="C00000"/>
                </a:solidFill>
                <a:latin typeface="+mn-lt"/>
                <a:ea typeface="黑体" panose="02010609060101010101" pitchFamily="2" charset="-122"/>
                <a:sym typeface="+mn-ea"/>
              </a:rPr>
              <a:t>传送电报、电话、传真、低速数据和图像、语音广播等信息。</a:t>
            </a:r>
          </a:p>
        </p:txBody>
      </p:sp>
      <p:pic>
        <p:nvPicPr>
          <p:cNvPr id="4" name="图片 3"/>
          <p:cNvPicPr>
            <a:picLocks noChangeAspect="1"/>
          </p:cNvPicPr>
          <p:nvPr/>
        </p:nvPicPr>
        <p:blipFill>
          <a:blip r:embed="rId2"/>
          <a:stretch>
            <a:fillRect/>
          </a:stretch>
        </p:blipFill>
        <p:spPr>
          <a:xfrm>
            <a:off x="5617210" y="1131570"/>
            <a:ext cx="4168140" cy="327850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微波通信</a:t>
            </a:r>
          </a:p>
        </p:txBody>
      </p:sp>
      <p:sp>
        <p:nvSpPr>
          <p:cNvPr id="3" name="内容占位符 2"/>
          <p:cNvSpPr>
            <a:spLocks noGrp="1"/>
          </p:cNvSpPr>
          <p:nvPr>
            <p:ph idx="1"/>
          </p:nvPr>
        </p:nvSpPr>
        <p:spPr>
          <a:xfrm>
            <a:off x="495300" y="1196975"/>
            <a:ext cx="4965065" cy="4933950"/>
          </a:xfrm>
        </p:spPr>
        <p:txBody>
          <a:bodyPr/>
          <a:lstStyle/>
          <a:p>
            <a:pPr algn="just"/>
            <a:r>
              <a:rPr lang="zh-CN" altLang="en-US" dirty="0">
                <a:solidFill>
                  <a:srgbClr val="C00000"/>
                </a:solidFill>
              </a:rPr>
              <a:t>微波通信是使用波长在1米至0.</a:t>
            </a:r>
            <a:r>
              <a:rPr lang="en-US" altLang="zh-CN" dirty="0">
                <a:solidFill>
                  <a:srgbClr val="C00000"/>
                </a:solidFill>
              </a:rPr>
              <a:t>00</a:t>
            </a:r>
            <a:r>
              <a:rPr lang="zh-CN" altLang="en-US" dirty="0">
                <a:solidFill>
                  <a:srgbClr val="C00000"/>
                </a:solidFill>
              </a:rPr>
              <a:t>1米之间的电磁波进行的通信。该波长段电磁波所对应的频率范围是</a:t>
            </a:r>
            <a:r>
              <a:rPr lang="en-US" altLang="zh-CN" dirty="0">
                <a:solidFill>
                  <a:srgbClr val="C00000"/>
                </a:solidFill>
              </a:rPr>
              <a:t>300</a:t>
            </a:r>
            <a:r>
              <a:rPr lang="zh-CN" altLang="en-US">
                <a:solidFill>
                  <a:srgbClr val="C00000"/>
                </a:solidFill>
              </a:rPr>
              <a:t>MHz</a:t>
            </a:r>
            <a:r>
              <a:rPr lang="zh-CN" altLang="en-US" dirty="0">
                <a:solidFill>
                  <a:srgbClr val="C00000"/>
                </a:solidFill>
              </a:rPr>
              <a:t>至3000GHz。</a:t>
            </a:r>
            <a:r>
              <a:rPr lang="zh-CN" altLang="en-US" dirty="0"/>
              <a:t>利用微波进行通信具有容量大、质量好且传播距离远的特点，因此是国家通信网的一种重要通信手段</a:t>
            </a:r>
          </a:p>
        </p:txBody>
      </p:sp>
      <p:sp>
        <p:nvSpPr>
          <p:cNvPr id="6" name="矩形 5"/>
          <p:cNvSpPr/>
          <p:nvPr/>
        </p:nvSpPr>
        <p:spPr>
          <a:xfrm>
            <a:off x="5688965" y="4560570"/>
            <a:ext cx="3982720" cy="1570355"/>
          </a:xfrm>
          <a:prstGeom prst="rect">
            <a:avLst/>
          </a:prstGeom>
          <a:noFill/>
          <a:ln>
            <a:noFill/>
          </a:ln>
          <a:effectLst/>
        </p:spPr>
        <p:txBody>
          <a:bodyPr vert="horz" wrap="square" lIns="91440" tIns="45720" rIns="91440" bIns="45720" numCol="1" rtlCol="0" anchor="t" anchorCtr="0" compatLnSpc="1">
            <a:normAutofit/>
          </a:bodyPr>
          <a:lstStyle/>
          <a:p>
            <a:pPr marL="342900" lvl="0" indent="-342900" algn="just" eaLnBrk="1" hangingPunct="1">
              <a:lnSpc>
                <a:spcPct val="110000"/>
              </a:lnSpc>
              <a:spcBef>
                <a:spcPts val="600"/>
              </a:spcBef>
              <a:buClr>
                <a:srgbClr val="333399"/>
              </a:buClr>
              <a:buSzPct val="75000"/>
              <a:buFont typeface="Wingdings" panose="05000000000000000000" pitchFamily="2" charset="2"/>
              <a:buChar char="n"/>
            </a:pPr>
            <a:r>
              <a:rPr lang="zh-CN" altLang="en-US" sz="3200" b="1" kern="0">
                <a:solidFill>
                  <a:srgbClr val="C00000"/>
                </a:solidFill>
                <a:latin typeface="+mn-lt"/>
                <a:ea typeface="黑体" panose="02010609060101010101" pitchFamily="2" charset="-122"/>
                <a:sym typeface="+mn-ea"/>
              </a:rPr>
              <a:t>移动通信，</a:t>
            </a:r>
            <a:r>
              <a:rPr lang="en-US" altLang="zh-CN" sz="3200" b="1" kern="0">
                <a:solidFill>
                  <a:srgbClr val="C00000"/>
                </a:solidFill>
                <a:latin typeface="+mn-lt"/>
                <a:ea typeface="黑体" panose="02010609060101010101" pitchFamily="2" charset="-122"/>
                <a:sym typeface="+mn-ea"/>
              </a:rPr>
              <a:t>wifi</a:t>
            </a:r>
            <a:r>
              <a:rPr lang="zh-CN" altLang="en-US" sz="3200" b="1" kern="0">
                <a:solidFill>
                  <a:srgbClr val="C00000"/>
                </a:solidFill>
                <a:latin typeface="+mn-lt"/>
                <a:ea typeface="黑体" panose="02010609060101010101" pitchFamily="2" charset="-122"/>
                <a:sym typeface="+mn-ea"/>
              </a:rPr>
              <a:t>通信，蓝牙通信等。</a:t>
            </a:r>
          </a:p>
        </p:txBody>
      </p:sp>
      <p:pic>
        <p:nvPicPr>
          <p:cNvPr id="5" name="图片 4"/>
          <p:cNvPicPr>
            <a:picLocks noChangeAspect="1"/>
          </p:cNvPicPr>
          <p:nvPr/>
        </p:nvPicPr>
        <p:blipFill>
          <a:blip r:embed="rId2"/>
          <a:stretch>
            <a:fillRect/>
          </a:stretch>
        </p:blipFill>
        <p:spPr>
          <a:xfrm>
            <a:off x="5779135" y="1496060"/>
            <a:ext cx="3968115" cy="254825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微波通信</a:t>
            </a:r>
          </a:p>
        </p:txBody>
      </p:sp>
      <p:pic>
        <p:nvPicPr>
          <p:cNvPr id="4" name="图片 3"/>
          <p:cNvPicPr>
            <a:picLocks noChangeAspect="1"/>
          </p:cNvPicPr>
          <p:nvPr/>
        </p:nvPicPr>
        <p:blipFill>
          <a:blip r:embed="rId2"/>
          <a:stretch>
            <a:fillRect/>
          </a:stretch>
        </p:blipFill>
        <p:spPr>
          <a:xfrm>
            <a:off x="567055" y="1899920"/>
            <a:ext cx="4077335" cy="3058160"/>
          </a:xfrm>
          <a:prstGeom prst="rect">
            <a:avLst/>
          </a:prstGeom>
        </p:spPr>
      </p:pic>
      <p:pic>
        <p:nvPicPr>
          <p:cNvPr id="5" name="图片 4">
            <a:hlinkClick r:id="rId3" action="ppaction://hlinkfile"/>
          </p:cNvPr>
          <p:cNvPicPr>
            <a:picLocks noChangeAspect="1"/>
          </p:cNvPicPr>
          <p:nvPr/>
        </p:nvPicPr>
        <p:blipFill>
          <a:blip r:embed="rId4"/>
          <a:stretch>
            <a:fillRect/>
          </a:stretch>
        </p:blipFill>
        <p:spPr>
          <a:xfrm>
            <a:off x="5418455" y="1899920"/>
            <a:ext cx="4077335" cy="3057525"/>
          </a:xfrm>
          <a:prstGeom prst="rect">
            <a:avLst/>
          </a:prstGeom>
        </p:spPr>
      </p:pic>
      <p:sp>
        <p:nvSpPr>
          <p:cNvPr id="6" name="文本框 5"/>
          <p:cNvSpPr txBox="1"/>
          <p:nvPr/>
        </p:nvSpPr>
        <p:spPr>
          <a:xfrm>
            <a:off x="1257300" y="5146040"/>
            <a:ext cx="2696210" cy="583565"/>
          </a:xfrm>
          <a:prstGeom prst="rect">
            <a:avLst/>
          </a:prstGeom>
          <a:noFill/>
        </p:spPr>
        <p:txBody>
          <a:bodyPr wrap="square" rtlCol="0">
            <a:spAutoFit/>
          </a:bodyPr>
          <a:lstStyle/>
          <a:p>
            <a:r>
              <a:rPr lang="zh-CN" altLang="en-US" sz="3200" b="1"/>
              <a:t>微波中继通信</a:t>
            </a:r>
          </a:p>
        </p:txBody>
      </p:sp>
      <p:sp>
        <p:nvSpPr>
          <p:cNvPr id="7" name="文本框 6"/>
          <p:cNvSpPr txBox="1"/>
          <p:nvPr/>
        </p:nvSpPr>
        <p:spPr>
          <a:xfrm>
            <a:off x="6492240" y="5146040"/>
            <a:ext cx="1930400" cy="583565"/>
          </a:xfrm>
          <a:prstGeom prst="rect">
            <a:avLst/>
          </a:prstGeom>
          <a:noFill/>
        </p:spPr>
        <p:txBody>
          <a:bodyPr wrap="square" rtlCol="0">
            <a:spAutoFit/>
          </a:bodyPr>
          <a:lstStyle/>
          <a:p>
            <a:r>
              <a:rPr lang="zh-CN" altLang="en-US" sz="3200" b="1"/>
              <a:t>卫星通信</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微波中继通信</a:t>
            </a:r>
            <a:endParaRPr lang="zh-CN" altLang="en-US"/>
          </a:p>
        </p:txBody>
      </p:sp>
      <p:sp>
        <p:nvSpPr>
          <p:cNvPr id="3" name="内容占位符 2"/>
          <p:cNvSpPr>
            <a:spLocks noGrp="1"/>
          </p:cNvSpPr>
          <p:nvPr>
            <p:ph idx="1"/>
          </p:nvPr>
        </p:nvSpPr>
        <p:spPr>
          <a:xfrm>
            <a:off x="495300" y="1196975"/>
            <a:ext cx="9065895" cy="5541645"/>
          </a:xfrm>
        </p:spPr>
        <p:txBody>
          <a:bodyPr/>
          <a:lstStyle/>
          <a:p>
            <a:pPr algn="just"/>
            <a:r>
              <a:rPr lang="en-US" altLang="zh-CN">
                <a:solidFill>
                  <a:srgbClr val="C00000"/>
                </a:solidFill>
              </a:rPr>
              <a:t>1G</a:t>
            </a:r>
            <a:r>
              <a:rPr lang="zh-CN" altLang="en-US">
                <a:solidFill>
                  <a:srgbClr val="C00000"/>
                </a:solidFill>
              </a:rPr>
              <a:t>通信（</a:t>
            </a:r>
            <a:r>
              <a:rPr lang="en-US" altLang="zh-CN">
                <a:solidFill>
                  <a:srgbClr val="C00000"/>
                </a:solidFill>
              </a:rPr>
              <a:t>80</a:t>
            </a:r>
            <a:r>
              <a:rPr lang="zh-CN" altLang="en-US">
                <a:solidFill>
                  <a:srgbClr val="C00000"/>
                </a:solidFill>
              </a:rPr>
              <a:t>年代）：</a:t>
            </a:r>
            <a:r>
              <a:rPr lang="zh-CN" altLang="en-US"/>
              <a:t>主要是</a:t>
            </a:r>
            <a:r>
              <a:rPr lang="zh-CN" altLang="en-US">
                <a:solidFill>
                  <a:schemeClr val="tx1"/>
                </a:solidFill>
              </a:rPr>
              <a:t>美国的AMPS技术，北欧的NMT技术。还包括英国的TACS、日本JTACS和西德的C-Netz等。</a:t>
            </a:r>
          </a:p>
          <a:p>
            <a:pPr algn="just"/>
            <a:r>
              <a:rPr lang="en-US" altLang="zh-CN">
                <a:solidFill>
                  <a:srgbClr val="C00000"/>
                </a:solidFill>
                <a:sym typeface="+mn-ea"/>
              </a:rPr>
              <a:t>2G</a:t>
            </a:r>
            <a:r>
              <a:rPr lang="zh-CN" altLang="en-US">
                <a:solidFill>
                  <a:srgbClr val="C00000"/>
                </a:solidFill>
                <a:sym typeface="+mn-ea"/>
              </a:rPr>
              <a:t>通信（</a:t>
            </a:r>
            <a:r>
              <a:rPr lang="en-US" altLang="zh-CN">
                <a:solidFill>
                  <a:srgbClr val="C00000"/>
                </a:solidFill>
                <a:sym typeface="+mn-ea"/>
              </a:rPr>
              <a:t>90</a:t>
            </a:r>
            <a:r>
              <a:rPr lang="zh-CN" altLang="en-US">
                <a:solidFill>
                  <a:srgbClr val="C00000"/>
                </a:solidFill>
                <a:sym typeface="+mn-ea"/>
              </a:rPr>
              <a:t>年代）：</a:t>
            </a:r>
            <a:r>
              <a:rPr lang="zh-CN" altLang="en-US">
                <a:sym typeface="+mn-ea"/>
              </a:rPr>
              <a:t>欧洲推出GSM（全球移动通信技术），美国推出CDMA技术，形成了欧美的PK角力。</a:t>
            </a:r>
          </a:p>
          <a:p>
            <a:pPr algn="just"/>
            <a:r>
              <a:rPr lang="en-US" altLang="zh-CN">
                <a:solidFill>
                  <a:srgbClr val="C00000"/>
                </a:solidFill>
                <a:sym typeface="+mn-ea"/>
              </a:rPr>
              <a:t>3G</a:t>
            </a:r>
            <a:r>
              <a:rPr lang="zh-CN" altLang="en-US">
                <a:solidFill>
                  <a:srgbClr val="C00000"/>
                </a:solidFill>
                <a:sym typeface="+mn-ea"/>
              </a:rPr>
              <a:t>通信（</a:t>
            </a:r>
            <a:r>
              <a:rPr lang="en-US" altLang="zh-CN">
                <a:solidFill>
                  <a:srgbClr val="C00000"/>
                </a:solidFill>
                <a:sym typeface="+mn-ea"/>
              </a:rPr>
              <a:t>00</a:t>
            </a:r>
            <a:r>
              <a:rPr lang="zh-CN" altLang="en-US">
                <a:solidFill>
                  <a:srgbClr val="C00000"/>
                </a:solidFill>
                <a:sym typeface="+mn-ea"/>
              </a:rPr>
              <a:t>年代）：</a:t>
            </a:r>
            <a:r>
              <a:rPr lang="zh-CN" altLang="en-US">
                <a:sym typeface="+mn-ea"/>
              </a:rPr>
              <a:t>欧洲WCDMA、美国CDMA2000、中国TD-SCDMA共同成为3G国际标准。</a:t>
            </a:r>
            <a:endParaRPr lang="zh-CN" altLang="en-US">
              <a:solidFill>
                <a:srgbClr val="C00000"/>
              </a:solidFill>
              <a:sym typeface="+mn-ea"/>
            </a:endParaRPr>
          </a:p>
          <a:p>
            <a:pPr marL="0" indent="0">
              <a:buNone/>
            </a:pPr>
            <a:endParaRPr lang="zh-CN" altLang="en-US">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ChangeArrowheads="1"/>
          </p:cNvSpPr>
          <p:nvPr>
            <p:ph type="title"/>
          </p:nvPr>
        </p:nvSpPr>
        <p:spPr>
          <a:xfrm>
            <a:off x="288348" y="548680"/>
            <a:ext cx="9503171" cy="489018"/>
          </a:xfrm>
          <a:noFill/>
          <a:ln>
            <a:noFill/>
          </a:ln>
          <a:effectLst/>
        </p:spPr>
        <p:txBody>
          <a:bodyPr vert="horz" wrap="square" lIns="91440" tIns="45720" rIns="91440" bIns="45720" numCol="1" rtlCol="0" anchor="b" anchorCtr="0" compatLnSpc="1">
            <a:normAutofit fontScale="90000"/>
          </a:bodyPr>
          <a:lstStyle/>
          <a:p>
            <a:pPr lvl="0" algn="l">
              <a:buClrTx/>
              <a:buSzTx/>
              <a:buFontTx/>
            </a:pPr>
            <a:br>
              <a:rPr lang="zh-CN" altLang="en-US">
                <a:sym typeface="+mn-ea"/>
              </a:rPr>
            </a:br>
            <a:r>
              <a:rPr lang="zh-CN" altLang="en-US">
                <a:sym typeface="+mn-ea"/>
              </a:rPr>
              <a:t>无线介质</a:t>
            </a:r>
          </a:p>
        </p:txBody>
      </p:sp>
      <p:sp>
        <p:nvSpPr>
          <p:cNvPr id="2" name="内容占位符 1"/>
          <p:cNvSpPr>
            <a:spLocks noGrp="1"/>
          </p:cNvSpPr>
          <p:nvPr>
            <p:ph idx="1"/>
          </p:nvPr>
        </p:nvSpPr>
        <p:spPr>
          <a:xfrm>
            <a:off x="416496" y="1340768"/>
            <a:ext cx="5478583" cy="4004152"/>
          </a:xfrm>
        </p:spPr>
        <p:txBody>
          <a:bodyPr/>
          <a:lstStyle/>
          <a:p>
            <a:r>
              <a:rPr lang="zh-CN" altLang="en-US" sz="2600" dirty="0">
                <a:solidFill>
                  <a:srgbClr val="0000CC"/>
                </a:solidFill>
              </a:rPr>
              <a:t>无线介质</a:t>
            </a:r>
            <a:r>
              <a:rPr lang="zh-CN" altLang="en-US" sz="2600" dirty="0"/>
              <a:t>使用</a:t>
            </a:r>
            <a:r>
              <a:rPr lang="zh-CN" altLang="en-US" sz="2600" dirty="0">
                <a:solidFill>
                  <a:srgbClr val="0000CC"/>
                </a:solidFill>
              </a:rPr>
              <a:t>无线电</a:t>
            </a:r>
            <a:r>
              <a:rPr lang="zh-CN" altLang="en-US" sz="2600" dirty="0"/>
              <a:t>或</a:t>
            </a:r>
            <a:r>
              <a:rPr lang="zh-CN" altLang="en-US" sz="2600" dirty="0">
                <a:solidFill>
                  <a:srgbClr val="0000CC"/>
                </a:solidFill>
              </a:rPr>
              <a:t>微波</a:t>
            </a:r>
            <a:r>
              <a:rPr lang="zh-CN" altLang="en-US" sz="2600" dirty="0"/>
              <a:t>频率来承载代表数据通信二进制数字的电磁信号。</a:t>
            </a:r>
            <a:endParaRPr lang="en-US" altLang="zh-CN" sz="2600" dirty="0"/>
          </a:p>
          <a:p>
            <a:r>
              <a:rPr lang="zh-CN" altLang="en-US" sz="2600" dirty="0">
                <a:solidFill>
                  <a:srgbClr val="0000CC"/>
                </a:solidFill>
              </a:rPr>
              <a:t>挑战：</a:t>
            </a:r>
            <a:endParaRPr lang="en-US" altLang="zh-CN" sz="2600" dirty="0">
              <a:solidFill>
                <a:srgbClr val="0000CC"/>
              </a:solidFill>
            </a:endParaRPr>
          </a:p>
          <a:p>
            <a:pPr lvl="1">
              <a:buFont typeface="Arial" panose="020B0604020202020204" pitchFamily="34" charset="0"/>
              <a:buChar char="•"/>
            </a:pPr>
            <a:r>
              <a:rPr lang="zh-CN" altLang="en-US" sz="2600" dirty="0">
                <a:solidFill>
                  <a:srgbClr val="0000CC"/>
                </a:solidFill>
                <a:cs typeface="+mn-cs"/>
              </a:rPr>
              <a:t>覆盖面积</a:t>
            </a:r>
            <a:endParaRPr lang="en-US" altLang="zh-CN" sz="2600" dirty="0">
              <a:solidFill>
                <a:srgbClr val="0000CC"/>
              </a:solidFill>
              <a:cs typeface="+mn-cs"/>
            </a:endParaRPr>
          </a:p>
          <a:p>
            <a:pPr lvl="1">
              <a:buFont typeface="Arial" panose="020B0604020202020204" pitchFamily="34" charset="0"/>
              <a:buChar char="•"/>
            </a:pPr>
            <a:r>
              <a:rPr lang="zh-CN" altLang="en-US" sz="2600" dirty="0">
                <a:solidFill>
                  <a:srgbClr val="0000CC"/>
                </a:solidFill>
                <a:cs typeface="+mn-cs"/>
              </a:rPr>
              <a:t>干扰</a:t>
            </a:r>
            <a:endParaRPr lang="en-US" altLang="zh-CN" sz="2600" dirty="0">
              <a:solidFill>
                <a:srgbClr val="0000CC"/>
              </a:solidFill>
              <a:cs typeface="+mn-cs"/>
            </a:endParaRPr>
          </a:p>
          <a:p>
            <a:pPr lvl="1">
              <a:buFont typeface="Arial" panose="020B0604020202020204" pitchFamily="34" charset="0"/>
              <a:buChar char="•"/>
            </a:pPr>
            <a:r>
              <a:rPr lang="zh-CN" altLang="en-US" sz="2600" dirty="0">
                <a:solidFill>
                  <a:srgbClr val="0000CC"/>
                </a:solidFill>
                <a:cs typeface="+mn-cs"/>
              </a:rPr>
              <a:t>安全性</a:t>
            </a:r>
            <a:endParaRPr lang="en-US" altLang="zh-CN" sz="2600" dirty="0">
              <a:solidFill>
                <a:srgbClr val="0000CC"/>
              </a:solidFill>
              <a:cs typeface="+mn-cs"/>
            </a:endParaRPr>
          </a:p>
          <a:p>
            <a:pPr lvl="1">
              <a:buFont typeface="Arial" panose="020B0604020202020204" pitchFamily="34" charset="0"/>
              <a:buChar char="•"/>
            </a:pPr>
            <a:r>
              <a:rPr lang="zh-CN" altLang="en-US" sz="2600" dirty="0">
                <a:solidFill>
                  <a:srgbClr val="FF0000"/>
                </a:solidFill>
              </a:rPr>
              <a:t>共享介质</a:t>
            </a:r>
            <a:r>
              <a:rPr lang="zh-CN" altLang="en-US" sz="2600" dirty="0">
                <a:solidFill>
                  <a:srgbClr val="0070C0"/>
                </a:solidFill>
              </a:rPr>
              <a:t>：</a:t>
            </a:r>
            <a:r>
              <a:rPr lang="en-US" altLang="zh-CN" sz="2275" dirty="0"/>
              <a:t>WLAN </a:t>
            </a:r>
            <a:r>
              <a:rPr lang="zh-CN" altLang="en-US" sz="2275" dirty="0"/>
              <a:t>以</a:t>
            </a:r>
            <a:r>
              <a:rPr lang="zh-CN" altLang="en-US" sz="2275" dirty="0">
                <a:solidFill>
                  <a:srgbClr val="FF0000"/>
                </a:solidFill>
              </a:rPr>
              <a:t>半双工</a:t>
            </a:r>
            <a:r>
              <a:rPr lang="zh-CN" altLang="en-US" sz="2275" dirty="0"/>
              <a:t>模式运行，意味着一台设备一次只能发送或接收。</a:t>
            </a:r>
            <a:endParaRPr lang="en-US" altLang="zh-CN" sz="2195" dirty="0">
              <a:solidFill>
                <a:srgbClr val="0070C0"/>
              </a:solidFill>
            </a:endParaRPr>
          </a:p>
        </p:txBody>
      </p:sp>
      <p:pic>
        <p:nvPicPr>
          <p:cNvPr id="3" name="图片 2"/>
          <p:cNvPicPr>
            <a:picLocks noChangeAspect="1"/>
          </p:cNvPicPr>
          <p:nvPr/>
        </p:nvPicPr>
        <p:blipFill>
          <a:blip r:embed="rId3"/>
          <a:stretch>
            <a:fillRect/>
          </a:stretch>
        </p:blipFill>
        <p:spPr>
          <a:xfrm>
            <a:off x="6600647" y="1410536"/>
            <a:ext cx="2761917" cy="2716724"/>
          </a:xfrm>
          <a:prstGeom prst="rect">
            <a:avLst/>
          </a:prstGeom>
        </p:spPr>
      </p:pic>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07" name="Rectangle 2"/>
          <p:cNvSpPr>
            <a:spLocks noGrp="1" noChangeArrowheads="1"/>
          </p:cNvSpPr>
          <p:nvPr>
            <p:ph type="title"/>
          </p:nvPr>
        </p:nvSpPr>
        <p:spPr>
          <a:xfrm>
            <a:off x="373456" y="476672"/>
            <a:ext cx="9503171" cy="565595"/>
          </a:xfrm>
          <a:noFill/>
          <a:ln>
            <a:noFill/>
          </a:ln>
          <a:effectLst/>
        </p:spPr>
        <p:txBody>
          <a:bodyPr vert="horz" wrap="square" lIns="91440" tIns="45720" rIns="91440" bIns="45720" numCol="1" rtlCol="0" anchor="b" anchorCtr="0" compatLnSpc="1">
            <a:normAutofit fontScale="90000"/>
          </a:bodyPr>
          <a:lstStyle/>
          <a:p>
            <a:pPr lvl="0" algn="l">
              <a:buClrTx/>
              <a:buSzTx/>
              <a:buFontTx/>
            </a:pPr>
            <a:r>
              <a:rPr lang="zh-CN" altLang="en-US">
                <a:sym typeface="+mn-ea"/>
              </a:rPr>
              <a:t>无线介质类型</a:t>
            </a:r>
          </a:p>
        </p:txBody>
      </p:sp>
      <p:sp>
        <p:nvSpPr>
          <p:cNvPr id="10" name="内容占位符 9"/>
          <p:cNvSpPr>
            <a:spLocks noGrp="1"/>
          </p:cNvSpPr>
          <p:nvPr>
            <p:ph idx="1"/>
          </p:nvPr>
        </p:nvSpPr>
        <p:spPr>
          <a:xfrm>
            <a:off x="373456" y="1700808"/>
            <a:ext cx="4262582" cy="3931682"/>
          </a:xfrm>
          <a:ln>
            <a:solidFill>
              <a:schemeClr val="bg1"/>
            </a:solidFill>
            <a:prstDash val="sysDash"/>
          </a:ln>
        </p:spPr>
        <p:txBody>
          <a:bodyPr anchor="ctr" anchorCtr="1"/>
          <a:lstStyle/>
          <a:p>
            <a:pPr marL="137795" indent="-137795" defTabSz="556260">
              <a:spcBef>
                <a:spcPts val="490"/>
              </a:spcBef>
              <a:spcAft>
                <a:spcPts val="490"/>
              </a:spcAft>
              <a:buClr>
                <a:schemeClr val="tx2"/>
              </a:buClr>
              <a:buSzPct val="90000"/>
              <a:buFont typeface="Wingdings" panose="05000000000000000000" pitchFamily="2" charset="2"/>
              <a:buChar char="§"/>
            </a:pPr>
            <a:r>
              <a:rPr lang="en-US" altLang="zh-CN" sz="2400" dirty="0">
                <a:solidFill>
                  <a:srgbClr val="000000"/>
                </a:solidFill>
                <a:ea typeface="MS PGothic" panose="020B0600070205080204" charset="-128"/>
                <a:cs typeface="CiscoSans"/>
              </a:rPr>
              <a:t>Wi-Fi: Standard IEEE 802.11</a:t>
            </a:r>
          </a:p>
          <a:p>
            <a:pPr marL="137795" indent="-137795" defTabSz="556260">
              <a:spcBef>
                <a:spcPts val="490"/>
              </a:spcBef>
              <a:spcAft>
                <a:spcPts val="490"/>
              </a:spcAft>
              <a:buClr>
                <a:schemeClr val="tx2"/>
              </a:buClr>
              <a:buSzPct val="90000"/>
              <a:buFont typeface="Wingdings" panose="05000000000000000000" pitchFamily="2" charset="2"/>
              <a:buChar char="§"/>
            </a:pPr>
            <a:r>
              <a:rPr lang="en-US" altLang="zh-CN" sz="2400" dirty="0">
                <a:solidFill>
                  <a:srgbClr val="000000"/>
                </a:solidFill>
                <a:ea typeface="MS PGothic" panose="020B0600070205080204" charset="-128"/>
                <a:cs typeface="CiscoSans"/>
              </a:rPr>
              <a:t>Bluetooth: Standard IEEE 802.15</a:t>
            </a:r>
          </a:p>
          <a:p>
            <a:pPr marL="137795" indent="-137795" defTabSz="556260">
              <a:spcBef>
                <a:spcPts val="490"/>
              </a:spcBef>
              <a:spcAft>
                <a:spcPts val="490"/>
              </a:spcAft>
              <a:buClr>
                <a:schemeClr val="tx2"/>
              </a:buClr>
              <a:buSzPct val="90000"/>
              <a:buFont typeface="Wingdings" panose="05000000000000000000" pitchFamily="2" charset="2"/>
              <a:buChar char="§"/>
            </a:pPr>
            <a:r>
              <a:rPr lang="en-US" altLang="zh-CN" sz="2400" dirty="0">
                <a:solidFill>
                  <a:srgbClr val="000000"/>
                </a:solidFill>
                <a:ea typeface="MS PGothic" panose="020B0600070205080204" charset="-128"/>
                <a:cs typeface="CiscoSans"/>
              </a:rPr>
              <a:t>WiMAX: Standard IEEE 802.16</a:t>
            </a:r>
          </a:p>
          <a:p>
            <a:pPr marL="0" indent="0">
              <a:buNone/>
            </a:pPr>
            <a:r>
              <a:rPr lang="zh-CN" altLang="en-US" sz="2400" dirty="0">
                <a:solidFill>
                  <a:schemeClr val="accent5"/>
                </a:solidFill>
              </a:rPr>
              <a:t>物理层</a:t>
            </a:r>
            <a:r>
              <a:rPr lang="zh-CN" altLang="en-US" sz="2400" dirty="0"/>
              <a:t>规范使用的领域包括：</a:t>
            </a:r>
            <a:endParaRPr lang="en-US" sz="2400" dirty="0"/>
          </a:p>
          <a:p>
            <a:r>
              <a:rPr lang="zh-CN" altLang="en-US" sz="2400" dirty="0"/>
              <a:t>数据到无线</a:t>
            </a:r>
            <a:r>
              <a:rPr lang="zh-CN" altLang="en-US" sz="2400" dirty="0">
                <a:solidFill>
                  <a:srgbClr val="0070C0"/>
                </a:solidFill>
              </a:rPr>
              <a:t>信号编码</a:t>
            </a:r>
            <a:endParaRPr lang="en-US" sz="2400" dirty="0">
              <a:solidFill>
                <a:srgbClr val="0070C0"/>
              </a:solidFill>
            </a:endParaRPr>
          </a:p>
          <a:p>
            <a:r>
              <a:rPr lang="zh-CN" altLang="en-US" sz="2400" dirty="0"/>
              <a:t>传输</a:t>
            </a:r>
            <a:r>
              <a:rPr lang="zh-CN" altLang="en-US" sz="2400" dirty="0">
                <a:solidFill>
                  <a:srgbClr val="0070C0"/>
                </a:solidFill>
              </a:rPr>
              <a:t>频率和功率</a:t>
            </a:r>
            <a:endParaRPr lang="en-US" sz="2400" dirty="0"/>
          </a:p>
          <a:p>
            <a:r>
              <a:rPr lang="zh-CN" altLang="en-US" sz="2400" dirty="0">
                <a:solidFill>
                  <a:srgbClr val="0070C0"/>
                </a:solidFill>
              </a:rPr>
              <a:t>信号接收和解码</a:t>
            </a:r>
            <a:r>
              <a:rPr lang="zh-CN" altLang="en-US" sz="2400" dirty="0"/>
              <a:t>要求</a:t>
            </a:r>
            <a:endParaRPr lang="en-US" sz="2400" dirty="0"/>
          </a:p>
          <a:p>
            <a:r>
              <a:rPr lang="zh-CN" altLang="en-US" sz="2400" dirty="0">
                <a:solidFill>
                  <a:srgbClr val="0070C0"/>
                </a:solidFill>
              </a:rPr>
              <a:t>天线</a:t>
            </a:r>
            <a:r>
              <a:rPr lang="zh-CN" altLang="en-US" sz="2400" dirty="0"/>
              <a:t>的设计和施工</a:t>
            </a:r>
            <a:endParaRPr lang="en-US" sz="2400" dirty="0"/>
          </a:p>
        </p:txBody>
      </p:sp>
      <p:pic>
        <p:nvPicPr>
          <p:cNvPr id="5" name="Picture 2"/>
          <p:cNvPicPr>
            <a:picLocks noChangeAspect="1" noChangeArrowheads="1"/>
          </p:cNvPicPr>
          <p:nvPr/>
        </p:nvPicPr>
        <p:blipFill>
          <a:blip r:embed="rId3"/>
          <a:srcRect/>
          <a:stretch>
            <a:fillRect/>
          </a:stretch>
        </p:blipFill>
        <p:spPr bwMode="auto">
          <a:xfrm>
            <a:off x="4769305" y="1465650"/>
            <a:ext cx="5136700" cy="4022719"/>
          </a:xfrm>
          <a:prstGeom prst="rect">
            <a:avLst/>
          </a:prstGeom>
          <a:noFill/>
          <a:ln w="9525">
            <a:noFill/>
            <a:miter lim="800000"/>
            <a:headEnd/>
            <a:tailEnd/>
          </a:ln>
          <a:effectLst/>
        </p:spPr>
      </p:pic>
    </p:spTree>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noChangeArrowheads="1"/>
          </p:cNvSpPr>
          <p:nvPr>
            <p:ph type="title"/>
          </p:nvPr>
        </p:nvSpPr>
        <p:spPr>
          <a:xfrm>
            <a:off x="399231" y="532721"/>
            <a:ext cx="9503171" cy="489018"/>
          </a:xfrm>
          <a:noFill/>
          <a:ln>
            <a:noFill/>
          </a:ln>
          <a:effectLst/>
        </p:spPr>
        <p:txBody>
          <a:bodyPr vert="horz" wrap="square" lIns="91440" tIns="45720" rIns="91440" bIns="45720" numCol="1" rtlCol="0" anchor="b" anchorCtr="0" compatLnSpc="1">
            <a:normAutofit fontScale="90000"/>
          </a:bodyPr>
          <a:lstStyle/>
          <a:p>
            <a:pPr lvl="0" algn="l">
              <a:buClrTx/>
              <a:buSzTx/>
              <a:buFontTx/>
            </a:pPr>
            <a:br>
              <a:rPr lang="zh-CN" altLang="en-US">
                <a:sym typeface="+mn-ea"/>
              </a:rPr>
            </a:br>
            <a:r>
              <a:rPr lang="zh-CN" altLang="en-US">
                <a:sym typeface="+mn-ea"/>
              </a:rPr>
              <a:t>无线LAN</a:t>
            </a:r>
          </a:p>
        </p:txBody>
      </p:sp>
      <p:sp>
        <p:nvSpPr>
          <p:cNvPr id="2" name="内容占位符 1"/>
          <p:cNvSpPr>
            <a:spLocks noGrp="1"/>
          </p:cNvSpPr>
          <p:nvPr>
            <p:ph idx="1"/>
          </p:nvPr>
        </p:nvSpPr>
        <p:spPr>
          <a:xfrm>
            <a:off x="399231" y="1314576"/>
            <a:ext cx="8625446" cy="1052329"/>
          </a:xfrm>
        </p:spPr>
        <p:txBody>
          <a:bodyPr/>
          <a:lstStyle/>
          <a:p>
            <a:r>
              <a:rPr lang="zh-CN" altLang="en-US" sz="2000" dirty="0">
                <a:ea typeface="宋体" panose="02010600030101010101" pitchFamily="2" charset="-122"/>
              </a:rPr>
              <a:t>通常，无线</a:t>
            </a:r>
            <a:r>
              <a:rPr lang="en-US" altLang="zh-CN" sz="2000" dirty="0">
                <a:ea typeface="宋体" panose="02010600030101010101" pitchFamily="2" charset="-122"/>
              </a:rPr>
              <a:t>LAN</a:t>
            </a:r>
            <a:r>
              <a:rPr lang="zh-CN" altLang="en-US" sz="2000" dirty="0">
                <a:ea typeface="宋体" panose="02010600030101010101" pitchFamily="2" charset="-122"/>
              </a:rPr>
              <a:t>要求具备下列网络设备：</a:t>
            </a:r>
            <a:endParaRPr lang="en-US" altLang="zh-CN" sz="2000" dirty="0">
              <a:ea typeface="宋体" panose="02010600030101010101" pitchFamily="2" charset="-122"/>
            </a:endParaRPr>
          </a:p>
          <a:p>
            <a:pPr marL="580390" lvl="1" indent="-371475">
              <a:lnSpc>
                <a:spcPct val="65000"/>
              </a:lnSpc>
              <a:buFont typeface="Arial" panose="020B0604020202020204" pitchFamily="34" charset="0"/>
              <a:buChar char="•"/>
            </a:pPr>
            <a:r>
              <a:rPr lang="zh-CN" altLang="en-US" sz="2000" dirty="0">
                <a:solidFill>
                  <a:srgbClr val="0000CC"/>
                </a:solidFill>
                <a:ea typeface="宋体" panose="02010600030101010101" pitchFamily="2" charset="-122"/>
              </a:rPr>
              <a:t>无线接入点</a:t>
            </a:r>
            <a:r>
              <a:rPr lang="en-US" altLang="zh-CN" sz="2000" dirty="0">
                <a:solidFill>
                  <a:srgbClr val="0000CC"/>
                </a:solidFill>
                <a:ea typeface="宋体" panose="02010600030101010101" pitchFamily="2" charset="-122"/>
              </a:rPr>
              <a:t> (AP) </a:t>
            </a:r>
          </a:p>
          <a:p>
            <a:pPr marL="580390" lvl="1" indent="-371475">
              <a:lnSpc>
                <a:spcPct val="45000"/>
              </a:lnSpc>
              <a:buFont typeface="Arial" panose="020B0604020202020204" pitchFamily="34" charset="0"/>
              <a:buChar char="•"/>
            </a:pPr>
            <a:r>
              <a:rPr lang="zh-CN" altLang="en-US" sz="2000" dirty="0">
                <a:solidFill>
                  <a:srgbClr val="0000CC"/>
                </a:solidFill>
                <a:ea typeface="宋体" panose="02010600030101010101" pitchFamily="2" charset="-122"/>
              </a:rPr>
              <a:t>无线</a:t>
            </a:r>
            <a:r>
              <a:rPr lang="en-US" altLang="zh-CN" sz="2000" dirty="0">
                <a:solidFill>
                  <a:srgbClr val="0000CC"/>
                </a:solidFill>
                <a:ea typeface="宋体" panose="02010600030101010101" pitchFamily="2" charset="-122"/>
              </a:rPr>
              <a:t>NIC</a:t>
            </a:r>
            <a:r>
              <a:rPr lang="zh-CN" altLang="en-US" sz="2000" dirty="0">
                <a:solidFill>
                  <a:srgbClr val="0000CC"/>
                </a:solidFill>
                <a:ea typeface="宋体" panose="02010600030101010101" pitchFamily="2" charset="-122"/>
              </a:rPr>
              <a:t>适配器</a:t>
            </a:r>
            <a:endParaRPr lang="zh-CN" altLang="en-US" sz="2000" b="1" dirty="0">
              <a:solidFill>
                <a:srgbClr val="0000CC"/>
              </a:solidFill>
            </a:endParaRPr>
          </a:p>
        </p:txBody>
      </p:sp>
      <p:pic>
        <p:nvPicPr>
          <p:cNvPr id="7" name="Picture 1"/>
          <p:cNvPicPr>
            <a:picLocks noChangeAspect="1"/>
          </p:cNvPicPr>
          <p:nvPr/>
        </p:nvPicPr>
        <p:blipFill>
          <a:blip r:embed="rId3"/>
          <a:stretch>
            <a:fillRect/>
          </a:stretch>
        </p:blipFill>
        <p:spPr>
          <a:xfrm>
            <a:off x="5745088" y="1138625"/>
            <a:ext cx="3703518" cy="2289539"/>
          </a:xfrm>
          <a:prstGeom prst="rect">
            <a:avLst/>
          </a:prstGeom>
        </p:spPr>
      </p:pic>
      <p:sp>
        <p:nvSpPr>
          <p:cNvPr id="8" name="TextBox 2"/>
          <p:cNvSpPr txBox="1"/>
          <p:nvPr/>
        </p:nvSpPr>
        <p:spPr>
          <a:xfrm>
            <a:off x="5150817" y="3545051"/>
            <a:ext cx="3979997" cy="592470"/>
          </a:xfrm>
          <a:prstGeom prst="rect">
            <a:avLst/>
          </a:prstGeom>
          <a:noFill/>
        </p:spPr>
        <p:txBody>
          <a:bodyPr wrap="square" rtlCol="0">
            <a:spAutoFit/>
          </a:bodyPr>
          <a:lstStyle/>
          <a:p>
            <a:pPr marL="0" lvl="1"/>
            <a:r>
              <a:rPr lang="zh-CN" altLang="en-US" sz="1625" dirty="0"/>
              <a:t>家庭和小型企业无线路由器将路由器、交换机和接入点的功能整合到一个设备中。</a:t>
            </a:r>
            <a:endParaRPr lang="en-US" sz="1625" dirty="0"/>
          </a:p>
        </p:txBody>
      </p:sp>
      <p:pic>
        <p:nvPicPr>
          <p:cNvPr id="10" name="图片 9"/>
          <p:cNvPicPr>
            <a:picLocks noChangeAspect="1"/>
          </p:cNvPicPr>
          <p:nvPr/>
        </p:nvPicPr>
        <p:blipFill>
          <a:blip r:embed="rId4"/>
          <a:stretch>
            <a:fillRect/>
          </a:stretch>
        </p:blipFill>
        <p:spPr>
          <a:xfrm>
            <a:off x="387395" y="2743857"/>
            <a:ext cx="4527534" cy="3335700"/>
          </a:xfrm>
          <a:prstGeom prst="rect">
            <a:avLst/>
          </a:prstGeom>
        </p:spPr>
      </p:pic>
    </p:spTree>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noChangeArrowheads="1"/>
          </p:cNvSpPr>
          <p:nvPr>
            <p:ph type="title"/>
          </p:nvPr>
        </p:nvSpPr>
        <p:spPr>
          <a:xfrm>
            <a:off x="276820" y="329276"/>
            <a:ext cx="9503171" cy="598866"/>
          </a:xfrm>
          <a:noFill/>
          <a:ln>
            <a:noFill/>
          </a:ln>
          <a:effectLst/>
        </p:spPr>
        <p:txBody>
          <a:bodyPr vert="horz" wrap="square" lIns="91440" tIns="45720" rIns="91440" bIns="45720" numCol="1" rtlCol="0" anchor="b" anchorCtr="0" compatLnSpc="1">
            <a:normAutofit fontScale="90000"/>
          </a:bodyPr>
          <a:lstStyle/>
          <a:p>
            <a:pPr lvl="0" algn="l">
              <a:buClrTx/>
              <a:buSzTx/>
              <a:buFontTx/>
            </a:pPr>
            <a:r>
              <a:rPr lang="zh-CN" altLang="en-US">
                <a:sym typeface="+mn-ea"/>
              </a:rPr>
              <a:t>802.11 Wi-Fi 标准</a:t>
            </a:r>
          </a:p>
        </p:txBody>
      </p:sp>
      <p:graphicFrame>
        <p:nvGraphicFramePr>
          <p:cNvPr id="4" name="Table 3"/>
          <p:cNvGraphicFramePr>
            <a:graphicFrameLocks noGrp="1"/>
          </p:cNvGraphicFramePr>
          <p:nvPr>
            <p:custDataLst>
              <p:tags r:id="rId1"/>
            </p:custDataLst>
          </p:nvPr>
        </p:nvGraphicFramePr>
        <p:xfrm>
          <a:off x="665813" y="1412776"/>
          <a:ext cx="8639332" cy="4004152"/>
        </p:xfrm>
        <a:graphic>
          <a:graphicData uri="http://schemas.openxmlformats.org/drawingml/2006/table">
            <a:tbl>
              <a:tblPr firstRow="1" bandRow="1">
                <a:tableStyleId>{5C22544A-7EE6-4342-B048-85BDC9FD1C3A}</a:tableStyleId>
              </a:tblPr>
              <a:tblGrid>
                <a:gridCol w="2159833">
                  <a:extLst>
                    <a:ext uri="{9D8B030D-6E8A-4147-A177-3AD203B41FA5}">
                      <a16:colId xmlns:a16="http://schemas.microsoft.com/office/drawing/2014/main" val="20000"/>
                    </a:ext>
                  </a:extLst>
                </a:gridCol>
                <a:gridCol w="2159833">
                  <a:extLst>
                    <a:ext uri="{9D8B030D-6E8A-4147-A177-3AD203B41FA5}">
                      <a16:colId xmlns:a16="http://schemas.microsoft.com/office/drawing/2014/main" val="20001"/>
                    </a:ext>
                  </a:extLst>
                </a:gridCol>
                <a:gridCol w="2159833">
                  <a:extLst>
                    <a:ext uri="{9D8B030D-6E8A-4147-A177-3AD203B41FA5}">
                      <a16:colId xmlns:a16="http://schemas.microsoft.com/office/drawing/2014/main" val="20002"/>
                    </a:ext>
                  </a:extLst>
                </a:gridCol>
                <a:gridCol w="2159833">
                  <a:extLst>
                    <a:ext uri="{9D8B030D-6E8A-4147-A177-3AD203B41FA5}">
                      <a16:colId xmlns:a16="http://schemas.microsoft.com/office/drawing/2014/main" val="20003"/>
                    </a:ext>
                  </a:extLst>
                </a:gridCol>
              </a:tblGrid>
              <a:tr h="811130">
                <a:tc>
                  <a:txBody>
                    <a:bodyPr/>
                    <a:lstStyle/>
                    <a:p>
                      <a:pPr algn="ctr"/>
                      <a:r>
                        <a:rPr lang="zh-CN" altLang="en-US"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标准</a:t>
                      </a:r>
                      <a:endParaRPr lang="en-CA"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a:txBody>
                  <a:tcPr marL="99067" marR="99067" marT="37163" marB="37163" anchor="ctr">
                    <a:solidFill>
                      <a:srgbClr val="077A77"/>
                    </a:solidFill>
                  </a:tcPr>
                </a:tc>
                <a:tc>
                  <a:txBody>
                    <a:bodyPr/>
                    <a:lstStyle/>
                    <a:p>
                      <a:pPr algn="ctr"/>
                      <a:r>
                        <a:rPr lang="zh-CN" altLang="en-US"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最大速度</a:t>
                      </a:r>
                      <a:endParaRPr lang="en-CA"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a:txBody>
                  <a:tcPr marL="99067" marR="99067" marT="37163" marB="37163" anchor="ctr">
                    <a:solidFill>
                      <a:srgbClr val="077A77"/>
                    </a:solidFill>
                  </a:tcPr>
                </a:tc>
                <a:tc>
                  <a:txBody>
                    <a:bodyPr/>
                    <a:lstStyle/>
                    <a:p>
                      <a:pPr algn="ctr"/>
                      <a:r>
                        <a:rPr lang="zh-CN" altLang="en-US"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频率</a:t>
                      </a:r>
                      <a:endParaRPr lang="en-CA"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a:txBody>
                  <a:tcPr marL="99067" marR="99067" marT="37163" marB="37163" anchor="ctr">
                    <a:solidFill>
                      <a:srgbClr val="077A77"/>
                    </a:solidFill>
                  </a:tcPr>
                </a:tc>
                <a:tc>
                  <a:txBody>
                    <a:bodyPr/>
                    <a:lstStyle/>
                    <a:p>
                      <a:pPr algn="ctr"/>
                      <a:r>
                        <a:rPr lang="zh-CN" altLang="en-US" sz="1700" b="1" baseline="0"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向后兼容</a:t>
                      </a:r>
                      <a:endParaRPr lang="en-CA" sz="1700" b="1" dirty="0">
                        <a:solidFill>
                          <a:srgbClr val="FFFF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a:txBody>
                  <a:tcPr marL="99067" marR="99067" marT="37163" marB="37163" anchor="ctr">
                    <a:solidFill>
                      <a:srgbClr val="077A77"/>
                    </a:solidFill>
                  </a:tcPr>
                </a:tc>
                <a:extLst>
                  <a:ext uri="{0D108BD9-81ED-4DB2-BD59-A6C34878D82A}">
                    <a16:rowId xmlns:a16="http://schemas.microsoft.com/office/drawing/2014/main" val="10000"/>
                  </a:ext>
                </a:extLst>
              </a:tr>
              <a:tr h="469941">
                <a:tc>
                  <a:txBody>
                    <a:bodyPr/>
                    <a:lstStyle/>
                    <a:p>
                      <a:pPr algn="ctr"/>
                      <a:r>
                        <a:rPr lang="en-CA" sz="1700" b="1" dirty="0">
                          <a:solidFill>
                            <a:schemeClr val="accent5"/>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802.11a</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54 Mbps</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5 GHz</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No</a:t>
                      </a:r>
                    </a:p>
                  </a:txBody>
                  <a:tcPr marL="99067" marR="99067" marT="37163" marB="37163" anchor="ctr">
                    <a:solidFill>
                      <a:srgbClr val="EFF8F7"/>
                    </a:solidFill>
                  </a:tcPr>
                </a:tc>
                <a:extLst>
                  <a:ext uri="{0D108BD9-81ED-4DB2-BD59-A6C34878D82A}">
                    <a16:rowId xmlns:a16="http://schemas.microsoft.com/office/drawing/2014/main" val="10001"/>
                  </a:ext>
                </a:extLst>
              </a:tr>
              <a:tr h="469941">
                <a:tc>
                  <a:txBody>
                    <a:bodyPr/>
                    <a:lstStyle/>
                    <a:p>
                      <a:pPr algn="ctr"/>
                      <a:r>
                        <a:rPr lang="en-CA" sz="1700" b="1" dirty="0">
                          <a:solidFill>
                            <a:schemeClr val="accent5"/>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802.11b</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11 Mbps</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2.4 GHz</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No</a:t>
                      </a:r>
                    </a:p>
                  </a:txBody>
                  <a:tcPr marL="99067" marR="99067" marT="37163" marB="37163" anchor="ctr">
                    <a:solidFill>
                      <a:schemeClr val="accent6">
                        <a:lumMod val="20000"/>
                        <a:lumOff val="80000"/>
                      </a:schemeClr>
                    </a:solidFill>
                  </a:tcPr>
                </a:tc>
                <a:extLst>
                  <a:ext uri="{0D108BD9-81ED-4DB2-BD59-A6C34878D82A}">
                    <a16:rowId xmlns:a16="http://schemas.microsoft.com/office/drawing/2014/main" val="10002"/>
                  </a:ext>
                </a:extLst>
              </a:tr>
              <a:tr h="469941">
                <a:tc>
                  <a:txBody>
                    <a:bodyPr/>
                    <a:lstStyle/>
                    <a:p>
                      <a:pPr algn="ctr"/>
                      <a:r>
                        <a:rPr lang="en-CA" sz="1700" b="1" dirty="0">
                          <a:solidFill>
                            <a:schemeClr val="accent5"/>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802.11g</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54 Mbps</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2.4 GHz</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802.11b</a:t>
                      </a:r>
                    </a:p>
                  </a:txBody>
                  <a:tcPr marL="99067" marR="99067" marT="37163" marB="37163" anchor="ctr">
                    <a:solidFill>
                      <a:srgbClr val="EFF8F7"/>
                    </a:solidFill>
                  </a:tcPr>
                </a:tc>
                <a:extLst>
                  <a:ext uri="{0D108BD9-81ED-4DB2-BD59-A6C34878D82A}">
                    <a16:rowId xmlns:a16="http://schemas.microsoft.com/office/drawing/2014/main" val="10003"/>
                  </a:ext>
                </a:extLst>
              </a:tr>
              <a:tr h="469941">
                <a:tc>
                  <a:txBody>
                    <a:bodyPr/>
                    <a:lstStyle/>
                    <a:p>
                      <a:pPr algn="ctr"/>
                      <a:r>
                        <a:rPr lang="en-CA" sz="1700" b="1" dirty="0">
                          <a:solidFill>
                            <a:schemeClr val="accent5"/>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802.11n</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600 Mbps</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2.4 GHz </a:t>
                      </a:r>
                      <a:r>
                        <a:rPr lang="zh-CN" altLang="en-US"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或</a:t>
                      </a: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 5 GHz</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802.11b/g</a:t>
                      </a:r>
                    </a:p>
                  </a:txBody>
                  <a:tcPr marL="99067" marR="99067" marT="37163" marB="37163" anchor="ctr">
                    <a:solidFill>
                      <a:schemeClr val="accent6">
                        <a:lumMod val="20000"/>
                        <a:lumOff val="80000"/>
                      </a:schemeClr>
                    </a:solidFill>
                  </a:tcPr>
                </a:tc>
                <a:extLst>
                  <a:ext uri="{0D108BD9-81ED-4DB2-BD59-A6C34878D82A}">
                    <a16:rowId xmlns:a16="http://schemas.microsoft.com/office/drawing/2014/main" val="10004"/>
                  </a:ext>
                </a:extLst>
              </a:tr>
              <a:tr h="656629">
                <a:tc>
                  <a:txBody>
                    <a:bodyPr/>
                    <a:lstStyle/>
                    <a:p>
                      <a:pPr algn="ctr"/>
                      <a:r>
                        <a:rPr lang="en-CA" sz="1700" b="1" dirty="0">
                          <a:solidFill>
                            <a:schemeClr val="accent5"/>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802.11ac</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 1.3 Gbps</a:t>
                      </a:r>
                    </a:p>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(1300 Mbps)</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2.4 GHz</a:t>
                      </a:r>
                      <a:r>
                        <a:rPr lang="zh-CN" altLang="en-US"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和</a:t>
                      </a: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5.5 GHz </a:t>
                      </a:r>
                    </a:p>
                  </a:txBody>
                  <a:tcPr marL="99067" marR="99067" marT="37163" marB="37163" anchor="ctr">
                    <a:solidFill>
                      <a:srgbClr val="EFF8F7"/>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802.11b/g/n</a:t>
                      </a:r>
                    </a:p>
                  </a:txBody>
                  <a:tcPr marL="99067" marR="99067" marT="37163" marB="37163" anchor="ctr">
                    <a:solidFill>
                      <a:srgbClr val="EFF8F7"/>
                    </a:solidFill>
                  </a:tcPr>
                </a:tc>
                <a:extLst>
                  <a:ext uri="{0D108BD9-81ED-4DB2-BD59-A6C34878D82A}">
                    <a16:rowId xmlns:a16="http://schemas.microsoft.com/office/drawing/2014/main" val="10005"/>
                  </a:ext>
                </a:extLst>
              </a:tr>
              <a:tr h="656629">
                <a:tc>
                  <a:txBody>
                    <a:bodyPr/>
                    <a:lstStyle/>
                    <a:p>
                      <a:pPr algn="ctr"/>
                      <a:r>
                        <a:rPr lang="en-CA" sz="1700" b="1" dirty="0">
                          <a:solidFill>
                            <a:schemeClr val="accent5"/>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802.11ad</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7 Gbps</a:t>
                      </a:r>
                    </a:p>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(7000 Mbps)</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2.4 GHz, 5 GHz </a:t>
                      </a:r>
                      <a:r>
                        <a:rPr lang="zh-CN" altLang="en-US"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和</a:t>
                      </a: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 60 GHz </a:t>
                      </a:r>
                    </a:p>
                  </a:txBody>
                  <a:tcPr marL="99067" marR="99067" marT="37163" marB="37163" anchor="ctr">
                    <a:solidFill>
                      <a:schemeClr val="accent6">
                        <a:lumMod val="20000"/>
                        <a:lumOff val="80000"/>
                      </a:schemeClr>
                    </a:solidFill>
                  </a:tcPr>
                </a:tc>
                <a:tc>
                  <a:txBody>
                    <a:bodyPr/>
                    <a:lstStyle/>
                    <a:p>
                      <a:pPr algn="ctr"/>
                      <a:r>
                        <a:rPr lang="en-CA" sz="1300" b="1" dirty="0">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802.11b/g/n/ac</a:t>
                      </a:r>
                    </a:p>
                  </a:txBody>
                  <a:tcPr marL="99067" marR="99067" marT="37163" marB="37163" anchor="ctr">
                    <a:solidFill>
                      <a:schemeClr val="accent6">
                        <a:lumMod val="20000"/>
                        <a:lumOff val="80000"/>
                      </a:schemeClr>
                    </a:solidFill>
                  </a:tcPr>
                </a:tc>
                <a:extLst>
                  <a:ext uri="{0D108BD9-81ED-4DB2-BD59-A6C34878D82A}">
                    <a16:rowId xmlns:a16="http://schemas.microsoft.com/office/drawing/2014/main" val="10006"/>
                  </a:ext>
                </a:extLst>
              </a:tr>
            </a:tbl>
          </a:graphicData>
        </a:graphic>
      </p:graphicFrame>
    </p:spTree>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ltLang="zh-CN" dirty="0"/>
              <a:t>2.4  </a:t>
            </a:r>
            <a:r>
              <a:rPr lang="zh-CN" altLang="zh-CN" dirty="0"/>
              <a:t>信道复用技术</a:t>
            </a:r>
          </a:p>
        </p:txBody>
      </p:sp>
      <p:sp>
        <p:nvSpPr>
          <p:cNvPr id="269315" name="Rectangle 3"/>
          <p:cNvSpPr>
            <a:spLocks noGrp="1" noChangeArrowheads="1"/>
          </p:cNvSpPr>
          <p:nvPr>
            <p:ph idx="1"/>
          </p:nvPr>
        </p:nvSpPr>
        <p:spPr/>
        <p:txBody>
          <a:bodyPr/>
          <a:lstStyle/>
          <a:p>
            <a:r>
              <a:rPr lang="en-US" altLang="zh-CN" dirty="0"/>
              <a:t>2.4.1  </a:t>
            </a:r>
            <a:r>
              <a:rPr lang="zh-CN" altLang="en-US" dirty="0"/>
              <a:t>频分复用</a:t>
            </a:r>
            <a:endParaRPr lang="zh-CN" altLang="zh-CN" dirty="0"/>
          </a:p>
          <a:p>
            <a:r>
              <a:rPr lang="en-US" altLang="zh-CN" dirty="0"/>
              <a:t>2.4.2  </a:t>
            </a:r>
            <a:r>
              <a:rPr lang="zh-CN" altLang="zh-CN" dirty="0"/>
              <a:t>波分复用</a:t>
            </a:r>
          </a:p>
          <a:p>
            <a:r>
              <a:rPr lang="en-US" altLang="zh-CN" dirty="0"/>
              <a:t>2.4.3  </a:t>
            </a:r>
            <a:r>
              <a:rPr lang="zh-CN" altLang="en-US" dirty="0" err="1"/>
              <a:t>时分复用</a:t>
            </a:r>
          </a:p>
          <a:p>
            <a:r>
              <a:rPr lang="en-US" altLang="zh-CN" dirty="0" err="1"/>
              <a:t>2.4.4  </a:t>
            </a:r>
            <a:r>
              <a:rPr lang="zh-CN" altLang="en-US" dirty="0" err="1"/>
              <a:t>码分复用</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  </a:t>
            </a:r>
            <a:r>
              <a:rPr lang="zh-CN" altLang="en-US"/>
              <a:t>信道复用技术</a:t>
            </a:r>
          </a:p>
        </p:txBody>
      </p:sp>
      <p:sp>
        <p:nvSpPr>
          <p:cNvPr id="3" name="内容占位符 2"/>
          <p:cNvSpPr>
            <a:spLocks noGrp="1"/>
          </p:cNvSpPr>
          <p:nvPr>
            <p:ph idx="1"/>
          </p:nvPr>
        </p:nvSpPr>
        <p:spPr>
          <a:xfrm>
            <a:off x="495300" y="1196975"/>
            <a:ext cx="9065895" cy="1042670"/>
          </a:xfrm>
        </p:spPr>
        <p:txBody>
          <a:bodyPr/>
          <a:lstStyle/>
          <a:p>
            <a:r>
              <a:rPr lang="zh-CN" altLang="en-US" sz="2800">
                <a:solidFill>
                  <a:srgbClr val="FF0000"/>
                </a:solidFill>
              </a:rPr>
              <a:t>复用</a:t>
            </a:r>
            <a:r>
              <a:rPr lang="en-US" altLang="zh-CN" sz="2800">
                <a:solidFill>
                  <a:srgbClr val="FF0000"/>
                </a:solidFill>
              </a:rPr>
              <a:t>(multiplexing)</a:t>
            </a:r>
            <a:r>
              <a:rPr lang="zh-CN" altLang="en-US" sz="2800"/>
              <a:t>是通信技术中的基本概念</a:t>
            </a:r>
            <a:r>
              <a:rPr lang="en-US" altLang="zh-CN" sz="2800"/>
              <a:t>,</a:t>
            </a:r>
            <a:r>
              <a:rPr lang="zh-CN" altLang="en-US" sz="2800"/>
              <a:t>复用技术让多个用户共享一个信道。</a:t>
            </a:r>
          </a:p>
        </p:txBody>
      </p:sp>
      <p:pic>
        <p:nvPicPr>
          <p:cNvPr id="4" name="图片 3"/>
          <p:cNvPicPr>
            <a:picLocks noChangeAspect="1"/>
          </p:cNvPicPr>
          <p:nvPr/>
        </p:nvPicPr>
        <p:blipFill>
          <a:blip r:embed="rId2"/>
          <a:stretch>
            <a:fillRect/>
          </a:stretch>
        </p:blipFill>
        <p:spPr>
          <a:xfrm>
            <a:off x="1294130" y="2661920"/>
            <a:ext cx="7592060" cy="1855470"/>
          </a:xfrm>
          <a:prstGeom prst="rect">
            <a:avLst/>
          </a:prstGeom>
        </p:spPr>
      </p:pic>
      <p:pic>
        <p:nvPicPr>
          <p:cNvPr id="5" name="图片 4"/>
          <p:cNvPicPr>
            <a:picLocks noChangeAspect="1"/>
          </p:cNvPicPr>
          <p:nvPr/>
        </p:nvPicPr>
        <p:blipFill>
          <a:blip r:embed="rId3"/>
          <a:stretch>
            <a:fillRect/>
          </a:stretch>
        </p:blipFill>
        <p:spPr>
          <a:xfrm>
            <a:off x="1294130" y="5147310"/>
            <a:ext cx="7592060" cy="153733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2.4.1  </a:t>
            </a:r>
            <a:r>
              <a:rPr lang="zh-CN" altLang="en-US"/>
              <a:t>频分复用</a:t>
            </a:r>
            <a:r>
              <a:rPr lang="en-US" altLang="zh-CN"/>
              <a:t>FDM</a:t>
            </a:r>
          </a:p>
        </p:txBody>
      </p:sp>
      <p:sp>
        <p:nvSpPr>
          <p:cNvPr id="3" name="内容占位符 2"/>
          <p:cNvSpPr>
            <a:spLocks noGrp="1"/>
          </p:cNvSpPr>
          <p:nvPr>
            <p:ph idx="1"/>
          </p:nvPr>
        </p:nvSpPr>
        <p:spPr>
          <a:xfrm>
            <a:off x="495300" y="1196975"/>
            <a:ext cx="9065895" cy="1042670"/>
          </a:xfrm>
        </p:spPr>
        <p:txBody>
          <a:bodyPr/>
          <a:lstStyle/>
          <a:p>
            <a:r>
              <a:rPr lang="zh-CN" altLang="en-US" sz="2800">
                <a:solidFill>
                  <a:srgbClr val="FF0000"/>
                </a:solidFill>
              </a:rPr>
              <a:t>频分复用</a:t>
            </a:r>
            <a:r>
              <a:rPr lang="zh-CN" altLang="en-US" sz="2800"/>
              <a:t>按频率划分不同信道，用户在分到一定的频带后，在通信过程中始终占用整个频带。</a:t>
            </a:r>
          </a:p>
        </p:txBody>
      </p:sp>
      <p:sp>
        <p:nvSpPr>
          <p:cNvPr id="6" name="内容占位符 2"/>
          <p:cNvSpPr>
            <a:spLocks noGrp="1"/>
          </p:cNvSpPr>
          <p:nvPr/>
        </p:nvSpPr>
        <p:spPr>
          <a:xfrm>
            <a:off x="495300" y="2329180"/>
            <a:ext cx="9065895" cy="1042670"/>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r>
              <a:rPr lang="zh-CN" altLang="en-US" sz="2800">
                <a:solidFill>
                  <a:srgbClr val="FF0000"/>
                </a:solidFill>
              </a:rPr>
              <a:t>频分复用</a:t>
            </a:r>
            <a:r>
              <a:rPr lang="zh-CN" altLang="en-US" sz="2800"/>
              <a:t>是所有用户在同样的时间占用不同的带宽资源（这里的</a:t>
            </a:r>
            <a:r>
              <a:rPr lang="en-US" altLang="zh-CN" sz="2800"/>
              <a:t>“</a:t>
            </a:r>
            <a:r>
              <a:rPr lang="zh-CN" altLang="en-US" sz="2800"/>
              <a:t>带宽</a:t>
            </a:r>
            <a:r>
              <a:rPr lang="en-US" altLang="zh-CN" sz="2800"/>
              <a:t>”</a:t>
            </a:r>
            <a:r>
              <a:rPr lang="zh-CN" altLang="en-US" sz="2800"/>
              <a:t>是频率带宽而不是数据的发送速率）</a:t>
            </a:r>
          </a:p>
        </p:txBody>
      </p:sp>
      <p:pic>
        <p:nvPicPr>
          <p:cNvPr id="8" name="图片 7"/>
          <p:cNvPicPr>
            <a:picLocks noChangeAspect="1"/>
          </p:cNvPicPr>
          <p:nvPr/>
        </p:nvPicPr>
        <p:blipFill>
          <a:blip r:embed="rId2"/>
          <a:stretch>
            <a:fillRect/>
          </a:stretch>
        </p:blipFill>
        <p:spPr>
          <a:xfrm>
            <a:off x="1908810" y="3644900"/>
            <a:ext cx="6409055" cy="298513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2.4.1  </a:t>
            </a:r>
            <a:r>
              <a:rPr lang="zh-CN" altLang="en-US"/>
              <a:t>频分复用</a:t>
            </a:r>
            <a:r>
              <a:rPr lang="en-US" altLang="zh-CN"/>
              <a:t>FDM</a:t>
            </a:r>
          </a:p>
        </p:txBody>
      </p:sp>
      <p:sp>
        <p:nvSpPr>
          <p:cNvPr id="3" name="内容占位符 2"/>
          <p:cNvSpPr>
            <a:spLocks noGrp="1"/>
          </p:cNvSpPr>
          <p:nvPr>
            <p:ph idx="1"/>
          </p:nvPr>
        </p:nvSpPr>
        <p:spPr>
          <a:xfrm>
            <a:off x="495300" y="1196975"/>
            <a:ext cx="9065895" cy="1499870"/>
          </a:xfrm>
        </p:spPr>
        <p:txBody>
          <a:bodyPr/>
          <a:lstStyle/>
          <a:p>
            <a:r>
              <a:rPr lang="zh-CN" altLang="en-US" sz="2800">
                <a:solidFill>
                  <a:schemeClr val="tx1"/>
                </a:solidFill>
              </a:rPr>
              <a:t>多路的原始信号在频分复用前，首先通过</a:t>
            </a:r>
            <a:r>
              <a:rPr lang="zh-CN" altLang="en-US" sz="2800">
                <a:solidFill>
                  <a:srgbClr val="FF0000"/>
                </a:solidFill>
              </a:rPr>
              <a:t>频谱搬移</a:t>
            </a:r>
            <a:r>
              <a:rPr lang="zh-CN" altLang="en-US" sz="2800">
                <a:solidFill>
                  <a:schemeClr val="tx1"/>
                </a:solidFill>
              </a:rPr>
              <a:t>技术，将各路信号的频谱搬移到物理信道频谱的不同段上，这可以通过不同的</a:t>
            </a:r>
            <a:r>
              <a:rPr lang="zh-CN" altLang="en-US" sz="2800">
                <a:solidFill>
                  <a:srgbClr val="FF0000"/>
                </a:solidFill>
              </a:rPr>
              <a:t>载波调频调制</a:t>
            </a:r>
            <a:r>
              <a:rPr lang="zh-CN" altLang="en-US" sz="2800">
                <a:solidFill>
                  <a:schemeClr val="tx1"/>
                </a:solidFill>
              </a:rPr>
              <a:t>来实现。</a:t>
            </a:r>
          </a:p>
        </p:txBody>
      </p:sp>
      <p:pic>
        <p:nvPicPr>
          <p:cNvPr id="4" name="图片 3"/>
          <p:cNvPicPr>
            <a:picLocks noChangeAspect="1"/>
          </p:cNvPicPr>
          <p:nvPr/>
        </p:nvPicPr>
        <p:blipFill>
          <a:blip r:embed="rId2"/>
          <a:stretch>
            <a:fillRect/>
          </a:stretch>
        </p:blipFill>
        <p:spPr>
          <a:xfrm>
            <a:off x="1560195" y="3102610"/>
            <a:ext cx="7372350" cy="29718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2.4.2  </a:t>
            </a:r>
            <a:r>
              <a:rPr lang="zh-CN" altLang="en-US"/>
              <a:t>波分复用</a:t>
            </a:r>
            <a:r>
              <a:rPr lang="en-US" altLang="zh-CN"/>
              <a:t>WDM</a:t>
            </a:r>
          </a:p>
        </p:txBody>
      </p:sp>
      <p:sp>
        <p:nvSpPr>
          <p:cNvPr id="3" name="内容占位符 2"/>
          <p:cNvSpPr>
            <a:spLocks noGrp="1"/>
          </p:cNvSpPr>
          <p:nvPr>
            <p:ph idx="1"/>
          </p:nvPr>
        </p:nvSpPr>
        <p:spPr>
          <a:xfrm>
            <a:off x="495300" y="1196975"/>
            <a:ext cx="9065895" cy="3251200"/>
          </a:xfrm>
        </p:spPr>
        <p:txBody>
          <a:bodyPr/>
          <a:lstStyle/>
          <a:p>
            <a:r>
              <a:rPr lang="zh-CN" altLang="en-US" sz="2800">
                <a:solidFill>
                  <a:schemeClr val="tx1"/>
                </a:solidFill>
              </a:rPr>
              <a:t>波分复用就是</a:t>
            </a:r>
            <a:r>
              <a:rPr lang="zh-CN" altLang="en-US" sz="2800">
                <a:solidFill>
                  <a:srgbClr val="FF0000"/>
                </a:solidFill>
              </a:rPr>
              <a:t>光的频分复用</a:t>
            </a:r>
            <a:r>
              <a:rPr lang="zh-CN" altLang="en-US" sz="2800">
                <a:solidFill>
                  <a:schemeClr val="tx1"/>
                </a:solidFill>
              </a:rPr>
              <a:t>。整个波长频带被划分为若干个</a:t>
            </a:r>
            <a:r>
              <a:rPr lang="zh-CN" altLang="en-US" sz="2800">
                <a:solidFill>
                  <a:srgbClr val="FF0000"/>
                </a:solidFill>
              </a:rPr>
              <a:t>波长范围</a:t>
            </a:r>
            <a:r>
              <a:rPr lang="zh-CN" altLang="en-US" sz="2800">
                <a:solidFill>
                  <a:schemeClr val="tx1"/>
                </a:solidFill>
              </a:rPr>
              <a:t>，每个用户占用一个波长范围来传输。</a:t>
            </a:r>
          </a:p>
          <a:p>
            <a:r>
              <a:rPr lang="zh-CN" altLang="en-US" sz="2800">
                <a:solidFill>
                  <a:schemeClr val="tx1"/>
                </a:solidFill>
              </a:rPr>
              <a:t>在一根光纤上，复用多路频率接近的光载波信号的方式称为</a:t>
            </a:r>
            <a:r>
              <a:rPr lang="zh-CN" altLang="en-US" sz="2800">
                <a:solidFill>
                  <a:srgbClr val="FF0000"/>
                </a:solidFill>
              </a:rPr>
              <a:t>波分复用</a:t>
            </a:r>
            <a:r>
              <a:rPr lang="en-US" altLang="zh-CN" sz="2800">
                <a:solidFill>
                  <a:srgbClr val="FF0000"/>
                </a:solidFill>
              </a:rPr>
              <a:t>WDM</a:t>
            </a:r>
            <a:r>
              <a:rPr lang="zh-CN" altLang="en-US" sz="2800">
                <a:solidFill>
                  <a:schemeClr val="tx1"/>
                </a:solidFill>
              </a:rPr>
              <a:t>。</a:t>
            </a:r>
          </a:p>
          <a:p>
            <a:r>
              <a:rPr lang="zh-CN" altLang="en-US" sz="2800">
                <a:solidFill>
                  <a:schemeClr val="tx1"/>
                </a:solidFill>
              </a:rPr>
              <a:t>在一根光纤上复用几十路或更多路数的频率接近的光载波信号称为</a:t>
            </a:r>
            <a:r>
              <a:rPr lang="zh-CN" altLang="en-US" sz="2800">
                <a:solidFill>
                  <a:srgbClr val="FF0000"/>
                </a:solidFill>
              </a:rPr>
              <a:t>密集波分复用</a:t>
            </a:r>
            <a:r>
              <a:rPr lang="en-US" altLang="zh-CN" sz="2800">
                <a:solidFill>
                  <a:srgbClr val="FF0000"/>
                </a:solidFill>
              </a:rPr>
              <a:t>DWDM</a:t>
            </a:r>
            <a:r>
              <a:rPr lang="zh-CN" altLang="en-US" sz="2800">
                <a:solidFill>
                  <a:schemeClr val="tx1"/>
                </a:solidFill>
              </a:rPr>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2.4.2  </a:t>
            </a:r>
            <a:r>
              <a:rPr lang="zh-CN" altLang="en-US"/>
              <a:t>波分复用</a:t>
            </a:r>
            <a:r>
              <a:rPr lang="en-US" altLang="zh-CN"/>
              <a:t>WDM</a:t>
            </a:r>
          </a:p>
        </p:txBody>
      </p:sp>
      <p:sp>
        <p:nvSpPr>
          <p:cNvPr id="3" name="内容占位符 2"/>
          <p:cNvSpPr>
            <a:spLocks noGrp="1"/>
          </p:cNvSpPr>
          <p:nvPr>
            <p:ph idx="1"/>
          </p:nvPr>
        </p:nvSpPr>
        <p:spPr>
          <a:xfrm>
            <a:off x="495300" y="1196975"/>
            <a:ext cx="9065895" cy="2087245"/>
          </a:xfrm>
        </p:spPr>
        <p:txBody>
          <a:bodyPr/>
          <a:lstStyle/>
          <a:p>
            <a:r>
              <a:rPr lang="zh-CN" altLang="en-US" sz="2800">
                <a:solidFill>
                  <a:schemeClr val="tx1"/>
                </a:solidFill>
              </a:rPr>
              <a:t>如图，</a:t>
            </a:r>
            <a:r>
              <a:rPr lang="en-US" altLang="zh-CN" sz="2800">
                <a:solidFill>
                  <a:schemeClr val="tx1"/>
                </a:solidFill>
              </a:rPr>
              <a:t>8</a:t>
            </a:r>
            <a:r>
              <a:rPr lang="zh-CN" altLang="en-US" sz="2800">
                <a:solidFill>
                  <a:schemeClr val="tx1"/>
                </a:solidFill>
              </a:rPr>
              <a:t>路传输速率为</a:t>
            </a:r>
            <a:r>
              <a:rPr lang="en-US" altLang="zh-CN" sz="2800">
                <a:solidFill>
                  <a:schemeClr val="tx1"/>
                </a:solidFill>
              </a:rPr>
              <a:t>2.5Gbit/s</a:t>
            </a:r>
            <a:r>
              <a:rPr lang="zh-CN" altLang="en-US" sz="2800">
                <a:solidFill>
                  <a:schemeClr val="tx1"/>
                </a:solidFill>
              </a:rPr>
              <a:t>的光载波。经光的调制后，分别将波长变换到</a:t>
            </a:r>
            <a:r>
              <a:rPr lang="en-US" altLang="zh-CN" sz="2800">
                <a:solidFill>
                  <a:schemeClr val="tx1"/>
                </a:solidFill>
              </a:rPr>
              <a:t>1550~1557nm</a:t>
            </a:r>
            <a:r>
              <a:rPr lang="zh-CN" altLang="en-US" sz="2800">
                <a:solidFill>
                  <a:schemeClr val="tx1"/>
                </a:solidFill>
              </a:rPr>
              <a:t>，这</a:t>
            </a:r>
            <a:r>
              <a:rPr lang="en-US" altLang="zh-CN" sz="2800">
                <a:solidFill>
                  <a:schemeClr val="tx1"/>
                </a:solidFill>
              </a:rPr>
              <a:t>8</a:t>
            </a:r>
            <a:r>
              <a:rPr lang="zh-CN" altLang="en-US" sz="2800">
                <a:solidFill>
                  <a:schemeClr val="tx1"/>
                </a:solidFill>
              </a:rPr>
              <a:t>个光载波经过光复用器后，在一根光纤上传输，因此，因此在一根光纤上的速率达到</a:t>
            </a:r>
            <a:r>
              <a:rPr lang="en-US" altLang="zh-CN" sz="2800">
                <a:solidFill>
                  <a:srgbClr val="FF0000"/>
                </a:solidFill>
              </a:rPr>
              <a:t>8 * 2.5Gb/s=20Gb/s</a:t>
            </a:r>
            <a:r>
              <a:rPr lang="zh-CN" altLang="en-US" sz="2800">
                <a:solidFill>
                  <a:schemeClr val="tx1"/>
                </a:solidFill>
              </a:rPr>
              <a:t>。</a:t>
            </a:r>
          </a:p>
        </p:txBody>
      </p:sp>
      <p:pic>
        <p:nvPicPr>
          <p:cNvPr id="4" name="图片 3"/>
          <p:cNvPicPr>
            <a:picLocks noChangeAspect="1"/>
          </p:cNvPicPr>
          <p:nvPr/>
        </p:nvPicPr>
        <p:blipFill>
          <a:blip r:embed="rId2"/>
          <a:stretch>
            <a:fillRect/>
          </a:stretch>
        </p:blipFill>
        <p:spPr>
          <a:xfrm>
            <a:off x="1229995" y="3413760"/>
            <a:ext cx="7740015" cy="321564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2.4.3  </a:t>
            </a:r>
            <a:r>
              <a:rPr lang="zh-CN" altLang="en-US"/>
              <a:t>时分复用</a:t>
            </a:r>
            <a:r>
              <a:rPr lang="en-US" altLang="zh-CN"/>
              <a:t>TDM</a:t>
            </a:r>
          </a:p>
        </p:txBody>
      </p:sp>
      <p:sp>
        <p:nvSpPr>
          <p:cNvPr id="3" name="内容占位符 2"/>
          <p:cNvSpPr>
            <a:spLocks noGrp="1"/>
          </p:cNvSpPr>
          <p:nvPr>
            <p:ph idx="1"/>
          </p:nvPr>
        </p:nvSpPr>
        <p:spPr>
          <a:xfrm>
            <a:off x="495300" y="1196975"/>
            <a:ext cx="9065895" cy="4435475"/>
          </a:xfrm>
        </p:spPr>
        <p:txBody>
          <a:bodyPr/>
          <a:lstStyle/>
          <a:p>
            <a:r>
              <a:rPr lang="zh-CN" altLang="en-US" sz="2800">
                <a:solidFill>
                  <a:schemeClr val="tx1"/>
                </a:solidFill>
              </a:rPr>
              <a:t>时分复用则是将时间划分为一段段等长的</a:t>
            </a:r>
            <a:r>
              <a:rPr lang="zh-CN" altLang="en-US" sz="2800">
                <a:solidFill>
                  <a:srgbClr val="FF0000"/>
                </a:solidFill>
              </a:rPr>
              <a:t>时分复用帧（</a:t>
            </a:r>
            <a:r>
              <a:rPr lang="en-US" altLang="zh-CN" sz="2800">
                <a:solidFill>
                  <a:srgbClr val="FF0000"/>
                </a:solidFill>
              </a:rPr>
              <a:t>TDM</a:t>
            </a:r>
            <a:r>
              <a:rPr lang="zh-CN" altLang="en-US" sz="2800">
                <a:solidFill>
                  <a:srgbClr val="FF0000"/>
                </a:solidFill>
              </a:rPr>
              <a:t>帧）</a:t>
            </a:r>
            <a:r>
              <a:rPr lang="zh-CN" altLang="en-US" sz="2800">
                <a:solidFill>
                  <a:schemeClr val="tx1"/>
                </a:solidFill>
              </a:rPr>
              <a:t>。每个时分复用的用户在每一个</a:t>
            </a:r>
            <a:r>
              <a:rPr lang="en-US" altLang="zh-CN" sz="2800">
                <a:solidFill>
                  <a:schemeClr val="tx1"/>
                </a:solidFill>
              </a:rPr>
              <a:t>TDM</a:t>
            </a:r>
            <a:r>
              <a:rPr lang="zh-CN" altLang="en-US" sz="2800">
                <a:solidFill>
                  <a:schemeClr val="tx1"/>
                </a:solidFill>
              </a:rPr>
              <a:t>帧中占用固定序号的时隙。</a:t>
            </a:r>
          </a:p>
          <a:p>
            <a:r>
              <a:rPr lang="zh-CN" altLang="en-US" sz="2800">
                <a:solidFill>
                  <a:schemeClr val="tx1"/>
                </a:solidFill>
              </a:rPr>
              <a:t>每一个用户所占用的时隙是周期性的出现（其周期就是</a:t>
            </a:r>
            <a:r>
              <a:rPr lang="en-US" altLang="zh-CN" sz="2800">
                <a:solidFill>
                  <a:schemeClr val="tx1"/>
                </a:solidFill>
              </a:rPr>
              <a:t>TDM</a:t>
            </a:r>
            <a:r>
              <a:rPr lang="zh-CN" altLang="en-US" sz="2800">
                <a:solidFill>
                  <a:schemeClr val="tx1"/>
                </a:solidFill>
              </a:rPr>
              <a:t>帧的长度）。</a:t>
            </a:r>
            <a:r>
              <a:rPr lang="en-US" altLang="zh-CN" sz="2800">
                <a:solidFill>
                  <a:schemeClr val="tx1"/>
                </a:solidFill>
              </a:rPr>
              <a:t>TDM</a:t>
            </a:r>
            <a:r>
              <a:rPr lang="zh-CN" altLang="en-US" sz="2800">
                <a:solidFill>
                  <a:schemeClr val="tx1"/>
                </a:solidFill>
              </a:rPr>
              <a:t>信号也称为等时信号。</a:t>
            </a:r>
          </a:p>
          <a:p>
            <a:r>
              <a:rPr lang="zh-CN" altLang="en-US" sz="2800">
                <a:solidFill>
                  <a:schemeClr val="tx1"/>
                </a:solidFill>
              </a:rPr>
              <a:t>时分复用的所有用户是在</a:t>
            </a:r>
            <a:r>
              <a:rPr lang="zh-CN" altLang="en-US" sz="2800">
                <a:solidFill>
                  <a:srgbClr val="FF0000"/>
                </a:solidFill>
              </a:rPr>
              <a:t>不同时间</a:t>
            </a:r>
            <a:r>
              <a:rPr lang="zh-CN" altLang="en-US" sz="2800">
                <a:solidFill>
                  <a:schemeClr val="tx1"/>
                </a:solidFill>
              </a:rPr>
              <a:t>占用同样的</a:t>
            </a:r>
            <a:r>
              <a:rPr lang="zh-CN" altLang="en-US" sz="2800">
                <a:solidFill>
                  <a:srgbClr val="FF0000"/>
                </a:solidFill>
              </a:rPr>
              <a:t>频带宽度</a:t>
            </a:r>
            <a:r>
              <a:rPr lang="zh-CN" altLang="en-US" sz="2800">
                <a:solidFill>
                  <a:schemeClr val="tx1"/>
                </a:solidFill>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2.4.3  </a:t>
            </a:r>
            <a:r>
              <a:rPr lang="zh-CN" altLang="en-US">
                <a:sym typeface="+mn-ea"/>
              </a:rPr>
              <a:t>时分复用</a:t>
            </a:r>
            <a:r>
              <a:rPr lang="en-US" altLang="zh-CN">
                <a:sym typeface="+mn-ea"/>
              </a:rPr>
              <a:t>TDM</a:t>
            </a:r>
            <a:endParaRPr lang="zh-CN" altLang="en-US"/>
          </a:p>
        </p:txBody>
      </p:sp>
      <p:pic>
        <p:nvPicPr>
          <p:cNvPr id="4" name="图片 3"/>
          <p:cNvPicPr>
            <a:picLocks noChangeAspect="1"/>
          </p:cNvPicPr>
          <p:nvPr/>
        </p:nvPicPr>
        <p:blipFill>
          <a:blip r:embed="rId2"/>
          <a:stretch>
            <a:fillRect/>
          </a:stretch>
        </p:blipFill>
        <p:spPr>
          <a:xfrm>
            <a:off x="758825" y="2210435"/>
            <a:ext cx="8802370" cy="2976245"/>
          </a:xfrm>
          <a:prstGeom prst="rect">
            <a:avLst/>
          </a:prstGeom>
        </p:spPr>
      </p:pic>
      <p:sp>
        <p:nvSpPr>
          <p:cNvPr id="5" name="文本框 4"/>
          <p:cNvSpPr txBox="1"/>
          <p:nvPr/>
        </p:nvSpPr>
        <p:spPr>
          <a:xfrm>
            <a:off x="4079240" y="5356225"/>
            <a:ext cx="2034540" cy="583565"/>
          </a:xfrm>
          <a:prstGeom prst="rect">
            <a:avLst/>
          </a:prstGeom>
          <a:noFill/>
        </p:spPr>
        <p:txBody>
          <a:bodyPr wrap="square" rtlCol="0">
            <a:spAutoFit/>
          </a:bodyPr>
          <a:lstStyle/>
          <a:p>
            <a:r>
              <a:rPr lang="zh-CN" altLang="en-US" sz="3200" b="1" kern="0">
                <a:latin typeface="+mn-lt"/>
                <a:ea typeface="黑体" panose="02010609060101010101" pitchFamily="2" charset="-122"/>
              </a:rPr>
              <a:t>时分复用</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2.4.3  </a:t>
            </a:r>
            <a:r>
              <a:rPr lang="zh-CN" altLang="en-US">
                <a:sym typeface="+mn-ea"/>
              </a:rPr>
              <a:t>时分复用</a:t>
            </a:r>
            <a:r>
              <a:rPr lang="en-US" altLang="zh-CN">
                <a:sym typeface="+mn-ea"/>
              </a:rPr>
              <a:t>TDM</a:t>
            </a:r>
            <a:endParaRPr lang="zh-CN" altLang="en-US"/>
          </a:p>
        </p:txBody>
      </p:sp>
      <p:pic>
        <p:nvPicPr>
          <p:cNvPr id="4" name="图片 3"/>
          <p:cNvPicPr>
            <a:picLocks noChangeAspect="1"/>
          </p:cNvPicPr>
          <p:nvPr/>
        </p:nvPicPr>
        <p:blipFill>
          <a:blip r:embed="rId2"/>
          <a:stretch>
            <a:fillRect/>
          </a:stretch>
        </p:blipFill>
        <p:spPr>
          <a:xfrm>
            <a:off x="742315" y="2966720"/>
            <a:ext cx="8743950" cy="2546350"/>
          </a:xfrm>
          <a:prstGeom prst="rect">
            <a:avLst/>
          </a:prstGeom>
        </p:spPr>
      </p:pic>
      <p:sp>
        <p:nvSpPr>
          <p:cNvPr id="5" name="文本框 4"/>
          <p:cNvSpPr txBox="1"/>
          <p:nvPr/>
        </p:nvSpPr>
        <p:spPr>
          <a:xfrm>
            <a:off x="1544955" y="1650365"/>
            <a:ext cx="7000875" cy="583565"/>
          </a:xfrm>
          <a:prstGeom prst="rect">
            <a:avLst/>
          </a:prstGeom>
          <a:noFill/>
        </p:spPr>
        <p:txBody>
          <a:bodyPr wrap="square" rtlCol="0">
            <a:spAutoFit/>
          </a:bodyPr>
          <a:lstStyle/>
          <a:p>
            <a:r>
              <a:rPr lang="zh-CN" altLang="en-US" sz="3200" b="1" kern="0">
                <a:latin typeface="+mn-lt"/>
                <a:ea typeface="黑体" panose="02010609060101010101" pitchFamily="2" charset="-122"/>
              </a:rPr>
              <a:t>时分复用可能会造成线路资源的浪费</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统计时分复用</a:t>
            </a:r>
            <a:r>
              <a:rPr lang="en-US" altLang="zh-CN"/>
              <a:t>STDM</a:t>
            </a:r>
          </a:p>
        </p:txBody>
      </p:sp>
      <p:pic>
        <p:nvPicPr>
          <p:cNvPr id="4" name="图片 3"/>
          <p:cNvPicPr>
            <a:picLocks noChangeAspect="1"/>
          </p:cNvPicPr>
          <p:nvPr/>
        </p:nvPicPr>
        <p:blipFill>
          <a:blip r:embed="rId2"/>
          <a:stretch>
            <a:fillRect/>
          </a:stretch>
        </p:blipFill>
        <p:spPr>
          <a:xfrm>
            <a:off x="671195" y="3333115"/>
            <a:ext cx="8971280" cy="2651760"/>
          </a:xfrm>
          <a:prstGeom prst="rect">
            <a:avLst/>
          </a:prstGeom>
        </p:spPr>
      </p:pic>
      <p:sp>
        <p:nvSpPr>
          <p:cNvPr id="6" name="内容占位符 5"/>
          <p:cNvSpPr>
            <a:spLocks noGrp="1"/>
          </p:cNvSpPr>
          <p:nvPr>
            <p:ph idx="1"/>
          </p:nvPr>
        </p:nvSpPr>
        <p:spPr>
          <a:xfrm>
            <a:off x="495300" y="1196975"/>
            <a:ext cx="9065895" cy="1590040"/>
          </a:xfrm>
        </p:spPr>
        <p:txBody>
          <a:bodyPr/>
          <a:lstStyle/>
          <a:p>
            <a:r>
              <a:rPr lang="zh-CN" altLang="en-US" sz="2800">
                <a:solidFill>
                  <a:srgbClr val="FF0000"/>
                </a:solidFill>
              </a:rPr>
              <a:t>统计时分复用</a:t>
            </a:r>
            <a:r>
              <a:rPr lang="en-US" altLang="zh-CN" sz="2800">
                <a:solidFill>
                  <a:srgbClr val="FF0000"/>
                </a:solidFill>
              </a:rPr>
              <a:t>STDM</a:t>
            </a:r>
            <a:r>
              <a:rPr lang="zh-CN" altLang="en-US" sz="2800">
                <a:solidFill>
                  <a:schemeClr val="tx1"/>
                </a:solidFill>
              </a:rPr>
              <a:t>是一种改进的</a:t>
            </a:r>
            <a:r>
              <a:rPr lang="en-US" altLang="zh-CN" sz="2800">
                <a:solidFill>
                  <a:schemeClr val="tx1"/>
                </a:solidFill>
              </a:rPr>
              <a:t>TDM</a:t>
            </a:r>
            <a:r>
              <a:rPr lang="zh-CN" altLang="en-US" sz="2800">
                <a:solidFill>
                  <a:schemeClr val="tx1"/>
                </a:solidFill>
              </a:rPr>
              <a:t>，</a:t>
            </a:r>
            <a:r>
              <a:rPr lang="en-US" altLang="zh-CN" sz="2800">
                <a:solidFill>
                  <a:schemeClr val="tx1"/>
                </a:solidFill>
              </a:rPr>
              <a:t>STDM</a:t>
            </a:r>
            <a:r>
              <a:rPr lang="zh-CN" altLang="en-US" sz="2800">
                <a:solidFill>
                  <a:schemeClr val="tx1"/>
                </a:solidFill>
              </a:rPr>
              <a:t>帧不是为用户固定分配时隙，而是按需动态分配时隙，他能提高信道的利用率</a:t>
            </a:r>
            <a:r>
              <a:rPr lang="en-US" altLang="zh-CN" sz="2800">
                <a:solidFill>
                  <a:schemeClr val="tx1"/>
                </a:solidFill>
              </a:rPr>
              <a:t>2~4</a:t>
            </a:r>
            <a:r>
              <a:rPr lang="zh-CN" altLang="en-US" sz="2800">
                <a:solidFill>
                  <a:schemeClr val="tx1"/>
                </a:solidFill>
              </a:rPr>
              <a:t>倍。</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统计时分复用</a:t>
            </a:r>
            <a:r>
              <a:rPr lang="en-US" altLang="zh-CN"/>
              <a:t>STDM</a:t>
            </a:r>
          </a:p>
        </p:txBody>
      </p:sp>
      <p:sp>
        <p:nvSpPr>
          <p:cNvPr id="11" name="文本框 10"/>
          <p:cNvSpPr txBox="1"/>
          <p:nvPr/>
        </p:nvSpPr>
        <p:spPr>
          <a:xfrm>
            <a:off x="524510" y="1233805"/>
            <a:ext cx="9109075" cy="5262245"/>
          </a:xfrm>
          <a:prstGeom prst="rect">
            <a:avLst/>
          </a:prstGeom>
          <a:noFill/>
        </p:spPr>
        <p:txBody>
          <a:bodyPr wrap="square" rtlCol="0">
            <a:spAutoFit/>
          </a:bodyPr>
          <a:lstStyle/>
          <a:p>
            <a:pPr algn="just"/>
            <a:r>
              <a:rPr lang="en-US" altLang="zh-CN" sz="2800" b="1" kern="0">
                <a:latin typeface="+mn-lt"/>
                <a:ea typeface="黑体" panose="02010609060101010101" pitchFamily="2" charset="-122"/>
              </a:rPr>
              <a:t>      </a:t>
            </a:r>
            <a:r>
              <a:rPr lang="zh-CN" altLang="en-US" sz="2800" b="1" kern="0">
                <a:latin typeface="+mn-lt"/>
                <a:ea typeface="黑体" panose="02010609060101010101" pitchFamily="2" charset="-122"/>
              </a:rPr>
              <a:t>统计时分复用使用STDM帧来发送复用的数据。每STDM帧中的时隙数小于连接在集中器上的用户数。</a:t>
            </a:r>
          </a:p>
          <a:p>
            <a:endParaRPr lang="zh-CN" altLang="en-US" sz="2800" b="1" kern="0">
              <a:latin typeface="+mn-lt"/>
              <a:ea typeface="黑体" panose="02010609060101010101" pitchFamily="2" charset="-122"/>
            </a:endParaRPr>
          </a:p>
          <a:p>
            <a:pPr algn="just"/>
            <a:r>
              <a:rPr lang="zh-CN" altLang="en-US" sz="2800" b="1" kern="0">
                <a:latin typeface="+mn-lt"/>
                <a:ea typeface="黑体" panose="02010609060101010101" pitchFamily="2" charset="-122"/>
              </a:rPr>
              <a:t>      在输出线路上，某一个用户所占用的时隙并不是周期性地出现，因此统计复用也称为</a:t>
            </a:r>
            <a:r>
              <a:rPr lang="zh-CN" altLang="en-US" sz="2800" b="1" kern="0">
                <a:solidFill>
                  <a:srgbClr val="FF0000"/>
                </a:solidFill>
                <a:latin typeface="+mn-lt"/>
                <a:ea typeface="黑体" panose="02010609060101010101" pitchFamily="2" charset="-122"/>
              </a:rPr>
              <a:t>异步时分复用</a:t>
            </a:r>
            <a:r>
              <a:rPr lang="zh-CN" altLang="en-US" sz="2800" b="1" kern="0">
                <a:latin typeface="+mn-lt"/>
                <a:ea typeface="黑体" panose="02010609060101010101" pitchFamily="2" charset="-122"/>
              </a:rPr>
              <a:t>。</a:t>
            </a:r>
          </a:p>
          <a:p>
            <a:endParaRPr lang="zh-CN" altLang="en-US" sz="2800" b="1" kern="0">
              <a:latin typeface="+mn-lt"/>
              <a:ea typeface="黑体" panose="02010609060101010101" pitchFamily="2" charset="-122"/>
            </a:endParaRPr>
          </a:p>
          <a:p>
            <a:pPr algn="just"/>
            <a:r>
              <a:rPr lang="zh-CN" altLang="en-US" sz="2800" b="1" kern="0">
                <a:latin typeface="+mn-lt"/>
                <a:ea typeface="黑体" panose="02010609060101010101" pitchFamily="2" charset="-122"/>
              </a:rPr>
              <a:t>      由于STDM帧中的时隙不是固定地分配给某个用户，输出线路上每个时隙之前地短时隙中必须有用户的地址信息。</a:t>
            </a:r>
          </a:p>
          <a:p>
            <a:endParaRPr lang="zh-CN" altLang="en-US" sz="2800" b="1" kern="0">
              <a:latin typeface="+mn-lt"/>
              <a:ea typeface="黑体" panose="02010609060101010101" pitchFamily="2" charset="-122"/>
            </a:endParaRPr>
          </a:p>
          <a:p>
            <a:pPr algn="just"/>
            <a:r>
              <a:rPr lang="zh-CN" altLang="en-US" sz="2800" b="1" kern="0">
                <a:latin typeface="+mn-lt"/>
                <a:ea typeface="黑体" panose="02010609060101010101" pitchFamily="2" charset="-122"/>
              </a:rPr>
              <a:t>      STDM实现技术非常复杂，</a:t>
            </a:r>
            <a:r>
              <a:rPr lang="zh-CN" altLang="en-US" sz="2800" b="1" kern="0">
                <a:solidFill>
                  <a:srgbClr val="FF0000"/>
                </a:solidFill>
                <a:latin typeface="+mn-lt"/>
                <a:ea typeface="黑体" panose="02010609060101010101" pitchFamily="2" charset="-122"/>
              </a:rPr>
              <a:t>通常只在高速远程通信中使用</a:t>
            </a:r>
            <a:r>
              <a:rPr lang="zh-CN" altLang="en-US" sz="2800" b="1" kern="0">
                <a:latin typeface="+mn-lt"/>
                <a:ea typeface="黑体" panose="02010609060101010101" pitchFamily="2" charset="-122"/>
              </a:rPr>
              <a:t>，不适用于用户平均使用信道地情况。</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2.4.3  </a:t>
            </a:r>
            <a:r>
              <a:rPr lang="zh-CN" altLang="en-US"/>
              <a:t>码分复用</a:t>
            </a:r>
            <a:r>
              <a:rPr lang="en-US" altLang="zh-CN"/>
              <a:t>CDM</a:t>
            </a:r>
          </a:p>
        </p:txBody>
      </p:sp>
      <p:pic>
        <p:nvPicPr>
          <p:cNvPr id="4" name="图片 3"/>
          <p:cNvPicPr>
            <a:picLocks noChangeAspect="1"/>
          </p:cNvPicPr>
          <p:nvPr/>
        </p:nvPicPr>
        <p:blipFill>
          <a:blip r:embed="rId2"/>
          <a:stretch>
            <a:fillRect/>
          </a:stretch>
        </p:blipFill>
        <p:spPr>
          <a:xfrm>
            <a:off x="6090920" y="1273175"/>
            <a:ext cx="3178810" cy="5341620"/>
          </a:xfrm>
          <a:prstGeom prst="rect">
            <a:avLst/>
          </a:prstGeom>
        </p:spPr>
      </p:pic>
      <p:sp>
        <p:nvSpPr>
          <p:cNvPr id="6" name="内容占位符 5"/>
          <p:cNvSpPr>
            <a:spLocks noGrp="1"/>
          </p:cNvSpPr>
          <p:nvPr>
            <p:ph idx="1"/>
          </p:nvPr>
        </p:nvSpPr>
        <p:spPr>
          <a:xfrm>
            <a:off x="495300" y="1196975"/>
            <a:ext cx="4816475" cy="5661660"/>
          </a:xfrm>
        </p:spPr>
        <p:txBody>
          <a:bodyPr/>
          <a:lstStyle/>
          <a:p>
            <a:pPr algn="just"/>
            <a:r>
              <a:rPr lang="zh-CN" altLang="en-US" sz="2800">
                <a:solidFill>
                  <a:schemeClr val="tx1"/>
                </a:solidFill>
              </a:rPr>
              <a:t>常用的名词是</a:t>
            </a:r>
            <a:r>
              <a:rPr lang="zh-CN" altLang="en-US" sz="2800">
                <a:solidFill>
                  <a:srgbClr val="FF0000"/>
                </a:solidFill>
              </a:rPr>
              <a:t>码分多址</a:t>
            </a:r>
            <a:r>
              <a:rPr lang="en-US" altLang="zh-CN" sz="2800">
                <a:solidFill>
                  <a:srgbClr val="FF0000"/>
                </a:solidFill>
              </a:rPr>
              <a:t>CDMA</a:t>
            </a:r>
            <a:r>
              <a:rPr lang="en-US" altLang="zh-CN" sz="2800">
                <a:solidFill>
                  <a:schemeClr val="tx1"/>
                </a:solidFill>
              </a:rPr>
              <a:t>(Code Division Multiple Access) </a:t>
            </a:r>
            <a:r>
              <a:rPr lang="zh-CN" altLang="en-US" sz="2800">
                <a:solidFill>
                  <a:schemeClr val="tx1"/>
                </a:solidFill>
              </a:rPr>
              <a:t>。</a:t>
            </a:r>
            <a:endParaRPr lang="en-US" altLang="zh-CN" sz="2800">
              <a:solidFill>
                <a:srgbClr val="FF0000"/>
              </a:solidFill>
            </a:endParaRPr>
          </a:p>
          <a:p>
            <a:pPr algn="just"/>
            <a:r>
              <a:rPr lang="en-US" altLang="zh-CN" sz="2800">
                <a:solidFill>
                  <a:schemeClr val="tx1"/>
                </a:solidFill>
              </a:rPr>
              <a:t>CDMA</a:t>
            </a:r>
            <a:r>
              <a:rPr lang="zh-CN" altLang="en-US" sz="2800">
                <a:solidFill>
                  <a:schemeClr val="tx1"/>
                </a:solidFill>
              </a:rPr>
              <a:t>技术起源于</a:t>
            </a:r>
            <a:r>
              <a:rPr lang="en-US" altLang="zh-CN" sz="2800">
                <a:solidFill>
                  <a:schemeClr val="tx1"/>
                </a:solidFill>
              </a:rPr>
              <a:t>1942</a:t>
            </a:r>
            <a:r>
              <a:rPr lang="zh-CN" altLang="en-US" sz="2800">
                <a:solidFill>
                  <a:schemeClr val="tx1"/>
                </a:solidFill>
              </a:rPr>
              <a:t>年好莱坞明星</a:t>
            </a:r>
            <a:r>
              <a:rPr lang="zh-CN" altLang="en-US" sz="2800">
                <a:solidFill>
                  <a:srgbClr val="FF0000"/>
                </a:solidFill>
              </a:rPr>
              <a:t>海蒂</a:t>
            </a:r>
            <a:r>
              <a:rPr lang="en-US" altLang="zh-CN" sz="2800">
                <a:solidFill>
                  <a:srgbClr val="FF0000"/>
                </a:solidFill>
              </a:rPr>
              <a:t>.</a:t>
            </a:r>
            <a:r>
              <a:rPr lang="zh-CN" altLang="en-US" sz="2800">
                <a:solidFill>
                  <a:srgbClr val="FF0000"/>
                </a:solidFill>
              </a:rPr>
              <a:t>拉玛</a:t>
            </a:r>
            <a:r>
              <a:rPr lang="zh-CN" altLang="en-US" sz="2800">
                <a:solidFill>
                  <a:schemeClr val="tx1"/>
                </a:solidFill>
              </a:rPr>
              <a:t>和她丈夫钢琴家</a:t>
            </a:r>
            <a:r>
              <a:rPr lang="zh-CN" altLang="en-US" sz="2800">
                <a:solidFill>
                  <a:srgbClr val="FF0000"/>
                </a:solidFill>
              </a:rPr>
              <a:t>乔治</a:t>
            </a:r>
            <a:r>
              <a:rPr lang="en-US" altLang="zh-CN" sz="2800">
                <a:solidFill>
                  <a:srgbClr val="FF0000"/>
                </a:solidFill>
              </a:rPr>
              <a:t>.</a:t>
            </a:r>
            <a:r>
              <a:rPr lang="zh-CN" altLang="en-US" sz="2800">
                <a:solidFill>
                  <a:srgbClr val="FF0000"/>
                </a:solidFill>
              </a:rPr>
              <a:t>安塞尔</a:t>
            </a:r>
            <a:r>
              <a:rPr lang="zh-CN" altLang="en-US" sz="2800">
                <a:solidFill>
                  <a:schemeClr val="tx1"/>
                </a:solidFill>
              </a:rPr>
              <a:t>的受钢琴声音的启发，提出了</a:t>
            </a:r>
            <a:r>
              <a:rPr lang="zh-CN" altLang="en-US" sz="2800">
                <a:solidFill>
                  <a:srgbClr val="FF0000"/>
                </a:solidFill>
              </a:rPr>
              <a:t>利用扩频技术避免干扰的方法</a:t>
            </a:r>
            <a:r>
              <a:rPr lang="zh-CN" altLang="en-US" sz="2800">
                <a:solidFill>
                  <a:schemeClr val="tx1"/>
                </a:solidFill>
              </a:rPr>
              <a:t>，并获得了秘密通讯发明专利。</a:t>
            </a:r>
          </a:p>
          <a:p>
            <a:pPr algn="just"/>
            <a:r>
              <a:rPr lang="en-US" altLang="zh-CN" sz="2800">
                <a:solidFill>
                  <a:srgbClr val="FF0000"/>
                </a:solidFill>
              </a:rPr>
              <a:t>CDMA</a:t>
            </a:r>
            <a:r>
              <a:rPr lang="zh-CN" altLang="en-US" sz="2800">
                <a:solidFill>
                  <a:srgbClr val="FF0000"/>
                </a:solidFill>
              </a:rPr>
              <a:t>，</a:t>
            </a:r>
            <a:r>
              <a:rPr lang="en-US" altLang="zh-CN" sz="2800">
                <a:solidFill>
                  <a:srgbClr val="FF0000"/>
                </a:solidFill>
              </a:rPr>
              <a:t>WIFI</a:t>
            </a:r>
            <a:r>
              <a:rPr lang="zh-CN" altLang="en-US" sz="2800">
                <a:solidFill>
                  <a:srgbClr val="FF0000"/>
                </a:solidFill>
              </a:rPr>
              <a:t>，蓝牙</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2.4.3  </a:t>
            </a:r>
            <a:r>
              <a:rPr lang="zh-CN" altLang="en-US">
                <a:sym typeface="+mn-ea"/>
              </a:rPr>
              <a:t>码分复用</a:t>
            </a:r>
            <a:r>
              <a:rPr lang="en-US" altLang="zh-CN">
                <a:sym typeface="+mn-ea"/>
              </a:rPr>
              <a:t>CDM</a:t>
            </a:r>
            <a:endParaRPr lang="zh-CN" altLang="en-US"/>
          </a:p>
        </p:txBody>
      </p:sp>
      <p:sp>
        <p:nvSpPr>
          <p:cNvPr id="3" name="内容占位符 2"/>
          <p:cNvSpPr>
            <a:spLocks noGrp="1"/>
          </p:cNvSpPr>
          <p:nvPr>
            <p:ph idx="1"/>
          </p:nvPr>
        </p:nvSpPr>
        <p:spPr>
          <a:xfrm>
            <a:off x="495300" y="1196975"/>
            <a:ext cx="9065895" cy="5570855"/>
          </a:xfrm>
        </p:spPr>
        <p:txBody>
          <a:bodyPr/>
          <a:lstStyle/>
          <a:p>
            <a:pPr marL="0" indent="0">
              <a:buNone/>
            </a:pPr>
            <a:r>
              <a:rPr lang="zh-CN" altLang="en-US" sz="2400"/>
              <a:t>（1）</a:t>
            </a:r>
            <a:r>
              <a:rPr lang="zh-CN" altLang="en-US" sz="2400">
                <a:solidFill>
                  <a:srgbClr val="FF0000"/>
                </a:solidFill>
              </a:rPr>
              <a:t>W-CDMA （宽频分码多重存取）</a:t>
            </a:r>
            <a:r>
              <a:rPr lang="zh-CN" altLang="en-US" sz="2400"/>
              <a:t>标准主要起源于欧洲和日本的早期第三代无线研究活动，该标准的主要支持者有欧洲、日本、韩国。</a:t>
            </a:r>
          </a:p>
          <a:p>
            <a:endParaRPr lang="zh-CN" altLang="en-US" sz="2400"/>
          </a:p>
          <a:p>
            <a:pPr marL="0" indent="0">
              <a:buNone/>
            </a:pPr>
            <a:r>
              <a:rPr lang="zh-CN" altLang="en-US" sz="2400"/>
              <a:t>（2）</a:t>
            </a:r>
            <a:r>
              <a:rPr lang="zh-CN" altLang="en-US" sz="2400">
                <a:solidFill>
                  <a:srgbClr val="FF0000"/>
                </a:solidFill>
              </a:rPr>
              <a:t>CDMA 2000（多载波分复用扩频调制）</a:t>
            </a:r>
            <a:r>
              <a:rPr lang="zh-CN" altLang="en-US" sz="2400"/>
              <a:t>系统主要是由美国高通北美公司为主导提出的，主要支持者包括日本、韩国和北美等地区和国家。</a:t>
            </a:r>
          </a:p>
          <a:p>
            <a:endParaRPr lang="zh-CN" altLang="en-US" sz="2400"/>
          </a:p>
          <a:p>
            <a:pPr marL="0" indent="0">
              <a:buNone/>
            </a:pPr>
            <a:r>
              <a:rPr lang="zh-CN" altLang="en-US" sz="2400"/>
              <a:t>（3）</a:t>
            </a:r>
            <a:r>
              <a:rPr lang="zh-CN" altLang="en-US" sz="2400">
                <a:solidFill>
                  <a:srgbClr val="FF0000"/>
                </a:solidFill>
              </a:rPr>
              <a:t>TD-SCDMA（时分同步码分多址接入）</a:t>
            </a:r>
            <a:r>
              <a:rPr lang="zh-CN" altLang="en-US" sz="2400"/>
              <a:t>标准是由中国第一次提出并在此无线传输技术（RTT）的基础上与国际合作，完成了TD-SCDMA标准，成为CDMA TDD标准的一员。</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2.4.3  </a:t>
            </a:r>
            <a:r>
              <a:rPr lang="zh-CN" altLang="en-US">
                <a:sym typeface="+mn-ea"/>
              </a:rPr>
              <a:t>码分复用</a:t>
            </a:r>
            <a:r>
              <a:rPr lang="en-US" altLang="zh-CN">
                <a:sym typeface="+mn-ea"/>
              </a:rPr>
              <a:t>CDM</a:t>
            </a:r>
            <a:endParaRPr lang="zh-CN" altLang="en-US"/>
          </a:p>
        </p:txBody>
      </p:sp>
      <p:pic>
        <p:nvPicPr>
          <p:cNvPr id="4" name="图片 3"/>
          <p:cNvPicPr>
            <a:picLocks noChangeAspect="1"/>
          </p:cNvPicPr>
          <p:nvPr/>
        </p:nvPicPr>
        <p:blipFill>
          <a:blip r:embed="rId2"/>
          <a:stretch>
            <a:fillRect/>
          </a:stretch>
        </p:blipFill>
        <p:spPr>
          <a:xfrm>
            <a:off x="590550" y="1400175"/>
            <a:ext cx="8623935" cy="191960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码片序列</a:t>
            </a:r>
          </a:p>
        </p:txBody>
      </p:sp>
      <p:pic>
        <p:nvPicPr>
          <p:cNvPr id="4" name="图片 3"/>
          <p:cNvPicPr>
            <a:picLocks noChangeAspect="1"/>
          </p:cNvPicPr>
          <p:nvPr/>
        </p:nvPicPr>
        <p:blipFill>
          <a:blip r:embed="rId2"/>
          <a:stretch>
            <a:fillRect/>
          </a:stretch>
        </p:blipFill>
        <p:spPr>
          <a:xfrm>
            <a:off x="495300" y="1170940"/>
            <a:ext cx="8775700" cy="463169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码片序列实现了扩频</a:t>
            </a:r>
          </a:p>
        </p:txBody>
      </p:sp>
      <p:pic>
        <p:nvPicPr>
          <p:cNvPr id="4" name="图片 3"/>
          <p:cNvPicPr>
            <a:picLocks noChangeAspect="1"/>
          </p:cNvPicPr>
          <p:nvPr/>
        </p:nvPicPr>
        <p:blipFill>
          <a:blip r:embed="rId2"/>
          <a:stretch>
            <a:fillRect/>
          </a:stretch>
        </p:blipFill>
        <p:spPr>
          <a:xfrm>
            <a:off x="560705" y="1191895"/>
            <a:ext cx="8724900" cy="452691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CDMA</a:t>
            </a:r>
            <a:r>
              <a:rPr lang="zh-CN" altLang="en-US"/>
              <a:t>的重要特点</a:t>
            </a:r>
          </a:p>
        </p:txBody>
      </p:sp>
      <p:pic>
        <p:nvPicPr>
          <p:cNvPr id="4" name="图片 3"/>
          <p:cNvPicPr>
            <a:picLocks noChangeAspect="1"/>
          </p:cNvPicPr>
          <p:nvPr/>
        </p:nvPicPr>
        <p:blipFill>
          <a:blip r:embed="rId2"/>
          <a:stretch>
            <a:fillRect/>
          </a:stretch>
        </p:blipFill>
        <p:spPr>
          <a:xfrm>
            <a:off x="495300" y="1255395"/>
            <a:ext cx="8727440" cy="182816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码片序列的正交关系</a:t>
            </a:r>
          </a:p>
        </p:txBody>
      </p:sp>
      <p:pic>
        <p:nvPicPr>
          <p:cNvPr id="4" name="图片 3"/>
          <p:cNvPicPr>
            <a:picLocks noChangeAspect="1"/>
          </p:cNvPicPr>
          <p:nvPr/>
        </p:nvPicPr>
        <p:blipFill>
          <a:blip r:embed="rId2"/>
          <a:stretch>
            <a:fillRect/>
          </a:stretch>
        </p:blipFill>
        <p:spPr>
          <a:xfrm>
            <a:off x="495300" y="1193165"/>
            <a:ext cx="8695055" cy="359283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正交关系的另一个重要特性</a:t>
            </a:r>
          </a:p>
        </p:txBody>
      </p:sp>
      <p:pic>
        <p:nvPicPr>
          <p:cNvPr id="4" name="图片 3"/>
          <p:cNvPicPr>
            <a:picLocks noChangeAspect="1"/>
          </p:cNvPicPr>
          <p:nvPr/>
        </p:nvPicPr>
        <p:blipFill>
          <a:blip r:embed="rId2"/>
          <a:stretch>
            <a:fillRect/>
          </a:stretch>
        </p:blipFill>
        <p:spPr>
          <a:xfrm>
            <a:off x="495300" y="1193165"/>
            <a:ext cx="8875395" cy="354520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CDMA</a:t>
            </a:r>
            <a:r>
              <a:rPr lang="zh-CN" altLang="en-US"/>
              <a:t>地工作原理</a:t>
            </a:r>
          </a:p>
        </p:txBody>
      </p:sp>
      <p:pic>
        <p:nvPicPr>
          <p:cNvPr id="4" name="图片 3"/>
          <p:cNvPicPr>
            <a:picLocks noChangeAspect="1"/>
          </p:cNvPicPr>
          <p:nvPr/>
        </p:nvPicPr>
        <p:blipFill>
          <a:blip r:embed="rId2"/>
          <a:stretch>
            <a:fillRect/>
          </a:stretch>
        </p:blipFill>
        <p:spPr>
          <a:xfrm>
            <a:off x="567055" y="1889125"/>
            <a:ext cx="8935720" cy="433260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CDMA</a:t>
            </a:r>
            <a:r>
              <a:rPr lang="zh-CN" altLang="en-US"/>
              <a:t>地工作原理计算举例</a:t>
            </a:r>
          </a:p>
        </p:txBody>
      </p:sp>
      <p:sp>
        <p:nvSpPr>
          <p:cNvPr id="3" name="文本框 2"/>
          <p:cNvSpPr txBox="1"/>
          <p:nvPr/>
        </p:nvSpPr>
        <p:spPr>
          <a:xfrm>
            <a:off x="883285" y="1412875"/>
            <a:ext cx="8174355" cy="953135"/>
          </a:xfrm>
          <a:prstGeom prst="rect">
            <a:avLst/>
          </a:prstGeom>
          <a:noFill/>
        </p:spPr>
        <p:txBody>
          <a:bodyPr wrap="square" rtlCol="0">
            <a:spAutoFit/>
          </a:bodyPr>
          <a:lstStyle/>
          <a:p>
            <a:r>
              <a:rPr lang="zh-CN" altLang="en-US" sz="2800" b="1" kern="0">
                <a:latin typeface="+mn-lt"/>
                <a:ea typeface="黑体" panose="02010609060101010101" pitchFamily="2" charset="-122"/>
              </a:rPr>
              <a:t>共有四个站进行码分多址CDMA通信，4个站的码分序列为：</a:t>
            </a:r>
          </a:p>
        </p:txBody>
      </p:sp>
      <p:pic>
        <p:nvPicPr>
          <p:cNvPr id="5" name="图片 4"/>
          <p:cNvPicPr>
            <a:picLocks noChangeAspect="1"/>
          </p:cNvPicPr>
          <p:nvPr/>
        </p:nvPicPr>
        <p:blipFill>
          <a:blip r:embed="rId2"/>
          <a:stretch>
            <a:fillRect/>
          </a:stretch>
        </p:blipFill>
        <p:spPr>
          <a:xfrm>
            <a:off x="1019175" y="2698750"/>
            <a:ext cx="7807325" cy="1280160"/>
          </a:xfrm>
          <a:prstGeom prst="rect">
            <a:avLst/>
          </a:prstGeom>
        </p:spPr>
      </p:pic>
      <p:sp>
        <p:nvSpPr>
          <p:cNvPr id="6" name="文本框 5"/>
          <p:cNvSpPr txBox="1"/>
          <p:nvPr/>
        </p:nvSpPr>
        <p:spPr>
          <a:xfrm>
            <a:off x="947420" y="4306570"/>
            <a:ext cx="8174355" cy="521970"/>
          </a:xfrm>
          <a:prstGeom prst="rect">
            <a:avLst/>
          </a:prstGeom>
          <a:noFill/>
        </p:spPr>
        <p:txBody>
          <a:bodyPr wrap="square" rtlCol="0">
            <a:spAutoFit/>
          </a:bodyPr>
          <a:lstStyle/>
          <a:p>
            <a:r>
              <a:rPr lang="zh-CN" altLang="en-US" sz="2800" b="1" kern="0">
                <a:latin typeface="+mn-lt"/>
                <a:ea typeface="黑体" panose="02010609060101010101" pitchFamily="2" charset="-122"/>
              </a:rPr>
              <a:t>现收到这样的码分序列：</a:t>
            </a:r>
            <a:r>
              <a:rPr lang="en-US" altLang="zh-CN" sz="2800" b="1" kern="0">
                <a:solidFill>
                  <a:srgbClr val="0070C0"/>
                </a:solidFill>
                <a:latin typeface="+mn-lt"/>
                <a:ea typeface="黑体" panose="02010609060101010101" pitchFamily="2" charset="-122"/>
              </a:rPr>
              <a:t>(-1 +1 -3 +1 -1 -3 +1 +1)</a:t>
            </a:r>
          </a:p>
        </p:txBody>
      </p:sp>
      <p:sp>
        <p:nvSpPr>
          <p:cNvPr id="7" name="文本框 6"/>
          <p:cNvSpPr txBox="1"/>
          <p:nvPr/>
        </p:nvSpPr>
        <p:spPr>
          <a:xfrm>
            <a:off x="1019175" y="5193030"/>
            <a:ext cx="8174355" cy="953135"/>
          </a:xfrm>
          <a:prstGeom prst="rect">
            <a:avLst/>
          </a:prstGeom>
          <a:noFill/>
        </p:spPr>
        <p:txBody>
          <a:bodyPr wrap="square" rtlCol="0">
            <a:spAutoFit/>
          </a:bodyPr>
          <a:lstStyle/>
          <a:p>
            <a:r>
              <a:rPr lang="zh-CN" altLang="en-US" sz="2800" b="1" kern="0">
                <a:latin typeface="+mn-lt"/>
                <a:ea typeface="黑体" panose="02010609060101010101" pitchFamily="2" charset="-122"/>
              </a:rPr>
              <a:t>问哪个站发送数据了，发送数据的站发送的是</a:t>
            </a:r>
            <a:r>
              <a:rPr lang="en-US" altLang="zh-CN" sz="2800" b="1" kern="0">
                <a:latin typeface="+mn-lt"/>
                <a:ea typeface="黑体" panose="02010609060101010101" pitchFamily="2" charset="-122"/>
              </a:rPr>
              <a:t>1</a:t>
            </a:r>
            <a:r>
              <a:rPr lang="zh-CN" altLang="en-US" sz="2800" b="1" kern="0">
                <a:latin typeface="+mn-lt"/>
                <a:ea typeface="黑体" panose="02010609060101010101" pitchFamily="2" charset="-122"/>
              </a:rPr>
              <a:t>还是</a:t>
            </a:r>
            <a:r>
              <a:rPr lang="en-US" altLang="zh-CN" sz="2800" b="1" kern="0">
                <a:latin typeface="+mn-lt"/>
                <a:ea typeface="黑体" panose="02010609060101010101" pitchFamily="2" charset="-122"/>
              </a:rPr>
              <a:t>0</a:t>
            </a:r>
            <a:r>
              <a:rPr lang="zh-CN" altLang="en-US" sz="2800" b="1" kern="0">
                <a:latin typeface="+mn-lt"/>
                <a:ea typeface="黑体" panose="02010609060101010101" pitchFamily="2" charset="-122"/>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ltLang="zh-CN" dirty="0"/>
              <a:t>2.5  </a:t>
            </a:r>
            <a:r>
              <a:rPr lang="zh-CN" altLang="zh-CN" dirty="0"/>
              <a:t>宽带接入技术</a:t>
            </a:r>
          </a:p>
        </p:txBody>
      </p:sp>
      <p:sp>
        <p:nvSpPr>
          <p:cNvPr id="269315" name="Rectangle 3"/>
          <p:cNvSpPr>
            <a:spLocks noGrp="1" noChangeArrowheads="1"/>
          </p:cNvSpPr>
          <p:nvPr>
            <p:ph idx="1"/>
          </p:nvPr>
        </p:nvSpPr>
        <p:spPr/>
        <p:txBody>
          <a:bodyPr/>
          <a:lstStyle/>
          <a:p>
            <a:r>
              <a:rPr lang="en-US" altLang="zh-CN" dirty="0"/>
              <a:t>2.5.1  ADSL </a:t>
            </a:r>
            <a:r>
              <a:rPr lang="zh-CN" altLang="zh-CN" dirty="0"/>
              <a:t>技术</a:t>
            </a:r>
          </a:p>
          <a:p>
            <a:r>
              <a:rPr lang="en-US" altLang="zh-CN" dirty="0"/>
              <a:t>2.5.2  </a:t>
            </a:r>
            <a:r>
              <a:rPr lang="zh-CN" altLang="zh-CN" dirty="0"/>
              <a:t>光纤同轴混合网（</a:t>
            </a:r>
            <a:r>
              <a:rPr lang="en-US" altLang="zh-CN" dirty="0"/>
              <a:t>HFC</a:t>
            </a:r>
            <a:r>
              <a:rPr lang="zh-CN" altLang="zh-CN" dirty="0"/>
              <a:t>网）</a:t>
            </a:r>
          </a:p>
          <a:p>
            <a:r>
              <a:rPr lang="en-US" altLang="zh-CN" dirty="0"/>
              <a:t>2.5.3  </a:t>
            </a:r>
            <a:r>
              <a:rPr lang="en-US" altLang="zh-CN" dirty="0" err="1"/>
              <a:t>FTTx</a:t>
            </a:r>
            <a:r>
              <a:rPr lang="en-US" altLang="zh-CN" dirty="0"/>
              <a:t> </a:t>
            </a:r>
            <a:r>
              <a:rPr lang="zh-CN" altLang="zh-CN" dirty="0"/>
              <a:t>技术</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ltLang="zh-CN" dirty="0"/>
              <a:t>2.5  </a:t>
            </a:r>
            <a:r>
              <a:rPr lang="zh-CN" altLang="zh-CN" dirty="0"/>
              <a:t>宽带接入技术</a:t>
            </a:r>
          </a:p>
        </p:txBody>
      </p:sp>
      <p:sp>
        <p:nvSpPr>
          <p:cNvPr id="269315" name="Rectangle 3"/>
          <p:cNvSpPr>
            <a:spLocks noGrp="1" noChangeArrowheads="1"/>
          </p:cNvSpPr>
          <p:nvPr>
            <p:ph idx="1"/>
          </p:nvPr>
        </p:nvSpPr>
        <p:spPr/>
        <p:txBody>
          <a:bodyPr/>
          <a:lstStyle/>
          <a:p>
            <a:pPr>
              <a:spcBef>
                <a:spcPts val="1200"/>
              </a:spcBef>
            </a:pPr>
            <a:r>
              <a:rPr lang="zh-CN" altLang="zh-CN" dirty="0"/>
              <a:t>用户要连接到互联网，必须先连接到某个</a:t>
            </a:r>
            <a:r>
              <a:rPr lang="en-US" altLang="zh-CN" dirty="0"/>
              <a:t> ISP</a:t>
            </a:r>
            <a:r>
              <a:rPr lang="zh-CN" altLang="en-US" dirty="0"/>
              <a:t>。</a:t>
            </a:r>
            <a:endParaRPr lang="en-US" altLang="zh-CN" dirty="0"/>
          </a:p>
          <a:p>
            <a:pPr>
              <a:spcBef>
                <a:spcPts val="1200"/>
              </a:spcBef>
            </a:pPr>
            <a:r>
              <a:rPr lang="zh-CN" altLang="zh-CN" dirty="0"/>
              <a:t>在互联网的发展初期，用户都是利用电话的用户线通过调制解调器连接到</a:t>
            </a:r>
            <a:r>
              <a:rPr lang="en-US" altLang="zh-CN" dirty="0"/>
              <a:t> ISP </a:t>
            </a:r>
            <a:r>
              <a:rPr lang="zh-CN" altLang="zh-CN" dirty="0"/>
              <a:t>的，</a:t>
            </a:r>
            <a:r>
              <a:rPr lang="zh-CN" altLang="en-US" dirty="0"/>
              <a:t>电话</a:t>
            </a:r>
            <a:r>
              <a:rPr lang="zh-CN" altLang="zh-CN" dirty="0"/>
              <a:t>用户线接入到互联网的速率最高只能达到</a:t>
            </a:r>
            <a:r>
              <a:rPr lang="en-US" altLang="zh-CN" dirty="0"/>
              <a:t> 56 </a:t>
            </a:r>
            <a:r>
              <a:rPr lang="en-US" altLang="zh-CN" dirty="0" err="1"/>
              <a:t>kbit</a:t>
            </a:r>
            <a:r>
              <a:rPr lang="en-US" altLang="zh-CN" dirty="0"/>
              <a:t>/s</a:t>
            </a:r>
            <a:r>
              <a:rPr lang="zh-CN" altLang="zh-CN" dirty="0"/>
              <a:t>。</a:t>
            </a:r>
            <a:endParaRPr lang="en-US" altLang="zh-CN" dirty="0"/>
          </a:p>
          <a:p>
            <a:pPr>
              <a:spcBef>
                <a:spcPts val="1200"/>
              </a:spcBef>
            </a:pPr>
            <a:r>
              <a:rPr lang="zh-CN" altLang="zh-CN" dirty="0"/>
              <a:t>美国联邦通信委员会</a:t>
            </a:r>
            <a:r>
              <a:rPr lang="en-US" altLang="zh-CN" dirty="0"/>
              <a:t> FCC </a:t>
            </a:r>
            <a:r>
              <a:rPr lang="zh-CN" altLang="zh-CN" dirty="0"/>
              <a:t>认为只要双向速率之和超过</a:t>
            </a:r>
            <a:r>
              <a:rPr lang="en-US" altLang="zh-CN" dirty="0"/>
              <a:t> 200 </a:t>
            </a:r>
            <a:r>
              <a:rPr lang="en-US" altLang="zh-CN" dirty="0" err="1"/>
              <a:t>kbit</a:t>
            </a:r>
            <a:r>
              <a:rPr lang="en-US" altLang="zh-CN" dirty="0"/>
              <a:t>/s </a:t>
            </a:r>
            <a:r>
              <a:rPr lang="zh-CN" altLang="zh-CN" dirty="0"/>
              <a:t>就是</a:t>
            </a:r>
            <a:r>
              <a:rPr lang="zh-CN" altLang="zh-CN" dirty="0">
                <a:solidFill>
                  <a:srgbClr val="FF0000"/>
                </a:solidFill>
              </a:rPr>
              <a:t>宽带</a:t>
            </a:r>
            <a:r>
              <a:rPr lang="zh-CN" altLang="en-US" dirty="0">
                <a:solidFill>
                  <a:srgbClr val="FF0000"/>
                </a:solidFill>
              </a:rPr>
              <a:t>。</a:t>
            </a:r>
            <a:endParaRPr lang="en-US" altLang="zh-CN" dirty="0">
              <a:solidFill>
                <a:srgbClr val="FF0000"/>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ltLang="zh-CN" dirty="0"/>
              <a:t>2.5  </a:t>
            </a:r>
            <a:r>
              <a:rPr lang="zh-CN" altLang="zh-CN" dirty="0"/>
              <a:t>宽带接入技术</a:t>
            </a:r>
          </a:p>
        </p:txBody>
      </p:sp>
      <p:sp>
        <p:nvSpPr>
          <p:cNvPr id="269315" name="Rectangle 3"/>
          <p:cNvSpPr>
            <a:spLocks noGrp="1" noChangeArrowheads="1"/>
          </p:cNvSpPr>
          <p:nvPr>
            <p:ph idx="1"/>
          </p:nvPr>
        </p:nvSpPr>
        <p:spPr/>
        <p:txBody>
          <a:bodyPr/>
          <a:lstStyle/>
          <a:p>
            <a:pPr>
              <a:spcBef>
                <a:spcPts val="1200"/>
              </a:spcBef>
            </a:pPr>
            <a:r>
              <a:rPr lang="zh-CN" altLang="zh-CN" dirty="0"/>
              <a:t>从宽带接入的媒体来看，可以划分为两大类</a:t>
            </a:r>
            <a:r>
              <a:rPr lang="zh-CN" altLang="en-US" dirty="0"/>
              <a:t>：</a:t>
            </a:r>
            <a:endParaRPr lang="en-US" altLang="zh-CN" dirty="0"/>
          </a:p>
          <a:p>
            <a:pPr lvl="1">
              <a:spcBef>
                <a:spcPts val="1200"/>
              </a:spcBef>
            </a:pPr>
            <a:r>
              <a:rPr lang="zh-CN" altLang="zh-CN" dirty="0"/>
              <a:t>有线宽带接入</a:t>
            </a:r>
            <a:endParaRPr lang="en-US" altLang="zh-CN" dirty="0"/>
          </a:p>
          <a:p>
            <a:pPr lvl="1">
              <a:spcBef>
                <a:spcPts val="1200"/>
              </a:spcBef>
            </a:pPr>
            <a:r>
              <a:rPr lang="zh-CN" altLang="zh-CN" dirty="0"/>
              <a:t>无线宽带接入</a:t>
            </a:r>
            <a:endParaRPr lang="en-US" altLang="zh-C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en-US" altLang="zh-CN" dirty="0"/>
              <a:t>2.5.1  ADSL </a:t>
            </a:r>
            <a:r>
              <a:rPr lang="zh-CN" altLang="en-US" dirty="0"/>
              <a:t>技术</a:t>
            </a:r>
          </a:p>
        </p:txBody>
      </p:sp>
      <p:sp>
        <p:nvSpPr>
          <p:cNvPr id="271363" name="Rectangle 3"/>
          <p:cNvSpPr>
            <a:spLocks noGrp="1" noChangeArrowheads="1"/>
          </p:cNvSpPr>
          <p:nvPr>
            <p:ph idx="1"/>
          </p:nvPr>
        </p:nvSpPr>
        <p:spPr/>
        <p:txBody>
          <a:bodyPr/>
          <a:lstStyle/>
          <a:p>
            <a:r>
              <a:rPr lang="zh-CN" altLang="zh-CN" sz="2800" dirty="0">
                <a:solidFill>
                  <a:srgbClr val="FF0000"/>
                </a:solidFill>
              </a:rPr>
              <a:t>非对称数字用户线</a:t>
            </a:r>
            <a:r>
              <a:rPr lang="en-US" altLang="zh-CN" sz="2800" dirty="0">
                <a:solidFill>
                  <a:srgbClr val="FF0000"/>
                </a:solidFill>
              </a:rPr>
              <a:t> ADSL</a:t>
            </a:r>
            <a:r>
              <a:rPr lang="en-US" altLang="zh-CN" sz="2800" dirty="0"/>
              <a:t> (Asymmetric Digital Subscriber Line) </a:t>
            </a:r>
            <a:r>
              <a:rPr lang="zh-CN" altLang="en-US" sz="2800" dirty="0"/>
              <a:t>技术就是用数字技术对现有的模拟电话用户线进行改造，使它能够承载宽带业务。</a:t>
            </a:r>
          </a:p>
          <a:p>
            <a:r>
              <a:rPr lang="zh-CN" altLang="en-US" sz="2800" dirty="0"/>
              <a:t>标准模拟电话信号的频带被限制在 </a:t>
            </a:r>
            <a:r>
              <a:rPr lang="en-US" altLang="zh-CN" sz="2800" dirty="0"/>
              <a:t>300~3400 Hz </a:t>
            </a:r>
            <a:r>
              <a:rPr lang="zh-CN" altLang="en-US" sz="2800" dirty="0"/>
              <a:t>的范围内，但用户线本身实际可通过的信号频率仍然超过 </a:t>
            </a:r>
            <a:r>
              <a:rPr lang="en-US" altLang="zh-CN" sz="2800" dirty="0"/>
              <a:t>1 MHz</a:t>
            </a:r>
            <a:r>
              <a:rPr lang="zh-CN" altLang="en-US" sz="2800" dirty="0"/>
              <a:t>。</a:t>
            </a:r>
          </a:p>
          <a:p>
            <a:r>
              <a:rPr lang="en-US" altLang="zh-CN" sz="2800" dirty="0"/>
              <a:t>ADSL </a:t>
            </a:r>
            <a:r>
              <a:rPr lang="zh-CN" altLang="en-US" sz="2800" dirty="0"/>
              <a:t>技术就把 </a:t>
            </a:r>
            <a:r>
              <a:rPr lang="en-US" altLang="zh-CN" sz="2800" dirty="0"/>
              <a:t>0~4 kHz </a:t>
            </a:r>
            <a:r>
              <a:rPr lang="zh-CN" altLang="en-US" sz="2800" dirty="0"/>
              <a:t>低端频谱留给传统电话使用，而</a:t>
            </a:r>
            <a:r>
              <a:rPr lang="zh-CN" altLang="en-US" sz="2800" dirty="0">
                <a:solidFill>
                  <a:srgbClr val="FF0000"/>
                </a:solidFill>
              </a:rPr>
              <a:t>把原来没有被利用的高端频谱留给用户上网使用。</a:t>
            </a:r>
          </a:p>
          <a:p>
            <a:r>
              <a:rPr lang="en-US" altLang="zh-CN" sz="2800" dirty="0"/>
              <a:t>DSL </a:t>
            </a:r>
            <a:r>
              <a:rPr lang="zh-CN" altLang="en-US" sz="2800" dirty="0"/>
              <a:t>就是</a:t>
            </a:r>
            <a:r>
              <a:rPr lang="zh-CN" altLang="en-US" sz="2800" dirty="0">
                <a:solidFill>
                  <a:srgbClr val="FF0000"/>
                </a:solidFill>
              </a:rPr>
              <a:t>数字用户线 </a:t>
            </a:r>
            <a:r>
              <a:rPr lang="en-US" altLang="zh-CN" sz="2800" dirty="0"/>
              <a:t>(Digital Subscriber Line) </a:t>
            </a:r>
            <a:r>
              <a:rPr lang="zh-CN" altLang="en-US" sz="2800" dirty="0"/>
              <a:t>的缩写。</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p:txBody>
          <a:bodyPr/>
          <a:lstStyle/>
          <a:p>
            <a:pPr algn="ctr"/>
            <a:r>
              <a:rPr lang="en-US" altLang="zh-CN"/>
              <a:t>ADSL </a:t>
            </a:r>
            <a:r>
              <a:rPr lang="zh-CN" altLang="en-US"/>
              <a:t>的特点</a:t>
            </a:r>
          </a:p>
        </p:txBody>
      </p:sp>
      <p:sp>
        <p:nvSpPr>
          <p:cNvPr id="306179" name="Rectangle 3"/>
          <p:cNvSpPr>
            <a:spLocks noGrp="1" noChangeArrowheads="1"/>
          </p:cNvSpPr>
          <p:nvPr>
            <p:ph idx="1"/>
          </p:nvPr>
        </p:nvSpPr>
        <p:spPr/>
        <p:txBody>
          <a:bodyPr/>
          <a:lstStyle/>
          <a:p>
            <a:r>
              <a:rPr lang="zh-CN" altLang="en-US" dirty="0"/>
              <a:t>上行和下行带宽做成不对称的。</a:t>
            </a:r>
          </a:p>
          <a:p>
            <a:pPr lvl="1"/>
            <a:r>
              <a:rPr lang="zh-CN" altLang="en-US" dirty="0"/>
              <a:t>上行指从用户到 </a:t>
            </a:r>
            <a:r>
              <a:rPr lang="en-US" altLang="zh-CN" dirty="0"/>
              <a:t>ISP</a:t>
            </a:r>
            <a:r>
              <a:rPr lang="zh-CN" altLang="en-US" dirty="0"/>
              <a:t>，而下行指从 </a:t>
            </a:r>
            <a:r>
              <a:rPr lang="en-US" altLang="zh-CN" dirty="0"/>
              <a:t>ISP </a:t>
            </a:r>
            <a:r>
              <a:rPr lang="zh-CN" altLang="en-US" dirty="0"/>
              <a:t>到用户。</a:t>
            </a:r>
          </a:p>
          <a:p>
            <a:r>
              <a:rPr lang="en-US" altLang="zh-CN" dirty="0"/>
              <a:t>ADSL </a:t>
            </a:r>
            <a:r>
              <a:rPr lang="zh-CN" altLang="en-US" dirty="0"/>
              <a:t>在用户线（铜线）的两端各安装一个 </a:t>
            </a:r>
            <a:r>
              <a:rPr lang="en-US" altLang="zh-CN" dirty="0">
                <a:solidFill>
                  <a:srgbClr val="FF0000"/>
                </a:solidFill>
              </a:rPr>
              <a:t>ADSL </a:t>
            </a:r>
            <a:r>
              <a:rPr lang="zh-CN" altLang="en-US" dirty="0">
                <a:solidFill>
                  <a:srgbClr val="FF0000"/>
                </a:solidFill>
              </a:rPr>
              <a:t>调制解调器</a:t>
            </a:r>
            <a:r>
              <a:rPr lang="zh-CN" altLang="en-US" dirty="0"/>
              <a:t>。</a:t>
            </a:r>
          </a:p>
          <a:p>
            <a:r>
              <a:rPr lang="zh-CN" altLang="en-US" dirty="0"/>
              <a:t>我国目前采用的方案是</a:t>
            </a:r>
            <a:r>
              <a:rPr lang="zh-CN" altLang="en-US" dirty="0">
                <a:solidFill>
                  <a:srgbClr val="FF0000"/>
                </a:solidFill>
              </a:rPr>
              <a:t>离散多音调 </a:t>
            </a:r>
            <a:r>
              <a:rPr lang="en-US" altLang="zh-CN" b="1" dirty="0">
                <a:solidFill>
                  <a:srgbClr val="FF0000"/>
                </a:solidFill>
              </a:rPr>
              <a:t>DMT</a:t>
            </a:r>
            <a:r>
              <a:rPr lang="en-US" altLang="zh-CN" dirty="0">
                <a:solidFill>
                  <a:srgbClr val="FF0000"/>
                </a:solidFill>
              </a:rPr>
              <a:t> </a:t>
            </a:r>
            <a:r>
              <a:rPr lang="en-US" altLang="zh-CN" dirty="0"/>
              <a:t>(Discrete Multi-Tone)</a:t>
            </a:r>
            <a:r>
              <a:rPr lang="zh-CN" altLang="en-US" dirty="0"/>
              <a:t>调制技术。</a:t>
            </a:r>
            <a:endParaRPr lang="en-US" altLang="zh-CN" dirty="0"/>
          </a:p>
          <a:p>
            <a:pPr lvl="1"/>
            <a:r>
              <a:rPr lang="zh-CN" altLang="en-US" dirty="0"/>
              <a:t>这里的“多音调”就是“</a:t>
            </a:r>
            <a:r>
              <a:rPr lang="zh-CN" altLang="en-US" dirty="0">
                <a:solidFill>
                  <a:srgbClr val="FF0000"/>
                </a:solidFill>
              </a:rPr>
              <a:t>多载波</a:t>
            </a:r>
            <a:r>
              <a:rPr lang="zh-CN" altLang="en-US" dirty="0"/>
              <a:t>”或“</a:t>
            </a:r>
            <a:r>
              <a:rPr lang="zh-CN" altLang="en-US" dirty="0">
                <a:solidFill>
                  <a:srgbClr val="FF0000"/>
                </a:solidFill>
              </a:rPr>
              <a:t>多子信道</a:t>
            </a:r>
            <a:r>
              <a:rPr lang="zh-CN" altLang="en-US" dirty="0"/>
              <a:t>”的意思。</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algn="ctr"/>
            <a:r>
              <a:rPr lang="en-US" altLang="zh-CN"/>
              <a:t>DMT </a:t>
            </a:r>
            <a:r>
              <a:rPr lang="zh-CN" altLang="en-US"/>
              <a:t>技术</a:t>
            </a:r>
          </a:p>
        </p:txBody>
      </p:sp>
      <p:sp>
        <p:nvSpPr>
          <p:cNvPr id="308227" name="Rectangle 3"/>
          <p:cNvSpPr>
            <a:spLocks noGrp="1" noChangeArrowheads="1"/>
          </p:cNvSpPr>
          <p:nvPr>
            <p:ph idx="1"/>
          </p:nvPr>
        </p:nvSpPr>
        <p:spPr/>
        <p:txBody>
          <a:bodyPr/>
          <a:lstStyle/>
          <a:p>
            <a:r>
              <a:rPr lang="en-US" altLang="zh-CN" dirty="0"/>
              <a:t>DMT </a:t>
            </a:r>
            <a:r>
              <a:rPr lang="zh-CN" altLang="en-US" dirty="0"/>
              <a:t>调制技术采用</a:t>
            </a:r>
            <a:r>
              <a:rPr lang="zh-CN" altLang="en-US" dirty="0">
                <a:solidFill>
                  <a:srgbClr val="FF0000"/>
                </a:solidFill>
              </a:rPr>
              <a:t>频分复用</a:t>
            </a:r>
            <a:r>
              <a:rPr lang="zh-CN" altLang="en-US" dirty="0"/>
              <a:t>的方法，把 </a:t>
            </a:r>
            <a:r>
              <a:rPr lang="en-US" altLang="zh-CN" dirty="0"/>
              <a:t>40 kHz </a:t>
            </a:r>
            <a:r>
              <a:rPr lang="zh-CN" altLang="en-US" dirty="0"/>
              <a:t>以上一直到 </a:t>
            </a:r>
            <a:r>
              <a:rPr lang="en-US" altLang="zh-CN" dirty="0"/>
              <a:t>1.1 MHz </a:t>
            </a:r>
            <a:r>
              <a:rPr lang="zh-CN" altLang="en-US" dirty="0"/>
              <a:t>的高端频谱划分为许多的子信道，其中 </a:t>
            </a:r>
            <a:r>
              <a:rPr lang="en-US" altLang="zh-CN" dirty="0"/>
              <a:t>25 </a:t>
            </a:r>
            <a:r>
              <a:rPr lang="zh-CN" altLang="en-US" dirty="0"/>
              <a:t>个子信道用于上行信道，而 </a:t>
            </a:r>
            <a:r>
              <a:rPr lang="en-US" altLang="zh-CN" dirty="0"/>
              <a:t>249 </a:t>
            </a:r>
            <a:r>
              <a:rPr lang="zh-CN" altLang="en-US" dirty="0"/>
              <a:t>个子信道用于下行信道。</a:t>
            </a:r>
          </a:p>
          <a:p>
            <a:r>
              <a:rPr lang="zh-CN" altLang="en-US" dirty="0"/>
              <a:t>每个子信道占据 </a:t>
            </a:r>
            <a:r>
              <a:rPr lang="en-US" altLang="zh-CN" dirty="0"/>
              <a:t>4 kHz </a:t>
            </a:r>
            <a:r>
              <a:rPr lang="zh-CN" altLang="en-US" dirty="0"/>
              <a:t>带宽（严格讲是 </a:t>
            </a:r>
            <a:r>
              <a:rPr lang="en-US" altLang="zh-CN" dirty="0"/>
              <a:t>4.3125 kHz</a:t>
            </a:r>
            <a:r>
              <a:rPr lang="zh-CN" altLang="en-US" dirty="0"/>
              <a:t>），并使用不同的载波（即不同的音调）进行数字调制。这种做法相当于在一对用户线上使用许多小的调制解调器</a:t>
            </a:r>
            <a:r>
              <a:rPr lang="zh-CN" altLang="en-US" dirty="0">
                <a:solidFill>
                  <a:srgbClr val="FF0000"/>
                </a:solidFill>
              </a:rPr>
              <a:t>并行地</a:t>
            </a:r>
            <a:r>
              <a:rPr lang="zh-CN" altLang="en-US" dirty="0"/>
              <a:t>传送数据。</a:t>
            </a:r>
          </a:p>
          <a:p>
            <a:endParaRPr lang="en-US" altLang="zh-CN" sz="2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algn="ctr"/>
            <a:r>
              <a:rPr lang="en-US" altLang="zh-CN"/>
              <a:t>DMT </a:t>
            </a:r>
            <a:r>
              <a:rPr lang="zh-CN" altLang="en-US"/>
              <a:t>技术的频谱分布 </a:t>
            </a:r>
          </a:p>
        </p:txBody>
      </p:sp>
      <p:grpSp>
        <p:nvGrpSpPr>
          <p:cNvPr id="4" name="组合 3"/>
          <p:cNvGrpSpPr/>
          <p:nvPr/>
        </p:nvGrpSpPr>
        <p:grpSpPr>
          <a:xfrm>
            <a:off x="560512" y="1412776"/>
            <a:ext cx="8786950" cy="4139959"/>
            <a:chOff x="560512" y="1412776"/>
            <a:chExt cx="8786950" cy="4139959"/>
          </a:xfrm>
        </p:grpSpPr>
        <p:sp>
          <p:nvSpPr>
            <p:cNvPr id="91" name="Rectangle 194"/>
            <p:cNvSpPr>
              <a:spLocks noChangeArrowheads="1"/>
            </p:cNvSpPr>
            <p:nvPr/>
          </p:nvSpPr>
          <p:spPr bwMode="auto">
            <a:xfrm>
              <a:off x="3010212" y="2882916"/>
              <a:ext cx="1412889" cy="1893120"/>
            </a:xfrm>
            <a:prstGeom prst="rect">
              <a:avLst/>
            </a:prstGeom>
            <a:solidFill>
              <a:srgbClr val="00FFFF"/>
            </a:solidFill>
            <a:ln>
              <a:noFill/>
            </a:ln>
            <a:effec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47" name="Line 196"/>
            <p:cNvSpPr>
              <a:spLocks noChangeShapeType="1"/>
            </p:cNvSpPr>
            <p:nvPr/>
          </p:nvSpPr>
          <p:spPr bwMode="auto">
            <a:xfrm>
              <a:off x="3010212" y="1687222"/>
              <a:ext cx="4805903"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C00000"/>
                </a:solidFill>
                <a:latin typeface="+mn-lt"/>
                <a:ea typeface="黑体" panose="02010609060101010101" pitchFamily="2" charset="-122"/>
              </a:endParaRPr>
            </a:p>
          </p:txBody>
        </p:sp>
        <p:sp>
          <p:nvSpPr>
            <p:cNvPr id="48" name="Rectangle 194"/>
            <p:cNvSpPr>
              <a:spLocks noChangeArrowheads="1"/>
            </p:cNvSpPr>
            <p:nvPr/>
          </p:nvSpPr>
          <p:spPr bwMode="auto">
            <a:xfrm>
              <a:off x="4423102" y="2880861"/>
              <a:ext cx="3469890" cy="1893120"/>
            </a:xfrm>
            <a:prstGeom prst="rect">
              <a:avLst/>
            </a:prstGeom>
            <a:solidFill>
              <a:srgbClr val="FF66FF"/>
            </a:solidFill>
            <a:ln>
              <a:noFill/>
            </a:ln>
            <a:effec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49" name="Text Box 80"/>
            <p:cNvSpPr txBox="1">
              <a:spLocks noChangeArrowheads="1"/>
            </p:cNvSpPr>
            <p:nvPr/>
          </p:nvSpPr>
          <p:spPr bwMode="auto">
            <a:xfrm>
              <a:off x="3444469" y="3183404"/>
              <a:ext cx="492443" cy="4616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a:t>
              </a:r>
            </a:p>
          </p:txBody>
        </p:sp>
        <p:sp>
          <p:nvSpPr>
            <p:cNvPr id="50" name="Text Box 83"/>
            <p:cNvSpPr txBox="1">
              <a:spLocks noChangeArrowheads="1"/>
            </p:cNvSpPr>
            <p:nvPr/>
          </p:nvSpPr>
          <p:spPr bwMode="auto">
            <a:xfrm>
              <a:off x="560512" y="2102257"/>
              <a:ext cx="803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anose="02010609060101010101" pitchFamily="2" charset="-122"/>
                </a:rPr>
                <a:t>频谱</a:t>
              </a:r>
            </a:p>
          </p:txBody>
        </p:sp>
        <p:sp>
          <p:nvSpPr>
            <p:cNvPr id="51" name="Line 84"/>
            <p:cNvSpPr>
              <a:spLocks noChangeShapeType="1"/>
            </p:cNvSpPr>
            <p:nvPr/>
          </p:nvSpPr>
          <p:spPr bwMode="auto">
            <a:xfrm rot="16200000">
              <a:off x="247" y="3489284"/>
              <a:ext cx="2653929" cy="0"/>
            </a:xfrm>
            <a:prstGeom prst="line">
              <a:avLst/>
            </a:prstGeom>
            <a:noFill/>
            <a:ln w="28575">
              <a:solidFill>
                <a:srgbClr val="0000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52" name="Text Box 85"/>
            <p:cNvSpPr txBox="1">
              <a:spLocks noChangeArrowheads="1"/>
            </p:cNvSpPr>
            <p:nvPr/>
          </p:nvSpPr>
          <p:spPr bwMode="auto">
            <a:xfrm>
              <a:off x="8409385" y="4767535"/>
              <a:ext cx="803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anose="02010609060101010101" pitchFamily="2" charset="-122"/>
                </a:rPr>
                <a:t>频率</a:t>
              </a:r>
            </a:p>
          </p:txBody>
        </p:sp>
        <p:sp>
          <p:nvSpPr>
            <p:cNvPr id="53" name="Text Box 86"/>
            <p:cNvSpPr txBox="1">
              <a:spLocks noChangeArrowheads="1"/>
            </p:cNvSpPr>
            <p:nvPr/>
          </p:nvSpPr>
          <p:spPr bwMode="auto">
            <a:xfrm>
              <a:off x="4054454" y="1412776"/>
              <a:ext cx="3058786"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C00000"/>
                  </a:solidFill>
                  <a:latin typeface="+mn-lt"/>
                  <a:ea typeface="黑体" panose="02010609060101010101" pitchFamily="2" charset="-122"/>
                </a:rPr>
                <a:t>ADSL </a:t>
              </a:r>
              <a:r>
                <a:rPr lang="zh-CN" altLang="en-US" sz="2800" b="1" dirty="0">
                  <a:solidFill>
                    <a:srgbClr val="C00000"/>
                  </a:solidFill>
                  <a:latin typeface="+mn-lt"/>
                  <a:ea typeface="黑体" panose="02010609060101010101" pitchFamily="2" charset="-122"/>
                </a:rPr>
                <a:t>的数字业务</a:t>
              </a:r>
            </a:p>
          </p:txBody>
        </p:sp>
        <p:sp>
          <p:nvSpPr>
            <p:cNvPr id="54" name="Freeform 87"/>
            <p:cNvSpPr/>
            <p:nvPr/>
          </p:nvSpPr>
          <p:spPr bwMode="auto">
            <a:xfrm>
              <a:off x="1327212" y="2845267"/>
              <a:ext cx="363612" cy="1944286"/>
            </a:xfrm>
            <a:custGeom>
              <a:avLst/>
              <a:gdLst>
                <a:gd name="T0" fmla="*/ 0 w 208"/>
                <a:gd name="T1" fmla="*/ 0 h 1248"/>
                <a:gd name="T2" fmla="*/ 112 w 208"/>
                <a:gd name="T3" fmla="*/ 144 h 1248"/>
                <a:gd name="T4" fmla="*/ 192 w 208"/>
                <a:gd name="T5" fmla="*/ 680 h 1248"/>
                <a:gd name="T6" fmla="*/ 208 w 208"/>
                <a:gd name="T7" fmla="*/ 1248 h 1248"/>
              </a:gdLst>
              <a:ahLst/>
              <a:cxnLst>
                <a:cxn ang="0">
                  <a:pos x="T0" y="T1"/>
                </a:cxn>
                <a:cxn ang="0">
                  <a:pos x="T2" y="T3"/>
                </a:cxn>
                <a:cxn ang="0">
                  <a:pos x="T4" y="T5"/>
                </a:cxn>
                <a:cxn ang="0">
                  <a:pos x="T6" y="T7"/>
                </a:cxn>
              </a:cxnLst>
              <a:rect l="0" t="0" r="r" b="b"/>
              <a:pathLst>
                <a:path w="208" h="1248">
                  <a:moveTo>
                    <a:pt x="0" y="0"/>
                  </a:moveTo>
                  <a:cubicBezTo>
                    <a:pt x="19" y="24"/>
                    <a:pt x="80" y="31"/>
                    <a:pt x="112" y="144"/>
                  </a:cubicBezTo>
                  <a:cubicBezTo>
                    <a:pt x="144" y="257"/>
                    <a:pt x="176" y="496"/>
                    <a:pt x="192" y="680"/>
                  </a:cubicBezTo>
                  <a:cubicBezTo>
                    <a:pt x="208" y="864"/>
                    <a:pt x="205" y="1130"/>
                    <a:pt x="208" y="1248"/>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55" name="Text Box 89"/>
            <p:cNvSpPr txBox="1">
              <a:spLocks noChangeArrowheads="1"/>
            </p:cNvSpPr>
            <p:nvPr/>
          </p:nvSpPr>
          <p:spPr bwMode="auto">
            <a:xfrm>
              <a:off x="2966089" y="1988840"/>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anose="02010609060101010101" pitchFamily="2" charset="-122"/>
                </a:rPr>
                <a:t>上行信道</a:t>
              </a:r>
            </a:p>
          </p:txBody>
        </p:sp>
        <p:sp>
          <p:nvSpPr>
            <p:cNvPr id="56" name="Text Box 90"/>
            <p:cNvSpPr txBox="1">
              <a:spLocks noChangeArrowheads="1"/>
            </p:cNvSpPr>
            <p:nvPr/>
          </p:nvSpPr>
          <p:spPr bwMode="auto">
            <a:xfrm>
              <a:off x="1442583" y="2247255"/>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anose="02010609060101010101" pitchFamily="2" charset="-122"/>
                </a:rPr>
                <a:t>传统电话</a:t>
              </a:r>
            </a:p>
          </p:txBody>
        </p:sp>
        <p:sp>
          <p:nvSpPr>
            <p:cNvPr id="57" name="Line 91"/>
            <p:cNvSpPr>
              <a:spLocks noChangeShapeType="1"/>
            </p:cNvSpPr>
            <p:nvPr/>
          </p:nvSpPr>
          <p:spPr bwMode="auto">
            <a:xfrm flipH="1">
              <a:off x="1562001" y="2693996"/>
              <a:ext cx="384388" cy="442691"/>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58" name="Line 92"/>
            <p:cNvSpPr>
              <a:spLocks noChangeShapeType="1"/>
            </p:cNvSpPr>
            <p:nvPr/>
          </p:nvSpPr>
          <p:spPr bwMode="auto">
            <a:xfrm flipV="1">
              <a:off x="1327211" y="4796227"/>
              <a:ext cx="7551211" cy="0"/>
            </a:xfrm>
            <a:prstGeom prst="line">
              <a:avLst/>
            </a:prstGeom>
            <a:noFill/>
            <a:ln w="28575">
              <a:solidFill>
                <a:srgbClr val="0000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59" name="Text Box 93"/>
            <p:cNvSpPr txBox="1">
              <a:spLocks noChangeArrowheads="1"/>
            </p:cNvSpPr>
            <p:nvPr/>
          </p:nvSpPr>
          <p:spPr bwMode="auto">
            <a:xfrm>
              <a:off x="1030090" y="480290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0</a:t>
              </a:r>
            </a:p>
          </p:txBody>
        </p:sp>
        <p:sp>
          <p:nvSpPr>
            <p:cNvPr id="60" name="Text Box 94"/>
            <p:cNvSpPr txBox="1">
              <a:spLocks noChangeArrowheads="1"/>
            </p:cNvSpPr>
            <p:nvPr/>
          </p:nvSpPr>
          <p:spPr bwMode="auto">
            <a:xfrm>
              <a:off x="1505901" y="480290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4</a:t>
              </a:r>
            </a:p>
          </p:txBody>
        </p:sp>
        <p:sp>
          <p:nvSpPr>
            <p:cNvPr id="61" name="AutoShape 110"/>
            <p:cNvSpPr/>
            <p:nvPr/>
          </p:nvSpPr>
          <p:spPr bwMode="auto">
            <a:xfrm rot="5400000" flipV="1">
              <a:off x="3518636" y="1969961"/>
              <a:ext cx="302543" cy="1319390"/>
            </a:xfrm>
            <a:prstGeom prst="leftBrace">
              <a:avLst>
                <a:gd name="adj1" fmla="val 38909"/>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62" name="AutoShape 113"/>
            <p:cNvSpPr/>
            <p:nvPr/>
          </p:nvSpPr>
          <p:spPr bwMode="auto">
            <a:xfrm rot="5400000" flipV="1">
              <a:off x="6017164" y="979900"/>
              <a:ext cx="302543" cy="3299512"/>
            </a:xfrm>
            <a:prstGeom prst="leftBrace">
              <a:avLst>
                <a:gd name="adj1" fmla="val 97304"/>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anose="02010609060101010101" pitchFamily="2" charset="-122"/>
              </a:endParaRPr>
            </a:p>
          </p:txBody>
        </p:sp>
        <p:sp>
          <p:nvSpPr>
            <p:cNvPr id="63" name="Text Box 114"/>
            <p:cNvSpPr txBox="1">
              <a:spLocks noChangeArrowheads="1"/>
            </p:cNvSpPr>
            <p:nvPr/>
          </p:nvSpPr>
          <p:spPr bwMode="auto">
            <a:xfrm>
              <a:off x="5457056" y="1988840"/>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anose="02010609060101010101" pitchFamily="2" charset="-122"/>
                </a:rPr>
                <a:t>下行信道</a:t>
              </a:r>
            </a:p>
          </p:txBody>
        </p:sp>
        <p:sp>
          <p:nvSpPr>
            <p:cNvPr id="64" name="Text Box 143"/>
            <p:cNvSpPr txBox="1">
              <a:spLocks noChangeArrowheads="1"/>
            </p:cNvSpPr>
            <p:nvPr/>
          </p:nvSpPr>
          <p:spPr bwMode="auto">
            <a:xfrm>
              <a:off x="5896247" y="3183404"/>
              <a:ext cx="492443" cy="4616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a:t>
              </a:r>
            </a:p>
          </p:txBody>
        </p:sp>
        <p:sp>
          <p:nvSpPr>
            <p:cNvPr id="65" name="Freeform 168"/>
            <p:cNvSpPr/>
            <p:nvPr/>
          </p:nvSpPr>
          <p:spPr bwMode="auto">
            <a:xfrm>
              <a:off x="7627036" y="2878636"/>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66" name="Freeform 169"/>
            <p:cNvSpPr/>
            <p:nvPr/>
          </p:nvSpPr>
          <p:spPr bwMode="auto">
            <a:xfrm>
              <a:off x="7440036" y="2880861"/>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67" name="Freeform 170"/>
            <p:cNvSpPr/>
            <p:nvPr/>
          </p:nvSpPr>
          <p:spPr bwMode="auto">
            <a:xfrm>
              <a:off x="7253036" y="2883085"/>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68" name="Freeform 171"/>
            <p:cNvSpPr/>
            <p:nvPr/>
          </p:nvSpPr>
          <p:spPr bwMode="auto">
            <a:xfrm>
              <a:off x="7066036" y="2885310"/>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69" name="Freeform 172"/>
            <p:cNvSpPr/>
            <p:nvPr/>
          </p:nvSpPr>
          <p:spPr bwMode="auto">
            <a:xfrm>
              <a:off x="6879036" y="2887534"/>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0" name="Freeform 173"/>
            <p:cNvSpPr/>
            <p:nvPr/>
          </p:nvSpPr>
          <p:spPr bwMode="auto">
            <a:xfrm>
              <a:off x="6692036" y="2889759"/>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1" name="Freeform 174"/>
            <p:cNvSpPr/>
            <p:nvPr/>
          </p:nvSpPr>
          <p:spPr bwMode="auto">
            <a:xfrm>
              <a:off x="6505036" y="2891983"/>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2" name="Freeform 175"/>
            <p:cNvSpPr/>
            <p:nvPr/>
          </p:nvSpPr>
          <p:spPr bwMode="auto">
            <a:xfrm>
              <a:off x="6318036" y="2894208"/>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3" name="Freeform 176"/>
            <p:cNvSpPr/>
            <p:nvPr/>
          </p:nvSpPr>
          <p:spPr bwMode="auto">
            <a:xfrm>
              <a:off x="5648991" y="2880861"/>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4" name="Freeform 177"/>
            <p:cNvSpPr/>
            <p:nvPr/>
          </p:nvSpPr>
          <p:spPr bwMode="auto">
            <a:xfrm>
              <a:off x="5466147" y="2883085"/>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5" name="Freeform 178"/>
            <p:cNvSpPr/>
            <p:nvPr/>
          </p:nvSpPr>
          <p:spPr bwMode="auto">
            <a:xfrm>
              <a:off x="5283302" y="2885310"/>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6" name="Freeform 179"/>
            <p:cNvSpPr/>
            <p:nvPr/>
          </p:nvSpPr>
          <p:spPr bwMode="auto">
            <a:xfrm>
              <a:off x="5100458" y="2887534"/>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7" name="Freeform 180"/>
            <p:cNvSpPr/>
            <p:nvPr/>
          </p:nvSpPr>
          <p:spPr bwMode="auto">
            <a:xfrm>
              <a:off x="4917613" y="2889759"/>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8" name="Freeform 181"/>
            <p:cNvSpPr/>
            <p:nvPr/>
          </p:nvSpPr>
          <p:spPr bwMode="auto">
            <a:xfrm>
              <a:off x="4734769" y="2891983"/>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79" name="Freeform 182"/>
            <p:cNvSpPr/>
            <p:nvPr/>
          </p:nvSpPr>
          <p:spPr bwMode="auto">
            <a:xfrm>
              <a:off x="4551924" y="2894208"/>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0" name="Freeform 184"/>
            <p:cNvSpPr/>
            <p:nvPr/>
          </p:nvSpPr>
          <p:spPr bwMode="auto">
            <a:xfrm>
              <a:off x="4186235" y="2898657"/>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1" name="Freeform 185"/>
            <p:cNvSpPr/>
            <p:nvPr/>
          </p:nvSpPr>
          <p:spPr bwMode="auto">
            <a:xfrm>
              <a:off x="4003391" y="2900881"/>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2" name="Freeform 186"/>
            <p:cNvSpPr/>
            <p:nvPr/>
          </p:nvSpPr>
          <p:spPr bwMode="auto">
            <a:xfrm>
              <a:off x="3820546" y="2903107"/>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3" name="Freeform 188"/>
            <p:cNvSpPr/>
            <p:nvPr/>
          </p:nvSpPr>
          <p:spPr bwMode="auto">
            <a:xfrm>
              <a:off x="3375901" y="2907556"/>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4" name="Freeform 189"/>
            <p:cNvSpPr/>
            <p:nvPr/>
          </p:nvSpPr>
          <p:spPr bwMode="auto">
            <a:xfrm>
              <a:off x="3193057" y="2909780"/>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5" name="Freeform 190"/>
            <p:cNvSpPr/>
            <p:nvPr/>
          </p:nvSpPr>
          <p:spPr bwMode="auto">
            <a:xfrm>
              <a:off x="3010212" y="2912005"/>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anose="02010609060101010101" pitchFamily="2" charset="-122"/>
              </a:endParaRPr>
            </a:p>
          </p:txBody>
        </p:sp>
        <p:sp>
          <p:nvSpPr>
            <p:cNvPr id="86" name="Text Box 191"/>
            <p:cNvSpPr txBox="1">
              <a:spLocks noChangeArrowheads="1"/>
            </p:cNvSpPr>
            <p:nvPr/>
          </p:nvSpPr>
          <p:spPr bwMode="auto">
            <a:xfrm>
              <a:off x="8409385" y="5091070"/>
              <a:ext cx="9380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anose="02010609060101010101" pitchFamily="2" charset="-122"/>
                </a:rPr>
                <a:t>(kHz)</a:t>
              </a:r>
            </a:p>
          </p:txBody>
        </p:sp>
        <p:sp>
          <p:nvSpPr>
            <p:cNvPr id="87" name="Text Box 192"/>
            <p:cNvSpPr txBox="1">
              <a:spLocks noChangeArrowheads="1"/>
            </p:cNvSpPr>
            <p:nvPr/>
          </p:nvSpPr>
          <p:spPr bwMode="auto">
            <a:xfrm>
              <a:off x="2642446" y="4829596"/>
              <a:ext cx="7072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~40</a:t>
              </a:r>
            </a:p>
          </p:txBody>
        </p:sp>
        <p:sp>
          <p:nvSpPr>
            <p:cNvPr id="88" name="Text Box 193"/>
            <p:cNvSpPr txBox="1">
              <a:spLocks noChangeArrowheads="1"/>
            </p:cNvSpPr>
            <p:nvPr/>
          </p:nvSpPr>
          <p:spPr bwMode="auto">
            <a:xfrm>
              <a:off x="4047025" y="4829596"/>
              <a:ext cx="8787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anose="02010609060101010101" pitchFamily="2" charset="-122"/>
                </a:rPr>
                <a:t>~138</a:t>
              </a:r>
            </a:p>
          </p:txBody>
        </p:sp>
        <p:sp>
          <p:nvSpPr>
            <p:cNvPr id="89" name="Text Box 195"/>
            <p:cNvSpPr txBox="1">
              <a:spLocks noChangeArrowheads="1"/>
            </p:cNvSpPr>
            <p:nvPr/>
          </p:nvSpPr>
          <p:spPr bwMode="auto">
            <a:xfrm>
              <a:off x="7329264" y="4829596"/>
              <a:ext cx="1033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anose="02010609060101010101" pitchFamily="2" charset="-122"/>
                </a:rPr>
                <a:t>~1100</a:t>
              </a: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ADSL</a:t>
            </a:r>
            <a:r>
              <a:rPr lang="zh-CN" altLang="en-US"/>
              <a:t>的传输距离</a:t>
            </a:r>
          </a:p>
        </p:txBody>
      </p:sp>
      <p:pic>
        <p:nvPicPr>
          <p:cNvPr id="4" name="图片 3"/>
          <p:cNvPicPr>
            <a:picLocks noChangeAspect="1"/>
          </p:cNvPicPr>
          <p:nvPr/>
        </p:nvPicPr>
        <p:blipFill>
          <a:blip r:embed="rId2"/>
          <a:stretch>
            <a:fillRect/>
          </a:stretch>
        </p:blipFill>
        <p:spPr>
          <a:xfrm>
            <a:off x="495300" y="1219200"/>
            <a:ext cx="9063990" cy="4811395"/>
          </a:xfrm>
          <a:prstGeom prst="rect">
            <a:avLst/>
          </a:prstGeom>
        </p:spPr>
      </p:pic>
    </p:spTree>
    <p:extLst>
      <p:ext uri="{BB962C8B-B14F-4D97-AF65-F5344CB8AC3E}">
        <p14:creationId xmlns:p14="http://schemas.microsoft.com/office/powerpoint/2010/main" val="24168879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p:txBody>
          <a:bodyPr/>
          <a:lstStyle/>
          <a:p>
            <a:pPr algn="ctr"/>
            <a:r>
              <a:rPr lang="en-US" altLang="zh-CN" dirty="0"/>
              <a:t>ADSL </a:t>
            </a:r>
            <a:r>
              <a:rPr lang="zh-CN" altLang="en-US" dirty="0"/>
              <a:t>的自适应数据率</a:t>
            </a:r>
          </a:p>
        </p:txBody>
      </p:sp>
      <p:sp>
        <p:nvSpPr>
          <p:cNvPr id="307203" name="Rectangle 3"/>
          <p:cNvSpPr>
            <a:spLocks noGrp="1" noChangeArrowheads="1"/>
          </p:cNvSpPr>
          <p:nvPr>
            <p:ph idx="1"/>
          </p:nvPr>
        </p:nvSpPr>
        <p:spPr/>
        <p:txBody>
          <a:bodyPr/>
          <a:lstStyle/>
          <a:p>
            <a:r>
              <a:rPr lang="zh-CN" altLang="en-US" sz="2400" dirty="0"/>
              <a:t>由于用户线的具体条件往往相差很大（距离、线径、受到相邻用户线的干扰程度等都不同），因此 </a:t>
            </a:r>
            <a:r>
              <a:rPr lang="en-US" altLang="zh-CN" sz="2400" dirty="0">
                <a:solidFill>
                  <a:srgbClr val="FF0000"/>
                </a:solidFill>
              </a:rPr>
              <a:t>ADSL </a:t>
            </a:r>
            <a:r>
              <a:rPr lang="zh-CN" altLang="en-US" sz="2400" dirty="0">
                <a:solidFill>
                  <a:srgbClr val="FF0000"/>
                </a:solidFill>
              </a:rPr>
              <a:t>采用自适应调制技术使用户线能够传送尽可能高的数据率。</a:t>
            </a:r>
          </a:p>
          <a:p>
            <a:r>
              <a:rPr lang="zh-CN" altLang="en-US" sz="2400" dirty="0"/>
              <a:t>当 </a:t>
            </a:r>
            <a:r>
              <a:rPr lang="en-US" altLang="zh-CN" sz="2400" dirty="0"/>
              <a:t>ADSL </a:t>
            </a:r>
            <a:r>
              <a:rPr lang="zh-CN" altLang="en-US" sz="2400" dirty="0"/>
              <a:t>启动时，用户线两端的 </a:t>
            </a:r>
            <a:r>
              <a:rPr lang="en-US" altLang="zh-CN" sz="2400" dirty="0"/>
              <a:t>ADSL </a:t>
            </a:r>
            <a:r>
              <a:rPr lang="zh-CN" altLang="en-US" sz="2400" dirty="0"/>
              <a:t>调制解调器就测试可用的频率、各子信道受到的干扰情况，以及在每一个频率上测试信号的传输质量。</a:t>
            </a:r>
          </a:p>
          <a:p>
            <a:r>
              <a:rPr lang="en-US" altLang="zh-CN" sz="2400" dirty="0">
                <a:solidFill>
                  <a:srgbClr val="FF0000"/>
                </a:solidFill>
              </a:rPr>
              <a:t>ADSL </a:t>
            </a:r>
            <a:r>
              <a:rPr lang="zh-CN" altLang="en-US" sz="2400" dirty="0">
                <a:solidFill>
                  <a:srgbClr val="FF0000"/>
                </a:solidFill>
              </a:rPr>
              <a:t>不能保证固定的数据率。</a:t>
            </a:r>
            <a:r>
              <a:rPr lang="zh-CN" altLang="en-US" sz="2400" dirty="0"/>
              <a:t>对于质量很差的用户线甚至无法开通 </a:t>
            </a:r>
            <a:r>
              <a:rPr lang="en-US" altLang="zh-CN" sz="2400" dirty="0"/>
              <a:t>ADSL</a:t>
            </a:r>
            <a:r>
              <a:rPr lang="zh-CN" altLang="en-US" sz="2400" dirty="0"/>
              <a:t>。</a:t>
            </a:r>
          </a:p>
          <a:p>
            <a:r>
              <a:rPr lang="zh-CN" altLang="en-US" sz="2400" dirty="0"/>
              <a:t>通常下行数据率在 </a:t>
            </a:r>
            <a:r>
              <a:rPr lang="en-US" altLang="zh-CN" sz="2400" dirty="0"/>
              <a:t>32 </a:t>
            </a:r>
            <a:r>
              <a:rPr lang="en-US" altLang="zh-CN" sz="2400" dirty="0" err="1"/>
              <a:t>kbit</a:t>
            </a:r>
            <a:r>
              <a:rPr lang="en-US" altLang="zh-CN" sz="2400" dirty="0"/>
              <a:t>/s </a:t>
            </a:r>
            <a:r>
              <a:rPr lang="zh-CN" altLang="en-US" sz="2400" dirty="0"/>
              <a:t>到 </a:t>
            </a:r>
            <a:r>
              <a:rPr lang="en-US" altLang="zh-CN" sz="2400" dirty="0"/>
              <a:t>6.4 Mbit/s </a:t>
            </a:r>
            <a:r>
              <a:rPr lang="zh-CN" altLang="en-US" sz="2400" dirty="0"/>
              <a:t>之间，而上行数据率在 </a:t>
            </a:r>
            <a:r>
              <a:rPr lang="en-US" altLang="zh-CN" sz="2400" dirty="0"/>
              <a:t>32 </a:t>
            </a:r>
            <a:r>
              <a:rPr lang="en-US" altLang="zh-CN" sz="2400" dirty="0" err="1"/>
              <a:t>kbit</a:t>
            </a:r>
            <a:r>
              <a:rPr lang="en-US" altLang="zh-CN" sz="2400" dirty="0"/>
              <a:t>/s </a:t>
            </a:r>
            <a:r>
              <a:rPr lang="zh-CN" altLang="en-US" sz="2400" dirty="0"/>
              <a:t>到 </a:t>
            </a:r>
            <a:r>
              <a:rPr lang="en-US" altLang="zh-CN" sz="2400" dirty="0"/>
              <a:t>640 </a:t>
            </a:r>
            <a:r>
              <a:rPr lang="en-US" altLang="zh-CN" sz="2400" dirty="0" err="1"/>
              <a:t>kbit</a:t>
            </a:r>
            <a:r>
              <a:rPr lang="en-US" altLang="zh-CN" sz="2400" dirty="0"/>
              <a:t>/s </a:t>
            </a:r>
            <a:r>
              <a:rPr lang="zh-CN" altLang="en-US" sz="2400" dirty="0"/>
              <a:t>之间。</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pPr algn="ctr"/>
            <a:r>
              <a:rPr lang="en-US" altLang="zh-CN" dirty="0"/>
              <a:t>ADSL </a:t>
            </a:r>
            <a:r>
              <a:rPr lang="zh-CN" altLang="en-US" dirty="0"/>
              <a:t>的组成 </a:t>
            </a:r>
          </a:p>
        </p:txBody>
      </p:sp>
      <p:sp>
        <p:nvSpPr>
          <p:cNvPr id="285699" name="AutoShape 3"/>
          <p:cNvSpPr>
            <a:spLocks noChangeArrowheads="1"/>
          </p:cNvSpPr>
          <p:nvPr/>
        </p:nvSpPr>
        <p:spPr bwMode="auto">
          <a:xfrm>
            <a:off x="2669117" y="1980927"/>
            <a:ext cx="2261527" cy="2816225"/>
          </a:xfrm>
          <a:prstGeom prst="roundRect">
            <a:avLst>
              <a:gd name="adj" fmla="val 16667"/>
            </a:avLst>
          </a:prstGeom>
          <a:solidFill>
            <a:srgbClr val="CCECFF"/>
          </a:solid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00" name="Freeform 4"/>
          <p:cNvSpPr/>
          <p:nvPr/>
        </p:nvSpPr>
        <p:spPr bwMode="auto">
          <a:xfrm>
            <a:off x="1076590" y="1523726"/>
            <a:ext cx="464344" cy="1420812"/>
          </a:xfrm>
          <a:custGeom>
            <a:avLst/>
            <a:gdLst>
              <a:gd name="T0" fmla="*/ 280 w 280"/>
              <a:gd name="T1" fmla="*/ 600 h 600"/>
              <a:gd name="T2" fmla="*/ 144 w 280"/>
              <a:gd name="T3" fmla="*/ 200 h 600"/>
              <a:gd name="T4" fmla="*/ 112 w 280"/>
              <a:gd name="T5" fmla="*/ 280 h 600"/>
              <a:gd name="T6" fmla="*/ 0 w 280"/>
              <a:gd name="T7" fmla="*/ 0 h 600"/>
            </a:gdLst>
            <a:ahLst/>
            <a:cxnLst>
              <a:cxn ang="0">
                <a:pos x="T0" y="T1"/>
              </a:cxn>
              <a:cxn ang="0">
                <a:pos x="T2" y="T3"/>
              </a:cxn>
              <a:cxn ang="0">
                <a:pos x="T4" y="T5"/>
              </a:cxn>
              <a:cxn ang="0">
                <a:pos x="T6" y="T7"/>
              </a:cxn>
            </a:cxnLst>
            <a:rect l="0" t="0" r="r" b="b"/>
            <a:pathLst>
              <a:path w="280" h="600">
                <a:moveTo>
                  <a:pt x="280" y="600"/>
                </a:moveTo>
                <a:lnTo>
                  <a:pt x="144" y="200"/>
                </a:lnTo>
                <a:lnTo>
                  <a:pt x="112" y="280"/>
                </a:lnTo>
                <a:lnTo>
                  <a:pt x="0" y="0"/>
                </a:lnTo>
              </a:path>
            </a:pathLst>
          </a:custGeom>
          <a:noFill/>
          <a:ln w="28575">
            <a:solidFill>
              <a:schemeClr val="tx1"/>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01" name="Line 5"/>
          <p:cNvSpPr>
            <a:spLocks noChangeShapeType="1"/>
          </p:cNvSpPr>
          <p:nvPr/>
        </p:nvSpPr>
        <p:spPr bwMode="auto">
          <a:xfrm rot="-5400000">
            <a:off x="2789502" y="2950360"/>
            <a:ext cx="0" cy="71543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02" name="Freeform 6"/>
          <p:cNvSpPr/>
          <p:nvPr/>
        </p:nvSpPr>
        <p:spPr bwMode="auto">
          <a:xfrm rot="-989619">
            <a:off x="5233327" y="3068364"/>
            <a:ext cx="607086" cy="1387475"/>
          </a:xfrm>
          <a:custGeom>
            <a:avLst/>
            <a:gdLst>
              <a:gd name="T0" fmla="*/ 0 w 366"/>
              <a:gd name="T1" fmla="*/ 0 h 702"/>
              <a:gd name="T2" fmla="*/ 138 w 366"/>
              <a:gd name="T3" fmla="*/ 343 h 702"/>
              <a:gd name="T4" fmla="*/ 168 w 366"/>
              <a:gd name="T5" fmla="*/ 252 h 702"/>
              <a:gd name="T6" fmla="*/ 366 w 366"/>
              <a:gd name="T7" fmla="*/ 702 h 702"/>
            </a:gdLst>
            <a:ahLst/>
            <a:cxnLst>
              <a:cxn ang="0">
                <a:pos x="T0" y="T1"/>
              </a:cxn>
              <a:cxn ang="0">
                <a:pos x="T2" y="T3"/>
              </a:cxn>
              <a:cxn ang="0">
                <a:pos x="T4" y="T5"/>
              </a:cxn>
              <a:cxn ang="0">
                <a:pos x="T6" y="T7"/>
              </a:cxn>
            </a:cxnLst>
            <a:rect l="0" t="0" r="r" b="b"/>
            <a:pathLst>
              <a:path w="366" h="702">
                <a:moveTo>
                  <a:pt x="0" y="0"/>
                </a:moveTo>
                <a:lnTo>
                  <a:pt x="138" y="343"/>
                </a:lnTo>
                <a:lnTo>
                  <a:pt x="168" y="252"/>
                </a:lnTo>
                <a:lnTo>
                  <a:pt x="366" y="702"/>
                </a:lnTo>
              </a:path>
            </a:pathLst>
          </a:custGeom>
          <a:noFill/>
          <a:ln w="28575" cmpd="sng">
            <a:solidFill>
              <a:srgbClr val="333399"/>
            </a:solidFill>
            <a:rou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pic>
        <p:nvPicPr>
          <p:cNvPr id="285703"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9763" y="1980926"/>
            <a:ext cx="1138502" cy="243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5704" name="AutoShape 8"/>
          <p:cNvSpPr>
            <a:spLocks noChangeArrowheads="1"/>
          </p:cNvSpPr>
          <p:nvPr/>
        </p:nvSpPr>
        <p:spPr bwMode="auto">
          <a:xfrm>
            <a:off x="3773223" y="3274739"/>
            <a:ext cx="1030156" cy="569913"/>
          </a:xfrm>
          <a:prstGeom prst="cube">
            <a:avLst>
              <a:gd name="adj" fmla="val 2500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05" name="Text Box 9"/>
          <p:cNvSpPr txBox="1">
            <a:spLocks noChangeArrowheads="1"/>
          </p:cNvSpPr>
          <p:nvPr/>
        </p:nvSpPr>
        <p:spPr bwMode="auto">
          <a:xfrm>
            <a:off x="3711311" y="3417614"/>
            <a:ext cx="9655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anose="02010609060101010101" pitchFamily="2" charset="-122"/>
              </a:rPr>
              <a:t>ATU-C</a:t>
            </a:r>
          </a:p>
        </p:txBody>
      </p:sp>
      <p:sp>
        <p:nvSpPr>
          <p:cNvPr id="285706" name="AutoShape 10"/>
          <p:cNvSpPr>
            <a:spLocks noChangeArrowheads="1"/>
          </p:cNvSpPr>
          <p:nvPr/>
        </p:nvSpPr>
        <p:spPr bwMode="auto">
          <a:xfrm>
            <a:off x="3773223" y="2771501"/>
            <a:ext cx="1030156" cy="571500"/>
          </a:xfrm>
          <a:prstGeom prst="cube">
            <a:avLst>
              <a:gd name="adj" fmla="val 2500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07" name="Text Box 11"/>
          <p:cNvSpPr txBox="1">
            <a:spLocks noChangeArrowheads="1"/>
          </p:cNvSpPr>
          <p:nvPr/>
        </p:nvSpPr>
        <p:spPr bwMode="auto">
          <a:xfrm>
            <a:off x="3711311" y="2896913"/>
            <a:ext cx="965521" cy="40011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anose="02010609060101010101" pitchFamily="2" charset="-122"/>
              </a:rPr>
              <a:t>ATU-C</a:t>
            </a:r>
          </a:p>
        </p:txBody>
      </p:sp>
      <p:pic>
        <p:nvPicPr>
          <p:cNvPr id="285708" name="Picture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0175" y="1599926"/>
            <a:ext cx="3095625"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85709" name="Line 13"/>
          <p:cNvSpPr>
            <a:spLocks noChangeShapeType="1"/>
          </p:cNvSpPr>
          <p:nvPr/>
        </p:nvSpPr>
        <p:spPr bwMode="auto">
          <a:xfrm>
            <a:off x="7037388" y="3117577"/>
            <a:ext cx="0" cy="5683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pic>
        <p:nvPicPr>
          <p:cNvPr id="285710" name="Picture 1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27825" y="3520801"/>
            <a:ext cx="61396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5711" name="AutoShape 15"/>
          <p:cNvSpPr>
            <a:spLocks noChangeArrowheads="1"/>
          </p:cNvSpPr>
          <p:nvPr/>
        </p:nvSpPr>
        <p:spPr bwMode="auto">
          <a:xfrm>
            <a:off x="7376187" y="2822301"/>
            <a:ext cx="1030155" cy="569912"/>
          </a:xfrm>
          <a:prstGeom prst="cube">
            <a:avLst>
              <a:gd name="adj" fmla="val 2500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12" name="Text Box 16"/>
          <p:cNvSpPr txBox="1">
            <a:spLocks noChangeArrowheads="1"/>
          </p:cNvSpPr>
          <p:nvPr/>
        </p:nvSpPr>
        <p:spPr bwMode="auto">
          <a:xfrm>
            <a:off x="7302236" y="2962002"/>
            <a:ext cx="9655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anose="02010609060101010101" pitchFamily="2" charset="-122"/>
              </a:rPr>
              <a:t>ATU-R</a:t>
            </a:r>
          </a:p>
        </p:txBody>
      </p:sp>
      <p:pic>
        <p:nvPicPr>
          <p:cNvPr id="285713" name="Picture 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727" y="2458763"/>
            <a:ext cx="2320000" cy="1893888"/>
          </a:xfrm>
          <a:prstGeom prst="rect">
            <a:avLst/>
          </a:prstGeom>
          <a:noFill/>
          <a:ln>
            <a:noFill/>
          </a:ln>
          <a:effectLst>
            <a:outerShdw dist="28398" dir="3806097"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5714" name="Freeform 18"/>
          <p:cNvSpPr/>
          <p:nvPr/>
        </p:nvSpPr>
        <p:spPr bwMode="auto">
          <a:xfrm>
            <a:off x="4724269" y="3068363"/>
            <a:ext cx="2658798" cy="96838"/>
          </a:xfrm>
          <a:custGeom>
            <a:avLst/>
            <a:gdLst>
              <a:gd name="T0" fmla="*/ 1608 w 1608"/>
              <a:gd name="T1" fmla="*/ 48 h 48"/>
              <a:gd name="T2" fmla="*/ 790 w 1608"/>
              <a:gd name="T3" fmla="*/ 48 h 48"/>
              <a:gd name="T4" fmla="*/ 844 w 1608"/>
              <a:gd name="T5" fmla="*/ 1 h 48"/>
              <a:gd name="T6" fmla="*/ 0 w 1608"/>
              <a:gd name="T7" fmla="*/ 0 h 48"/>
            </a:gdLst>
            <a:ahLst/>
            <a:cxnLst>
              <a:cxn ang="0">
                <a:pos x="T0" y="T1"/>
              </a:cxn>
              <a:cxn ang="0">
                <a:pos x="T2" y="T3"/>
              </a:cxn>
              <a:cxn ang="0">
                <a:pos x="T4" y="T5"/>
              </a:cxn>
              <a:cxn ang="0">
                <a:pos x="T6" y="T7"/>
              </a:cxn>
            </a:cxnLst>
            <a:rect l="0" t="0" r="r" b="b"/>
            <a:pathLst>
              <a:path w="1608" h="48">
                <a:moveTo>
                  <a:pt x="1608" y="48"/>
                </a:moveTo>
                <a:lnTo>
                  <a:pt x="790" y="48"/>
                </a:lnTo>
                <a:lnTo>
                  <a:pt x="844" y="1"/>
                </a:lnTo>
                <a:lnTo>
                  <a:pt x="0" y="0"/>
                </a:lnTo>
              </a:path>
            </a:pathLst>
          </a:custGeom>
          <a:noFill/>
          <a:ln w="3810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15" name="AutoShape 19"/>
          <p:cNvSpPr>
            <a:spLocks noChangeArrowheads="1"/>
          </p:cNvSpPr>
          <p:nvPr/>
        </p:nvSpPr>
        <p:spPr bwMode="auto">
          <a:xfrm>
            <a:off x="6956559" y="3003276"/>
            <a:ext cx="237331" cy="284162"/>
          </a:xfrm>
          <a:prstGeom prst="cube">
            <a:avLst>
              <a:gd name="adj" fmla="val 25000"/>
            </a:avLst>
          </a:prstGeom>
          <a:solidFill>
            <a:srgbClr val="969696"/>
          </a:solidFill>
          <a:ln w="9525">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16" name="AutoShape 20"/>
          <p:cNvSpPr>
            <a:spLocks noChangeArrowheads="1"/>
          </p:cNvSpPr>
          <p:nvPr/>
        </p:nvSpPr>
        <p:spPr bwMode="auto">
          <a:xfrm>
            <a:off x="4971918" y="2928664"/>
            <a:ext cx="239051" cy="282575"/>
          </a:xfrm>
          <a:prstGeom prst="cube">
            <a:avLst>
              <a:gd name="adj" fmla="val 25000"/>
            </a:avLst>
          </a:prstGeom>
          <a:solidFill>
            <a:srgbClr val="969696"/>
          </a:solidFill>
          <a:ln w="9525">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17" name="AutoShape 21"/>
          <p:cNvSpPr>
            <a:spLocks noChangeArrowheads="1"/>
          </p:cNvSpPr>
          <p:nvPr/>
        </p:nvSpPr>
        <p:spPr bwMode="auto">
          <a:xfrm>
            <a:off x="3773223" y="2282551"/>
            <a:ext cx="1030156" cy="569912"/>
          </a:xfrm>
          <a:prstGeom prst="cube">
            <a:avLst>
              <a:gd name="adj" fmla="val 2500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18" name="Text Box 22"/>
          <p:cNvSpPr txBox="1">
            <a:spLocks noChangeArrowheads="1"/>
          </p:cNvSpPr>
          <p:nvPr/>
        </p:nvSpPr>
        <p:spPr bwMode="auto">
          <a:xfrm>
            <a:off x="3711311" y="2450827"/>
            <a:ext cx="965521" cy="40011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anose="02010609060101010101" pitchFamily="2" charset="-122"/>
              </a:rPr>
              <a:t>ATU-C</a:t>
            </a:r>
          </a:p>
        </p:txBody>
      </p:sp>
      <p:sp>
        <p:nvSpPr>
          <p:cNvPr id="285719" name="Freeform 23"/>
          <p:cNvSpPr/>
          <p:nvPr/>
        </p:nvSpPr>
        <p:spPr bwMode="auto">
          <a:xfrm>
            <a:off x="8346149" y="3117577"/>
            <a:ext cx="316442" cy="307975"/>
          </a:xfrm>
          <a:custGeom>
            <a:avLst/>
            <a:gdLst>
              <a:gd name="T0" fmla="*/ 0 w 192"/>
              <a:gd name="T1" fmla="*/ 6 h 156"/>
              <a:gd name="T2" fmla="*/ 192 w 192"/>
              <a:gd name="T3" fmla="*/ 0 h 156"/>
              <a:gd name="T4" fmla="*/ 192 w 192"/>
              <a:gd name="T5" fmla="*/ 156 h 156"/>
            </a:gdLst>
            <a:ahLst/>
            <a:cxnLst>
              <a:cxn ang="0">
                <a:pos x="T0" y="T1"/>
              </a:cxn>
              <a:cxn ang="0">
                <a:pos x="T2" y="T3"/>
              </a:cxn>
              <a:cxn ang="0">
                <a:pos x="T4" y="T5"/>
              </a:cxn>
            </a:cxnLst>
            <a:rect l="0" t="0" r="r" b="b"/>
            <a:pathLst>
              <a:path w="192" h="156">
                <a:moveTo>
                  <a:pt x="0" y="6"/>
                </a:moveTo>
                <a:lnTo>
                  <a:pt x="192" y="0"/>
                </a:lnTo>
                <a:lnTo>
                  <a:pt x="192" y="156"/>
                </a:lnTo>
              </a:path>
            </a:pathLst>
          </a:custGeom>
          <a:noFill/>
          <a:ln w="38100"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pic>
        <p:nvPicPr>
          <p:cNvPr id="285720" name="Picture 2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83986" y="3308076"/>
            <a:ext cx="613965"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5721" name="Text Box 25"/>
          <p:cNvSpPr txBox="1">
            <a:spLocks noChangeArrowheads="1"/>
          </p:cNvSpPr>
          <p:nvPr/>
        </p:nvSpPr>
        <p:spPr bwMode="auto">
          <a:xfrm>
            <a:off x="5503333" y="2671489"/>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anose="02010609060101010101" pitchFamily="2" charset="-122"/>
              </a:rPr>
              <a:t>用户线</a:t>
            </a:r>
          </a:p>
        </p:txBody>
      </p:sp>
      <p:sp>
        <p:nvSpPr>
          <p:cNvPr id="285722" name="Text Box 26"/>
          <p:cNvSpPr txBox="1">
            <a:spLocks noChangeArrowheads="1"/>
          </p:cNvSpPr>
          <p:nvPr/>
        </p:nvSpPr>
        <p:spPr bwMode="auto">
          <a:xfrm>
            <a:off x="5553208" y="1739626"/>
            <a:ext cx="954107"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2000" b="1">
                <a:solidFill>
                  <a:srgbClr val="000099"/>
                </a:solidFill>
                <a:latin typeface="+mn-lt"/>
                <a:ea typeface="黑体" panose="02010609060101010101" pitchFamily="2" charset="-122"/>
              </a:rPr>
              <a:t> </a:t>
            </a:r>
            <a:r>
              <a:rPr kumimoji="1" lang="zh-CN" altLang="en-US" sz="2000" b="1">
                <a:solidFill>
                  <a:srgbClr val="000099"/>
                </a:solidFill>
                <a:latin typeface="+mn-lt"/>
                <a:ea typeface="黑体" panose="02010609060101010101" pitchFamily="2" charset="-122"/>
              </a:rPr>
              <a:t>电话</a:t>
            </a:r>
          </a:p>
          <a:p>
            <a:pPr algn="l">
              <a:lnSpc>
                <a:spcPct val="85000"/>
              </a:lnSpc>
            </a:pPr>
            <a:r>
              <a:rPr kumimoji="1" lang="zh-CN" altLang="en-US" sz="2000" b="1">
                <a:solidFill>
                  <a:srgbClr val="000099"/>
                </a:solidFill>
                <a:latin typeface="+mn-lt"/>
                <a:ea typeface="黑体" panose="02010609060101010101" pitchFamily="2" charset="-122"/>
              </a:rPr>
              <a:t>分离器</a:t>
            </a:r>
          </a:p>
        </p:txBody>
      </p:sp>
      <p:sp>
        <p:nvSpPr>
          <p:cNvPr id="285723" name="Line 27"/>
          <p:cNvSpPr>
            <a:spLocks noChangeShapeType="1"/>
          </p:cNvSpPr>
          <p:nvPr/>
        </p:nvSpPr>
        <p:spPr bwMode="auto">
          <a:xfrm flipH="1">
            <a:off x="5210969" y="2357163"/>
            <a:ext cx="474662" cy="587375"/>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24" name="Line 28"/>
          <p:cNvSpPr>
            <a:spLocks noChangeShapeType="1"/>
          </p:cNvSpPr>
          <p:nvPr/>
        </p:nvSpPr>
        <p:spPr bwMode="auto">
          <a:xfrm rot="16200000" flipH="1">
            <a:off x="6305881" y="2373236"/>
            <a:ext cx="666750" cy="634604"/>
          </a:xfrm>
          <a:prstGeom prst="line">
            <a:avLst/>
          </a:prstGeom>
          <a:noFill/>
          <a:ln w="28575">
            <a:solidFill>
              <a:srgbClr val="333399"/>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25" name="Text Box 29"/>
          <p:cNvSpPr txBox="1">
            <a:spLocks noChangeArrowheads="1"/>
          </p:cNvSpPr>
          <p:nvPr/>
        </p:nvSpPr>
        <p:spPr bwMode="auto">
          <a:xfrm>
            <a:off x="596769" y="3176314"/>
            <a:ext cx="160492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dirty="0">
                <a:solidFill>
                  <a:srgbClr val="000099"/>
                </a:solidFill>
                <a:latin typeface="+mn-lt"/>
                <a:ea typeface="黑体" panose="02010609060101010101" pitchFamily="2" charset="-122"/>
              </a:rPr>
              <a:t> </a:t>
            </a:r>
            <a:r>
              <a:rPr kumimoji="1" lang="zh-CN" altLang="en-US" sz="2000" b="1" dirty="0">
                <a:solidFill>
                  <a:srgbClr val="000099"/>
                </a:solidFill>
                <a:latin typeface="+mn-lt"/>
                <a:ea typeface="黑体" panose="02010609060101010101" pitchFamily="2" charset="-122"/>
              </a:rPr>
              <a:t>区域宽带网</a:t>
            </a:r>
          </a:p>
        </p:txBody>
      </p:sp>
      <p:sp>
        <p:nvSpPr>
          <p:cNvPr id="285726" name="Text Box 30"/>
          <p:cNvSpPr txBox="1">
            <a:spLocks noChangeArrowheads="1"/>
          </p:cNvSpPr>
          <p:nvPr/>
        </p:nvSpPr>
        <p:spPr bwMode="auto">
          <a:xfrm>
            <a:off x="622565" y="1161777"/>
            <a:ext cx="9621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anose="02010609060101010101" pitchFamily="2" charset="-122"/>
              </a:rPr>
              <a:t>至 </a:t>
            </a:r>
            <a:r>
              <a:rPr kumimoji="1" lang="en-US" altLang="zh-CN" sz="2000" b="1">
                <a:solidFill>
                  <a:srgbClr val="000099"/>
                </a:solidFill>
                <a:latin typeface="+mn-lt"/>
                <a:ea typeface="黑体" panose="02010609060101010101" pitchFamily="2" charset="-122"/>
              </a:rPr>
              <a:t>ISP</a:t>
            </a:r>
          </a:p>
        </p:txBody>
      </p:sp>
      <p:sp>
        <p:nvSpPr>
          <p:cNvPr id="285727" name="Text Box 31"/>
          <p:cNvSpPr txBox="1">
            <a:spLocks noChangeArrowheads="1"/>
          </p:cNvSpPr>
          <p:nvPr/>
        </p:nvSpPr>
        <p:spPr bwMode="auto">
          <a:xfrm>
            <a:off x="7432939" y="39859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anose="02010609060101010101" pitchFamily="2" charset="-122"/>
              </a:rPr>
              <a:t>居民家庭</a:t>
            </a:r>
          </a:p>
        </p:txBody>
      </p:sp>
      <p:sp>
        <p:nvSpPr>
          <p:cNvPr id="285728" name="Line 32"/>
          <p:cNvSpPr>
            <a:spLocks noChangeShapeType="1"/>
          </p:cNvSpPr>
          <p:nvPr/>
        </p:nvSpPr>
        <p:spPr bwMode="auto">
          <a:xfrm>
            <a:off x="2629563" y="1341163"/>
            <a:ext cx="6428581"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29" name="Text Box 33"/>
          <p:cNvSpPr txBox="1">
            <a:spLocks noChangeArrowheads="1"/>
          </p:cNvSpPr>
          <p:nvPr/>
        </p:nvSpPr>
        <p:spPr bwMode="auto">
          <a:xfrm>
            <a:off x="4520952" y="1144314"/>
            <a:ext cx="3032240"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dirty="0">
                <a:solidFill>
                  <a:srgbClr val="C00000"/>
                </a:solidFill>
                <a:latin typeface="+mn-lt"/>
                <a:ea typeface="黑体" panose="02010609060101010101" pitchFamily="2" charset="-122"/>
              </a:rPr>
              <a:t>基于 </a:t>
            </a:r>
            <a:r>
              <a:rPr kumimoji="1" lang="en-US" altLang="zh-CN" sz="2400" b="1" dirty="0">
                <a:solidFill>
                  <a:srgbClr val="C00000"/>
                </a:solidFill>
                <a:latin typeface="+mn-lt"/>
                <a:ea typeface="黑体" panose="02010609060101010101" pitchFamily="2" charset="-122"/>
              </a:rPr>
              <a:t>ADSL </a:t>
            </a:r>
            <a:r>
              <a:rPr kumimoji="1" lang="zh-CN" altLang="en-US" sz="2400" b="1" dirty="0">
                <a:solidFill>
                  <a:srgbClr val="C00000"/>
                </a:solidFill>
                <a:latin typeface="+mn-lt"/>
                <a:ea typeface="黑体" panose="02010609060101010101" pitchFamily="2" charset="-122"/>
              </a:rPr>
              <a:t>的接入网</a:t>
            </a:r>
          </a:p>
        </p:txBody>
      </p:sp>
      <p:sp>
        <p:nvSpPr>
          <p:cNvPr id="285730" name="Text Box 34"/>
          <p:cNvSpPr txBox="1">
            <a:spLocks noChangeArrowheads="1"/>
          </p:cNvSpPr>
          <p:nvPr/>
        </p:nvSpPr>
        <p:spPr bwMode="auto">
          <a:xfrm>
            <a:off x="2889250" y="1520552"/>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anose="02010609060101010101" pitchFamily="2" charset="-122"/>
              </a:rPr>
              <a:t>端局或远端站</a:t>
            </a:r>
          </a:p>
        </p:txBody>
      </p:sp>
      <p:sp>
        <p:nvSpPr>
          <p:cNvPr id="285731" name="Line 35"/>
          <p:cNvSpPr>
            <a:spLocks noChangeShapeType="1"/>
          </p:cNvSpPr>
          <p:nvPr/>
        </p:nvSpPr>
        <p:spPr bwMode="auto">
          <a:xfrm>
            <a:off x="2670838" y="4493939"/>
            <a:ext cx="2246048" cy="15875"/>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32" name="Text Box 36"/>
          <p:cNvSpPr txBox="1">
            <a:spLocks noChangeArrowheads="1"/>
          </p:cNvSpPr>
          <p:nvPr/>
        </p:nvSpPr>
        <p:spPr bwMode="auto">
          <a:xfrm>
            <a:off x="3205692" y="4301852"/>
            <a:ext cx="1098378" cy="35394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2000" b="1">
                <a:solidFill>
                  <a:srgbClr val="000099"/>
                </a:solidFill>
                <a:latin typeface="+mn-lt"/>
                <a:ea typeface="黑体" panose="02010609060101010101" pitchFamily="2" charset="-122"/>
              </a:rPr>
              <a:t>DSLAM</a:t>
            </a:r>
          </a:p>
        </p:txBody>
      </p:sp>
      <p:sp>
        <p:nvSpPr>
          <p:cNvPr id="285733" name="Text Box 37"/>
          <p:cNvSpPr txBox="1">
            <a:spLocks noChangeArrowheads="1"/>
          </p:cNvSpPr>
          <p:nvPr/>
        </p:nvSpPr>
        <p:spPr bwMode="auto">
          <a:xfrm>
            <a:off x="5259123" y="425581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anose="02010609060101010101" pitchFamily="2" charset="-122"/>
              </a:rPr>
              <a:t>至本地电话局</a:t>
            </a:r>
          </a:p>
        </p:txBody>
      </p:sp>
      <p:sp>
        <p:nvSpPr>
          <p:cNvPr id="285734" name="Text Box 38"/>
          <p:cNvSpPr txBox="1">
            <a:spLocks noChangeArrowheads="1"/>
          </p:cNvSpPr>
          <p:nvPr/>
        </p:nvSpPr>
        <p:spPr bwMode="auto">
          <a:xfrm>
            <a:off x="4879050" y="2204764"/>
            <a:ext cx="52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dirty="0">
                <a:solidFill>
                  <a:srgbClr val="000099"/>
                </a:solidFill>
                <a:latin typeface="+mn-lt"/>
                <a:ea typeface="黑体" panose="02010609060101010101" pitchFamily="2" charset="-122"/>
              </a:rPr>
              <a:t>PS</a:t>
            </a:r>
          </a:p>
        </p:txBody>
      </p:sp>
      <p:sp>
        <p:nvSpPr>
          <p:cNvPr id="285735" name="Text Box 39"/>
          <p:cNvSpPr txBox="1">
            <a:spLocks noChangeArrowheads="1"/>
          </p:cNvSpPr>
          <p:nvPr/>
        </p:nvSpPr>
        <p:spPr bwMode="auto">
          <a:xfrm>
            <a:off x="6922163" y="2671489"/>
            <a:ext cx="52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anose="02010609060101010101" pitchFamily="2" charset="-122"/>
              </a:rPr>
              <a:t>PS</a:t>
            </a:r>
          </a:p>
        </p:txBody>
      </p:sp>
      <p:sp>
        <p:nvSpPr>
          <p:cNvPr id="285736" name="Freeform 40"/>
          <p:cNvSpPr/>
          <p:nvPr/>
        </p:nvSpPr>
        <p:spPr bwMode="auto">
          <a:xfrm>
            <a:off x="4746625" y="3544613"/>
            <a:ext cx="323321" cy="1588"/>
          </a:xfrm>
          <a:custGeom>
            <a:avLst/>
            <a:gdLst>
              <a:gd name="T0" fmla="*/ 0 w 196"/>
              <a:gd name="T1" fmla="*/ 0 h 1"/>
              <a:gd name="T2" fmla="*/ 196 w 196"/>
              <a:gd name="T3" fmla="*/ 0 h 1"/>
            </a:gdLst>
            <a:ahLst/>
            <a:cxnLst>
              <a:cxn ang="0">
                <a:pos x="T0" y="T1"/>
              </a:cxn>
              <a:cxn ang="0">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85737" name="Freeform 41"/>
          <p:cNvSpPr/>
          <p:nvPr/>
        </p:nvSpPr>
        <p:spPr bwMode="auto">
          <a:xfrm>
            <a:off x="4746625" y="2547663"/>
            <a:ext cx="323321" cy="0"/>
          </a:xfrm>
          <a:custGeom>
            <a:avLst/>
            <a:gdLst>
              <a:gd name="T0" fmla="*/ 0 w 196"/>
              <a:gd name="T1" fmla="*/ 0 h 1"/>
              <a:gd name="T2" fmla="*/ 196 w 196"/>
              <a:gd name="T3" fmla="*/ 0 h 1"/>
            </a:gdLst>
            <a:ahLst/>
            <a:cxnLst>
              <a:cxn ang="0">
                <a:pos x="T0" y="T1"/>
              </a:cxn>
              <a:cxn ang="0">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anose="02010609060101010101" pitchFamily="2" charset="-122"/>
            </a:endParaRPr>
          </a:p>
        </p:txBody>
      </p:sp>
      <p:sp>
        <p:nvSpPr>
          <p:cNvPr id="2" name="TextBox 1"/>
          <p:cNvSpPr txBox="1"/>
          <p:nvPr/>
        </p:nvSpPr>
        <p:spPr>
          <a:xfrm>
            <a:off x="836391" y="4932511"/>
            <a:ext cx="8637393" cy="1323439"/>
          </a:xfrm>
          <a:prstGeom prst="rect">
            <a:avLst/>
          </a:prstGeom>
          <a:solidFill>
            <a:srgbClr val="FFFF66"/>
          </a:solidFill>
        </p:spPr>
        <p:txBody>
          <a:bodyPr wrap="square" rtlCol="0">
            <a:spAutoFit/>
          </a:bodyPr>
          <a:lstStyle/>
          <a:p>
            <a:r>
              <a:rPr lang="en-US" altLang="zh-CN" sz="2000" b="1" dirty="0">
                <a:solidFill>
                  <a:srgbClr val="000099"/>
                </a:solidFill>
                <a:ea typeface="黑体" panose="02010609060101010101" pitchFamily="2" charset="-122"/>
              </a:rPr>
              <a:t>DSLAM (DSL Access Multiplexer) </a:t>
            </a:r>
            <a:r>
              <a:rPr lang="zh-CN" altLang="en-US" sz="2000" b="1" dirty="0">
                <a:solidFill>
                  <a:srgbClr val="000099"/>
                </a:solidFill>
                <a:ea typeface="黑体" panose="02010609060101010101" pitchFamily="2" charset="-122"/>
              </a:rPr>
              <a:t>：数字用户线接入复用器 </a:t>
            </a:r>
            <a:endParaRPr lang="en-US" altLang="zh-CN" sz="2000" b="1" dirty="0">
              <a:solidFill>
                <a:srgbClr val="000099"/>
              </a:solidFill>
              <a:ea typeface="黑体" panose="02010609060101010101" pitchFamily="2" charset="-122"/>
            </a:endParaRPr>
          </a:p>
          <a:p>
            <a:r>
              <a:rPr lang="en-US" altLang="zh-CN" sz="2000" b="1" dirty="0">
                <a:solidFill>
                  <a:srgbClr val="000099"/>
                </a:solidFill>
                <a:ea typeface="黑体" panose="02010609060101010101" pitchFamily="2" charset="-122"/>
              </a:rPr>
              <a:t>ATU (Access Termination Unit) </a:t>
            </a:r>
            <a:r>
              <a:rPr lang="zh-CN" altLang="en-US" sz="2000" b="1" dirty="0">
                <a:solidFill>
                  <a:srgbClr val="000099"/>
                </a:solidFill>
                <a:ea typeface="黑体" panose="02010609060101010101" pitchFamily="2" charset="-122"/>
              </a:rPr>
              <a:t>：接入端接单元</a:t>
            </a:r>
            <a:endParaRPr lang="en-US" altLang="zh-CN" sz="2000" b="1" dirty="0">
              <a:solidFill>
                <a:srgbClr val="000099"/>
              </a:solidFill>
              <a:ea typeface="黑体" panose="02010609060101010101" pitchFamily="2" charset="-122"/>
            </a:endParaRPr>
          </a:p>
          <a:p>
            <a:r>
              <a:rPr lang="en-US" altLang="zh-CN" sz="2000" b="1" dirty="0">
                <a:solidFill>
                  <a:srgbClr val="000099"/>
                </a:solidFill>
                <a:ea typeface="黑体" panose="02010609060101010101" pitchFamily="2" charset="-122"/>
              </a:rPr>
              <a:t>ATU-C (C </a:t>
            </a:r>
            <a:r>
              <a:rPr lang="zh-CN" altLang="en-US" sz="2000" b="1" dirty="0">
                <a:solidFill>
                  <a:srgbClr val="000099"/>
                </a:solidFill>
                <a:ea typeface="黑体" panose="02010609060101010101" pitchFamily="2" charset="-122"/>
              </a:rPr>
              <a:t>代表端局 </a:t>
            </a:r>
            <a:r>
              <a:rPr lang="en-US" altLang="zh-CN" sz="2000" b="1" dirty="0">
                <a:solidFill>
                  <a:srgbClr val="000099"/>
                </a:solidFill>
                <a:ea typeface="黑体" panose="02010609060101010101" pitchFamily="2" charset="-122"/>
              </a:rPr>
              <a:t>Central Office) 	ATU-R (R </a:t>
            </a:r>
            <a:r>
              <a:rPr lang="zh-CN" altLang="en-US" sz="2000" b="1" dirty="0">
                <a:solidFill>
                  <a:srgbClr val="000099"/>
                </a:solidFill>
                <a:ea typeface="黑体" panose="02010609060101010101" pitchFamily="2" charset="-122"/>
              </a:rPr>
              <a:t>代表远端 </a:t>
            </a:r>
            <a:r>
              <a:rPr lang="en-US" altLang="zh-CN" sz="2000" b="1" dirty="0">
                <a:solidFill>
                  <a:srgbClr val="000099"/>
                </a:solidFill>
                <a:ea typeface="黑体" panose="02010609060101010101" pitchFamily="2" charset="-122"/>
              </a:rPr>
              <a:t>Remote)</a:t>
            </a:r>
          </a:p>
          <a:p>
            <a:r>
              <a:rPr lang="en-US" altLang="zh-CN" sz="2000" b="1" dirty="0">
                <a:solidFill>
                  <a:srgbClr val="000099"/>
                </a:solidFill>
                <a:ea typeface="黑体" panose="02010609060101010101" pitchFamily="2" charset="-122"/>
              </a:rPr>
              <a:t>PS (POTS Splitter) </a:t>
            </a:r>
            <a:r>
              <a:rPr lang="zh-CN" altLang="en-US" sz="2000" b="1" dirty="0">
                <a:solidFill>
                  <a:srgbClr val="000099"/>
                </a:solidFill>
                <a:ea typeface="黑体" panose="02010609060101010101" pitchFamily="2" charset="-122"/>
              </a:rPr>
              <a:t>：电话分离器</a:t>
            </a:r>
          </a:p>
        </p:txBody>
      </p:sp>
      <p:sp>
        <p:nvSpPr>
          <p:cNvPr id="3" name="矩形 2"/>
          <p:cNvSpPr/>
          <p:nvPr/>
        </p:nvSpPr>
        <p:spPr>
          <a:xfrm>
            <a:off x="2201696" y="6255950"/>
            <a:ext cx="5836537" cy="461665"/>
          </a:xfrm>
          <a:prstGeom prst="rect">
            <a:avLst/>
          </a:prstGeom>
        </p:spPr>
        <p:txBody>
          <a:bodyPr wrap="square">
            <a:spAutoFit/>
          </a:bodyPr>
          <a:lstStyle/>
          <a:p>
            <a:pPr algn="ctr"/>
            <a:r>
              <a:rPr lang="zh-CN" altLang="zh-CN" sz="2400" b="1" dirty="0">
                <a:latin typeface="+mn-lt"/>
                <a:ea typeface="黑体" panose="02010609060101010101" pitchFamily="2" charset="-122"/>
              </a:rPr>
              <a:t>基于</a:t>
            </a:r>
            <a:r>
              <a:rPr lang="en-US" altLang="zh-CN" sz="2400" b="1" dirty="0">
                <a:latin typeface="+mn-lt"/>
                <a:ea typeface="黑体" panose="02010609060101010101" pitchFamily="2" charset="-122"/>
              </a:rPr>
              <a:t> ADSL </a:t>
            </a:r>
            <a:r>
              <a:rPr lang="zh-CN" altLang="zh-CN" sz="2400" b="1" dirty="0">
                <a:latin typeface="+mn-lt"/>
                <a:ea typeface="黑体" panose="02010609060101010101" pitchFamily="2" charset="-122"/>
              </a:rPr>
              <a:t>的接入网的组成</a:t>
            </a:r>
            <a:endParaRPr lang="zh-CN" altLang="en-US" sz="2400" b="1" dirty="0">
              <a:latin typeface="+mn-lt"/>
              <a:ea typeface="黑体" panose="0201060906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DSL</a:t>
            </a:r>
            <a:r>
              <a:rPr lang="zh-CN" altLang="en-US"/>
              <a:t>的几种类型</a:t>
            </a:r>
          </a:p>
        </p:txBody>
      </p:sp>
      <p:pic>
        <p:nvPicPr>
          <p:cNvPr id="4" name="图片 3"/>
          <p:cNvPicPr>
            <a:picLocks noChangeAspect="1"/>
          </p:cNvPicPr>
          <p:nvPr/>
        </p:nvPicPr>
        <p:blipFill>
          <a:blip r:embed="rId2"/>
          <a:stretch>
            <a:fillRect/>
          </a:stretch>
        </p:blipFill>
        <p:spPr>
          <a:xfrm>
            <a:off x="495300" y="1178560"/>
            <a:ext cx="8506460" cy="4441825"/>
          </a:xfrm>
          <a:prstGeom prst="rect">
            <a:avLst/>
          </a:prstGeom>
        </p:spPr>
      </p:pic>
      <p:sp>
        <p:nvSpPr>
          <p:cNvPr id="3" name="矩形 2">
            <a:extLst>
              <a:ext uri="{FF2B5EF4-FFF2-40B4-BE49-F238E27FC236}">
                <a16:creationId xmlns:a16="http://schemas.microsoft.com/office/drawing/2014/main" id="{339925A8-6BB3-4974-A4AC-995F839938EE}"/>
              </a:ext>
            </a:extLst>
          </p:cNvPr>
          <p:cNvSpPr/>
          <p:nvPr/>
        </p:nvSpPr>
        <p:spPr bwMode="auto">
          <a:xfrm>
            <a:off x="1860054" y="2787662"/>
            <a:ext cx="6336704" cy="576064"/>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Arial" panose="020B0604020202020204" pitchFamily="34" charset="0"/>
              </a:rPr>
              <a:t>（</a:t>
            </a:r>
            <a:r>
              <a:rPr kumimoji="0" lang="en-US" altLang="zh-CN" sz="2400" b="1" i="0" u="none" strike="noStrike" cap="none" normalizeH="0" baseline="0" dirty="0">
                <a:ln>
                  <a:noFill/>
                </a:ln>
                <a:solidFill>
                  <a:schemeClr val="tx1"/>
                </a:solidFill>
                <a:effectLst/>
                <a:latin typeface="Arial" panose="020B0604020202020204" pitchFamily="34" charset="0"/>
              </a:rPr>
              <a:t> Symmetric DSL </a:t>
            </a:r>
            <a:r>
              <a:rPr kumimoji="0" lang="zh-CN" altLang="en-US" sz="2400" b="1" i="0" u="none" strike="noStrike" cap="none" normalizeH="0" baseline="0" dirty="0">
                <a:ln>
                  <a:noFill/>
                </a:ln>
                <a:solidFill>
                  <a:schemeClr val="tx1"/>
                </a:solidFill>
                <a:effectLst/>
                <a:latin typeface="Arial" panose="020B0604020202020204" pitchFamily="34" charset="0"/>
              </a:rPr>
              <a:t>）：对称数字用户线</a:t>
            </a:r>
          </a:p>
        </p:txBody>
      </p:sp>
    </p:spTree>
    <p:extLst>
      <p:ext uri="{BB962C8B-B14F-4D97-AF65-F5344CB8AC3E}">
        <p14:creationId xmlns:p14="http://schemas.microsoft.com/office/powerpoint/2010/main" val="1538101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2.5.2  </a:t>
            </a:r>
            <a:r>
              <a:rPr lang="zh-CN" altLang="en-US" dirty="0">
                <a:sym typeface="+mn-ea"/>
              </a:rPr>
              <a:t>光纤同轴混合网（</a:t>
            </a:r>
            <a:r>
              <a:rPr lang="en-US" altLang="zh-CN" dirty="0">
                <a:sym typeface="+mn-ea"/>
              </a:rPr>
              <a:t>HFC</a:t>
            </a:r>
            <a:r>
              <a:rPr lang="zh-CN" altLang="en-US" dirty="0">
                <a:sym typeface="+mn-ea"/>
              </a:rPr>
              <a:t>网）</a:t>
            </a:r>
          </a:p>
        </p:txBody>
      </p:sp>
      <p:pic>
        <p:nvPicPr>
          <p:cNvPr id="4" name="图片 3"/>
          <p:cNvPicPr>
            <a:picLocks noChangeAspect="1"/>
          </p:cNvPicPr>
          <p:nvPr/>
        </p:nvPicPr>
        <p:blipFill>
          <a:blip r:embed="rId2"/>
          <a:stretch>
            <a:fillRect/>
          </a:stretch>
        </p:blipFill>
        <p:spPr>
          <a:xfrm>
            <a:off x="489585" y="1233170"/>
            <a:ext cx="9070975" cy="467550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HFC</a:t>
            </a:r>
            <a:r>
              <a:rPr lang="zh-CN" altLang="en-US"/>
              <a:t>网的主干线路采用光纤</a:t>
            </a:r>
          </a:p>
        </p:txBody>
      </p:sp>
      <p:pic>
        <p:nvPicPr>
          <p:cNvPr id="4" name="图片 3"/>
          <p:cNvPicPr>
            <a:picLocks noChangeAspect="1"/>
          </p:cNvPicPr>
          <p:nvPr/>
        </p:nvPicPr>
        <p:blipFill>
          <a:blip r:embed="rId2"/>
          <a:stretch>
            <a:fillRect/>
          </a:stretch>
        </p:blipFill>
        <p:spPr>
          <a:xfrm>
            <a:off x="495300" y="1151255"/>
            <a:ext cx="8916670" cy="440563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HFC</a:t>
            </a:r>
            <a:r>
              <a:rPr lang="zh-CN" altLang="en-US"/>
              <a:t>网采用节点体系结构</a:t>
            </a:r>
          </a:p>
        </p:txBody>
      </p:sp>
      <p:pic>
        <p:nvPicPr>
          <p:cNvPr id="4" name="图片 3"/>
          <p:cNvPicPr>
            <a:picLocks noChangeAspect="1"/>
          </p:cNvPicPr>
          <p:nvPr/>
        </p:nvPicPr>
        <p:blipFill>
          <a:blip r:embed="rId2"/>
          <a:stretch>
            <a:fillRect/>
          </a:stretch>
        </p:blipFill>
        <p:spPr>
          <a:xfrm>
            <a:off x="615315" y="1252220"/>
            <a:ext cx="8818880" cy="4932045"/>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a:t>HFC</a:t>
            </a:r>
            <a:r>
              <a:rPr lang="zh-CN" altLang="en-US"/>
              <a:t>双向传输功能</a:t>
            </a:r>
          </a:p>
        </p:txBody>
      </p:sp>
      <p:pic>
        <p:nvPicPr>
          <p:cNvPr id="4" name="图片 3"/>
          <p:cNvPicPr>
            <a:picLocks noChangeAspect="1"/>
          </p:cNvPicPr>
          <p:nvPr/>
        </p:nvPicPr>
        <p:blipFill>
          <a:blip r:embed="rId2"/>
          <a:stretch>
            <a:fillRect/>
          </a:stretch>
        </p:blipFill>
        <p:spPr>
          <a:xfrm>
            <a:off x="562610" y="1906270"/>
            <a:ext cx="9102725" cy="314198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家用用户机接口盒</a:t>
            </a:r>
          </a:p>
        </p:txBody>
      </p:sp>
      <p:pic>
        <p:nvPicPr>
          <p:cNvPr id="4" name="图片 3"/>
          <p:cNvPicPr>
            <a:picLocks noChangeAspect="1"/>
          </p:cNvPicPr>
          <p:nvPr/>
        </p:nvPicPr>
        <p:blipFill>
          <a:blip r:embed="rId2"/>
          <a:stretch>
            <a:fillRect/>
          </a:stretch>
        </p:blipFill>
        <p:spPr>
          <a:xfrm>
            <a:off x="495300" y="1196752"/>
            <a:ext cx="8900160" cy="3538855"/>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pPr algn="ctr"/>
            <a:r>
              <a:rPr lang="zh-CN" altLang="en-US" sz="4000" dirty="0"/>
              <a:t>电缆调制解调器 </a:t>
            </a:r>
            <a:r>
              <a:rPr lang="en-US" altLang="zh-CN" sz="4000" dirty="0"/>
              <a:t>(Cable Modem) </a:t>
            </a:r>
          </a:p>
        </p:txBody>
      </p:sp>
      <p:sp>
        <p:nvSpPr>
          <p:cNvPr id="297987" name="Rectangle 3"/>
          <p:cNvSpPr>
            <a:spLocks noGrp="1" noChangeArrowheads="1"/>
          </p:cNvSpPr>
          <p:nvPr>
            <p:ph idx="1"/>
          </p:nvPr>
        </p:nvSpPr>
        <p:spPr/>
        <p:txBody>
          <a:bodyPr/>
          <a:lstStyle/>
          <a:p>
            <a:r>
              <a:rPr lang="zh-CN" altLang="en-US" sz="2800" dirty="0">
                <a:solidFill>
                  <a:srgbClr val="FF0000"/>
                </a:solidFill>
              </a:rPr>
              <a:t>电缆调制解调器</a:t>
            </a:r>
            <a:r>
              <a:rPr lang="zh-CN" altLang="en-US" sz="2800" dirty="0"/>
              <a:t>是为 </a:t>
            </a:r>
            <a:r>
              <a:rPr lang="en-US" altLang="zh-CN" sz="2800" dirty="0"/>
              <a:t>HFC </a:t>
            </a:r>
            <a:r>
              <a:rPr lang="zh-CN" altLang="en-US" sz="2800" dirty="0"/>
              <a:t>网而使用的调制解调器。</a:t>
            </a:r>
          </a:p>
          <a:p>
            <a:r>
              <a:rPr lang="zh-CN" altLang="en-US" sz="2800" dirty="0"/>
              <a:t>电缆调制解调器最大的特点就是传输速率高。</a:t>
            </a:r>
            <a:endParaRPr lang="en-US" altLang="zh-CN" sz="2800" dirty="0"/>
          </a:p>
          <a:p>
            <a:pPr lvl="1"/>
            <a:r>
              <a:rPr lang="zh-CN" altLang="en-US" sz="2400" dirty="0"/>
              <a:t>下行速率一般在 </a:t>
            </a:r>
            <a:r>
              <a:rPr lang="en-US" altLang="zh-CN" sz="2400" dirty="0"/>
              <a:t>3 </a:t>
            </a:r>
            <a:r>
              <a:rPr lang="en-US" altLang="zh-CN" sz="2400" dirty="0">
                <a:sym typeface="Symbol" panose="05050102010706020507" pitchFamily="18" charset="2"/>
              </a:rPr>
              <a:t> </a:t>
            </a:r>
            <a:r>
              <a:rPr lang="en-US" altLang="zh-CN" sz="2400" dirty="0"/>
              <a:t>10 Mbit/s</a:t>
            </a:r>
            <a:r>
              <a:rPr lang="zh-CN" altLang="en-US" sz="2400" dirty="0"/>
              <a:t>之间，最高可达 </a:t>
            </a:r>
            <a:r>
              <a:rPr lang="en-US" altLang="zh-CN" sz="2400" dirty="0"/>
              <a:t>30 Mbit/s</a:t>
            </a:r>
            <a:r>
              <a:rPr lang="zh-CN" altLang="en-US" sz="2400" dirty="0"/>
              <a:t>。</a:t>
            </a:r>
            <a:endParaRPr lang="en-US" altLang="zh-CN" sz="2400" dirty="0"/>
          </a:p>
          <a:p>
            <a:pPr lvl="1"/>
            <a:r>
              <a:rPr lang="zh-CN" altLang="en-US" sz="2400" dirty="0"/>
              <a:t>上行速率一般为 </a:t>
            </a:r>
            <a:r>
              <a:rPr lang="en-US" altLang="zh-CN" sz="2400" dirty="0"/>
              <a:t>0.2 </a:t>
            </a:r>
            <a:r>
              <a:rPr lang="en-US" altLang="zh-CN" sz="2400" dirty="0">
                <a:sym typeface="Symbol" panose="05050102010706020507" pitchFamily="18" charset="2"/>
              </a:rPr>
              <a:t> </a:t>
            </a:r>
            <a:r>
              <a:rPr lang="en-US" altLang="zh-CN" sz="2400" dirty="0"/>
              <a:t>2 Mbit/s</a:t>
            </a:r>
            <a:r>
              <a:rPr lang="zh-CN" altLang="en-US" sz="2400" dirty="0"/>
              <a:t>，最高可达 </a:t>
            </a:r>
            <a:r>
              <a:rPr lang="en-US" altLang="zh-CN" sz="2400" dirty="0"/>
              <a:t>10 Mbit/s</a:t>
            </a:r>
            <a:r>
              <a:rPr lang="zh-CN" altLang="en-US" sz="2400" dirty="0"/>
              <a:t>。</a:t>
            </a:r>
            <a:endParaRPr lang="en-US" altLang="zh-CN" sz="2400" dirty="0"/>
          </a:p>
          <a:p>
            <a:r>
              <a:rPr lang="zh-CN" altLang="en-US" sz="2800" dirty="0"/>
              <a:t>电缆调制解调器比在普通电话线上使用的调制解调器要复杂得多，并且不是成对使用，而是只安装在用户端。 </a:t>
            </a:r>
          </a:p>
        </p:txBody>
      </p:sp>
      <p:pic>
        <p:nvPicPr>
          <p:cNvPr id="2" name="图片 1"/>
          <p:cNvPicPr>
            <a:picLocks noChangeAspect="1"/>
          </p:cNvPicPr>
          <p:nvPr/>
        </p:nvPicPr>
        <p:blipFill>
          <a:blip r:embed="rId3"/>
          <a:stretch>
            <a:fillRect/>
          </a:stretch>
        </p:blipFill>
        <p:spPr>
          <a:xfrm>
            <a:off x="5001260" y="4431030"/>
            <a:ext cx="4631690" cy="239141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2.6.3 FTTx</a:t>
            </a:r>
            <a:r>
              <a:rPr lang="zh-CN" altLang="en-US"/>
              <a:t>技术</a:t>
            </a:r>
          </a:p>
        </p:txBody>
      </p:sp>
      <p:pic>
        <p:nvPicPr>
          <p:cNvPr id="4" name="图片 3"/>
          <p:cNvPicPr>
            <a:picLocks noChangeAspect="1"/>
          </p:cNvPicPr>
          <p:nvPr/>
        </p:nvPicPr>
        <p:blipFill>
          <a:blip r:embed="rId2"/>
          <a:stretch>
            <a:fillRect/>
          </a:stretch>
        </p:blipFill>
        <p:spPr>
          <a:xfrm>
            <a:off x="495300" y="1252855"/>
            <a:ext cx="9005570" cy="414909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a:t>无源光网络（</a:t>
            </a:r>
            <a:r>
              <a:rPr lang="en-US" altLang="zh-CN"/>
              <a:t>PON</a:t>
            </a:r>
            <a:r>
              <a:rPr lang="zh-CN" altLang="en-US"/>
              <a:t>）</a:t>
            </a:r>
          </a:p>
        </p:txBody>
      </p:sp>
      <p:pic>
        <p:nvPicPr>
          <p:cNvPr id="4" name="图片 3"/>
          <p:cNvPicPr>
            <a:picLocks noChangeAspect="1"/>
          </p:cNvPicPr>
          <p:nvPr/>
        </p:nvPicPr>
        <p:blipFill>
          <a:blip r:embed="rId2"/>
          <a:stretch>
            <a:fillRect/>
          </a:stretch>
        </p:blipFill>
        <p:spPr>
          <a:xfrm>
            <a:off x="495300" y="1067435"/>
            <a:ext cx="8677275" cy="56229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440,&quot;width&quot;:8930}"/>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42266afc-8366-4fc2-b7d8-238138b2b007}"/>
</p:tagLst>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themeOverride>
</file>

<file path=ppt/theme/themeOverride2.xml><?xml version="1.0" encoding="utf-8"?>
<a:themeOverride xmlns:a="http://schemas.openxmlformats.org/drawingml/2006/main">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themeOverride>
</file>

<file path=ppt/theme/themeOverride3.xml><?xml version="1.0" encoding="utf-8"?>
<a:themeOverride xmlns:a="http://schemas.openxmlformats.org/drawingml/2006/main">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themeOverride>
</file>

<file path=docProps/app.xml><?xml version="1.0" encoding="utf-8"?>
<Properties xmlns="http://schemas.openxmlformats.org/officeDocument/2006/extended-properties" xmlns:vt="http://schemas.openxmlformats.org/officeDocument/2006/docPropsVTypes">
  <Template>CN(myzh)Icon</Template>
  <TotalTime>60</TotalTime>
  <Words>5552</Words>
  <Application>Microsoft Office PowerPoint</Application>
  <PresentationFormat>A4 纸张(210x297 毫米)</PresentationFormat>
  <Paragraphs>649</Paragraphs>
  <Slides>105</Slides>
  <Notes>50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105</vt:i4>
      </vt:variant>
    </vt:vector>
  </HeadingPairs>
  <TitlesOfParts>
    <vt:vector size="115" baseType="lpstr">
      <vt:lpstr>Arial Unicode MS</vt:lpstr>
      <vt:lpstr>MS PGothic</vt:lpstr>
      <vt:lpstr>黑体</vt:lpstr>
      <vt:lpstr>宋体</vt:lpstr>
      <vt:lpstr>微软雅黑</vt:lpstr>
      <vt:lpstr>Arial</vt:lpstr>
      <vt:lpstr>Symbol</vt:lpstr>
      <vt:lpstr>Times New Roman</vt:lpstr>
      <vt:lpstr>Wingdings</vt:lpstr>
      <vt:lpstr>CN(myzh)Icon</vt:lpstr>
      <vt:lpstr>第 2 章  物理层</vt:lpstr>
      <vt:lpstr>第 2 章  物理层</vt:lpstr>
      <vt:lpstr>2.1  物理层的基本概念</vt:lpstr>
      <vt:lpstr>2.1  物理层的基本概念</vt:lpstr>
      <vt:lpstr>物理层的主要任务</vt:lpstr>
      <vt:lpstr>2.2  数据通信的基础知识</vt:lpstr>
      <vt:lpstr>2.2.1  数据通信系统的模型</vt:lpstr>
      <vt:lpstr>常用术语</vt:lpstr>
      <vt:lpstr>常用术语</vt:lpstr>
      <vt:lpstr>信号和数据之间的相互转换</vt:lpstr>
      <vt:lpstr>2.2.2  有关信道的几个基本概念</vt:lpstr>
      <vt:lpstr>2.2.2  有关信道的几个基本概念</vt:lpstr>
      <vt:lpstr>2.2.2  有关信道的几个基本概念</vt:lpstr>
      <vt:lpstr>2.2.2  有关信道的几个基本概念</vt:lpstr>
      <vt:lpstr>基带调制</vt:lpstr>
      <vt:lpstr>常用编码方式</vt:lpstr>
      <vt:lpstr>常用编码方式</vt:lpstr>
      <vt:lpstr>常用编码方式</vt:lpstr>
      <vt:lpstr>常用编码方式</vt:lpstr>
      <vt:lpstr>常用编码方式</vt:lpstr>
      <vt:lpstr>带通调制</vt:lpstr>
      <vt:lpstr>带通调制的几种方法</vt:lpstr>
      <vt:lpstr>正交振幅调制</vt:lpstr>
      <vt:lpstr>PowerPoint 演示文稿</vt:lpstr>
      <vt:lpstr>2.2.3  信道的极限容量 </vt:lpstr>
      <vt:lpstr>数字信号通过实际的信道 </vt:lpstr>
      <vt:lpstr>2.2.3  信道的极限容量</vt:lpstr>
      <vt:lpstr>信道能够通过的频率范围</vt:lpstr>
      <vt:lpstr>信道能够通过的频率范围</vt:lpstr>
      <vt:lpstr>要强调以下两点</vt:lpstr>
      <vt:lpstr>信道能够通过的频率范围</vt:lpstr>
      <vt:lpstr>(2) 信噪比 </vt:lpstr>
      <vt:lpstr>(2) 信噪比 </vt:lpstr>
      <vt:lpstr>香农公式练习 </vt:lpstr>
      <vt:lpstr>香农公式表明 </vt:lpstr>
      <vt:lpstr>请注意 </vt:lpstr>
      <vt:lpstr>2.3  物理层下面的传输媒体</vt:lpstr>
      <vt:lpstr>2.3  物理层下面的传输媒体</vt:lpstr>
      <vt:lpstr>有线传输介质</vt:lpstr>
      <vt:lpstr>无线传输介质</vt:lpstr>
      <vt:lpstr>无线传输介质</vt:lpstr>
      <vt:lpstr>2.3.1  导引型传输媒体</vt:lpstr>
      <vt:lpstr>2.3.1  导引型传输媒体</vt:lpstr>
      <vt:lpstr>双绞线标准</vt:lpstr>
      <vt:lpstr>EIA/TIA-568-A</vt:lpstr>
      <vt:lpstr>2.3.1  导引型传输媒体</vt:lpstr>
      <vt:lpstr> 同轴电缆</vt:lpstr>
      <vt:lpstr>同轴电缆的特点</vt:lpstr>
      <vt:lpstr>2.3.1  导引型传输媒体</vt:lpstr>
      <vt:lpstr>光线在光纤中的折射 </vt:lpstr>
      <vt:lpstr>光纤的工作原理</vt:lpstr>
      <vt:lpstr>多模光纤与单模光纤</vt:lpstr>
      <vt:lpstr>多模光纤与单模光纤</vt:lpstr>
      <vt:lpstr>光纤优点</vt:lpstr>
      <vt:lpstr>常用有线传输介质的比较</vt:lpstr>
      <vt:lpstr>2.3.2  非导引型传输媒体 </vt:lpstr>
      <vt:lpstr>长波通信</vt:lpstr>
      <vt:lpstr>短波通信</vt:lpstr>
      <vt:lpstr>微波通信</vt:lpstr>
      <vt:lpstr>微波通信</vt:lpstr>
      <vt:lpstr>微波中继通信</vt:lpstr>
      <vt:lpstr> 无线介质</vt:lpstr>
      <vt:lpstr>无线介质类型</vt:lpstr>
      <vt:lpstr> 无线LAN</vt:lpstr>
      <vt:lpstr>802.11 Wi-Fi 标准</vt:lpstr>
      <vt:lpstr>2.4  信道复用技术</vt:lpstr>
      <vt:lpstr>2.4  信道复用技术</vt:lpstr>
      <vt:lpstr>2.4.1  频分复用FDM</vt:lpstr>
      <vt:lpstr>2.4.1  频分复用FDM</vt:lpstr>
      <vt:lpstr>2.4.2  波分复用WDM</vt:lpstr>
      <vt:lpstr>2.4.2  波分复用WDM</vt:lpstr>
      <vt:lpstr>2.4.3  时分复用TDM</vt:lpstr>
      <vt:lpstr>2.4.3  时分复用TDM</vt:lpstr>
      <vt:lpstr>2.4.3  时分复用TDM</vt:lpstr>
      <vt:lpstr>统计时分复用STDM</vt:lpstr>
      <vt:lpstr>统计时分复用STDM</vt:lpstr>
      <vt:lpstr>2.4.3  码分复用CDM</vt:lpstr>
      <vt:lpstr>2.4.3  码分复用CDM</vt:lpstr>
      <vt:lpstr>2.4.3  码分复用CDM</vt:lpstr>
      <vt:lpstr>码片序列</vt:lpstr>
      <vt:lpstr>码片序列实现了扩频</vt:lpstr>
      <vt:lpstr>CDMA的重要特点</vt:lpstr>
      <vt:lpstr>码片序列的正交关系</vt:lpstr>
      <vt:lpstr>正交关系的另一个重要特性</vt:lpstr>
      <vt:lpstr>CDMA地工作原理</vt:lpstr>
      <vt:lpstr>CDMA地工作原理计算举例</vt:lpstr>
      <vt:lpstr>2.5  宽带接入技术</vt:lpstr>
      <vt:lpstr>2.5  宽带接入技术</vt:lpstr>
      <vt:lpstr>2.5  宽带接入技术</vt:lpstr>
      <vt:lpstr>2.5.1  ADSL 技术</vt:lpstr>
      <vt:lpstr>ADSL 的特点</vt:lpstr>
      <vt:lpstr>DMT 技术</vt:lpstr>
      <vt:lpstr>DMT 技术的频谱分布 </vt:lpstr>
      <vt:lpstr>ADSL的传输距离</vt:lpstr>
      <vt:lpstr>ADSL 的自适应数据率</vt:lpstr>
      <vt:lpstr>ADSL 的组成 </vt:lpstr>
      <vt:lpstr>DSL的几种类型</vt:lpstr>
      <vt:lpstr>2.5.2  光纤同轴混合网（HFC网）</vt:lpstr>
      <vt:lpstr>HFC网的主干线路采用光纤</vt:lpstr>
      <vt:lpstr>HFC网采用节点体系结构</vt:lpstr>
      <vt:lpstr>HFC双向传输功能</vt:lpstr>
      <vt:lpstr>家用用户机接口盒</vt:lpstr>
      <vt:lpstr>电缆调制解调器 (Cable Modem) </vt:lpstr>
      <vt:lpstr>2.6.3 FTTx技术</vt:lpstr>
      <vt:lpstr>无源光网络（PON）</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creator>920</dc:creator>
  <cp:lastModifiedBy>Admin</cp:lastModifiedBy>
  <cp:revision>159</cp:revision>
  <dcterms:created xsi:type="dcterms:W3CDTF">2016-10-04T02:36:00Z</dcterms:created>
  <dcterms:modified xsi:type="dcterms:W3CDTF">2024-09-11T05:09:48Z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2052-11.1.0.11405</vt:lpwstr>
  </property>
  <property fmtid="{D5CDD505-2E9C-101B-9397-08002B2CF9AE}" pid="4" name="ICV">
    <vt:lpwstr>205A26916F7044FDA83BD415BF6B233E</vt:lpwstr>
  </property>
</Properties>
</file>